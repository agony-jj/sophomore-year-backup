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2.xml" ContentType="application/vnd.openxmlformats-officedocument.presentationml.tags+xml"/>
  <Override PartName="/ppt/notesSlides/notesSlide5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tags/tag6.xml" ContentType="application/vnd.openxmlformats-officedocument.presentationml.tags+xml"/>
  <Override PartName="/ppt/notesSlides/notesSlide8.xml" ContentType="application/vnd.openxmlformats-officedocument.presentationml.notesSlide+xml"/>
  <Override PartName="/ppt/tags/tag7.xml" ContentType="application/vnd.openxmlformats-officedocument.presentationml.tags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5" r:id="rId1"/>
  </p:sldMasterIdLst>
  <p:notesMasterIdLst>
    <p:notesMasterId r:id="rId32"/>
  </p:notesMasterIdLst>
  <p:handoutMasterIdLst>
    <p:handoutMasterId r:id="rId33"/>
  </p:handoutMasterIdLst>
  <p:sldIdLst>
    <p:sldId id="830" r:id="rId2"/>
    <p:sldId id="1419" r:id="rId3"/>
    <p:sldId id="1420" r:id="rId4"/>
    <p:sldId id="823" r:id="rId5"/>
    <p:sldId id="1421" r:id="rId6"/>
    <p:sldId id="1422" r:id="rId7"/>
    <p:sldId id="828" r:id="rId8"/>
    <p:sldId id="831" r:id="rId9"/>
    <p:sldId id="832" r:id="rId10"/>
    <p:sldId id="833" r:id="rId11"/>
    <p:sldId id="834" r:id="rId12"/>
    <p:sldId id="1407" r:id="rId13"/>
    <p:sldId id="2001" r:id="rId14"/>
    <p:sldId id="835" r:id="rId15"/>
    <p:sldId id="1405" r:id="rId16"/>
    <p:sldId id="1406" r:id="rId17"/>
    <p:sldId id="837" r:id="rId18"/>
    <p:sldId id="838" r:id="rId19"/>
    <p:sldId id="1408" r:id="rId20"/>
    <p:sldId id="1423" r:id="rId21"/>
    <p:sldId id="954" r:id="rId22"/>
    <p:sldId id="955" r:id="rId23"/>
    <p:sldId id="956" r:id="rId24"/>
    <p:sldId id="957" r:id="rId25"/>
    <p:sldId id="1413" r:id="rId26"/>
    <p:sldId id="1414" r:id="rId27"/>
    <p:sldId id="1417" r:id="rId28"/>
    <p:sldId id="1418" r:id="rId29"/>
    <p:sldId id="1415" r:id="rId30"/>
    <p:sldId id="1416" r:id="rId31"/>
  </p:sldIdLst>
  <p:sldSz cx="12192000" cy="6858000"/>
  <p:notesSz cx="7315200" cy="9601200"/>
  <p:custDataLst>
    <p:tags r:id="rId34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6" scaleToFitPaper="1" frameSlides="1"/>
  <p:clrMru>
    <a:srgbClr val="0000FF"/>
    <a:srgbClr val="F4E8FF"/>
    <a:srgbClr val="DAABFD"/>
    <a:srgbClr val="9B01FF"/>
    <a:srgbClr val="BD00B0"/>
    <a:srgbClr val="FF9999"/>
    <a:srgbClr val="CCECFF"/>
    <a:srgbClr val="C39BE1"/>
    <a:srgbClr val="C198E0"/>
    <a:srgbClr val="0066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761" autoAdjust="0"/>
    <p:restoredTop sz="91905" autoAdjust="0"/>
  </p:normalViewPr>
  <p:slideViewPr>
    <p:cSldViewPr>
      <p:cViewPr varScale="1">
        <p:scale>
          <a:sx n="91" d="100"/>
          <a:sy n="91" d="100"/>
        </p:scale>
        <p:origin x="912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3470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588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gs" Target="tags/tag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handoutMaster" Target="handoutMasters/handout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3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3170138" cy="4795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>
              <a:defRPr sz="1300"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937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3427" y="0"/>
            <a:ext cx="3170138" cy="4795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938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1" y="9120172"/>
            <a:ext cx="3170138" cy="4795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>
              <a:defRPr sz="1300"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938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3427" y="9120172"/>
            <a:ext cx="3170138" cy="4795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Arial" pitchFamily="34" charset="0"/>
              </a:defRPr>
            </a:lvl1pPr>
          </a:lstStyle>
          <a:p>
            <a:pPr>
              <a:defRPr/>
            </a:pPr>
            <a:fld id="{963147F5-8EB9-406F-9119-AB0022D5813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56522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3170138" cy="4795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>
              <a:defRPr sz="1300"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305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3427" y="0"/>
            <a:ext cx="3170138" cy="4795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53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457200" y="720725"/>
            <a:ext cx="64008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7306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31194" y="4561576"/>
            <a:ext cx="5852814" cy="43188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7306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9120172"/>
            <a:ext cx="3170138" cy="4795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>
              <a:defRPr sz="1300"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306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3427" y="9120172"/>
            <a:ext cx="3170138" cy="4795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Arial" pitchFamily="34" charset="0"/>
              </a:defRPr>
            </a:lvl1pPr>
          </a:lstStyle>
          <a:p>
            <a:pPr>
              <a:defRPr/>
            </a:pPr>
            <a:fld id="{AF4042F3-6AC5-4F69-BFDB-D78DEF38750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862857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" name="Google Shape;1004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005" name="Google Shape;1005;p28:notes"/>
          <p:cNvSpPr txBox="1">
            <a:spLocks noGrp="1"/>
          </p:cNvSpPr>
          <p:nvPr>
            <p:ph type="body" idx="1"/>
          </p:nvPr>
        </p:nvSpPr>
        <p:spPr>
          <a:xfrm>
            <a:off x="731194" y="4561576"/>
            <a:ext cx="5852814" cy="4318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What we’ve been building to. Cornerstone. Goes to the goal like greedy, but backtracks as needed.</a:t>
            </a: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When it works, it’s magic!</a:t>
            </a: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 lang="en-US"/>
          </a:p>
        </p:txBody>
      </p:sp>
      <p:sp>
        <p:nvSpPr>
          <p:cNvPr id="1006" name="Google Shape;1006;p28:notes"/>
          <p:cNvSpPr txBox="1">
            <a:spLocks noGrp="1"/>
          </p:cNvSpPr>
          <p:nvPr>
            <p:ph type="sldNum" idx="12"/>
          </p:nvPr>
        </p:nvSpPr>
        <p:spPr>
          <a:xfrm>
            <a:off x="4143427" y="9120172"/>
            <a:ext cx="3170138" cy="4795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" name="Google Shape;1177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178" name="Google Shape;1178;p35:notes"/>
          <p:cNvSpPr txBox="1">
            <a:spLocks noGrp="1"/>
          </p:cNvSpPr>
          <p:nvPr>
            <p:ph type="body" idx="1"/>
          </p:nvPr>
        </p:nvSpPr>
        <p:spPr>
          <a:xfrm>
            <a:off x="731194" y="4561576"/>
            <a:ext cx="5852814" cy="4318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True cost – what we’re trying to solve! Need to prove beforehand.</a:t>
            </a: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 lang="en-US"/>
          </a:p>
        </p:txBody>
      </p:sp>
      <p:sp>
        <p:nvSpPr>
          <p:cNvPr id="1179" name="Google Shape;1179;p35:notes"/>
          <p:cNvSpPr txBox="1">
            <a:spLocks noGrp="1"/>
          </p:cNvSpPr>
          <p:nvPr>
            <p:ph type="sldNum" idx="12"/>
          </p:nvPr>
        </p:nvSpPr>
        <p:spPr>
          <a:xfrm>
            <a:off x="4143427" y="9120172"/>
            <a:ext cx="3170138" cy="4795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幻灯片图像占位符 88065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xfrm>
            <a:off x="2177840" y="523724"/>
            <a:ext cx="4643362" cy="2612571"/>
          </a:xfrm>
        </p:spPr>
      </p:sp>
      <p:sp>
        <p:nvSpPr>
          <p:cNvPr id="144387" name="文本占位符 88066"/>
          <p:cNvSpPr>
            <a:spLocks noGrp="1" noRot="1" noChangeAspect="1" noChangeArrowheads="1" noTextEdit="1"/>
          </p:cNvSpPr>
          <p:nvPr>
            <p:ph type="body" idx="4294967295"/>
          </p:nvPr>
        </p:nvSpPr>
        <p:spPr bwMode="auto">
          <a:xfrm>
            <a:off x="-815578" y="6256262"/>
            <a:ext cx="9246692" cy="6802060"/>
          </a:xfrm>
          <a:prstGeom prst="rect">
            <a:avLst/>
          </a:prstGeom>
          <a:noFill/>
          <a:ln w="1">
            <a:solidFill>
              <a:schemeClr val="tx1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7" name="Google Shape;1447;p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2200" y="549124"/>
            <a:ext cx="4876800" cy="2743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448" name="Google Shape;1448;p55:notes"/>
          <p:cNvSpPr txBox="1">
            <a:spLocks noGrp="1"/>
          </p:cNvSpPr>
          <p:nvPr>
            <p:ph type="body" idx="1"/>
          </p:nvPr>
        </p:nvSpPr>
        <p:spPr>
          <a:xfrm>
            <a:off x="959692" y="3475486"/>
            <a:ext cx="7681818" cy="32905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All are out of position. 8</a:t>
            </a:r>
            <a:endParaRPr dirty="0"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US" dirty="0"/>
              <a:t>Each tile either goes into it’s right position or not. Fix one mistake, never more than 1.</a:t>
            </a:r>
            <a:endParaRPr dirty="0"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US" dirty="0"/>
              <a:t>Cheating is easier.</a:t>
            </a:r>
            <a:endParaRPr dirty="0"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49" name="Google Shape;1449;p55:notes"/>
          <p:cNvSpPr txBox="1">
            <a:spLocks noGrp="1"/>
          </p:cNvSpPr>
          <p:nvPr>
            <p:ph type="sldNum" idx="12"/>
          </p:nvPr>
        </p:nvSpPr>
        <p:spPr>
          <a:xfrm>
            <a:off x="5438248" y="6948702"/>
            <a:ext cx="4160806" cy="365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2" name="Google Shape;1462;p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62200" y="549275"/>
            <a:ext cx="4876800" cy="2743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463" name="Google Shape;1463;p56:notes"/>
          <p:cNvSpPr txBox="1">
            <a:spLocks noGrp="1"/>
          </p:cNvSpPr>
          <p:nvPr>
            <p:ph type="body" idx="1"/>
          </p:nvPr>
        </p:nvSpPr>
        <p:spPr>
          <a:xfrm>
            <a:off x="959692" y="3475486"/>
            <a:ext cx="7681818" cy="32905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Another relaxation, but “harder” than previous.</a:t>
            </a: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Lower bound.</a:t>
            </a: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Show it’s relaxed or prove.</a:t>
            </a: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At LEAST 18 away.</a:t>
            </a: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As heuristic gets close to the true cost, you do less search.</a:t>
            </a:r>
          </a:p>
        </p:txBody>
      </p:sp>
      <p:sp>
        <p:nvSpPr>
          <p:cNvPr id="1464" name="Google Shape;1464;p56:notes"/>
          <p:cNvSpPr txBox="1">
            <a:spLocks noGrp="1"/>
          </p:cNvSpPr>
          <p:nvPr>
            <p:ph type="sldNum" idx="12"/>
          </p:nvPr>
        </p:nvSpPr>
        <p:spPr>
          <a:xfrm>
            <a:off x="5438248" y="6948702"/>
            <a:ext cx="4160806" cy="365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Assuming zero living reward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CC9163-7EC6-4747-8782-88871FDBE126}" type="slidenum">
              <a:rPr lang="en-US" smtClean="0"/>
              <a:t>21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Assuming zero living reward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CC9163-7EC6-4747-8782-88871FDBE126}" type="slidenum">
              <a:rPr lang="en-US" smtClean="0"/>
              <a:t>22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Assuming zero living reward</a:t>
            </a:r>
          </a:p>
          <a:p>
            <a:r>
              <a:rPr lang="zh-CN" altLang="en-US" dirty="0"/>
              <a:t>→向右 </a:t>
            </a:r>
            <a:r>
              <a:rPr lang="en-US" altLang="zh-CN" dirty="0"/>
              <a:t>0.8*(0+0.9*1)+0.1*(0+0.9*0)+0.1*(0+0.9*0)=0.72</a:t>
            </a:r>
          </a:p>
          <a:p>
            <a:r>
              <a:rPr lang="en-US" dirty="0"/>
              <a:t>   </a:t>
            </a:r>
            <a:r>
              <a:rPr lang="zh-CN" altLang="en-US" dirty="0"/>
              <a:t>向上 </a:t>
            </a:r>
            <a:r>
              <a:rPr lang="en-US" altLang="zh-CN" dirty="0"/>
              <a:t>0.8*(0+0.9*0)+0.1*(0+0.9*0)+0.1*(0+0.9*1)=0.09</a:t>
            </a:r>
            <a:br>
              <a:rPr lang="en-US" altLang="zh-CN" dirty="0"/>
            </a:br>
            <a:r>
              <a:rPr lang="en-US" altLang="zh-CN" dirty="0"/>
              <a:t>   </a:t>
            </a:r>
            <a:r>
              <a:rPr lang="zh-CN" altLang="en-US" dirty="0"/>
              <a:t>向下 </a:t>
            </a:r>
            <a:r>
              <a:rPr lang="en-US" altLang="zh-CN" dirty="0"/>
              <a:t>0.8*(0+0.9*0)+0.1*(0+0.9*1)+0.1*(0+0.9*0)=0.09</a:t>
            </a:r>
            <a:br>
              <a:rPr lang="en-US" altLang="zh-CN" dirty="0"/>
            </a:br>
            <a:r>
              <a:rPr lang="en-US" altLang="zh-CN" dirty="0"/>
              <a:t>   </a:t>
            </a:r>
            <a:r>
              <a:rPr lang="zh-CN" altLang="en-US" dirty="0"/>
              <a:t>向左 </a:t>
            </a:r>
            <a:r>
              <a:rPr lang="en-US" altLang="zh-CN" dirty="0"/>
              <a:t>0.8*(0+0.9*0)+0.1*(0+0.9*0)+0.1*(0+0.9*0)=0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CC9163-7EC6-4747-8782-88871FDBE126}" type="slidenum">
              <a:rPr lang="en-US" smtClean="0"/>
              <a:t>23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Assuming zero living reward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CC9163-7EC6-4747-8782-88871FDBE126}" type="slidenum">
              <a:rPr lang="en-US" smtClean="0"/>
              <a:t>24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1044578"/>
            <a:ext cx="12192000" cy="1470025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0" y="3657600"/>
            <a:ext cx="12192000" cy="15240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E10AB1-FB9A-4CFC-A058-E74AFD102927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81798C-0F99-461B-869F-8FC2E08F7ABC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1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178" indent="0">
              <a:buNone/>
              <a:defRPr sz="1900"/>
            </a:lvl2pPr>
            <a:lvl3pPr marL="914354" indent="0">
              <a:buNone/>
              <a:defRPr sz="1600"/>
            </a:lvl3pPr>
            <a:lvl4pPr marL="1371532" indent="0">
              <a:buNone/>
              <a:defRPr sz="1500"/>
            </a:lvl4pPr>
            <a:lvl5pPr marL="1828709" indent="0">
              <a:buNone/>
              <a:defRPr sz="1500"/>
            </a:lvl5pPr>
            <a:lvl6pPr marL="2285886" indent="0">
              <a:buNone/>
              <a:defRPr sz="1500"/>
            </a:lvl6pPr>
            <a:lvl7pPr marL="2743062" indent="0">
              <a:buNone/>
              <a:defRPr sz="1500"/>
            </a:lvl7pPr>
            <a:lvl8pPr marL="3200240" indent="0">
              <a:buNone/>
              <a:defRPr sz="1500"/>
            </a:lvl8pPr>
            <a:lvl9pPr marL="3657418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A71E20-2558-4548-9145-31A1CE74B67E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900"/>
            </a:lvl4pPr>
            <a:lvl5pPr>
              <a:defRPr sz="1900"/>
            </a:lvl5pPr>
            <a:lvl6pPr>
              <a:defRPr sz="1900"/>
            </a:lvl6pPr>
            <a:lvl7pPr>
              <a:defRPr sz="1900"/>
            </a:lvl7pPr>
            <a:lvl8pPr>
              <a:defRPr sz="1900"/>
            </a:lvl8pPr>
            <a:lvl9pPr>
              <a:defRPr sz="1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900"/>
            </a:lvl4pPr>
            <a:lvl5pPr>
              <a:defRPr sz="1900"/>
            </a:lvl5pPr>
            <a:lvl6pPr>
              <a:defRPr sz="1900"/>
            </a:lvl6pPr>
            <a:lvl7pPr>
              <a:defRPr sz="1900"/>
            </a:lvl7pPr>
            <a:lvl8pPr>
              <a:defRPr sz="1900"/>
            </a:lvl8pPr>
            <a:lvl9pPr>
              <a:defRPr sz="1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96C36CE-9816-47A4-A648-59C94611F2D8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2" y="1535113"/>
            <a:ext cx="4040188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8" indent="0">
              <a:buNone/>
              <a:defRPr sz="2000" b="1"/>
            </a:lvl2pPr>
            <a:lvl3pPr marL="914354" indent="0">
              <a:buNone/>
              <a:defRPr sz="19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2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9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7" y="1535113"/>
            <a:ext cx="4041775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8" indent="0">
              <a:buNone/>
              <a:defRPr sz="2000" b="1"/>
            </a:lvl2pPr>
            <a:lvl3pPr marL="914354" indent="0">
              <a:buNone/>
              <a:defRPr sz="19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9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9567DB1-08A8-4DA3-8792-9FE41D7CAC05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4D915A0-5737-488C-ABBC-0B423BC02545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56499FA-73C5-4A44-820B-A2808797D655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273049"/>
            <a:ext cx="3008313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1" y="273053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1435103"/>
            <a:ext cx="3008313" cy="4691063"/>
          </a:xfrm>
        </p:spPr>
        <p:txBody>
          <a:bodyPr/>
          <a:lstStyle>
            <a:lvl1pPr marL="0" indent="0">
              <a:buNone/>
              <a:defRPr sz="1500"/>
            </a:lvl1pPr>
            <a:lvl2pPr marL="457178" indent="0">
              <a:buNone/>
              <a:defRPr sz="1200"/>
            </a:lvl2pPr>
            <a:lvl3pPr marL="914354" indent="0">
              <a:buNone/>
              <a:defRPr sz="1100"/>
            </a:lvl3pPr>
            <a:lvl4pPr marL="1371532" indent="0">
              <a:buNone/>
              <a:defRPr sz="900"/>
            </a:lvl4pPr>
            <a:lvl5pPr marL="1828709" indent="0">
              <a:buNone/>
              <a:defRPr sz="900"/>
            </a:lvl5pPr>
            <a:lvl6pPr marL="2285886" indent="0">
              <a:buNone/>
              <a:defRPr sz="900"/>
            </a:lvl6pPr>
            <a:lvl7pPr marL="2743062" indent="0">
              <a:buNone/>
              <a:defRPr sz="900"/>
            </a:lvl7pPr>
            <a:lvl8pPr marL="3200240" indent="0">
              <a:buNone/>
              <a:defRPr sz="900"/>
            </a:lvl8pPr>
            <a:lvl9pPr marL="3657418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593802-8813-400D-A5BB-9C50C37ACBB4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78" indent="0">
              <a:buNone/>
              <a:defRPr sz="2800"/>
            </a:lvl2pPr>
            <a:lvl3pPr marL="914354" indent="0">
              <a:buNone/>
              <a:defRPr sz="2400"/>
            </a:lvl3pPr>
            <a:lvl4pPr marL="1371532" indent="0">
              <a:buNone/>
              <a:defRPr sz="2000"/>
            </a:lvl4pPr>
            <a:lvl5pPr marL="1828709" indent="0">
              <a:buNone/>
              <a:defRPr sz="2000"/>
            </a:lvl5pPr>
            <a:lvl6pPr marL="2285886" indent="0">
              <a:buNone/>
              <a:defRPr sz="2000"/>
            </a:lvl6pPr>
            <a:lvl7pPr marL="2743062" indent="0">
              <a:buNone/>
              <a:defRPr sz="2000"/>
            </a:lvl7pPr>
            <a:lvl8pPr marL="3200240" indent="0">
              <a:buNone/>
              <a:defRPr sz="2000"/>
            </a:lvl8pPr>
            <a:lvl9pPr marL="3657418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3"/>
          </a:xfrm>
        </p:spPr>
        <p:txBody>
          <a:bodyPr/>
          <a:lstStyle>
            <a:lvl1pPr marL="0" indent="0">
              <a:buNone/>
              <a:defRPr sz="1500"/>
            </a:lvl1pPr>
            <a:lvl2pPr marL="457178" indent="0">
              <a:buNone/>
              <a:defRPr sz="1200"/>
            </a:lvl2pPr>
            <a:lvl3pPr marL="914354" indent="0">
              <a:buNone/>
              <a:defRPr sz="1100"/>
            </a:lvl3pPr>
            <a:lvl4pPr marL="1371532" indent="0">
              <a:buNone/>
              <a:defRPr sz="900"/>
            </a:lvl4pPr>
            <a:lvl5pPr marL="1828709" indent="0">
              <a:buNone/>
              <a:defRPr sz="900"/>
            </a:lvl5pPr>
            <a:lvl6pPr marL="2285886" indent="0">
              <a:buNone/>
              <a:defRPr sz="900"/>
            </a:lvl6pPr>
            <a:lvl7pPr marL="2743062" indent="0">
              <a:buNone/>
              <a:defRPr sz="900"/>
            </a:lvl7pPr>
            <a:lvl8pPr marL="3200240" indent="0">
              <a:buNone/>
              <a:defRPr sz="900"/>
            </a:lvl8pPr>
            <a:lvl9pPr marL="3657418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A85C0E-EF3F-4D12-BC26-7AC478A25631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5276918-8EE8-41BC-8655-5862D016B2B9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AC4A49B-9F02-4A5C-B982-4DFD370F18E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0" y="-25400"/>
            <a:ext cx="12192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6" tIns="45718" rIns="91436" bIns="4571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06400" y="1397001"/>
            <a:ext cx="11379200" cy="47291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6" tIns="45718" rIns="91436" bIns="4571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6" tIns="45718" rIns="91436" bIns="45718" numCol="1" anchor="t" anchorCtr="0" compatLnSpc="1">
            <a:prstTxWarp prst="textNoShape">
              <a:avLst/>
            </a:prstTxWarp>
          </a:bodyPr>
          <a:lstStyle>
            <a:lvl1pPr>
              <a:defRPr sz="15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6" tIns="45718" rIns="91436" bIns="45718" numCol="1" anchor="t" anchorCtr="0" compatLnSpc="1">
            <a:prstTxWarp prst="textNoShape">
              <a:avLst/>
            </a:prstTxWarp>
          </a:bodyPr>
          <a:lstStyle>
            <a:lvl1pPr algn="ctr">
              <a:defRPr sz="15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6" tIns="45718" rIns="91436" bIns="45718" numCol="1" anchor="t" anchorCtr="0" compatLnSpc="1">
            <a:prstTxWarp prst="textNoShape">
              <a:avLst/>
            </a:prstTxWarp>
          </a:bodyPr>
          <a:lstStyle>
            <a:lvl1pPr algn="r">
              <a:defRPr sz="1500"/>
            </a:lvl1pPr>
          </a:lstStyle>
          <a:p>
            <a:pPr>
              <a:defRPr/>
            </a:pPr>
            <a:fld id="{6DD5B9B9-0596-4755-A407-4C3F5264CB69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4103" name="Rectangle 7"/>
          <p:cNvSpPr>
            <a:spLocks noChangeArrowheads="1"/>
          </p:cNvSpPr>
          <p:nvPr/>
        </p:nvSpPr>
        <p:spPr bwMode="auto">
          <a:xfrm>
            <a:off x="0" y="1031242"/>
            <a:ext cx="12192000" cy="60959"/>
          </a:xfrm>
          <a:prstGeom prst="rect">
            <a:avLst/>
          </a:prstGeom>
          <a:gradFill rotWithShape="1">
            <a:gsLst>
              <a:gs pos="0">
                <a:srgbClr val="0000CC"/>
              </a:gs>
              <a:gs pos="100000">
                <a:schemeClr val="tx1"/>
              </a:gs>
            </a:gsLst>
            <a:lin ang="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1436" tIns="45718" rIns="91436" bIns="45718" anchor="ctr"/>
          <a:lstStyle/>
          <a:p>
            <a:pPr>
              <a:defRPr/>
            </a:pP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6" r:id="rId1"/>
    <p:sldLayoutId id="2147483747" r:id="rId2"/>
    <p:sldLayoutId id="2147483748" r:id="rId3"/>
    <p:sldLayoutId id="2147483749" r:id="rId4"/>
    <p:sldLayoutId id="2147483750" r:id="rId5"/>
    <p:sldLayoutId id="2147483751" r:id="rId6"/>
    <p:sldLayoutId id="2147483752" r:id="rId7"/>
    <p:sldLayoutId id="2147483753" r:id="rId8"/>
    <p:sldLayoutId id="2147483754" r:id="rId9"/>
    <p:sldLayoutId id="2147483755" r:id="rId10"/>
    <p:sldLayoutId id="2147483756" r:id="rId11"/>
  </p:sldLayoutIdLst>
  <p:hf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alibri" pitchFamily="34" charset="0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178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354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532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709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882" indent="-342882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3200">
          <a:solidFill>
            <a:schemeClr val="accent2"/>
          </a:solidFill>
          <a:latin typeface="Calibri" pitchFamily="34" charset="0"/>
          <a:ea typeface="+mn-ea"/>
          <a:cs typeface="+mn-cs"/>
        </a:defRPr>
      </a:lvl1pPr>
      <a:lvl2pPr marL="742913" indent="-285737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Wingdings" pitchFamily="2" charset="2"/>
        <a:buChar char="§"/>
        <a:defRPr sz="2800">
          <a:solidFill>
            <a:schemeClr val="tx1"/>
          </a:solidFill>
          <a:latin typeface="Calibri" pitchFamily="34" charset="0"/>
        </a:defRPr>
      </a:lvl2pPr>
      <a:lvl3pPr marL="1142942" indent="-228589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400">
          <a:solidFill>
            <a:schemeClr val="tx1"/>
          </a:solidFill>
          <a:latin typeface="Calibri" pitchFamily="34" charset="0"/>
        </a:defRPr>
      </a:lvl3pPr>
      <a:lvl4pPr marL="1600120" indent="-228589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Wingdings" pitchFamily="2" charset="2"/>
        <a:buChar char="§"/>
        <a:defRPr sz="2000">
          <a:solidFill>
            <a:schemeClr val="tx1"/>
          </a:solidFill>
          <a:latin typeface="Calibri" pitchFamily="34" charset="0"/>
        </a:defRPr>
      </a:lvl4pPr>
      <a:lvl5pPr marL="2057298" indent="-228589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Calibri" pitchFamily="34" charset="0"/>
        </a:defRPr>
      </a:lvl5pPr>
      <a:lvl6pPr marL="2514474" indent="-228589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971652" indent="-228589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28829" indent="-228589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886006" indent="-228589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://en.wikipedia.org/wiki/Entropy" TargetMode="Externa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://en.wikipedia.org/wiki/Entropy" TargetMode="Externa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tags" Target="../tags/tag5.xml"/><Relationship Id="rId7" Type="http://schemas.openxmlformats.org/officeDocument/2006/relationships/image" Target="../media/image23.png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Relationship Id="rId5" Type="http://schemas.openxmlformats.org/officeDocument/2006/relationships/image" Target="../media/image27.png"/><Relationship Id="rId4" Type="http://schemas.openxmlformats.org/officeDocument/2006/relationships/image" Target="../media/image28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1C2546-CC9A-4311-8B91-22242EF851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D45D38E-18C1-496B-B796-319AF12F6D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06E1BDA-E0D2-4A05-BE6C-BA5BC1A30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81798C-0F99-461B-869F-8FC2E08F7ABC}" type="slidenum">
              <a:rPr lang="en-US" smtClean="0"/>
              <a:pPr>
                <a:defRPr/>
              </a:pPr>
              <a:t>1</a:t>
            </a:fld>
            <a:endParaRPr 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0DF718A-3C33-48FF-85E2-7ECC50EAA10D}"/>
              </a:ext>
            </a:extLst>
          </p:cNvPr>
          <p:cNvSpPr/>
          <p:nvPr/>
        </p:nvSpPr>
        <p:spPr>
          <a:xfrm>
            <a:off x="4191000" y="2971800"/>
            <a:ext cx="3884397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4400" b="1" dirty="0">
                <a:solidFill>
                  <a:schemeClr val="accent2"/>
                </a:solidFill>
                <a:latin typeface="Calibri" pitchFamily="34" charset="0"/>
              </a:rPr>
              <a:t>实验一</a:t>
            </a:r>
            <a:r>
              <a:rPr lang="en-US" altLang="zh-CN" sz="4400" b="1" dirty="0">
                <a:solidFill>
                  <a:schemeClr val="accent2"/>
                </a:solidFill>
                <a:latin typeface="Calibri" pitchFamily="34" charset="0"/>
              </a:rPr>
              <a:t>  A*</a:t>
            </a:r>
            <a:r>
              <a:rPr lang="zh-CN" altLang="zh-CN" sz="4400" b="1" dirty="0">
                <a:solidFill>
                  <a:schemeClr val="accent2"/>
                </a:solidFill>
                <a:latin typeface="Calibri" pitchFamily="34" charset="0"/>
              </a:rPr>
              <a:t>算法</a:t>
            </a:r>
            <a:endParaRPr lang="zh-CN" altLang="en-US" sz="4400" b="1" dirty="0">
              <a:solidFill>
                <a:schemeClr val="accent2"/>
              </a:solidFill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86139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" name="Google Shape;1008;p28"/>
          <p:cNvSpPr txBox="1">
            <a:spLocks noGrp="1"/>
          </p:cNvSpPr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/>
              <a:t>A* Search/</a:t>
            </a:r>
            <a:r>
              <a:rPr lang="en-US" altLang="zh-CN" b="1" dirty="0"/>
              <a:t> A* </a:t>
            </a:r>
            <a:r>
              <a:rPr lang="zh-CN" altLang="en-US" b="1" dirty="0"/>
              <a:t>搜索</a:t>
            </a:r>
            <a:r>
              <a:rPr lang="en-US" b="1" dirty="0"/>
              <a:t> </a:t>
            </a:r>
          </a:p>
        </p:txBody>
      </p:sp>
      <p:pic>
        <p:nvPicPr>
          <p:cNvPr id="1010" name="Google Shape;1010;p28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-747712" y="215106"/>
            <a:ext cx="7185025" cy="5513388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/>
              <p:cNvSpPr/>
              <p:nvPr/>
            </p:nvSpPr>
            <p:spPr>
              <a:xfrm>
                <a:off x="4800600" y="4310187"/>
                <a:ext cx="7277100" cy="235667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endParaRPr lang="en-US" altLang="zh-CN" sz="2000" b="1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l"/>
                </a:pPr>
                <a14:m>
                  <m:oMath xmlns:m="http://schemas.openxmlformats.org/officeDocument/2006/math">
                    <m:r>
                      <a:rPr lang="en-US" altLang="zh-CN" sz="2000" b="1" i="1">
                        <a:latin typeface="Cambria Math" panose="02040503050406030204"/>
                        <a:ea typeface="黑体" panose="02010609060101010101" pitchFamily="49" charset="-122"/>
                      </a:rPr>
                      <m:t>𝐠</m:t>
                    </m:r>
                    <m:d>
                      <m:d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000" b="1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𝒏</m:t>
                        </m:r>
                      </m:e>
                    </m:d>
                  </m:oMath>
                </a14:m>
                <a:r>
                  <a:rPr lang="zh-CN" altLang="en-US" sz="2000" b="1" dirty="0"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表示从</a:t>
                </a:r>
                <a:r>
                  <a:rPr lang="zh-CN" altLang="en-US" sz="2000" b="1" dirty="0">
                    <a:solidFill>
                      <a:srgbClr val="0000FF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初始状态</a:t>
                </a:r>
                <a:r>
                  <a:rPr lang="zh-CN" altLang="en-US" sz="2000" b="1" dirty="0"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到</a:t>
                </a:r>
                <a:r>
                  <a:rPr lang="zh-CN" altLang="en-US" sz="2000" b="1" dirty="0">
                    <a:solidFill>
                      <a:srgbClr val="0000FF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节点</a:t>
                </a:r>
                <a14:m>
                  <m:oMath xmlns:m="http://schemas.openxmlformats.org/officeDocument/2006/math">
                    <m:r>
                      <a:rPr lang="en-US" altLang="zh-CN" sz="2000" b="1" i="1">
                        <a:solidFill>
                          <a:srgbClr val="0000FF"/>
                        </a:solidFill>
                        <a:latin typeface="Cambria Math" panose="02040503050406030204"/>
                        <a:ea typeface="黑体" panose="02010609060101010101" pitchFamily="49" charset="-122"/>
                      </a:rPr>
                      <m:t>𝒏</m:t>
                    </m:r>
                  </m:oMath>
                </a14:m>
                <a:r>
                  <a:rPr lang="zh-CN" altLang="en-US" sz="2000" b="1" dirty="0"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的路径代价，</a:t>
                </a: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l"/>
                </a:pPr>
                <a14:m>
                  <m:oMath xmlns:m="http://schemas.openxmlformats.org/officeDocument/2006/math">
                    <m:r>
                      <a:rPr lang="en-US" altLang="zh-CN" sz="2000" b="1" i="1">
                        <a:latin typeface="Cambria Math" panose="02040503050406030204"/>
                        <a:ea typeface="黑体" panose="02010609060101010101" pitchFamily="49" charset="-122"/>
                      </a:rPr>
                      <m:t>𝒉</m:t>
                    </m:r>
                    <m:d>
                      <m:d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000" b="1" i="1">
                            <a:latin typeface="Cambria Math" panose="02040503050406030204"/>
                            <a:ea typeface="黑体" panose="02010609060101010101" pitchFamily="49" charset="-122"/>
                          </a:rPr>
                          <m:t>𝒏</m:t>
                        </m:r>
                      </m:e>
                    </m:d>
                  </m:oMath>
                </a14:m>
                <a:r>
                  <a:rPr lang="zh-CN" altLang="en-US" sz="2000" b="1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表示从</a:t>
                </a:r>
                <a:r>
                  <a:rPr lang="zh-CN" altLang="en-US" sz="2000" b="1" dirty="0">
                    <a:solidFill>
                      <a:srgbClr val="0000FF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结点</a:t>
                </a:r>
                <a14:m>
                  <m:oMath xmlns:m="http://schemas.openxmlformats.org/officeDocument/2006/math">
                    <m:r>
                      <a:rPr lang="en-US" altLang="zh-CN" sz="2000" b="1" i="1">
                        <a:solidFill>
                          <a:srgbClr val="0000FF"/>
                        </a:solidFill>
                        <a:latin typeface="Cambria Math" panose="02040503050406030204"/>
                        <a:ea typeface="黑体" panose="02010609060101010101" pitchFamily="49" charset="-122"/>
                      </a:rPr>
                      <m:t>𝒏</m:t>
                    </m:r>
                  </m:oMath>
                </a14:m>
                <a:r>
                  <a:rPr lang="zh-CN" altLang="en-US" sz="2000" b="1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到一个</a:t>
                </a:r>
                <a:r>
                  <a:rPr lang="zh-CN" altLang="en-US" sz="2000" b="1" dirty="0">
                    <a:solidFill>
                      <a:srgbClr val="0000FF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目标状态</a:t>
                </a:r>
                <a:r>
                  <a:rPr lang="zh-CN" altLang="en-US" sz="2000" b="1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的</a:t>
                </a:r>
                <a:r>
                  <a:rPr lang="zh-CN" altLang="en-US" sz="2000" b="1" dirty="0">
                    <a:solidFill>
                      <a:srgbClr val="FF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最短路径的代价估计值</a:t>
                </a:r>
                <a:r>
                  <a:rPr lang="zh-CN" altLang="en-US" sz="2000" b="1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。</a:t>
                </a:r>
                <a:endParaRPr lang="en-US" altLang="zh-CN" sz="2000" b="1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l"/>
                </a:pPr>
                <a14:m>
                  <m:oMath xmlns:m="http://schemas.openxmlformats.org/officeDocument/2006/math">
                    <m:r>
                      <a:rPr lang="en-US" altLang="zh-CN" sz="2000" b="1">
                        <a:latin typeface="Cambria Math" panose="02040503050406030204" pitchFamily="18" charset="0"/>
                        <a:ea typeface="华文楷体" panose="02010600040101010101" pitchFamily="2" charset="-122"/>
                        <a:cs typeface="Times New Roman" panose="02020603050405020304" pitchFamily="18" charset="0"/>
                      </a:rPr>
                      <m:t>𝐟</m:t>
                    </m:r>
                    <m:d>
                      <m:d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华文楷体" panose="02010600040101010101" pitchFamily="2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000" b="1">
                            <a:latin typeface="Cambria Math" panose="02040503050406030204" pitchFamily="18" charset="0"/>
                            <a:ea typeface="华文楷体" panose="02010600040101010101" pitchFamily="2" charset="-122"/>
                            <a:cs typeface="Times New Roman" panose="02020603050405020304" pitchFamily="18" charset="0"/>
                          </a:rPr>
                          <m:t>𝒏</m:t>
                        </m:r>
                      </m:e>
                    </m:d>
                    <m:r>
                      <a:rPr lang="en-US" altLang="zh-CN" sz="2000" b="1">
                        <a:latin typeface="Cambria Math" panose="02040503050406030204" pitchFamily="18" charset="0"/>
                        <a:ea typeface="华文楷体" panose="02010600040101010101" pitchFamily="2" charset="-122"/>
                        <a:cs typeface="Times New Roman" panose="02020603050405020304" pitchFamily="18" charset="0"/>
                      </a:rPr>
                      <m:t> </m:t>
                    </m:r>
                    <m:r>
                      <a:rPr lang="zh-CN" altLang="en-US" sz="2000" b="1">
                        <a:latin typeface="Cambria Math" panose="02040503050406030204" pitchFamily="18" charset="0"/>
                        <a:ea typeface="华文楷体" panose="02010600040101010101" pitchFamily="2" charset="-122"/>
                        <a:cs typeface="Times New Roman" panose="02020603050405020304" pitchFamily="18" charset="0"/>
                      </a:rPr>
                      <m:t>表示</m:t>
                    </m:r>
                  </m:oMath>
                </a14:m>
                <a:r>
                  <a:rPr lang="zh-CN" altLang="en-US" sz="2000" b="1" dirty="0"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从</a:t>
                </a:r>
                <a:r>
                  <a:rPr lang="zh-CN" altLang="en-US" sz="2000" b="1" dirty="0">
                    <a:solidFill>
                      <a:srgbClr val="0000FF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初始状态</a:t>
                </a:r>
                <a:r>
                  <a:rPr lang="zh-CN" altLang="en-US" sz="2000" b="1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经过</a:t>
                </a:r>
                <a:r>
                  <a:rPr lang="zh-CN" altLang="en-US" sz="2000" b="1" dirty="0">
                    <a:solidFill>
                      <a:srgbClr val="0000FF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结点</a:t>
                </a:r>
                <a14:m>
                  <m:oMath xmlns:m="http://schemas.openxmlformats.org/officeDocument/2006/math">
                    <m:r>
                      <a:rPr lang="en-US" altLang="zh-CN" sz="2000" b="1" i="1">
                        <a:solidFill>
                          <a:srgbClr val="0000FF"/>
                        </a:solidFill>
                        <a:latin typeface="Cambria Math" panose="02040503050406030204"/>
                        <a:ea typeface="黑体" panose="02010609060101010101" pitchFamily="49" charset="-122"/>
                      </a:rPr>
                      <m:t>𝒏</m:t>
                    </m:r>
                    <m:r>
                      <a:rPr lang="en-US" altLang="zh-CN" sz="2000" b="1" i="1">
                        <a:solidFill>
                          <a:srgbClr val="0000FF"/>
                        </a:solidFill>
                        <a:latin typeface="Cambria Math" panose="02040503050406030204"/>
                        <a:ea typeface="黑体" panose="02010609060101010101" pitchFamily="49" charset="-122"/>
                      </a:rPr>
                      <m:t> </m:t>
                    </m:r>
                    <m:r>
                      <a:rPr lang="zh-CN" altLang="en-US" sz="2000" b="1" i="1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到</m:t>
                    </m:r>
                  </m:oMath>
                </a14:m>
                <a:r>
                  <a:rPr lang="zh-CN" altLang="en-US" sz="2000" b="1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一个</a:t>
                </a:r>
                <a:r>
                  <a:rPr lang="zh-CN" altLang="en-US" sz="2000" b="1" dirty="0">
                    <a:solidFill>
                      <a:srgbClr val="0000FF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目标状态</a:t>
                </a:r>
                <a:r>
                  <a:rPr lang="zh-CN" altLang="en-US" sz="2000" b="1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的</a:t>
                </a:r>
                <a:r>
                  <a:rPr lang="zh-CN" altLang="en-US" sz="2000" b="1" dirty="0">
                    <a:solidFill>
                      <a:srgbClr val="FF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最优路径的代价估计值</a:t>
                </a:r>
                <a:r>
                  <a:rPr lang="zh-CN" altLang="en-US" sz="2000" b="1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。</a:t>
                </a:r>
                <a:endParaRPr lang="en-US" altLang="zh-CN" sz="2000" b="1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2" name="矩形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0600" y="4310187"/>
                <a:ext cx="7277100" cy="2356671"/>
              </a:xfrm>
              <a:prstGeom prst="rect">
                <a:avLst/>
              </a:prstGeom>
              <a:blipFill>
                <a:blip r:embed="rId4"/>
                <a:stretch>
                  <a:fillRect l="-754" r="-922" b="-36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/>
              <p:cNvSpPr/>
              <p:nvPr/>
            </p:nvSpPr>
            <p:spPr>
              <a:xfrm>
                <a:off x="4038600" y="1118138"/>
                <a:ext cx="7909657" cy="107407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Low>
                        <m:limLowPr>
                          <m:ctrlPr>
                            <a:rPr lang="zh-CN" altLang="zh-CN" sz="2000" b="1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ctrlPr>
                                <a:rPr lang="zh-CN" altLang="zh-CN" sz="2000" b="1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pitchFamily="18" charset="0"/>
                                </a:rPr>
                                <m:t>𝒇</m:t>
                              </m:r>
                              <m:d>
                                <m:dPr>
                                  <m:ctrlPr>
                                    <a:rPr lang="zh-CN" altLang="zh-CN" sz="2000" b="1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000" b="1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Cambria Math" panose="02040503050406030204" pitchFamily="18" charset="0"/>
                                    </a:rPr>
                                    <m:t>𝒏</m:t>
                                  </m:r>
                                </m:e>
                              </m:d>
                            </m:e>
                          </m:groupChr>
                        </m:e>
                        <m:lim>
                          <m:r>
                            <a:rPr lang="zh-CN" altLang="zh-CN" sz="2000" b="1">
                              <a:latin typeface="Cambria Math" panose="02040503050406030204" pitchFamily="18" charset="0"/>
                              <a:ea typeface="MS Mincho" charset="0"/>
                              <a:cs typeface="Cambria Math" panose="02040503050406030204" pitchFamily="18" charset="0"/>
                            </a:rPr>
                            <m:t>评价函数</m:t>
                          </m:r>
                        </m:lim>
                      </m:limLow>
                      <m:r>
                        <a:rPr lang="en-US" altLang="zh-CN" sz="2000" b="1"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=</m:t>
                      </m:r>
                      <m:limLow>
                        <m:limLowPr>
                          <m:ctrlPr>
                            <a:rPr lang="zh-CN" altLang="zh-CN" sz="2000" b="1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ctrlPr>
                                <a:rPr lang="zh-CN" altLang="zh-CN" sz="2000" b="1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pitchFamily="18" charset="0"/>
                                </a:rPr>
                                <m:t>𝒈</m:t>
                              </m:r>
                              <m:d>
                                <m:dPr>
                                  <m:ctrlPr>
                                    <a:rPr lang="zh-CN" altLang="zh-CN" sz="2000" b="1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000" b="1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Cambria Math" panose="02040503050406030204" pitchFamily="18" charset="0"/>
                                    </a:rPr>
                                    <m:t>𝒏</m:t>
                                  </m:r>
                                </m:e>
                              </m:d>
                            </m:e>
                          </m:groupChr>
                        </m:e>
                        <m:lim>
                          <m:eqArr>
                            <m:eqArrPr>
                              <m:ctrlPr>
                                <a:rPr lang="zh-CN" altLang="zh-CN" sz="2000" b="1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zh-CN" altLang="en-US" sz="2000" b="1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pitchFamily="18" charset="0"/>
                                </a:rPr>
                                <m:t>初始</m:t>
                              </m:r>
                              <m:r>
                                <a:rPr lang="zh-CN" altLang="en-US" sz="2000" b="1" i="1"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pitchFamily="18" charset="0"/>
                                </a:rPr>
                                <m:t>节</m:t>
                              </m:r>
                              <m:r>
                                <a:rPr lang="zh-CN" altLang="zh-CN" sz="2000" b="1"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pitchFamily="18" charset="0"/>
                                </a:rPr>
                                <m:t>点到</m:t>
                              </m:r>
                              <m:r>
                                <a:rPr lang="zh-CN" altLang="en-US" sz="2000" b="1" i="1"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pitchFamily="18" charset="0"/>
                                </a:rPr>
                                <m:t>节</m:t>
                              </m:r>
                              <m:r>
                                <a:rPr lang="zh-CN" altLang="zh-CN" sz="2000" b="1"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pitchFamily="18" charset="0"/>
                                </a:rPr>
                                <m:t>点</m:t>
                              </m:r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pitchFamily="18" charset="0"/>
                                </a:rPr>
                                <m:t>𝒏</m:t>
                              </m:r>
                              <m:r>
                                <a:rPr lang="zh-CN" altLang="en-US" sz="2000" b="1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pitchFamily="18" charset="0"/>
                                </a:rPr>
                                <m:t>路径</m:t>
                              </m:r>
                              <m:r>
                                <a:rPr lang="zh-CN" altLang="zh-CN" sz="2000" b="1"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pitchFamily="18" charset="0"/>
                                </a:rPr>
                                <m:t>代价</m:t>
                              </m:r>
                            </m:e>
                            <m:e>
                              <m:r>
                                <a:rPr lang="en-US" altLang="zh-CN" sz="2000" b="1"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zh-CN" altLang="zh-CN" sz="2000" b="1"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pitchFamily="18" charset="0"/>
                                </a:rPr>
                                <m:t>当前最小代价</m:t>
                              </m:r>
                              <m:r>
                                <a:rPr lang="en-US" altLang="zh-CN" sz="2000" b="1"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pitchFamily="18" charset="0"/>
                                </a:rPr>
                                <m:t>)</m:t>
                              </m:r>
                            </m:e>
                          </m:eqArr>
                        </m:lim>
                      </m:limLow>
                      <m:r>
                        <a:rPr lang="en-US" altLang="zh-CN" sz="2000" b="1"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+    </m:t>
                      </m:r>
                      <m:limLow>
                        <m:limLowPr>
                          <m:ctrlPr>
                            <a:rPr lang="zh-CN" altLang="zh-CN" sz="2000" b="1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Cambria Math" panose="020405030504060302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ctrlPr>
                                <a:rPr lang="zh-CN" altLang="zh-CN" sz="2000" b="1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pitchFamily="18" charset="0"/>
                                </a:rPr>
                                <m:t>𝒉</m:t>
                              </m:r>
                              <m:r>
                                <a:rPr lang="en-US" altLang="zh-CN" sz="2000" b="1"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pitchFamily="18" charset="0"/>
                                </a:rPr>
                                <m:t>𝒏</m:t>
                              </m:r>
                              <m:r>
                                <a:rPr lang="en-US" altLang="zh-CN" sz="2000" b="1"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pitchFamily="18" charset="0"/>
                                </a:rPr>
                                <m:t>)</m:t>
                              </m:r>
                            </m:e>
                          </m:groupChr>
                        </m:e>
                        <m:lim>
                          <m:eqArr>
                            <m:eqArrPr>
                              <m:ctrlPr>
                                <a:rPr lang="zh-CN" altLang="zh-CN" sz="2000" b="1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zh-CN" altLang="en-US" sz="2000" b="1" i="1"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pitchFamily="18" charset="0"/>
                                </a:rPr>
                                <m:t>节</m:t>
                              </m:r>
                              <m:r>
                                <a:rPr lang="zh-CN" altLang="zh-CN" sz="2000" b="1"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pitchFamily="18" charset="0"/>
                                </a:rPr>
                                <m:t>点</m:t>
                              </m:r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Cambria Math" panose="02040503050406030204" pitchFamily="18" charset="0"/>
                                </a:rPr>
                                <m:t>𝒏</m:t>
                              </m:r>
                              <m:r>
                                <a:rPr lang="zh-CN" altLang="zh-CN" sz="2000" b="1"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pitchFamily="18" charset="0"/>
                                </a:rPr>
                                <m:t>到目标</m:t>
                              </m:r>
                              <m:r>
                                <a:rPr lang="zh-CN" altLang="en-US" sz="2000" b="1" i="1"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pitchFamily="18" charset="0"/>
                                </a:rPr>
                                <m:t>节</m:t>
                              </m:r>
                              <m:r>
                                <a:rPr lang="zh-CN" altLang="zh-CN" sz="2000" b="1"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pitchFamily="18" charset="0"/>
                                </a:rPr>
                                <m:t>点</m:t>
                              </m:r>
                              <m:r>
                                <a:rPr lang="zh-CN" altLang="en-US" sz="2000" b="1" i="1"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pitchFamily="18" charset="0"/>
                                </a:rPr>
                                <m:t>估计</m:t>
                              </m:r>
                              <m:r>
                                <a:rPr lang="zh-CN" altLang="zh-CN" sz="2000" b="1"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pitchFamily="18" charset="0"/>
                                </a:rPr>
                                <m:t>代价</m:t>
                              </m:r>
                            </m:e>
                            <m:e>
                              <m:r>
                                <a:rPr lang="en-US" altLang="zh-CN" sz="2000" b="1"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zh-CN" altLang="zh-CN" sz="2000" b="1"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pitchFamily="18" charset="0"/>
                                </a:rPr>
                                <m:t>后续</m:t>
                              </m:r>
                              <m:r>
                                <a:rPr lang="zh-CN" altLang="zh-CN" sz="2000" b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pitchFamily="18" charset="0"/>
                                </a:rPr>
                                <m:t>估计</m:t>
                              </m:r>
                              <m:r>
                                <a:rPr lang="zh-CN" altLang="zh-CN" sz="2000" b="1"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pitchFamily="18" charset="0"/>
                                </a:rPr>
                                <m:t>最小代价</m:t>
                              </m:r>
                              <m:r>
                                <a:rPr lang="en-US" altLang="zh-CN" sz="2000" b="1"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pitchFamily="18" charset="0"/>
                                </a:rPr>
                                <m:t>)</m:t>
                              </m:r>
                            </m:e>
                          </m:eqArr>
                        </m:lim>
                      </m:limLow>
                    </m:oMath>
                  </m:oMathPara>
                </a14:m>
                <a:endParaRPr lang="zh-CN" altLang="zh-CN" sz="2000" b="1" dirty="0"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" name="矩形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8600" y="1118138"/>
                <a:ext cx="7909657" cy="1074077"/>
              </a:xfrm>
              <a:prstGeom prst="rect">
                <a:avLst/>
              </a:prstGeom>
              <a:blipFill>
                <a:blip r:embed="rId5"/>
                <a:stretch>
                  <a:fillRect l="-308" r="-2005" b="-73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748" name="Shape 126"/>
          <p:cNvSpPr>
            <a:spLocks noChangeArrowheads="1"/>
          </p:cNvSpPr>
          <p:nvPr/>
        </p:nvSpPr>
        <p:spPr bwMode="auto">
          <a:xfrm>
            <a:off x="4800600" y="2971800"/>
            <a:ext cx="669925" cy="50323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2E7A"/>
            </a:solidFill>
            <a:miter lim="400000"/>
          </a:ln>
        </p:spPr>
        <p:txBody>
          <a:bodyPr lIns="38100" tIns="38100" rIns="38100" bIns="38100" anchor="ctr"/>
          <a:lstStyle/>
          <a:p>
            <a:pPr algn="ctr" eaLnBrk="1" hangingPunct="1">
              <a:buClr>
                <a:srgbClr val="000000"/>
              </a:buClr>
              <a:buFont typeface="Arial" panose="020B0604020202020204" pitchFamily="34" charset="0"/>
              <a:buNone/>
            </a:pPr>
            <a:endParaRPr lang="zh-CN" altLang="zh-CN" b="1">
              <a:ea typeface="宋体" panose="02010600030101010101" pitchFamily="2" charset="-122"/>
            </a:endParaRPr>
          </a:p>
        </p:txBody>
      </p:sp>
      <p:sp>
        <p:nvSpPr>
          <p:cNvPr id="31749" name="Shape 127"/>
          <p:cNvSpPr>
            <a:spLocks noChangeArrowheads="1"/>
          </p:cNvSpPr>
          <p:nvPr/>
        </p:nvSpPr>
        <p:spPr bwMode="auto">
          <a:xfrm>
            <a:off x="8229283" y="2971800"/>
            <a:ext cx="671512" cy="50323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2E7A"/>
            </a:solidFill>
            <a:miter lim="400000"/>
          </a:ln>
        </p:spPr>
        <p:txBody>
          <a:bodyPr lIns="38100" tIns="38100" rIns="38100" bIns="38100" anchor="ctr"/>
          <a:lstStyle/>
          <a:p>
            <a:pPr algn="ctr" eaLnBrk="1" hangingPunct="1">
              <a:buClr>
                <a:srgbClr val="000000"/>
              </a:buClr>
              <a:buFont typeface="Arial" panose="020B0604020202020204" pitchFamily="34" charset="0"/>
              <a:buNone/>
            </a:pPr>
            <a:r>
              <a:rPr lang="zh-CN" altLang="zh-CN" b="1" i="1">
                <a:latin typeface="Helvetica"/>
                <a:ea typeface="Helvetica"/>
                <a:cs typeface="Helvetica"/>
                <a:sym typeface="Helvetica"/>
              </a:rPr>
              <a:t>n</a:t>
            </a:r>
          </a:p>
        </p:txBody>
      </p:sp>
      <p:sp>
        <p:nvSpPr>
          <p:cNvPr id="31750" name="Shape 128"/>
          <p:cNvSpPr>
            <a:spLocks noChangeArrowheads="1"/>
          </p:cNvSpPr>
          <p:nvPr/>
        </p:nvSpPr>
        <p:spPr bwMode="auto">
          <a:xfrm>
            <a:off x="11383645" y="2971800"/>
            <a:ext cx="671513" cy="50323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2E7A"/>
            </a:solidFill>
            <a:miter lim="400000"/>
          </a:ln>
        </p:spPr>
        <p:txBody>
          <a:bodyPr lIns="38100" tIns="38100" rIns="38100" bIns="38100" anchor="ctr"/>
          <a:lstStyle/>
          <a:p>
            <a:pPr algn="ctr" eaLnBrk="1" hangingPunct="1">
              <a:buClr>
                <a:srgbClr val="000000"/>
              </a:buClr>
              <a:buFont typeface="Arial" panose="020B0604020202020204" pitchFamily="34" charset="0"/>
              <a:buNone/>
            </a:pPr>
            <a:endParaRPr lang="zh-CN" altLang="zh-CN" b="1">
              <a:ea typeface="宋体" panose="02010600030101010101" pitchFamily="2" charset="-122"/>
            </a:endParaRPr>
          </a:p>
        </p:txBody>
      </p:sp>
      <p:sp>
        <p:nvSpPr>
          <p:cNvPr id="31751" name="Shape 129"/>
          <p:cNvSpPr>
            <a:spLocks noChangeArrowheads="1"/>
          </p:cNvSpPr>
          <p:nvPr/>
        </p:nvSpPr>
        <p:spPr bwMode="auto">
          <a:xfrm>
            <a:off x="4953000" y="3581400"/>
            <a:ext cx="1484313" cy="400050"/>
          </a:xfrm>
          <a:prstGeom prst="rect">
            <a:avLst/>
          </a:prstGeom>
          <a:noFill/>
          <a:ln w="12700">
            <a:noFill/>
            <a:miter lim="400000"/>
          </a:ln>
        </p:spPr>
        <p:txBody>
          <a:bodyPr wrap="none" lIns="38100" tIns="38100" rIns="38100" bIns="38100"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2100" b="1">
                <a:ea typeface="宋体" panose="02010600030101010101" pitchFamily="2" charset="-122"/>
              </a:rPr>
              <a:t>initial state</a:t>
            </a:r>
          </a:p>
        </p:txBody>
      </p:sp>
      <p:sp>
        <p:nvSpPr>
          <p:cNvPr id="31752" name="Shape 130"/>
          <p:cNvSpPr>
            <a:spLocks noChangeArrowheads="1"/>
          </p:cNvSpPr>
          <p:nvPr/>
        </p:nvSpPr>
        <p:spPr bwMode="auto">
          <a:xfrm>
            <a:off x="7513320" y="3543300"/>
            <a:ext cx="1704975" cy="400050"/>
          </a:xfrm>
          <a:prstGeom prst="rect">
            <a:avLst/>
          </a:prstGeom>
          <a:noFill/>
          <a:ln w="12700">
            <a:noFill/>
            <a:miter lim="400000"/>
          </a:ln>
        </p:spPr>
        <p:txBody>
          <a:bodyPr wrap="none" lIns="38100" tIns="38100" rIns="38100" bIns="38100"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2100" b="1">
                <a:ea typeface="宋体" panose="02010600030101010101" pitchFamily="2" charset="-122"/>
              </a:rPr>
              <a:t>current state</a:t>
            </a:r>
          </a:p>
        </p:txBody>
      </p:sp>
      <p:sp>
        <p:nvSpPr>
          <p:cNvPr id="31753" name="Shape 131"/>
          <p:cNvSpPr>
            <a:spLocks noChangeArrowheads="1"/>
          </p:cNvSpPr>
          <p:nvPr/>
        </p:nvSpPr>
        <p:spPr bwMode="auto">
          <a:xfrm>
            <a:off x="10744200" y="3543300"/>
            <a:ext cx="1333500" cy="400050"/>
          </a:xfrm>
          <a:prstGeom prst="rect">
            <a:avLst/>
          </a:prstGeom>
          <a:noFill/>
          <a:ln w="12700">
            <a:noFill/>
            <a:miter lim="400000"/>
          </a:ln>
        </p:spPr>
        <p:txBody>
          <a:bodyPr wrap="none" lIns="38100" tIns="38100" rIns="38100" bIns="38100"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2100" b="1">
                <a:ea typeface="宋体" panose="02010600030101010101" pitchFamily="2" charset="-122"/>
              </a:rPr>
              <a:t>goal state</a:t>
            </a:r>
          </a:p>
        </p:txBody>
      </p:sp>
      <p:sp>
        <p:nvSpPr>
          <p:cNvPr id="31754" name="Shape 132"/>
          <p:cNvSpPr>
            <a:spLocks noChangeShapeType="1"/>
          </p:cNvSpPr>
          <p:nvPr/>
        </p:nvSpPr>
        <p:spPr bwMode="auto">
          <a:xfrm>
            <a:off x="5559108" y="3255963"/>
            <a:ext cx="2655887" cy="0"/>
          </a:xfrm>
          <a:prstGeom prst="line">
            <a:avLst/>
          </a:prstGeom>
          <a:noFill/>
          <a:ln w="38100">
            <a:solidFill>
              <a:srgbClr val="000000"/>
            </a:solidFill>
            <a:miter lim="400000"/>
          </a:ln>
        </p:spPr>
        <p:txBody>
          <a:bodyPr lIns="0" tIns="0" rIns="0" bIns="0"/>
          <a:lstStyle/>
          <a:p>
            <a:endParaRPr lang="zh-CN" altLang="en-US"/>
          </a:p>
        </p:txBody>
      </p:sp>
      <p:sp>
        <p:nvSpPr>
          <p:cNvPr id="31755" name="Shape 133"/>
          <p:cNvSpPr>
            <a:spLocks noChangeShapeType="1"/>
          </p:cNvSpPr>
          <p:nvPr/>
        </p:nvSpPr>
        <p:spPr bwMode="auto">
          <a:xfrm>
            <a:off x="8978583" y="3246438"/>
            <a:ext cx="2363787" cy="0"/>
          </a:xfrm>
          <a:prstGeom prst="line">
            <a:avLst/>
          </a:prstGeom>
          <a:noFill/>
          <a:ln w="38100">
            <a:solidFill>
              <a:srgbClr val="000000"/>
            </a:solidFill>
            <a:miter lim="400000"/>
          </a:ln>
        </p:spPr>
        <p:txBody>
          <a:bodyPr lIns="0" tIns="0" rIns="0" bIns="0"/>
          <a:lstStyle/>
          <a:p>
            <a:endParaRPr lang="zh-CN" altLang="en-US"/>
          </a:p>
        </p:txBody>
      </p:sp>
      <p:sp>
        <p:nvSpPr>
          <p:cNvPr id="31756" name="Shape 134"/>
          <p:cNvSpPr>
            <a:spLocks noChangeArrowheads="1"/>
          </p:cNvSpPr>
          <p:nvPr/>
        </p:nvSpPr>
        <p:spPr bwMode="auto">
          <a:xfrm>
            <a:off x="6735445" y="2824163"/>
            <a:ext cx="479425" cy="354012"/>
          </a:xfrm>
          <a:prstGeom prst="rect">
            <a:avLst/>
          </a:prstGeom>
          <a:noFill/>
          <a:ln w="12700">
            <a:noFill/>
            <a:miter lim="400000"/>
          </a:ln>
        </p:spPr>
        <p:txBody>
          <a:bodyPr wrap="none" lIns="38100" tIns="38100" rIns="38100" bIns="38100"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b="1" i="1">
                <a:latin typeface="Helvetica"/>
                <a:ea typeface="Helvetica"/>
                <a:cs typeface="Helvetica"/>
                <a:sym typeface="Helvetica"/>
              </a:rPr>
              <a:t>g(n)</a:t>
            </a:r>
          </a:p>
        </p:txBody>
      </p:sp>
      <p:sp>
        <p:nvSpPr>
          <p:cNvPr id="31757" name="Shape 135"/>
          <p:cNvSpPr>
            <a:spLocks noChangeArrowheads="1"/>
          </p:cNvSpPr>
          <p:nvPr/>
        </p:nvSpPr>
        <p:spPr bwMode="auto">
          <a:xfrm>
            <a:off x="9799320" y="2824163"/>
            <a:ext cx="474663" cy="354012"/>
          </a:xfrm>
          <a:prstGeom prst="rect">
            <a:avLst/>
          </a:prstGeom>
          <a:noFill/>
          <a:ln w="12700">
            <a:noFill/>
            <a:miter lim="400000"/>
          </a:ln>
        </p:spPr>
        <p:txBody>
          <a:bodyPr wrap="none" lIns="38100" tIns="38100" rIns="38100" bIns="38100"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b="1" i="1">
                <a:latin typeface="Helvetica"/>
                <a:ea typeface="Helvetica"/>
                <a:cs typeface="Helvetica"/>
                <a:sym typeface="Helvetica"/>
              </a:rPr>
              <a:t>h(n)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1" name="Google Shape;1181;p35"/>
          <p:cNvSpPr txBox="1">
            <a:spLocks noGrp="1"/>
          </p:cNvSpPr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b="1" dirty="0"/>
              <a:t>Admissible Heuristics/</a:t>
            </a:r>
            <a:r>
              <a:rPr lang="zh-CN" altLang="en-US" sz="4800" b="1" dirty="0">
                <a:solidFill>
                  <a:srgbClr val="FF0000"/>
                </a:solidFill>
                <a:effectLst>
                  <a:outerShdw blurRad="88900" dist="38100" dir="2700000" rotWithShape="0">
                    <a:srgbClr val="000000">
                      <a:alpha val="40000"/>
                    </a:srgbClr>
                  </a:outerShdw>
                </a:effectLst>
                <a:uFill>
                  <a:solidFill>
                    <a:srgbClr val="CD665F"/>
                  </a:solidFill>
                </a:uFill>
                <a:latin typeface="+mn-lt"/>
                <a:ea typeface="+mn-ea"/>
                <a:cs typeface="+mn-cs"/>
                <a:sym typeface="Lucida Bright" panose="02040602050505020304"/>
              </a:rPr>
              <a:t>可容许的启发式</a:t>
            </a:r>
            <a:endParaRPr sz="4800" b="1" dirty="0">
              <a:solidFill>
                <a:srgbClr val="FF0000"/>
              </a:solidFill>
              <a:effectLst>
                <a:outerShdw blurRad="88900" dist="38100" dir="2700000" rotWithShape="0">
                  <a:srgbClr val="000000">
                    <a:alpha val="40000"/>
                  </a:srgbClr>
                </a:outerShdw>
              </a:effectLst>
              <a:uFill>
                <a:solidFill>
                  <a:srgbClr val="CD665F"/>
                </a:solidFill>
              </a:uFill>
              <a:latin typeface="+mn-lt"/>
              <a:ea typeface="+mn-ea"/>
              <a:cs typeface="+mn-cs"/>
              <a:sym typeface="Lucida Bright" panose="02040602050505020304"/>
            </a:endParaRPr>
          </a:p>
        </p:txBody>
      </p:sp>
      <p:sp>
        <p:nvSpPr>
          <p:cNvPr id="1182" name="Google Shape;1182;p35"/>
          <p:cNvSpPr txBox="1">
            <a:spLocks noGrp="1"/>
          </p:cNvSpPr>
          <p:nvPr>
            <p:ph type="body" idx="1"/>
          </p:nvPr>
        </p:nvSpPr>
        <p:spPr>
          <a:xfrm>
            <a:off x="457200" y="1219200"/>
            <a:ext cx="114300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3200"/>
              <a:buChar char="o"/>
            </a:pPr>
            <a:r>
              <a:rPr lang="en-US" b="1" dirty="0"/>
              <a:t>A heuristic </a:t>
            </a:r>
            <a:r>
              <a:rPr lang="en-US" b="1" i="1" dirty="0">
                <a:solidFill>
                  <a:srgbClr val="C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h</a:t>
            </a:r>
            <a:r>
              <a:rPr lang="en-US" b="1" dirty="0"/>
              <a:t> is </a:t>
            </a:r>
            <a:r>
              <a:rPr lang="en-US" b="1" i="1" dirty="0">
                <a:solidFill>
                  <a:srgbClr val="C00000"/>
                </a:solidFill>
              </a:rPr>
              <a:t>admissible/</a:t>
            </a:r>
            <a:r>
              <a:rPr lang="zh-CN" altLang="en-US" b="1" dirty="0">
                <a:solidFill>
                  <a:srgbClr val="FF0000"/>
                </a:solidFill>
              </a:rPr>
              <a:t>可容许的</a:t>
            </a:r>
            <a:r>
              <a:rPr lang="en-US" b="1" dirty="0"/>
              <a:t>(</a:t>
            </a:r>
            <a:r>
              <a:rPr lang="en-US" altLang="zh-CN" b="1" dirty="0"/>
              <a:t>Admissible</a:t>
            </a:r>
            <a:r>
              <a:rPr lang="en-US" b="1" dirty="0"/>
              <a:t>) if:</a:t>
            </a:r>
            <a:endParaRPr b="1" dirty="0"/>
          </a:p>
          <a:p>
            <a:pPr marL="742950" lvl="1" indent="-107950" algn="l" rtl="0">
              <a:spcBef>
                <a:spcPts val="560"/>
              </a:spcBef>
              <a:spcAft>
                <a:spcPts val="0"/>
              </a:spcAft>
              <a:buSzPts val="2800"/>
              <a:buNone/>
            </a:pPr>
            <a:endParaRPr b="1" dirty="0"/>
          </a:p>
          <a:p>
            <a:pPr marL="742950" lvl="1" indent="-107950" algn="l" rtl="0">
              <a:spcBef>
                <a:spcPts val="560"/>
              </a:spcBef>
              <a:spcAft>
                <a:spcPts val="0"/>
              </a:spcAft>
              <a:buSzPts val="2800"/>
              <a:buNone/>
            </a:pPr>
            <a:endParaRPr b="1" dirty="0"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SzPts val="3200"/>
              <a:buFont typeface="Noto Sans Symbols"/>
              <a:buNone/>
            </a:pPr>
            <a:r>
              <a:rPr lang="en-US" b="1" dirty="0"/>
              <a:t>	where               is the </a:t>
            </a:r>
            <a:r>
              <a:rPr lang="en-US" b="1" dirty="0">
                <a:solidFill>
                  <a:srgbClr val="FF0000"/>
                </a:solidFill>
              </a:rPr>
              <a:t>true cost</a:t>
            </a:r>
            <a:r>
              <a:rPr lang="en-US" b="1" dirty="0"/>
              <a:t> to a nearest goal/</a:t>
            </a:r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SzPts val="3200"/>
              <a:buFont typeface="Noto Sans Symbols"/>
              <a:buNone/>
            </a:pPr>
            <a:r>
              <a:rPr lang="en-US" altLang="zh-CN" sz="2400" b="1" dirty="0">
                <a:solidFill>
                  <a:srgbClr val="FF0000"/>
                </a:solidFill>
                <a:ea typeface="宋体" panose="02010600030101010101" pitchFamily="2" charset="-122"/>
              </a:rPr>
              <a:t>                                                      </a:t>
            </a:r>
            <a:r>
              <a:rPr lang="zh-CN" altLang="en-US" sz="2400" b="1" dirty="0">
                <a:solidFill>
                  <a:srgbClr val="FF0000"/>
                </a:solidFill>
                <a:ea typeface="宋体" panose="02010600030101010101" pitchFamily="2" charset="-122"/>
              </a:rPr>
              <a:t>从</a:t>
            </a:r>
            <a:r>
              <a:rPr lang="en-US" altLang="zh-CN" sz="2400" b="1" dirty="0">
                <a:solidFill>
                  <a:srgbClr val="FF0000"/>
                </a:solidFill>
                <a:ea typeface="宋体" panose="02010600030101010101" pitchFamily="2" charset="-122"/>
              </a:rPr>
              <a:t>n</a:t>
            </a:r>
            <a:r>
              <a:rPr lang="zh-CN" altLang="en-US" sz="2400" b="1" dirty="0">
                <a:solidFill>
                  <a:srgbClr val="FF0000"/>
                </a:solidFill>
                <a:ea typeface="宋体" panose="02010600030101010101" pitchFamily="2" charset="-122"/>
              </a:rPr>
              <a:t>到最近目标的最优路径代价</a:t>
            </a:r>
            <a:endParaRPr sz="2400" b="1" dirty="0">
              <a:solidFill>
                <a:srgbClr val="FF0000"/>
              </a:solidFill>
            </a:endParaRPr>
          </a:p>
          <a:p>
            <a:pPr marL="342900" lvl="0" indent="-342900" algn="l" rtl="0">
              <a:spcBef>
                <a:spcPts val="320"/>
              </a:spcBef>
              <a:spcAft>
                <a:spcPts val="0"/>
              </a:spcAft>
              <a:buSzPts val="1600"/>
              <a:buFont typeface="Noto Sans Symbols"/>
              <a:buNone/>
            </a:pPr>
            <a:endParaRPr sz="1600" b="1" dirty="0"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SzPts val="3200"/>
              <a:buChar char="o"/>
            </a:pPr>
            <a:r>
              <a:rPr lang="en-US" b="1" dirty="0">
                <a:solidFill>
                  <a:srgbClr val="008000"/>
                </a:solidFill>
              </a:rPr>
              <a:t>Examples</a:t>
            </a:r>
            <a:r>
              <a:rPr lang="en-US" b="1" dirty="0"/>
              <a:t>:</a:t>
            </a:r>
            <a:endParaRPr b="1" dirty="0"/>
          </a:p>
          <a:p>
            <a:pPr marL="342900" lvl="0" indent="-139700" algn="l" rtl="0">
              <a:spcBef>
                <a:spcPts val="640"/>
              </a:spcBef>
              <a:spcAft>
                <a:spcPts val="0"/>
              </a:spcAft>
              <a:buSzPts val="3200"/>
              <a:buNone/>
            </a:pPr>
            <a:endParaRPr b="1" dirty="0"/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3200"/>
              <a:buChar char="o"/>
            </a:pPr>
            <a:endParaRPr lang="en-US" altLang="zh-CN" sz="2400" b="1" dirty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3200"/>
              <a:buChar char="o"/>
            </a:pPr>
            <a:r>
              <a:rPr lang="zh-CN" altLang="en-US" sz="2800" b="1" dirty="0">
                <a:solidFill>
                  <a:srgbClr val="FF0000"/>
                </a:solidFill>
                <a:ea typeface="宋体" panose="02010600030101010101" pitchFamily="2" charset="-122"/>
              </a:rPr>
              <a:t>可</a:t>
            </a:r>
            <a:r>
              <a:rPr lang="zh-CN" altLang="en-US" sz="2800" b="1" dirty="0">
                <a:solidFill>
                  <a:srgbClr val="FF0000"/>
                </a:solidFill>
              </a:rPr>
              <a:t>容许的</a:t>
            </a:r>
            <a:r>
              <a:rPr lang="zh-CN" altLang="en-US" sz="2800" b="1" dirty="0">
                <a:solidFill>
                  <a:srgbClr val="FF0000"/>
                </a:solidFill>
                <a:ea typeface="宋体" panose="02010600030101010101" pitchFamily="2" charset="-122"/>
              </a:rPr>
              <a:t>启发函数是实际运用A*算法的重点</a:t>
            </a:r>
            <a:endParaRPr sz="2800" b="1" dirty="0"/>
          </a:p>
        </p:txBody>
      </p:sp>
      <p:pic>
        <p:nvPicPr>
          <p:cNvPr id="1183" name="Google Shape;1183;p35" descr="txp_fi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4343400" y="2133600"/>
            <a:ext cx="3130785" cy="4033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4" name="Google Shape;1184;p35" descr="txp_fi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2354961" y="2879834"/>
            <a:ext cx="979488" cy="4032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85" name="Google Shape;1185;p35"/>
          <p:cNvGrpSpPr/>
          <p:nvPr/>
        </p:nvGrpSpPr>
        <p:grpSpPr>
          <a:xfrm>
            <a:off x="2971800" y="3960828"/>
            <a:ext cx="7239000" cy="1198547"/>
            <a:chOff x="2971800" y="3960828"/>
            <a:chExt cx="7239000" cy="1198547"/>
          </a:xfrm>
        </p:grpSpPr>
        <p:grpSp>
          <p:nvGrpSpPr>
            <p:cNvPr id="1186" name="Google Shape;1186;p35"/>
            <p:cNvGrpSpPr/>
            <p:nvPr/>
          </p:nvGrpSpPr>
          <p:grpSpPr>
            <a:xfrm>
              <a:off x="2971800" y="3962400"/>
              <a:ext cx="2663825" cy="1196975"/>
              <a:chOff x="4724400" y="4114800"/>
              <a:chExt cx="2663541" cy="1197700"/>
            </a:xfrm>
          </p:grpSpPr>
          <p:pic>
            <p:nvPicPr>
              <p:cNvPr id="1187" name="Google Shape;1187;p35" descr="Z:\Shared with PC\smallMaze.png"/>
              <p:cNvPicPr preferRelativeResize="0"/>
              <p:nvPr/>
            </p:nvPicPr>
            <p:blipFill rotWithShape="1">
              <a:blip r:embed="rId5"/>
              <a:srcRect/>
              <a:stretch>
                <a:fillRect/>
              </a:stretch>
            </p:blipFill>
            <p:spPr>
              <a:xfrm>
                <a:off x="4724400" y="4114800"/>
                <a:ext cx="2663541" cy="1197700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1188" name="Google Shape;1188;p35"/>
              <p:cNvCxnSpPr/>
              <p:nvPr/>
            </p:nvCxnSpPr>
            <p:spPr>
              <a:xfrm flipH="1">
                <a:off x="4952976" y="4553215"/>
                <a:ext cx="1125418" cy="19062"/>
              </a:xfrm>
              <a:prstGeom prst="straightConnector1">
                <a:avLst/>
              </a:prstGeom>
              <a:noFill/>
              <a:ln w="57150" cap="flat" cmpd="sng">
                <a:solidFill>
                  <a:srgbClr val="C00000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1189" name="Google Shape;1189;p35"/>
              <p:cNvSpPr txBox="1"/>
              <p:nvPr/>
            </p:nvSpPr>
            <p:spPr>
              <a:xfrm>
                <a:off x="5105401" y="4648200"/>
                <a:ext cx="548590" cy="52353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800" b="1" dirty="0">
                    <a:solidFill>
                      <a:srgbClr val="C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7</a:t>
                </a:r>
                <a:endParaRPr b="1" dirty="0"/>
              </a:p>
            </p:txBody>
          </p:sp>
          <p:cxnSp>
            <p:nvCxnSpPr>
              <p:cNvPr id="1190" name="Google Shape;1190;p35"/>
              <p:cNvCxnSpPr/>
              <p:nvPr/>
            </p:nvCxnSpPr>
            <p:spPr>
              <a:xfrm rot="5400000">
                <a:off x="4648785" y="4876468"/>
                <a:ext cx="609969" cy="1588"/>
              </a:xfrm>
              <a:prstGeom prst="straightConnector1">
                <a:avLst/>
              </a:prstGeom>
              <a:noFill/>
              <a:ln w="57150" cap="flat" cmpd="sng">
                <a:solidFill>
                  <a:srgbClr val="C00000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</p:grpSp>
        <p:grpSp>
          <p:nvGrpSpPr>
            <p:cNvPr id="1191" name="Google Shape;1191;p35"/>
            <p:cNvGrpSpPr/>
            <p:nvPr/>
          </p:nvGrpSpPr>
          <p:grpSpPr>
            <a:xfrm>
              <a:off x="6210299" y="3960828"/>
              <a:ext cx="2663825" cy="1196975"/>
              <a:chOff x="6553200" y="3960828"/>
              <a:chExt cx="2663825" cy="1196975"/>
            </a:xfrm>
          </p:grpSpPr>
          <p:pic>
            <p:nvPicPr>
              <p:cNvPr id="1192" name="Google Shape;1192;p35" descr="Z:\Shared with PC\smallMaze.png"/>
              <p:cNvPicPr preferRelativeResize="0"/>
              <p:nvPr/>
            </p:nvPicPr>
            <p:blipFill rotWithShape="1">
              <a:blip r:embed="rId5"/>
              <a:srcRect/>
              <a:stretch>
                <a:fillRect/>
              </a:stretch>
            </p:blipFill>
            <p:spPr>
              <a:xfrm>
                <a:off x="6553200" y="3960828"/>
                <a:ext cx="2663825" cy="119697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193" name="Google Shape;1193;p35"/>
              <p:cNvSpPr txBox="1"/>
              <p:nvPr/>
            </p:nvSpPr>
            <p:spPr>
              <a:xfrm>
                <a:off x="7315200" y="4582180"/>
                <a:ext cx="829073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800" b="1" dirty="0">
                    <a:solidFill>
                      <a:srgbClr val="C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5</a:t>
                </a:r>
                <a:endParaRPr b="1" dirty="0"/>
              </a:p>
            </p:txBody>
          </p:sp>
          <p:cxnSp>
            <p:nvCxnSpPr>
              <p:cNvPr id="1194" name="Google Shape;1194;p35"/>
              <p:cNvCxnSpPr/>
              <p:nvPr/>
            </p:nvCxnSpPr>
            <p:spPr>
              <a:xfrm flipH="1">
                <a:off x="6730520" y="4400550"/>
                <a:ext cx="1095657" cy="590397"/>
              </a:xfrm>
              <a:prstGeom prst="straightConnector1">
                <a:avLst/>
              </a:prstGeom>
              <a:noFill/>
              <a:ln w="57150" cap="flat" cmpd="sng">
                <a:solidFill>
                  <a:srgbClr val="C00000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</p:grpSp>
        <p:sp>
          <p:nvSpPr>
            <p:cNvPr id="1195" name="Google Shape;1195;p35"/>
            <p:cNvSpPr txBox="1"/>
            <p:nvPr/>
          </p:nvSpPr>
          <p:spPr>
            <a:xfrm>
              <a:off x="9564469" y="4297705"/>
              <a:ext cx="646331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b="1" dirty="0">
                  <a:solidFill>
                    <a:srgbClr val="C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0.0</a:t>
              </a:r>
              <a:endParaRPr b="1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6"/>
          <p:cNvGrpSpPr/>
          <p:nvPr/>
        </p:nvGrpSpPr>
        <p:grpSpPr bwMode="auto">
          <a:xfrm>
            <a:off x="3424238" y="838200"/>
            <a:ext cx="5338762" cy="4584700"/>
            <a:chOff x="0" y="0"/>
            <a:chExt cx="6033354" cy="5181600"/>
          </a:xfrm>
        </p:grpSpPr>
        <p:pic>
          <p:nvPicPr>
            <p:cNvPr id="55308" name="Picture 2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0" y="0"/>
              <a:ext cx="5789731" cy="483869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55309" name="Rectangle 5"/>
            <p:cNvSpPr>
              <a:spLocks noChangeArrowheads="1"/>
            </p:cNvSpPr>
            <p:nvPr/>
          </p:nvSpPr>
          <p:spPr bwMode="auto">
            <a:xfrm>
              <a:off x="4128354" y="3352800"/>
              <a:ext cx="1905000" cy="1828800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</a:ln>
          </p:spPr>
          <p:txBody>
            <a:bodyPr anchor="ctr"/>
            <a:lstStyle/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en-US">
                <a:solidFill>
                  <a:srgbClr val="FFFFFF"/>
                </a:solidFill>
                <a:ea typeface="宋体" panose="02010600030101010101" pitchFamily="2" charset="-122"/>
              </a:endParaRPr>
            </a:p>
          </p:txBody>
        </p:sp>
      </p:grpSp>
      <p:pic>
        <p:nvPicPr>
          <p:cNvPr id="55301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34988" y="1220788"/>
            <a:ext cx="2968625" cy="2543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5302" name="TextBox 8"/>
          <p:cNvSpPr>
            <a:spLocks noChangeArrowheads="1"/>
          </p:cNvSpPr>
          <p:nvPr/>
        </p:nvSpPr>
        <p:spPr bwMode="auto">
          <a:xfrm>
            <a:off x="1219200" y="3733800"/>
            <a:ext cx="19812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2400" dirty="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rPr>
              <a:t>Start State</a:t>
            </a:r>
          </a:p>
        </p:txBody>
      </p:sp>
      <p:sp>
        <p:nvSpPr>
          <p:cNvPr id="55303" name="TextBox 9"/>
          <p:cNvSpPr>
            <a:spLocks noChangeArrowheads="1"/>
          </p:cNvSpPr>
          <p:nvPr/>
        </p:nvSpPr>
        <p:spPr bwMode="auto">
          <a:xfrm>
            <a:off x="9525000" y="3733800"/>
            <a:ext cx="19812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24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rPr>
              <a:t>Goal State</a:t>
            </a:r>
          </a:p>
        </p:txBody>
      </p:sp>
      <p:pic>
        <p:nvPicPr>
          <p:cNvPr id="55304" name="Picture 3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8688388" y="1219200"/>
            <a:ext cx="3044825" cy="2544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5305" name="TextBox 11"/>
          <p:cNvSpPr>
            <a:spLocks noChangeArrowheads="1"/>
          </p:cNvSpPr>
          <p:nvPr/>
        </p:nvSpPr>
        <p:spPr bwMode="auto">
          <a:xfrm>
            <a:off x="6019800" y="3733800"/>
            <a:ext cx="19812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24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rPr>
              <a:t>Actions</a:t>
            </a:r>
          </a:p>
        </p:txBody>
      </p:sp>
      <p:sp>
        <p:nvSpPr>
          <p:cNvPr id="87052" name="Rectangle 3"/>
          <p:cNvSpPr>
            <a:spLocks noGrp="1" noChangeArrowheads="1"/>
          </p:cNvSpPr>
          <p:nvPr/>
        </p:nvSpPr>
        <p:spPr bwMode="auto">
          <a:xfrm>
            <a:off x="534988" y="5175894"/>
            <a:ext cx="11453832" cy="1524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1430" tIns="45718" rIns="91430" bIns="45718"/>
          <a:lstStyle/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松弛问题</a:t>
            </a:r>
            <a:r>
              <a:rPr lang="en-US" altLang="zh-CN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【</a:t>
            </a: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减少（放松）对动作的限制条件问题</a:t>
            </a:r>
            <a:r>
              <a:rPr lang="en-US" altLang="zh-CN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】</a:t>
            </a:r>
            <a:endParaRPr lang="zh-CN" altLang="en-US" sz="28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1905" lvl="1" indent="455930" eaLnBrk="1" hangingPunct="1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altLang="zh-CN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(a) </a:t>
            </a:r>
            <a:r>
              <a:rPr lang="zh-CN" altLang="en-US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如果方格</a:t>
            </a:r>
            <a:r>
              <a:rPr lang="en-US" altLang="zh-CN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X</a:t>
            </a:r>
            <a:r>
              <a:rPr lang="zh-CN" altLang="en-US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与方格</a:t>
            </a:r>
            <a:r>
              <a:rPr lang="en-US" altLang="zh-CN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Y</a:t>
            </a:r>
            <a:r>
              <a:rPr lang="zh-CN" altLang="en-US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相邻，那么滑块可以从方格</a:t>
            </a:r>
            <a:r>
              <a:rPr lang="en-US" altLang="zh-CN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X</a:t>
            </a:r>
            <a:r>
              <a:rPr lang="zh-CN" altLang="en-US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移动到方格</a:t>
            </a:r>
            <a:r>
              <a:rPr lang="en-US" altLang="zh-CN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Y</a:t>
            </a:r>
            <a:r>
              <a:rPr lang="zh-CN" altLang="en-US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r>
              <a:rPr lang="en-US" altLang="zh-CN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【</a:t>
            </a:r>
            <a:r>
              <a:rPr lang="zh-CN" altLang="en-US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曼哈顿距离</a:t>
            </a:r>
            <a:r>
              <a:rPr lang="en-US" altLang="zh-CN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】</a:t>
            </a:r>
          </a:p>
          <a:p>
            <a:pPr marL="1905" lvl="1" indent="455930" eaLnBrk="1" hangingPunct="1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altLang="zh-CN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(b) </a:t>
            </a:r>
            <a:r>
              <a:rPr lang="zh-CN" altLang="en-US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如果方格</a:t>
            </a:r>
            <a:r>
              <a:rPr lang="en-US" altLang="zh-CN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Y</a:t>
            </a:r>
            <a:r>
              <a:rPr lang="zh-CN" altLang="en-US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是空格，那么滑块可以从方格</a:t>
            </a:r>
            <a:r>
              <a:rPr lang="en-US" altLang="zh-CN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X</a:t>
            </a:r>
            <a:r>
              <a:rPr lang="zh-CN" altLang="en-US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移动到方格</a:t>
            </a:r>
            <a:r>
              <a:rPr lang="en-US" altLang="zh-CN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Y</a:t>
            </a:r>
            <a:r>
              <a:rPr lang="zh-CN" altLang="en-US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</a:p>
          <a:p>
            <a:pPr marL="1905" lvl="1" indent="455930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altLang="zh-CN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(c) </a:t>
            </a:r>
            <a:r>
              <a:rPr lang="zh-CN" altLang="en-US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滑块可以从方格</a:t>
            </a:r>
            <a:r>
              <a:rPr lang="en-US" altLang="zh-CN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X</a:t>
            </a:r>
            <a:r>
              <a:rPr lang="zh-CN" altLang="en-US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移动到方格</a:t>
            </a:r>
            <a:r>
              <a:rPr lang="en-US" altLang="zh-CN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Y</a:t>
            </a:r>
            <a:r>
              <a:rPr lang="zh-CN" altLang="en-US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r>
              <a:rPr lang="en-US" altLang="zh-CN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【</a:t>
            </a:r>
            <a:r>
              <a:rPr lang="zh-CN" altLang="en-US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错位滑块</a:t>
            </a:r>
            <a:r>
              <a:rPr lang="en-US" altLang="zh-CN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】</a:t>
            </a:r>
            <a:endParaRPr lang="zh-CN" altLang="en-US" sz="24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Google Shape;1435;p54"/>
          <p:cNvSpPr txBox="1"/>
          <p:nvPr/>
        </p:nvSpPr>
        <p:spPr bwMode="auto">
          <a:xfrm>
            <a:off x="0" y="-25400"/>
            <a:ext cx="12192000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spcFirstLastPara="1" vert="horz" wrap="square" lIns="91425" tIns="45700" rIns="91425" bIns="45700" numCol="1" anchor="ctr" anchorCtr="0" compatLnSpc="1">
            <a:noAutofit/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accent2"/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r>
              <a:rPr lang="zh-CN" altLang="en-US" b="1" dirty="0">
                <a:solidFill>
                  <a:srgbClr val="0000FF"/>
                </a:solidFill>
              </a:rPr>
              <a:t>例子</a:t>
            </a:r>
            <a:r>
              <a:rPr lang="en-US" altLang="zh-CN" b="1" dirty="0">
                <a:solidFill>
                  <a:srgbClr val="0000FF"/>
                </a:solidFill>
              </a:rPr>
              <a:t>: 8</a:t>
            </a:r>
            <a:r>
              <a:rPr lang="zh-CN" altLang="en-US" b="1" dirty="0">
                <a:solidFill>
                  <a:srgbClr val="0000FF"/>
                </a:solidFill>
              </a:rPr>
              <a:t>数码问题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4575177"/>
            <a:ext cx="10020074" cy="59466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052" grpId="0" bldLvl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1" name="Google Shape;1451;p55"/>
          <p:cNvSpPr txBox="1">
            <a:spLocks noGrp="1"/>
          </p:cNvSpPr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b="1" dirty="0">
                <a:solidFill>
                  <a:srgbClr val="0000FF"/>
                </a:solidFill>
              </a:rPr>
              <a:t>8</a:t>
            </a:r>
            <a:r>
              <a:rPr lang="zh-CN" altLang="en-US" b="1" dirty="0">
                <a:solidFill>
                  <a:srgbClr val="0000FF"/>
                </a:solidFill>
              </a:rPr>
              <a:t>数码问题 </a:t>
            </a:r>
            <a:r>
              <a:rPr lang="en-US" altLang="zh-CN" b="1" dirty="0">
                <a:solidFill>
                  <a:srgbClr val="0000FF"/>
                </a:solidFill>
              </a:rPr>
              <a:t>I</a:t>
            </a:r>
            <a:endParaRPr b="1" dirty="0">
              <a:solidFill>
                <a:srgbClr val="0000FF"/>
              </a:solidFill>
            </a:endParaRPr>
          </a:p>
        </p:txBody>
      </p:sp>
      <p:sp>
        <p:nvSpPr>
          <p:cNvPr id="1452" name="Google Shape;1452;p55"/>
          <p:cNvSpPr txBox="1">
            <a:spLocks noGrp="1"/>
          </p:cNvSpPr>
          <p:nvPr>
            <p:ph type="body" idx="1"/>
          </p:nvPr>
        </p:nvSpPr>
        <p:spPr>
          <a:xfrm>
            <a:off x="76199" y="1226489"/>
            <a:ext cx="7239001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2800"/>
              <a:buChar char="o"/>
            </a:pPr>
            <a:r>
              <a:rPr lang="en-US" altLang="zh-CN" sz="2800" b="1" dirty="0"/>
              <a:t>h1 =</a:t>
            </a:r>
            <a:r>
              <a:rPr lang="en-US" sz="2800" b="1" dirty="0"/>
              <a:t> </a:t>
            </a:r>
            <a:r>
              <a:rPr lang="zh-CN" altLang="en-US" sz="2800" b="1" dirty="0">
                <a:solidFill>
                  <a:srgbClr val="FF0000"/>
                </a:solidFill>
              </a:rPr>
              <a:t>错位滑块的数量（不包括空格）</a:t>
            </a:r>
            <a:endParaRPr sz="2800" b="1" dirty="0">
              <a:solidFill>
                <a:srgbClr val="FF0000"/>
              </a:solidFill>
            </a:endParaRPr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SzPts val="2800"/>
              <a:buChar char="o"/>
            </a:pPr>
            <a:r>
              <a:rPr lang="en-US" sz="2800" b="1" dirty="0"/>
              <a:t>h1(start) = </a:t>
            </a:r>
            <a:r>
              <a:rPr lang="zh-CN" altLang="en-US" sz="2800" b="1" dirty="0"/>
              <a:t>？</a:t>
            </a:r>
            <a:endParaRPr lang="en-US" altLang="zh-CN" sz="2800" b="1" dirty="0"/>
          </a:p>
          <a:p>
            <a:pPr marL="342900" indent="-342900">
              <a:spcBef>
                <a:spcPts val="560"/>
              </a:spcBef>
              <a:spcAft>
                <a:spcPts val="0"/>
              </a:spcAft>
              <a:buSzPts val="2800"/>
              <a:buFont typeface="Wingdings" panose="05000000000000000000" pitchFamily="2" charset="2"/>
              <a:buChar char="o"/>
            </a:pPr>
            <a:r>
              <a:rPr lang="zh-CN" altLang="en-US" sz="2800" b="1" dirty="0">
                <a:solidFill>
                  <a:srgbClr val="FF0000"/>
                </a:solidFill>
              </a:rPr>
              <a:t>为什么是可容的</a:t>
            </a:r>
            <a:r>
              <a:rPr lang="en-US" altLang="zh-CN" sz="2800" b="1" dirty="0">
                <a:solidFill>
                  <a:srgbClr val="FF0000"/>
                </a:solidFill>
              </a:rPr>
              <a:t>?</a:t>
            </a:r>
            <a:r>
              <a:rPr lang="zh-CN" altLang="en-US" sz="2800" b="1" dirty="0">
                <a:solidFill>
                  <a:srgbClr val="FF0000"/>
                </a:solidFill>
              </a:rPr>
              <a:t>  </a:t>
            </a:r>
            <a:endParaRPr sz="2800" b="1" dirty="0"/>
          </a:p>
        </p:txBody>
      </p:sp>
      <p:sp>
        <p:nvSpPr>
          <p:cNvPr id="1453" name="Google Shape;1453;p55"/>
          <p:cNvSpPr txBox="1"/>
          <p:nvPr/>
        </p:nvSpPr>
        <p:spPr>
          <a:xfrm>
            <a:off x="2418970" y="1680443"/>
            <a:ext cx="990600" cy="584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solidFill>
                  <a:schemeClr val="accent2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8</a:t>
            </a:r>
          </a:p>
        </p:txBody>
      </p:sp>
      <p:graphicFrame>
        <p:nvGraphicFramePr>
          <p:cNvPr id="1454" name="Google Shape;1454;p55"/>
          <p:cNvGraphicFramePr/>
          <p:nvPr/>
        </p:nvGraphicFramePr>
        <p:xfrm>
          <a:off x="6400800" y="4112577"/>
          <a:ext cx="5029200" cy="221206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990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445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400"/>
                        <a:buFont typeface="Noto Sans Symbols"/>
                        <a:buNone/>
                      </a:pPr>
                      <a:endParaRPr sz="2400" b="1" i="0" u="none" strike="noStrike" cap="none">
                        <a:solidFill>
                          <a:schemeClr val="accent2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400"/>
                        <a:buFont typeface="Noto Sans Symbols"/>
                        <a:buNone/>
                      </a:pPr>
                      <a:r>
                        <a:rPr lang="en-US" sz="2400" b="1" i="0" u="none" strike="noStrike" cap="none" dirty="0">
                          <a:solidFill>
                            <a:schemeClr val="accent2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Average nodes expanded when the optimal path has…</a:t>
                      </a:r>
                      <a:endParaRPr b="1"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DDDD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84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400"/>
                        <a:buFont typeface="Noto Sans Symbols"/>
                        <a:buNone/>
                      </a:pPr>
                      <a:endParaRPr sz="2400" b="1" i="0" u="none" strike="noStrike" cap="none">
                        <a:solidFill>
                          <a:schemeClr val="accent2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400"/>
                        <a:buFont typeface="Noto Sans Symbols"/>
                        <a:buNone/>
                      </a:pPr>
                      <a:r>
                        <a:rPr lang="en-US" sz="2400" b="1" i="0" u="none" strike="noStrike" cap="none">
                          <a:solidFill>
                            <a:schemeClr val="accent2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…4 steps</a:t>
                      </a:r>
                      <a:endParaRPr b="1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400"/>
                        <a:buFont typeface="Noto Sans Symbols"/>
                        <a:buNone/>
                      </a:pPr>
                      <a:r>
                        <a:rPr lang="en-US" sz="2400" b="1" i="0" u="none" strike="noStrike" cap="none">
                          <a:solidFill>
                            <a:schemeClr val="accent2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…8 steps</a:t>
                      </a:r>
                      <a:endParaRPr b="1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400"/>
                        <a:buFont typeface="Noto Sans Symbols"/>
                        <a:buNone/>
                      </a:pPr>
                      <a:r>
                        <a:rPr lang="en-US" sz="2400" b="1" i="0" u="none" strike="noStrike" cap="none">
                          <a:solidFill>
                            <a:schemeClr val="accent2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…12 steps</a:t>
                      </a:r>
                      <a:endParaRPr b="1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400"/>
                        <a:buFont typeface="Noto Sans Symbols"/>
                        <a:buNone/>
                      </a:pPr>
                      <a:r>
                        <a:rPr lang="en-US" sz="2400" b="1" i="0" u="none" strike="noStrike" cap="none">
                          <a:solidFill>
                            <a:schemeClr val="accent2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UCS</a:t>
                      </a:r>
                      <a:endParaRPr b="1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400"/>
                        <a:buFont typeface="Noto Sans Symbols"/>
                        <a:buNone/>
                      </a:pPr>
                      <a:r>
                        <a:rPr lang="en-US" sz="2400" b="1" i="0" u="none" strike="noStrike" cap="none">
                          <a:solidFill>
                            <a:schemeClr val="accent2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112</a:t>
                      </a:r>
                      <a:endParaRPr b="1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400"/>
                        <a:buFont typeface="Noto Sans Symbols"/>
                        <a:buNone/>
                      </a:pPr>
                      <a:r>
                        <a:rPr lang="en-US" sz="2400" b="1" i="0" u="none" strike="noStrike" cap="none">
                          <a:solidFill>
                            <a:schemeClr val="accent2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6,300</a:t>
                      </a:r>
                      <a:endParaRPr sz="2400" b="1" i="0" u="none" strike="noStrike" cap="none" baseline="30000">
                        <a:solidFill>
                          <a:schemeClr val="accent2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400"/>
                        <a:buFont typeface="Noto Sans Symbols"/>
                        <a:buNone/>
                      </a:pPr>
                      <a:r>
                        <a:rPr lang="en-US" sz="2400" b="1" i="0" u="none" strike="noStrike" cap="none">
                          <a:solidFill>
                            <a:schemeClr val="accent2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3.6 x 10</a:t>
                      </a:r>
                      <a:r>
                        <a:rPr lang="en-US" sz="2400" b="1" i="0" u="none" strike="noStrike" cap="none" baseline="30000">
                          <a:solidFill>
                            <a:schemeClr val="accent2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6</a:t>
                      </a:r>
                      <a:endParaRPr b="1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46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400"/>
                        <a:buFont typeface="Noto Sans Symbols"/>
                        <a:buNone/>
                      </a:pPr>
                      <a:r>
                        <a:rPr lang="en-US" sz="2400" b="1" i="0" u="none" strike="noStrike" cap="none">
                          <a:solidFill>
                            <a:schemeClr val="accent2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TILES</a:t>
                      </a:r>
                      <a:endParaRPr b="1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400"/>
                        <a:buFont typeface="Noto Sans Symbols"/>
                        <a:buNone/>
                      </a:pPr>
                      <a:r>
                        <a:rPr lang="en-US" sz="2400" b="1" i="0" u="none" strike="noStrike" cap="none">
                          <a:solidFill>
                            <a:schemeClr val="accent2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13</a:t>
                      </a:r>
                      <a:endParaRPr b="1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400"/>
                        <a:buFont typeface="Noto Sans Symbols"/>
                        <a:buNone/>
                      </a:pPr>
                      <a:r>
                        <a:rPr lang="en-US" sz="2400" b="1" i="0" u="none" strike="noStrike" cap="none">
                          <a:solidFill>
                            <a:schemeClr val="accent2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39</a:t>
                      </a:r>
                      <a:endParaRPr b="1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400"/>
                        <a:buFont typeface="Noto Sans Symbols"/>
                        <a:buNone/>
                      </a:pPr>
                      <a:r>
                        <a:rPr lang="en-US" sz="2400" b="1" i="0" u="none" strike="noStrike" cap="none" dirty="0">
                          <a:solidFill>
                            <a:schemeClr val="accent2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227</a:t>
                      </a:r>
                      <a:endParaRPr b="1"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1455" name="Google Shape;1455;p55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536890" y="3489471"/>
            <a:ext cx="5510086" cy="313819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56" name="Google Shape;1456;p55"/>
          <p:cNvGrpSpPr/>
          <p:nvPr/>
        </p:nvGrpSpPr>
        <p:grpSpPr>
          <a:xfrm>
            <a:off x="6822452" y="1121412"/>
            <a:ext cx="5333998" cy="2536188"/>
            <a:chOff x="533401" y="1219446"/>
            <a:chExt cx="6113461" cy="2906804"/>
          </a:xfrm>
        </p:grpSpPr>
        <p:pic>
          <p:nvPicPr>
            <p:cNvPr id="1457" name="Google Shape;1457;p55"/>
            <p:cNvPicPr preferRelativeResize="0"/>
            <p:nvPr/>
          </p:nvPicPr>
          <p:blipFill rotWithShape="1">
            <a:blip r:embed="rId4"/>
            <a:srcRect/>
            <a:stretch>
              <a:fillRect/>
            </a:stretch>
          </p:blipFill>
          <p:spPr>
            <a:xfrm>
              <a:off x="533401" y="1219446"/>
              <a:ext cx="6113461" cy="25449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58" name="Google Shape;1458;p55"/>
            <p:cNvSpPr txBox="1"/>
            <p:nvPr/>
          </p:nvSpPr>
          <p:spPr>
            <a:xfrm>
              <a:off x="1259591" y="3639596"/>
              <a:ext cx="1981200" cy="4616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Start State</a:t>
              </a:r>
            </a:p>
          </p:txBody>
        </p:sp>
        <p:sp>
          <p:nvSpPr>
            <p:cNvPr id="1459" name="Google Shape;1459;p55"/>
            <p:cNvSpPr txBox="1"/>
            <p:nvPr/>
          </p:nvSpPr>
          <p:spPr>
            <a:xfrm>
              <a:off x="4376148" y="3664585"/>
              <a:ext cx="1981200" cy="4616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Goal State</a:t>
              </a:r>
            </a:p>
          </p:txBody>
        </p:sp>
      </p:grpSp>
      <p:sp>
        <p:nvSpPr>
          <p:cNvPr id="1460" name="Google Shape;1460;p55"/>
          <p:cNvSpPr txBox="1"/>
          <p:nvPr/>
        </p:nvSpPr>
        <p:spPr>
          <a:xfrm>
            <a:off x="9067800" y="6553200"/>
            <a:ext cx="31242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Statistics from Andrew Moore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6" name="Google Shape;1466;p56"/>
          <p:cNvSpPr txBox="1">
            <a:spLocks noGrp="1"/>
          </p:cNvSpPr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altLang="zh-CN" b="1" dirty="0">
                <a:solidFill>
                  <a:srgbClr val="0000FF"/>
                </a:solidFill>
              </a:rPr>
              <a:t>8</a:t>
            </a:r>
            <a:r>
              <a:rPr lang="zh-CN" altLang="en-US" b="1" dirty="0">
                <a:solidFill>
                  <a:srgbClr val="0000FF"/>
                </a:solidFill>
              </a:rPr>
              <a:t>数码问题 </a:t>
            </a:r>
            <a:r>
              <a:rPr lang="en-US" altLang="zh-CN" b="1" dirty="0">
                <a:solidFill>
                  <a:srgbClr val="0000FF"/>
                </a:solidFill>
              </a:rPr>
              <a:t>II</a:t>
            </a:r>
            <a:endParaRPr b="1" dirty="0">
              <a:solidFill>
                <a:srgbClr val="0000FF"/>
              </a:solidFill>
            </a:endParaRPr>
          </a:p>
        </p:txBody>
      </p:sp>
      <p:sp>
        <p:nvSpPr>
          <p:cNvPr id="1467" name="Google Shape;1467;p56"/>
          <p:cNvSpPr txBox="1">
            <a:spLocks noGrp="1"/>
          </p:cNvSpPr>
          <p:nvPr>
            <p:ph type="body" idx="1"/>
          </p:nvPr>
        </p:nvSpPr>
        <p:spPr>
          <a:xfrm>
            <a:off x="304800" y="1600201"/>
            <a:ext cx="6019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o"/>
            </a:pP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h2=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滑块到其目标位置距离的总和 （</a:t>
            </a:r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曼哈顿距离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endParaRPr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lvl="0" indent="-1905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endParaRPr sz="2800" b="1" dirty="0"/>
          </a:p>
          <a:p>
            <a:pPr marL="342900" indent="-34290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Wingdings" panose="05000000000000000000" pitchFamily="2" charset="2"/>
              <a:buChar char="o"/>
            </a:pPr>
            <a:r>
              <a:rPr lang="zh-CN" altLang="en-US" sz="2800" b="1" dirty="0">
                <a:solidFill>
                  <a:srgbClr val="FF0000"/>
                </a:solidFill>
              </a:rPr>
              <a:t>为什么是可容的</a:t>
            </a:r>
            <a:r>
              <a:rPr lang="en-US" altLang="zh-CN" sz="2800" b="1" dirty="0">
                <a:solidFill>
                  <a:srgbClr val="FF0000"/>
                </a:solidFill>
              </a:rPr>
              <a:t>?</a:t>
            </a:r>
            <a:r>
              <a:rPr lang="zh-CN" altLang="en-US" sz="2800" b="1" dirty="0">
                <a:solidFill>
                  <a:srgbClr val="FF0000"/>
                </a:solidFill>
              </a:rPr>
              <a:t>  </a:t>
            </a:r>
            <a:endParaRPr lang="zh-CN" altLang="en-US" sz="2800" b="1" dirty="0"/>
          </a:p>
          <a:p>
            <a:pPr marL="342900" lvl="0" indent="-1905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endParaRPr sz="2800" b="1" dirty="0"/>
          </a:p>
          <a:p>
            <a:pPr marL="342900" lvl="0" indent="-3429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2400"/>
              <a:buChar char="o"/>
            </a:pPr>
            <a:r>
              <a:rPr lang="zh-CN" altLang="en-US" sz="2800" b="1" dirty="0">
                <a:ea typeface="宋体" panose="02010600030101010101" pitchFamily="2" charset="-122"/>
              </a:rPr>
              <a:t>h</a:t>
            </a:r>
            <a:r>
              <a:rPr lang="en-US" altLang="zh-CN" sz="2800" b="1" dirty="0">
                <a:ea typeface="宋体" panose="02010600030101010101" pitchFamily="2" charset="-122"/>
              </a:rPr>
              <a:t>2</a:t>
            </a:r>
            <a:r>
              <a:rPr lang="zh-CN" altLang="en-US" sz="2800" b="1" dirty="0">
                <a:ea typeface="宋体" panose="02010600030101010101" pitchFamily="2" charset="-122"/>
              </a:rPr>
              <a:t>(start) = 3 + 1 + 2 + … = 18</a:t>
            </a:r>
            <a:endParaRPr sz="2800" b="1" dirty="0"/>
          </a:p>
        </p:txBody>
      </p:sp>
      <p:graphicFrame>
        <p:nvGraphicFramePr>
          <p:cNvPr id="1469" name="Google Shape;1469;p56"/>
          <p:cNvGraphicFramePr/>
          <p:nvPr>
            <p:custDataLst>
              <p:tags r:id="rId1"/>
            </p:custDataLst>
          </p:nvPr>
        </p:nvGraphicFramePr>
        <p:xfrm>
          <a:off x="5649595" y="4267200"/>
          <a:ext cx="6033135" cy="225250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8973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65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65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82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445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400"/>
                        <a:buFont typeface="Noto Sans Symbols"/>
                        <a:buNone/>
                      </a:pPr>
                      <a:endParaRPr sz="2400" b="1" i="0" u="none" strike="noStrike" cap="none">
                        <a:solidFill>
                          <a:schemeClr val="accent2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400"/>
                        <a:buFont typeface="Noto Sans Symbols"/>
                        <a:buNone/>
                      </a:pPr>
                      <a:r>
                        <a:rPr lang="en-US" sz="2400" b="1" i="0" u="none" strike="noStrike" cap="none" dirty="0">
                          <a:solidFill>
                            <a:schemeClr val="accent2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Average nodes expanded when the optimal path has…</a:t>
                      </a:r>
                      <a:endParaRPr b="1"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DDDD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24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400"/>
                        <a:buFont typeface="Noto Sans Symbols"/>
                        <a:buNone/>
                      </a:pPr>
                      <a:endParaRPr sz="2400" b="1" i="0" u="none" strike="noStrike" cap="none">
                        <a:solidFill>
                          <a:schemeClr val="accent2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400"/>
                        <a:buFont typeface="Noto Sans Symbols"/>
                        <a:buNone/>
                      </a:pPr>
                      <a:r>
                        <a:rPr lang="en-US" sz="2400" b="1" i="0" u="none" strike="noStrike" cap="none">
                          <a:solidFill>
                            <a:schemeClr val="accent2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…4 steps</a:t>
                      </a:r>
                      <a:endParaRPr b="1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400"/>
                        <a:buFont typeface="Noto Sans Symbols"/>
                        <a:buNone/>
                      </a:pPr>
                      <a:r>
                        <a:rPr lang="en-US" sz="2400" b="1" i="0" u="none" strike="noStrike" cap="none">
                          <a:solidFill>
                            <a:schemeClr val="accent2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…8 steps</a:t>
                      </a:r>
                      <a:endParaRPr b="1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400"/>
                        <a:buFont typeface="Noto Sans Symbols"/>
                        <a:buNone/>
                      </a:pPr>
                      <a:r>
                        <a:rPr lang="en-US" sz="2400" b="1" i="0" u="none" strike="noStrike" cap="none">
                          <a:solidFill>
                            <a:schemeClr val="accent2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…12 steps</a:t>
                      </a:r>
                      <a:endParaRPr b="1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400"/>
                        <a:buFont typeface="Noto Sans Symbols"/>
                        <a:buNone/>
                      </a:pPr>
                      <a:r>
                        <a:rPr lang="en-US" sz="2400" b="1" i="0" u="none" strike="noStrike" cap="none">
                          <a:solidFill>
                            <a:schemeClr val="accent2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TILES</a:t>
                      </a:r>
                      <a:endParaRPr b="1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400"/>
                        <a:buFont typeface="Noto Sans Symbols"/>
                        <a:buNone/>
                      </a:pPr>
                      <a:r>
                        <a:rPr lang="en-US" sz="2400" b="1" i="0" u="none" strike="noStrike" cap="none">
                          <a:solidFill>
                            <a:schemeClr val="accent2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13</a:t>
                      </a:r>
                      <a:endParaRPr b="1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400"/>
                        <a:buFont typeface="Noto Sans Symbols"/>
                        <a:buNone/>
                      </a:pPr>
                      <a:r>
                        <a:rPr lang="en-US" sz="2400" b="1" i="0" u="none" strike="noStrike" cap="none">
                          <a:solidFill>
                            <a:schemeClr val="accent2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39</a:t>
                      </a:r>
                      <a:endParaRPr b="1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400"/>
                        <a:buFont typeface="Noto Sans Symbols"/>
                        <a:buNone/>
                      </a:pPr>
                      <a:r>
                        <a:rPr lang="en-US" sz="2400" b="1" i="0" u="none" strike="noStrike" cap="none">
                          <a:solidFill>
                            <a:schemeClr val="accent2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227</a:t>
                      </a:r>
                      <a:endParaRPr b="1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9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400"/>
                        <a:buFont typeface="Noto Sans Symbols"/>
                        <a:buNone/>
                      </a:pPr>
                      <a:r>
                        <a:rPr lang="en-US" sz="2400" b="1" i="0" u="none" strike="noStrike" cap="none">
                          <a:solidFill>
                            <a:schemeClr val="accent2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MANHATTAN</a:t>
                      </a:r>
                      <a:endParaRPr b="1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400"/>
                        <a:buFont typeface="Noto Sans Symbols"/>
                        <a:buNone/>
                      </a:pPr>
                      <a:r>
                        <a:rPr lang="en-US" sz="2400" b="1" i="0" u="none" strike="noStrike" cap="none">
                          <a:solidFill>
                            <a:schemeClr val="accent2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12</a:t>
                      </a:r>
                      <a:endParaRPr b="1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400"/>
                        <a:buFont typeface="Noto Sans Symbols"/>
                        <a:buNone/>
                      </a:pPr>
                      <a:r>
                        <a:rPr lang="en-US" sz="2400" b="1" i="0" u="none" strike="noStrike" cap="none">
                          <a:solidFill>
                            <a:schemeClr val="accent2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25</a:t>
                      </a:r>
                      <a:endParaRPr b="1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400"/>
                        <a:buFont typeface="Noto Sans Symbols"/>
                        <a:buNone/>
                      </a:pPr>
                      <a:r>
                        <a:rPr lang="en-US" sz="2400" b="1" i="0" u="none" strike="noStrike" cap="none" dirty="0">
                          <a:solidFill>
                            <a:schemeClr val="accent2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73</a:t>
                      </a:r>
                      <a:endParaRPr b="1"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1470" name="Google Shape;1470;p56"/>
          <p:cNvGrpSpPr/>
          <p:nvPr/>
        </p:nvGrpSpPr>
        <p:grpSpPr>
          <a:xfrm>
            <a:off x="6324601" y="1219414"/>
            <a:ext cx="5333998" cy="2536188"/>
            <a:chOff x="533401" y="1219446"/>
            <a:chExt cx="6113461" cy="2906804"/>
          </a:xfrm>
        </p:grpSpPr>
        <p:pic>
          <p:nvPicPr>
            <p:cNvPr id="1471" name="Google Shape;1471;p56"/>
            <p:cNvPicPr preferRelativeResize="0"/>
            <p:nvPr/>
          </p:nvPicPr>
          <p:blipFill rotWithShape="1">
            <a:blip r:embed="rId4"/>
            <a:srcRect/>
            <a:stretch>
              <a:fillRect/>
            </a:stretch>
          </p:blipFill>
          <p:spPr>
            <a:xfrm>
              <a:off x="533401" y="1219446"/>
              <a:ext cx="6113461" cy="25449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72" name="Google Shape;1472;p56"/>
            <p:cNvSpPr txBox="1"/>
            <p:nvPr/>
          </p:nvSpPr>
          <p:spPr>
            <a:xfrm>
              <a:off x="1259591" y="3639596"/>
              <a:ext cx="1981200" cy="4616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Start State</a:t>
              </a:r>
            </a:p>
          </p:txBody>
        </p:sp>
        <p:sp>
          <p:nvSpPr>
            <p:cNvPr id="1473" name="Google Shape;1473;p56"/>
            <p:cNvSpPr txBox="1"/>
            <p:nvPr/>
          </p:nvSpPr>
          <p:spPr>
            <a:xfrm>
              <a:off x="4376148" y="3664585"/>
              <a:ext cx="1981200" cy="4616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Goal State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7A3DD3-3D11-4DAC-A9D6-B446AD9F87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一．实验目的</a:t>
            </a:r>
            <a:r>
              <a:rPr lang="zh-CN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：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0219E9F-5D80-4F47-AACB-8114ACB8D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81798C-0F99-461B-869F-8FC2E08F7ABC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B6DEC9EA-D91E-435D-81CB-4CAECE7921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2667000"/>
            <a:ext cx="10469436" cy="971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09516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4CF23D-9C91-4113-8B8F-1197B09A19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二．实验原理： </a:t>
            </a:r>
            <a:endParaRPr lang="zh-CN" altLang="en-US" dirty="0"/>
          </a:p>
        </p:txBody>
      </p:sp>
      <p:pic>
        <p:nvPicPr>
          <p:cNvPr id="21" name="内容占位符 20">
            <a:extLst>
              <a:ext uri="{FF2B5EF4-FFF2-40B4-BE49-F238E27FC236}">
                <a16:creationId xmlns:a16="http://schemas.microsoft.com/office/drawing/2014/main" id="{03F41CD0-D55E-472A-961E-0AF1C06648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1199" y="1102359"/>
            <a:ext cx="8500953" cy="5755641"/>
          </a:xfr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BB3E648-F904-417E-BBFA-6BE5FC9855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81798C-0F99-461B-869F-8FC2E08F7ABC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95187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B48477-8197-451D-B96C-51D61FF6D5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三．实验内容：</a:t>
            </a:r>
            <a:endParaRPr lang="zh-CN" altLang="en-US" dirty="0"/>
          </a:p>
        </p:txBody>
      </p:sp>
      <p:pic>
        <p:nvPicPr>
          <p:cNvPr id="10" name="内容占位符 9">
            <a:extLst>
              <a:ext uri="{FF2B5EF4-FFF2-40B4-BE49-F238E27FC236}">
                <a16:creationId xmlns:a16="http://schemas.microsoft.com/office/drawing/2014/main" id="{18ADF281-1DF1-411D-A49F-09C512EAC56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413" y="2576393"/>
            <a:ext cx="10917174" cy="1705213"/>
          </a:xfr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15B5EC1-1DDB-4C1E-9B1C-DA29A16E75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81798C-0F99-461B-869F-8FC2E08F7ABC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92692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B6F42C-BE70-4C42-BBC3-1683D83A6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四．实验要求：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DA5B11B-6690-4290-9951-D9FEBCD09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81798C-0F99-461B-869F-8FC2E08F7ABC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  <p:pic>
        <p:nvPicPr>
          <p:cNvPr id="12" name="内容占位符 11">
            <a:extLst>
              <a:ext uri="{FF2B5EF4-FFF2-40B4-BE49-F238E27FC236}">
                <a16:creationId xmlns:a16="http://schemas.microsoft.com/office/drawing/2014/main" id="{7E4D6656-5AC9-4C6F-9B92-665444ED79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447800"/>
            <a:ext cx="10393225" cy="1124107"/>
          </a:xfr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1B89AFAC-6D0E-444B-81A5-BD806BE68A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7200" y="2667000"/>
            <a:ext cx="2043641" cy="3943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13953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1C2546-CC9A-4311-8B91-22242EF851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06E1BDA-E0D2-4A05-BE6C-BA5BC1A30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81798C-0F99-461B-869F-8FC2E08F7ABC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0DF718A-3C33-48FF-85E2-7ECC50EAA10D}"/>
              </a:ext>
            </a:extLst>
          </p:cNvPr>
          <p:cNvSpPr/>
          <p:nvPr/>
        </p:nvSpPr>
        <p:spPr>
          <a:xfrm>
            <a:off x="3810000" y="2895600"/>
            <a:ext cx="5577168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4400" b="1" dirty="0">
                <a:solidFill>
                  <a:schemeClr val="accent2"/>
                </a:solidFill>
                <a:latin typeface="Calibri" pitchFamily="34" charset="0"/>
              </a:rPr>
              <a:t>实验</a:t>
            </a:r>
            <a:r>
              <a:rPr lang="zh-CN" altLang="en-US" sz="4400" b="1" dirty="0">
                <a:solidFill>
                  <a:schemeClr val="accent2"/>
                </a:solidFill>
                <a:latin typeface="Calibri" pitchFamily="34" charset="0"/>
              </a:rPr>
              <a:t>二 </a:t>
            </a:r>
            <a:r>
              <a:rPr lang="zh-CN" altLang="zh-CN" sz="4400" b="1" dirty="0">
                <a:solidFill>
                  <a:schemeClr val="accent2"/>
                </a:solidFill>
                <a:latin typeface="Calibri" pitchFamily="34" charset="0"/>
              </a:rPr>
              <a:t>决策树</a:t>
            </a:r>
            <a:r>
              <a:rPr lang="en-US" altLang="zh-CN" sz="4400" b="1" dirty="0">
                <a:solidFill>
                  <a:schemeClr val="accent2"/>
                </a:solidFill>
                <a:latin typeface="Calibri" pitchFamily="34" charset="0"/>
              </a:rPr>
              <a:t>ID3</a:t>
            </a:r>
            <a:r>
              <a:rPr lang="zh-CN" altLang="zh-CN" sz="4400" b="1" dirty="0">
                <a:solidFill>
                  <a:schemeClr val="accent2"/>
                </a:solidFill>
                <a:latin typeface="Calibri" pitchFamily="34" charset="0"/>
              </a:rPr>
              <a:t>算法</a:t>
            </a:r>
            <a:endParaRPr lang="zh-CN" altLang="en-US" sz="4400" b="1" dirty="0">
              <a:solidFill>
                <a:schemeClr val="accent2"/>
              </a:solidFill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27419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图片 19">
            <a:extLst>
              <a:ext uri="{FF2B5EF4-FFF2-40B4-BE49-F238E27FC236}">
                <a16:creationId xmlns:a16="http://schemas.microsoft.com/office/drawing/2014/main" id="{F9F00C22-8F6D-45EE-98B5-A4EED59107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9000" y="1947520"/>
            <a:ext cx="2969402" cy="1117017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B5C0D455-326B-49CB-B6F0-1ECE971DED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ID3</a:t>
            </a:r>
            <a:r>
              <a:rPr lang="zh-CN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算法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32529CA-8EFC-4C1B-910C-70E780B521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55F2DB-5E2F-43F9-868D-96E834BECC06}" type="slidenum">
              <a:rPr lang="en-US" b="1" smtClean="0"/>
              <a:pPr>
                <a:defRPr/>
              </a:pPr>
              <a:t>12</a:t>
            </a:fld>
            <a:endParaRPr lang="en-US" b="1"/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D9FA7046-8974-44D6-841B-D32BE2DF2D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453970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indent="1905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2667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Rectangle 4">
            <a:extLst>
              <a:ext uri="{FF2B5EF4-FFF2-40B4-BE49-F238E27FC236}">
                <a16:creationId xmlns:a16="http://schemas.microsoft.com/office/drawing/2014/main" id="{85C5850C-3639-4E49-993C-56AA563471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42576"/>
            <a:ext cx="420308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190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200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cs typeface="宋体" panose="02010600030101010101" pitchFamily="2" charset="-122"/>
              </a:rPr>
              <a:t> </a:t>
            </a:r>
            <a:endParaRPr kumimoji="0" lang="zh-CN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38ECC98-2A0B-4CA8-9C44-C9CE868C2834}"/>
              </a:ext>
            </a:extLst>
          </p:cNvPr>
          <p:cNvSpPr/>
          <p:nvPr/>
        </p:nvSpPr>
        <p:spPr>
          <a:xfrm>
            <a:off x="335360" y="1117600"/>
            <a:ext cx="11737304" cy="9572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indent="266700" eaLnBrk="0" hangingPunct="0">
              <a:lnSpc>
                <a:spcPct val="150000"/>
              </a:lnSpc>
            </a:pPr>
            <a:r>
              <a:rPr lang="en-US" altLang="zh-CN" sz="2000" b="1" dirty="0">
                <a:solidFill>
                  <a:srgbClr val="333333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ID3</a:t>
            </a:r>
            <a:r>
              <a:rPr lang="zh-CN" altLang="en-US" sz="2000" b="1" dirty="0">
                <a:solidFill>
                  <a:srgbClr val="333333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算法的核心思想就是以信息增益度量属性选择，选择信息增益最大的属性进行分裂。</a:t>
            </a:r>
            <a:r>
              <a:rPr lang="en-US" altLang="zh-CN" sz="2000" b="1" dirty="0">
                <a:solidFill>
                  <a:srgbClr val="333333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</a:p>
          <a:p>
            <a:pPr lvl="0" indent="266700" eaLnBrk="0" hangingPunct="0">
              <a:lnSpc>
                <a:spcPct val="150000"/>
              </a:lnSpc>
            </a:pPr>
            <a:r>
              <a:rPr lang="zh-CN" altLang="en-US" sz="2000" b="1" dirty="0">
                <a:solidFill>
                  <a:srgbClr val="333333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定义几个要用到的概念。设</a:t>
            </a:r>
            <a:r>
              <a:rPr lang="en-US" altLang="zh-CN" sz="2000" b="1" dirty="0">
                <a:solidFill>
                  <a:srgbClr val="333333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D</a:t>
            </a:r>
            <a:r>
              <a:rPr lang="zh-CN" altLang="en-US" sz="2000" b="1" dirty="0">
                <a:solidFill>
                  <a:srgbClr val="333333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为用类别对训练元组进行的划分，则</a:t>
            </a:r>
            <a:r>
              <a:rPr lang="en-US" altLang="zh-CN" sz="2000" b="1" dirty="0">
                <a:solidFill>
                  <a:srgbClr val="333333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D</a:t>
            </a:r>
            <a:r>
              <a:rPr lang="zh-CN" altLang="en-US" sz="2000" b="1" dirty="0">
                <a:solidFill>
                  <a:srgbClr val="333333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</a:t>
            </a:r>
            <a:r>
              <a:rPr lang="zh-CN" altLang="en-US" sz="2000" b="1" dirty="0">
                <a:solidFill>
                  <a:srgbClr val="333333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hlinkClick r:id="rId3"/>
              </a:rPr>
              <a:t>熵</a:t>
            </a:r>
            <a:r>
              <a:rPr lang="zh-CN" altLang="en-US" sz="2000" b="1" dirty="0">
                <a:solidFill>
                  <a:srgbClr val="333333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000" b="1" dirty="0">
                <a:solidFill>
                  <a:srgbClr val="333333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entropy</a:t>
            </a:r>
            <a:r>
              <a:rPr lang="zh-CN" altLang="en-US" sz="2000" b="1" dirty="0">
                <a:solidFill>
                  <a:srgbClr val="333333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）表示为：</a:t>
            </a:r>
            <a:endParaRPr lang="zh-CN" altLang="en-US" sz="20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2EE2D30-88DD-4D1F-8E69-63E927FAC0CE}"/>
              </a:ext>
            </a:extLst>
          </p:cNvPr>
          <p:cNvSpPr/>
          <p:nvPr/>
        </p:nvSpPr>
        <p:spPr>
          <a:xfrm>
            <a:off x="609600" y="2862048"/>
            <a:ext cx="10513168" cy="14189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266700" eaLnBrk="0" hangingPunc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2000" b="1" dirty="0">
                <a:solidFill>
                  <a:srgbClr val="333333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其中</a:t>
            </a:r>
            <a:r>
              <a:rPr lang="en-US" altLang="zh-CN" sz="2000" b="1" i="1" dirty="0">
                <a:solidFill>
                  <a:srgbClr val="333333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p</a:t>
            </a:r>
            <a:r>
              <a:rPr lang="en-US" altLang="zh-CN" sz="2000" b="1" i="1" baseline="-25000" dirty="0">
                <a:solidFill>
                  <a:srgbClr val="333333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lang="zh-CN" altLang="en-US" sz="2000" b="1" dirty="0">
                <a:solidFill>
                  <a:srgbClr val="333333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表示第</a:t>
            </a:r>
            <a:r>
              <a:rPr lang="en-US" altLang="zh-CN" sz="2000" b="1" i="1" dirty="0" err="1">
                <a:solidFill>
                  <a:srgbClr val="333333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lang="zh-CN" altLang="en-US" sz="2000" b="1" dirty="0">
                <a:solidFill>
                  <a:srgbClr val="333333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个类别在整个训练元组中出现的概率</a:t>
            </a:r>
            <a:r>
              <a:rPr lang="zh-CN" altLang="en-US" sz="2000" b="1" dirty="0">
                <a:solidFill>
                  <a:srgbClr val="333333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，可以用属于此类别元素的数量除以训练元组元素总数量作为估计。熵的实际意义表示是</a:t>
            </a:r>
            <a:r>
              <a:rPr lang="en-US" altLang="zh-CN" sz="2000" b="1" dirty="0">
                <a:solidFill>
                  <a:srgbClr val="333333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D</a:t>
            </a:r>
            <a:r>
              <a:rPr lang="zh-CN" altLang="en-US" sz="2000" b="1" dirty="0">
                <a:solidFill>
                  <a:srgbClr val="333333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中元组的类标号所需要的平均信息量。现在我们假设</a:t>
            </a:r>
            <a:r>
              <a:rPr lang="zh-CN" altLang="en-US" sz="2000" b="1" dirty="0">
                <a:solidFill>
                  <a:srgbClr val="333333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将训练元组</a:t>
            </a:r>
            <a:r>
              <a:rPr lang="en-US" altLang="zh-CN" sz="2000" b="1" dirty="0">
                <a:solidFill>
                  <a:srgbClr val="333333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D</a:t>
            </a:r>
            <a:r>
              <a:rPr lang="zh-CN" altLang="en-US" sz="2000" b="1" dirty="0">
                <a:solidFill>
                  <a:srgbClr val="333333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按属性</a:t>
            </a:r>
            <a:r>
              <a:rPr lang="en-US" altLang="zh-CN" sz="2000" b="1" dirty="0">
                <a:solidFill>
                  <a:srgbClr val="333333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zh-CN" altLang="en-US" sz="2000" b="1" dirty="0">
                <a:solidFill>
                  <a:srgbClr val="333333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进行划分</a:t>
            </a:r>
            <a:r>
              <a:rPr lang="zh-CN" altLang="en-US" sz="2000" b="1" dirty="0">
                <a:solidFill>
                  <a:srgbClr val="333333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，则</a:t>
            </a:r>
            <a:r>
              <a:rPr lang="en-US" altLang="zh-CN" sz="2000" b="1" dirty="0">
                <a:solidFill>
                  <a:srgbClr val="333333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zh-CN" altLang="en-US" sz="2000" b="1" dirty="0">
                <a:solidFill>
                  <a:srgbClr val="333333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对</a:t>
            </a:r>
            <a:r>
              <a:rPr lang="en-US" altLang="zh-CN" sz="2000" b="1" dirty="0">
                <a:solidFill>
                  <a:srgbClr val="333333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D</a:t>
            </a:r>
            <a:r>
              <a:rPr lang="zh-CN" altLang="en-US" sz="2000" b="1" dirty="0">
                <a:solidFill>
                  <a:srgbClr val="333333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划分的期望信息为：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3219FE3-3ED3-4575-BFF3-B1B18F8520F5}"/>
              </a:ext>
            </a:extLst>
          </p:cNvPr>
          <p:cNvSpPr/>
          <p:nvPr/>
        </p:nvSpPr>
        <p:spPr>
          <a:xfrm>
            <a:off x="273672" y="5036366"/>
            <a:ext cx="393729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indent="266700" eaLnBrk="0" hangingPunct="0"/>
            <a:r>
              <a:rPr lang="en-US" altLang="zh-CN" b="1" dirty="0">
                <a:solidFill>
                  <a:srgbClr val="333333"/>
                </a:solidFill>
                <a:cs typeface="宋体" panose="02010600030101010101" pitchFamily="2" charset="-122"/>
              </a:rPr>
              <a:t>  </a:t>
            </a:r>
            <a:r>
              <a:rPr lang="zh-CN" altLang="en-US" sz="2000" b="1" dirty="0">
                <a:solidFill>
                  <a:srgbClr val="333333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而</a:t>
            </a:r>
            <a:r>
              <a:rPr lang="zh-CN" altLang="en-US" sz="2000" b="1" dirty="0">
                <a:solidFill>
                  <a:srgbClr val="333333"/>
                </a:solidFill>
                <a:highlight>
                  <a:srgbClr val="FFFF00"/>
                </a:highlight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信息增益</a:t>
            </a:r>
            <a:r>
              <a:rPr lang="zh-CN" altLang="en-US" sz="2000" b="1" dirty="0">
                <a:solidFill>
                  <a:srgbClr val="333333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即为两者的差值：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8D1C477-E5D4-482F-91D0-259F666B697B}"/>
              </a:ext>
            </a:extLst>
          </p:cNvPr>
          <p:cNvSpPr/>
          <p:nvPr/>
        </p:nvSpPr>
        <p:spPr>
          <a:xfrm>
            <a:off x="261610" y="6045170"/>
            <a:ext cx="1173730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266700" eaLnBrk="0" hangingPunct="0"/>
            <a:r>
              <a:rPr lang="en-US" altLang="zh-CN" sz="2000" b="1" dirty="0">
                <a:solidFill>
                  <a:srgbClr val="333333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ID3</a:t>
            </a:r>
            <a:r>
              <a:rPr lang="zh-CN" altLang="en-US" sz="2000" b="1" dirty="0">
                <a:solidFill>
                  <a:srgbClr val="333333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算法就是在每次需要分裂时，计算每个属性的信息增益，选择</a:t>
            </a:r>
            <a:r>
              <a:rPr lang="zh-CN" altLang="en-US" sz="2000" b="1" dirty="0">
                <a:solidFill>
                  <a:srgbClr val="FF33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信息增益最大的属性进行分裂</a:t>
            </a:r>
            <a:r>
              <a:rPr lang="zh-CN" altLang="en-US" sz="2000" b="1" dirty="0">
                <a:solidFill>
                  <a:srgbClr val="333333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D512059-A491-4CFD-9F44-A01CDBA7B591}"/>
              </a:ext>
            </a:extLst>
          </p:cNvPr>
          <p:cNvSpPr/>
          <p:nvPr/>
        </p:nvSpPr>
        <p:spPr>
          <a:xfrm>
            <a:off x="911424" y="5527335"/>
            <a:ext cx="290656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indent="266700" eaLnBrk="0" hangingPunct="0"/>
            <a:r>
              <a:rPr lang="en-US" altLang="zh-CN" b="1" i="1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gain(A)=info(D)-</a:t>
            </a:r>
            <a:r>
              <a:rPr lang="en-US" altLang="zh-CN" b="1" i="1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info</a:t>
            </a:r>
            <a:r>
              <a:rPr lang="en-US" altLang="zh-CN" b="1" i="1" baseline="-30000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b="1" i="1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(D)</a:t>
            </a:r>
            <a:endParaRPr lang="en-US" altLang="zh-CN" b="1" dirty="0">
              <a:cs typeface="宋体" panose="02010600030101010101" pitchFamily="2" charset="-122"/>
            </a:endParaRP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2900EC8F-356F-4B58-959A-061CE2B155B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3261" y="4330432"/>
            <a:ext cx="3505689" cy="1209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77427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0ED4CD8-BF45-4507-A73C-8C9380E67B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决策树学习基本算法</a:t>
            </a:r>
            <a:endParaRPr lang="zh-CN" altLang="en-US" b="1" dirty="0"/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D72B1E4A-29CF-4284-8F25-8ADCED64B4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600" y="990600"/>
            <a:ext cx="9144000" cy="5090950"/>
          </a:xfr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72B8CE3-3DEE-4C51-AEAE-4F8B9F6AC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4DAA9B-EE85-4DFF-8958-18CCDB3DC947}" type="slidenum">
              <a:rPr lang="zh-CN" altLang="en-US" smtClean="0"/>
              <a:pPr/>
              <a:t>13</a:t>
            </a:fld>
            <a:endParaRPr lang="zh-CN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7F463BC-EF62-4CF6-B807-9C763D629394}"/>
              </a:ext>
            </a:extLst>
          </p:cNvPr>
          <p:cNvSpPr/>
          <p:nvPr/>
        </p:nvSpPr>
        <p:spPr>
          <a:xfrm>
            <a:off x="7417473" y="2069406"/>
            <a:ext cx="3075335" cy="64633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）当前结点包含的样本全部属于同一类别，无需划分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A97EC8F-0208-4B5F-AFD0-3249A1D08BC4}"/>
              </a:ext>
            </a:extLst>
          </p:cNvPr>
          <p:cNvSpPr/>
          <p:nvPr/>
        </p:nvSpPr>
        <p:spPr>
          <a:xfrm>
            <a:off x="7778311" y="2708062"/>
            <a:ext cx="2748686" cy="128990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）当前属性集为空，或所有样本在所有属性上取值相同，无法划分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4600B1C-1655-4C63-9AEC-912C0A785112}"/>
              </a:ext>
            </a:extLst>
          </p:cNvPr>
          <p:cNvSpPr/>
          <p:nvPr/>
        </p:nvSpPr>
        <p:spPr>
          <a:xfrm>
            <a:off x="7624787" y="4110904"/>
            <a:ext cx="2868020" cy="87440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）当前结点包含的样本集合为空，不能划分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A0C3BF6-0CF2-46BE-A3D8-08AFC0DA0B41}"/>
              </a:ext>
            </a:extLst>
          </p:cNvPr>
          <p:cNvSpPr/>
          <p:nvPr/>
        </p:nvSpPr>
        <p:spPr>
          <a:xfrm>
            <a:off x="1371600" y="6099092"/>
            <a:ext cx="65532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225">
              <a:spcBef>
                <a:spcPts val="0"/>
              </a:spcBef>
            </a:pPr>
            <a:r>
              <a:rPr lang="en-US" altLang="zh-CN" b="1" dirty="0" err="1">
                <a:latin typeface="Calibri" panose="020F0502020204030204"/>
                <a:cs typeface="Calibri" panose="020F0502020204030204"/>
              </a:rPr>
              <a:t>目标</a:t>
            </a:r>
            <a:r>
              <a:rPr lang="en-US" altLang="zh-CN" b="1" dirty="0">
                <a:latin typeface="Calibri" panose="020F0502020204030204"/>
                <a:cs typeface="Calibri" panose="020F0502020204030204"/>
              </a:rPr>
              <a:t>：</a:t>
            </a:r>
            <a:r>
              <a:rPr lang="zh-CN" altLang="en-US" b="1" dirty="0">
                <a:latin typeface="Calibri" panose="020F0502020204030204"/>
                <a:cs typeface="Calibri" panose="020F0502020204030204"/>
              </a:rPr>
              <a:t>生成</a:t>
            </a:r>
            <a:r>
              <a:rPr lang="en-US" altLang="zh-CN" b="1" dirty="0">
                <a:latin typeface="Calibri" panose="020F0502020204030204"/>
                <a:cs typeface="Calibri" panose="020F0502020204030204"/>
              </a:rPr>
              <a:t>一</a:t>
            </a:r>
            <a:r>
              <a:rPr lang="zh-CN" altLang="en-US" b="1" dirty="0">
                <a:latin typeface="Calibri" panose="020F0502020204030204"/>
                <a:cs typeface="Calibri" panose="020F0502020204030204"/>
              </a:rPr>
              <a:t>棵</a:t>
            </a:r>
            <a:r>
              <a:rPr lang="en-US" altLang="zh-CN" b="1" dirty="0" err="1">
                <a:latin typeface="Calibri" panose="020F0502020204030204"/>
                <a:cs typeface="Calibri" panose="020F0502020204030204"/>
              </a:rPr>
              <a:t>与训练</a:t>
            </a:r>
            <a:r>
              <a:rPr lang="zh-CN" altLang="en-US" b="1" dirty="0">
                <a:latin typeface="Calibri" panose="020F0502020204030204"/>
                <a:cs typeface="Calibri" panose="020F0502020204030204"/>
              </a:rPr>
              <a:t>数据</a:t>
            </a:r>
            <a:r>
              <a:rPr lang="en-US" altLang="zh-CN" b="1" dirty="0" err="1">
                <a:latin typeface="Calibri" panose="020F0502020204030204"/>
                <a:cs typeface="Calibri" panose="020F0502020204030204"/>
              </a:rPr>
              <a:t>一致的小树</a:t>
            </a:r>
            <a:endParaRPr lang="en-US" altLang="zh-CN" b="1" dirty="0">
              <a:latin typeface="Calibri" panose="020F0502020204030204"/>
              <a:cs typeface="Calibri" panose="020F0502020204030204"/>
            </a:endParaRPr>
          </a:p>
          <a:p>
            <a:pPr marL="22225">
              <a:spcBef>
                <a:spcPts val="0"/>
              </a:spcBef>
            </a:pPr>
            <a:r>
              <a:rPr lang="en-US" altLang="zh-CN" b="1" dirty="0" err="1">
                <a:solidFill>
                  <a:srgbClr val="3333FF"/>
                </a:solidFill>
                <a:latin typeface="Calibri" panose="020F0502020204030204"/>
                <a:cs typeface="Calibri" panose="020F0502020204030204"/>
              </a:rPr>
              <a:t>思想</a:t>
            </a:r>
            <a:r>
              <a:rPr lang="en-US" altLang="zh-CN" b="1" dirty="0">
                <a:solidFill>
                  <a:srgbClr val="3333FF"/>
                </a:solidFill>
                <a:latin typeface="Calibri" panose="020F0502020204030204"/>
                <a:cs typeface="Calibri" panose="020F0502020204030204"/>
              </a:rPr>
              <a:t>：（</a:t>
            </a:r>
            <a:r>
              <a:rPr lang="en-US" altLang="zh-CN" b="1" dirty="0" err="1">
                <a:solidFill>
                  <a:srgbClr val="3333FF"/>
                </a:solidFill>
                <a:latin typeface="Calibri" panose="020F0502020204030204"/>
                <a:cs typeface="Calibri" panose="020F0502020204030204"/>
              </a:rPr>
              <a:t>递归地）选择“最重要的”属性作为（子）树的根</a:t>
            </a:r>
            <a:r>
              <a:rPr lang="zh-CN" altLang="en-US" b="1" dirty="0">
                <a:solidFill>
                  <a:srgbClr val="3333FF"/>
                </a:solidFill>
                <a:latin typeface="Calibri" panose="020F0502020204030204"/>
                <a:cs typeface="Calibri" panose="020F0502020204030204"/>
              </a:rPr>
              <a:t>。</a:t>
            </a:r>
            <a:endParaRPr lang="en-US" altLang="zh-CN" b="1" dirty="0">
              <a:solidFill>
                <a:srgbClr val="3333FF"/>
              </a:solidFill>
              <a:latin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41374093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7A3DD3-3D11-4DAC-A9D6-B446AD9F87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一．实验目的</a:t>
            </a:r>
            <a:r>
              <a:rPr lang="zh-CN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：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0219E9F-5D80-4F47-AACB-8114ACB8D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81798C-0F99-461B-869F-8FC2E08F7ABC}" type="slidenum">
              <a:rPr lang="en-US" smtClean="0"/>
              <a:pPr>
                <a:defRPr/>
              </a:pPr>
              <a:t>14</a:t>
            </a:fld>
            <a:endParaRPr 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B0090F0-6643-4AB3-ADDF-CF3ADF91FB2E}"/>
              </a:ext>
            </a:extLst>
          </p:cNvPr>
          <p:cNvSpPr/>
          <p:nvPr/>
        </p:nvSpPr>
        <p:spPr>
          <a:xfrm>
            <a:off x="1828800" y="2895600"/>
            <a:ext cx="7392088" cy="65684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71780" indent="266700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8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编程实现决策树算法</a:t>
            </a:r>
            <a:r>
              <a:rPr lang="en-US" altLang="zh-CN" sz="28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ID3</a:t>
            </a:r>
            <a:r>
              <a:rPr lang="zh-CN" altLang="zh-CN" sz="28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；理解算法原理。</a:t>
            </a:r>
            <a:endParaRPr lang="zh-CN" altLang="zh-CN" sz="2800" b="1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246524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>
            <a:extLst>
              <a:ext uri="{FF2B5EF4-FFF2-40B4-BE49-F238E27FC236}">
                <a16:creationId xmlns:a16="http://schemas.microsoft.com/office/drawing/2014/main" id="{5B139E5C-0B0D-456A-941A-E805887B40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9000" y="1915436"/>
            <a:ext cx="2969402" cy="1117017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B5C0D455-326B-49CB-B6F0-1ECE971DED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二．实验原理</a:t>
            </a:r>
            <a:r>
              <a:rPr lang="zh-CN" altLang="en-US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：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32529CA-8EFC-4C1B-910C-70E780B521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55F2DB-5E2F-43F9-868D-96E834BECC06}" type="slidenum">
              <a:rPr lang="en-US" b="1" smtClean="0"/>
              <a:pPr>
                <a:defRPr/>
              </a:pPr>
              <a:t>15</a:t>
            </a:fld>
            <a:endParaRPr lang="en-US" b="1"/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D9FA7046-8974-44D6-841B-D32BE2DF2D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453970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indent="1905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2667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Rectangle 4">
            <a:extLst>
              <a:ext uri="{FF2B5EF4-FFF2-40B4-BE49-F238E27FC236}">
                <a16:creationId xmlns:a16="http://schemas.microsoft.com/office/drawing/2014/main" id="{85C5850C-3639-4E49-993C-56AA563471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42576"/>
            <a:ext cx="420308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190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200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cs typeface="宋体" panose="02010600030101010101" pitchFamily="2" charset="-122"/>
              </a:rPr>
              <a:t> </a:t>
            </a:r>
            <a:endParaRPr kumimoji="0" lang="zh-CN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38ECC98-2A0B-4CA8-9C44-C9CE868C2834}"/>
              </a:ext>
            </a:extLst>
          </p:cNvPr>
          <p:cNvSpPr/>
          <p:nvPr/>
        </p:nvSpPr>
        <p:spPr>
          <a:xfrm>
            <a:off x="335360" y="1117600"/>
            <a:ext cx="11737304" cy="9572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indent="266700" eaLnBrk="0" hangingPunct="0">
              <a:lnSpc>
                <a:spcPct val="150000"/>
              </a:lnSpc>
            </a:pPr>
            <a:r>
              <a:rPr lang="en-US" altLang="zh-CN" sz="2000" b="1" dirty="0">
                <a:solidFill>
                  <a:srgbClr val="333333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ID3</a:t>
            </a:r>
            <a:r>
              <a:rPr lang="zh-CN" altLang="en-US" sz="2000" b="1" dirty="0">
                <a:solidFill>
                  <a:srgbClr val="333333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算法的核心思想就是以信息增益度量属性选择，选择信息增益最大的属性进行分裂。</a:t>
            </a:r>
            <a:r>
              <a:rPr lang="en-US" altLang="zh-CN" sz="2000" b="1" dirty="0">
                <a:solidFill>
                  <a:srgbClr val="333333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</a:p>
          <a:p>
            <a:pPr lvl="0" indent="266700" eaLnBrk="0" hangingPunct="0">
              <a:lnSpc>
                <a:spcPct val="150000"/>
              </a:lnSpc>
            </a:pPr>
            <a:r>
              <a:rPr lang="zh-CN" altLang="en-US" sz="2000" b="1" dirty="0">
                <a:solidFill>
                  <a:srgbClr val="333333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定义几个要用到的概念。设</a:t>
            </a:r>
            <a:r>
              <a:rPr lang="en-US" altLang="zh-CN" sz="2000" b="1" dirty="0">
                <a:solidFill>
                  <a:srgbClr val="333333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D</a:t>
            </a:r>
            <a:r>
              <a:rPr lang="zh-CN" altLang="en-US" sz="2000" b="1" dirty="0">
                <a:solidFill>
                  <a:srgbClr val="333333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为用类别对训练元组进行的划分，则</a:t>
            </a:r>
            <a:r>
              <a:rPr lang="en-US" altLang="zh-CN" sz="2000" b="1" dirty="0">
                <a:solidFill>
                  <a:srgbClr val="333333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D</a:t>
            </a:r>
            <a:r>
              <a:rPr lang="zh-CN" altLang="en-US" sz="2000" b="1" dirty="0">
                <a:solidFill>
                  <a:srgbClr val="333333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</a:t>
            </a:r>
            <a:r>
              <a:rPr lang="zh-CN" altLang="en-US" sz="2000" b="1" dirty="0">
                <a:solidFill>
                  <a:srgbClr val="333333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hlinkClick r:id="rId3"/>
              </a:rPr>
              <a:t>熵</a:t>
            </a:r>
            <a:r>
              <a:rPr lang="zh-CN" altLang="en-US" sz="2000" b="1" dirty="0">
                <a:solidFill>
                  <a:srgbClr val="333333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000" b="1" dirty="0">
                <a:solidFill>
                  <a:srgbClr val="333333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entropy</a:t>
            </a:r>
            <a:r>
              <a:rPr lang="zh-CN" altLang="en-US" sz="2000" b="1" dirty="0">
                <a:solidFill>
                  <a:srgbClr val="333333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）表示为：</a:t>
            </a:r>
            <a:endParaRPr lang="zh-CN" altLang="en-US" sz="20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2EE2D30-88DD-4D1F-8E69-63E927FAC0CE}"/>
              </a:ext>
            </a:extLst>
          </p:cNvPr>
          <p:cNvSpPr/>
          <p:nvPr/>
        </p:nvSpPr>
        <p:spPr>
          <a:xfrm>
            <a:off x="623392" y="2711991"/>
            <a:ext cx="10513168" cy="14189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266700" eaLnBrk="0" hangingPunc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2000" b="1" dirty="0">
                <a:solidFill>
                  <a:srgbClr val="333333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其中</a:t>
            </a:r>
            <a:r>
              <a:rPr lang="en-US" altLang="zh-CN" sz="2000" b="1" i="1" dirty="0">
                <a:solidFill>
                  <a:srgbClr val="333333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p</a:t>
            </a:r>
            <a:r>
              <a:rPr lang="en-US" altLang="zh-CN" sz="2000" b="1" i="1" baseline="-25000" dirty="0">
                <a:solidFill>
                  <a:srgbClr val="333333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lang="zh-CN" altLang="en-US" sz="2000" b="1" dirty="0">
                <a:solidFill>
                  <a:srgbClr val="333333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表示第</a:t>
            </a:r>
            <a:r>
              <a:rPr lang="en-US" altLang="zh-CN" sz="2000" b="1" i="1" dirty="0" err="1">
                <a:solidFill>
                  <a:srgbClr val="333333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lang="zh-CN" altLang="en-US" sz="2000" b="1" dirty="0">
                <a:solidFill>
                  <a:srgbClr val="333333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个类别在整个训练元组中出现的概率，可以用属于此类别元素的数量除以训练元组元素总数量作为估计。熵的实际意义表示是</a:t>
            </a:r>
            <a:r>
              <a:rPr lang="en-US" altLang="zh-CN" sz="2000" b="1" dirty="0">
                <a:solidFill>
                  <a:srgbClr val="333333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D</a:t>
            </a:r>
            <a:r>
              <a:rPr lang="zh-CN" altLang="en-US" sz="2000" b="1" dirty="0">
                <a:solidFill>
                  <a:srgbClr val="333333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中元组的类标号所需要的平均信息量。现在我们假设将训练元组</a:t>
            </a:r>
            <a:r>
              <a:rPr lang="en-US" altLang="zh-CN" sz="2000" b="1" dirty="0">
                <a:solidFill>
                  <a:srgbClr val="333333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D</a:t>
            </a:r>
            <a:r>
              <a:rPr lang="zh-CN" altLang="en-US" sz="2000" b="1" dirty="0">
                <a:solidFill>
                  <a:srgbClr val="333333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按属性</a:t>
            </a:r>
            <a:r>
              <a:rPr lang="en-US" altLang="zh-CN" sz="2000" b="1" dirty="0">
                <a:solidFill>
                  <a:srgbClr val="333333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zh-CN" altLang="en-US" sz="2000" b="1" dirty="0">
                <a:solidFill>
                  <a:srgbClr val="333333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进行划分，则</a:t>
            </a:r>
            <a:r>
              <a:rPr lang="en-US" altLang="zh-CN" sz="2000" b="1" dirty="0">
                <a:solidFill>
                  <a:srgbClr val="333333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zh-CN" altLang="en-US" sz="2000" b="1" dirty="0">
                <a:solidFill>
                  <a:srgbClr val="333333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对</a:t>
            </a:r>
            <a:r>
              <a:rPr lang="en-US" altLang="zh-CN" sz="2000" b="1" dirty="0">
                <a:solidFill>
                  <a:srgbClr val="333333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D</a:t>
            </a:r>
            <a:r>
              <a:rPr lang="zh-CN" altLang="en-US" sz="2000" b="1" dirty="0">
                <a:solidFill>
                  <a:srgbClr val="333333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划分的期望信息为：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3219FE3-3ED3-4575-BFF3-B1B18F8520F5}"/>
              </a:ext>
            </a:extLst>
          </p:cNvPr>
          <p:cNvSpPr/>
          <p:nvPr/>
        </p:nvSpPr>
        <p:spPr>
          <a:xfrm>
            <a:off x="273672" y="5036366"/>
            <a:ext cx="393729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indent="266700" eaLnBrk="0" hangingPunct="0"/>
            <a:r>
              <a:rPr lang="en-US" altLang="zh-CN" b="1" dirty="0">
                <a:solidFill>
                  <a:srgbClr val="333333"/>
                </a:solidFill>
                <a:cs typeface="宋体" panose="02010600030101010101" pitchFamily="2" charset="-122"/>
              </a:rPr>
              <a:t>  </a:t>
            </a:r>
            <a:r>
              <a:rPr lang="zh-CN" altLang="en-US" sz="2000" b="1" dirty="0">
                <a:solidFill>
                  <a:srgbClr val="333333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而信息增益即为两者的差值：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8D1C477-E5D4-482F-91D0-259F666B697B}"/>
              </a:ext>
            </a:extLst>
          </p:cNvPr>
          <p:cNvSpPr/>
          <p:nvPr/>
        </p:nvSpPr>
        <p:spPr>
          <a:xfrm>
            <a:off x="261610" y="6045170"/>
            <a:ext cx="1173730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266700" eaLnBrk="0" hangingPunct="0"/>
            <a:r>
              <a:rPr lang="en-US" altLang="zh-CN" sz="2000" b="1" dirty="0">
                <a:solidFill>
                  <a:srgbClr val="333333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ID3</a:t>
            </a:r>
            <a:r>
              <a:rPr lang="zh-CN" altLang="en-US" sz="2000" b="1" dirty="0">
                <a:solidFill>
                  <a:srgbClr val="333333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算法就是在每次需要分裂时，计算每个属性的信息增益，选择</a:t>
            </a:r>
            <a:r>
              <a:rPr lang="zh-CN" altLang="en-US" sz="2000" b="1" dirty="0">
                <a:solidFill>
                  <a:srgbClr val="FF33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信息增益最大的属性进行分裂</a:t>
            </a:r>
            <a:r>
              <a:rPr lang="zh-CN" altLang="en-US" sz="2000" b="1" dirty="0">
                <a:solidFill>
                  <a:srgbClr val="333333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D512059-A491-4CFD-9F44-A01CDBA7B591}"/>
              </a:ext>
            </a:extLst>
          </p:cNvPr>
          <p:cNvSpPr/>
          <p:nvPr/>
        </p:nvSpPr>
        <p:spPr>
          <a:xfrm>
            <a:off x="911424" y="5527335"/>
            <a:ext cx="290656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indent="266700" eaLnBrk="0" hangingPunct="0"/>
            <a:r>
              <a:rPr lang="en-US" altLang="zh-CN" b="1" i="1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gain(A)=info(D)-</a:t>
            </a:r>
            <a:r>
              <a:rPr lang="en-US" altLang="zh-CN" b="1" i="1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info</a:t>
            </a:r>
            <a:r>
              <a:rPr lang="en-US" altLang="zh-CN" b="1" i="1" baseline="-30000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b="1" i="1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(D)</a:t>
            </a:r>
            <a:endParaRPr lang="en-US" altLang="zh-CN" b="1" dirty="0">
              <a:cs typeface="宋体" panose="02010600030101010101" pitchFamily="2" charset="-122"/>
            </a:endParaRPr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74B58401-EBA0-45A6-80CC-4563575E392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3261" y="4330432"/>
            <a:ext cx="3505689" cy="1209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12084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3AE576-8954-4AF0-9FFB-955EB74B94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二．实验原理</a:t>
            </a:r>
            <a:r>
              <a:rPr lang="zh-CN" altLang="en-US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：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34ED16A-A0F6-4AB2-8235-EA43A90F1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81798C-0F99-461B-869F-8FC2E08F7ABC}" type="slidenum">
              <a:rPr lang="en-US" smtClean="0"/>
              <a:pPr>
                <a:defRPr/>
              </a:pPr>
              <a:t>16</a:t>
            </a:fld>
            <a:endParaRPr 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F30B28B-9D89-43F4-8373-7CBDD8EA2DCB}"/>
              </a:ext>
            </a:extLst>
          </p:cNvPr>
          <p:cNvSpPr/>
          <p:nvPr/>
        </p:nvSpPr>
        <p:spPr>
          <a:xfrm>
            <a:off x="914400" y="1905000"/>
            <a:ext cx="9601200" cy="32421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04800">
              <a:lnSpc>
                <a:spcPct val="150000"/>
              </a:lnSpc>
              <a:spcAft>
                <a:spcPts val="0"/>
              </a:spcAft>
            </a:pPr>
            <a:r>
              <a:rPr lang="zh-CN" altLang="zh-CN" sz="28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对于特征属性为</a:t>
            </a:r>
            <a:r>
              <a:rPr lang="zh-CN" altLang="zh-CN" sz="2800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连续值</a:t>
            </a:r>
            <a:r>
              <a:rPr lang="zh-CN" altLang="zh-CN" sz="28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，可以如此使用</a:t>
            </a:r>
            <a:r>
              <a:rPr lang="en-US" altLang="zh-CN" sz="28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ID3</a:t>
            </a:r>
            <a:r>
              <a:rPr lang="zh-CN" altLang="zh-CN" sz="28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算法：先将</a:t>
            </a:r>
            <a:r>
              <a:rPr lang="en-US" altLang="zh-CN" sz="28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D</a:t>
            </a:r>
            <a:r>
              <a:rPr lang="zh-CN" altLang="zh-CN" sz="28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中元素按照特征属性排序，则每两个相邻元素的中间点可以看作潜在分裂点，从第一个潜在分裂点开始，分裂</a:t>
            </a:r>
            <a:r>
              <a:rPr lang="en-US" altLang="zh-CN" sz="28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D</a:t>
            </a:r>
            <a:r>
              <a:rPr lang="zh-CN" altLang="zh-CN" sz="28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并计算两个集合的期望信息，具有最小期望信息的点称为这个属性的最佳分裂点，其信息期望作为此属性的信息期望。</a:t>
            </a:r>
          </a:p>
        </p:txBody>
      </p:sp>
    </p:spTree>
    <p:extLst>
      <p:ext uri="{BB962C8B-B14F-4D97-AF65-F5344CB8AC3E}">
        <p14:creationId xmlns:p14="http://schemas.microsoft.com/office/powerpoint/2010/main" val="28581893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B48477-8197-451D-B96C-51D61FF6D5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三．实验内容：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15B5EC1-1DDB-4C1E-9B1C-DA29A16E75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81798C-0F99-461B-869F-8FC2E08F7ABC}" type="slidenum">
              <a:rPr lang="en-US" smtClean="0"/>
              <a:pPr>
                <a:defRPr/>
              </a:pPr>
              <a:t>17</a:t>
            </a:fld>
            <a:endParaRPr 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5F79FC7-D44C-4A50-8B42-B89A9A88C889}"/>
              </a:ext>
            </a:extLst>
          </p:cNvPr>
          <p:cNvSpPr/>
          <p:nvPr/>
        </p:nvSpPr>
        <p:spPr>
          <a:xfrm>
            <a:off x="1219200" y="2590800"/>
            <a:ext cx="8991600" cy="19495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04800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8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利用</a:t>
            </a:r>
            <a:r>
              <a:rPr lang="en-US" altLang="zh-CN" sz="28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traindata.txt</a:t>
            </a:r>
            <a:r>
              <a:rPr lang="zh-CN" altLang="zh-CN" sz="28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的数据（</a:t>
            </a:r>
            <a:r>
              <a:rPr lang="en-US" altLang="zh-CN" sz="28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75*5</a:t>
            </a:r>
            <a:r>
              <a:rPr lang="zh-CN" altLang="zh-CN" sz="28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，第</a:t>
            </a:r>
            <a:r>
              <a:rPr lang="en-US" altLang="zh-CN" sz="28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5</a:t>
            </a:r>
            <a:r>
              <a:rPr lang="zh-CN" altLang="zh-CN" sz="28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列为标签）进行训练，构造决策树；利用构造好的决策树对</a:t>
            </a:r>
            <a:r>
              <a:rPr lang="en-US" altLang="zh-CN" sz="28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testdata.txt</a:t>
            </a:r>
            <a:r>
              <a:rPr lang="zh-CN" altLang="zh-CN" sz="28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的数据进行分类，并输出分类准确率。</a:t>
            </a:r>
          </a:p>
        </p:txBody>
      </p:sp>
    </p:spTree>
    <p:extLst>
      <p:ext uri="{BB962C8B-B14F-4D97-AF65-F5344CB8AC3E}">
        <p14:creationId xmlns:p14="http://schemas.microsoft.com/office/powerpoint/2010/main" val="33994017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B6F42C-BE70-4C42-BBC3-1683D83A6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四．实验要求：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DA5B11B-6690-4290-9951-D9FEBCD09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81798C-0F99-461B-869F-8FC2E08F7ABC}" type="slidenum">
              <a:rPr lang="en-US" smtClean="0"/>
              <a:pPr>
                <a:defRPr/>
              </a:pPr>
              <a:t>18</a:t>
            </a:fld>
            <a:endParaRPr 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8CAAC23-666E-404E-8C57-E0C9033A47F3}"/>
              </a:ext>
            </a:extLst>
          </p:cNvPr>
          <p:cNvSpPr/>
          <p:nvPr/>
        </p:nvSpPr>
        <p:spPr>
          <a:xfrm>
            <a:off x="342900" y="1190759"/>
            <a:ext cx="11506200" cy="22382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04800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4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sz="24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zh-CN" sz="24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）提交源代码及可执行文件。</a:t>
            </a:r>
          </a:p>
          <a:p>
            <a:pPr indent="304800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4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sz="24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zh-CN" sz="24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）提交实验报告，内容包括：对代码的简单说明、运行结果的截图及说明等。</a:t>
            </a:r>
          </a:p>
          <a:p>
            <a:pPr indent="304800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4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sz="24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lang="zh-CN" altLang="zh-CN" sz="24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）需画出决策树，指明每个分支所对应的特征</a:t>
            </a:r>
            <a:r>
              <a:rPr lang="en-US" altLang="zh-CN" sz="24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/</a:t>
            </a:r>
            <a:r>
              <a:rPr lang="zh-CN" altLang="zh-CN" sz="24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属性，以及分裂值。</a:t>
            </a:r>
          </a:p>
          <a:p>
            <a:pPr indent="304800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4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注：如用到了剪枝、限定深度等技巧（加分项），请加以说明。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D757CD7B-4C35-49BE-B3A2-6F99524355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3581400"/>
            <a:ext cx="2162477" cy="2753109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586597AB-B31C-4A1D-8CDA-5C8FE9EA6E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9600" y="3829084"/>
            <a:ext cx="7287642" cy="2257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25268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1C2546-CC9A-4311-8B91-22242EF851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06E1BDA-E0D2-4A05-BE6C-BA5BC1A30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81798C-0F99-461B-869F-8FC2E08F7ABC}" type="slidenum">
              <a:rPr lang="en-US" smtClean="0"/>
              <a:pPr>
                <a:defRPr/>
              </a:pPr>
              <a:t>19</a:t>
            </a:fld>
            <a:endParaRPr 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0DF718A-3C33-48FF-85E2-7ECC50EAA10D}"/>
              </a:ext>
            </a:extLst>
          </p:cNvPr>
          <p:cNvSpPr/>
          <p:nvPr/>
        </p:nvSpPr>
        <p:spPr>
          <a:xfrm>
            <a:off x="4191000" y="2971800"/>
            <a:ext cx="5391219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4400" b="1" dirty="0">
                <a:solidFill>
                  <a:schemeClr val="accent2"/>
                </a:solidFill>
                <a:latin typeface="Calibri" pitchFamily="34" charset="0"/>
              </a:rPr>
              <a:t>实验</a:t>
            </a:r>
            <a:r>
              <a:rPr lang="zh-CN" altLang="en-US" sz="4400" b="1" dirty="0">
                <a:solidFill>
                  <a:schemeClr val="accent2"/>
                </a:solidFill>
                <a:latin typeface="Calibri" pitchFamily="34" charset="0"/>
              </a:rPr>
              <a:t>三 </a:t>
            </a:r>
            <a:r>
              <a:rPr lang="zh-CN" altLang="zh-CN" sz="4400" b="1" dirty="0">
                <a:solidFill>
                  <a:schemeClr val="accent2"/>
                </a:solidFill>
                <a:latin typeface="Calibri" pitchFamily="34" charset="0"/>
              </a:rPr>
              <a:t>强化学习实验</a:t>
            </a:r>
            <a:endParaRPr lang="zh-CN" altLang="en-US" sz="4400" b="1" dirty="0">
              <a:solidFill>
                <a:schemeClr val="accent2"/>
              </a:solidFill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73082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buClrTx/>
              <a:buSzTx/>
              <a:buFontTx/>
            </a:pPr>
            <a:r>
              <a:rPr lang="en-US" b="1">
                <a:sym typeface="+mn-ea"/>
              </a:rPr>
              <a:t>状态的价值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" y="1295401"/>
            <a:ext cx="11379200" cy="4729164"/>
          </a:xfrm>
        </p:spPr>
        <p:txBody>
          <a:bodyPr/>
          <a:lstStyle/>
          <a:p>
            <a:r>
              <a:rPr lang="en-US" sz="2400" b="1" dirty="0" err="1">
                <a:latin typeface="黑体" panose="02010609060101010101" charset="-122"/>
                <a:ea typeface="黑体" panose="02010609060101010101" charset="-122"/>
              </a:rPr>
              <a:t>基本操作：计算状态的（期望</a:t>
            </a:r>
            <a:r>
              <a:rPr lang="zh-CN" altLang="en-US" sz="2400" b="1" dirty="0">
                <a:latin typeface="黑体" panose="02010609060101010101" charset="-122"/>
                <a:ea typeface="黑体" panose="02010609060101010101" charset="-122"/>
              </a:rPr>
              <a:t>最大</a:t>
            </a:r>
            <a:r>
              <a:rPr lang="en-US" sz="2400" b="1" dirty="0">
                <a:latin typeface="黑体" panose="02010609060101010101" charset="-122"/>
                <a:ea typeface="黑体" panose="02010609060101010101" charset="-122"/>
              </a:rPr>
              <a:t>）值</a:t>
            </a:r>
          </a:p>
          <a:p>
            <a:pPr lvl="1"/>
            <a:r>
              <a:rPr lang="en-US" sz="2400" b="1" dirty="0">
                <a:latin typeface="黑体" panose="02010609060101010101" charset="-122"/>
                <a:ea typeface="黑体" panose="02010609060101010101" charset="-122"/>
              </a:rPr>
              <a:t>在最优行动下的</a:t>
            </a:r>
            <a:r>
              <a:rPr lang="en-US" sz="2400" b="1" dirty="0">
                <a:latin typeface="黑体" panose="02010609060101010101" charset="-122"/>
                <a:ea typeface="黑体" panose="02010609060101010101" charset="-122"/>
                <a:sym typeface="+mn-ea"/>
              </a:rPr>
              <a:t>期望</a:t>
            </a:r>
            <a:r>
              <a:rPr lang="en-US" sz="2400" b="1" dirty="0">
                <a:latin typeface="黑体" panose="02010609060101010101" charset="-122"/>
                <a:ea typeface="黑体" panose="02010609060101010101" charset="-122"/>
              </a:rPr>
              <a:t>效用</a:t>
            </a:r>
          </a:p>
          <a:p>
            <a:pPr lvl="1"/>
            <a:r>
              <a:rPr lang="en-US" sz="2400" b="1" dirty="0">
                <a:latin typeface="黑体" panose="02010609060101010101" charset="-122"/>
                <a:ea typeface="黑体" panose="02010609060101010101" charset="-122"/>
              </a:rPr>
              <a:t>平均的（折</a:t>
            </a:r>
            <a:r>
              <a:rPr lang="zh-CN" altLang="en-US" sz="2400" b="1" dirty="0">
                <a:latin typeface="黑体" panose="02010609060101010101" charset="-122"/>
                <a:ea typeface="黑体" panose="02010609060101010101" charset="-122"/>
              </a:rPr>
              <a:t>扣</a:t>
            </a:r>
            <a:r>
              <a:rPr lang="en-US" sz="2400" b="1" dirty="0">
                <a:latin typeface="黑体" panose="02010609060101010101" charset="-122"/>
                <a:ea typeface="黑体" panose="02010609060101010101" charset="-122"/>
              </a:rPr>
              <a:t>）奖励</a:t>
            </a:r>
            <a:r>
              <a:rPr lang="en-US" sz="2400" b="1" dirty="0">
                <a:latin typeface="黑体" panose="02010609060101010101" charset="-122"/>
                <a:ea typeface="黑体" panose="02010609060101010101" charset="-122"/>
                <a:sym typeface="+mn-ea"/>
              </a:rPr>
              <a:t>总和</a:t>
            </a:r>
            <a:endParaRPr lang="en-US" sz="2400" b="1" dirty="0">
              <a:latin typeface="黑体" panose="02010609060101010101" charset="-122"/>
              <a:ea typeface="黑体" panose="02010609060101010101" charset="-122"/>
            </a:endParaRPr>
          </a:p>
          <a:p>
            <a:pPr lvl="1"/>
            <a:r>
              <a:rPr lang="en-US" sz="2400" b="1" dirty="0" err="1">
                <a:latin typeface="黑体" panose="02010609060101010101" charset="-122"/>
                <a:ea typeface="黑体" panose="02010609060101010101" charset="-122"/>
              </a:rPr>
              <a:t>这正是</a:t>
            </a:r>
            <a:r>
              <a:rPr lang="zh-CN" altLang="en-US" sz="2400" b="1" dirty="0">
                <a:latin typeface="黑体" panose="02010609060101010101" charset="-122"/>
                <a:ea typeface="黑体" panose="02010609060101010101" charset="-122"/>
              </a:rPr>
              <a:t>最大</a:t>
            </a:r>
            <a:r>
              <a:rPr lang="en-US" altLang="zh-CN" sz="2400" b="1" dirty="0" err="1">
                <a:latin typeface="黑体" panose="02010609060101010101" charset="-122"/>
                <a:ea typeface="黑体" panose="02010609060101010101" charset="-122"/>
              </a:rPr>
              <a:t>期望</a:t>
            </a:r>
            <a:r>
              <a:rPr lang="en-US" sz="2400" b="1" dirty="0" err="1">
                <a:latin typeface="黑体" panose="02010609060101010101" charset="-122"/>
                <a:ea typeface="黑体" panose="02010609060101010101" charset="-122"/>
              </a:rPr>
              <a:t>值计算的内容</a:t>
            </a:r>
            <a:r>
              <a:rPr lang="en-US" sz="2400" b="1" dirty="0">
                <a:latin typeface="黑体" panose="02010609060101010101" charset="-122"/>
                <a:ea typeface="黑体" panose="02010609060101010101" charset="-122"/>
              </a:rPr>
              <a:t>！</a:t>
            </a:r>
          </a:p>
          <a:p>
            <a:pPr lvl="1"/>
            <a:endParaRPr lang="en-US" sz="2400" b="1" dirty="0">
              <a:latin typeface="黑体" panose="02010609060101010101" charset="-122"/>
              <a:ea typeface="黑体" panose="02010609060101010101" charset="-122"/>
            </a:endParaRPr>
          </a:p>
          <a:p>
            <a:r>
              <a:rPr lang="en-US" sz="2400" b="1" dirty="0">
                <a:latin typeface="黑体" panose="02010609060101010101" charset="-122"/>
                <a:ea typeface="黑体" panose="02010609060101010101" charset="-122"/>
              </a:rPr>
              <a:t>价值的递归定义：</a:t>
            </a:r>
          </a:p>
        </p:txBody>
      </p:sp>
      <p:pic>
        <p:nvPicPr>
          <p:cNvPr id="52" name="Picture 51" descr="txp_fi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 cstate="print"/>
          <a:stretch>
            <a:fillRect/>
          </a:stretch>
        </p:blipFill>
        <p:spPr bwMode="auto">
          <a:xfrm>
            <a:off x="926335" y="4104005"/>
            <a:ext cx="3078105" cy="405370"/>
          </a:xfrm>
          <a:prstGeom prst="rect">
            <a:avLst/>
          </a:prstGeom>
          <a:noFill/>
          <a:effectLst/>
        </p:spPr>
      </p:pic>
      <p:pic>
        <p:nvPicPr>
          <p:cNvPr id="48" name="Picture 47" descr="txp_fi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 cstate="print"/>
          <a:stretch>
            <a:fillRect/>
          </a:stretch>
        </p:blipFill>
        <p:spPr bwMode="auto">
          <a:xfrm>
            <a:off x="926943" y="5488305"/>
            <a:ext cx="6950388" cy="690805"/>
          </a:xfrm>
          <a:prstGeom prst="rect">
            <a:avLst/>
          </a:prstGeom>
          <a:noFill/>
          <a:effectLst/>
        </p:spPr>
      </p:pic>
      <p:pic>
        <p:nvPicPr>
          <p:cNvPr id="47" name="Picture 46" descr="txp_fi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 cstate="print"/>
          <a:stretch>
            <a:fillRect/>
          </a:stretch>
        </p:blipFill>
        <p:spPr bwMode="auto">
          <a:xfrm>
            <a:off x="933573" y="4746942"/>
            <a:ext cx="5556003" cy="593269"/>
          </a:xfrm>
          <a:prstGeom prst="rect">
            <a:avLst/>
          </a:prstGeom>
          <a:noFill/>
          <a:effectLst/>
        </p:spPr>
      </p:pic>
      <p:grpSp>
        <p:nvGrpSpPr>
          <p:cNvPr id="27" name="Group 4"/>
          <p:cNvGrpSpPr/>
          <p:nvPr/>
        </p:nvGrpSpPr>
        <p:grpSpPr bwMode="auto">
          <a:xfrm>
            <a:off x="7772400" y="1363776"/>
            <a:ext cx="3048000" cy="2754586"/>
            <a:chOff x="2400" y="1401"/>
            <a:chExt cx="1392" cy="1258"/>
          </a:xfrm>
        </p:grpSpPr>
        <p:sp>
          <p:nvSpPr>
            <p:cNvPr id="28" name="AutoShape 5"/>
            <p:cNvSpPr>
              <a:spLocks noChangeArrowheads="1"/>
            </p:cNvSpPr>
            <p:nvPr/>
          </p:nvSpPr>
          <p:spPr bwMode="auto">
            <a:xfrm>
              <a:off x="3070" y="1488"/>
              <a:ext cx="155" cy="124"/>
            </a:xfrm>
            <a:prstGeom prst="triangle">
              <a:avLst>
                <a:gd name="adj" fmla="val 50000"/>
              </a:avLst>
            </a:prstGeom>
            <a:solidFill>
              <a:srgbClr val="0000FF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/>
              <a:endParaRPr lang="en-US" sz="2400"/>
            </a:p>
          </p:txBody>
        </p:sp>
        <p:grpSp>
          <p:nvGrpSpPr>
            <p:cNvPr id="29" name="Group 6"/>
            <p:cNvGrpSpPr/>
            <p:nvPr/>
          </p:nvGrpSpPr>
          <p:grpSpPr bwMode="auto">
            <a:xfrm>
              <a:off x="2529" y="1617"/>
              <a:ext cx="1263" cy="361"/>
              <a:chOff x="1584" y="1680"/>
              <a:chExt cx="2352" cy="336"/>
            </a:xfrm>
          </p:grpSpPr>
          <p:sp>
            <p:nvSpPr>
              <p:cNvPr id="42" name="Line 7"/>
              <p:cNvSpPr>
                <a:spLocks noChangeShapeType="1"/>
              </p:cNvSpPr>
              <p:nvPr/>
            </p:nvSpPr>
            <p:spPr bwMode="auto">
              <a:xfrm flipH="1">
                <a:off x="1584" y="1680"/>
                <a:ext cx="1152" cy="3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tailEnd type="triangle" w="med" len="med"/>
              </a:ln>
            </p:spPr>
            <p:txBody>
              <a:bodyPr/>
              <a:lstStyle/>
              <a:p>
                <a:endParaRPr lang="en-US" sz="2400"/>
              </a:p>
            </p:txBody>
          </p:sp>
          <p:sp>
            <p:nvSpPr>
              <p:cNvPr id="43" name="Line 8"/>
              <p:cNvSpPr>
                <a:spLocks noChangeShapeType="1"/>
              </p:cNvSpPr>
              <p:nvPr/>
            </p:nvSpPr>
            <p:spPr bwMode="auto">
              <a:xfrm>
                <a:off x="2736" y="1680"/>
                <a:ext cx="1200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tailEnd type="triangle" w="med" len="med"/>
              </a:ln>
            </p:spPr>
            <p:txBody>
              <a:bodyPr/>
              <a:lstStyle/>
              <a:p>
                <a:endParaRPr lang="en-US" sz="2400"/>
              </a:p>
            </p:txBody>
          </p:sp>
          <p:sp>
            <p:nvSpPr>
              <p:cNvPr id="44" name="Line 9"/>
              <p:cNvSpPr>
                <a:spLocks noChangeShapeType="1"/>
              </p:cNvSpPr>
              <p:nvPr/>
            </p:nvSpPr>
            <p:spPr bwMode="auto">
              <a:xfrm flipH="1">
                <a:off x="2304" y="1680"/>
                <a:ext cx="432" cy="33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tailEnd type="triangle" w="med" len="med"/>
              </a:ln>
            </p:spPr>
            <p:txBody>
              <a:bodyPr/>
              <a:lstStyle/>
              <a:p>
                <a:endParaRPr lang="en-US" sz="2400"/>
              </a:p>
            </p:txBody>
          </p:sp>
          <p:sp>
            <p:nvSpPr>
              <p:cNvPr id="45" name="Line 10"/>
              <p:cNvSpPr>
                <a:spLocks noChangeShapeType="1"/>
              </p:cNvSpPr>
              <p:nvPr/>
            </p:nvSpPr>
            <p:spPr bwMode="auto">
              <a:xfrm>
                <a:off x="2736" y="1680"/>
                <a:ext cx="432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tailEnd type="triangle" w="med" len="med"/>
              </a:ln>
            </p:spPr>
            <p:txBody>
              <a:bodyPr/>
              <a:lstStyle/>
              <a:p>
                <a:endParaRPr lang="en-US" sz="2400"/>
              </a:p>
            </p:txBody>
          </p:sp>
        </p:grpSp>
        <p:sp>
          <p:nvSpPr>
            <p:cNvPr id="30" name="Oval 11"/>
            <p:cNvSpPr>
              <a:spLocks noChangeArrowheads="1"/>
            </p:cNvSpPr>
            <p:nvPr/>
          </p:nvSpPr>
          <p:spPr bwMode="auto">
            <a:xfrm>
              <a:off x="2864" y="1978"/>
              <a:ext cx="129" cy="129"/>
            </a:xfrm>
            <a:prstGeom prst="ellipse">
              <a:avLst/>
            </a:prstGeom>
            <a:solidFill>
              <a:srgbClr val="008000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en-US" sz="2400"/>
            </a:p>
          </p:txBody>
        </p:sp>
        <p:grpSp>
          <p:nvGrpSpPr>
            <p:cNvPr id="31" name="Group 12"/>
            <p:cNvGrpSpPr/>
            <p:nvPr/>
          </p:nvGrpSpPr>
          <p:grpSpPr bwMode="auto">
            <a:xfrm>
              <a:off x="2400" y="2107"/>
              <a:ext cx="1057" cy="386"/>
              <a:chOff x="1536" y="2400"/>
              <a:chExt cx="1584" cy="624"/>
            </a:xfrm>
          </p:grpSpPr>
          <p:sp>
            <p:nvSpPr>
              <p:cNvPr id="38" name="Line 13"/>
              <p:cNvSpPr>
                <a:spLocks noChangeShapeType="1"/>
              </p:cNvSpPr>
              <p:nvPr/>
            </p:nvSpPr>
            <p:spPr bwMode="auto">
              <a:xfrm flipH="1">
                <a:off x="1536" y="2400"/>
                <a:ext cx="776" cy="62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tailEnd type="triangle" w="med" len="med"/>
              </a:ln>
            </p:spPr>
            <p:txBody>
              <a:bodyPr/>
              <a:lstStyle/>
              <a:p>
                <a:endParaRPr lang="en-US" sz="2400"/>
              </a:p>
            </p:txBody>
          </p:sp>
          <p:sp>
            <p:nvSpPr>
              <p:cNvPr id="39" name="Line 14"/>
              <p:cNvSpPr>
                <a:spLocks noChangeShapeType="1"/>
              </p:cNvSpPr>
              <p:nvPr/>
            </p:nvSpPr>
            <p:spPr bwMode="auto">
              <a:xfrm>
                <a:off x="2312" y="2400"/>
                <a:ext cx="808" cy="62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tailEnd type="triangle" w="med" len="med"/>
              </a:ln>
            </p:spPr>
            <p:txBody>
              <a:bodyPr/>
              <a:lstStyle/>
              <a:p>
                <a:endParaRPr lang="en-US" sz="2400"/>
              </a:p>
            </p:txBody>
          </p:sp>
          <p:sp>
            <p:nvSpPr>
              <p:cNvPr id="40" name="Line 15"/>
              <p:cNvSpPr>
                <a:spLocks noChangeShapeType="1"/>
              </p:cNvSpPr>
              <p:nvPr/>
            </p:nvSpPr>
            <p:spPr bwMode="auto">
              <a:xfrm flipH="1">
                <a:off x="2021" y="2400"/>
                <a:ext cx="291" cy="62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prstDash val="dash"/>
                <a:round/>
                <a:tailEnd type="triangle" w="med" len="med"/>
              </a:ln>
            </p:spPr>
            <p:txBody>
              <a:bodyPr/>
              <a:lstStyle/>
              <a:p>
                <a:endParaRPr lang="en-US" sz="2400"/>
              </a:p>
            </p:txBody>
          </p:sp>
          <p:sp>
            <p:nvSpPr>
              <p:cNvPr id="41" name="Line 16"/>
              <p:cNvSpPr>
                <a:spLocks noChangeShapeType="1"/>
              </p:cNvSpPr>
              <p:nvPr/>
            </p:nvSpPr>
            <p:spPr bwMode="auto">
              <a:xfrm>
                <a:off x="2312" y="2400"/>
                <a:ext cx="280" cy="62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tailEnd type="triangle" w="med" len="med"/>
              </a:ln>
            </p:spPr>
            <p:txBody>
              <a:bodyPr/>
              <a:lstStyle/>
              <a:p>
                <a:endParaRPr lang="en-US" sz="2400"/>
              </a:p>
            </p:txBody>
          </p:sp>
        </p:grpSp>
        <p:sp>
          <p:nvSpPr>
            <p:cNvPr id="32" name="Text Box 17"/>
            <p:cNvSpPr txBox="1">
              <a:spLocks noChangeArrowheads="1"/>
            </p:cNvSpPr>
            <p:nvPr/>
          </p:nvSpPr>
          <p:spPr bwMode="auto">
            <a:xfrm>
              <a:off x="3071" y="1680"/>
              <a:ext cx="129" cy="21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400" dirty="0"/>
                <a:t>a</a:t>
              </a:r>
            </a:p>
          </p:txBody>
        </p:sp>
        <p:sp>
          <p:nvSpPr>
            <p:cNvPr id="33" name="Text Box 18"/>
            <p:cNvSpPr txBox="1">
              <a:spLocks noChangeArrowheads="1"/>
            </p:cNvSpPr>
            <p:nvPr/>
          </p:nvSpPr>
          <p:spPr bwMode="auto">
            <a:xfrm>
              <a:off x="3216" y="1401"/>
              <a:ext cx="129" cy="21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400" dirty="0">
                  <a:solidFill>
                    <a:srgbClr val="0000FF"/>
                  </a:solidFill>
                </a:rPr>
                <a:t>s</a:t>
              </a:r>
            </a:p>
          </p:txBody>
        </p:sp>
        <p:sp>
          <p:nvSpPr>
            <p:cNvPr id="34" name="Text Box 19"/>
            <p:cNvSpPr txBox="1">
              <a:spLocks noChangeArrowheads="1"/>
            </p:cNvSpPr>
            <p:nvPr/>
          </p:nvSpPr>
          <p:spPr bwMode="auto">
            <a:xfrm>
              <a:off x="3024" y="1920"/>
              <a:ext cx="559" cy="21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400" dirty="0">
                  <a:solidFill>
                    <a:srgbClr val="008000"/>
                  </a:solidFill>
                </a:rPr>
                <a:t>s, a</a:t>
              </a:r>
            </a:p>
          </p:txBody>
        </p:sp>
        <p:sp>
          <p:nvSpPr>
            <p:cNvPr id="35" name="Text Box 20"/>
            <p:cNvSpPr txBox="1">
              <a:spLocks noChangeArrowheads="1"/>
            </p:cNvSpPr>
            <p:nvPr/>
          </p:nvSpPr>
          <p:spPr bwMode="auto">
            <a:xfrm>
              <a:off x="2609" y="2261"/>
              <a:ext cx="504" cy="21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400" dirty="0" err="1"/>
                <a:t>s,a,s</a:t>
              </a:r>
              <a:r>
                <a:rPr lang="ja-JP" altLang="en-US" sz="2400"/>
                <a:t>’</a:t>
              </a:r>
              <a:endParaRPr lang="en-US" sz="2400" dirty="0"/>
            </a:p>
          </p:txBody>
        </p:sp>
        <p:sp>
          <p:nvSpPr>
            <p:cNvPr id="36" name="AutoShape 21"/>
            <p:cNvSpPr>
              <a:spLocks noChangeArrowheads="1"/>
            </p:cNvSpPr>
            <p:nvPr/>
          </p:nvSpPr>
          <p:spPr bwMode="auto">
            <a:xfrm>
              <a:off x="3019" y="2499"/>
              <a:ext cx="154" cy="123"/>
            </a:xfrm>
            <a:prstGeom prst="triangle">
              <a:avLst>
                <a:gd name="adj" fmla="val 50000"/>
              </a:avLst>
            </a:prstGeom>
            <a:solidFill>
              <a:srgbClr val="0000FF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r" rtl="1"/>
              <a:endParaRPr lang="en-US" sz="2400"/>
            </a:p>
          </p:txBody>
        </p:sp>
        <p:sp>
          <p:nvSpPr>
            <p:cNvPr id="37" name="Text Box 22"/>
            <p:cNvSpPr txBox="1">
              <a:spLocks noChangeArrowheads="1"/>
            </p:cNvSpPr>
            <p:nvPr/>
          </p:nvSpPr>
          <p:spPr bwMode="auto">
            <a:xfrm>
              <a:off x="3096" y="2448"/>
              <a:ext cx="331" cy="21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 algn="r" rtl="1">
                <a:spcBef>
                  <a:spcPct val="50000"/>
                </a:spcBef>
              </a:pPr>
              <a:r>
                <a:rPr lang="en-US" sz="2400" dirty="0">
                  <a:solidFill>
                    <a:srgbClr val="0000FF"/>
                  </a:solidFill>
                </a:rPr>
                <a:t>s</a:t>
              </a:r>
              <a:r>
                <a:rPr lang="ja-JP" altLang="en-US" sz="2400">
                  <a:solidFill>
                    <a:srgbClr val="0000FF"/>
                  </a:solidFill>
                </a:rPr>
                <a:t>’</a:t>
              </a:r>
              <a:endParaRPr lang="en-US" sz="2400" dirty="0">
                <a:solidFill>
                  <a:srgbClr val="0000FF"/>
                </a:solidFill>
              </a:endParaRP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1219200" y="6248400"/>
            <a:ext cx="6096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贝尔曼方程</a:t>
            </a:r>
            <a:r>
              <a:rPr lang="en-US" altLang="zh-CN" sz="2800" b="1" dirty="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 </a:t>
            </a:r>
            <a:r>
              <a:rPr lang="en-US" altLang="ja-JP" sz="2800" b="1" dirty="0">
                <a:solidFill>
                  <a:srgbClr val="0000FF"/>
                </a:solidFill>
                <a:latin typeface="Calibri" panose="020F0502020204030204" pitchFamily="34" charset="0"/>
                <a:ea typeface="+mn-ea"/>
                <a:sym typeface="+mn-ea"/>
              </a:rPr>
              <a:t>Bellman equations</a:t>
            </a:r>
            <a:endParaRPr lang="en-US" altLang="zh-CN" sz="2800" b="1" dirty="0">
              <a:solidFill>
                <a:srgbClr val="FF0000"/>
              </a:solidFill>
              <a:latin typeface="黑体" panose="02010609060101010101" charset="-122"/>
              <a:ea typeface="黑体" panose="02010609060101010101" charset="-122"/>
              <a:cs typeface="Calibri" panose="020F0502020204030204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k=0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06001" y="5934670"/>
            <a:ext cx="2286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alibri" panose="020F0502020204030204"/>
                <a:cs typeface="Calibri" panose="020F0502020204030204"/>
              </a:rPr>
              <a:t>Noise = 0.2</a:t>
            </a:r>
          </a:p>
          <a:p>
            <a:r>
              <a:rPr lang="en-US" b="1" dirty="0">
                <a:latin typeface="Calibri" panose="020F0502020204030204"/>
                <a:cs typeface="Calibri" panose="020F0502020204030204"/>
              </a:rPr>
              <a:t>Discount = 0.9</a:t>
            </a:r>
          </a:p>
          <a:p>
            <a:r>
              <a:rPr lang="en-US" b="1" dirty="0">
                <a:latin typeface="Calibri" panose="020F0502020204030204"/>
                <a:cs typeface="Calibri" panose="020F0502020204030204"/>
              </a:rPr>
              <a:t>Living reward = 0</a:t>
            </a:r>
          </a:p>
        </p:txBody>
      </p:sp>
      <p:pic>
        <p:nvPicPr>
          <p:cNvPr id="3" name="Picture 2" descr="Screen Shot 2014-08-10 at 7.47.46 P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2791" y="1143000"/>
            <a:ext cx="6206418" cy="571500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266456" y="3295302"/>
            <a:ext cx="272943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value如何更新？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k=1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06001" y="5934670"/>
            <a:ext cx="2286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alibri" panose="020F0502020204030204"/>
                <a:cs typeface="Calibri" panose="020F0502020204030204"/>
              </a:rPr>
              <a:t>Noise = 0.2</a:t>
            </a:r>
          </a:p>
          <a:p>
            <a:r>
              <a:rPr lang="en-US" b="1" dirty="0">
                <a:latin typeface="Calibri" panose="020F0502020204030204"/>
                <a:cs typeface="Calibri" panose="020F0502020204030204"/>
              </a:rPr>
              <a:t>Discount = 0.9</a:t>
            </a:r>
          </a:p>
          <a:p>
            <a:r>
              <a:rPr lang="en-US" b="1" dirty="0">
                <a:latin typeface="Calibri" panose="020F0502020204030204"/>
                <a:cs typeface="Calibri" panose="020F0502020204030204"/>
              </a:rPr>
              <a:t>Living reward = 0</a:t>
            </a:r>
          </a:p>
        </p:txBody>
      </p:sp>
      <p:pic>
        <p:nvPicPr>
          <p:cNvPr id="3" name="Picture 2" descr="Screen Shot 2014-08-10 at 7.47.51 P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7545" y="1143000"/>
            <a:ext cx="617691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creen Shot 2014-08-10 at 7.47.56 PM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2399" y="914400"/>
            <a:ext cx="6207201" cy="5715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/>
              <a:t>                                k=2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06001" y="5934670"/>
            <a:ext cx="2286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alibri" panose="020F0502020204030204"/>
                <a:cs typeface="Calibri" panose="020F0502020204030204"/>
              </a:rPr>
              <a:t>Noise = 0.2</a:t>
            </a:r>
          </a:p>
          <a:p>
            <a:r>
              <a:rPr lang="en-US" b="1" dirty="0">
                <a:latin typeface="Calibri" panose="020F0502020204030204"/>
                <a:cs typeface="Calibri" panose="020F0502020204030204"/>
              </a:rPr>
              <a:t>Discount = 0.9</a:t>
            </a:r>
          </a:p>
          <a:p>
            <a:r>
              <a:rPr lang="en-US" b="1" dirty="0">
                <a:latin typeface="Calibri" panose="020F0502020204030204"/>
                <a:cs typeface="Calibri" panose="020F0502020204030204"/>
              </a:rPr>
              <a:t>Living reward = 0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6096000" y="-61976"/>
            <a:ext cx="624611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→向右 </a:t>
            </a:r>
            <a:r>
              <a:rPr lang="en-US" altLang="zh-CN" b="1" dirty="0"/>
              <a:t>0.8*(0+0.9*1)+0.1*(0+0.9*0)+0.1*(0+0.9*0)=0.72</a:t>
            </a:r>
          </a:p>
          <a:p>
            <a:r>
              <a:rPr lang="en-US" altLang="zh-CN" b="1" dirty="0"/>
              <a:t>    </a:t>
            </a:r>
            <a:r>
              <a:rPr lang="zh-CN" altLang="en-US" b="1" dirty="0"/>
              <a:t>向上 </a:t>
            </a:r>
            <a:r>
              <a:rPr lang="en-US" altLang="zh-CN" b="1" dirty="0"/>
              <a:t>0.8*(0+0.9*0)+0.1*(0+0.9*0)+0.1*(0+0.9*1)=0.09</a:t>
            </a:r>
            <a:br>
              <a:rPr lang="en-US" altLang="zh-CN" b="1" dirty="0"/>
            </a:br>
            <a:r>
              <a:rPr lang="en-US" altLang="zh-CN" b="1" dirty="0"/>
              <a:t>    </a:t>
            </a:r>
            <a:r>
              <a:rPr lang="zh-CN" altLang="en-US" b="1" dirty="0"/>
              <a:t>向下 </a:t>
            </a:r>
            <a:r>
              <a:rPr lang="en-US" altLang="zh-CN" b="1" dirty="0"/>
              <a:t>0.8*(0+0.9*0)+0.1*(0+0.9*1)+0.1*(0+0.9*0)=0.09</a:t>
            </a:r>
            <a:br>
              <a:rPr lang="en-US" altLang="zh-CN" b="1" dirty="0"/>
            </a:br>
            <a:r>
              <a:rPr lang="en-US" altLang="zh-CN" b="1" dirty="0"/>
              <a:t>    </a:t>
            </a:r>
            <a:r>
              <a:rPr lang="zh-CN" altLang="en-US" b="1" dirty="0"/>
              <a:t>向左 </a:t>
            </a:r>
            <a:r>
              <a:rPr lang="en-US" altLang="zh-CN" b="1" dirty="0"/>
              <a:t>0.8*(0+0.9*0)+0.1*(0+0.9*0)+0.1*(0+0.9*0)=0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F8AEA2D-E76D-B04F-C37F-7213742567C5}"/>
              </a:ext>
            </a:extLst>
          </p:cNvPr>
          <p:cNvSpPr txBox="1"/>
          <p:nvPr/>
        </p:nvSpPr>
        <p:spPr>
          <a:xfrm>
            <a:off x="-1" y="2057400"/>
            <a:ext cx="2992399" cy="12894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rgbClr val="0000FF"/>
                </a:solidFill>
              </a:rPr>
              <a:t>1</a:t>
            </a:r>
            <a:r>
              <a:rPr lang="zh-CN" altLang="en-US" b="1" dirty="0">
                <a:solidFill>
                  <a:srgbClr val="0000FF"/>
                </a:solidFill>
              </a:rPr>
              <a:t>、计算每个</a:t>
            </a:r>
            <a:r>
              <a:rPr lang="en-US" altLang="zh-CN" b="1" dirty="0">
                <a:solidFill>
                  <a:srgbClr val="0000FF"/>
                </a:solidFill>
              </a:rPr>
              <a:t>Q(s, a)</a:t>
            </a:r>
          </a:p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rgbClr val="0000FF"/>
                </a:solidFill>
              </a:rPr>
              <a:t>a: </a:t>
            </a:r>
            <a:r>
              <a:rPr lang="zh-CN" altLang="en-US" b="1" dirty="0">
                <a:solidFill>
                  <a:srgbClr val="0000FF"/>
                </a:solidFill>
              </a:rPr>
              <a:t>向上、向下、向左、向右</a:t>
            </a:r>
            <a:endParaRPr lang="en-US" altLang="zh-CN" b="1" dirty="0">
              <a:solidFill>
                <a:srgbClr val="0000FF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rgbClr val="0000FF"/>
                </a:solidFill>
              </a:rPr>
              <a:t>2</a:t>
            </a:r>
            <a:r>
              <a:rPr lang="zh-CN" altLang="en-US" b="1" dirty="0">
                <a:solidFill>
                  <a:srgbClr val="0000FF"/>
                </a:solidFill>
              </a:rPr>
              <a:t>、再取</a:t>
            </a:r>
            <a:r>
              <a:rPr lang="en-US" altLang="zh-CN" b="1" dirty="0">
                <a:solidFill>
                  <a:srgbClr val="0000FF"/>
                </a:solidFill>
              </a:rPr>
              <a:t>max</a:t>
            </a:r>
            <a:endParaRPr lang="zh-CN" altLang="en-US" b="1" dirty="0">
              <a:solidFill>
                <a:srgbClr val="0000FF"/>
              </a:solidFill>
            </a:endParaRPr>
          </a:p>
        </p:txBody>
      </p:sp>
      <p:pic>
        <p:nvPicPr>
          <p:cNvPr id="7" name="Picture 8" descr="txp_fig">
            <a:extLst>
              <a:ext uri="{FF2B5EF4-FFF2-40B4-BE49-F238E27FC236}">
                <a16:creationId xmlns:a16="http://schemas.microsoft.com/office/drawing/2014/main" id="{988B9E5B-9D0B-419F-F427-259B304E975D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 cstate="print"/>
          <a:stretch>
            <a:fillRect/>
          </a:stretch>
        </p:blipFill>
        <p:spPr bwMode="auto">
          <a:xfrm>
            <a:off x="0" y="6167279"/>
            <a:ext cx="7834776" cy="690721"/>
          </a:xfrm>
          <a:prstGeom prst="rect">
            <a:avLst/>
          </a:prstGeom>
          <a:noFill/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/>
              <a:t>                    k=3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06001" y="5934670"/>
            <a:ext cx="2286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alibri" panose="020F0502020204030204"/>
                <a:cs typeface="Calibri" panose="020F0502020204030204"/>
              </a:rPr>
              <a:t>Noise = 0.2</a:t>
            </a:r>
          </a:p>
          <a:p>
            <a:r>
              <a:rPr lang="en-US" b="1" dirty="0">
                <a:latin typeface="Calibri" panose="020F0502020204030204"/>
                <a:cs typeface="Calibri" panose="020F0502020204030204"/>
              </a:rPr>
              <a:t>Discount = 0.9</a:t>
            </a:r>
          </a:p>
          <a:p>
            <a:r>
              <a:rPr lang="en-US" b="1" dirty="0">
                <a:latin typeface="Calibri" panose="020F0502020204030204"/>
                <a:cs typeface="Calibri" panose="020F0502020204030204"/>
              </a:rPr>
              <a:t>Living reward = 0</a:t>
            </a:r>
          </a:p>
        </p:txBody>
      </p:sp>
      <p:pic>
        <p:nvPicPr>
          <p:cNvPr id="3" name="Picture 2" descr="Screen Shot 2014-08-10 at 7.48.00 PM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2677" y="1154566"/>
            <a:ext cx="6177643" cy="571500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6096000" y="-61976"/>
            <a:ext cx="624611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→向右 </a:t>
            </a:r>
            <a:r>
              <a:rPr lang="en-US" altLang="zh-CN" b="1" dirty="0"/>
              <a:t>0.8*(0+0.9*1)+0.1*(0+0.9*0.72)+0.1*(0+0.9*0)=0.78</a:t>
            </a:r>
          </a:p>
          <a:p>
            <a:r>
              <a:rPr lang="en-US" altLang="zh-CN" b="1" dirty="0"/>
              <a:t>    </a:t>
            </a:r>
            <a:r>
              <a:rPr lang="zh-CN" altLang="en-US" b="1" dirty="0"/>
              <a:t>向上 </a:t>
            </a:r>
            <a:r>
              <a:rPr lang="en-US" altLang="zh-CN" b="1" dirty="0"/>
              <a:t>0.8*(0+0.9*0.72)+0.1*(0+0.9*0)+0.1*(0+0.9*1)=0.61</a:t>
            </a:r>
            <a:br>
              <a:rPr lang="en-US" altLang="zh-CN" b="1" dirty="0"/>
            </a:br>
            <a:r>
              <a:rPr lang="en-US" altLang="zh-CN" b="1" dirty="0"/>
              <a:t>    </a:t>
            </a:r>
            <a:r>
              <a:rPr lang="zh-CN" altLang="en-US" b="1" dirty="0"/>
              <a:t>向下 </a:t>
            </a:r>
            <a:r>
              <a:rPr lang="en-US" altLang="zh-CN" b="1" dirty="0"/>
              <a:t>0.8*(0+0.9*0)+0.1*(0+0.9*1)+0.1*(0+0.9*0)=0.09</a:t>
            </a:r>
            <a:br>
              <a:rPr lang="en-US" altLang="zh-CN" b="1" dirty="0"/>
            </a:br>
            <a:r>
              <a:rPr lang="en-US" altLang="zh-CN" b="1" dirty="0"/>
              <a:t>    </a:t>
            </a:r>
            <a:r>
              <a:rPr lang="zh-CN" altLang="en-US" b="1" dirty="0"/>
              <a:t>向左 </a:t>
            </a:r>
            <a:r>
              <a:rPr lang="en-US" altLang="zh-CN" b="1" dirty="0"/>
              <a:t>0.8*(0+0.9*0)+0.1*(0+0.9*0)+0.1*(0+0.9*0.72)=0.06</a:t>
            </a:r>
          </a:p>
        </p:txBody>
      </p:sp>
      <p:pic>
        <p:nvPicPr>
          <p:cNvPr id="6" name="Picture 8" descr="txp_fig">
            <a:extLst>
              <a:ext uri="{FF2B5EF4-FFF2-40B4-BE49-F238E27FC236}">
                <a16:creationId xmlns:a16="http://schemas.microsoft.com/office/drawing/2014/main" id="{9D068E5D-36BA-733E-61D4-221474EAAFD3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 cstate="print"/>
          <a:stretch>
            <a:fillRect/>
          </a:stretch>
        </p:blipFill>
        <p:spPr bwMode="auto">
          <a:xfrm>
            <a:off x="76200" y="1117600"/>
            <a:ext cx="7834776" cy="690721"/>
          </a:xfrm>
          <a:prstGeom prst="rect">
            <a:avLst/>
          </a:prstGeom>
          <a:noFill/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7A3DD3-3D11-4DAC-A9D6-B446AD9F87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一．实验目的</a:t>
            </a:r>
            <a:r>
              <a:rPr lang="zh-CN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：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0219E9F-5D80-4F47-AACB-8114ACB8D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81798C-0F99-461B-869F-8FC2E08F7ABC}" type="slidenum">
              <a:rPr lang="en-US" smtClean="0"/>
              <a:pPr>
                <a:defRPr/>
              </a:pPr>
              <a:t>25</a:t>
            </a:fld>
            <a:endParaRPr 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30B0423-E395-D28E-AE6F-2A3B770EDC63}"/>
              </a:ext>
            </a:extLst>
          </p:cNvPr>
          <p:cNvSpPr txBox="1"/>
          <p:nvPr/>
        </p:nvSpPr>
        <p:spPr>
          <a:xfrm>
            <a:off x="152400" y="2979033"/>
            <a:ext cx="11582400" cy="6568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1780" indent="266700">
              <a:lnSpc>
                <a:spcPct val="150000"/>
              </a:lnSpc>
            </a:pPr>
            <a:r>
              <a:rPr lang="zh-CN" altLang="zh-CN" sz="2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实验使用</a:t>
            </a:r>
            <a:r>
              <a:rPr lang="en-US" altLang="zh-CN" sz="2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Q</a:t>
            </a:r>
            <a:r>
              <a:rPr lang="zh-CN" altLang="zh-CN" sz="2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表格方法解决迷宫寻路问题，理解强化学习算法原理。</a:t>
            </a:r>
          </a:p>
        </p:txBody>
      </p:sp>
    </p:spTree>
    <p:extLst>
      <p:ext uri="{BB962C8B-B14F-4D97-AF65-F5344CB8AC3E}">
        <p14:creationId xmlns:p14="http://schemas.microsoft.com/office/powerpoint/2010/main" val="195726481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4CF23D-9C91-4113-8B8F-1197B09A19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二．实验原理： 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BB3E648-F904-417E-BBFA-6BE5FC9855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81798C-0F99-461B-869F-8FC2E08F7ABC}" type="slidenum">
              <a:rPr lang="en-US" smtClean="0"/>
              <a:pPr>
                <a:defRPr/>
              </a:pPr>
              <a:t>26</a:t>
            </a:fld>
            <a:endParaRPr 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BE760446-4CB6-9B40-0663-743731C433B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" y="7620"/>
            <a:ext cx="5410199" cy="2871131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43BE72E2-86F7-38AA-9465-A4693C2683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4800" y="2434808"/>
            <a:ext cx="8077200" cy="4404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816441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4CF23D-9C91-4113-8B8F-1197B09A19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二．实验原理： 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BB3E648-F904-417E-BBFA-6BE5FC9855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81798C-0F99-461B-869F-8FC2E08F7ABC}" type="slidenum">
              <a:rPr lang="en-US" smtClean="0"/>
              <a:pPr>
                <a:defRPr/>
              </a:pPr>
              <a:t>27</a:t>
            </a:fld>
            <a:endParaRPr 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57B643D-A9F9-AE77-EB61-C2720669F8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0" y="810222"/>
            <a:ext cx="8542826" cy="6038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675853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697430-19D0-F7BF-1D74-A5B8176D7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二．实验原理： </a:t>
            </a:r>
            <a:endParaRPr lang="zh-CN" altLang="en-US" dirty="0"/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9FA24E7A-4E4C-02E0-9C6F-C98FF2F5EE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7400" y="1068895"/>
            <a:ext cx="8616882" cy="5779446"/>
          </a:xfr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E4C0784-3989-3E31-95F4-10352B42B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81798C-0F99-461B-869F-8FC2E08F7ABC}" type="slidenum">
              <a:rPr lang="en-US" smtClean="0"/>
              <a:pPr>
                <a:defRPr/>
              </a:pPr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574154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B48477-8197-451D-B96C-51D61FF6D5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三．实验内容：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15B5EC1-1DDB-4C1E-9B1C-DA29A16E75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81798C-0F99-461B-869F-8FC2E08F7ABC}" type="slidenum">
              <a:rPr lang="en-US" smtClean="0"/>
              <a:pPr>
                <a:defRPr/>
              </a:pPr>
              <a:t>29</a:t>
            </a:fld>
            <a:endParaRPr lang="en-US" dirty="0"/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9533EF76-9B99-97F6-60FF-4876C5BF81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CN" sz="2800" b="1" kern="1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endParaRPr lang="en-US" altLang="zh-CN" sz="2800" b="1" kern="1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endParaRPr lang="en-US" altLang="zh-CN" sz="2800" b="1" kern="1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endParaRPr lang="en-US" altLang="zh-CN" sz="2800" b="1" kern="1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zh-CN" altLang="zh-CN" sz="2800" b="1" kern="1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阅读代码，补全代码中缺失的部分，完成迷宫实验。</a:t>
            </a:r>
            <a:endParaRPr lang="zh-CN" altLang="en-US" sz="2800" b="1" kern="1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4162610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B6F42C-BE70-4C42-BBC3-1683D83A6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四．实验要求：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DA5B11B-6690-4290-9951-D9FEBCD09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81798C-0F99-461B-869F-8FC2E08F7ABC}" type="slidenum">
              <a:rPr lang="en-US" smtClean="0"/>
              <a:pPr>
                <a:defRPr/>
              </a:pPr>
              <a:t>30</a:t>
            </a:fld>
            <a:endParaRPr lang="en-US" dirty="0"/>
          </a:p>
        </p:txBody>
      </p:sp>
      <p:pic>
        <p:nvPicPr>
          <p:cNvPr id="12" name="内容占位符 11">
            <a:extLst>
              <a:ext uri="{FF2B5EF4-FFF2-40B4-BE49-F238E27FC236}">
                <a16:creationId xmlns:a16="http://schemas.microsoft.com/office/drawing/2014/main" id="{7E4D6656-5AC9-4C6F-9B92-665444ED79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447800"/>
            <a:ext cx="10393225" cy="1124107"/>
          </a:xfrm>
        </p:spPr>
      </p:pic>
    </p:spTree>
    <p:extLst>
      <p:ext uri="{BB962C8B-B14F-4D97-AF65-F5344CB8AC3E}">
        <p14:creationId xmlns:p14="http://schemas.microsoft.com/office/powerpoint/2010/main" val="70639583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FAULTFONTSIZE" val="10"/>
  <p:tag name="DEFAULTWIDTH" val="385"/>
  <p:tag name="DEFAULTHEIGHT" val="28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475*202"/>
  <p:tag name="TABLE_ENDDRAG_RECT" val="444*336*475*20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usepackage[usenames]{color}&#10;\def\argmax{\mathop{\rm arg\,max}}&#10;\begin{document}&#10;\[&#10;\textcolor{Blue}{V^*(s) = \max_a Q^*(s,a)}&#10;\]&#10;\end{document}&#10;"/>
  <p:tag name="FILENAME" val="txp_fig"/>
  <p:tag name="FORMAT" val="png16m"/>
  <p:tag name="RES" val="1200"/>
  <p:tag name="BLEND" val="0"/>
  <p:tag name="TRANSPARENT" val="0"/>
  <p:tag name="TBUG" val="0"/>
  <p:tag name="ALLOWFS" val="0"/>
  <p:tag name="ORIGWIDTH" val="205"/>
  <p:tag name="PICTUREFILESIZE" val="19269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usepackage[usenames]{color}&#10;\def\argmax{\mathop{\rm arg\,max}}&#10;\begin{document}&#10;\[&#10;\textcolor{Blue}{V^*(s) = \max_a \sum_{s'} T(s,a,s') \,\left[ R(s, a, s') + \gamma\, V^*(s')\right]}&#10;\]&#10;\end{document}&#10;"/>
  <p:tag name="FILENAME" val="txp_fig"/>
  <p:tag name="FORMAT" val="png16m"/>
  <p:tag name="RES" val="1200"/>
  <p:tag name="BLEND" val="0"/>
  <p:tag name="TRANSPARENT" val="0"/>
  <p:tag name="TBUG" val="0"/>
  <p:tag name="ALLOWFS" val="0"/>
  <p:tag name="ORIGWIDTH" val="463"/>
  <p:tag name="PICTUREFILESIZE" val="46392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usepackage[usenames]{color}&#10;\def\argmax{\mathop{\rm arg\,max}}&#10;\begin{document}&#10;\[&#10;\textcolor{OliveGreen}{Q^*(s,a) = \sum_{s'} T(s,a,s') \left[ R(s,a,s') + \gamma V^*(s') \right]}&#10;\]&#10;\end{document}&#10;"/>
  <p:tag name="FILENAME" val="txp_fig"/>
  <p:tag name="FORMAT" val="png16m"/>
  <p:tag name="RES" val="1200"/>
  <p:tag name="BLEND" val="0"/>
  <p:tag name="TRANSPARENT" val="0"/>
  <p:tag name="TBUG" val="0"/>
  <p:tag name="ALLOWFS" val="0"/>
  <p:tag name="ORIGWIDTH" val="431"/>
  <p:tag name="PICTUREFILESIZE" val="4323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usepackage[usenames]{color}&#10;\def\argmax{\mathop{\rm arg\,max}}&#10;\begin{document}&#10;\[&#10;\textcolor{Black}{V^{\pi_i}_{k+1}(s) \leftarrow \sum_{s'} T(s,\pi_i(s),s') \,\left[ R(s, \pi_i(s), s') + \gamma\, V^{\pi_i}_k(s')\right]}&#10;\]&#10;\end{document}&#10;"/>
  <p:tag name="FILENAME" val="txp_fig"/>
  <p:tag name="FORMAT" val="png16m"/>
  <p:tag name="RES" val="1200"/>
  <p:tag name="BLEND" val="0"/>
  <p:tag name="TRANSPARENT" val="0"/>
  <p:tag name="TBUG" val="0"/>
  <p:tag name="ALLOWFS" val="0"/>
  <p:tag name="ORIGWIDTH" val="522"/>
  <p:tag name="PICTUREFILESIZE" val="51486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usepackage[usenames]{color}&#10;\def\argmax{\mathop{\rm arg\,max}}&#10;\begin{document}&#10;\[&#10;\textcolor{Black}{V^{\pi_i}_{k+1}(s) \leftarrow \sum_{s'} T(s,\pi_i(s),s') \,\left[ R(s, \pi_i(s), s') + \gamma\, V^{\pi_i}_k(s')\right]}&#10;\]&#10;\end{document}&#10;"/>
  <p:tag name="FILENAME" val="txp_fig"/>
  <p:tag name="FORMAT" val="png16m"/>
  <p:tag name="RES" val="1200"/>
  <p:tag name="BLEND" val="0"/>
  <p:tag name="TRANSPARENT" val="0"/>
  <p:tag name="TBUG" val="0"/>
  <p:tag name="ALLOWFS" val="0"/>
  <p:tag name="ORIGWIDTH" val="522"/>
  <p:tag name="PICTUREFILESIZE" val="51486"/>
</p:tagLst>
</file>

<file path=ppt/theme/theme1.xml><?xml version="1.0" encoding="utf-8"?>
<a:theme xmlns:a="http://schemas.openxmlformats.org/drawingml/2006/main" name="dan-berkeley-nlp-v1">
  <a:themeElements>
    <a:clrScheme name="dan-berkeley-nlp-v1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an-berkeley-nlp-v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an-berkeley-nlp-v1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n-berkeley-nlp-v1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n-berkeley-nlp-v1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n-berkeley-nlp-v1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n-berkeley-nlp-v1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n-berkeley-nlp-v1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an-berkeley-nlp-v1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an-berkeley-nlp-v1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an-berkeley-nlp-v1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an-berkeley-nlp-v1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an-berkeley-nlp-v1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an-berkeley-nlp-v1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FA12 cs188 lecture 3 -- a-star search</Template>
  <TotalTime>43580</TotalTime>
  <Words>1582</Words>
  <Application>Microsoft Office PowerPoint</Application>
  <PresentationFormat>宽屏</PresentationFormat>
  <Paragraphs>208</Paragraphs>
  <Slides>30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30</vt:i4>
      </vt:variant>
    </vt:vector>
  </HeadingPairs>
  <TitlesOfParts>
    <vt:vector size="42" baseType="lpstr">
      <vt:lpstr>Noto Sans Symbols</vt:lpstr>
      <vt:lpstr>黑体</vt:lpstr>
      <vt:lpstr>华文楷体</vt:lpstr>
      <vt:lpstr>宋体</vt:lpstr>
      <vt:lpstr>微软雅黑</vt:lpstr>
      <vt:lpstr>Arial</vt:lpstr>
      <vt:lpstr>Calibri</vt:lpstr>
      <vt:lpstr>Cambria Math</vt:lpstr>
      <vt:lpstr>Helvetica</vt:lpstr>
      <vt:lpstr>Times New Roman</vt:lpstr>
      <vt:lpstr>Wingdings</vt:lpstr>
      <vt:lpstr>dan-berkeley-nlp-v1</vt:lpstr>
      <vt:lpstr>PowerPoint 演示文稿</vt:lpstr>
      <vt:lpstr>A* Search/ A* 搜索 </vt:lpstr>
      <vt:lpstr>Admissible Heuristics/可容许的启发式</vt:lpstr>
      <vt:lpstr>PowerPoint 演示文稿</vt:lpstr>
      <vt:lpstr>8数码问题 I</vt:lpstr>
      <vt:lpstr>8数码问题 II</vt:lpstr>
      <vt:lpstr>一．实验目的：</vt:lpstr>
      <vt:lpstr>二．实验原理： </vt:lpstr>
      <vt:lpstr>三．实验内容：</vt:lpstr>
      <vt:lpstr>四．实验要求：</vt:lpstr>
      <vt:lpstr>PowerPoint 演示文稿</vt:lpstr>
      <vt:lpstr>ID3算法</vt:lpstr>
      <vt:lpstr>决策树学习基本算法</vt:lpstr>
      <vt:lpstr>一．实验目的：</vt:lpstr>
      <vt:lpstr>二．实验原理：</vt:lpstr>
      <vt:lpstr>二．实验原理：</vt:lpstr>
      <vt:lpstr>三．实验内容：</vt:lpstr>
      <vt:lpstr>四．实验要求：</vt:lpstr>
      <vt:lpstr>PowerPoint 演示文稿</vt:lpstr>
      <vt:lpstr>状态的价值</vt:lpstr>
      <vt:lpstr>k=0</vt:lpstr>
      <vt:lpstr>k=1</vt:lpstr>
      <vt:lpstr>                                k=2</vt:lpstr>
      <vt:lpstr>                    k=3</vt:lpstr>
      <vt:lpstr>一．实验目的：</vt:lpstr>
      <vt:lpstr>二．实验原理： </vt:lpstr>
      <vt:lpstr>二．实验原理： </vt:lpstr>
      <vt:lpstr>二．实验原理： </vt:lpstr>
      <vt:lpstr>三．实验内容：</vt:lpstr>
      <vt:lpstr>四．实验要求：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 294-5: Statistical Natural Language Processing</dc:title>
  <dc:creator>Preferred Customer</dc:creator>
  <cp:lastModifiedBy>wang</cp:lastModifiedBy>
  <cp:revision>2461</cp:revision>
  <cp:lastPrinted>2014-02-06T19:31:47Z</cp:lastPrinted>
  <dcterms:created xsi:type="dcterms:W3CDTF">2004-08-27T04:16:05Z</dcterms:created>
  <dcterms:modified xsi:type="dcterms:W3CDTF">2025-11-13T01:56:08Z</dcterms:modified>
</cp:coreProperties>
</file>