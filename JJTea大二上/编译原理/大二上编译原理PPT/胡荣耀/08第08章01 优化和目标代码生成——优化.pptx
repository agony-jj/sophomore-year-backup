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6.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7.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8.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9.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10.xml" ContentType="application/vnd.openxmlformats-officedocument.theme+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11.xml" ContentType="application/vnd.openxmlformats-officedocument.theme+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12.xml" ContentType="application/vnd.openxmlformats-officedocument.theme+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13.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theme/theme14.xml" ContentType="application/vnd.openxmlformats-officedocument.theme+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theme/theme15.xml" ContentType="application/vnd.openxmlformats-officedocument.theme+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theme/theme16.xml" ContentType="application/vnd.openxmlformats-officedocument.theme+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theme/theme17.xml" ContentType="application/vnd.openxmlformats-officedocument.theme+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theme/theme18.xml" ContentType="application/vnd.openxmlformats-officedocument.theme+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theme/theme19.xml" ContentType="application/vnd.openxmlformats-officedocument.theme+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theme/theme20.xml" ContentType="application/vnd.openxmlformats-officedocument.theme+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theme/theme21.xml" ContentType="application/vnd.openxmlformats-officedocument.theme+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theme/theme22.xml" ContentType="application/vnd.openxmlformats-officedocument.theme+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theme/theme23.xml" ContentType="application/vnd.openxmlformats-officedocument.theme+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theme/theme24.xml" ContentType="application/vnd.openxmlformats-officedocument.theme+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theme/theme25.xml" ContentType="application/vnd.openxmlformats-officedocument.theme+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theme/theme26.xml" ContentType="application/vnd.openxmlformats-officedocument.theme+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84" r:id="rId3"/>
    <p:sldMasterId id="2147483701" r:id="rId4"/>
    <p:sldMasterId id="2147483718" r:id="rId5"/>
    <p:sldMasterId id="2147483735" r:id="rId6"/>
    <p:sldMasterId id="2147483752" r:id="rId7"/>
    <p:sldMasterId id="2147483769" r:id="rId8"/>
    <p:sldMasterId id="2147483786" r:id="rId9"/>
    <p:sldMasterId id="2147483803" r:id="rId10"/>
    <p:sldMasterId id="2147483820" r:id="rId11"/>
    <p:sldMasterId id="2147483837" r:id="rId12"/>
    <p:sldMasterId id="2147483871" r:id="rId13"/>
    <p:sldMasterId id="2147483888" r:id="rId14"/>
    <p:sldMasterId id="2147483905" r:id="rId15"/>
    <p:sldMasterId id="2147483922" r:id="rId16"/>
    <p:sldMasterId id="2147483939" r:id="rId17"/>
    <p:sldMasterId id="2147483956" r:id="rId18"/>
    <p:sldMasterId id="2147483973" r:id="rId19"/>
    <p:sldMasterId id="2147483990" r:id="rId20"/>
    <p:sldMasterId id="2147484007" r:id="rId21"/>
    <p:sldMasterId id="2147484024" r:id="rId22"/>
    <p:sldMasterId id="2147484041" r:id="rId23"/>
    <p:sldMasterId id="2147484058" r:id="rId24"/>
    <p:sldMasterId id="2147484075" r:id="rId25"/>
    <p:sldMasterId id="2147484092" r:id="rId26"/>
    <p:sldMasterId id="2147484126" r:id="rId27"/>
  </p:sldMasterIdLst>
  <p:notesMasterIdLst>
    <p:notesMasterId r:id="rId139"/>
  </p:notesMasterIdLst>
  <p:handoutMasterIdLst>
    <p:handoutMasterId r:id="rId140"/>
  </p:handoutMasterIdLst>
  <p:sldIdLst>
    <p:sldId id="273" r:id="rId28"/>
    <p:sldId id="1303" r:id="rId29"/>
    <p:sldId id="663" r:id="rId30"/>
    <p:sldId id="664" r:id="rId31"/>
    <p:sldId id="665" r:id="rId32"/>
    <p:sldId id="666" r:id="rId33"/>
    <p:sldId id="667" r:id="rId34"/>
    <p:sldId id="668" r:id="rId35"/>
    <p:sldId id="669" r:id="rId36"/>
    <p:sldId id="670" r:id="rId37"/>
    <p:sldId id="671" r:id="rId38"/>
    <p:sldId id="672" r:id="rId39"/>
    <p:sldId id="673" r:id="rId40"/>
    <p:sldId id="674" r:id="rId41"/>
    <p:sldId id="675" r:id="rId42"/>
    <p:sldId id="676" r:id="rId43"/>
    <p:sldId id="677" r:id="rId44"/>
    <p:sldId id="678" r:id="rId45"/>
    <p:sldId id="679" r:id="rId46"/>
    <p:sldId id="680" r:id="rId47"/>
    <p:sldId id="681" r:id="rId48"/>
    <p:sldId id="682" r:id="rId49"/>
    <p:sldId id="683" r:id="rId50"/>
    <p:sldId id="684" r:id="rId51"/>
    <p:sldId id="685" r:id="rId52"/>
    <p:sldId id="686" r:id="rId53"/>
    <p:sldId id="687" r:id="rId54"/>
    <p:sldId id="688" r:id="rId55"/>
    <p:sldId id="689" r:id="rId56"/>
    <p:sldId id="690" r:id="rId57"/>
    <p:sldId id="691" r:id="rId58"/>
    <p:sldId id="692" r:id="rId59"/>
    <p:sldId id="693" r:id="rId60"/>
    <p:sldId id="694" r:id="rId61"/>
    <p:sldId id="695" r:id="rId62"/>
    <p:sldId id="696" r:id="rId63"/>
    <p:sldId id="697" r:id="rId64"/>
    <p:sldId id="698" r:id="rId65"/>
    <p:sldId id="699" r:id="rId66"/>
    <p:sldId id="700" r:id="rId67"/>
    <p:sldId id="701" r:id="rId68"/>
    <p:sldId id="702" r:id="rId69"/>
    <p:sldId id="703" r:id="rId70"/>
    <p:sldId id="704" r:id="rId71"/>
    <p:sldId id="705" r:id="rId72"/>
    <p:sldId id="706" r:id="rId73"/>
    <p:sldId id="707" r:id="rId74"/>
    <p:sldId id="708" r:id="rId75"/>
    <p:sldId id="709" r:id="rId76"/>
    <p:sldId id="710" r:id="rId77"/>
    <p:sldId id="712" r:id="rId78"/>
    <p:sldId id="711" r:id="rId79"/>
    <p:sldId id="662" r:id="rId80"/>
    <p:sldId id="714" r:id="rId81"/>
    <p:sldId id="715" r:id="rId82"/>
    <p:sldId id="1304" r:id="rId83"/>
    <p:sldId id="716" r:id="rId84"/>
    <p:sldId id="717" r:id="rId85"/>
    <p:sldId id="718" r:id="rId86"/>
    <p:sldId id="719" r:id="rId87"/>
    <p:sldId id="720" r:id="rId88"/>
    <p:sldId id="721" r:id="rId89"/>
    <p:sldId id="722" r:id="rId90"/>
    <p:sldId id="723" r:id="rId91"/>
    <p:sldId id="738" r:id="rId92"/>
    <p:sldId id="740" r:id="rId93"/>
    <p:sldId id="741" r:id="rId94"/>
    <p:sldId id="742" r:id="rId95"/>
    <p:sldId id="743" r:id="rId96"/>
    <p:sldId id="744" r:id="rId97"/>
    <p:sldId id="745" r:id="rId98"/>
    <p:sldId id="746" r:id="rId99"/>
    <p:sldId id="747" r:id="rId100"/>
    <p:sldId id="748" r:id="rId101"/>
    <p:sldId id="749" r:id="rId102"/>
    <p:sldId id="751" r:id="rId103"/>
    <p:sldId id="752" r:id="rId104"/>
    <p:sldId id="753" r:id="rId105"/>
    <p:sldId id="754" r:id="rId106"/>
    <p:sldId id="739" r:id="rId107"/>
    <p:sldId id="758" r:id="rId108"/>
    <p:sldId id="348" r:id="rId109"/>
    <p:sldId id="350" r:id="rId110"/>
    <p:sldId id="760" r:id="rId111"/>
    <p:sldId id="353" r:id="rId112"/>
    <p:sldId id="761" r:id="rId113"/>
    <p:sldId id="762" r:id="rId114"/>
    <p:sldId id="763" r:id="rId115"/>
    <p:sldId id="764" r:id="rId116"/>
    <p:sldId id="362" r:id="rId117"/>
    <p:sldId id="765" r:id="rId118"/>
    <p:sldId id="368" r:id="rId119"/>
    <p:sldId id="369" r:id="rId120"/>
    <p:sldId id="766" r:id="rId121"/>
    <p:sldId id="767" r:id="rId122"/>
    <p:sldId id="768" r:id="rId123"/>
    <p:sldId id="769" r:id="rId124"/>
    <p:sldId id="1305" r:id="rId125"/>
    <p:sldId id="773" r:id="rId126"/>
    <p:sldId id="774" r:id="rId127"/>
    <p:sldId id="775" r:id="rId128"/>
    <p:sldId id="776" r:id="rId129"/>
    <p:sldId id="777" r:id="rId130"/>
    <p:sldId id="778" r:id="rId131"/>
    <p:sldId id="779" r:id="rId132"/>
    <p:sldId id="781" r:id="rId133"/>
    <p:sldId id="780" r:id="rId134"/>
    <p:sldId id="1306" r:id="rId135"/>
    <p:sldId id="782" r:id="rId136"/>
    <p:sldId id="783" r:id="rId137"/>
    <p:sldId id="271" r:id="rId138"/>
  </p:sldIdLst>
  <p:sldSz cx="10080625" cy="7559675"/>
  <p:notesSz cx="6858000" cy="9144000"/>
  <p:defaultTextStyle>
    <a:defPPr>
      <a:defRPr lang="en-GB"/>
    </a:defPPr>
    <a:lvl1pPr marL="0" lvl="0" indent="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9pPr>
  </p:defaultTextStyle>
  <p:extLst>
    <p:ext uri="{EFAFB233-063F-42B5-8137-9DF3F51BA10A}">
      <p15:sldGuideLst xmlns:p15="http://schemas.microsoft.com/office/powerpoint/2012/main">
        <p15:guide id="1" orient="horz" pos="205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CC"/>
    <a:srgbClr val="CCFFFF"/>
    <a:srgbClr val="FF3300"/>
    <a:srgbClr val="FFFF99"/>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28" autoAdjust="0"/>
    <p:restoredTop sz="63012" autoAdjust="0"/>
  </p:normalViewPr>
  <p:slideViewPr>
    <p:cSldViewPr showGuides="1">
      <p:cViewPr varScale="1">
        <p:scale>
          <a:sx n="65" d="100"/>
          <a:sy n="65" d="100"/>
        </p:scale>
        <p:origin x="2670" y="78"/>
      </p:cViewPr>
      <p:guideLst>
        <p:guide orient="horz" pos="2058"/>
        <p:guide pos="2880"/>
      </p:guideLst>
    </p:cSldViewPr>
  </p:slideViewPr>
  <p:notesTextViewPr>
    <p:cViewPr>
      <p:scale>
        <a:sx n="1" d="1"/>
        <a:sy n="1" d="1"/>
      </p:scale>
      <p:origin x="0" y="0"/>
    </p:cViewPr>
  </p:notesTextViewPr>
  <p:gridSpacing cx="45003" cy="45003"/>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117" Type="http://schemas.openxmlformats.org/officeDocument/2006/relationships/slide" Target="slides/slide90.xml"/><Relationship Id="rId21" Type="http://schemas.openxmlformats.org/officeDocument/2006/relationships/slideMaster" Target="slideMasters/slideMaster21.xml"/><Relationship Id="rId42" Type="http://schemas.openxmlformats.org/officeDocument/2006/relationships/slide" Target="slides/slide15.xml"/><Relationship Id="rId47" Type="http://schemas.openxmlformats.org/officeDocument/2006/relationships/slide" Target="slides/slide20.xml"/><Relationship Id="rId63" Type="http://schemas.openxmlformats.org/officeDocument/2006/relationships/slide" Target="slides/slide36.xml"/><Relationship Id="rId68" Type="http://schemas.openxmlformats.org/officeDocument/2006/relationships/slide" Target="slides/slide41.xml"/><Relationship Id="rId84" Type="http://schemas.openxmlformats.org/officeDocument/2006/relationships/slide" Target="slides/slide57.xml"/><Relationship Id="rId89" Type="http://schemas.openxmlformats.org/officeDocument/2006/relationships/slide" Target="slides/slide62.xml"/><Relationship Id="rId112" Type="http://schemas.openxmlformats.org/officeDocument/2006/relationships/slide" Target="slides/slide85.xml"/><Relationship Id="rId133" Type="http://schemas.openxmlformats.org/officeDocument/2006/relationships/slide" Target="slides/slide106.xml"/><Relationship Id="rId138" Type="http://schemas.openxmlformats.org/officeDocument/2006/relationships/slide" Target="slides/slide111.xml"/><Relationship Id="rId16" Type="http://schemas.openxmlformats.org/officeDocument/2006/relationships/slideMaster" Target="slideMasters/slideMaster16.xml"/><Relationship Id="rId107" Type="http://schemas.openxmlformats.org/officeDocument/2006/relationships/slide" Target="slides/slide80.xml"/><Relationship Id="rId11" Type="http://schemas.openxmlformats.org/officeDocument/2006/relationships/slideMaster" Target="slideMasters/slideMaster11.xml"/><Relationship Id="rId32" Type="http://schemas.openxmlformats.org/officeDocument/2006/relationships/slide" Target="slides/slide5.xml"/><Relationship Id="rId37" Type="http://schemas.openxmlformats.org/officeDocument/2006/relationships/slide" Target="slides/slide10.xml"/><Relationship Id="rId53" Type="http://schemas.openxmlformats.org/officeDocument/2006/relationships/slide" Target="slides/slide26.xml"/><Relationship Id="rId58" Type="http://schemas.openxmlformats.org/officeDocument/2006/relationships/slide" Target="slides/slide31.xml"/><Relationship Id="rId74" Type="http://schemas.openxmlformats.org/officeDocument/2006/relationships/slide" Target="slides/slide47.xml"/><Relationship Id="rId79" Type="http://schemas.openxmlformats.org/officeDocument/2006/relationships/slide" Target="slides/slide52.xml"/><Relationship Id="rId102" Type="http://schemas.openxmlformats.org/officeDocument/2006/relationships/slide" Target="slides/slide75.xml"/><Relationship Id="rId123" Type="http://schemas.openxmlformats.org/officeDocument/2006/relationships/slide" Target="slides/slide96.xml"/><Relationship Id="rId128" Type="http://schemas.openxmlformats.org/officeDocument/2006/relationships/slide" Target="slides/slide101.xml"/><Relationship Id="rId144" Type="http://schemas.openxmlformats.org/officeDocument/2006/relationships/tableStyles" Target="tableStyles.xml"/><Relationship Id="rId5" Type="http://schemas.openxmlformats.org/officeDocument/2006/relationships/slideMaster" Target="slideMasters/slideMaster5.xml"/><Relationship Id="rId90" Type="http://schemas.openxmlformats.org/officeDocument/2006/relationships/slide" Target="slides/slide63.xml"/><Relationship Id="rId95" Type="http://schemas.openxmlformats.org/officeDocument/2006/relationships/slide" Target="slides/slide68.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 Target="slides/slide16.xml"/><Relationship Id="rId48" Type="http://schemas.openxmlformats.org/officeDocument/2006/relationships/slide" Target="slides/slide21.xml"/><Relationship Id="rId64" Type="http://schemas.openxmlformats.org/officeDocument/2006/relationships/slide" Target="slides/slide37.xml"/><Relationship Id="rId69" Type="http://schemas.openxmlformats.org/officeDocument/2006/relationships/slide" Target="slides/slide42.xml"/><Relationship Id="rId113" Type="http://schemas.openxmlformats.org/officeDocument/2006/relationships/slide" Target="slides/slide86.xml"/><Relationship Id="rId118" Type="http://schemas.openxmlformats.org/officeDocument/2006/relationships/slide" Target="slides/slide91.xml"/><Relationship Id="rId134" Type="http://schemas.openxmlformats.org/officeDocument/2006/relationships/slide" Target="slides/slide107.xml"/><Relationship Id="rId139"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slide" Target="slides/slide24.xml"/><Relationship Id="rId72" Type="http://schemas.openxmlformats.org/officeDocument/2006/relationships/slide" Target="slides/slide45.xml"/><Relationship Id="rId80" Type="http://schemas.openxmlformats.org/officeDocument/2006/relationships/slide" Target="slides/slide53.xml"/><Relationship Id="rId85" Type="http://schemas.openxmlformats.org/officeDocument/2006/relationships/slide" Target="slides/slide58.xml"/><Relationship Id="rId93" Type="http://schemas.openxmlformats.org/officeDocument/2006/relationships/slide" Target="slides/slide66.xml"/><Relationship Id="rId98" Type="http://schemas.openxmlformats.org/officeDocument/2006/relationships/slide" Target="slides/slide71.xml"/><Relationship Id="rId121" Type="http://schemas.openxmlformats.org/officeDocument/2006/relationships/slide" Target="slides/slide94.xml"/><Relationship Id="rId14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6.xml"/><Relationship Id="rId38" Type="http://schemas.openxmlformats.org/officeDocument/2006/relationships/slide" Target="slides/slide11.xml"/><Relationship Id="rId46" Type="http://schemas.openxmlformats.org/officeDocument/2006/relationships/slide" Target="slides/slide19.xml"/><Relationship Id="rId59" Type="http://schemas.openxmlformats.org/officeDocument/2006/relationships/slide" Target="slides/slide32.xml"/><Relationship Id="rId67" Type="http://schemas.openxmlformats.org/officeDocument/2006/relationships/slide" Target="slides/slide40.xml"/><Relationship Id="rId103" Type="http://schemas.openxmlformats.org/officeDocument/2006/relationships/slide" Target="slides/slide76.xml"/><Relationship Id="rId108" Type="http://schemas.openxmlformats.org/officeDocument/2006/relationships/slide" Target="slides/slide81.xml"/><Relationship Id="rId116" Type="http://schemas.openxmlformats.org/officeDocument/2006/relationships/slide" Target="slides/slide89.xml"/><Relationship Id="rId124" Type="http://schemas.openxmlformats.org/officeDocument/2006/relationships/slide" Target="slides/slide97.xml"/><Relationship Id="rId129" Type="http://schemas.openxmlformats.org/officeDocument/2006/relationships/slide" Target="slides/slide102.xml"/><Relationship Id="rId137" Type="http://schemas.openxmlformats.org/officeDocument/2006/relationships/slide" Target="slides/slide110.xml"/><Relationship Id="rId20" Type="http://schemas.openxmlformats.org/officeDocument/2006/relationships/slideMaster" Target="slideMasters/slideMaster20.xml"/><Relationship Id="rId41" Type="http://schemas.openxmlformats.org/officeDocument/2006/relationships/slide" Target="slides/slide14.xml"/><Relationship Id="rId54" Type="http://schemas.openxmlformats.org/officeDocument/2006/relationships/slide" Target="slides/slide27.xml"/><Relationship Id="rId62" Type="http://schemas.openxmlformats.org/officeDocument/2006/relationships/slide" Target="slides/slide35.xml"/><Relationship Id="rId70" Type="http://schemas.openxmlformats.org/officeDocument/2006/relationships/slide" Target="slides/slide43.xml"/><Relationship Id="rId75" Type="http://schemas.openxmlformats.org/officeDocument/2006/relationships/slide" Target="slides/slide48.xml"/><Relationship Id="rId83" Type="http://schemas.openxmlformats.org/officeDocument/2006/relationships/slide" Target="slides/slide56.xml"/><Relationship Id="rId88" Type="http://schemas.openxmlformats.org/officeDocument/2006/relationships/slide" Target="slides/slide61.xml"/><Relationship Id="rId91" Type="http://schemas.openxmlformats.org/officeDocument/2006/relationships/slide" Target="slides/slide64.xml"/><Relationship Id="rId96" Type="http://schemas.openxmlformats.org/officeDocument/2006/relationships/slide" Target="slides/slide69.xml"/><Relationship Id="rId111" Type="http://schemas.openxmlformats.org/officeDocument/2006/relationships/slide" Target="slides/slide84.xml"/><Relationship Id="rId132" Type="http://schemas.openxmlformats.org/officeDocument/2006/relationships/slide" Target="slides/slide105.xml"/><Relationship Id="rId14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1.xml"/><Relationship Id="rId36" Type="http://schemas.openxmlformats.org/officeDocument/2006/relationships/slide" Target="slides/slide9.xml"/><Relationship Id="rId49" Type="http://schemas.openxmlformats.org/officeDocument/2006/relationships/slide" Target="slides/slide22.xml"/><Relationship Id="rId57" Type="http://schemas.openxmlformats.org/officeDocument/2006/relationships/slide" Target="slides/slide30.xml"/><Relationship Id="rId106" Type="http://schemas.openxmlformats.org/officeDocument/2006/relationships/slide" Target="slides/slide79.xml"/><Relationship Id="rId114" Type="http://schemas.openxmlformats.org/officeDocument/2006/relationships/slide" Target="slides/slide87.xml"/><Relationship Id="rId119" Type="http://schemas.openxmlformats.org/officeDocument/2006/relationships/slide" Target="slides/slide92.xml"/><Relationship Id="rId127" Type="http://schemas.openxmlformats.org/officeDocument/2006/relationships/slide" Target="slides/slide100.xml"/><Relationship Id="rId10" Type="http://schemas.openxmlformats.org/officeDocument/2006/relationships/slideMaster" Target="slideMasters/slideMaster10.xml"/><Relationship Id="rId31" Type="http://schemas.openxmlformats.org/officeDocument/2006/relationships/slide" Target="slides/slide4.xml"/><Relationship Id="rId44" Type="http://schemas.openxmlformats.org/officeDocument/2006/relationships/slide" Target="slides/slide17.xml"/><Relationship Id="rId52" Type="http://schemas.openxmlformats.org/officeDocument/2006/relationships/slide" Target="slides/slide25.xml"/><Relationship Id="rId60" Type="http://schemas.openxmlformats.org/officeDocument/2006/relationships/slide" Target="slides/slide33.xml"/><Relationship Id="rId65" Type="http://schemas.openxmlformats.org/officeDocument/2006/relationships/slide" Target="slides/slide38.xml"/><Relationship Id="rId73" Type="http://schemas.openxmlformats.org/officeDocument/2006/relationships/slide" Target="slides/slide46.xml"/><Relationship Id="rId78" Type="http://schemas.openxmlformats.org/officeDocument/2006/relationships/slide" Target="slides/slide51.xml"/><Relationship Id="rId81" Type="http://schemas.openxmlformats.org/officeDocument/2006/relationships/slide" Target="slides/slide54.xml"/><Relationship Id="rId86" Type="http://schemas.openxmlformats.org/officeDocument/2006/relationships/slide" Target="slides/slide59.xml"/><Relationship Id="rId94" Type="http://schemas.openxmlformats.org/officeDocument/2006/relationships/slide" Target="slides/slide67.xml"/><Relationship Id="rId99" Type="http://schemas.openxmlformats.org/officeDocument/2006/relationships/slide" Target="slides/slide72.xml"/><Relationship Id="rId101" Type="http://schemas.openxmlformats.org/officeDocument/2006/relationships/slide" Target="slides/slide74.xml"/><Relationship Id="rId122" Type="http://schemas.openxmlformats.org/officeDocument/2006/relationships/slide" Target="slides/slide95.xml"/><Relationship Id="rId130" Type="http://schemas.openxmlformats.org/officeDocument/2006/relationships/slide" Target="slides/slide103.xml"/><Relationship Id="rId135" Type="http://schemas.openxmlformats.org/officeDocument/2006/relationships/slide" Target="slides/slide108.xml"/><Relationship Id="rId14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2.xml"/><Relationship Id="rId109" Type="http://schemas.openxmlformats.org/officeDocument/2006/relationships/slide" Target="slides/slide82.xml"/><Relationship Id="rId34" Type="http://schemas.openxmlformats.org/officeDocument/2006/relationships/slide" Target="slides/slide7.xml"/><Relationship Id="rId50" Type="http://schemas.openxmlformats.org/officeDocument/2006/relationships/slide" Target="slides/slide23.xml"/><Relationship Id="rId55" Type="http://schemas.openxmlformats.org/officeDocument/2006/relationships/slide" Target="slides/slide28.xml"/><Relationship Id="rId76" Type="http://schemas.openxmlformats.org/officeDocument/2006/relationships/slide" Target="slides/slide49.xml"/><Relationship Id="rId97" Type="http://schemas.openxmlformats.org/officeDocument/2006/relationships/slide" Target="slides/slide70.xml"/><Relationship Id="rId104" Type="http://schemas.openxmlformats.org/officeDocument/2006/relationships/slide" Target="slides/slide77.xml"/><Relationship Id="rId120" Type="http://schemas.openxmlformats.org/officeDocument/2006/relationships/slide" Target="slides/slide93.xml"/><Relationship Id="rId125" Type="http://schemas.openxmlformats.org/officeDocument/2006/relationships/slide" Target="slides/slide98.xml"/><Relationship Id="rId141"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slide" Target="slides/slide44.xml"/><Relationship Id="rId92"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xml"/><Relationship Id="rId24" Type="http://schemas.openxmlformats.org/officeDocument/2006/relationships/slideMaster" Target="slideMasters/slideMaster24.xml"/><Relationship Id="rId40" Type="http://schemas.openxmlformats.org/officeDocument/2006/relationships/slide" Target="slides/slide13.xml"/><Relationship Id="rId45" Type="http://schemas.openxmlformats.org/officeDocument/2006/relationships/slide" Target="slides/slide18.xml"/><Relationship Id="rId66" Type="http://schemas.openxmlformats.org/officeDocument/2006/relationships/slide" Target="slides/slide39.xml"/><Relationship Id="rId87" Type="http://schemas.openxmlformats.org/officeDocument/2006/relationships/slide" Target="slides/slide60.xml"/><Relationship Id="rId110" Type="http://schemas.openxmlformats.org/officeDocument/2006/relationships/slide" Target="slides/slide83.xml"/><Relationship Id="rId115" Type="http://schemas.openxmlformats.org/officeDocument/2006/relationships/slide" Target="slides/slide88.xml"/><Relationship Id="rId131" Type="http://schemas.openxmlformats.org/officeDocument/2006/relationships/slide" Target="slides/slide104.xml"/><Relationship Id="rId136" Type="http://schemas.openxmlformats.org/officeDocument/2006/relationships/slide" Target="slides/slide109.xml"/><Relationship Id="rId61" Type="http://schemas.openxmlformats.org/officeDocument/2006/relationships/slide" Target="slides/slide34.xml"/><Relationship Id="rId82" Type="http://schemas.openxmlformats.org/officeDocument/2006/relationships/slide" Target="slides/slide55.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3.xml"/><Relationship Id="rId35" Type="http://schemas.openxmlformats.org/officeDocument/2006/relationships/slide" Target="slides/slide8.xml"/><Relationship Id="rId56" Type="http://schemas.openxmlformats.org/officeDocument/2006/relationships/slide" Target="slides/slide29.xml"/><Relationship Id="rId77" Type="http://schemas.openxmlformats.org/officeDocument/2006/relationships/slide" Target="slides/slide50.xml"/><Relationship Id="rId100" Type="http://schemas.openxmlformats.org/officeDocument/2006/relationships/slide" Target="slides/slide73.xml"/><Relationship Id="rId105" Type="http://schemas.openxmlformats.org/officeDocument/2006/relationships/slide" Target="slides/slide78.xml"/><Relationship Id="rId126" Type="http://schemas.openxmlformats.org/officeDocument/2006/relationships/slide" Target="slides/slide9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2023/10/11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36519513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098" name="Rectangle 2"/>
          <p:cNvSpPr>
            <a:spLocks noGrp="1" noRot="1" noChangeAspect="1"/>
          </p:cNvSpPr>
          <p:nvPr>
            <p:ph type="sldImg"/>
          </p:nvPr>
        </p:nvSpPr>
        <p:spPr>
          <a:xfrm>
            <a:off x="0" y="812800"/>
            <a:ext cx="0" cy="0"/>
          </a:xfrm>
          <a:prstGeom prst="rect">
            <a:avLst/>
          </a:prstGeom>
          <a:noFill/>
          <a:ln w="9525">
            <a:noFill/>
          </a:ln>
        </p:spPr>
      </p:sp>
      <p:sp>
        <p:nvSpPr>
          <p:cNvPr id="4099" name="Rectangle 3"/>
          <p:cNvSpPr>
            <a:spLocks noGrp="1"/>
          </p:cNvSpPr>
          <p:nvPr>
            <p:ph type="body"/>
          </p:nvPr>
        </p:nvSpPr>
        <p:spPr>
          <a:xfrm>
            <a:off x="755650" y="5078413"/>
            <a:ext cx="6046788" cy="4810125"/>
          </a:xfrm>
          <a:prstGeom prst="rect">
            <a:avLst/>
          </a:prstGeom>
          <a:noFill/>
          <a:ln w="9525">
            <a:noFill/>
          </a:ln>
        </p:spPr>
        <p:txBody>
          <a:bodyPr lIns="0" tIns="0" rIns="0" bIns="0"/>
          <a:lstStyle/>
          <a:p>
            <a:pPr lvl="0"/>
            <a:endParaRPr lang="en-US" altLang="x-none" dirty="0"/>
          </a:p>
        </p:txBody>
      </p:sp>
      <p:sp>
        <p:nvSpPr>
          <p:cNvPr id="4100" name="Rectangle 4"/>
          <p:cNvSpPr>
            <a:spLocks noGrp="1"/>
          </p:cNvSpPr>
          <p:nvPr>
            <p:ph type="hdr"/>
          </p:nvPr>
        </p:nvSpPr>
        <p:spPr>
          <a:xfrm>
            <a:off x="0" y="0"/>
            <a:ext cx="3279775" cy="533400"/>
          </a:xfrm>
          <a:prstGeom prst="rect">
            <a:avLst/>
          </a:prstGeom>
          <a:noFill/>
          <a:ln w="9525">
            <a:noFill/>
          </a:ln>
        </p:spPr>
        <p:txBody>
          <a:bodyPr lIns="0" tIns="0" rIns="0" bIns="0"/>
          <a:lstStyle/>
          <a:p>
            <a:pPr lvl="0" defTabSz="449580" eaLnBrk="1">
              <a:tabLst>
                <a:tab pos="723900" algn="l"/>
                <a:tab pos="1447800" algn="l"/>
                <a:tab pos="2171700" algn="l"/>
                <a:tab pos="2895600" algn="l"/>
              </a:tabLst>
            </a:pPr>
            <a:endParaRPr lang="en-US" altLang="x-none" sz="1400" dirty="0">
              <a:latin typeface="Times New Roman" panose="02020603050405020304" pitchFamily="2" charset="0"/>
              <a:ea typeface="宋体" panose="02010600030101010101" pitchFamily="2" charset="-122"/>
            </a:endParaRPr>
          </a:p>
        </p:txBody>
      </p:sp>
      <p:sp>
        <p:nvSpPr>
          <p:cNvPr id="4101" name="Rectangle 5"/>
          <p:cNvSpPr>
            <a:spLocks noGrp="1"/>
          </p:cNvSpPr>
          <p:nvPr>
            <p:ph type="dt"/>
          </p:nvPr>
        </p:nvSpPr>
        <p:spPr>
          <a:xfrm>
            <a:off x="4278313" y="0"/>
            <a:ext cx="3279775" cy="533400"/>
          </a:xfrm>
          <a:prstGeom prst="rect">
            <a:avLst/>
          </a:prstGeom>
          <a:noFill/>
          <a:ln w="9525">
            <a:noFill/>
          </a:ln>
        </p:spPr>
        <p:txBody>
          <a:bodyPr lIns="0" tIns="0" rIns="0" bIns="0"/>
          <a:lstStyle/>
          <a:p>
            <a:pPr lvl="0" algn="r" defTabSz="449580" eaLnBrk="1">
              <a:tabLst>
                <a:tab pos="723900" algn="l"/>
                <a:tab pos="1447800" algn="l"/>
                <a:tab pos="2171700" algn="l"/>
                <a:tab pos="2895600" algn="l"/>
              </a:tabLst>
            </a:pPr>
            <a:endParaRPr lang="en-US" altLang="x-none" sz="1400" dirty="0">
              <a:latin typeface="Times New Roman" panose="02020603050405020304" pitchFamily="2" charset="0"/>
              <a:ea typeface="宋体" panose="02010600030101010101" pitchFamily="2" charset="-122"/>
            </a:endParaRPr>
          </a:p>
        </p:txBody>
      </p:sp>
      <p:sp>
        <p:nvSpPr>
          <p:cNvPr id="4102" name="Rectangle 6"/>
          <p:cNvSpPr>
            <a:spLocks noGrp="1"/>
          </p:cNvSpPr>
          <p:nvPr>
            <p:ph type="ftr"/>
          </p:nvPr>
        </p:nvSpPr>
        <p:spPr>
          <a:xfrm>
            <a:off x="0" y="10156825"/>
            <a:ext cx="3279775" cy="533400"/>
          </a:xfrm>
          <a:prstGeom prst="rect">
            <a:avLst/>
          </a:prstGeom>
          <a:noFill/>
          <a:ln w="9525">
            <a:noFill/>
          </a:ln>
        </p:spPr>
        <p:txBody>
          <a:bodyPr lIns="0" tIns="0" rIns="0" bIns="0" anchor="b" anchorCtr="0"/>
          <a:lstStyle/>
          <a:p>
            <a:pPr lvl="0" defTabSz="449580" eaLnBrk="1">
              <a:tabLst>
                <a:tab pos="723900" algn="l"/>
                <a:tab pos="1447800" algn="l"/>
                <a:tab pos="2171700" algn="l"/>
                <a:tab pos="2895600" algn="l"/>
              </a:tabLst>
            </a:pPr>
            <a:endParaRPr lang="en-US" altLang="x-none" sz="1400" dirty="0">
              <a:latin typeface="Times New Roman" panose="02020603050405020304" pitchFamily="2" charset="0"/>
              <a:ea typeface="宋体" panose="02010600030101010101" pitchFamily="2" charset="-122"/>
            </a:endParaRPr>
          </a:p>
        </p:txBody>
      </p:sp>
      <p:sp>
        <p:nvSpPr>
          <p:cNvPr id="4103" name="Rectangle 7"/>
          <p:cNvSpPr>
            <a:spLocks noGrp="1"/>
          </p:cNvSpPr>
          <p:nvPr>
            <p:ph type="sldNum"/>
          </p:nvPr>
        </p:nvSpPr>
        <p:spPr>
          <a:xfrm>
            <a:off x="4278313" y="10156825"/>
            <a:ext cx="3279775" cy="533400"/>
          </a:xfrm>
          <a:prstGeom prst="rect">
            <a:avLst/>
          </a:prstGeom>
          <a:noFill/>
          <a:ln w="9525">
            <a:noFill/>
          </a:ln>
        </p:spPr>
        <p:txBody>
          <a:bodyPr lIns="0" tIns="0" rIns="0" bIns="0" anchor="b" anchorCtr="0"/>
          <a:lstStyle/>
          <a:p>
            <a:pPr lvl="0" algn="r" defTabSz="449580" eaLnBrk="1">
              <a:tabLst>
                <a:tab pos="723900" algn="l"/>
                <a:tab pos="1447800" algn="l"/>
                <a:tab pos="2171700" algn="l"/>
                <a:tab pos="2895600" algn="l"/>
              </a:tabLst>
            </a:pPr>
            <a:fld id="{9A0DB2DC-4C9A-4742-B13C-FB6460FD3503}" type="slidenum">
              <a:rPr lang="en-GB" altLang="en-US" sz="1400" dirty="0">
                <a:latin typeface="Times New Roman" panose="02020603050405020304" pitchFamily="2" charset="0"/>
                <a:ea typeface="宋体" panose="02010600030101010101" pitchFamily="2" charset="-122"/>
              </a:rPr>
              <a:t>‹#›</a:t>
            </a:fld>
            <a:endParaRPr lang="en-GB" altLang="en-US" sz="1400" dirty="0">
              <a:latin typeface="Times New Roman" panose="02020603050405020304" pitchFamily="2" charset="0"/>
              <a:ea typeface="宋体" panose="02010600030101010101" pitchFamily="2" charset="-122"/>
            </a:endParaRPr>
          </a:p>
        </p:txBody>
      </p:sp>
    </p:spTree>
    <p:extLst>
      <p:ext uri="{BB962C8B-B14F-4D97-AF65-F5344CB8AC3E}">
        <p14:creationId xmlns:p14="http://schemas.microsoft.com/office/powerpoint/2010/main" val="3321534067"/>
      </p:ext>
    </p:extLst>
  </p:cSld>
  <p:clrMap bg1="lt1" tx1="dk1" bg2="lt2" tx2="dk2" accent1="accent1" accent2="accent2" accent3="accent3" accent4="accent4" accent5="accent5" accent6="accent6" hlink="hlink" folHlink="folHlink"/>
  <p:hf sldNum="0" hdr="0" ftr="0" dt="0"/>
  <p:notesStyle>
    <a:lvl1pPr marL="0" lvl="0" indent="0" algn="l" defTabSz="449580" eaLnBrk="0" fontAlgn="base" latinLnBrk="0" hangingPunct="0">
      <a:lnSpc>
        <a:spcPct val="100000"/>
      </a:lnSpc>
      <a:spcBef>
        <a:spcPct val="30000"/>
      </a:spcBef>
      <a:spcAft>
        <a:spcPct val="0"/>
      </a:spcAft>
      <a:buSzPct val="100000"/>
      <a:buFont typeface="Times New Roman" panose="02020603050405020304" pitchFamily="2" charset="0"/>
      <a:buNone/>
      <a:defRPr sz="1200" b="0" i="0" u="none" kern="1200" baseline="0">
        <a:solidFill>
          <a:srgbClr val="000000"/>
        </a:solidFill>
        <a:latin typeface="Times New Roman" panose="02020603050405020304" pitchFamily="2" charset="0"/>
      </a:defRPr>
    </a:lvl1pPr>
    <a:lvl2pPr marL="742950" lvl="1" indent="-285750" algn="l" defTabSz="449580" eaLnBrk="0" fontAlgn="base" latinLnBrk="0" hangingPunct="0">
      <a:lnSpc>
        <a:spcPct val="100000"/>
      </a:lnSpc>
      <a:spcBef>
        <a:spcPct val="30000"/>
      </a:spcBef>
      <a:spcAft>
        <a:spcPct val="0"/>
      </a:spcAft>
      <a:buSzPct val="100000"/>
      <a:buFont typeface="Times New Roman" panose="02020603050405020304" pitchFamily="2" charset="0"/>
      <a:buNone/>
      <a:defRPr sz="1200" b="0" i="0" u="none" kern="1200" baseline="0">
        <a:solidFill>
          <a:srgbClr val="000000"/>
        </a:solidFill>
        <a:latin typeface="Times New Roman" panose="02020603050405020304" pitchFamily="2" charset="0"/>
      </a:defRPr>
    </a:lvl2pPr>
    <a:lvl3pPr marL="1143000" lvl="2" indent="-228600" algn="l" defTabSz="449580" eaLnBrk="0" fontAlgn="base" latinLnBrk="0" hangingPunct="0">
      <a:lnSpc>
        <a:spcPct val="100000"/>
      </a:lnSpc>
      <a:spcBef>
        <a:spcPct val="30000"/>
      </a:spcBef>
      <a:spcAft>
        <a:spcPct val="0"/>
      </a:spcAft>
      <a:buSzPct val="100000"/>
      <a:buFont typeface="Times New Roman" panose="02020603050405020304" pitchFamily="2" charset="0"/>
      <a:buNone/>
      <a:defRPr sz="1200" b="0" i="0" u="none" kern="1200" baseline="0">
        <a:solidFill>
          <a:srgbClr val="000000"/>
        </a:solidFill>
        <a:latin typeface="Times New Roman" panose="02020603050405020304" pitchFamily="2" charset="0"/>
      </a:defRPr>
    </a:lvl3pPr>
    <a:lvl4pPr marL="1600200" lvl="3" indent="-228600" algn="l" defTabSz="449580" eaLnBrk="0" fontAlgn="base" latinLnBrk="0" hangingPunct="0">
      <a:lnSpc>
        <a:spcPct val="100000"/>
      </a:lnSpc>
      <a:spcBef>
        <a:spcPct val="30000"/>
      </a:spcBef>
      <a:spcAft>
        <a:spcPct val="0"/>
      </a:spcAft>
      <a:buSzPct val="100000"/>
      <a:buFont typeface="Times New Roman" panose="02020603050405020304" pitchFamily="2" charset="0"/>
      <a:buNone/>
      <a:defRPr sz="1200" b="0" i="0" u="none" kern="1200" baseline="0">
        <a:solidFill>
          <a:srgbClr val="000000"/>
        </a:solidFill>
        <a:latin typeface="Times New Roman" panose="02020603050405020304" pitchFamily="2" charset="0"/>
      </a:defRPr>
    </a:lvl4pPr>
    <a:lvl5pPr marL="2057400" lvl="4" indent="-228600" algn="l" defTabSz="449580" eaLnBrk="0" fontAlgn="base" latinLnBrk="0" hangingPunct="0">
      <a:lnSpc>
        <a:spcPct val="100000"/>
      </a:lnSpc>
      <a:spcBef>
        <a:spcPct val="30000"/>
      </a:spcBef>
      <a:spcAft>
        <a:spcPct val="0"/>
      </a:spcAft>
      <a:buSzPct val="100000"/>
      <a:buFont typeface="Times New Roman" panose="02020603050405020304" pitchFamily="2" charset="0"/>
      <a:buNone/>
      <a:defRPr sz="1200" b="0" i="0" u="none" kern="1200" baseline="0">
        <a:solidFill>
          <a:srgbClr val="000000"/>
        </a:solidFill>
        <a:latin typeface="Times New Roman" panose="02020603050405020304" pitchFamily="2" charset="0"/>
      </a:defRPr>
    </a:lvl5pPr>
    <a:lvl6pPr marL="2286000" lvl="5" indent="-228600" algn="l" defTabSz="449580" eaLnBrk="0" fontAlgn="base" latinLnBrk="0" hangingPunct="0">
      <a:lnSpc>
        <a:spcPct val="100000"/>
      </a:lnSpc>
      <a:spcBef>
        <a:spcPct val="30000"/>
      </a:spcBef>
      <a:spcAft>
        <a:spcPct val="0"/>
      </a:spcAft>
      <a:buSzPct val="100000"/>
      <a:buFont typeface="Times New Roman" panose="02020603050405020304" pitchFamily="2" charset="0"/>
      <a:buNone/>
      <a:defRPr sz="1200" b="0" i="0" u="none" kern="1200" baseline="0">
        <a:solidFill>
          <a:srgbClr val="000000"/>
        </a:solidFill>
        <a:latin typeface="Times New Roman" panose="02020603050405020304" pitchFamily="2" charset="0"/>
      </a:defRPr>
    </a:lvl6pPr>
    <a:lvl7pPr marL="2743200" lvl="6" indent="-228600" algn="l" defTabSz="449580" eaLnBrk="0" fontAlgn="base" latinLnBrk="0" hangingPunct="0">
      <a:lnSpc>
        <a:spcPct val="100000"/>
      </a:lnSpc>
      <a:spcBef>
        <a:spcPct val="30000"/>
      </a:spcBef>
      <a:spcAft>
        <a:spcPct val="0"/>
      </a:spcAft>
      <a:buSzPct val="100000"/>
      <a:buFont typeface="Times New Roman" panose="02020603050405020304" pitchFamily="2" charset="0"/>
      <a:buNone/>
      <a:defRPr sz="1200" b="0" i="0" u="none" kern="1200" baseline="0">
        <a:solidFill>
          <a:srgbClr val="000000"/>
        </a:solidFill>
        <a:latin typeface="Times New Roman" panose="02020603050405020304" pitchFamily="2" charset="0"/>
      </a:defRPr>
    </a:lvl7pPr>
    <a:lvl8pPr marL="3200400" lvl="7" indent="-228600" algn="l" defTabSz="449580" eaLnBrk="0" fontAlgn="base" latinLnBrk="0" hangingPunct="0">
      <a:lnSpc>
        <a:spcPct val="100000"/>
      </a:lnSpc>
      <a:spcBef>
        <a:spcPct val="30000"/>
      </a:spcBef>
      <a:spcAft>
        <a:spcPct val="0"/>
      </a:spcAft>
      <a:buSzPct val="100000"/>
      <a:buFont typeface="Times New Roman" panose="02020603050405020304" pitchFamily="2" charset="0"/>
      <a:buNone/>
      <a:defRPr sz="1200" b="0" i="0" u="none" kern="1200" baseline="0">
        <a:solidFill>
          <a:srgbClr val="000000"/>
        </a:solidFill>
        <a:latin typeface="Times New Roman" panose="02020603050405020304" pitchFamily="2" charset="0"/>
      </a:defRPr>
    </a:lvl8pPr>
    <a:lvl9pPr marL="3657600" lvl="8" indent="-228600" algn="l" defTabSz="449580" eaLnBrk="0" fontAlgn="base" latinLnBrk="0" hangingPunct="0">
      <a:lnSpc>
        <a:spcPct val="100000"/>
      </a:lnSpc>
      <a:spcBef>
        <a:spcPct val="30000"/>
      </a:spcBef>
      <a:spcAft>
        <a:spcPct val="0"/>
      </a:spcAft>
      <a:buSzPct val="100000"/>
      <a:buFont typeface="Times New Roman" panose="02020603050405020304" pitchFamily="2" charset="0"/>
      <a:buNone/>
      <a:defRPr sz="1200" b="0" i="0" u="none" kern="1200" baseline="0">
        <a:solidFill>
          <a:srgbClr val="000000"/>
        </a:solidFill>
        <a:latin typeface="Times New Roman" panose="02020603050405020304" pitchFamily="2"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微软雅黑" panose="020B0503020204020204" pitchFamily="34" charset="-122"/>
              </a:defRPr>
            </a:lvl1pPr>
            <a:lvl2pPr marL="700358" indent="-269368" eaLnBrk="0" hangingPunct="0">
              <a:defRPr>
                <a:solidFill>
                  <a:schemeClr val="tx1"/>
                </a:solidFill>
                <a:latin typeface="Arial" panose="020B0604020202020204" pitchFamily="34" charset="0"/>
                <a:ea typeface="微软雅黑" panose="020B0503020204020204" pitchFamily="34" charset="-122"/>
              </a:defRPr>
            </a:lvl2pPr>
            <a:lvl3pPr marL="1077475" indent="-215495" eaLnBrk="0" hangingPunct="0">
              <a:defRPr>
                <a:solidFill>
                  <a:schemeClr val="tx1"/>
                </a:solidFill>
                <a:latin typeface="Arial" panose="020B0604020202020204" pitchFamily="34" charset="0"/>
                <a:ea typeface="微软雅黑" panose="020B0503020204020204" pitchFamily="34" charset="-122"/>
              </a:defRPr>
            </a:lvl3pPr>
            <a:lvl4pPr marL="1508466" indent="-215495" eaLnBrk="0" hangingPunct="0">
              <a:defRPr>
                <a:solidFill>
                  <a:schemeClr val="tx1"/>
                </a:solidFill>
                <a:latin typeface="Arial" panose="020B0604020202020204" pitchFamily="34" charset="0"/>
                <a:ea typeface="微软雅黑" panose="020B0503020204020204" pitchFamily="34" charset="-122"/>
              </a:defRPr>
            </a:lvl4pPr>
            <a:lvl5pPr marL="1939456" indent="-215495" eaLnBrk="0" hangingPunct="0">
              <a:defRPr>
                <a:solidFill>
                  <a:schemeClr val="tx1"/>
                </a:solidFill>
                <a:latin typeface="Arial" panose="020B0604020202020204" pitchFamily="34" charset="0"/>
                <a:ea typeface="微软雅黑" panose="020B0503020204020204" pitchFamily="34" charset="-122"/>
              </a:defRPr>
            </a:lvl5pPr>
            <a:lvl6pPr marL="237044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80143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23242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663416" indent="-21549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CD110720-BB6B-46A0-833E-C2940240C049}" type="slidenum">
              <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ea"/>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ea"/>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100" dirty="0">
              <a:latin typeface="+mj-ea"/>
            </a:endParaRPr>
          </a:p>
        </p:txBody>
      </p:sp>
    </p:spTree>
    <p:extLst>
      <p:ext uri="{BB962C8B-B14F-4D97-AF65-F5344CB8AC3E}">
        <p14:creationId xmlns:p14="http://schemas.microsoft.com/office/powerpoint/2010/main" val="3309495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pPr>
            <a:fld id="{0BFBE105-785A-4B25-A374-E424060688C9}" type="slidenum">
              <a:rPr lang="zh-CN" altLang="en-US" smtClean="0">
                <a:solidFill>
                  <a:prstClr val="black"/>
                </a:solidFill>
              </a:rPr>
              <a:pPr>
                <a:spcBef>
                  <a:spcPct val="0"/>
                </a:spcBef>
              </a:pPr>
              <a:t>3</a:t>
            </a:fld>
            <a:endParaRPr lang="en-US" altLang="zh-CN">
              <a:solidFill>
                <a:prstClr val="black"/>
              </a:solidFill>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zh-CN" altLang="en-US" b="1" dirty="0">
                <a:latin typeface="微软雅黑" panose="020B0503020204020204" pitchFamily="34" charset="-122"/>
              </a:rPr>
              <a:t>放在编译前端和后端之间，主要是对中间语言进行优化，后端可以结合目标代码和目标机器，目标指令集开展针对硬件结构的优化</a:t>
            </a:r>
            <a:endParaRPr lang="en-US" altLang="zh-CN" b="1" dirty="0">
              <a:latin typeface="微软雅黑" panose="020B0503020204020204" pitchFamily="34" charset="-122"/>
            </a:endParaRPr>
          </a:p>
          <a:p>
            <a:pPr eaLnBrk="1" hangingPunct="1">
              <a:lnSpc>
                <a:spcPct val="90000"/>
              </a:lnSpc>
            </a:pPr>
            <a:r>
              <a:rPr lang="zh-CN" altLang="en-US" b="1" dirty="0">
                <a:latin typeface="微软雅黑" panose="020B0503020204020204" pitchFamily="34" charset="-122"/>
              </a:rPr>
              <a:t>控制流分析：哪些模块是顺序执行的，永远顺序执行的，我们称之为基本块，哪些模块构成了循环，循环的入口和出口在哪里</a:t>
            </a:r>
            <a:endParaRPr lang="en-US" altLang="zh-CN" b="1" dirty="0">
              <a:latin typeface="微软雅黑" panose="020B0503020204020204" pitchFamily="34" charset="-122"/>
            </a:endParaRPr>
          </a:p>
          <a:p>
            <a:pPr eaLnBrk="1" hangingPunct="1">
              <a:lnSpc>
                <a:spcPct val="90000"/>
              </a:lnSpc>
            </a:pPr>
            <a:endParaRPr lang="en-US" altLang="zh-CN" b="1" dirty="0">
              <a:latin typeface="微软雅黑" panose="020B0503020204020204" pitchFamily="34" charset="-122"/>
            </a:endParaRPr>
          </a:p>
          <a:p>
            <a:pPr eaLnBrk="1" hangingPunct="1">
              <a:lnSpc>
                <a:spcPct val="90000"/>
              </a:lnSpc>
            </a:pPr>
            <a:r>
              <a:rPr lang="zh-CN" altLang="en-US" b="1" dirty="0">
                <a:latin typeface="微软雅黑" panose="020B0503020204020204" pitchFamily="34" charset="-122"/>
              </a:rPr>
              <a:t>数据流分析：变量定了一个值，将来会不会用，在哪条语句里面中，要说明数据之间的引用关系</a:t>
            </a:r>
            <a:endParaRPr lang="en-US" altLang="zh-CN" b="1" dirty="0">
              <a:latin typeface="微软雅黑" panose="020B0503020204020204" pitchFamily="34" charset="-122"/>
            </a:endParaRPr>
          </a:p>
          <a:p>
            <a:pPr eaLnBrk="1" hangingPunct="1">
              <a:lnSpc>
                <a:spcPct val="90000"/>
              </a:lnSpc>
            </a:pPr>
            <a:endParaRPr lang="en-US" altLang="zh-CN" b="1" dirty="0">
              <a:latin typeface="微软雅黑" panose="020B0503020204020204" pitchFamily="34" charset="-122"/>
            </a:endParaRPr>
          </a:p>
          <a:p>
            <a:pPr eaLnBrk="1" hangingPunct="1">
              <a:lnSpc>
                <a:spcPct val="90000"/>
              </a:lnSpc>
            </a:pPr>
            <a:r>
              <a:rPr lang="zh-CN" altLang="en-US" b="1" dirty="0">
                <a:latin typeface="微软雅黑" panose="020B0503020204020204" pitchFamily="34" charset="-122"/>
              </a:rPr>
              <a:t>有了控制流的分析和数据流的分析，就可以对程序进行变换，也就是代码变换</a:t>
            </a:r>
          </a:p>
        </p:txBody>
      </p:sp>
    </p:spTree>
    <p:extLst>
      <p:ext uri="{BB962C8B-B14F-4D97-AF65-F5344CB8AC3E}">
        <p14:creationId xmlns:p14="http://schemas.microsoft.com/office/powerpoint/2010/main" val="2373942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4</a:t>
            </a:fld>
            <a:endParaRPr lang="zh-CN" altLang="en-US">
              <a:solidFill>
                <a:prstClr val="black"/>
              </a:solidFill>
            </a:endParaRPr>
          </a:p>
        </p:txBody>
      </p:sp>
    </p:spTree>
    <p:extLst>
      <p:ext uri="{BB962C8B-B14F-4D97-AF65-F5344CB8AC3E}">
        <p14:creationId xmlns:p14="http://schemas.microsoft.com/office/powerpoint/2010/main" val="2892331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pPr>
            <a:fld id="{C7BD893D-AF48-4910-A7F9-5A89C95235E9}" type="slidenum">
              <a:rPr lang="zh-CN" altLang="en-US" smtClean="0">
                <a:solidFill>
                  <a:prstClr val="black"/>
                </a:solidFill>
              </a:rPr>
              <a:pPr>
                <a:spcBef>
                  <a:spcPct val="0"/>
                </a:spcBef>
              </a:pPr>
              <a:t>5</a:t>
            </a:fld>
            <a:endParaRPr lang="en-US" altLang="zh-CN">
              <a:solidFill>
                <a:prstClr val="black"/>
              </a:solidFill>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800" dirty="0">
                <a:solidFill>
                  <a:srgbClr val="0070C0"/>
                </a:solidFill>
              </a:rPr>
              <a:t>在一个顺序执行的代码段里面进行 优化</a:t>
            </a:r>
            <a:endParaRPr lang="en-US" altLang="zh-CN" sz="800" dirty="0">
              <a:solidFill>
                <a:srgbClr val="0070C0"/>
              </a:solidFill>
            </a:endParaRPr>
          </a:p>
          <a:p>
            <a:endParaRPr lang="en-US" altLang="zh-CN" sz="800" dirty="0">
              <a:solidFill>
                <a:srgbClr val="0070C0"/>
              </a:solidFill>
            </a:endParaRPr>
          </a:p>
          <a:p>
            <a:r>
              <a:rPr lang="zh-CN" altLang="en-US" sz="800" dirty="0">
                <a:solidFill>
                  <a:srgbClr val="0070C0"/>
                </a:solidFill>
              </a:rPr>
              <a:t>局部优化是在基本块的范围内进行优化</a:t>
            </a:r>
            <a:endParaRPr lang="en-US" altLang="zh-CN" sz="800" dirty="0">
              <a:solidFill>
                <a:srgbClr val="0070C0"/>
              </a:solidFill>
            </a:endParaRPr>
          </a:p>
          <a:p>
            <a:endParaRPr lang="en-US" altLang="zh-CN" sz="800" dirty="0">
              <a:solidFill>
                <a:srgbClr val="0070C0"/>
              </a:solidFill>
            </a:endParaRPr>
          </a:p>
          <a:p>
            <a:r>
              <a:rPr lang="zh-CN" altLang="en-US" sz="800" dirty="0">
                <a:solidFill>
                  <a:srgbClr val="0070C0"/>
                </a:solidFill>
              </a:rPr>
              <a:t>循环优化是指在一个反复执行的循环里面做优化，比局部优化范围更大</a:t>
            </a:r>
            <a:endParaRPr lang="en-US" altLang="zh-CN" sz="800" dirty="0">
              <a:solidFill>
                <a:srgbClr val="0070C0"/>
              </a:solidFill>
            </a:endParaRPr>
          </a:p>
          <a:p>
            <a:endParaRPr lang="en-US" altLang="zh-CN" sz="800" dirty="0">
              <a:solidFill>
                <a:srgbClr val="0070C0"/>
              </a:solidFill>
            </a:endParaRPr>
          </a:p>
          <a:p>
            <a:r>
              <a:rPr lang="zh-CN" altLang="en-US" sz="800" dirty="0">
                <a:solidFill>
                  <a:srgbClr val="0070C0"/>
                </a:solidFill>
              </a:rPr>
              <a:t>全局优化是对整个程序进行统筹考虑</a:t>
            </a:r>
            <a:endParaRPr lang="en-US" altLang="zh-CN" sz="800" dirty="0">
              <a:solidFill>
                <a:srgbClr val="0070C0"/>
              </a:solidFill>
            </a:endParaRPr>
          </a:p>
          <a:p>
            <a:endParaRPr lang="en-US" altLang="zh-CN" sz="800" dirty="0">
              <a:solidFill>
                <a:srgbClr val="0070C0"/>
              </a:solidFill>
            </a:endParaRPr>
          </a:p>
          <a:p>
            <a:r>
              <a:rPr lang="zh-CN" altLang="en-US" sz="800" dirty="0">
                <a:solidFill>
                  <a:srgbClr val="0070C0"/>
                </a:solidFill>
              </a:rPr>
              <a:t>局部优化最简单，全局优化最复杂，付出的代价也越高</a:t>
            </a:r>
            <a:endParaRPr lang="en-US" altLang="zh-CN" sz="800" dirty="0">
              <a:solidFill>
                <a:srgbClr val="0070C0"/>
              </a:solidFill>
            </a:endParaRPr>
          </a:p>
          <a:p>
            <a:endParaRPr lang="en-US" altLang="zh-CN" sz="800" dirty="0">
              <a:solidFill>
                <a:srgbClr val="0070C0"/>
              </a:solidFill>
            </a:endParaRPr>
          </a:p>
          <a:p>
            <a:pPr marL="0" marR="0" lvl="0" indent="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r>
              <a:rPr lang="zh-CN" altLang="en-US" sz="800" dirty="0"/>
              <a:t>合并已知量</a:t>
            </a:r>
            <a:r>
              <a:rPr lang="zh-CN" altLang="en-US" sz="800" dirty="0">
                <a:solidFill>
                  <a:srgbClr val="0070C0"/>
                </a:solidFill>
              </a:rPr>
              <a:t>：比如两个常数相乘，就不会再生成一个乘法指令，而是在编译程序直接把乘法的结果变成常量写入最后的代码中，代码执行少一次乘法</a:t>
            </a:r>
            <a:endParaRPr lang="en-US" altLang="zh-CN" sz="800" dirty="0">
              <a:solidFill>
                <a:srgbClr val="0070C0"/>
              </a:solidFill>
            </a:endParaRPr>
          </a:p>
          <a:p>
            <a:pPr marL="0" marR="0" lvl="0" indent="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endParaRPr lang="en-US" altLang="zh-CN" sz="800" dirty="0">
              <a:solidFill>
                <a:srgbClr val="0070C0"/>
              </a:solidFill>
            </a:endParaRPr>
          </a:p>
          <a:p>
            <a:pPr marL="0" marR="0" lvl="0" indent="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r>
              <a:rPr lang="zh-CN" altLang="en-US" sz="800" dirty="0">
                <a:solidFill>
                  <a:srgbClr val="0070C0"/>
                </a:solidFill>
              </a:rPr>
              <a:t>循环里面反复执行的高强度运算，比如乘法，转换成加法，耗时少，等价的加法运算</a:t>
            </a:r>
            <a:endParaRPr lang="en-US" altLang="zh-CN" sz="800" dirty="0">
              <a:solidFill>
                <a:srgbClr val="0070C0"/>
              </a:solidFill>
            </a:endParaRPr>
          </a:p>
          <a:p>
            <a:pPr marL="0" marR="0" lvl="0" indent="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endParaRPr lang="en-US" altLang="zh-CN" sz="800" dirty="0">
              <a:solidFill>
                <a:srgbClr val="0070C0"/>
              </a:solidFill>
            </a:endParaRPr>
          </a:p>
          <a:p>
            <a:pPr marL="0" marR="0" lvl="0" indent="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r>
              <a:rPr lang="zh-CN" altLang="en-US" sz="800" dirty="0"/>
              <a:t>使得循环更加简便</a:t>
            </a:r>
          </a:p>
        </p:txBody>
      </p:sp>
    </p:spTree>
    <p:extLst>
      <p:ext uri="{BB962C8B-B14F-4D97-AF65-F5344CB8AC3E}">
        <p14:creationId xmlns:p14="http://schemas.microsoft.com/office/powerpoint/2010/main" val="1743779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快速排序可视化讲解</a:t>
            </a:r>
            <a:endParaRPr lang="en-US" altLang="zh-CN" dirty="0"/>
          </a:p>
          <a:p>
            <a:r>
              <a:rPr lang="en-US" altLang="zh-CN" dirty="0"/>
              <a:t>https://blog.csdn.net/N_Peng/article/details/99705597</a:t>
            </a:r>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6</a:t>
            </a:fld>
            <a:endParaRPr lang="zh-CN" altLang="en-US">
              <a:solidFill>
                <a:prstClr val="black"/>
              </a:solidFill>
            </a:endParaRPr>
          </a:p>
        </p:txBody>
      </p:sp>
    </p:spTree>
    <p:extLst>
      <p:ext uri="{BB962C8B-B14F-4D97-AF65-F5344CB8AC3E}">
        <p14:creationId xmlns:p14="http://schemas.microsoft.com/office/powerpoint/2010/main" val="742415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7</a:t>
            </a:fld>
            <a:endParaRPr lang="zh-CN" altLang="en-US">
              <a:solidFill>
                <a:prstClr val="black"/>
              </a:solidFill>
            </a:endParaRPr>
          </a:p>
        </p:txBody>
      </p:sp>
    </p:spTree>
    <p:extLst>
      <p:ext uri="{BB962C8B-B14F-4D97-AF65-F5344CB8AC3E}">
        <p14:creationId xmlns:p14="http://schemas.microsoft.com/office/powerpoint/2010/main" val="2531733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8</a:t>
            </a:fld>
            <a:endParaRPr lang="zh-CN" altLang="en-US">
              <a:solidFill>
                <a:prstClr val="black"/>
              </a:solidFill>
            </a:endParaRPr>
          </a:p>
        </p:txBody>
      </p:sp>
    </p:spTree>
    <p:extLst>
      <p:ext uri="{BB962C8B-B14F-4D97-AF65-F5344CB8AC3E}">
        <p14:creationId xmlns:p14="http://schemas.microsoft.com/office/powerpoint/2010/main" val="4274145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9</a:t>
            </a:fld>
            <a:endParaRPr lang="zh-CN" altLang="en-US">
              <a:solidFill>
                <a:prstClr val="black"/>
              </a:solidFill>
            </a:endParaRPr>
          </a:p>
        </p:txBody>
      </p:sp>
    </p:spTree>
    <p:extLst>
      <p:ext uri="{BB962C8B-B14F-4D97-AF65-F5344CB8AC3E}">
        <p14:creationId xmlns:p14="http://schemas.microsoft.com/office/powerpoint/2010/main" val="940177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10</a:t>
            </a:fld>
            <a:endParaRPr lang="zh-CN" altLang="en-US">
              <a:solidFill>
                <a:prstClr val="black"/>
              </a:solidFill>
            </a:endParaRPr>
          </a:p>
        </p:txBody>
      </p:sp>
    </p:spTree>
    <p:extLst>
      <p:ext uri="{BB962C8B-B14F-4D97-AF65-F5344CB8AC3E}">
        <p14:creationId xmlns:p14="http://schemas.microsoft.com/office/powerpoint/2010/main" val="1358564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11</a:t>
            </a:fld>
            <a:endParaRPr lang="zh-CN" altLang="en-US">
              <a:solidFill>
                <a:prstClr val="black"/>
              </a:solidFill>
            </a:endParaRPr>
          </a:p>
        </p:txBody>
      </p:sp>
    </p:spTree>
    <p:extLst>
      <p:ext uri="{BB962C8B-B14F-4D97-AF65-F5344CB8AC3E}">
        <p14:creationId xmlns:p14="http://schemas.microsoft.com/office/powerpoint/2010/main" val="2271273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12</a:t>
            </a:fld>
            <a:endParaRPr lang="zh-CN" altLang="en-US">
              <a:solidFill>
                <a:prstClr val="black"/>
              </a:solidFill>
            </a:endParaRPr>
          </a:p>
        </p:txBody>
      </p:sp>
    </p:spTree>
    <p:extLst>
      <p:ext uri="{BB962C8B-B14F-4D97-AF65-F5344CB8AC3E}">
        <p14:creationId xmlns:p14="http://schemas.microsoft.com/office/powerpoint/2010/main" val="2459014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13</a:t>
            </a:fld>
            <a:endParaRPr lang="zh-CN" altLang="en-US">
              <a:solidFill>
                <a:prstClr val="black"/>
              </a:solidFill>
            </a:endParaRPr>
          </a:p>
        </p:txBody>
      </p:sp>
    </p:spTree>
    <p:extLst>
      <p:ext uri="{BB962C8B-B14F-4D97-AF65-F5344CB8AC3E}">
        <p14:creationId xmlns:p14="http://schemas.microsoft.com/office/powerpoint/2010/main" val="2819779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14</a:t>
            </a:fld>
            <a:endParaRPr lang="zh-CN" altLang="en-US">
              <a:solidFill>
                <a:prstClr val="black"/>
              </a:solidFill>
            </a:endParaRPr>
          </a:p>
        </p:txBody>
      </p:sp>
    </p:spTree>
    <p:extLst>
      <p:ext uri="{BB962C8B-B14F-4D97-AF65-F5344CB8AC3E}">
        <p14:creationId xmlns:p14="http://schemas.microsoft.com/office/powerpoint/2010/main" val="23175101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引用</a:t>
            </a:r>
            <a:r>
              <a:rPr lang="en-US" altLang="zh-CN" dirty="0"/>
              <a:t>T6</a:t>
            </a:r>
            <a:r>
              <a:rPr lang="zh-CN" altLang="en-US" dirty="0"/>
              <a:t>和</a:t>
            </a:r>
            <a:r>
              <a:rPr lang="en-US" altLang="zh-CN" dirty="0"/>
              <a:t>T7</a:t>
            </a:r>
            <a:r>
              <a:rPr lang="zh-CN" altLang="en-US" dirty="0"/>
              <a:t>改成</a:t>
            </a:r>
            <a:r>
              <a:rPr lang="en-US" altLang="zh-CN" dirty="0"/>
              <a:t>T2</a:t>
            </a:r>
            <a:r>
              <a:rPr lang="zh-CN" altLang="en-US" dirty="0"/>
              <a:t>，并不是给</a:t>
            </a:r>
            <a:r>
              <a:rPr lang="en-US" altLang="zh-CN" dirty="0"/>
              <a:t>T6</a:t>
            </a:r>
            <a:r>
              <a:rPr lang="zh-CN" altLang="en-US" dirty="0"/>
              <a:t>和</a:t>
            </a:r>
            <a:r>
              <a:rPr lang="en-US" altLang="zh-CN" dirty="0"/>
              <a:t>T7 </a:t>
            </a:r>
            <a:r>
              <a:rPr lang="zh-CN" altLang="en-US" dirty="0"/>
              <a:t>定值也改成</a:t>
            </a:r>
            <a:r>
              <a:rPr lang="en-US" altLang="zh-CN" dirty="0"/>
              <a:t>T2</a:t>
            </a:r>
            <a:r>
              <a:rPr lang="zh-CN" altLang="en-US" dirty="0"/>
              <a:t>，注意区别</a:t>
            </a:r>
            <a:endParaRPr lang="en-US" altLang="zh-CN" dirty="0"/>
          </a:p>
          <a:p>
            <a:r>
              <a:rPr lang="en-US" altLang="zh-CN" dirty="0"/>
              <a:t>T7</a:t>
            </a:r>
            <a:r>
              <a:rPr lang="zh-CN" altLang="en-US" dirty="0"/>
              <a:t>还是不变的</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15</a:t>
            </a:fld>
            <a:endParaRPr lang="zh-CN" altLang="en-US">
              <a:solidFill>
                <a:prstClr val="black"/>
              </a:solidFill>
            </a:endParaRPr>
          </a:p>
        </p:txBody>
      </p:sp>
    </p:spTree>
    <p:extLst>
      <p:ext uri="{BB962C8B-B14F-4D97-AF65-F5344CB8AC3E}">
        <p14:creationId xmlns:p14="http://schemas.microsoft.com/office/powerpoint/2010/main" val="146785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16</a:t>
            </a:fld>
            <a:endParaRPr lang="zh-CN" altLang="en-US">
              <a:solidFill>
                <a:prstClr val="black"/>
              </a:solidFill>
            </a:endParaRPr>
          </a:p>
        </p:txBody>
      </p:sp>
    </p:spTree>
    <p:extLst>
      <p:ext uri="{BB962C8B-B14F-4D97-AF65-F5344CB8AC3E}">
        <p14:creationId xmlns:p14="http://schemas.microsoft.com/office/powerpoint/2010/main" val="31432175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17</a:t>
            </a:fld>
            <a:endParaRPr lang="zh-CN" altLang="en-US">
              <a:solidFill>
                <a:prstClr val="black"/>
              </a:solidFill>
            </a:endParaRPr>
          </a:p>
        </p:txBody>
      </p:sp>
    </p:spTree>
    <p:extLst>
      <p:ext uri="{BB962C8B-B14F-4D97-AF65-F5344CB8AC3E}">
        <p14:creationId xmlns:p14="http://schemas.microsoft.com/office/powerpoint/2010/main" val="24127209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18</a:t>
            </a:fld>
            <a:endParaRPr lang="zh-CN" altLang="en-US">
              <a:solidFill>
                <a:prstClr val="black"/>
              </a:solidFill>
            </a:endParaRPr>
          </a:p>
        </p:txBody>
      </p:sp>
    </p:spTree>
    <p:extLst>
      <p:ext uri="{BB962C8B-B14F-4D97-AF65-F5344CB8AC3E}">
        <p14:creationId xmlns:p14="http://schemas.microsoft.com/office/powerpoint/2010/main" val="3494861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19</a:t>
            </a:fld>
            <a:endParaRPr lang="zh-CN" altLang="en-US">
              <a:solidFill>
                <a:prstClr val="black"/>
              </a:solidFill>
            </a:endParaRPr>
          </a:p>
        </p:txBody>
      </p:sp>
    </p:spTree>
    <p:extLst>
      <p:ext uri="{BB962C8B-B14F-4D97-AF65-F5344CB8AC3E}">
        <p14:creationId xmlns:p14="http://schemas.microsoft.com/office/powerpoint/2010/main" val="3183286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20</a:t>
            </a:fld>
            <a:endParaRPr lang="zh-CN" altLang="en-US">
              <a:solidFill>
                <a:prstClr val="black"/>
              </a:solidFill>
            </a:endParaRPr>
          </a:p>
        </p:txBody>
      </p:sp>
    </p:spTree>
    <p:extLst>
      <p:ext uri="{BB962C8B-B14F-4D97-AF65-F5344CB8AC3E}">
        <p14:creationId xmlns:p14="http://schemas.microsoft.com/office/powerpoint/2010/main" val="4006979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21</a:t>
            </a:fld>
            <a:endParaRPr lang="zh-CN" altLang="en-US">
              <a:solidFill>
                <a:prstClr val="black"/>
              </a:solidFill>
            </a:endParaRPr>
          </a:p>
        </p:txBody>
      </p:sp>
    </p:spTree>
    <p:extLst>
      <p:ext uri="{BB962C8B-B14F-4D97-AF65-F5344CB8AC3E}">
        <p14:creationId xmlns:p14="http://schemas.microsoft.com/office/powerpoint/2010/main" val="11676509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22</a:t>
            </a:fld>
            <a:endParaRPr lang="zh-CN" altLang="en-US">
              <a:solidFill>
                <a:prstClr val="black"/>
              </a:solidFill>
            </a:endParaRPr>
          </a:p>
        </p:txBody>
      </p:sp>
    </p:spTree>
    <p:extLst>
      <p:ext uri="{BB962C8B-B14F-4D97-AF65-F5344CB8AC3E}">
        <p14:creationId xmlns:p14="http://schemas.microsoft.com/office/powerpoint/2010/main" val="8695764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做变址会比直接复制需要多一个动作</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23</a:t>
            </a:fld>
            <a:endParaRPr lang="zh-CN" altLang="en-US">
              <a:solidFill>
                <a:prstClr val="black"/>
              </a:solidFill>
            </a:endParaRPr>
          </a:p>
        </p:txBody>
      </p:sp>
    </p:spTree>
    <p:extLst>
      <p:ext uri="{BB962C8B-B14F-4D97-AF65-F5344CB8AC3E}">
        <p14:creationId xmlns:p14="http://schemas.microsoft.com/office/powerpoint/2010/main" val="1296069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24</a:t>
            </a:fld>
            <a:endParaRPr lang="zh-CN" altLang="en-US">
              <a:solidFill>
                <a:prstClr val="black"/>
              </a:solidFill>
            </a:endParaRPr>
          </a:p>
        </p:txBody>
      </p:sp>
    </p:spTree>
    <p:extLst>
      <p:ext uri="{BB962C8B-B14F-4D97-AF65-F5344CB8AC3E}">
        <p14:creationId xmlns:p14="http://schemas.microsoft.com/office/powerpoint/2010/main" val="2168542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25</a:t>
            </a:fld>
            <a:endParaRPr lang="zh-CN" altLang="en-US">
              <a:solidFill>
                <a:prstClr val="black"/>
              </a:solidFill>
            </a:endParaRPr>
          </a:p>
        </p:txBody>
      </p:sp>
    </p:spTree>
    <p:extLst>
      <p:ext uri="{BB962C8B-B14F-4D97-AF65-F5344CB8AC3E}">
        <p14:creationId xmlns:p14="http://schemas.microsoft.com/office/powerpoint/2010/main" val="30716700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26</a:t>
            </a:fld>
            <a:endParaRPr lang="zh-CN" altLang="en-US">
              <a:solidFill>
                <a:prstClr val="black"/>
              </a:solidFill>
            </a:endParaRPr>
          </a:p>
        </p:txBody>
      </p:sp>
    </p:spTree>
    <p:extLst>
      <p:ext uri="{BB962C8B-B14F-4D97-AF65-F5344CB8AC3E}">
        <p14:creationId xmlns:p14="http://schemas.microsoft.com/office/powerpoint/2010/main" val="974958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27</a:t>
            </a:fld>
            <a:endParaRPr lang="zh-CN" altLang="en-US">
              <a:solidFill>
                <a:prstClr val="black"/>
              </a:solidFill>
            </a:endParaRPr>
          </a:p>
        </p:txBody>
      </p:sp>
    </p:spTree>
    <p:extLst>
      <p:ext uri="{BB962C8B-B14F-4D97-AF65-F5344CB8AC3E}">
        <p14:creationId xmlns:p14="http://schemas.microsoft.com/office/powerpoint/2010/main" val="40251291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28</a:t>
            </a:fld>
            <a:endParaRPr lang="zh-CN" altLang="en-US">
              <a:solidFill>
                <a:prstClr val="black"/>
              </a:solidFill>
            </a:endParaRPr>
          </a:p>
        </p:txBody>
      </p:sp>
    </p:spTree>
    <p:extLst>
      <p:ext uri="{BB962C8B-B14F-4D97-AF65-F5344CB8AC3E}">
        <p14:creationId xmlns:p14="http://schemas.microsoft.com/office/powerpoint/2010/main" val="30016501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29</a:t>
            </a:fld>
            <a:endParaRPr lang="zh-CN" altLang="en-US">
              <a:solidFill>
                <a:prstClr val="black"/>
              </a:solidFill>
            </a:endParaRPr>
          </a:p>
        </p:txBody>
      </p:sp>
    </p:spTree>
    <p:extLst>
      <p:ext uri="{BB962C8B-B14F-4D97-AF65-F5344CB8AC3E}">
        <p14:creationId xmlns:p14="http://schemas.microsoft.com/office/powerpoint/2010/main" val="20722396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这些变量，经过复写传播后，只有他的定值了，没有再引用这些变量了，就没有用了，可以删掉了</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30</a:t>
            </a:fld>
            <a:endParaRPr lang="zh-CN" altLang="en-US">
              <a:solidFill>
                <a:prstClr val="black"/>
              </a:solidFill>
            </a:endParaRPr>
          </a:p>
        </p:txBody>
      </p:sp>
    </p:spTree>
    <p:extLst>
      <p:ext uri="{BB962C8B-B14F-4D97-AF65-F5344CB8AC3E}">
        <p14:creationId xmlns:p14="http://schemas.microsoft.com/office/powerpoint/2010/main" val="4119513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31</a:t>
            </a:fld>
            <a:endParaRPr lang="zh-CN" altLang="en-US">
              <a:solidFill>
                <a:prstClr val="black"/>
              </a:solidFill>
            </a:endParaRPr>
          </a:p>
        </p:txBody>
      </p:sp>
    </p:spTree>
    <p:extLst>
      <p:ext uri="{BB962C8B-B14F-4D97-AF65-F5344CB8AC3E}">
        <p14:creationId xmlns:p14="http://schemas.microsoft.com/office/powerpoint/2010/main" val="32354547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把乘法的计算，变成加法的运算</a:t>
            </a:r>
            <a:endParaRPr lang="en-US" altLang="zh-CN" dirty="0"/>
          </a:p>
          <a:p>
            <a:r>
              <a:rPr lang="en-US" altLang="zh-CN" dirty="0"/>
              <a:t>100</a:t>
            </a:r>
            <a:r>
              <a:rPr lang="zh-CN" altLang="en-US" dirty="0"/>
              <a:t>个乘法变成</a:t>
            </a:r>
            <a:r>
              <a:rPr lang="en-US" altLang="zh-CN" dirty="0"/>
              <a:t>100</a:t>
            </a:r>
            <a:r>
              <a:rPr lang="zh-CN" altLang="en-US" dirty="0"/>
              <a:t>个加法，乘法指令执行的时间与加法是存在数量级的差别</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32</a:t>
            </a:fld>
            <a:endParaRPr lang="zh-CN" altLang="en-US">
              <a:solidFill>
                <a:prstClr val="black"/>
              </a:solidFill>
            </a:endParaRPr>
          </a:p>
        </p:txBody>
      </p:sp>
    </p:spTree>
    <p:extLst>
      <p:ext uri="{BB962C8B-B14F-4D97-AF65-F5344CB8AC3E}">
        <p14:creationId xmlns:p14="http://schemas.microsoft.com/office/powerpoint/2010/main" val="40040543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dirty="0">
              <a:solidFill>
                <a:srgbClr val="FF000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33</a:t>
            </a:fld>
            <a:endParaRPr lang="zh-CN" altLang="en-US">
              <a:solidFill>
                <a:prstClr val="black"/>
              </a:solidFill>
            </a:endParaRPr>
          </a:p>
        </p:txBody>
      </p:sp>
    </p:spTree>
    <p:extLst>
      <p:ext uri="{BB962C8B-B14F-4D97-AF65-F5344CB8AC3E}">
        <p14:creationId xmlns:p14="http://schemas.microsoft.com/office/powerpoint/2010/main" val="34969972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34</a:t>
            </a:fld>
            <a:endParaRPr lang="zh-CN" altLang="en-US">
              <a:solidFill>
                <a:prstClr val="black"/>
              </a:solidFill>
            </a:endParaRPr>
          </a:p>
        </p:txBody>
      </p:sp>
    </p:spTree>
    <p:extLst>
      <p:ext uri="{BB962C8B-B14F-4D97-AF65-F5344CB8AC3E}">
        <p14:creationId xmlns:p14="http://schemas.microsoft.com/office/powerpoint/2010/main" val="22760070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35</a:t>
            </a:fld>
            <a:endParaRPr lang="zh-CN" altLang="en-US">
              <a:solidFill>
                <a:prstClr val="black"/>
              </a:solidFill>
            </a:endParaRPr>
          </a:p>
        </p:txBody>
      </p:sp>
    </p:spTree>
    <p:extLst>
      <p:ext uri="{BB962C8B-B14F-4D97-AF65-F5344CB8AC3E}">
        <p14:creationId xmlns:p14="http://schemas.microsoft.com/office/powerpoint/2010/main" val="6439005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36</a:t>
            </a:fld>
            <a:endParaRPr lang="zh-CN" altLang="en-US">
              <a:solidFill>
                <a:prstClr val="black"/>
              </a:solidFill>
            </a:endParaRPr>
          </a:p>
        </p:txBody>
      </p:sp>
    </p:spTree>
    <p:extLst>
      <p:ext uri="{BB962C8B-B14F-4D97-AF65-F5344CB8AC3E}">
        <p14:creationId xmlns:p14="http://schemas.microsoft.com/office/powerpoint/2010/main" val="6430256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37</a:t>
            </a:fld>
            <a:endParaRPr lang="zh-CN" altLang="en-US">
              <a:solidFill>
                <a:prstClr val="black"/>
              </a:solidFill>
            </a:endParaRPr>
          </a:p>
        </p:txBody>
      </p:sp>
    </p:spTree>
    <p:extLst>
      <p:ext uri="{BB962C8B-B14F-4D97-AF65-F5344CB8AC3E}">
        <p14:creationId xmlns:p14="http://schemas.microsoft.com/office/powerpoint/2010/main" val="40098670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38</a:t>
            </a:fld>
            <a:endParaRPr lang="zh-CN" altLang="en-US">
              <a:solidFill>
                <a:prstClr val="black"/>
              </a:solidFill>
            </a:endParaRPr>
          </a:p>
        </p:txBody>
      </p:sp>
    </p:spTree>
    <p:extLst>
      <p:ext uri="{BB962C8B-B14F-4D97-AF65-F5344CB8AC3E}">
        <p14:creationId xmlns:p14="http://schemas.microsoft.com/office/powerpoint/2010/main" val="22019868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人去做，如何让机器去做</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39</a:t>
            </a:fld>
            <a:endParaRPr lang="zh-CN" altLang="en-US">
              <a:solidFill>
                <a:prstClr val="black"/>
              </a:solidFill>
            </a:endParaRPr>
          </a:p>
        </p:txBody>
      </p:sp>
    </p:spTree>
    <p:extLst>
      <p:ext uri="{BB962C8B-B14F-4D97-AF65-F5344CB8AC3E}">
        <p14:creationId xmlns:p14="http://schemas.microsoft.com/office/powerpoint/2010/main" val="28574899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pPr>
            <a:fld id="{C7BD893D-AF48-4910-A7F9-5A89C95235E9}" type="slidenum">
              <a:rPr lang="zh-CN" altLang="en-US" smtClean="0">
                <a:solidFill>
                  <a:prstClr val="black"/>
                </a:solidFill>
              </a:rPr>
              <a:pPr>
                <a:spcBef>
                  <a:spcPct val="0"/>
                </a:spcBef>
              </a:pPr>
              <a:t>40</a:t>
            </a:fld>
            <a:endParaRPr lang="en-US" altLang="zh-CN">
              <a:solidFill>
                <a:prstClr val="black"/>
              </a:solidFill>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7196990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不包含任何顺序和跳转的结构</a:t>
            </a:r>
            <a:endParaRPr lang="en-US" altLang="zh-CN" dirty="0"/>
          </a:p>
          <a:p>
            <a:endParaRPr lang="en-US" altLang="zh-CN" dirty="0"/>
          </a:p>
          <a:p>
            <a:r>
              <a:rPr lang="zh-CN" altLang="en-US" dirty="0"/>
              <a:t>外部程序不能调到中间的语句中</a:t>
            </a:r>
            <a:endParaRPr lang="en-US" altLang="zh-CN" dirty="0"/>
          </a:p>
          <a:p>
            <a:endParaRPr lang="en-US" altLang="zh-CN" dirty="0"/>
          </a:p>
          <a:p>
            <a:r>
              <a:rPr lang="zh-CN" altLang="en-US" dirty="0"/>
              <a:t>中间语句也不跳到外部去</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41</a:t>
            </a:fld>
            <a:endParaRPr lang="zh-CN" altLang="en-US">
              <a:solidFill>
                <a:prstClr val="black"/>
              </a:solidFill>
            </a:endParaRPr>
          </a:p>
        </p:txBody>
      </p:sp>
    </p:spTree>
    <p:extLst>
      <p:ext uri="{BB962C8B-B14F-4D97-AF65-F5344CB8AC3E}">
        <p14:creationId xmlns:p14="http://schemas.microsoft.com/office/powerpoint/2010/main" val="33540953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pPr>
            <a:fld id="{C29BBA6F-2F0A-49D1-8F78-05EFBCA56376}" type="slidenum">
              <a:rPr lang="zh-CN" altLang="en-US" smtClean="0">
                <a:solidFill>
                  <a:prstClr val="black"/>
                </a:solidFill>
              </a:rPr>
              <a:pPr>
                <a:spcBef>
                  <a:spcPct val="0"/>
                </a:spcBef>
              </a:pPr>
              <a:t>42</a:t>
            </a:fld>
            <a:endParaRPr lang="en-US" altLang="zh-CN">
              <a:solidFill>
                <a:prstClr val="black"/>
              </a:solidFill>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p>
        </p:txBody>
      </p:sp>
    </p:spTree>
    <p:extLst>
      <p:ext uri="{BB962C8B-B14F-4D97-AF65-F5344CB8AC3E}">
        <p14:creationId xmlns:p14="http://schemas.microsoft.com/office/powerpoint/2010/main" val="5917537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dirty="0">
                <a:solidFill>
                  <a:srgbClr val="0070C0"/>
                </a:solidFill>
                <a:latin typeface="微软雅黑" panose="020B0503020204020204" pitchFamily="34" charset="-122"/>
                <a:ea typeface="微软雅黑" panose="020B0503020204020204" pitchFamily="34" charset="-122"/>
              </a:rPr>
              <a:t>找到基本快的头和尾，头和尾之间顺序执行</a:t>
            </a:r>
            <a:endParaRPr lang="en-US" altLang="zh-CN" sz="1100" dirty="0">
              <a:solidFill>
                <a:srgbClr val="0070C0"/>
              </a:solidFill>
              <a:latin typeface="微软雅黑" panose="020B0503020204020204" pitchFamily="34" charset="-122"/>
              <a:ea typeface="微软雅黑" panose="020B0503020204020204" pitchFamily="34" charset="-122"/>
            </a:endParaRPr>
          </a:p>
          <a:p>
            <a:endParaRPr lang="en-US" altLang="zh-CN" sz="1100" dirty="0">
              <a:solidFill>
                <a:srgbClr val="0070C0"/>
              </a:solidFill>
              <a:latin typeface="微软雅黑" panose="020B0503020204020204" pitchFamily="34" charset="-122"/>
              <a:ea typeface="微软雅黑" panose="020B0503020204020204" pitchFamily="34" charset="-122"/>
            </a:endParaRPr>
          </a:p>
          <a:p>
            <a:r>
              <a:rPr lang="zh-CN" altLang="en-US" sz="1100" dirty="0">
                <a:solidFill>
                  <a:srgbClr val="0070C0"/>
                </a:solidFill>
                <a:latin typeface="微软雅黑" panose="020B0503020204020204" pitchFamily="34" charset="-122"/>
                <a:ea typeface="微软雅黑" panose="020B0503020204020204" pitchFamily="34" charset="-122"/>
              </a:rPr>
              <a:t>作为转移目标的语句，这种语句不可能出现在基本快的内部，只能作为基本快的入口 </a:t>
            </a:r>
            <a:endParaRPr lang="en-US" altLang="zh-CN" sz="1100" dirty="0">
              <a:solidFill>
                <a:srgbClr val="0070C0"/>
              </a:solidFill>
              <a:latin typeface="微软雅黑" panose="020B0503020204020204" pitchFamily="34" charset="-122"/>
              <a:ea typeface="微软雅黑" panose="020B0503020204020204" pitchFamily="34" charset="-122"/>
            </a:endParaRPr>
          </a:p>
          <a:p>
            <a:endParaRPr lang="en-US" altLang="zh-CN" sz="1100" dirty="0">
              <a:solidFill>
                <a:srgbClr val="0070C0"/>
              </a:solidFill>
              <a:latin typeface="微软雅黑" panose="020B0503020204020204" pitchFamily="34" charset="-122"/>
              <a:ea typeface="微软雅黑" panose="020B0503020204020204" pitchFamily="34" charset="-122"/>
            </a:endParaRPr>
          </a:p>
          <a:p>
            <a:r>
              <a:rPr lang="zh-CN" altLang="en-US" sz="1100" dirty="0">
                <a:solidFill>
                  <a:srgbClr val="0070C0"/>
                </a:solidFill>
                <a:latin typeface="微软雅黑" panose="020B0503020204020204" pitchFamily="34" charset="-122"/>
                <a:ea typeface="微软雅黑" panose="020B0503020204020204" pitchFamily="34" charset="-122"/>
              </a:rPr>
              <a:t>紧跟在条件转移语句后面的语句，就是条件转移语句不成立之后的语句</a:t>
            </a:r>
            <a:endParaRPr lang="en-US" altLang="zh-CN" sz="1100" dirty="0">
              <a:solidFill>
                <a:srgbClr val="0070C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43</a:t>
            </a:fld>
            <a:endParaRPr lang="zh-CN" altLang="en-US">
              <a:solidFill>
                <a:prstClr val="black"/>
              </a:solidFill>
            </a:endParaRPr>
          </a:p>
        </p:txBody>
      </p:sp>
    </p:spTree>
    <p:extLst>
      <p:ext uri="{BB962C8B-B14F-4D97-AF65-F5344CB8AC3E}">
        <p14:creationId xmlns:p14="http://schemas.microsoft.com/office/powerpoint/2010/main" val="18823836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646584">
              <a:defRPr/>
            </a:pPr>
            <a:endParaRPr lang="en-GB" altLang="zh-CN" sz="1100" dirty="0">
              <a:solidFill>
                <a:srgbClr val="C0000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44</a:t>
            </a:fld>
            <a:endParaRPr lang="zh-CN" altLang="en-US">
              <a:solidFill>
                <a:prstClr val="black"/>
              </a:solidFill>
            </a:endParaRPr>
          </a:p>
        </p:txBody>
      </p:sp>
    </p:spTree>
    <p:extLst>
      <p:ext uri="{BB962C8B-B14F-4D97-AF65-F5344CB8AC3E}">
        <p14:creationId xmlns:p14="http://schemas.microsoft.com/office/powerpoint/2010/main" val="36648798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转移语句就会把控制转移到另外的入口里面去，所以转移语句就是出口</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45</a:t>
            </a:fld>
            <a:endParaRPr lang="zh-CN" altLang="en-US">
              <a:solidFill>
                <a:prstClr val="black"/>
              </a:solidFill>
            </a:endParaRPr>
          </a:p>
        </p:txBody>
      </p:sp>
    </p:spTree>
    <p:extLst>
      <p:ext uri="{BB962C8B-B14F-4D97-AF65-F5344CB8AC3E}">
        <p14:creationId xmlns:p14="http://schemas.microsoft.com/office/powerpoint/2010/main" val="20424917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46</a:t>
            </a:fld>
            <a:endParaRPr lang="zh-CN" altLang="en-US">
              <a:solidFill>
                <a:prstClr val="black"/>
              </a:solidFill>
            </a:endParaRPr>
          </a:p>
        </p:txBody>
      </p:sp>
    </p:spTree>
    <p:extLst>
      <p:ext uri="{BB962C8B-B14F-4D97-AF65-F5344CB8AC3E}">
        <p14:creationId xmlns:p14="http://schemas.microsoft.com/office/powerpoint/2010/main" val="15798122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程序员没写好，写了一些没有用的语句</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47</a:t>
            </a:fld>
            <a:endParaRPr lang="zh-CN" altLang="en-US">
              <a:solidFill>
                <a:prstClr val="black"/>
              </a:solidFill>
            </a:endParaRPr>
          </a:p>
        </p:txBody>
      </p:sp>
    </p:spTree>
    <p:extLst>
      <p:ext uri="{BB962C8B-B14F-4D97-AF65-F5344CB8AC3E}">
        <p14:creationId xmlns:p14="http://schemas.microsoft.com/office/powerpoint/2010/main" val="41691485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48</a:t>
            </a:fld>
            <a:endParaRPr lang="zh-CN" altLang="en-US">
              <a:solidFill>
                <a:prstClr val="black"/>
              </a:solidFill>
            </a:endParaRPr>
          </a:p>
        </p:txBody>
      </p:sp>
    </p:spTree>
    <p:extLst>
      <p:ext uri="{BB962C8B-B14F-4D97-AF65-F5344CB8AC3E}">
        <p14:creationId xmlns:p14="http://schemas.microsoft.com/office/powerpoint/2010/main" val="11398992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49</a:t>
            </a:fld>
            <a:endParaRPr lang="zh-CN" altLang="en-US">
              <a:solidFill>
                <a:prstClr val="black"/>
              </a:solidFill>
            </a:endParaRPr>
          </a:p>
        </p:txBody>
      </p:sp>
    </p:spTree>
    <p:extLst>
      <p:ext uri="{BB962C8B-B14F-4D97-AF65-F5344CB8AC3E}">
        <p14:creationId xmlns:p14="http://schemas.microsoft.com/office/powerpoint/2010/main" val="39848018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50</a:t>
            </a:fld>
            <a:endParaRPr lang="zh-CN" altLang="en-US">
              <a:solidFill>
                <a:prstClr val="black"/>
              </a:solidFill>
            </a:endParaRPr>
          </a:p>
        </p:txBody>
      </p:sp>
    </p:spTree>
    <p:extLst>
      <p:ext uri="{BB962C8B-B14F-4D97-AF65-F5344CB8AC3E}">
        <p14:creationId xmlns:p14="http://schemas.microsoft.com/office/powerpoint/2010/main" val="15248752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有向边表示基本快之间的先后执行关系</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51</a:t>
            </a:fld>
            <a:endParaRPr lang="zh-CN" altLang="en-US">
              <a:solidFill>
                <a:prstClr val="black"/>
              </a:solidFill>
            </a:endParaRPr>
          </a:p>
        </p:txBody>
      </p:sp>
    </p:spTree>
    <p:extLst>
      <p:ext uri="{BB962C8B-B14F-4D97-AF65-F5344CB8AC3E}">
        <p14:creationId xmlns:p14="http://schemas.microsoft.com/office/powerpoint/2010/main" val="1102447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看出程序控制的结构和控制的关系，看出哪些基本快构成了选择，循环</a:t>
            </a:r>
            <a:endParaRPr lang="en-US" altLang="zh-CN" dirty="0"/>
          </a:p>
          <a:p>
            <a:endParaRPr lang="en-US" altLang="zh-CN" dirty="0"/>
          </a:p>
          <a:p>
            <a:r>
              <a:rPr lang="zh-CN" altLang="en-US" dirty="0"/>
              <a:t>流图为我们后续程序控制流的分析和循环的优化打下基础</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52</a:t>
            </a:fld>
            <a:endParaRPr lang="zh-CN" altLang="en-US">
              <a:solidFill>
                <a:prstClr val="black"/>
              </a:solidFill>
            </a:endParaRPr>
          </a:p>
        </p:txBody>
      </p:sp>
    </p:spTree>
    <p:extLst>
      <p:ext uri="{BB962C8B-B14F-4D97-AF65-F5344CB8AC3E}">
        <p14:creationId xmlns:p14="http://schemas.microsoft.com/office/powerpoint/2010/main" val="36592105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dirty="0"/>
              <a:t>删除公共子表达式：有些表达式会被重复计算，重复计算不会产生不同的结果，我们只引用前面计算的结果，删除公共子表达式</a:t>
            </a:r>
            <a:endParaRPr lang="en-US" altLang="zh-CN" dirty="0"/>
          </a:p>
          <a:p>
            <a:pPr marL="742950" marR="0" lvl="1" indent="-28575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r>
              <a:rPr lang="zh-CN" altLang="en-US" dirty="0"/>
              <a:t>临时变量改名：</a:t>
            </a:r>
            <a:r>
              <a:rPr lang="en-US" altLang="zh-CN" dirty="0" err="1"/>
              <a:t>newtemp</a:t>
            </a:r>
            <a:r>
              <a:rPr lang="zh-CN" altLang="en-US" dirty="0"/>
              <a:t>临时变量，保持临时计算结果，一批一批分配变量，或者其他考虑，可能会改下变量的名字</a:t>
            </a:r>
            <a:endParaRPr lang="en-US" altLang="zh-CN" dirty="0"/>
          </a:p>
          <a:p>
            <a:pPr marL="742950" marR="0" lvl="1" indent="-28575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r>
              <a:rPr lang="zh-CN" altLang="en-US" dirty="0"/>
              <a:t>交换语句位置：前面对变量进行定值之后，后面的语句就直接引用这个变量的话，寄存机的分配是非常方便，改变语句顺序就能够得到结果</a:t>
            </a:r>
            <a:endParaRPr lang="en-US" altLang="zh-CN" dirty="0"/>
          </a:p>
          <a:p>
            <a:pPr marL="742950" marR="0" lvl="1" indent="-28575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endParaRPr lang="en-US" altLang="zh-CN" dirty="0"/>
          </a:p>
          <a:p>
            <a:pPr marL="742950" marR="0" lvl="1" indent="-28575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r>
              <a:rPr lang="zh-CN" altLang="en-US" dirty="0"/>
              <a:t>代数变换：把耗时量大的运算替换成等价的耗时量小的运算</a:t>
            </a:r>
            <a:endParaRPr lang="en-US" altLang="zh-CN" dirty="0"/>
          </a:p>
          <a:p>
            <a:pPr marL="742950" marR="0" lvl="1" indent="-28575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endParaRPr lang="en-US" altLang="zh-CN" dirty="0"/>
          </a:p>
          <a:p>
            <a:pPr marL="742950" marR="0" lvl="1" indent="-28575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r>
              <a:rPr lang="zh-CN" altLang="en-US" dirty="0"/>
              <a:t>给出一个系统的方法，对基本块进行优化</a:t>
            </a:r>
            <a:endParaRPr lang="en-US" altLang="zh-CN" dirty="0"/>
          </a:p>
        </p:txBody>
      </p:sp>
    </p:spTree>
    <p:extLst>
      <p:ext uri="{BB962C8B-B14F-4D97-AF65-F5344CB8AC3E}">
        <p14:creationId xmlns:p14="http://schemas.microsoft.com/office/powerpoint/2010/main" val="40835837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54</a:t>
            </a:fld>
            <a:endParaRPr lang="zh-CN" altLang="en-US">
              <a:solidFill>
                <a:prstClr val="black"/>
              </a:solidFill>
            </a:endParaRPr>
          </a:p>
        </p:txBody>
      </p:sp>
    </p:spTree>
    <p:extLst>
      <p:ext uri="{BB962C8B-B14F-4D97-AF65-F5344CB8AC3E}">
        <p14:creationId xmlns:p14="http://schemas.microsoft.com/office/powerpoint/2010/main" val="18641050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55</a:t>
            </a:fld>
            <a:endParaRPr lang="zh-CN" altLang="en-US">
              <a:solidFill>
                <a:prstClr val="black"/>
              </a:solidFill>
            </a:endParaRPr>
          </a:p>
        </p:txBody>
      </p:sp>
    </p:spTree>
    <p:extLst>
      <p:ext uri="{BB962C8B-B14F-4D97-AF65-F5344CB8AC3E}">
        <p14:creationId xmlns:p14="http://schemas.microsoft.com/office/powerpoint/2010/main" val="27159240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2002" name="幻灯片图像占位符 1"/>
          <p:cNvSpPr>
            <a:spLocks noGrp="1" noRot="1" noChangeAspect="1" noTextEdit="1"/>
          </p:cNvSpPr>
          <p:nvPr>
            <p:ph type="sldImg"/>
          </p:nvPr>
        </p:nvSpPr>
        <p:spPr/>
      </p:sp>
      <p:sp>
        <p:nvSpPr>
          <p:cNvPr id="1152003"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p:txBody>
          <a:bodyPr/>
          <a:lstStyle/>
          <a:p>
            <a:pPr>
              <a:defRPr/>
            </a:pPr>
            <a:fld id="{63C3FD2C-3937-42CE-8AF3-6B4A2A720AEA}" type="slidenum">
              <a:rPr lang="zh-CN" altLang="en-US" smtClean="0">
                <a:solidFill>
                  <a:prstClr val="black"/>
                </a:solidFill>
              </a:rPr>
              <a:pPr>
                <a:defRPr/>
              </a:pPr>
              <a:t>56</a:t>
            </a:fld>
            <a:endParaRPr lang="zh-CN" altLang="en-US">
              <a:solidFill>
                <a:prstClr val="black"/>
              </a:solidFill>
            </a:endParaRPr>
          </a:p>
        </p:txBody>
      </p:sp>
    </p:spTree>
    <p:extLst>
      <p:ext uri="{BB962C8B-B14F-4D97-AF65-F5344CB8AC3E}">
        <p14:creationId xmlns:p14="http://schemas.microsoft.com/office/powerpoint/2010/main" val="26122878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消除冗余子树，没有箭头，都是从上层节点指向下层节点，</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57</a:t>
            </a:fld>
            <a:endParaRPr lang="zh-CN" altLang="en-US">
              <a:solidFill>
                <a:prstClr val="black"/>
              </a:solidFill>
            </a:endParaRPr>
          </a:p>
        </p:txBody>
      </p:sp>
    </p:spTree>
    <p:extLst>
      <p:ext uri="{BB962C8B-B14F-4D97-AF65-F5344CB8AC3E}">
        <p14:creationId xmlns:p14="http://schemas.microsoft.com/office/powerpoint/2010/main" val="86205506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58</a:t>
            </a:fld>
            <a:endParaRPr lang="zh-CN" altLang="en-US">
              <a:solidFill>
                <a:prstClr val="black"/>
              </a:solidFill>
            </a:endParaRPr>
          </a:p>
        </p:txBody>
      </p:sp>
    </p:spTree>
    <p:extLst>
      <p:ext uri="{BB962C8B-B14F-4D97-AF65-F5344CB8AC3E}">
        <p14:creationId xmlns:p14="http://schemas.microsoft.com/office/powerpoint/2010/main" val="34758855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消除了冗余的</a:t>
            </a:r>
            <a:r>
              <a:rPr lang="en-US" altLang="zh-CN" dirty="0"/>
              <a:t>-c</a:t>
            </a:r>
            <a:r>
              <a:rPr lang="zh-CN" altLang="en-US" dirty="0"/>
              <a:t>运算和</a:t>
            </a:r>
            <a:r>
              <a:rPr lang="en-US" altLang="zh-CN" dirty="0"/>
              <a:t>b</a:t>
            </a:r>
            <a:r>
              <a:rPr lang="zh-CN" altLang="en-US" dirty="0"/>
              <a:t>乘以</a:t>
            </a:r>
            <a:r>
              <a:rPr lang="en-US" altLang="zh-CN" dirty="0"/>
              <a:t>-c</a:t>
            </a:r>
            <a:r>
              <a:rPr lang="zh-CN" altLang="en-US" dirty="0"/>
              <a:t>的运算，有向无环图中的子树共享的方式可以帮助我们做优化</a:t>
            </a:r>
            <a:endParaRPr lang="en-US" altLang="zh-CN" dirty="0"/>
          </a:p>
          <a:p>
            <a:endParaRPr lang="en-US" altLang="zh-CN" dirty="0"/>
          </a:p>
          <a:p>
            <a:r>
              <a:rPr lang="zh-CN" altLang="en-US" dirty="0"/>
              <a:t>用</a:t>
            </a:r>
            <a:r>
              <a:rPr lang="en-US" altLang="zh-CN" dirty="0"/>
              <a:t>DGA</a:t>
            </a:r>
            <a:r>
              <a:rPr lang="zh-CN" altLang="en-US" dirty="0"/>
              <a:t>为工具进行优化</a:t>
            </a:r>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59</a:t>
            </a:fld>
            <a:endParaRPr lang="zh-CN" altLang="en-US">
              <a:solidFill>
                <a:prstClr val="black"/>
              </a:solidFill>
            </a:endParaRPr>
          </a:p>
        </p:txBody>
      </p:sp>
    </p:spTree>
    <p:extLst>
      <p:ext uri="{BB962C8B-B14F-4D97-AF65-F5344CB8AC3E}">
        <p14:creationId xmlns:p14="http://schemas.microsoft.com/office/powerpoint/2010/main" val="4439236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pPr>
            <a:fld id="{A919F896-3115-4430-8506-0123F11E4110}" type="slidenum">
              <a:rPr lang="zh-CN" altLang="en-US" smtClean="0">
                <a:solidFill>
                  <a:prstClr val="black"/>
                </a:solidFill>
              </a:rPr>
              <a:pPr>
                <a:spcBef>
                  <a:spcPct val="0"/>
                </a:spcBef>
              </a:pPr>
              <a:t>60</a:t>
            </a:fld>
            <a:endParaRPr lang="en-US" altLang="zh-CN">
              <a:solidFill>
                <a:prstClr val="black"/>
              </a:solidFill>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约定箭头都是从上层节点指向下层节点，不在标记箭头了</a:t>
            </a:r>
            <a:endParaRPr lang="en-GB" altLang="zh-CN" dirty="0"/>
          </a:p>
        </p:txBody>
      </p:sp>
    </p:spTree>
    <p:extLst>
      <p:ext uri="{BB962C8B-B14F-4D97-AF65-F5344CB8AC3E}">
        <p14:creationId xmlns:p14="http://schemas.microsoft.com/office/powerpoint/2010/main" val="39013748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r>
              <a:rPr lang="zh-CN" altLang="en-US" dirty="0"/>
              <a:t>每个三地址的指令看作一个小的基本块，由于变量之间相互引用，小的基本块就会连接成大的基本块，每条三地址语句构成基本块画出的</a:t>
            </a:r>
            <a:r>
              <a:rPr lang="en-US" altLang="zh-CN" dirty="0"/>
              <a:t>DAG</a:t>
            </a:r>
            <a:r>
              <a:rPr lang="zh-CN" altLang="en-US" dirty="0"/>
              <a:t>图构成一个大的</a:t>
            </a:r>
            <a:r>
              <a:rPr lang="en-US" altLang="zh-CN" dirty="0"/>
              <a:t>DAG</a:t>
            </a:r>
            <a:r>
              <a:rPr lang="zh-CN" altLang="en-US" dirty="0"/>
              <a:t>图，每个三地址指令都构成一个小的</a:t>
            </a:r>
            <a:r>
              <a:rPr lang="en-US" altLang="zh-CN" dirty="0"/>
              <a:t>DAG</a:t>
            </a:r>
            <a:r>
              <a:rPr lang="zh-CN" altLang="en-US" dirty="0"/>
              <a:t>，小的</a:t>
            </a:r>
            <a:r>
              <a:rPr lang="en-US" altLang="zh-CN" dirty="0"/>
              <a:t>DAG</a:t>
            </a:r>
            <a:r>
              <a:rPr lang="zh-CN" altLang="en-US" dirty="0"/>
              <a:t>通过三地址指令间变量的相互引用，构成一个大的</a:t>
            </a:r>
            <a:r>
              <a:rPr lang="en-US" altLang="zh-CN" dirty="0"/>
              <a:t>DAG</a:t>
            </a:r>
          </a:p>
          <a:p>
            <a:pPr marL="0" marR="0" lvl="0" indent="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endParaRPr lang="en-US" altLang="zh-CN" dirty="0"/>
          </a:p>
          <a:p>
            <a:pPr marL="0" marR="0" lvl="0" indent="0" algn="l" defTabSz="449580"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r>
              <a:rPr lang="en-US" altLang="zh-CN" dirty="0"/>
              <a:t>0</a:t>
            </a:r>
            <a:r>
              <a:rPr lang="zh-CN" altLang="en-US" dirty="0"/>
              <a:t>型表示没有操作数，等号就是一个</a:t>
            </a:r>
            <a:r>
              <a:rPr lang="en-US" altLang="zh-CN" dirty="0"/>
              <a:t>0</a:t>
            </a:r>
            <a:r>
              <a:rPr lang="zh-CN" altLang="en-US" dirty="0"/>
              <a:t>型操作数</a:t>
            </a:r>
            <a:endParaRPr lang="en-GB" altLang="zh-CN" dirty="0"/>
          </a:p>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61</a:t>
            </a:fld>
            <a:endParaRPr lang="zh-CN" altLang="en-US">
              <a:solidFill>
                <a:prstClr val="black"/>
              </a:solidFill>
            </a:endParaRPr>
          </a:p>
        </p:txBody>
      </p:sp>
    </p:spTree>
    <p:extLst>
      <p:ext uri="{BB962C8B-B14F-4D97-AF65-F5344CB8AC3E}">
        <p14:creationId xmlns:p14="http://schemas.microsoft.com/office/powerpoint/2010/main" val="23648859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56C61CE-634D-4F64-ACD8-85A675627EA4}" type="slidenum">
              <a:rPr lang="zh-CN" altLang="en-US" smtClean="0">
                <a:solidFill>
                  <a:prstClr val="black"/>
                </a:solidFill>
              </a:rPr>
              <a:pPr/>
              <a:t>62</a:t>
            </a:fld>
            <a:endParaRPr lang="zh-CN" altLang="en-US">
              <a:solidFill>
                <a:prstClr val="black"/>
              </a:solidFill>
            </a:endParaRPr>
          </a:p>
        </p:txBody>
      </p:sp>
    </p:spTree>
    <p:extLst>
      <p:ext uri="{BB962C8B-B14F-4D97-AF65-F5344CB8AC3E}">
        <p14:creationId xmlns:p14="http://schemas.microsoft.com/office/powerpoint/2010/main" val="42932280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862112">
              <a:buNone/>
              <a:defRPr/>
            </a:pPr>
            <a:r>
              <a:rPr lang="zh-CN" altLang="en-US" dirty="0"/>
              <a:t>也就是基本块优化算法的框架</a:t>
            </a:r>
            <a:endParaRPr lang="en-US" altLang="zh-CN" dirty="0"/>
          </a:p>
          <a:p>
            <a:pPr marL="228600" indent="-228600" defTabSz="862112">
              <a:buAutoNum type="arabicPeriod"/>
              <a:defRPr/>
            </a:pPr>
            <a:endParaRPr lang="en-US" altLang="zh-CN" dirty="0"/>
          </a:p>
          <a:p>
            <a:pPr marL="228600" indent="-228600" defTabSz="862112">
              <a:buAutoNum type="arabicPeriod"/>
              <a:defRPr/>
            </a:pPr>
            <a:r>
              <a:rPr lang="zh-CN" altLang="en-US" dirty="0"/>
              <a:t>准备操作数的结点：把赋值号右边的操作数节点准备好</a:t>
            </a:r>
            <a:endParaRPr lang="en-US" altLang="zh-CN" dirty="0"/>
          </a:p>
          <a:p>
            <a:pPr marL="228600" indent="-228600" defTabSz="862112">
              <a:buAutoNum type="arabicPeriod"/>
              <a:defRPr/>
            </a:pPr>
            <a:r>
              <a:rPr lang="zh-CN" altLang="en-US" dirty="0"/>
              <a:t>合并已知量：如果发现二元操作数或者一元运算的操作数是个常量，就直接生成常量节点，不用生成由运算符构成的内部节点了</a:t>
            </a:r>
            <a:endParaRPr lang="en-US" altLang="zh-CN" dirty="0"/>
          </a:p>
          <a:p>
            <a:pPr marL="228600" indent="-228600" defTabSz="862112">
              <a:buAutoNum type="arabicPeriod"/>
              <a:defRPr/>
            </a:pPr>
            <a:r>
              <a:rPr lang="zh-CN" altLang="en-US" dirty="0"/>
              <a:t>删除公共子表达式，生成由运算符构成的内部节点，但是需要观察是否有一样的内部节点，也就是以前算过的，也就是出现了公共子表达式如果有的话就不需要再产生了</a:t>
            </a:r>
            <a:endParaRPr lang="en-US" altLang="zh-CN" dirty="0"/>
          </a:p>
          <a:p>
            <a:pPr marL="228600" indent="-228600" defTabSz="862112">
              <a:buAutoNum type="arabicPeriod"/>
              <a:defRPr/>
            </a:pPr>
            <a:r>
              <a:rPr lang="zh-CN" altLang="en-US" dirty="0"/>
              <a:t>删除无用赋值：找到无用赋值，把它删掉</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65</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51388438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发现</a:t>
            </a:r>
            <a:r>
              <a:rPr lang="en-US" altLang="zh-CN" dirty="0"/>
              <a:t>2</a:t>
            </a:r>
            <a:r>
              <a:rPr lang="zh-CN" altLang="en-US" dirty="0"/>
              <a:t>是常数，</a:t>
            </a:r>
            <a:r>
              <a:rPr lang="en-US" altLang="zh-CN" dirty="0"/>
              <a:t>T0</a:t>
            </a:r>
            <a:r>
              <a:rPr lang="zh-CN" altLang="en-US" dirty="0"/>
              <a:t>也是常数，因此，构造一个</a:t>
            </a:r>
            <a:r>
              <a:rPr lang="en-US" altLang="zh-CN" dirty="0"/>
              <a:t>6.28</a:t>
            </a:r>
            <a:r>
              <a:rPr lang="zh-CN" altLang="en-US" dirty="0"/>
              <a:t>的节点，然后把在生成</a:t>
            </a:r>
            <a:r>
              <a:rPr lang="en-US" altLang="zh-CN" dirty="0"/>
              <a:t>6.28</a:t>
            </a:r>
            <a:r>
              <a:rPr lang="zh-CN" altLang="en-US" dirty="0"/>
              <a:t>这个节点过程中</a:t>
            </a:r>
            <a:r>
              <a:rPr lang="en-US" altLang="zh-CN" dirty="0"/>
              <a:t>2</a:t>
            </a:r>
            <a:r>
              <a:rPr lang="zh-CN" altLang="en-US" dirty="0"/>
              <a:t>这个节点移除</a:t>
            </a: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9532319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15528" indent="-215528"/>
            <a:r>
              <a:rPr lang="zh-CN" altLang="en-US" dirty="0"/>
              <a:t>第九句话，</a:t>
            </a:r>
            <a:r>
              <a:rPr lang="en-US" altLang="zh-CN" dirty="0"/>
              <a:t>R</a:t>
            </a:r>
            <a:r>
              <a:rPr lang="zh-CN" altLang="en-US" dirty="0"/>
              <a:t>和</a:t>
            </a:r>
            <a:r>
              <a:rPr lang="en-US" altLang="zh-CN" dirty="0"/>
              <a:t>r</a:t>
            </a:r>
            <a:r>
              <a:rPr lang="zh-CN" altLang="en-US" dirty="0"/>
              <a:t>都不是常数，因此，不能合并已知量</a:t>
            </a:r>
            <a:endParaRPr lang="en-US" altLang="zh-CN" dirty="0"/>
          </a:p>
          <a:p>
            <a:pPr marL="215528" indent="-215528"/>
            <a:r>
              <a:rPr lang="zh-CN" altLang="en-US" dirty="0"/>
              <a:t>找公共子表达式，左边是</a:t>
            </a:r>
            <a:r>
              <a:rPr lang="en-US" altLang="zh-CN" dirty="0"/>
              <a:t>n3</a:t>
            </a:r>
            <a:r>
              <a:rPr lang="zh-CN" altLang="en-US" dirty="0"/>
              <a:t>，右边是</a:t>
            </a:r>
            <a:r>
              <a:rPr lang="en-US" altLang="zh-CN" dirty="0"/>
              <a:t>n4</a:t>
            </a:r>
            <a:r>
              <a:rPr lang="zh-CN" altLang="en-US" dirty="0"/>
              <a:t>，内部节点是减号</a:t>
            </a:r>
            <a:endParaRPr lang="en-US" altLang="zh-CN" dirty="0"/>
          </a:p>
          <a:p>
            <a:pPr marL="215528" indent="-215528"/>
            <a:r>
              <a:rPr lang="en-US" altLang="zh-CN" dirty="0"/>
              <a:t>B</a:t>
            </a:r>
            <a:r>
              <a:rPr lang="zh-CN" altLang="en-US" dirty="0"/>
              <a:t>就是无用赋值了，将来就不会产生将</a:t>
            </a:r>
            <a:r>
              <a:rPr lang="en-US" altLang="zh-CN" dirty="0"/>
              <a:t>n6</a:t>
            </a:r>
            <a:r>
              <a:rPr lang="zh-CN" altLang="en-US" dirty="0"/>
              <a:t>节点给</a:t>
            </a:r>
            <a:r>
              <a:rPr lang="en-US" altLang="zh-CN" dirty="0"/>
              <a:t>B</a:t>
            </a:r>
            <a:r>
              <a:rPr lang="zh-CN" altLang="en-US" dirty="0"/>
              <a:t>的代码了</a:t>
            </a:r>
            <a:endParaRPr lang="en-US" altLang="zh-CN" dirty="0"/>
          </a:p>
          <a:p>
            <a:pPr marL="215528" indent="-215528"/>
            <a:endParaRPr lang="en-US" altLang="zh-CN" dirty="0"/>
          </a:p>
          <a:p>
            <a:pPr marL="215528" indent="-215528"/>
            <a:r>
              <a:rPr lang="en-US" altLang="zh-CN" dirty="0"/>
              <a:t>2 </a:t>
            </a:r>
            <a:r>
              <a:rPr lang="zh-CN" altLang="en-US" dirty="0"/>
              <a:t>和</a:t>
            </a:r>
            <a:r>
              <a:rPr lang="en-US" altLang="zh-CN" dirty="0"/>
              <a:t>6 </a:t>
            </a:r>
            <a:r>
              <a:rPr lang="zh-CN" altLang="en-US" dirty="0"/>
              <a:t>都是已知量，没有生成对应的乘法节点，直接用了</a:t>
            </a:r>
            <a:r>
              <a:rPr lang="en-US" altLang="zh-CN" dirty="0"/>
              <a:t>6.28</a:t>
            </a:r>
            <a:r>
              <a:rPr lang="zh-CN" altLang="en-US" dirty="0"/>
              <a:t>的常数节点，就是合并已知量</a:t>
            </a:r>
            <a:endParaRPr lang="en-US" altLang="zh-CN" dirty="0"/>
          </a:p>
          <a:p>
            <a:pPr marL="215528" indent="-215528"/>
            <a:endParaRPr lang="en-US" altLang="zh-CN" dirty="0"/>
          </a:p>
          <a:p>
            <a:pPr marL="215528" indent="-215528"/>
            <a:r>
              <a:rPr lang="en-US" altLang="zh-CN" dirty="0"/>
              <a:t>5</a:t>
            </a:r>
            <a:r>
              <a:rPr lang="zh-CN" altLang="en-US" dirty="0"/>
              <a:t>是无用赋值，就删掉了</a:t>
            </a:r>
            <a:endParaRPr lang="en-US" altLang="zh-CN" dirty="0"/>
          </a:p>
          <a:p>
            <a:pPr marL="215528" indent="-215528"/>
            <a:endParaRPr lang="en-US" altLang="zh-CN" dirty="0"/>
          </a:p>
          <a:p>
            <a:pPr marL="215528" indent="-215528"/>
            <a:r>
              <a:rPr lang="en-US" altLang="zh-CN" dirty="0"/>
              <a:t>3 </a:t>
            </a:r>
            <a:r>
              <a:rPr lang="zh-CN" altLang="en-US" dirty="0"/>
              <a:t>和</a:t>
            </a:r>
            <a:r>
              <a:rPr lang="en-US" altLang="zh-CN" dirty="0"/>
              <a:t>7 </a:t>
            </a:r>
            <a:r>
              <a:rPr lang="zh-CN" altLang="en-US" dirty="0"/>
              <a:t>是公共子表达式，只生成了一个</a:t>
            </a:r>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5649836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8C974496-B4CC-4ABC-B3ED-734A43E8B6CF}" type="slidenum">
              <a:rPr kumimoji="0" lang="zh-CN" altLang="en-US" sz="11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457200" rtl="0" eaLnBrk="1" fontAlgn="auto" latinLnBrk="0" hangingPunct="1">
                <a:lnSpc>
                  <a:spcPct val="100000"/>
                </a:lnSpc>
                <a:spcBef>
                  <a:spcPct val="0"/>
                </a:spcBef>
                <a:spcAft>
                  <a:spcPts val="0"/>
                </a:spcAft>
                <a:buClrTx/>
                <a:buSzTx/>
                <a:buFontTx/>
                <a:buNone/>
                <a:tabLst/>
                <a:defRPr/>
              </a:pPr>
              <a:t>68</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没有附加标记不用重写</a:t>
            </a:r>
            <a:endParaRPr lang="en-US" altLang="zh-CN" dirty="0"/>
          </a:p>
          <a:p>
            <a:pPr eaLnBrk="1" hangingPunct="1"/>
            <a:endParaRPr lang="en-US" altLang="zh-CN" dirty="0"/>
          </a:p>
          <a:p>
            <a:pPr eaLnBrk="1" hangingPunct="1"/>
            <a:r>
              <a:rPr lang="zh-CN" altLang="en-US" dirty="0"/>
              <a:t>从叶子节点开始进行重写就行了</a:t>
            </a:r>
            <a:endParaRPr lang="en-US" altLang="zh-CN" dirty="0"/>
          </a:p>
          <a:p>
            <a:pPr eaLnBrk="1" hangingPunct="1"/>
            <a:endParaRPr lang="en-US" altLang="zh-CN" dirty="0"/>
          </a:p>
          <a:p>
            <a:pPr eaLnBrk="1" hangingPunct="1"/>
            <a:r>
              <a:rPr lang="zh-CN" altLang="en-US" dirty="0"/>
              <a:t>乘法数量减少，赋值减少</a:t>
            </a:r>
            <a:endParaRPr lang="en-US" altLang="zh-CN" dirty="0"/>
          </a:p>
          <a:p>
            <a:pPr eaLnBrk="1" hangingPunct="1"/>
            <a:endParaRPr lang="en-US" altLang="zh-CN" dirty="0"/>
          </a:p>
          <a:p>
            <a:pPr eaLnBrk="1" hangingPunct="1"/>
            <a:r>
              <a:rPr lang="zh-CN" altLang="en-US" dirty="0"/>
              <a:t>加法数量也减少了</a:t>
            </a:r>
            <a:endParaRPr lang="en-US" altLang="zh-CN" dirty="0"/>
          </a:p>
          <a:p>
            <a:pPr eaLnBrk="1" hangingPunct="1"/>
            <a:endParaRPr lang="en-US" altLang="zh-CN" dirty="0"/>
          </a:p>
          <a:p>
            <a:pPr eaLnBrk="1" hangingPunct="1"/>
            <a:r>
              <a:rPr lang="zh-CN" altLang="en-US" dirty="0"/>
              <a:t>减少了</a:t>
            </a:r>
            <a:r>
              <a:rPr lang="en-US" altLang="zh-CN" dirty="0"/>
              <a:t>3</a:t>
            </a:r>
            <a:r>
              <a:rPr lang="zh-CN" altLang="en-US" dirty="0"/>
              <a:t>个乘法和</a:t>
            </a:r>
            <a:r>
              <a:rPr lang="en-US" altLang="zh-CN" dirty="0"/>
              <a:t>1</a:t>
            </a:r>
            <a:r>
              <a:rPr lang="zh-CN" altLang="en-US" dirty="0"/>
              <a:t>个加法</a:t>
            </a:r>
            <a:endParaRPr lang="zh-CN" altLang="en-GB" dirty="0"/>
          </a:p>
        </p:txBody>
      </p:sp>
    </p:spTree>
    <p:extLst>
      <p:ext uri="{BB962C8B-B14F-4D97-AF65-F5344CB8AC3E}">
        <p14:creationId xmlns:p14="http://schemas.microsoft.com/office/powerpoint/2010/main" val="380345436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8C974496-B4CC-4ABC-B3ED-734A43E8B6CF}" type="slidenum">
              <a:rPr kumimoji="0" lang="zh-CN" altLang="en-US" sz="11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457200" rtl="0" eaLnBrk="1" fontAlgn="auto" latinLnBrk="0" hangingPunct="1">
                <a:lnSpc>
                  <a:spcPct val="100000"/>
                </a:lnSpc>
                <a:spcBef>
                  <a:spcPct val="0"/>
                </a:spcBef>
                <a:spcAft>
                  <a:spcPts val="0"/>
                </a:spcAft>
                <a:buClrTx/>
                <a:buSzTx/>
                <a:buFontTx/>
                <a:buNone/>
                <a:tabLst/>
                <a:defRPr/>
              </a:pPr>
              <a:t>69</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把不活跃的变量赋值给他拿掉</a:t>
            </a:r>
            <a:endParaRPr lang="en-US" altLang="zh-CN" dirty="0"/>
          </a:p>
          <a:p>
            <a:pPr eaLnBrk="1" hangingPunct="1"/>
            <a:endParaRPr lang="en-US" altLang="zh-CN" dirty="0"/>
          </a:p>
          <a:p>
            <a:pPr eaLnBrk="1" hangingPunct="1"/>
            <a:r>
              <a:rPr lang="zh-CN" altLang="en-US" dirty="0"/>
              <a:t>只有</a:t>
            </a:r>
            <a:r>
              <a:rPr lang="en-US" altLang="zh-CN" dirty="0"/>
              <a:t>A</a:t>
            </a:r>
            <a:r>
              <a:rPr lang="zh-CN" altLang="en-US" dirty="0"/>
              <a:t>和</a:t>
            </a:r>
            <a:r>
              <a:rPr lang="en-US" altLang="zh-CN" dirty="0"/>
              <a:t>B</a:t>
            </a:r>
            <a:r>
              <a:rPr lang="zh-CN" altLang="en-US" dirty="0"/>
              <a:t>的运算，以及他们依赖的运算要保留</a:t>
            </a:r>
            <a:endParaRPr lang="zh-CN" altLang="en-GB" dirty="0"/>
          </a:p>
        </p:txBody>
      </p:sp>
    </p:spTree>
    <p:extLst>
      <p:ext uri="{BB962C8B-B14F-4D97-AF65-F5344CB8AC3E}">
        <p14:creationId xmlns:p14="http://schemas.microsoft.com/office/powerpoint/2010/main" val="41107760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a:t>Node</a:t>
                </a:r>
                <a:r>
                  <a:rPr lang="zh-CN" altLang="en-US" dirty="0"/>
                  <a:t>能够找到</a:t>
                </a:r>
                <a:r>
                  <a:rPr lang="en-US" altLang="zh-CN" dirty="0"/>
                  <a:t>A</a:t>
                </a:r>
                <a:r>
                  <a:rPr lang="zh-CN" altLang="en-US" dirty="0"/>
                  <a:t>所对应节点的编号</a:t>
                </a:r>
              </a:p>
            </p:txBody>
          </p:sp>
        </mc:Choice>
        <mc:Fallback xmlns="">
          <p:sp>
            <p:nvSpPr>
              <p:cNvPr id="3" name="备注占位符 2"/>
              <p:cNvSpPr>
                <a:spLocks noGrp="1"/>
              </p:cNvSpPr>
              <p:nvPr>
                <p:ph type="body" idx="1"/>
              </p:nvPr>
            </p:nvSpPr>
            <p:spPr/>
            <p:txBody>
              <a:bodyPr/>
              <a:lstStyle/>
              <a:p>
                <a:r>
                  <a:rPr lang="zh-CN" altLang="en-US" sz="1200" i="0" smtClean="0">
                    <a:latin typeface="Cambria Math" panose="02040503050406030204" pitchFamily="18" charset="0"/>
                  </a:rPr>
                  <a:t>把刚才</a:t>
                </a:r>
                <a:r>
                  <a:rPr lang="zh-CN" altLang="en-US" sz="1200" dirty="0"/>
                  <a:t>我们的做法写成算法。就得到了构造基本块的</a:t>
                </a:r>
                <a:r>
                  <a:rPr lang="en-US" altLang="zh-CN" sz="1200" dirty="0"/>
                  <a:t>DAG</a:t>
                </a:r>
                <a:r>
                  <a:rPr lang="zh-CN" altLang="en-US" sz="1200" dirty="0"/>
                  <a:t>的算法，也就是通过</a:t>
                </a:r>
                <a:r>
                  <a:rPr lang="en-US" altLang="zh-CN" sz="1200" dirty="0"/>
                  <a:t>DAG</a:t>
                </a:r>
                <a:r>
                  <a:rPr lang="zh-CN" altLang="en-US" sz="1200" dirty="0"/>
                  <a:t>进行基本块优化的算法。</a:t>
                </a:r>
                <a:endParaRPr lang="en-US" altLang="zh-CN" sz="1200" dirty="0"/>
              </a:p>
              <a:p>
                <a:endParaRPr lang="en-US" altLang="zh-CN" sz="1200" dirty="0"/>
              </a:p>
              <a:p>
                <a:r>
                  <a:rPr lang="zh-CN" altLang="en-US" sz="1200" dirty="0">
                    <a:solidFill>
                      <a:srgbClr val="C00000"/>
                    </a:solidFill>
                  </a:rPr>
                  <a:t>为了描述方便，我们引入了一个函数</a:t>
                </a:r>
                <a:r>
                  <a:rPr lang="en-US" altLang="zh-CN" sz="1200" dirty="0">
                    <a:solidFill>
                      <a:srgbClr val="C00000"/>
                    </a:solidFill>
                  </a:rPr>
                  <a:t>Node</a:t>
                </a:r>
                <a:r>
                  <a:rPr lang="zh-CN" altLang="en-US" sz="1200" dirty="0">
                    <a:solidFill>
                      <a:srgbClr val="C00000"/>
                    </a:solidFill>
                  </a:rPr>
                  <a:t>，用来保存和计算</a:t>
                </a:r>
                <a:r>
                  <a:rPr lang="en-US" altLang="zh-CN" sz="1200" dirty="0">
                    <a:solidFill>
                      <a:srgbClr val="C00000"/>
                    </a:solidFill>
                    <a:latin typeface="微软雅黑" panose="020B0503020204020204" pitchFamily="34" charset="-122"/>
                  </a:rPr>
                  <a:t>DAG</a:t>
                </a:r>
                <a:r>
                  <a:rPr lang="zh-CN" altLang="en-US" sz="1200" dirty="0">
                    <a:solidFill>
                      <a:srgbClr val="C00000"/>
                    </a:solidFill>
                    <a:latin typeface="微软雅黑" panose="020B0503020204020204" pitchFamily="34" charset="-122"/>
                  </a:rPr>
                  <a:t>中标识符与结点的对应</a:t>
                </a:r>
                <a:r>
                  <a:rPr lang="zh-CN" altLang="en-US" sz="1200" dirty="0" smtClean="0">
                    <a:solidFill>
                      <a:srgbClr val="C00000"/>
                    </a:solidFill>
                    <a:latin typeface="微软雅黑" panose="020B0503020204020204" pitchFamily="34" charset="-122"/>
                  </a:rPr>
                  <a:t>关系。</a:t>
                </a:r>
                <a:endParaRPr lang="zh-CN" altLang="en-US" dirty="0"/>
              </a:p>
            </p:txBody>
          </p:sp>
        </mc:Fallback>
      </mc:AlternateContent>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585707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B2D42DDF-E92E-437E-8D03-F9B2686B72FA}" type="slidenum">
              <a:rPr kumimoji="0" lang="zh-CN" altLang="en-US" sz="11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457200" rtl="0" eaLnBrk="1" fontAlgn="auto" latinLnBrk="0" hangingPunct="1">
                <a:lnSpc>
                  <a:spcPct val="100000"/>
                </a:lnSpc>
                <a:spcBef>
                  <a:spcPct val="0"/>
                </a:spcBef>
                <a:spcAft>
                  <a:spcPts val="0"/>
                </a:spcAft>
                <a:buClrTx/>
                <a:buSzTx/>
                <a:buFontTx/>
                <a:buNone/>
                <a:tabLst/>
                <a:defRPr/>
              </a:pPr>
              <a:t>71</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862112">
              <a:defRPr/>
            </a:pPr>
            <a:endParaRPr lang="zh-CN" altLang="en-US" dirty="0"/>
          </a:p>
        </p:txBody>
      </p:sp>
    </p:spTree>
    <p:extLst>
      <p:ext uri="{BB962C8B-B14F-4D97-AF65-F5344CB8AC3E}">
        <p14:creationId xmlns:p14="http://schemas.microsoft.com/office/powerpoint/2010/main" val="324711984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824775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defTabSz="862112">
              <a:spcBef>
                <a:spcPts val="1132"/>
              </a:spcBef>
              <a:defRPr/>
            </a:pPr>
            <a:r>
              <a:rPr lang="en-US" altLang="zh-CN" dirty="0"/>
              <a:t>1</a:t>
            </a:r>
            <a:r>
              <a:rPr lang="en-US" altLang="zh-CN" baseline="0" dirty="0"/>
              <a:t> 3</a:t>
            </a:r>
            <a:r>
              <a:rPr lang="zh-CN" altLang="en-US" baseline="0" dirty="0"/>
              <a:t>两个步骤是针对</a:t>
            </a:r>
            <a:r>
              <a:rPr lang="en-US" altLang="zh-CN" baseline="0" dirty="0"/>
              <a:t>1</a:t>
            </a:r>
            <a:r>
              <a:rPr lang="zh-CN" altLang="en-US" baseline="0" dirty="0"/>
              <a:t>型指令</a:t>
            </a:r>
            <a:endParaRPr lang="en-US" altLang="zh-CN" baseline="0" dirty="0"/>
          </a:p>
          <a:p>
            <a:pPr marL="0" lvl="1" defTabSz="862112">
              <a:spcBef>
                <a:spcPts val="1132"/>
              </a:spcBef>
              <a:defRPr/>
            </a:pPr>
            <a:r>
              <a:rPr lang="en-US" altLang="zh-CN" baseline="0" dirty="0"/>
              <a:t>2 4</a:t>
            </a:r>
            <a:r>
              <a:rPr lang="zh-CN" altLang="en-US" baseline="0" dirty="0"/>
              <a:t>两个步骤针对</a:t>
            </a:r>
            <a:r>
              <a:rPr lang="en-US" altLang="zh-CN" baseline="0" dirty="0"/>
              <a:t>2</a:t>
            </a:r>
            <a:r>
              <a:rPr lang="zh-CN" altLang="en-US" baseline="0" dirty="0"/>
              <a:t>型指令</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73</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5831349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第一步处理</a:t>
            </a:r>
            <a:r>
              <a:rPr lang="en-US" altLang="zh-CN" dirty="0"/>
              <a:t>1</a:t>
            </a:r>
            <a:r>
              <a:rPr lang="zh-CN" altLang="en-US" dirty="0"/>
              <a:t>型</a:t>
            </a:r>
            <a:endParaRPr lang="en-US" altLang="zh-CN" dirty="0"/>
          </a:p>
          <a:p>
            <a:r>
              <a:rPr lang="zh-CN" altLang="en-US" dirty="0"/>
              <a:t>第二步处理</a:t>
            </a:r>
            <a:r>
              <a:rPr lang="en-US" altLang="zh-CN" dirty="0"/>
              <a:t>2</a:t>
            </a:r>
            <a:r>
              <a:rPr lang="zh-CN" altLang="en-US" dirty="0"/>
              <a:t>型</a:t>
            </a:r>
            <a:endParaRPr lang="en-US" altLang="zh-CN" dirty="0"/>
          </a:p>
          <a:p>
            <a:endParaRPr lang="en-US" altLang="zh-CN" dirty="0"/>
          </a:p>
          <a:p>
            <a:r>
              <a:rPr lang="zh-CN" altLang="en-US" dirty="0"/>
              <a:t>这个</a:t>
            </a:r>
            <a:r>
              <a:rPr lang="en-US" altLang="zh-CN" dirty="0"/>
              <a:t>op</a:t>
            </a:r>
            <a:r>
              <a:rPr lang="zh-CN" altLang="en-US" dirty="0"/>
              <a:t>对应的节点，要么就找到了，和原来一样共享，要么新构造出来，共享就体现了公共子表达式的删除</a:t>
            </a: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15628408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只有叶子节点，以标识符或者常数作为标记</a:t>
            </a:r>
            <a:endParaRPr lang="en-US" altLang="zh-CN" dirty="0"/>
          </a:p>
          <a:p>
            <a:r>
              <a:rPr lang="zh-CN" altLang="en-US" dirty="0"/>
              <a:t>中间的节点，只能以操作</a:t>
            </a:r>
            <a:r>
              <a:rPr lang="en-US" altLang="zh-CN" dirty="0"/>
              <a:t>op</a:t>
            </a:r>
            <a:r>
              <a:rPr lang="zh-CN" altLang="en-US" dirty="0"/>
              <a:t>作为标记</a:t>
            </a:r>
            <a:endParaRPr lang="en-US" altLang="zh-CN" dirty="0"/>
          </a:p>
          <a:p>
            <a:r>
              <a:rPr lang="zh-CN" altLang="en-US" dirty="0"/>
              <a:t>附加标记表示</a:t>
            </a:r>
            <a:r>
              <a:rPr lang="en-US" altLang="zh-CN" dirty="0"/>
              <a:t>A</a:t>
            </a:r>
            <a:r>
              <a:rPr lang="zh-CN" altLang="en-US" dirty="0"/>
              <a:t>取这个节点对应的值，现在对</a:t>
            </a:r>
            <a:r>
              <a:rPr lang="en-US" altLang="zh-CN" dirty="0"/>
              <a:t>A</a:t>
            </a:r>
            <a:r>
              <a:rPr lang="zh-CN" altLang="en-US" dirty="0"/>
              <a:t>定新值了，原来的值就可以不引用了，如果</a:t>
            </a:r>
            <a:r>
              <a:rPr lang="en-US" altLang="zh-CN" dirty="0"/>
              <a:t>A</a:t>
            </a:r>
            <a:r>
              <a:rPr lang="zh-CN" altLang="en-US" dirty="0"/>
              <a:t>是原来节点的标记，则表示原来的表达式是对</a:t>
            </a:r>
            <a:r>
              <a:rPr lang="en-US" altLang="zh-CN" dirty="0"/>
              <a:t>A</a:t>
            </a:r>
            <a:r>
              <a:rPr lang="zh-CN" altLang="en-US" dirty="0"/>
              <a:t>进行定值</a:t>
            </a: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75759871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15528" indent="-215528"/>
            <a:r>
              <a:rPr lang="zh-CN" altLang="en-US" dirty="0"/>
              <a:t>第九句话，</a:t>
            </a:r>
            <a:r>
              <a:rPr lang="en-US" altLang="zh-CN" dirty="0"/>
              <a:t>R</a:t>
            </a:r>
            <a:r>
              <a:rPr lang="zh-CN" altLang="en-US" dirty="0"/>
              <a:t>和</a:t>
            </a:r>
            <a:r>
              <a:rPr lang="en-US" altLang="zh-CN" dirty="0"/>
              <a:t>r</a:t>
            </a:r>
            <a:r>
              <a:rPr lang="zh-CN" altLang="en-US" dirty="0"/>
              <a:t>都不是常数，因此，不能合并已知量</a:t>
            </a:r>
            <a:endParaRPr lang="en-US" altLang="zh-CN" dirty="0"/>
          </a:p>
          <a:p>
            <a:pPr marL="215528" indent="-215528"/>
            <a:r>
              <a:rPr lang="zh-CN" altLang="en-US" dirty="0"/>
              <a:t>找公共子表达式，左边是</a:t>
            </a:r>
            <a:r>
              <a:rPr lang="en-US" altLang="zh-CN" dirty="0"/>
              <a:t>n3</a:t>
            </a:r>
            <a:r>
              <a:rPr lang="zh-CN" altLang="en-US" dirty="0"/>
              <a:t>，右边是</a:t>
            </a:r>
            <a:r>
              <a:rPr lang="en-US" altLang="zh-CN" dirty="0"/>
              <a:t>n4</a:t>
            </a:r>
            <a:r>
              <a:rPr lang="zh-CN" altLang="en-US" dirty="0"/>
              <a:t>，内部节点是减号</a:t>
            </a:r>
            <a:endParaRPr lang="en-US" altLang="zh-CN" dirty="0"/>
          </a:p>
          <a:p>
            <a:pPr marL="215528" indent="-215528"/>
            <a:r>
              <a:rPr lang="en-US" altLang="zh-CN" dirty="0"/>
              <a:t>B</a:t>
            </a:r>
            <a:r>
              <a:rPr lang="zh-CN" altLang="en-US" dirty="0"/>
              <a:t>就是无用赋值了，将来就不会产生将</a:t>
            </a:r>
            <a:r>
              <a:rPr lang="en-US" altLang="zh-CN" dirty="0"/>
              <a:t>n6</a:t>
            </a:r>
            <a:r>
              <a:rPr lang="zh-CN" altLang="en-US" dirty="0"/>
              <a:t>节点给</a:t>
            </a:r>
            <a:r>
              <a:rPr lang="en-US" altLang="zh-CN" dirty="0"/>
              <a:t>B</a:t>
            </a:r>
            <a:r>
              <a:rPr lang="zh-CN" altLang="en-US" dirty="0"/>
              <a:t>的代码了</a:t>
            </a:r>
            <a:endParaRPr lang="en-US" altLang="zh-CN" dirty="0"/>
          </a:p>
          <a:p>
            <a:pPr marL="215528" indent="-215528"/>
            <a:endParaRPr lang="en-US" altLang="zh-CN" dirty="0"/>
          </a:p>
          <a:p>
            <a:pPr marL="215528" indent="-215528"/>
            <a:r>
              <a:rPr lang="en-US" altLang="zh-CN" dirty="0"/>
              <a:t>2 </a:t>
            </a:r>
            <a:r>
              <a:rPr lang="zh-CN" altLang="en-US" dirty="0"/>
              <a:t>和</a:t>
            </a:r>
            <a:r>
              <a:rPr lang="en-US" altLang="zh-CN" dirty="0"/>
              <a:t>6 </a:t>
            </a:r>
            <a:r>
              <a:rPr lang="zh-CN" altLang="en-US" dirty="0"/>
              <a:t>都是已知量，没有生成对应的乘法节点，直接用了</a:t>
            </a:r>
            <a:r>
              <a:rPr lang="en-US" altLang="zh-CN" dirty="0"/>
              <a:t>6.28</a:t>
            </a:r>
            <a:r>
              <a:rPr lang="zh-CN" altLang="en-US" dirty="0"/>
              <a:t>的常数节点，就是合并已知量</a:t>
            </a:r>
            <a:endParaRPr lang="en-US" altLang="zh-CN" dirty="0"/>
          </a:p>
          <a:p>
            <a:pPr marL="215528" indent="-215528"/>
            <a:endParaRPr lang="en-US" altLang="zh-CN" dirty="0"/>
          </a:p>
          <a:p>
            <a:pPr marL="215528" indent="-215528"/>
            <a:r>
              <a:rPr lang="en-US" altLang="zh-CN" dirty="0"/>
              <a:t>5</a:t>
            </a:r>
            <a:r>
              <a:rPr lang="zh-CN" altLang="en-US" dirty="0"/>
              <a:t>是无用赋值，就删掉了</a:t>
            </a:r>
            <a:endParaRPr lang="en-US" altLang="zh-CN" dirty="0"/>
          </a:p>
          <a:p>
            <a:pPr marL="215528" indent="-215528"/>
            <a:endParaRPr lang="en-US" altLang="zh-CN" dirty="0"/>
          </a:p>
          <a:p>
            <a:pPr marL="215528" indent="-215528"/>
            <a:r>
              <a:rPr lang="en-US" altLang="zh-CN" dirty="0"/>
              <a:t>3 </a:t>
            </a:r>
            <a:r>
              <a:rPr lang="zh-CN" altLang="en-US" dirty="0"/>
              <a:t>和</a:t>
            </a:r>
            <a:r>
              <a:rPr lang="en-US" altLang="zh-CN" dirty="0"/>
              <a:t>7 </a:t>
            </a:r>
            <a:r>
              <a:rPr lang="zh-CN" altLang="en-US" dirty="0"/>
              <a:t>是公共子表达式，只生成了一个</a:t>
            </a:r>
            <a:endParaRPr lang="en-US" altLang="zh-CN"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820507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8C974496-B4CC-4ABC-B3ED-734A43E8B6CF}" type="slidenum">
              <a:rPr kumimoji="0" lang="zh-CN" altLang="en-US" sz="11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457200" rtl="0" eaLnBrk="1" fontAlgn="auto" latinLnBrk="0" hangingPunct="1">
                <a:lnSpc>
                  <a:spcPct val="100000"/>
                </a:lnSpc>
                <a:spcBef>
                  <a:spcPct val="0"/>
                </a:spcBef>
                <a:spcAft>
                  <a:spcPts val="0"/>
                </a:spcAft>
                <a:buClrTx/>
                <a:buSzTx/>
                <a:buFontTx/>
                <a:buNone/>
                <a:tabLst/>
                <a:defRPr/>
              </a:pPr>
              <a:t>77</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按照节点生成的顺序进行重写</a:t>
            </a:r>
            <a:endParaRPr lang="en-US" altLang="zh-CN" dirty="0"/>
          </a:p>
          <a:p>
            <a:pPr eaLnBrk="1" hangingPunct="1"/>
            <a:r>
              <a:rPr lang="zh-CN" altLang="en-US" dirty="0"/>
              <a:t>按照节点的编号进行重写</a:t>
            </a:r>
            <a:endParaRPr lang="en-US" altLang="zh-CN" dirty="0"/>
          </a:p>
          <a:p>
            <a:pPr eaLnBrk="1" hangingPunct="1"/>
            <a:endParaRPr lang="en-US" altLang="zh-CN" dirty="0"/>
          </a:p>
          <a:p>
            <a:pPr eaLnBrk="1" hangingPunct="1"/>
            <a:r>
              <a:rPr lang="zh-CN" altLang="en-US" dirty="0"/>
              <a:t>尽量引用标记，而不是附加标记，因为附加标记可能会背删除</a:t>
            </a:r>
            <a:endParaRPr lang="en-US" altLang="zh-CN" dirty="0"/>
          </a:p>
          <a:p>
            <a:pPr eaLnBrk="1" hangingPunct="1"/>
            <a:endParaRPr lang="en-US" altLang="zh-CN" dirty="0"/>
          </a:p>
          <a:p>
            <a:pPr eaLnBrk="1" hangingPunct="1"/>
            <a:r>
              <a:rPr lang="zh-CN" altLang="en-US" dirty="0"/>
              <a:t>没有标记的内部节点，就引用附加标记</a:t>
            </a:r>
            <a:endParaRPr lang="en-US" altLang="zh-CN" dirty="0"/>
          </a:p>
        </p:txBody>
      </p:sp>
    </p:spTree>
    <p:extLst>
      <p:ext uri="{BB962C8B-B14F-4D97-AF65-F5344CB8AC3E}">
        <p14:creationId xmlns:p14="http://schemas.microsoft.com/office/powerpoint/2010/main" val="31488744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8C974496-B4CC-4ABC-B3ED-734A43E8B6CF}" type="slidenum">
              <a:rPr kumimoji="0" lang="zh-CN" altLang="en-US" sz="11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457200" rtl="0" eaLnBrk="1" fontAlgn="auto" latinLnBrk="0" hangingPunct="1">
                <a:lnSpc>
                  <a:spcPct val="100000"/>
                </a:lnSpc>
                <a:spcBef>
                  <a:spcPct val="0"/>
                </a:spcBef>
                <a:spcAft>
                  <a:spcPts val="0"/>
                </a:spcAft>
                <a:buClrTx/>
                <a:buSzTx/>
                <a:buFontTx/>
                <a:buNone/>
                <a:tabLst/>
                <a:defRPr/>
              </a:pPr>
              <a:t>78</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把不活跃的变量赋值给他拿掉</a:t>
            </a:r>
            <a:endParaRPr lang="en-US" altLang="zh-CN" dirty="0"/>
          </a:p>
          <a:p>
            <a:pPr eaLnBrk="1" hangingPunct="1"/>
            <a:endParaRPr lang="en-US" altLang="zh-CN" dirty="0"/>
          </a:p>
          <a:p>
            <a:pPr eaLnBrk="1" hangingPunct="1"/>
            <a:r>
              <a:rPr lang="zh-CN" altLang="en-US" dirty="0"/>
              <a:t>只有</a:t>
            </a:r>
            <a:r>
              <a:rPr lang="en-US" altLang="zh-CN" dirty="0"/>
              <a:t>A</a:t>
            </a:r>
            <a:r>
              <a:rPr lang="zh-CN" altLang="en-US" dirty="0"/>
              <a:t>和</a:t>
            </a:r>
            <a:r>
              <a:rPr lang="en-US" altLang="zh-CN" dirty="0"/>
              <a:t>B</a:t>
            </a:r>
            <a:r>
              <a:rPr lang="zh-CN" altLang="en-US" dirty="0"/>
              <a:t>的运算，以及他们依赖的运算要保留</a:t>
            </a:r>
            <a:endParaRPr lang="zh-CN" altLang="en-GB" dirty="0"/>
          </a:p>
        </p:txBody>
      </p:sp>
    </p:spTree>
    <p:extLst>
      <p:ext uri="{BB962C8B-B14F-4D97-AF65-F5344CB8AC3E}">
        <p14:creationId xmlns:p14="http://schemas.microsoft.com/office/powerpoint/2010/main" val="3815122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dirty="0">
              <a:solidFill>
                <a:srgbClr val="0070C0"/>
              </a:solidFill>
              <a:latin typeface="微软雅黑" panose="020B0503020204020204" pitchFamily="34" charset="-122"/>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79</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26376747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C7BD893D-AF48-4910-A7F9-5A89C95235E9}" type="slidenum">
              <a:rPr kumimoji="0" lang="zh-CN" altLang="en-US" sz="11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457200" rtl="0" eaLnBrk="1" fontAlgn="auto" latinLnBrk="0" hangingPunct="1">
                <a:lnSpc>
                  <a:spcPct val="100000"/>
                </a:lnSpc>
                <a:spcBef>
                  <a:spcPct val="0"/>
                </a:spcBef>
                <a:spcAft>
                  <a:spcPts val="0"/>
                </a:spcAft>
                <a:buClrTx/>
                <a:buSzTx/>
                <a:buFontTx/>
                <a:buNone/>
                <a:tabLst/>
                <a:defRPr/>
              </a:pPr>
              <a:t>81</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5199613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代码外提：在循环内部写一些不会随着循环执行而改变的运算，但是会反复执行，所以把他们提到循环外面，执行一次，也不会影响最终代码运行的结果</a:t>
            </a:r>
            <a:endParaRPr lang="en-US" altLang="zh-CN" dirty="0"/>
          </a:p>
          <a:p>
            <a:endParaRPr lang="en-US" altLang="zh-CN" dirty="0"/>
          </a:p>
          <a:p>
            <a:r>
              <a:rPr lang="zh-CN" altLang="en-US" dirty="0"/>
              <a:t>强度削弱：循环内部有一些有规律的运算，可以用强度比较弱的运算来代替，比如用加法代替乘法</a:t>
            </a:r>
            <a:endParaRPr lang="en-US" altLang="zh-CN" dirty="0"/>
          </a:p>
          <a:p>
            <a:endParaRPr lang="en-US" altLang="zh-CN" dirty="0"/>
          </a:p>
          <a:p>
            <a:r>
              <a:rPr lang="zh-CN" altLang="en-US" dirty="0"/>
              <a:t>变换循环控制运算：可以减少变量的存储空间</a:t>
            </a:r>
            <a:endParaRPr lang="en-US" altLang="zh-CN" dirty="0"/>
          </a:p>
          <a:p>
            <a:endParaRPr lang="en-US" altLang="zh-CN" dirty="0"/>
          </a:p>
          <a:p>
            <a:r>
              <a:rPr lang="zh-CN" altLang="en-US" dirty="0"/>
              <a:t>循环展开和循环合并，这些比较高级，大家有兴趣可以自己研究，主要讲前三种</a:t>
            </a: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82</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3828436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83</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61306174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84</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6294317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C252F1B7-4451-4722-8D6B-4D718C8A448A}" type="slidenum">
              <a:rPr kumimoji="0" lang="zh-CN" altLang="en-US" sz="11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457200" rtl="0" eaLnBrk="1" fontAlgn="auto" latinLnBrk="0" hangingPunct="1">
                <a:lnSpc>
                  <a:spcPct val="100000"/>
                </a:lnSpc>
                <a:spcBef>
                  <a:spcPct val="0"/>
                </a:spcBef>
                <a:spcAft>
                  <a:spcPts val="0"/>
                </a:spcAft>
                <a:buClrTx/>
                <a:buSzTx/>
                <a:buFontTx/>
                <a:buNone/>
                <a:tabLst/>
                <a:defRPr/>
              </a:pPr>
              <a:t>85</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zh-CN" sz="1100" dirty="0">
              <a:solidFill>
                <a:srgbClr val="FF0000"/>
              </a:solidFill>
            </a:endParaRPr>
          </a:p>
        </p:txBody>
      </p:sp>
    </p:spTree>
    <p:extLst>
      <p:ext uri="{BB962C8B-B14F-4D97-AF65-F5344CB8AC3E}">
        <p14:creationId xmlns:p14="http://schemas.microsoft.com/office/powerpoint/2010/main" val="285094193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86</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79951817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87</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38066819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62112">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88</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218419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dirty="0">
              <a:solidFill>
                <a:srgbClr val="0070C0"/>
              </a:solidFill>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89</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67673142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注意！！！：如果变量</a:t>
            </a:r>
            <a:r>
              <a:rPr lang="en-US" altLang="zh-CN" dirty="0"/>
              <a:t>I</a:t>
            </a:r>
            <a:r>
              <a:rPr lang="zh-CN" altLang="en-US" dirty="0"/>
              <a:t>在离开循环的时候，是不在活跃的，也就是在</a:t>
            </a:r>
            <a:r>
              <a:rPr lang="en-US" altLang="zh-CN" dirty="0"/>
              <a:t>B5</a:t>
            </a:r>
            <a:r>
              <a:rPr lang="zh-CN" altLang="en-US" dirty="0"/>
              <a:t>这块中，不在引用</a:t>
            </a:r>
            <a:r>
              <a:rPr lang="en-US" altLang="zh-CN" dirty="0"/>
              <a:t>I</a:t>
            </a:r>
            <a:r>
              <a:rPr lang="zh-CN" altLang="en-US" dirty="0"/>
              <a:t>，那么可以外提</a:t>
            </a: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90</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0790009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91</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25671458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62112">
              <a:defRPr/>
            </a:pPr>
            <a:endParaRPr lang="zh-CN" altLang="en-US" sz="11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92</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45116203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862112" eaLnBrk="0" fontAlgn="base" latinLnBrk="0" hangingPunct="0">
              <a:lnSpc>
                <a:spcPct val="100000"/>
              </a:lnSpc>
              <a:spcBef>
                <a:spcPct val="30000"/>
              </a:spcBef>
              <a:spcAft>
                <a:spcPct val="0"/>
              </a:spcAft>
              <a:buClrTx/>
              <a:buSzPct val="100000"/>
              <a:buFont typeface="Times New Roman" panose="02020603050405020304" pitchFamily="2" charset="0"/>
              <a:buNone/>
              <a:tabLst/>
              <a:defRPr/>
            </a:pPr>
            <a:r>
              <a:rPr lang="zh-CN" altLang="en-US" dirty="0"/>
              <a:t>注意！！！：如果变量</a:t>
            </a:r>
            <a:r>
              <a:rPr lang="en-US" altLang="zh-CN" dirty="0"/>
              <a:t>I</a:t>
            </a:r>
            <a:r>
              <a:rPr lang="zh-CN" altLang="en-US" dirty="0"/>
              <a:t>在离开循环的时候，是不在活跃的，也就是在</a:t>
            </a:r>
            <a:r>
              <a:rPr lang="en-US" altLang="zh-CN" dirty="0"/>
              <a:t>B5</a:t>
            </a:r>
            <a:r>
              <a:rPr lang="zh-CN" altLang="en-US" dirty="0"/>
              <a:t>这块中，不在引用</a:t>
            </a:r>
            <a:r>
              <a:rPr lang="en-US" altLang="zh-CN" dirty="0"/>
              <a:t>I</a:t>
            </a:r>
            <a:r>
              <a:rPr lang="zh-CN" altLang="en-US" dirty="0"/>
              <a:t>，那么可以外提</a:t>
            </a:r>
          </a:p>
          <a:p>
            <a:pPr defTabSz="862112">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93</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55356774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100" dirty="0">
              <a:solidFill>
                <a:srgbClr val="FF0000"/>
              </a:solidFill>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94</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83530322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62112">
              <a:defRPr/>
            </a:pPr>
            <a:endParaRPr lang="zh-CN" altLang="en-US" sz="11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95</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84139329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62112">
              <a:defRPr/>
            </a:pPr>
            <a:r>
              <a:rPr lang="zh-CN" altLang="en-US" dirty="0"/>
              <a:t>如果要把</a:t>
            </a:r>
            <a:r>
              <a:rPr lang="en-US" altLang="zh-CN" dirty="0"/>
              <a:t>5</a:t>
            </a:r>
            <a:r>
              <a:rPr lang="zh-CN" altLang="en-US" dirty="0"/>
              <a:t>号指令外提，则循环内部所有对</a:t>
            </a:r>
            <a:r>
              <a:rPr lang="en-US" altLang="zh-CN" dirty="0" err="1"/>
              <a:t>i</a:t>
            </a:r>
            <a:r>
              <a:rPr lang="zh-CN" altLang="en-US" dirty="0"/>
              <a:t>的引用只能是外提的定值指令能够到达，不能有其他指令定值点（包括循环外面）可以到达，</a:t>
            </a:r>
            <a:endParaRPr lang="en-US" altLang="zh-CN" dirty="0"/>
          </a:p>
          <a:p>
            <a:pPr defTabSz="862112">
              <a:defRPr/>
            </a:pPr>
            <a:r>
              <a:rPr lang="zh-CN" altLang="en-US" dirty="0"/>
              <a:t>这里循环外面的也可以到达</a:t>
            </a: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96</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46745473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latin typeface="微软雅黑" panose="020B0503020204020204" pitchFamily="34" charset="-122"/>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97</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31548452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700466" indent="-269410">
              <a:spcBef>
                <a:spcPct val="30000"/>
              </a:spcBef>
              <a:defRPr sz="1100">
                <a:solidFill>
                  <a:schemeClr val="tx1"/>
                </a:solidFill>
                <a:latin typeface="Times New Roman" panose="02020603050405020304" pitchFamily="18" charset="0"/>
                <a:ea typeface="宋体" panose="02010600030101010101" pitchFamily="2" charset="-122"/>
              </a:defRPr>
            </a:lvl2pPr>
            <a:lvl3pPr marL="1077640" indent="-215528">
              <a:spcBef>
                <a:spcPct val="30000"/>
              </a:spcBef>
              <a:defRPr sz="1100">
                <a:solidFill>
                  <a:schemeClr val="tx1"/>
                </a:solidFill>
                <a:latin typeface="Times New Roman" panose="02020603050405020304" pitchFamily="18" charset="0"/>
                <a:ea typeface="宋体" panose="02010600030101010101" pitchFamily="2" charset="-122"/>
              </a:defRPr>
            </a:lvl3pPr>
            <a:lvl4pPr marL="1508697" indent="-215528">
              <a:spcBef>
                <a:spcPct val="30000"/>
              </a:spcBef>
              <a:defRPr sz="1100">
                <a:solidFill>
                  <a:schemeClr val="tx1"/>
                </a:solidFill>
                <a:latin typeface="Times New Roman" panose="02020603050405020304" pitchFamily="18" charset="0"/>
                <a:ea typeface="宋体" panose="02010600030101010101" pitchFamily="2" charset="-122"/>
              </a:defRPr>
            </a:lvl4pPr>
            <a:lvl5pPr marL="1939753" indent="-215528">
              <a:spcBef>
                <a:spcPct val="30000"/>
              </a:spcBef>
              <a:defRPr sz="1100">
                <a:solidFill>
                  <a:schemeClr val="tx1"/>
                </a:solidFill>
                <a:latin typeface="Times New Roman" panose="02020603050405020304" pitchFamily="18" charset="0"/>
                <a:ea typeface="宋体" panose="02010600030101010101" pitchFamily="2" charset="-122"/>
              </a:defRPr>
            </a:lvl5pPr>
            <a:lvl6pPr marL="2370809"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1865"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2921"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3977" indent="-215528"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57824837-BE4E-48A3-B047-85F666996416}" type="slidenum">
              <a:rPr kumimoji="0" lang="zh-CN" altLang="en-US" sz="1100" b="0" i="0" u="none" strike="noStrike" kern="1200" cap="none" spc="0" normalizeH="0" baseline="0" noProof="0" smtClean="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457200" rtl="0" eaLnBrk="1" fontAlgn="auto" latinLnBrk="0" hangingPunct="1">
                <a:lnSpc>
                  <a:spcPct val="100000"/>
                </a:lnSpc>
                <a:spcBef>
                  <a:spcPct val="0"/>
                </a:spcBef>
                <a:spcAft>
                  <a:spcPts val="0"/>
                </a:spcAft>
                <a:buClrTx/>
                <a:buSzTx/>
                <a:buFontTx/>
                <a:buNone/>
                <a:tabLst/>
                <a:defRPr/>
              </a:pPr>
              <a:t>98</a:t>
            </a:fld>
            <a:endParaRPr kumimoji="0" lang="en-US" altLang="zh-CN" sz="11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862112">
              <a:defRPr/>
            </a:pPr>
            <a:endParaRPr lang="zh-CN" altLang="en-US" dirty="0"/>
          </a:p>
        </p:txBody>
      </p:sp>
    </p:spTree>
    <p:extLst>
      <p:ext uri="{BB962C8B-B14F-4D97-AF65-F5344CB8AC3E}">
        <p14:creationId xmlns:p14="http://schemas.microsoft.com/office/powerpoint/2010/main" val="376528563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定值点在循环内，但是定值点是循环不变运算 </a:t>
            </a: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99</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83492741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100</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77482934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101</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94837547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102</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542027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103</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7485558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T3</a:t>
            </a:r>
            <a:r>
              <a:rPr lang="en-US" altLang="zh-CN" baseline="0" dirty="0"/>
              <a:t> T7</a:t>
            </a:r>
            <a:r>
              <a:rPr lang="zh-CN" altLang="en-US" baseline="0" dirty="0"/>
              <a:t>原来是以来</a:t>
            </a:r>
            <a:r>
              <a:rPr lang="en-US" altLang="zh-CN" baseline="0" dirty="0"/>
              <a:t>T1 T2 T6 </a:t>
            </a:r>
            <a:r>
              <a:rPr lang="en-US" altLang="zh-CN" baseline="0" dirty="0" err="1"/>
              <a:t>T6</a:t>
            </a:r>
            <a:endParaRPr lang="en-US" altLang="zh-CN" baseline="0" dirty="0"/>
          </a:p>
          <a:p>
            <a:r>
              <a:rPr lang="zh-CN" altLang="en-US" baseline="0" dirty="0"/>
              <a:t>现在</a:t>
            </a:r>
            <a:r>
              <a:rPr lang="en-US" altLang="zh-CN" baseline="0" dirty="0"/>
              <a:t>T3</a:t>
            </a:r>
            <a:r>
              <a:rPr lang="zh-CN" altLang="en-US" baseline="0" dirty="0"/>
              <a:t>和</a:t>
            </a:r>
            <a:r>
              <a:rPr lang="en-US" altLang="zh-CN" baseline="0" dirty="0"/>
              <a:t>T7</a:t>
            </a:r>
            <a:r>
              <a:rPr lang="zh-CN" altLang="en-US" baseline="0" dirty="0"/>
              <a:t>只依赖自己，这为后面发现无用变量和赋值打下基础</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104</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8813172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105</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75947445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106</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19014780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107</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96534320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108</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38036143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109</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77242984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6C61CE-634D-4F64-ACD8-85A675627EA4}" type="slidenum">
              <a:rPr kumimoji="0" lang="zh-CN" altLang="en-US" sz="11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110</a:t>
            </a:fld>
            <a:endParaRPr kumimoji="0" lang="zh-CN" altLang="en-US" sz="11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250091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5" name="页脚占位符 4"/>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6" name="灯片编号占位符 5"/>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5" name="页脚占位符 4"/>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6" name="灯片编号占位符 5"/>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5" name="页脚占位符 4"/>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6" name="灯片编号占位符 5"/>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03238" y="1728788"/>
            <a:ext cx="4444000" cy="4383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28625" y="1728788"/>
            <a:ext cx="4444000" cy="4383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6" name="页脚占位符 5"/>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7" name="灯片编号占位符 6"/>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a:t>单击此处编辑母版标题样式</a:t>
            </a:r>
          </a:p>
        </p:txBody>
      </p:sp>
      <p:sp>
        <p:nvSpPr>
          <p:cNvPr id="3" name="文本占位符 2"/>
          <p:cNvSpPr>
            <a:spLocks noGrp="1"/>
          </p:cNvSpPr>
          <p:nvPr>
            <p:ph type="body" idx="1"/>
          </p:nvPr>
        </p:nvSpPr>
        <p:spPr>
          <a:xfrm>
            <a:off x="981252" y="1960399"/>
            <a:ext cx="4029583" cy="908210"/>
          </a:xfrm>
        </p:spPr>
        <p:txBody>
          <a:bodyPr anchor="ctr" anchorCtr="0"/>
          <a:lstStyle>
            <a:lvl1pPr marL="0" indent="0">
              <a:buNone/>
              <a:defRPr sz="2315"/>
            </a:lvl1pPr>
            <a:lvl2pPr marL="377825" indent="0">
              <a:buNone/>
              <a:defRPr sz="1985"/>
            </a:lvl2pPr>
            <a:lvl3pPr marL="756285" indent="0">
              <a:buNone/>
              <a:defRPr sz="1655"/>
            </a:lvl3pPr>
            <a:lvl4pPr marL="1134110" indent="0">
              <a:buNone/>
              <a:defRPr sz="1490"/>
            </a:lvl4pPr>
            <a:lvl5pPr marL="1511935" indent="0">
              <a:buNone/>
              <a:defRPr sz="1490"/>
            </a:lvl5pPr>
            <a:lvl6pPr marL="1890395" indent="0">
              <a:buNone/>
              <a:defRPr sz="1490"/>
            </a:lvl6pPr>
            <a:lvl7pPr marL="2268220" indent="0">
              <a:buNone/>
              <a:defRPr sz="1490"/>
            </a:lvl7pPr>
            <a:lvl8pPr marL="2646045" indent="0">
              <a:buNone/>
              <a:defRPr sz="1490"/>
            </a:lvl8pPr>
            <a:lvl9pPr marL="3024505" indent="0">
              <a:buNone/>
              <a:defRPr sz="1490"/>
            </a:lvl9pPr>
          </a:lstStyle>
          <a:p>
            <a:pPr lvl="0"/>
            <a:r>
              <a:rPr lang="zh-CN" altLang="en-US"/>
              <a:t>单击此处编辑母版文本样式</a:t>
            </a:r>
          </a:p>
        </p:txBody>
      </p:sp>
      <p:sp>
        <p:nvSpPr>
          <p:cNvPr id="4" name="内容占位符 3"/>
          <p:cNvSpPr>
            <a:spLocks noGrp="1"/>
          </p:cNvSpPr>
          <p:nvPr>
            <p:ph sz="half" idx="2"/>
          </p:nvPr>
        </p:nvSpPr>
        <p:spPr>
          <a:xfrm>
            <a:off x="981252" y="2938087"/>
            <a:ext cx="4029583" cy="388487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173380" y="1960399"/>
            <a:ext cx="4049428" cy="908210"/>
          </a:xfrm>
        </p:spPr>
        <p:txBody>
          <a:bodyPr anchor="ctr" anchorCtr="0"/>
          <a:lstStyle>
            <a:lvl1pPr marL="0" indent="0">
              <a:buNone/>
              <a:defRPr sz="2315"/>
            </a:lvl1pPr>
            <a:lvl2pPr marL="377825" indent="0">
              <a:buNone/>
              <a:defRPr sz="1985"/>
            </a:lvl2pPr>
            <a:lvl3pPr marL="756285" indent="0">
              <a:buNone/>
              <a:defRPr sz="1655"/>
            </a:lvl3pPr>
            <a:lvl4pPr marL="1134110" indent="0">
              <a:buNone/>
              <a:defRPr sz="1490"/>
            </a:lvl4pPr>
            <a:lvl5pPr marL="1511935" indent="0">
              <a:buNone/>
              <a:defRPr sz="1490"/>
            </a:lvl5pPr>
            <a:lvl6pPr marL="1890395" indent="0">
              <a:buNone/>
              <a:defRPr sz="1490"/>
            </a:lvl6pPr>
            <a:lvl7pPr marL="2268220" indent="0">
              <a:buNone/>
              <a:defRPr sz="1490"/>
            </a:lvl7pPr>
            <a:lvl8pPr marL="2646045" indent="0">
              <a:buNone/>
              <a:defRPr sz="1490"/>
            </a:lvl8pPr>
            <a:lvl9pPr marL="3024505" indent="0">
              <a:buNone/>
              <a:defRPr sz="1490"/>
            </a:lvl9pPr>
          </a:lstStyle>
          <a:p>
            <a:pPr lvl="0"/>
            <a:r>
              <a:rPr lang="zh-CN" altLang="en-US"/>
              <a:t>单击此处编辑母版文本样式</a:t>
            </a:r>
          </a:p>
        </p:txBody>
      </p:sp>
      <p:sp>
        <p:nvSpPr>
          <p:cNvPr id="6" name="内容占位符 5"/>
          <p:cNvSpPr>
            <a:spLocks noGrp="1"/>
          </p:cNvSpPr>
          <p:nvPr>
            <p:ph sz="quarter" idx="4"/>
          </p:nvPr>
        </p:nvSpPr>
        <p:spPr>
          <a:xfrm>
            <a:off x="5173380" y="2938087"/>
            <a:ext cx="4049428" cy="388487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8" name="页脚占位符 7"/>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9" name="灯片编号占位符 8"/>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4" name="页脚占位符 3"/>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5" name="灯片编号占位符 4"/>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3" name="页脚占位符 2"/>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4" name="灯片编号占位符 3"/>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6" name="页脚占位符 5"/>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7" name="灯片编号占位符 6"/>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444006" cy="1763924"/>
          </a:xfrm>
        </p:spPr>
        <p:txBody>
          <a:bodyPr anchor="b"/>
          <a:lstStyle>
            <a:lvl1pPr>
              <a:defRPr sz="2645"/>
            </a:lvl1pPr>
          </a:lstStyle>
          <a:p>
            <a:r>
              <a:rPr lang="zh-CN" altLang="en-US"/>
              <a:t>单击此处编辑母版标题样式</a:t>
            </a:r>
          </a:p>
        </p:txBody>
      </p:sp>
      <p:sp>
        <p:nvSpPr>
          <p:cNvPr id="3" name="图片占位符 2"/>
          <p:cNvSpPr>
            <a:spLocks noGrp="1"/>
          </p:cNvSpPr>
          <p:nvPr>
            <p:ph type="pic" idx="1"/>
          </p:nvPr>
        </p:nvSpPr>
        <p:spPr>
          <a:xfrm>
            <a:off x="4285579" y="503979"/>
            <a:ext cx="5103316" cy="5956744"/>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endParaRPr lang="zh-CN" altLang="en-US"/>
          </a:p>
        </p:txBody>
      </p:sp>
      <p:sp>
        <p:nvSpPr>
          <p:cNvPr id="4" name="文本占位符 3"/>
          <p:cNvSpPr>
            <a:spLocks noGrp="1"/>
          </p:cNvSpPr>
          <p:nvPr>
            <p:ph type="body" sz="half" idx="2"/>
          </p:nvPr>
        </p:nvSpPr>
        <p:spPr>
          <a:xfrm>
            <a:off x="694356" y="2267903"/>
            <a:ext cx="3444006" cy="4201570"/>
          </a:xfrm>
        </p:spPr>
        <p:txBody>
          <a:bodyPr/>
          <a:lstStyle>
            <a:lvl1pPr marL="0" indent="0">
              <a:buNone/>
              <a:defRPr sz="1655"/>
            </a:lvl1pPr>
            <a:lvl2pPr marL="377825" indent="0">
              <a:buNone/>
              <a:defRPr sz="1490"/>
            </a:lvl2pPr>
            <a:lvl3pPr marL="756285" indent="0">
              <a:buNone/>
              <a:defRPr sz="1325"/>
            </a:lvl3pPr>
            <a:lvl4pPr marL="1134110" indent="0">
              <a:buNone/>
              <a:defRPr sz="1160"/>
            </a:lvl4pPr>
            <a:lvl5pPr marL="1511935" indent="0">
              <a:buNone/>
              <a:defRPr sz="1160"/>
            </a:lvl5pPr>
            <a:lvl6pPr marL="1890395" indent="0">
              <a:buNone/>
              <a:defRPr sz="1160"/>
            </a:lvl6pPr>
            <a:lvl7pPr marL="2268220" indent="0">
              <a:buNone/>
              <a:defRPr sz="1160"/>
            </a:lvl7pPr>
            <a:lvl8pPr marL="2646045" indent="0">
              <a:buNone/>
              <a:defRPr sz="1160"/>
            </a:lvl8pPr>
            <a:lvl9pPr marL="3024505" indent="0">
              <a:buNone/>
              <a:defRPr sz="116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6" name="页脚占位符 5"/>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7" name="灯片编号占位符 6"/>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5" name="页脚占位符 4"/>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6" name="灯片编号占位符 5"/>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5278" y="301625"/>
            <a:ext cx="2267347" cy="58102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03238" y="301625"/>
            <a:ext cx="6670600" cy="58102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5" name="页脚占位符 4"/>
          <p:cNvSpPr>
            <a:spLocks noGrp="1"/>
          </p:cNvSpPr>
          <p:nvPr>
            <p:ph type="ftr" sz="quarter" idx="11"/>
          </p:nvPr>
        </p:nvSpPr>
        <p:spPr/>
        <p:txBody>
          <a:body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6" name="灯片编号占位符 5"/>
          <p:cNvSpPr>
            <a:spLocks noGrp="1"/>
          </p:cNvSpPr>
          <p:nvPr>
            <p:ph type="sldNum" sz="quarter" idx="12"/>
          </p:nvPr>
        </p:nvSpPr>
        <p:spPr/>
        <p:txBody>
          <a:bodyPr/>
          <a:lstStyle/>
          <a:p>
            <a:pPr lvl="0" eaLnBrk="1">
              <a:lnSpc>
                <a:spcPct val="116000"/>
              </a:lnSpc>
            </a:pPr>
            <a:fld id="{9A0DB2DC-4C9A-4742-B13C-FB6460FD3503}" type="slidenum">
              <a:rPr lang="en-GB" altLang="en-US" dirty="0"/>
              <a:t>‹#›</a:t>
            </a:fld>
            <a:endParaRPr lang="en-GB"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a:t>单击此处编辑母版副标题样式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967288" y="1944688"/>
            <a:ext cx="2257393" cy="4383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7316820" y="1944688"/>
            <a:ext cx="2257393" cy="4383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a:t>单击此处编辑母版标题样式</a:t>
            </a:r>
          </a:p>
        </p:txBody>
      </p:sp>
      <p:sp>
        <p:nvSpPr>
          <p:cNvPr id="3" name="文本占位符 2"/>
          <p:cNvSpPr>
            <a:spLocks noGrp="1"/>
          </p:cNvSpPr>
          <p:nvPr>
            <p:ph type="body" idx="1"/>
          </p:nvPr>
        </p:nvSpPr>
        <p:spPr>
          <a:xfrm>
            <a:off x="981252" y="1960399"/>
            <a:ext cx="4029583" cy="908210"/>
          </a:xfrm>
        </p:spPr>
        <p:txBody>
          <a:bodyPr anchor="ctr" anchorCtr="0"/>
          <a:lstStyle>
            <a:lvl1pPr marL="0" indent="0">
              <a:buNone/>
              <a:defRPr sz="2315"/>
            </a:lvl1pPr>
            <a:lvl2pPr marL="377825" indent="0">
              <a:buNone/>
              <a:defRPr sz="1985"/>
            </a:lvl2pPr>
            <a:lvl3pPr marL="756285" indent="0">
              <a:buNone/>
              <a:defRPr sz="1655"/>
            </a:lvl3pPr>
            <a:lvl4pPr marL="1134110" indent="0">
              <a:buNone/>
              <a:defRPr sz="1490"/>
            </a:lvl4pPr>
            <a:lvl5pPr marL="1511935" indent="0">
              <a:buNone/>
              <a:defRPr sz="1490"/>
            </a:lvl5pPr>
            <a:lvl6pPr marL="1890395" indent="0">
              <a:buNone/>
              <a:defRPr sz="1490"/>
            </a:lvl6pPr>
            <a:lvl7pPr marL="2268220" indent="0">
              <a:buNone/>
              <a:defRPr sz="1490"/>
            </a:lvl7pPr>
            <a:lvl8pPr marL="2646045" indent="0">
              <a:buNone/>
              <a:defRPr sz="1490"/>
            </a:lvl8pPr>
            <a:lvl9pPr marL="3024505" indent="0">
              <a:buNone/>
              <a:defRPr sz="1490"/>
            </a:lvl9pPr>
          </a:lstStyle>
          <a:p>
            <a:pPr lvl="0"/>
            <a:r>
              <a:rPr lang="zh-CN" altLang="en-US"/>
              <a:t>单击此处编辑母版文本样式</a:t>
            </a:r>
          </a:p>
        </p:txBody>
      </p:sp>
      <p:sp>
        <p:nvSpPr>
          <p:cNvPr id="4" name="内容占位符 3"/>
          <p:cNvSpPr>
            <a:spLocks noGrp="1"/>
          </p:cNvSpPr>
          <p:nvPr>
            <p:ph sz="half" idx="2"/>
          </p:nvPr>
        </p:nvSpPr>
        <p:spPr>
          <a:xfrm>
            <a:off x="981252" y="2938087"/>
            <a:ext cx="4029583" cy="388487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173380" y="1960399"/>
            <a:ext cx="4049428" cy="908210"/>
          </a:xfrm>
        </p:spPr>
        <p:txBody>
          <a:bodyPr anchor="ctr" anchorCtr="0"/>
          <a:lstStyle>
            <a:lvl1pPr marL="0" indent="0">
              <a:buNone/>
              <a:defRPr sz="2315"/>
            </a:lvl1pPr>
            <a:lvl2pPr marL="377825" indent="0">
              <a:buNone/>
              <a:defRPr sz="1985"/>
            </a:lvl2pPr>
            <a:lvl3pPr marL="756285" indent="0">
              <a:buNone/>
              <a:defRPr sz="1655"/>
            </a:lvl3pPr>
            <a:lvl4pPr marL="1134110" indent="0">
              <a:buNone/>
              <a:defRPr sz="1490"/>
            </a:lvl4pPr>
            <a:lvl5pPr marL="1511935" indent="0">
              <a:buNone/>
              <a:defRPr sz="1490"/>
            </a:lvl5pPr>
            <a:lvl6pPr marL="1890395" indent="0">
              <a:buNone/>
              <a:defRPr sz="1490"/>
            </a:lvl6pPr>
            <a:lvl7pPr marL="2268220" indent="0">
              <a:buNone/>
              <a:defRPr sz="1490"/>
            </a:lvl7pPr>
            <a:lvl8pPr marL="2646045" indent="0">
              <a:buNone/>
              <a:defRPr sz="1490"/>
            </a:lvl8pPr>
            <a:lvl9pPr marL="3024505" indent="0">
              <a:buNone/>
              <a:defRPr sz="1490"/>
            </a:lvl9pPr>
          </a:lstStyle>
          <a:p>
            <a:pPr lvl="0"/>
            <a:r>
              <a:rPr lang="zh-CN" altLang="en-US"/>
              <a:t>单击此处编辑母版文本样式</a:t>
            </a:r>
          </a:p>
        </p:txBody>
      </p:sp>
      <p:sp>
        <p:nvSpPr>
          <p:cNvPr id="6" name="内容占位符 5"/>
          <p:cNvSpPr>
            <a:spLocks noGrp="1"/>
          </p:cNvSpPr>
          <p:nvPr>
            <p:ph sz="quarter" idx="4"/>
          </p:nvPr>
        </p:nvSpPr>
        <p:spPr>
          <a:xfrm>
            <a:off x="5173380" y="2938087"/>
            <a:ext cx="4049428" cy="388487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444006" cy="1763924"/>
          </a:xfrm>
        </p:spPr>
        <p:txBody>
          <a:bodyPr anchor="b"/>
          <a:lstStyle>
            <a:lvl1pPr>
              <a:defRPr sz="2645"/>
            </a:lvl1pPr>
          </a:lstStyle>
          <a:p>
            <a:r>
              <a:rPr lang="zh-CN" altLang="en-US"/>
              <a:t>单击此处编辑母版标题样式</a:t>
            </a:r>
          </a:p>
        </p:txBody>
      </p:sp>
      <p:sp>
        <p:nvSpPr>
          <p:cNvPr id="3" name="图片占位符 2"/>
          <p:cNvSpPr>
            <a:spLocks noGrp="1"/>
          </p:cNvSpPr>
          <p:nvPr>
            <p:ph type="pic" idx="1"/>
          </p:nvPr>
        </p:nvSpPr>
        <p:spPr>
          <a:xfrm>
            <a:off x="4285579" y="503979"/>
            <a:ext cx="5103316" cy="5956744"/>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endParaRPr lang="zh-CN" altLang="en-US"/>
          </a:p>
        </p:txBody>
      </p:sp>
      <p:sp>
        <p:nvSpPr>
          <p:cNvPr id="4" name="文本占位符 3"/>
          <p:cNvSpPr>
            <a:spLocks noGrp="1"/>
          </p:cNvSpPr>
          <p:nvPr>
            <p:ph type="body" sz="half" idx="2"/>
          </p:nvPr>
        </p:nvSpPr>
        <p:spPr>
          <a:xfrm>
            <a:off x="694356" y="2267903"/>
            <a:ext cx="3444006" cy="4201570"/>
          </a:xfrm>
        </p:spPr>
        <p:txBody>
          <a:bodyPr/>
          <a:lstStyle>
            <a:lvl1pPr marL="0" indent="0">
              <a:buNone/>
              <a:defRPr sz="1655"/>
            </a:lvl1pPr>
            <a:lvl2pPr marL="377825" indent="0">
              <a:buNone/>
              <a:defRPr sz="1490"/>
            </a:lvl2pPr>
            <a:lvl3pPr marL="756285" indent="0">
              <a:buNone/>
              <a:defRPr sz="1325"/>
            </a:lvl3pPr>
            <a:lvl4pPr marL="1134110" indent="0">
              <a:buNone/>
              <a:defRPr sz="1160"/>
            </a:lvl4pPr>
            <a:lvl5pPr marL="1511935" indent="0">
              <a:buNone/>
              <a:defRPr sz="1160"/>
            </a:lvl5pPr>
            <a:lvl6pPr marL="1890395" indent="0">
              <a:buNone/>
              <a:defRPr sz="1160"/>
            </a:lvl6pPr>
            <a:lvl7pPr marL="2268220" indent="0">
              <a:buNone/>
              <a:defRPr sz="1160"/>
            </a:lvl7pPr>
            <a:lvl8pPr marL="2646045" indent="0">
              <a:buNone/>
              <a:defRPr sz="1160"/>
            </a:lvl8pPr>
            <a:lvl9pPr marL="3024505" indent="0">
              <a:buNone/>
              <a:defRPr sz="1160"/>
            </a:lvl9pPr>
          </a:lstStyle>
          <a:p>
            <a:pPr lvl="0"/>
            <a:r>
              <a:rPr lang="zh-CN" altLang="en-US"/>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6866" y="1944688"/>
            <a:ext cx="2267347" cy="4383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04825" y="1944688"/>
            <a:ext cx="6670601" cy="4383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7785280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755467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670368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8351628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879117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5923776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8625525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574859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0249491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7277267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35325841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038571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16111013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2357872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8956633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50416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5358677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7018280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4689944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8907176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9140303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828820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06024718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8261443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7554320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9215771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1670612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46846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11860787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482781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7280621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8617473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4380443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859729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0834010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339186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8219871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84612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7542452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3183979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672060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7256956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14168129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25511168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30813960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1447862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0082290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50798104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72946462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60063264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4278446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9548438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15849059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8609703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2250194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55003469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1062523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94522119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91898524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69515304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389039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11325211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4037032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1319428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12331161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7258043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84148444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34702435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73342480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2749237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11374845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771026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89098594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29027351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270333522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67542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38218862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4699397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78489403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6050605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4342275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79746823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7430138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19378687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08771395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24202582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10305487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81838865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6717220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74099223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170474131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29471056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169369050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92296821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28307659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05866338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8262869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2161572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09097053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74360916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8647626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82991451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13248039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01334004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9534543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40566197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165918280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75898635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113527904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3711239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4113445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5200789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8675518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62707646"/>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3345524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10580280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3947473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239916827"/>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9750054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65113434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4408383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74545083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373738036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9590308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222612757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89258020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61008657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20228577"/>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270334112"/>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71668162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63486235"/>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4298489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4105511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82614766"/>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797771189"/>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031651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6310197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20821325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864127681"/>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19304213"/>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286967574"/>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64012861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37805846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17508822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84274036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69568907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8136334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680597720"/>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14484551"/>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8929840"/>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055808986"/>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719540519"/>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856016099"/>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651166123"/>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92681737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716627225"/>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4117887764"/>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313651563"/>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6997690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349921557"/>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34464570"/>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076863760"/>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122732394"/>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5574959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88843730"/>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5309759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422859863"/>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3709579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46871744"/>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691216531"/>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359035150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514428781"/>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1550554550"/>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601689233"/>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7825172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668054296"/>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082843905"/>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29626392"/>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23328001"/>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61964933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9112821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61264218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3331520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56547078"/>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3223377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82518651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2616170332"/>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70899275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2249915236"/>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42015787"/>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492863698"/>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198943543"/>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71565893"/>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969851759"/>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561169471"/>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471128847"/>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364973312"/>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683536456"/>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414619888"/>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9811850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98503640"/>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23421307"/>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1326427944"/>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3245831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224061736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91309183"/>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425883800"/>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64591764"/>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04124189"/>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86251149"/>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630530230"/>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41668425"/>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803603188"/>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94270195"/>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239736495"/>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893796372"/>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3624013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15865297"/>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12075742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530835493"/>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762057161"/>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01785874"/>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223577619"/>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96508897"/>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706033352"/>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741509973"/>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52886720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578374571"/>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7065513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5299147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808261274"/>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98781434"/>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294985495"/>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325725182"/>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522226285"/>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39795766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1355153870"/>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232013294"/>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20601252"/>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820657923"/>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34444560"/>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108362268"/>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401877253"/>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283154403"/>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13886181"/>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86966880"/>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632495411"/>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349309084"/>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80926301"/>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76105139"/>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3617198622"/>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02826363"/>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3961874240"/>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26990282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58012414"/>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903112861"/>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034175202"/>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73559691"/>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424241859"/>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605390972"/>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736017039"/>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437644304"/>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122178328"/>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42680083"/>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688344357"/>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00560102"/>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2453737335"/>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780304518"/>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3238249654"/>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613485525"/>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906341618"/>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613396293"/>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847699709"/>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67534278"/>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045771704"/>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43582550"/>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866876530"/>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424675788"/>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89832031"/>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783527921"/>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827401510"/>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89157533"/>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1198975662"/>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96056844"/>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374795428"/>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260290402"/>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181003482"/>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350679922"/>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45601668"/>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90751950"/>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86726022"/>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41078843"/>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279781962"/>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518211406"/>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39010503"/>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71632417"/>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22038268"/>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136310098"/>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3243182184"/>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946378658"/>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2825910131"/>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35296034"/>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45684210"/>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82451668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35538357"/>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572569270"/>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566853018"/>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49322970"/>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378907990"/>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139300558"/>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25019557"/>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53278192"/>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8357155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788449945"/>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4161567959"/>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249246351"/>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1557589806"/>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48723825"/>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838576102"/>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63080359"/>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49341570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422182196"/>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89582617"/>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64567037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597337240"/>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77830415"/>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87002027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86986812"/>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85691625"/>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113989390"/>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3566677686"/>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85093009"/>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2412500315"/>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783950643"/>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349165344"/>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882598993"/>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499808824"/>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757880489"/>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46569529"/>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26109017"/>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494520945"/>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32952657"/>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646368612"/>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937753837"/>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78840141"/>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33846166"/>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3890680183"/>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891776860"/>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2007488161"/>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035771537"/>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071834130"/>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55547438"/>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55244280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750028874"/>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4106419016"/>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2519381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59312160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84019920"/>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54454160"/>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730379896"/>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44673741"/>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81339236"/>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1106388987"/>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329106980"/>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777027360"/>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235929935"/>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223196857"/>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733973018"/>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614773745"/>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93217105"/>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585632844"/>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306931921"/>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176403261"/>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420850034"/>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487359856"/>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24404031"/>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12069218"/>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874346818"/>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endParaRPr lang="en-US" dirty="0">
              <a:solidFill>
                <a:srgbClr val="4F81BD">
                  <a:lumMod val="60000"/>
                  <a:lumOff val="40000"/>
                </a:srgbClr>
              </a:solidFill>
              <a:latin typeface="Arial"/>
              <a:ea typeface="+mn-ea"/>
            </a:endParaRPr>
          </a:p>
        </p:txBody>
      </p:sp>
    </p:spTree>
    <p:extLst>
      <p:ext uri="{BB962C8B-B14F-4D97-AF65-F5344CB8AC3E}">
        <p14:creationId xmlns:p14="http://schemas.microsoft.com/office/powerpoint/2010/main" val="1046063358"/>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1889527200"/>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defTabSz="503972" rtl="0" fontAlgn="auto" hangingPunct="1">
              <a:lnSpc>
                <a:spcPct val="100000"/>
              </a:lnSpc>
              <a:spcBef>
                <a:spcPts val="0"/>
              </a:spcBef>
              <a:spcAft>
                <a:spcPts val="0"/>
              </a:spcAft>
              <a:buSzTx/>
              <a:buFontTx/>
              <a:buNone/>
            </a:pPr>
            <a:r>
              <a:rPr lang="en-US" sz="8818" dirty="0">
                <a:ln w="3175" cmpd="sng">
                  <a:noFill/>
                </a:ln>
                <a:solidFill>
                  <a:srgbClr val="4F81BD">
                    <a:lumMod val="60000"/>
                    <a:lumOff val="40000"/>
                  </a:srgbClr>
                </a:solidFill>
                <a:latin typeface="Arial"/>
                <a:ea typeface="+mn-ea"/>
              </a:rPr>
              <a:t>”</a:t>
            </a:r>
          </a:p>
        </p:txBody>
      </p:sp>
    </p:spTree>
    <p:extLst>
      <p:ext uri="{BB962C8B-B14F-4D97-AF65-F5344CB8AC3E}">
        <p14:creationId xmlns:p14="http://schemas.microsoft.com/office/powerpoint/2010/main" val="2967906093"/>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675025133"/>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831821235"/>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solidFill>
                  <a:prstClr val="black">
                    <a:tint val="75000"/>
                  </a:prstClr>
                </a:solidFill>
              </a:rPr>
              <a:pPr/>
              <a:t>10/11/2023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4F81BD"/>
                </a:solidFill>
              </a:rPr>
              <a:pPr/>
              <a:t>‹#›</a:t>
            </a:fld>
            <a:endParaRPr lang="en-US" dirty="0">
              <a:solidFill>
                <a:srgbClr val="4F81BD"/>
              </a:solidFill>
            </a:endParaRPr>
          </a:p>
        </p:txBody>
      </p:sp>
    </p:spTree>
    <p:extLst>
      <p:ext uri="{BB962C8B-B14F-4D97-AF65-F5344CB8AC3E}">
        <p14:creationId xmlns:p14="http://schemas.microsoft.com/office/powerpoint/2010/main" val="3347143465"/>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9333"/>
            <a:ext cx="10080625" cy="7569008"/>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chor="ct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630C9DED-7116-441B-A0DF-F992E77604B5}" type="datetime1">
              <a:rPr lang="en-US" altLang="zh-CN"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76790597"/>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B20C20C5-5541-430E-99A8-78E4E676FFB6}" type="datetime1">
              <a:rPr lang="en-US" altLang="zh-CN"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11941613"/>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nchor="ct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DE51DF7-B517-4A34-B334-EDDDC558C397}" type="datetime1">
              <a:rPr lang="en-US" altLang="zh-CN"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57048227"/>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5E22F0A-A2EE-4F7E-B069-111E4459EB83}" type="datetime1">
              <a:rPr lang="en-US" altLang="zh-CN" smtClean="0"/>
              <a:t>10/11/2023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2019773176"/>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4997F7A-1362-41D5-8176-78E6544A0C39}" type="datetime1">
              <a:rPr lang="en-US" altLang="zh-CN" smtClean="0"/>
              <a:t>10/11/2023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75519376"/>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2D6AC9-C91B-41F0-A54D-0045A783293D}" type="datetime1">
              <a:rPr lang="en-US" altLang="zh-CN" smtClean="0"/>
              <a:t>10/11/2023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6329046"/>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6D182-882D-42BD-ABCD-288C7FEE4331}" type="datetime1">
              <a:rPr lang="en-US" altLang="zh-CN" smtClean="0"/>
              <a:t>10/11/2023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6093291"/>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normAutofit/>
          </a:bodyPr>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normAutofit/>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06442F-5C83-46DB-AA07-F3D54F35D450}" type="datetime1">
              <a:rPr lang="en-US" altLang="zh-CN" smtClean="0"/>
              <a:t>10/11/2023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592192590"/>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normAutofit/>
          </a:bodyPr>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zh-CN" altLang="en-US"/>
              <a:t>单击图标添加图片</a:t>
            </a:r>
            <a:endParaRPr lang="en-US" dirty="0"/>
          </a:p>
        </p:txBody>
      </p:sp>
      <p:sp>
        <p:nvSpPr>
          <p:cNvPr id="4" name="Text Placeholder 3"/>
          <p:cNvSpPr>
            <a:spLocks noGrp="1"/>
          </p:cNvSpPr>
          <p:nvPr>
            <p:ph type="body" sz="half" idx="2"/>
          </p:nvPr>
        </p:nvSpPr>
        <p:spPr>
          <a:xfrm>
            <a:off x="560036" y="5916496"/>
            <a:ext cx="7107921" cy="742987"/>
          </a:xfrm>
        </p:spPr>
        <p:txBody>
          <a:bodyPr>
            <a:normAutofit/>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FC53604-B7F7-4C3D-A324-B0ACF3C73506}" type="datetime1">
              <a:rPr lang="en-US" altLang="zh-CN" smtClean="0"/>
              <a:t>10/11/2023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96691300"/>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nchor="ctr">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7DB84DC-2974-46BE-B453-8C9BE47C97D5}" type="datetime1">
              <a:rPr lang="en-US" altLang="zh-CN"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50621053"/>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F546146-A22E-46BB-9695-B52DB1332B17}" type="datetime1">
              <a:rPr lang="en-US" altLang="zh-CN"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448031" y="871246"/>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7352945" y="3181894"/>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latin typeface="Arial"/>
              </a:rPr>
              <a:t>”</a:t>
            </a:r>
            <a:endParaRPr lang="en-US" sz="1984" dirty="0">
              <a:solidFill>
                <a:schemeClr val="accent1">
                  <a:lumMod val="60000"/>
                  <a:lumOff val="40000"/>
                </a:schemeClr>
              </a:solidFill>
              <a:latin typeface="Arial"/>
            </a:endParaRPr>
          </a:p>
        </p:txBody>
      </p:sp>
    </p:spTree>
    <p:extLst>
      <p:ext uri="{BB962C8B-B14F-4D97-AF65-F5344CB8AC3E}">
        <p14:creationId xmlns:p14="http://schemas.microsoft.com/office/powerpoint/2010/main" val="880611807"/>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normAutofit/>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8159CA-9846-45FF-98E9-141CFFE3E3E4}" type="datetime1">
              <a:rPr lang="en-US" altLang="zh-CN"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85607440"/>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0048" y="671971"/>
            <a:ext cx="6692416"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65987AB-DA9E-4D3B-A3E5-2538A8970EF1}" type="datetime1">
              <a:rPr lang="en-US" altLang="zh-CN"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448031" y="871246"/>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7352945" y="3181894"/>
            <a:ext cx="504031" cy="644607"/>
          </a:xfrm>
          <a:prstGeom prst="rect">
            <a:avLst/>
          </a:prstGeom>
        </p:spPr>
        <p:txBody>
          <a:bodyPr vert="horz" lIns="100796" tIns="50398" rIns="100796" bIns="50398" rtlCol="0" anchor="ctr">
            <a:noAutofit/>
          </a:bodyPr>
          <a:lstStyle/>
          <a:p>
            <a:pPr lvl="0"/>
            <a:r>
              <a:rPr lang="en-US" sz="8818"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71269748"/>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nchor="ctr">
            <a:normAutofit/>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normAutofit/>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77338C-0163-4341-B646-736093F497CE}" type="datetime1">
              <a:rPr lang="en-US" altLang="zh-CN"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73703027"/>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8081AA-4B36-43ED-93DF-772BC41D56D4}" type="datetime1">
              <a:rPr lang="en-US" altLang="zh-CN"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2733833077"/>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7D2DBD-725E-4A4D-92BC-5A958102AA5E}" type="datetime1">
              <a:rPr lang="en-US" altLang="zh-CN" smtClean="0"/>
              <a:t>10/11/2023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61350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theme" Target="../theme/theme4.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theme" Target="../theme/theme5.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theme" Target="../theme/theme6.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slideLayout" Target="../slideLayouts/slideLayout99.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theme" Target="../theme/theme7.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slideLayout" Target="../slideLayouts/slideLayout101.xml"/><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slideLayout" Target="../slideLayouts/slideLayout115.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17" Type="http://schemas.openxmlformats.org/officeDocument/2006/relationships/theme" Target="../theme/theme8.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3" Type="http://schemas.openxmlformats.org/officeDocument/2006/relationships/slideLayout" Target="../slideLayouts/slideLayout121.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theme" Target="../theme/theme9.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5" Type="http://schemas.openxmlformats.org/officeDocument/2006/relationships/slideLayout" Target="../slideLayouts/slideLayout123.xml"/><Relationship Id="rId15" Type="http://schemas.openxmlformats.org/officeDocument/2006/relationships/slideLayout" Target="../slideLayouts/slideLayout133.xml"/><Relationship Id="rId10" Type="http://schemas.openxmlformats.org/officeDocument/2006/relationships/slideLayout" Target="../slideLayouts/slideLayout128.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42.xml"/><Relationship Id="rId13" Type="http://schemas.openxmlformats.org/officeDocument/2006/relationships/slideLayout" Target="../slideLayouts/slideLayout147.xml"/><Relationship Id="rId3" Type="http://schemas.openxmlformats.org/officeDocument/2006/relationships/slideLayout" Target="../slideLayouts/slideLayout137.xml"/><Relationship Id="rId7" Type="http://schemas.openxmlformats.org/officeDocument/2006/relationships/slideLayout" Target="../slideLayouts/slideLayout141.xml"/><Relationship Id="rId12" Type="http://schemas.openxmlformats.org/officeDocument/2006/relationships/slideLayout" Target="../slideLayouts/slideLayout146.xml"/><Relationship Id="rId17" Type="http://schemas.openxmlformats.org/officeDocument/2006/relationships/theme" Target="../theme/theme10.xml"/><Relationship Id="rId2" Type="http://schemas.openxmlformats.org/officeDocument/2006/relationships/slideLayout" Target="../slideLayouts/slideLayout136.xml"/><Relationship Id="rId16" Type="http://schemas.openxmlformats.org/officeDocument/2006/relationships/slideLayout" Target="../slideLayouts/slideLayout150.xml"/><Relationship Id="rId1" Type="http://schemas.openxmlformats.org/officeDocument/2006/relationships/slideLayout" Target="../slideLayouts/slideLayout135.xml"/><Relationship Id="rId6" Type="http://schemas.openxmlformats.org/officeDocument/2006/relationships/slideLayout" Target="../slideLayouts/slideLayout140.xml"/><Relationship Id="rId11" Type="http://schemas.openxmlformats.org/officeDocument/2006/relationships/slideLayout" Target="../slideLayouts/slideLayout145.xml"/><Relationship Id="rId5" Type="http://schemas.openxmlformats.org/officeDocument/2006/relationships/slideLayout" Target="../slideLayouts/slideLayout139.xml"/><Relationship Id="rId15" Type="http://schemas.openxmlformats.org/officeDocument/2006/relationships/slideLayout" Target="../slideLayouts/slideLayout149.xml"/><Relationship Id="rId10" Type="http://schemas.openxmlformats.org/officeDocument/2006/relationships/slideLayout" Target="../slideLayouts/slideLayout144.xml"/><Relationship Id="rId4" Type="http://schemas.openxmlformats.org/officeDocument/2006/relationships/slideLayout" Target="../slideLayouts/slideLayout138.xml"/><Relationship Id="rId9" Type="http://schemas.openxmlformats.org/officeDocument/2006/relationships/slideLayout" Target="../slideLayouts/slideLayout143.xml"/><Relationship Id="rId14" Type="http://schemas.openxmlformats.org/officeDocument/2006/relationships/slideLayout" Target="../slideLayouts/slideLayout14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58.xml"/><Relationship Id="rId13" Type="http://schemas.openxmlformats.org/officeDocument/2006/relationships/slideLayout" Target="../slideLayouts/slideLayout163.xml"/><Relationship Id="rId3" Type="http://schemas.openxmlformats.org/officeDocument/2006/relationships/slideLayout" Target="../slideLayouts/slideLayout153.xml"/><Relationship Id="rId7" Type="http://schemas.openxmlformats.org/officeDocument/2006/relationships/slideLayout" Target="../slideLayouts/slideLayout157.xml"/><Relationship Id="rId12" Type="http://schemas.openxmlformats.org/officeDocument/2006/relationships/slideLayout" Target="../slideLayouts/slideLayout162.xml"/><Relationship Id="rId17" Type="http://schemas.openxmlformats.org/officeDocument/2006/relationships/theme" Target="../theme/theme11.xml"/><Relationship Id="rId2" Type="http://schemas.openxmlformats.org/officeDocument/2006/relationships/slideLayout" Target="../slideLayouts/slideLayout152.xml"/><Relationship Id="rId16" Type="http://schemas.openxmlformats.org/officeDocument/2006/relationships/slideLayout" Target="../slideLayouts/slideLayout166.xml"/><Relationship Id="rId1" Type="http://schemas.openxmlformats.org/officeDocument/2006/relationships/slideLayout" Target="../slideLayouts/slideLayout151.xml"/><Relationship Id="rId6" Type="http://schemas.openxmlformats.org/officeDocument/2006/relationships/slideLayout" Target="../slideLayouts/slideLayout156.xml"/><Relationship Id="rId11" Type="http://schemas.openxmlformats.org/officeDocument/2006/relationships/slideLayout" Target="../slideLayouts/slideLayout161.xml"/><Relationship Id="rId5" Type="http://schemas.openxmlformats.org/officeDocument/2006/relationships/slideLayout" Target="../slideLayouts/slideLayout155.xml"/><Relationship Id="rId15" Type="http://schemas.openxmlformats.org/officeDocument/2006/relationships/slideLayout" Target="../slideLayouts/slideLayout165.xml"/><Relationship Id="rId10" Type="http://schemas.openxmlformats.org/officeDocument/2006/relationships/slideLayout" Target="../slideLayouts/slideLayout160.xml"/><Relationship Id="rId4" Type="http://schemas.openxmlformats.org/officeDocument/2006/relationships/slideLayout" Target="../slideLayouts/slideLayout154.xml"/><Relationship Id="rId9" Type="http://schemas.openxmlformats.org/officeDocument/2006/relationships/slideLayout" Target="../slideLayouts/slideLayout159.xml"/><Relationship Id="rId14" Type="http://schemas.openxmlformats.org/officeDocument/2006/relationships/slideLayout" Target="../slideLayouts/slideLayout164.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74.xml"/><Relationship Id="rId13" Type="http://schemas.openxmlformats.org/officeDocument/2006/relationships/slideLayout" Target="../slideLayouts/slideLayout179.xml"/><Relationship Id="rId3" Type="http://schemas.openxmlformats.org/officeDocument/2006/relationships/slideLayout" Target="../slideLayouts/slideLayout169.xml"/><Relationship Id="rId7" Type="http://schemas.openxmlformats.org/officeDocument/2006/relationships/slideLayout" Target="../slideLayouts/slideLayout173.xml"/><Relationship Id="rId12" Type="http://schemas.openxmlformats.org/officeDocument/2006/relationships/slideLayout" Target="../slideLayouts/slideLayout178.xml"/><Relationship Id="rId17" Type="http://schemas.openxmlformats.org/officeDocument/2006/relationships/theme" Target="../theme/theme12.xml"/><Relationship Id="rId2" Type="http://schemas.openxmlformats.org/officeDocument/2006/relationships/slideLayout" Target="../slideLayouts/slideLayout168.xml"/><Relationship Id="rId16" Type="http://schemas.openxmlformats.org/officeDocument/2006/relationships/slideLayout" Target="../slideLayouts/slideLayout182.xml"/><Relationship Id="rId1" Type="http://schemas.openxmlformats.org/officeDocument/2006/relationships/slideLayout" Target="../slideLayouts/slideLayout167.xml"/><Relationship Id="rId6" Type="http://schemas.openxmlformats.org/officeDocument/2006/relationships/slideLayout" Target="../slideLayouts/slideLayout172.xml"/><Relationship Id="rId11" Type="http://schemas.openxmlformats.org/officeDocument/2006/relationships/slideLayout" Target="../slideLayouts/slideLayout177.xml"/><Relationship Id="rId5" Type="http://schemas.openxmlformats.org/officeDocument/2006/relationships/slideLayout" Target="../slideLayouts/slideLayout171.xml"/><Relationship Id="rId15" Type="http://schemas.openxmlformats.org/officeDocument/2006/relationships/slideLayout" Target="../slideLayouts/slideLayout181.xml"/><Relationship Id="rId10" Type="http://schemas.openxmlformats.org/officeDocument/2006/relationships/slideLayout" Target="../slideLayouts/slideLayout176.xml"/><Relationship Id="rId4" Type="http://schemas.openxmlformats.org/officeDocument/2006/relationships/slideLayout" Target="../slideLayouts/slideLayout170.xml"/><Relationship Id="rId9" Type="http://schemas.openxmlformats.org/officeDocument/2006/relationships/slideLayout" Target="../slideLayouts/slideLayout175.xml"/><Relationship Id="rId14" Type="http://schemas.openxmlformats.org/officeDocument/2006/relationships/slideLayout" Target="../slideLayouts/slideLayout18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90.xml"/><Relationship Id="rId13" Type="http://schemas.openxmlformats.org/officeDocument/2006/relationships/slideLayout" Target="../slideLayouts/slideLayout195.xml"/><Relationship Id="rId3" Type="http://schemas.openxmlformats.org/officeDocument/2006/relationships/slideLayout" Target="../slideLayouts/slideLayout185.xml"/><Relationship Id="rId7" Type="http://schemas.openxmlformats.org/officeDocument/2006/relationships/slideLayout" Target="../slideLayouts/slideLayout189.xml"/><Relationship Id="rId12" Type="http://schemas.openxmlformats.org/officeDocument/2006/relationships/slideLayout" Target="../slideLayouts/slideLayout194.xml"/><Relationship Id="rId17" Type="http://schemas.openxmlformats.org/officeDocument/2006/relationships/theme" Target="../theme/theme13.xml"/><Relationship Id="rId2" Type="http://schemas.openxmlformats.org/officeDocument/2006/relationships/slideLayout" Target="../slideLayouts/slideLayout184.xml"/><Relationship Id="rId16" Type="http://schemas.openxmlformats.org/officeDocument/2006/relationships/slideLayout" Target="../slideLayouts/slideLayout198.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slideLayout" Target="../slideLayouts/slideLayout193.xml"/><Relationship Id="rId5" Type="http://schemas.openxmlformats.org/officeDocument/2006/relationships/slideLayout" Target="../slideLayouts/slideLayout187.xml"/><Relationship Id="rId15" Type="http://schemas.openxmlformats.org/officeDocument/2006/relationships/slideLayout" Target="../slideLayouts/slideLayout197.xml"/><Relationship Id="rId10" Type="http://schemas.openxmlformats.org/officeDocument/2006/relationships/slideLayout" Target="../slideLayouts/slideLayout192.xml"/><Relationship Id="rId4" Type="http://schemas.openxmlformats.org/officeDocument/2006/relationships/slideLayout" Target="../slideLayouts/slideLayout186.xml"/><Relationship Id="rId9" Type="http://schemas.openxmlformats.org/officeDocument/2006/relationships/slideLayout" Target="../slideLayouts/slideLayout191.xml"/><Relationship Id="rId14" Type="http://schemas.openxmlformats.org/officeDocument/2006/relationships/slideLayout" Target="../slideLayouts/slideLayout196.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206.xml"/><Relationship Id="rId13" Type="http://schemas.openxmlformats.org/officeDocument/2006/relationships/slideLayout" Target="../slideLayouts/slideLayout211.xml"/><Relationship Id="rId3" Type="http://schemas.openxmlformats.org/officeDocument/2006/relationships/slideLayout" Target="../slideLayouts/slideLayout201.xml"/><Relationship Id="rId7" Type="http://schemas.openxmlformats.org/officeDocument/2006/relationships/slideLayout" Target="../slideLayouts/slideLayout205.xml"/><Relationship Id="rId12" Type="http://schemas.openxmlformats.org/officeDocument/2006/relationships/slideLayout" Target="../slideLayouts/slideLayout210.xml"/><Relationship Id="rId17" Type="http://schemas.openxmlformats.org/officeDocument/2006/relationships/theme" Target="../theme/theme14.xml"/><Relationship Id="rId2" Type="http://schemas.openxmlformats.org/officeDocument/2006/relationships/slideLayout" Target="../slideLayouts/slideLayout200.xml"/><Relationship Id="rId16" Type="http://schemas.openxmlformats.org/officeDocument/2006/relationships/slideLayout" Target="../slideLayouts/slideLayout214.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5" Type="http://schemas.openxmlformats.org/officeDocument/2006/relationships/slideLayout" Target="../slideLayouts/slideLayout203.xml"/><Relationship Id="rId15" Type="http://schemas.openxmlformats.org/officeDocument/2006/relationships/slideLayout" Target="../slideLayouts/slideLayout213.xml"/><Relationship Id="rId10" Type="http://schemas.openxmlformats.org/officeDocument/2006/relationships/slideLayout" Target="../slideLayouts/slideLayout208.xml"/><Relationship Id="rId4" Type="http://schemas.openxmlformats.org/officeDocument/2006/relationships/slideLayout" Target="../slideLayouts/slideLayout202.xml"/><Relationship Id="rId9" Type="http://schemas.openxmlformats.org/officeDocument/2006/relationships/slideLayout" Target="../slideLayouts/slideLayout207.xml"/><Relationship Id="rId14" Type="http://schemas.openxmlformats.org/officeDocument/2006/relationships/slideLayout" Target="../slideLayouts/slideLayout21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22.xml"/><Relationship Id="rId13" Type="http://schemas.openxmlformats.org/officeDocument/2006/relationships/slideLayout" Target="../slideLayouts/slideLayout227.xml"/><Relationship Id="rId3" Type="http://schemas.openxmlformats.org/officeDocument/2006/relationships/slideLayout" Target="../slideLayouts/slideLayout217.xml"/><Relationship Id="rId7" Type="http://schemas.openxmlformats.org/officeDocument/2006/relationships/slideLayout" Target="../slideLayouts/slideLayout221.xml"/><Relationship Id="rId12" Type="http://schemas.openxmlformats.org/officeDocument/2006/relationships/slideLayout" Target="../slideLayouts/slideLayout226.xml"/><Relationship Id="rId17" Type="http://schemas.openxmlformats.org/officeDocument/2006/relationships/theme" Target="../theme/theme15.xml"/><Relationship Id="rId2" Type="http://schemas.openxmlformats.org/officeDocument/2006/relationships/slideLayout" Target="../slideLayouts/slideLayout216.xml"/><Relationship Id="rId16" Type="http://schemas.openxmlformats.org/officeDocument/2006/relationships/slideLayout" Target="../slideLayouts/slideLayout230.xml"/><Relationship Id="rId1" Type="http://schemas.openxmlformats.org/officeDocument/2006/relationships/slideLayout" Target="../slideLayouts/slideLayout215.xml"/><Relationship Id="rId6" Type="http://schemas.openxmlformats.org/officeDocument/2006/relationships/slideLayout" Target="../slideLayouts/slideLayout220.xml"/><Relationship Id="rId11" Type="http://schemas.openxmlformats.org/officeDocument/2006/relationships/slideLayout" Target="../slideLayouts/slideLayout225.xml"/><Relationship Id="rId5" Type="http://schemas.openxmlformats.org/officeDocument/2006/relationships/slideLayout" Target="../slideLayouts/slideLayout219.xml"/><Relationship Id="rId15" Type="http://schemas.openxmlformats.org/officeDocument/2006/relationships/slideLayout" Target="../slideLayouts/slideLayout229.xml"/><Relationship Id="rId10" Type="http://schemas.openxmlformats.org/officeDocument/2006/relationships/slideLayout" Target="../slideLayouts/slideLayout224.xml"/><Relationship Id="rId4" Type="http://schemas.openxmlformats.org/officeDocument/2006/relationships/slideLayout" Target="../slideLayouts/slideLayout218.xml"/><Relationship Id="rId9" Type="http://schemas.openxmlformats.org/officeDocument/2006/relationships/slideLayout" Target="../slideLayouts/slideLayout223.xml"/><Relationship Id="rId14" Type="http://schemas.openxmlformats.org/officeDocument/2006/relationships/slideLayout" Target="../slideLayouts/slideLayout228.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238.xml"/><Relationship Id="rId13" Type="http://schemas.openxmlformats.org/officeDocument/2006/relationships/slideLayout" Target="../slideLayouts/slideLayout243.xml"/><Relationship Id="rId3" Type="http://schemas.openxmlformats.org/officeDocument/2006/relationships/slideLayout" Target="../slideLayouts/slideLayout233.xml"/><Relationship Id="rId7" Type="http://schemas.openxmlformats.org/officeDocument/2006/relationships/slideLayout" Target="../slideLayouts/slideLayout237.xml"/><Relationship Id="rId12" Type="http://schemas.openxmlformats.org/officeDocument/2006/relationships/slideLayout" Target="../slideLayouts/slideLayout242.xml"/><Relationship Id="rId17" Type="http://schemas.openxmlformats.org/officeDocument/2006/relationships/theme" Target="../theme/theme16.xml"/><Relationship Id="rId2" Type="http://schemas.openxmlformats.org/officeDocument/2006/relationships/slideLayout" Target="../slideLayouts/slideLayout232.xml"/><Relationship Id="rId16" Type="http://schemas.openxmlformats.org/officeDocument/2006/relationships/slideLayout" Target="../slideLayouts/slideLayout246.xml"/><Relationship Id="rId1" Type="http://schemas.openxmlformats.org/officeDocument/2006/relationships/slideLayout" Target="../slideLayouts/slideLayout231.xml"/><Relationship Id="rId6" Type="http://schemas.openxmlformats.org/officeDocument/2006/relationships/slideLayout" Target="../slideLayouts/slideLayout236.xml"/><Relationship Id="rId11" Type="http://schemas.openxmlformats.org/officeDocument/2006/relationships/slideLayout" Target="../slideLayouts/slideLayout241.xml"/><Relationship Id="rId5" Type="http://schemas.openxmlformats.org/officeDocument/2006/relationships/slideLayout" Target="../slideLayouts/slideLayout235.xml"/><Relationship Id="rId15" Type="http://schemas.openxmlformats.org/officeDocument/2006/relationships/slideLayout" Target="../slideLayouts/slideLayout245.xml"/><Relationship Id="rId10" Type="http://schemas.openxmlformats.org/officeDocument/2006/relationships/slideLayout" Target="../slideLayouts/slideLayout240.xml"/><Relationship Id="rId4" Type="http://schemas.openxmlformats.org/officeDocument/2006/relationships/slideLayout" Target="../slideLayouts/slideLayout234.xml"/><Relationship Id="rId9" Type="http://schemas.openxmlformats.org/officeDocument/2006/relationships/slideLayout" Target="../slideLayouts/slideLayout239.xml"/><Relationship Id="rId14" Type="http://schemas.openxmlformats.org/officeDocument/2006/relationships/slideLayout" Target="../slideLayouts/slideLayout244.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54.xml"/><Relationship Id="rId13" Type="http://schemas.openxmlformats.org/officeDocument/2006/relationships/slideLayout" Target="../slideLayouts/slideLayout259.xml"/><Relationship Id="rId3" Type="http://schemas.openxmlformats.org/officeDocument/2006/relationships/slideLayout" Target="../slideLayouts/slideLayout249.xml"/><Relationship Id="rId7" Type="http://schemas.openxmlformats.org/officeDocument/2006/relationships/slideLayout" Target="../slideLayouts/slideLayout253.xml"/><Relationship Id="rId12" Type="http://schemas.openxmlformats.org/officeDocument/2006/relationships/slideLayout" Target="../slideLayouts/slideLayout258.xml"/><Relationship Id="rId17" Type="http://schemas.openxmlformats.org/officeDocument/2006/relationships/theme" Target="../theme/theme17.xml"/><Relationship Id="rId2" Type="http://schemas.openxmlformats.org/officeDocument/2006/relationships/slideLayout" Target="../slideLayouts/slideLayout248.xml"/><Relationship Id="rId16" Type="http://schemas.openxmlformats.org/officeDocument/2006/relationships/slideLayout" Target="../slideLayouts/slideLayout262.xml"/><Relationship Id="rId1" Type="http://schemas.openxmlformats.org/officeDocument/2006/relationships/slideLayout" Target="../slideLayouts/slideLayout247.xml"/><Relationship Id="rId6" Type="http://schemas.openxmlformats.org/officeDocument/2006/relationships/slideLayout" Target="../slideLayouts/slideLayout252.xml"/><Relationship Id="rId11" Type="http://schemas.openxmlformats.org/officeDocument/2006/relationships/slideLayout" Target="../slideLayouts/slideLayout257.xml"/><Relationship Id="rId5" Type="http://schemas.openxmlformats.org/officeDocument/2006/relationships/slideLayout" Target="../slideLayouts/slideLayout251.xml"/><Relationship Id="rId15" Type="http://schemas.openxmlformats.org/officeDocument/2006/relationships/slideLayout" Target="../slideLayouts/slideLayout261.xml"/><Relationship Id="rId10" Type="http://schemas.openxmlformats.org/officeDocument/2006/relationships/slideLayout" Target="../slideLayouts/slideLayout256.xml"/><Relationship Id="rId4" Type="http://schemas.openxmlformats.org/officeDocument/2006/relationships/slideLayout" Target="../slideLayouts/slideLayout250.xml"/><Relationship Id="rId9" Type="http://schemas.openxmlformats.org/officeDocument/2006/relationships/slideLayout" Target="../slideLayouts/slideLayout255.xml"/><Relationship Id="rId14" Type="http://schemas.openxmlformats.org/officeDocument/2006/relationships/slideLayout" Target="../slideLayouts/slideLayout260.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70.xml"/><Relationship Id="rId13" Type="http://schemas.openxmlformats.org/officeDocument/2006/relationships/slideLayout" Target="../slideLayouts/slideLayout275.xml"/><Relationship Id="rId3" Type="http://schemas.openxmlformats.org/officeDocument/2006/relationships/slideLayout" Target="../slideLayouts/slideLayout265.xml"/><Relationship Id="rId7" Type="http://schemas.openxmlformats.org/officeDocument/2006/relationships/slideLayout" Target="../slideLayouts/slideLayout269.xml"/><Relationship Id="rId12" Type="http://schemas.openxmlformats.org/officeDocument/2006/relationships/slideLayout" Target="../slideLayouts/slideLayout274.xml"/><Relationship Id="rId17" Type="http://schemas.openxmlformats.org/officeDocument/2006/relationships/theme" Target="../theme/theme18.xml"/><Relationship Id="rId2" Type="http://schemas.openxmlformats.org/officeDocument/2006/relationships/slideLayout" Target="../slideLayouts/slideLayout264.xml"/><Relationship Id="rId16" Type="http://schemas.openxmlformats.org/officeDocument/2006/relationships/slideLayout" Target="../slideLayouts/slideLayout278.xml"/><Relationship Id="rId1" Type="http://schemas.openxmlformats.org/officeDocument/2006/relationships/slideLayout" Target="../slideLayouts/slideLayout263.xml"/><Relationship Id="rId6" Type="http://schemas.openxmlformats.org/officeDocument/2006/relationships/slideLayout" Target="../slideLayouts/slideLayout268.xml"/><Relationship Id="rId11" Type="http://schemas.openxmlformats.org/officeDocument/2006/relationships/slideLayout" Target="../slideLayouts/slideLayout273.xml"/><Relationship Id="rId5" Type="http://schemas.openxmlformats.org/officeDocument/2006/relationships/slideLayout" Target="../slideLayouts/slideLayout267.xml"/><Relationship Id="rId15" Type="http://schemas.openxmlformats.org/officeDocument/2006/relationships/slideLayout" Target="../slideLayouts/slideLayout277.xml"/><Relationship Id="rId10" Type="http://schemas.openxmlformats.org/officeDocument/2006/relationships/slideLayout" Target="../slideLayouts/slideLayout272.xml"/><Relationship Id="rId4" Type="http://schemas.openxmlformats.org/officeDocument/2006/relationships/slideLayout" Target="../slideLayouts/slideLayout266.xml"/><Relationship Id="rId9" Type="http://schemas.openxmlformats.org/officeDocument/2006/relationships/slideLayout" Target="../slideLayouts/slideLayout271.xml"/><Relationship Id="rId14" Type="http://schemas.openxmlformats.org/officeDocument/2006/relationships/slideLayout" Target="../slideLayouts/slideLayout276.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86.xml"/><Relationship Id="rId13" Type="http://schemas.openxmlformats.org/officeDocument/2006/relationships/slideLayout" Target="../slideLayouts/slideLayout291.xml"/><Relationship Id="rId3" Type="http://schemas.openxmlformats.org/officeDocument/2006/relationships/slideLayout" Target="../slideLayouts/slideLayout281.xml"/><Relationship Id="rId7" Type="http://schemas.openxmlformats.org/officeDocument/2006/relationships/slideLayout" Target="../slideLayouts/slideLayout285.xml"/><Relationship Id="rId12" Type="http://schemas.openxmlformats.org/officeDocument/2006/relationships/slideLayout" Target="../slideLayouts/slideLayout290.xml"/><Relationship Id="rId17" Type="http://schemas.openxmlformats.org/officeDocument/2006/relationships/theme" Target="../theme/theme19.xml"/><Relationship Id="rId2" Type="http://schemas.openxmlformats.org/officeDocument/2006/relationships/slideLayout" Target="../slideLayouts/slideLayout280.xml"/><Relationship Id="rId16" Type="http://schemas.openxmlformats.org/officeDocument/2006/relationships/slideLayout" Target="../slideLayouts/slideLayout294.xml"/><Relationship Id="rId1" Type="http://schemas.openxmlformats.org/officeDocument/2006/relationships/slideLayout" Target="../slideLayouts/slideLayout279.xml"/><Relationship Id="rId6" Type="http://schemas.openxmlformats.org/officeDocument/2006/relationships/slideLayout" Target="../slideLayouts/slideLayout284.xml"/><Relationship Id="rId11" Type="http://schemas.openxmlformats.org/officeDocument/2006/relationships/slideLayout" Target="../slideLayouts/slideLayout289.xml"/><Relationship Id="rId5" Type="http://schemas.openxmlformats.org/officeDocument/2006/relationships/slideLayout" Target="../slideLayouts/slideLayout283.xml"/><Relationship Id="rId15" Type="http://schemas.openxmlformats.org/officeDocument/2006/relationships/slideLayout" Target="../slideLayouts/slideLayout293.xml"/><Relationship Id="rId10" Type="http://schemas.openxmlformats.org/officeDocument/2006/relationships/slideLayout" Target="../slideLayouts/slideLayout288.xml"/><Relationship Id="rId4" Type="http://schemas.openxmlformats.org/officeDocument/2006/relationships/slideLayout" Target="../slideLayouts/slideLayout282.xml"/><Relationship Id="rId9" Type="http://schemas.openxmlformats.org/officeDocument/2006/relationships/slideLayout" Target="../slideLayouts/slideLayout287.xml"/><Relationship Id="rId14" Type="http://schemas.openxmlformats.org/officeDocument/2006/relationships/slideLayout" Target="../slideLayouts/slideLayout292.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302.xml"/><Relationship Id="rId13" Type="http://schemas.openxmlformats.org/officeDocument/2006/relationships/slideLayout" Target="../slideLayouts/slideLayout307.xml"/><Relationship Id="rId3" Type="http://schemas.openxmlformats.org/officeDocument/2006/relationships/slideLayout" Target="../slideLayouts/slideLayout297.xml"/><Relationship Id="rId7" Type="http://schemas.openxmlformats.org/officeDocument/2006/relationships/slideLayout" Target="../slideLayouts/slideLayout301.xml"/><Relationship Id="rId12" Type="http://schemas.openxmlformats.org/officeDocument/2006/relationships/slideLayout" Target="../slideLayouts/slideLayout306.xml"/><Relationship Id="rId17" Type="http://schemas.openxmlformats.org/officeDocument/2006/relationships/theme" Target="../theme/theme20.xml"/><Relationship Id="rId2" Type="http://schemas.openxmlformats.org/officeDocument/2006/relationships/slideLayout" Target="../slideLayouts/slideLayout296.xml"/><Relationship Id="rId16" Type="http://schemas.openxmlformats.org/officeDocument/2006/relationships/slideLayout" Target="../slideLayouts/slideLayout310.xml"/><Relationship Id="rId1" Type="http://schemas.openxmlformats.org/officeDocument/2006/relationships/slideLayout" Target="../slideLayouts/slideLayout295.xml"/><Relationship Id="rId6" Type="http://schemas.openxmlformats.org/officeDocument/2006/relationships/slideLayout" Target="../slideLayouts/slideLayout300.xml"/><Relationship Id="rId11" Type="http://schemas.openxmlformats.org/officeDocument/2006/relationships/slideLayout" Target="../slideLayouts/slideLayout305.xml"/><Relationship Id="rId5" Type="http://schemas.openxmlformats.org/officeDocument/2006/relationships/slideLayout" Target="../slideLayouts/slideLayout299.xml"/><Relationship Id="rId15" Type="http://schemas.openxmlformats.org/officeDocument/2006/relationships/slideLayout" Target="../slideLayouts/slideLayout309.xml"/><Relationship Id="rId10" Type="http://schemas.openxmlformats.org/officeDocument/2006/relationships/slideLayout" Target="../slideLayouts/slideLayout304.xml"/><Relationship Id="rId4" Type="http://schemas.openxmlformats.org/officeDocument/2006/relationships/slideLayout" Target="../slideLayouts/slideLayout298.xml"/><Relationship Id="rId9" Type="http://schemas.openxmlformats.org/officeDocument/2006/relationships/slideLayout" Target="../slideLayouts/slideLayout303.xml"/><Relationship Id="rId14" Type="http://schemas.openxmlformats.org/officeDocument/2006/relationships/slideLayout" Target="../slideLayouts/slideLayout308.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318.xml"/><Relationship Id="rId13" Type="http://schemas.openxmlformats.org/officeDocument/2006/relationships/slideLayout" Target="../slideLayouts/slideLayout323.xml"/><Relationship Id="rId3" Type="http://schemas.openxmlformats.org/officeDocument/2006/relationships/slideLayout" Target="../slideLayouts/slideLayout313.xml"/><Relationship Id="rId7" Type="http://schemas.openxmlformats.org/officeDocument/2006/relationships/slideLayout" Target="../slideLayouts/slideLayout317.xml"/><Relationship Id="rId12" Type="http://schemas.openxmlformats.org/officeDocument/2006/relationships/slideLayout" Target="../slideLayouts/slideLayout322.xml"/><Relationship Id="rId17" Type="http://schemas.openxmlformats.org/officeDocument/2006/relationships/theme" Target="../theme/theme21.xml"/><Relationship Id="rId2" Type="http://schemas.openxmlformats.org/officeDocument/2006/relationships/slideLayout" Target="../slideLayouts/slideLayout312.xml"/><Relationship Id="rId16" Type="http://schemas.openxmlformats.org/officeDocument/2006/relationships/slideLayout" Target="../slideLayouts/slideLayout326.xml"/><Relationship Id="rId1" Type="http://schemas.openxmlformats.org/officeDocument/2006/relationships/slideLayout" Target="../slideLayouts/slideLayout311.xml"/><Relationship Id="rId6" Type="http://schemas.openxmlformats.org/officeDocument/2006/relationships/slideLayout" Target="../slideLayouts/slideLayout316.xml"/><Relationship Id="rId11" Type="http://schemas.openxmlformats.org/officeDocument/2006/relationships/slideLayout" Target="../slideLayouts/slideLayout321.xml"/><Relationship Id="rId5" Type="http://schemas.openxmlformats.org/officeDocument/2006/relationships/slideLayout" Target="../slideLayouts/slideLayout315.xml"/><Relationship Id="rId15" Type="http://schemas.openxmlformats.org/officeDocument/2006/relationships/slideLayout" Target="../slideLayouts/slideLayout325.xml"/><Relationship Id="rId10" Type="http://schemas.openxmlformats.org/officeDocument/2006/relationships/slideLayout" Target="../slideLayouts/slideLayout320.xml"/><Relationship Id="rId4" Type="http://schemas.openxmlformats.org/officeDocument/2006/relationships/slideLayout" Target="../slideLayouts/slideLayout314.xml"/><Relationship Id="rId9" Type="http://schemas.openxmlformats.org/officeDocument/2006/relationships/slideLayout" Target="../slideLayouts/slideLayout319.xml"/><Relationship Id="rId14" Type="http://schemas.openxmlformats.org/officeDocument/2006/relationships/slideLayout" Target="../slideLayouts/slideLayout324.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334.xml"/><Relationship Id="rId13" Type="http://schemas.openxmlformats.org/officeDocument/2006/relationships/slideLayout" Target="../slideLayouts/slideLayout339.xml"/><Relationship Id="rId3" Type="http://schemas.openxmlformats.org/officeDocument/2006/relationships/slideLayout" Target="../slideLayouts/slideLayout329.xml"/><Relationship Id="rId7" Type="http://schemas.openxmlformats.org/officeDocument/2006/relationships/slideLayout" Target="../slideLayouts/slideLayout333.xml"/><Relationship Id="rId12" Type="http://schemas.openxmlformats.org/officeDocument/2006/relationships/slideLayout" Target="../slideLayouts/slideLayout338.xml"/><Relationship Id="rId17" Type="http://schemas.openxmlformats.org/officeDocument/2006/relationships/theme" Target="../theme/theme22.xml"/><Relationship Id="rId2" Type="http://schemas.openxmlformats.org/officeDocument/2006/relationships/slideLayout" Target="../slideLayouts/slideLayout328.xml"/><Relationship Id="rId16" Type="http://schemas.openxmlformats.org/officeDocument/2006/relationships/slideLayout" Target="../slideLayouts/slideLayout342.xml"/><Relationship Id="rId1" Type="http://schemas.openxmlformats.org/officeDocument/2006/relationships/slideLayout" Target="../slideLayouts/slideLayout327.xml"/><Relationship Id="rId6" Type="http://schemas.openxmlformats.org/officeDocument/2006/relationships/slideLayout" Target="../slideLayouts/slideLayout332.xml"/><Relationship Id="rId11" Type="http://schemas.openxmlformats.org/officeDocument/2006/relationships/slideLayout" Target="../slideLayouts/slideLayout337.xml"/><Relationship Id="rId5" Type="http://schemas.openxmlformats.org/officeDocument/2006/relationships/slideLayout" Target="../slideLayouts/slideLayout331.xml"/><Relationship Id="rId15" Type="http://schemas.openxmlformats.org/officeDocument/2006/relationships/slideLayout" Target="../slideLayouts/slideLayout341.xml"/><Relationship Id="rId10" Type="http://schemas.openxmlformats.org/officeDocument/2006/relationships/slideLayout" Target="../slideLayouts/slideLayout336.xml"/><Relationship Id="rId4" Type="http://schemas.openxmlformats.org/officeDocument/2006/relationships/slideLayout" Target="../slideLayouts/slideLayout330.xml"/><Relationship Id="rId9" Type="http://schemas.openxmlformats.org/officeDocument/2006/relationships/slideLayout" Target="../slideLayouts/slideLayout335.xml"/><Relationship Id="rId14" Type="http://schemas.openxmlformats.org/officeDocument/2006/relationships/slideLayout" Target="../slideLayouts/slideLayout340.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350.xml"/><Relationship Id="rId13" Type="http://schemas.openxmlformats.org/officeDocument/2006/relationships/slideLayout" Target="../slideLayouts/slideLayout355.xml"/><Relationship Id="rId3" Type="http://schemas.openxmlformats.org/officeDocument/2006/relationships/slideLayout" Target="../slideLayouts/slideLayout345.xml"/><Relationship Id="rId7" Type="http://schemas.openxmlformats.org/officeDocument/2006/relationships/slideLayout" Target="../slideLayouts/slideLayout349.xml"/><Relationship Id="rId12" Type="http://schemas.openxmlformats.org/officeDocument/2006/relationships/slideLayout" Target="../slideLayouts/slideLayout354.xml"/><Relationship Id="rId17" Type="http://schemas.openxmlformats.org/officeDocument/2006/relationships/theme" Target="../theme/theme23.xml"/><Relationship Id="rId2" Type="http://schemas.openxmlformats.org/officeDocument/2006/relationships/slideLayout" Target="../slideLayouts/slideLayout344.xml"/><Relationship Id="rId16" Type="http://schemas.openxmlformats.org/officeDocument/2006/relationships/slideLayout" Target="../slideLayouts/slideLayout358.xml"/><Relationship Id="rId1" Type="http://schemas.openxmlformats.org/officeDocument/2006/relationships/slideLayout" Target="../slideLayouts/slideLayout343.xml"/><Relationship Id="rId6" Type="http://schemas.openxmlformats.org/officeDocument/2006/relationships/slideLayout" Target="../slideLayouts/slideLayout348.xml"/><Relationship Id="rId11" Type="http://schemas.openxmlformats.org/officeDocument/2006/relationships/slideLayout" Target="../slideLayouts/slideLayout353.xml"/><Relationship Id="rId5" Type="http://schemas.openxmlformats.org/officeDocument/2006/relationships/slideLayout" Target="../slideLayouts/slideLayout347.xml"/><Relationship Id="rId15" Type="http://schemas.openxmlformats.org/officeDocument/2006/relationships/slideLayout" Target="../slideLayouts/slideLayout357.xml"/><Relationship Id="rId10" Type="http://schemas.openxmlformats.org/officeDocument/2006/relationships/slideLayout" Target="../slideLayouts/slideLayout352.xml"/><Relationship Id="rId4" Type="http://schemas.openxmlformats.org/officeDocument/2006/relationships/slideLayout" Target="../slideLayouts/slideLayout346.xml"/><Relationship Id="rId9" Type="http://schemas.openxmlformats.org/officeDocument/2006/relationships/slideLayout" Target="../slideLayouts/slideLayout351.xml"/><Relationship Id="rId14" Type="http://schemas.openxmlformats.org/officeDocument/2006/relationships/slideLayout" Target="../slideLayouts/slideLayout356.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366.xml"/><Relationship Id="rId13" Type="http://schemas.openxmlformats.org/officeDocument/2006/relationships/slideLayout" Target="../slideLayouts/slideLayout371.xml"/><Relationship Id="rId3" Type="http://schemas.openxmlformats.org/officeDocument/2006/relationships/slideLayout" Target="../slideLayouts/slideLayout361.xml"/><Relationship Id="rId7" Type="http://schemas.openxmlformats.org/officeDocument/2006/relationships/slideLayout" Target="../slideLayouts/slideLayout365.xml"/><Relationship Id="rId12" Type="http://schemas.openxmlformats.org/officeDocument/2006/relationships/slideLayout" Target="../slideLayouts/slideLayout370.xml"/><Relationship Id="rId17" Type="http://schemas.openxmlformats.org/officeDocument/2006/relationships/theme" Target="../theme/theme24.xml"/><Relationship Id="rId2" Type="http://schemas.openxmlformats.org/officeDocument/2006/relationships/slideLayout" Target="../slideLayouts/slideLayout360.xml"/><Relationship Id="rId16" Type="http://schemas.openxmlformats.org/officeDocument/2006/relationships/slideLayout" Target="../slideLayouts/slideLayout374.xml"/><Relationship Id="rId1" Type="http://schemas.openxmlformats.org/officeDocument/2006/relationships/slideLayout" Target="../slideLayouts/slideLayout359.xml"/><Relationship Id="rId6" Type="http://schemas.openxmlformats.org/officeDocument/2006/relationships/slideLayout" Target="../slideLayouts/slideLayout364.xml"/><Relationship Id="rId11" Type="http://schemas.openxmlformats.org/officeDocument/2006/relationships/slideLayout" Target="../slideLayouts/slideLayout369.xml"/><Relationship Id="rId5" Type="http://schemas.openxmlformats.org/officeDocument/2006/relationships/slideLayout" Target="../slideLayouts/slideLayout363.xml"/><Relationship Id="rId15" Type="http://schemas.openxmlformats.org/officeDocument/2006/relationships/slideLayout" Target="../slideLayouts/slideLayout373.xml"/><Relationship Id="rId10" Type="http://schemas.openxmlformats.org/officeDocument/2006/relationships/slideLayout" Target="../slideLayouts/slideLayout368.xml"/><Relationship Id="rId4" Type="http://schemas.openxmlformats.org/officeDocument/2006/relationships/slideLayout" Target="../slideLayouts/slideLayout362.xml"/><Relationship Id="rId9" Type="http://schemas.openxmlformats.org/officeDocument/2006/relationships/slideLayout" Target="../slideLayouts/slideLayout367.xml"/><Relationship Id="rId14" Type="http://schemas.openxmlformats.org/officeDocument/2006/relationships/slideLayout" Target="../slideLayouts/slideLayout372.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382.xml"/><Relationship Id="rId13" Type="http://schemas.openxmlformats.org/officeDocument/2006/relationships/slideLayout" Target="../slideLayouts/slideLayout387.xml"/><Relationship Id="rId3" Type="http://schemas.openxmlformats.org/officeDocument/2006/relationships/slideLayout" Target="../slideLayouts/slideLayout377.xml"/><Relationship Id="rId7" Type="http://schemas.openxmlformats.org/officeDocument/2006/relationships/slideLayout" Target="../slideLayouts/slideLayout381.xml"/><Relationship Id="rId12" Type="http://schemas.openxmlformats.org/officeDocument/2006/relationships/slideLayout" Target="../slideLayouts/slideLayout386.xml"/><Relationship Id="rId17" Type="http://schemas.openxmlformats.org/officeDocument/2006/relationships/theme" Target="../theme/theme25.xml"/><Relationship Id="rId2" Type="http://schemas.openxmlformats.org/officeDocument/2006/relationships/slideLayout" Target="../slideLayouts/slideLayout376.xml"/><Relationship Id="rId16" Type="http://schemas.openxmlformats.org/officeDocument/2006/relationships/slideLayout" Target="../slideLayouts/slideLayout390.xml"/><Relationship Id="rId1" Type="http://schemas.openxmlformats.org/officeDocument/2006/relationships/slideLayout" Target="../slideLayouts/slideLayout375.xml"/><Relationship Id="rId6" Type="http://schemas.openxmlformats.org/officeDocument/2006/relationships/slideLayout" Target="../slideLayouts/slideLayout380.xml"/><Relationship Id="rId11" Type="http://schemas.openxmlformats.org/officeDocument/2006/relationships/slideLayout" Target="../slideLayouts/slideLayout385.xml"/><Relationship Id="rId5" Type="http://schemas.openxmlformats.org/officeDocument/2006/relationships/slideLayout" Target="../slideLayouts/slideLayout379.xml"/><Relationship Id="rId15" Type="http://schemas.openxmlformats.org/officeDocument/2006/relationships/slideLayout" Target="../slideLayouts/slideLayout389.xml"/><Relationship Id="rId10" Type="http://schemas.openxmlformats.org/officeDocument/2006/relationships/slideLayout" Target="../slideLayouts/slideLayout384.xml"/><Relationship Id="rId4" Type="http://schemas.openxmlformats.org/officeDocument/2006/relationships/slideLayout" Target="../slideLayouts/slideLayout378.xml"/><Relationship Id="rId9" Type="http://schemas.openxmlformats.org/officeDocument/2006/relationships/slideLayout" Target="../slideLayouts/slideLayout383.xml"/><Relationship Id="rId14" Type="http://schemas.openxmlformats.org/officeDocument/2006/relationships/slideLayout" Target="../slideLayouts/slideLayout388.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98.xml"/><Relationship Id="rId13" Type="http://schemas.openxmlformats.org/officeDocument/2006/relationships/slideLayout" Target="../slideLayouts/slideLayout403.xml"/><Relationship Id="rId3" Type="http://schemas.openxmlformats.org/officeDocument/2006/relationships/slideLayout" Target="../slideLayouts/slideLayout393.xml"/><Relationship Id="rId7" Type="http://schemas.openxmlformats.org/officeDocument/2006/relationships/slideLayout" Target="../slideLayouts/slideLayout397.xml"/><Relationship Id="rId12" Type="http://schemas.openxmlformats.org/officeDocument/2006/relationships/slideLayout" Target="../slideLayouts/slideLayout402.xml"/><Relationship Id="rId17" Type="http://schemas.openxmlformats.org/officeDocument/2006/relationships/theme" Target="../theme/theme26.xml"/><Relationship Id="rId2" Type="http://schemas.openxmlformats.org/officeDocument/2006/relationships/slideLayout" Target="../slideLayouts/slideLayout392.xml"/><Relationship Id="rId16" Type="http://schemas.openxmlformats.org/officeDocument/2006/relationships/slideLayout" Target="../slideLayouts/slideLayout406.xml"/><Relationship Id="rId1" Type="http://schemas.openxmlformats.org/officeDocument/2006/relationships/slideLayout" Target="../slideLayouts/slideLayout391.xml"/><Relationship Id="rId6" Type="http://schemas.openxmlformats.org/officeDocument/2006/relationships/slideLayout" Target="../slideLayouts/slideLayout396.xml"/><Relationship Id="rId11" Type="http://schemas.openxmlformats.org/officeDocument/2006/relationships/slideLayout" Target="../slideLayouts/slideLayout401.xml"/><Relationship Id="rId5" Type="http://schemas.openxmlformats.org/officeDocument/2006/relationships/slideLayout" Target="../slideLayouts/slideLayout395.xml"/><Relationship Id="rId15" Type="http://schemas.openxmlformats.org/officeDocument/2006/relationships/slideLayout" Target="../slideLayouts/slideLayout405.xml"/><Relationship Id="rId10" Type="http://schemas.openxmlformats.org/officeDocument/2006/relationships/slideLayout" Target="../slideLayouts/slideLayout400.xml"/><Relationship Id="rId4" Type="http://schemas.openxmlformats.org/officeDocument/2006/relationships/slideLayout" Target="../slideLayouts/slideLayout394.xml"/><Relationship Id="rId9" Type="http://schemas.openxmlformats.org/officeDocument/2006/relationships/slideLayout" Target="../slideLayouts/slideLayout399.xml"/><Relationship Id="rId14" Type="http://schemas.openxmlformats.org/officeDocument/2006/relationships/slideLayout" Target="../slideLayouts/slideLayout404.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414.xml"/><Relationship Id="rId13" Type="http://schemas.openxmlformats.org/officeDocument/2006/relationships/slideLayout" Target="../slideLayouts/slideLayout419.xml"/><Relationship Id="rId3" Type="http://schemas.openxmlformats.org/officeDocument/2006/relationships/slideLayout" Target="../slideLayouts/slideLayout409.xml"/><Relationship Id="rId7" Type="http://schemas.openxmlformats.org/officeDocument/2006/relationships/slideLayout" Target="../slideLayouts/slideLayout413.xml"/><Relationship Id="rId12" Type="http://schemas.openxmlformats.org/officeDocument/2006/relationships/slideLayout" Target="../slideLayouts/slideLayout418.xml"/><Relationship Id="rId17" Type="http://schemas.openxmlformats.org/officeDocument/2006/relationships/theme" Target="../theme/theme27.xml"/><Relationship Id="rId2" Type="http://schemas.openxmlformats.org/officeDocument/2006/relationships/slideLayout" Target="../slideLayouts/slideLayout408.xml"/><Relationship Id="rId16" Type="http://schemas.openxmlformats.org/officeDocument/2006/relationships/slideLayout" Target="../slideLayouts/slideLayout422.xml"/><Relationship Id="rId1" Type="http://schemas.openxmlformats.org/officeDocument/2006/relationships/slideLayout" Target="../slideLayouts/slideLayout407.xml"/><Relationship Id="rId6" Type="http://schemas.openxmlformats.org/officeDocument/2006/relationships/slideLayout" Target="../slideLayouts/slideLayout412.xml"/><Relationship Id="rId11" Type="http://schemas.openxmlformats.org/officeDocument/2006/relationships/slideLayout" Target="../slideLayouts/slideLayout417.xml"/><Relationship Id="rId5" Type="http://schemas.openxmlformats.org/officeDocument/2006/relationships/slideLayout" Target="../slideLayouts/slideLayout411.xml"/><Relationship Id="rId15" Type="http://schemas.openxmlformats.org/officeDocument/2006/relationships/slideLayout" Target="../slideLayouts/slideLayout421.xml"/><Relationship Id="rId10" Type="http://schemas.openxmlformats.org/officeDocument/2006/relationships/slideLayout" Target="../slideLayouts/slideLayout416.xml"/><Relationship Id="rId4" Type="http://schemas.openxmlformats.org/officeDocument/2006/relationships/slideLayout" Target="../slideLayouts/slideLayout410.xml"/><Relationship Id="rId9" Type="http://schemas.openxmlformats.org/officeDocument/2006/relationships/slideLayout" Target="../slideLayouts/slideLayout415.xml"/><Relationship Id="rId14" Type="http://schemas.openxmlformats.org/officeDocument/2006/relationships/slideLayout" Target="../slideLayouts/slideLayout4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CCFF">
            <a:alpha val="100000"/>
          </a:srgbClr>
        </a:solidFill>
        <a:effectLst/>
      </p:bgPr>
    </p:bg>
    <p:spTree>
      <p:nvGrpSpPr>
        <p:cNvPr id="1" name=""/>
        <p:cNvGrpSpPr/>
        <p:nvPr/>
      </p:nvGrpSpPr>
      <p:grpSpPr>
        <a:xfrm>
          <a:off x="0" y="0"/>
          <a:ext cx="0" cy="0"/>
          <a:chOff x="0" y="0"/>
          <a:chExt cx="0" cy="0"/>
        </a:xfrm>
      </p:grpSpPr>
      <p:sp>
        <p:nvSpPr>
          <p:cNvPr id="1026" name="AutoShape 2"/>
          <p:cNvSpPr/>
          <p:nvPr/>
        </p:nvSpPr>
        <p:spPr>
          <a:xfrm>
            <a:off x="144463" y="161925"/>
            <a:ext cx="9791700" cy="6613525"/>
          </a:xfrm>
          <a:prstGeom prst="roundRect">
            <a:avLst>
              <a:gd name="adj" fmla="val 2810"/>
            </a:avLst>
          </a:prstGeom>
          <a:solidFill>
            <a:srgbClr val="FFFFFF"/>
          </a:solidFill>
          <a:ln w="9525">
            <a:noFill/>
          </a:ln>
        </p:spPr>
        <p:txBody>
          <a:bodyPr wrap="none" anchor="ctr" anchorCtr="0"/>
          <a:lstStyle/>
          <a:p>
            <a:pPr lvl="0" eaLnBrk="1"/>
            <a:endParaRPr lang="en-US" altLang="x-none" dirty="0">
              <a:latin typeface="Arial" panose="020B0604020202020204" pitchFamily="34" charset="0"/>
              <a:ea typeface="宋体" panose="02010600030101010101" pitchFamily="2" charset="-122"/>
            </a:endParaRPr>
          </a:p>
        </p:txBody>
      </p:sp>
      <p:sp>
        <p:nvSpPr>
          <p:cNvPr id="1027" name="Rectangle 3"/>
          <p:cNvSpPr>
            <a:spLocks noGrp="1"/>
          </p:cNvSpPr>
          <p:nvPr>
            <p:ph type="title"/>
          </p:nvPr>
        </p:nvSpPr>
        <p:spPr>
          <a:xfrm>
            <a:off x="503238" y="301625"/>
            <a:ext cx="7847012" cy="920750"/>
          </a:xfrm>
          <a:prstGeom prst="rect">
            <a:avLst/>
          </a:prstGeom>
          <a:noFill/>
          <a:ln w="9525">
            <a:noFill/>
          </a:ln>
        </p:spPr>
        <p:txBody>
          <a:bodyPr lIns="0" tIns="0" rIns="0" bIns="0" anchor="ctr" anchorCtr="0"/>
          <a:lstStyle/>
          <a:p>
            <a:pPr lvl="0"/>
            <a:r>
              <a:rPr lang="en-US" altLang="zh-CN"/>
              <a:t>Click to edit the title text format</a:t>
            </a:r>
          </a:p>
        </p:txBody>
      </p:sp>
      <p:sp>
        <p:nvSpPr>
          <p:cNvPr id="1028" name="Rectangle 4"/>
          <p:cNvSpPr>
            <a:spLocks noGrp="1"/>
          </p:cNvSpPr>
          <p:nvPr>
            <p:ph type="body" idx="1"/>
          </p:nvPr>
        </p:nvSpPr>
        <p:spPr>
          <a:xfrm>
            <a:off x="503238" y="1728788"/>
            <a:ext cx="9069387" cy="4383087"/>
          </a:xfrm>
          <a:prstGeom prst="rect">
            <a:avLst/>
          </a:prstGeom>
          <a:noFill/>
          <a:ln w="9525">
            <a:noFill/>
          </a:ln>
        </p:spPr>
        <p:txBody>
          <a:bodyPr lIns="0" tIns="22680" rIns="0" bIns="0"/>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1029" name="Rectangle 5"/>
          <p:cNvSpPr>
            <a:spLocks noGrp="1"/>
          </p:cNvSpPr>
          <p:nvPr>
            <p:ph type="dt"/>
          </p:nvPr>
        </p:nvSpPr>
        <p:spPr>
          <a:xfrm>
            <a:off x="144463" y="6886575"/>
            <a:ext cx="3094037" cy="519113"/>
          </a:xfrm>
          <a:prstGeom prst="rect">
            <a:avLst/>
          </a:prstGeom>
          <a:noFill/>
          <a:ln w="9525">
            <a:noFill/>
          </a:ln>
        </p:spPr>
        <p:txBody>
          <a:bodyPr lIns="0" tIns="0" rIns="0" bIns="0"/>
          <a:lstStyle>
            <a:lvl1pPr>
              <a:defRPr sz="1000">
                <a:latin typeface="Comic Sans MS" panose="030F0702030302020204" pitchFamily="2" charset="0"/>
              </a:defRPr>
            </a:lvl1pPr>
          </a:lstStyle>
          <a:p>
            <a:pPr lvl="0" eaLnBrk="1">
              <a:lnSpc>
                <a:spcPct val="116000"/>
              </a:lnSpc>
            </a:pPr>
            <a:endParaRPr lang="en-GB" altLang="en-US" sz="1000" dirty="0">
              <a:latin typeface="Comic Sans MS" panose="030F0702030302020204" pitchFamily="2" charset="0"/>
              <a:ea typeface="宋体" panose="02010600030101010101" pitchFamily="2" charset="-122"/>
            </a:endParaRPr>
          </a:p>
        </p:txBody>
      </p:sp>
      <p:sp>
        <p:nvSpPr>
          <p:cNvPr id="1030" name="Rectangle 6"/>
          <p:cNvSpPr>
            <a:spLocks noGrp="1"/>
          </p:cNvSpPr>
          <p:nvPr>
            <p:ph type="ftr"/>
          </p:nvPr>
        </p:nvSpPr>
        <p:spPr>
          <a:xfrm>
            <a:off x="3448050" y="6886575"/>
            <a:ext cx="3194050" cy="519113"/>
          </a:xfrm>
          <a:prstGeom prst="rect">
            <a:avLst/>
          </a:prstGeom>
          <a:noFill/>
          <a:ln w="9525">
            <a:noFill/>
          </a:ln>
        </p:spPr>
        <p:txBody>
          <a:bodyPr lIns="0" tIns="0" rIns="0" bIns="0"/>
          <a:lstStyle>
            <a:lvl1pPr algn="ctr">
              <a:defRPr sz="1000">
                <a:latin typeface="Comic Sans MS" panose="030F0702030302020204" pitchFamily="2" charset="0"/>
              </a:defRPr>
            </a:lvl1pPr>
          </a:lstStyle>
          <a:p>
            <a:pPr lvl="0" eaLnBrk="1">
              <a:lnSpc>
                <a:spcPct val="116000"/>
              </a:lnSpc>
            </a:pPr>
            <a:endParaRPr lang="en-US" altLang="zh-CN" sz="1000" dirty="0">
              <a:latin typeface="Comic Sans MS" panose="030F0702030302020204" pitchFamily="2" charset="0"/>
              <a:ea typeface="DejaVu Sans" panose="020B0606030804020204" charset="0"/>
            </a:endParaRPr>
          </a:p>
        </p:txBody>
      </p:sp>
      <p:sp>
        <p:nvSpPr>
          <p:cNvPr id="1031" name="Rectangle 7"/>
          <p:cNvSpPr>
            <a:spLocks noGrp="1"/>
          </p:cNvSpPr>
          <p:nvPr>
            <p:ph type="sldNum"/>
          </p:nvPr>
        </p:nvSpPr>
        <p:spPr>
          <a:xfrm>
            <a:off x="7227888" y="6886575"/>
            <a:ext cx="2346325" cy="519113"/>
          </a:xfrm>
          <a:prstGeom prst="rect">
            <a:avLst/>
          </a:prstGeom>
          <a:noFill/>
          <a:ln w="9525">
            <a:noFill/>
          </a:ln>
        </p:spPr>
        <p:txBody>
          <a:bodyPr lIns="0" tIns="0" rIns="0" bIns="0"/>
          <a:lstStyle>
            <a:lvl1pPr algn="r">
              <a:defRPr sz="1200">
                <a:latin typeface="Comic Sans MS" panose="030F0702030302020204" pitchFamily="2" charset="0"/>
                <a:ea typeface="宋体" panose="02010600030101010101" pitchFamily="2" charset="-122"/>
              </a:defRPr>
            </a:lvl1pPr>
          </a:lstStyle>
          <a:p>
            <a:pPr lvl="0" eaLnBrk="1">
              <a:lnSpc>
                <a:spcPct val="116000"/>
              </a:lnSpc>
            </a:pPr>
            <a:fld id="{9A0DB2DC-4C9A-4742-B13C-FB6460FD3503}" type="slidenum">
              <a:rPr lang="en-GB" altLang="en-US" dirty="0"/>
              <a:t>‹#›</a:t>
            </a:fld>
            <a:endParaRPr lang="en-GB" altLang="en-US" dirty="0"/>
          </a:p>
        </p:txBody>
      </p:sp>
      <p:sp>
        <p:nvSpPr>
          <p:cNvPr id="1032" name="Rectangle 8"/>
          <p:cNvSpPr/>
          <p:nvPr/>
        </p:nvSpPr>
        <p:spPr>
          <a:xfrm>
            <a:off x="1439863" y="1223963"/>
            <a:ext cx="8640762" cy="144462"/>
          </a:xfrm>
          <a:prstGeom prst="rect">
            <a:avLst/>
          </a:prstGeom>
          <a:gradFill rotWithShape="0">
            <a:gsLst>
              <a:gs pos="0">
                <a:srgbClr val="FFFFFF"/>
              </a:gs>
              <a:gs pos="100000">
                <a:srgbClr val="0047FF"/>
              </a:gs>
            </a:gsLst>
            <a:lin ang="0" scaled="1"/>
            <a:tileRect/>
          </a:gradFill>
          <a:ln w="9525">
            <a:noFill/>
          </a:ln>
        </p:spPr>
        <p:txBody>
          <a:bodyPr wrap="none" anchor="ctr" anchorCtr="0"/>
          <a:lstStyle/>
          <a:p>
            <a:pPr lvl="0" eaLnBrk="1"/>
            <a:endParaRPr lang="en-US" altLang="x-none" dirty="0">
              <a:latin typeface="Arial" panose="020B0604020202020204" pitchFamily="34" charset="0"/>
              <a:ea typeface="宋体" panose="02010600030101010101" pitchFamily="2" charset="-122"/>
            </a:endParaRPr>
          </a:p>
        </p:txBody>
      </p:sp>
      <p:pic>
        <p:nvPicPr>
          <p:cNvPr id="1033" name="Picture 9"/>
          <p:cNvPicPr>
            <a:picLocks noChangeAspect="1"/>
          </p:cNvPicPr>
          <p:nvPr/>
        </p:nvPicPr>
        <p:blipFill>
          <a:blip r:embed="rId13"/>
          <a:stretch>
            <a:fillRect/>
          </a:stretch>
        </p:blipFill>
        <p:spPr>
          <a:xfrm>
            <a:off x="8928100" y="215900"/>
            <a:ext cx="936625" cy="9366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449580" eaLnBrk="0" fontAlgn="base" latinLnBrk="0" hangingPunct="0">
        <a:lnSpc>
          <a:spcPct val="110000"/>
        </a:lnSpc>
        <a:spcBef>
          <a:spcPct val="0"/>
        </a:spcBef>
        <a:spcAft>
          <a:spcPct val="0"/>
        </a:spcAft>
        <a:buSzPct val="100000"/>
        <a:buFont typeface="Times New Roman" panose="02020603050405020304" pitchFamily="2" charset="0"/>
        <a:buNone/>
        <a:defRPr sz="4000" b="0" i="0" u="none" kern="1200" baseline="0">
          <a:solidFill>
            <a:srgbClr val="000000"/>
          </a:solidFill>
          <a:latin typeface="+mj-lt"/>
          <a:ea typeface="+mj-ea"/>
          <a:cs typeface="+mj-cs"/>
        </a:defRPr>
      </a:lvl1pPr>
    </p:titleStyle>
    <p:bodyStyle>
      <a:lvl1pPr marL="342900" lvl="0" indent="-342900" algn="l" defTabSz="449580" eaLnBrk="0" fontAlgn="base" latinLnBrk="0" hangingPunct="0">
        <a:lnSpc>
          <a:spcPct val="95000"/>
        </a:lnSpc>
        <a:spcBef>
          <a:spcPct val="0"/>
        </a:spcBef>
        <a:spcAft>
          <a:spcPts val="1415"/>
        </a:spcAft>
        <a:buSzPct val="100000"/>
        <a:buFont typeface="Times New Roman" panose="02020603050405020304" pitchFamily="2" charset="0"/>
        <a:buChar char="•"/>
        <a:defRPr sz="3600" b="0" i="0" u="none" kern="1200" baseline="0">
          <a:solidFill>
            <a:srgbClr val="000000"/>
          </a:solidFill>
          <a:latin typeface="+mn-lt"/>
          <a:ea typeface="+mn-ea"/>
          <a:cs typeface="+mn-cs"/>
        </a:defRPr>
      </a:lvl1pPr>
      <a:lvl2pPr marL="742950" lvl="1" indent="-285750" algn="l" defTabSz="449580" eaLnBrk="0" fontAlgn="base" latinLnBrk="0" hangingPunct="0">
        <a:lnSpc>
          <a:spcPct val="95000"/>
        </a:lnSpc>
        <a:spcBef>
          <a:spcPct val="0"/>
        </a:spcBef>
        <a:spcAft>
          <a:spcPts val="1140"/>
        </a:spcAft>
        <a:buSzPct val="100000"/>
        <a:buFont typeface="Times New Roman" panose="02020603050405020304" pitchFamily="2" charset="0"/>
        <a:buChar char="–"/>
        <a:defRPr sz="2800" b="0" i="0" u="none" kern="1200" baseline="0">
          <a:solidFill>
            <a:srgbClr val="000000"/>
          </a:solidFill>
          <a:latin typeface="+mn-lt"/>
          <a:ea typeface="+mn-ea"/>
          <a:cs typeface="+mn-cs"/>
        </a:defRPr>
      </a:lvl2pPr>
      <a:lvl3pPr marL="1143000" lvl="2" indent="-228600" algn="l" defTabSz="449580" eaLnBrk="0" fontAlgn="base" latinLnBrk="0" hangingPunct="0">
        <a:lnSpc>
          <a:spcPct val="95000"/>
        </a:lnSpc>
        <a:spcBef>
          <a:spcPct val="0"/>
        </a:spcBef>
        <a:spcAft>
          <a:spcPts val="850"/>
        </a:spcAft>
        <a:buSzPct val="100000"/>
        <a:buFont typeface="Times New Roman" panose="02020603050405020304" pitchFamily="2" charset="0"/>
        <a:buChar char="•"/>
        <a:defRPr sz="2400" b="0" i="0" u="none" kern="1200" baseline="0">
          <a:solidFill>
            <a:srgbClr val="000000"/>
          </a:solidFill>
          <a:latin typeface="+mn-lt"/>
          <a:ea typeface="+mn-ea"/>
          <a:cs typeface="+mn-cs"/>
        </a:defRPr>
      </a:lvl3pPr>
      <a:lvl4pPr marL="1600200" lvl="3" indent="-228600" algn="l" defTabSz="449580" eaLnBrk="0" fontAlgn="base" latinLnBrk="0" hangingPunct="0">
        <a:lnSpc>
          <a:spcPct val="95000"/>
        </a:lnSpc>
        <a:spcBef>
          <a:spcPct val="0"/>
        </a:spcBef>
        <a:spcAft>
          <a:spcPts val="575"/>
        </a:spcAft>
        <a:buSzPct val="100000"/>
        <a:buFont typeface="Times New Roman" panose="02020603050405020304" pitchFamily="2" charset="0"/>
        <a:buChar char="–"/>
        <a:defRPr sz="2000" b="0" i="0" u="none" kern="1200" baseline="0">
          <a:solidFill>
            <a:srgbClr val="000000"/>
          </a:solidFill>
          <a:latin typeface="+mn-lt"/>
          <a:ea typeface="+mn-ea"/>
          <a:cs typeface="+mn-cs"/>
        </a:defRPr>
      </a:lvl4pPr>
      <a:lvl5pPr marL="2057400" lvl="4" indent="-228600" algn="l" defTabSz="449580" eaLnBrk="0" fontAlgn="base" latinLnBrk="0" hangingPunct="0">
        <a:lnSpc>
          <a:spcPct val="95000"/>
        </a:lnSpc>
        <a:spcBef>
          <a:spcPct val="0"/>
        </a:spcBef>
        <a:spcAft>
          <a:spcPts val="290"/>
        </a:spcAft>
        <a:buSzPct val="100000"/>
        <a:buFont typeface="Times New Roman" panose="02020603050405020304" pitchFamily="2" charset="0"/>
        <a:buChar char="»"/>
        <a:defRPr sz="1400" b="0" i="0" u="none" kern="1200" baseline="0">
          <a:solidFill>
            <a:srgbClr val="000000"/>
          </a:solidFill>
          <a:latin typeface="+mn-lt"/>
          <a:ea typeface="+mn-ea"/>
          <a:cs typeface="+mn-cs"/>
        </a:defRPr>
      </a:lvl5pPr>
      <a:lvl6pPr marL="2514600" lvl="5" indent="-228600" algn="l" defTabSz="449580" eaLnBrk="0" fontAlgn="base" latinLnBrk="0" hangingPunct="0">
        <a:lnSpc>
          <a:spcPct val="95000"/>
        </a:lnSpc>
        <a:spcBef>
          <a:spcPct val="0"/>
        </a:spcBef>
        <a:spcAft>
          <a:spcPts val="290"/>
        </a:spcAft>
        <a:buSzPct val="100000"/>
        <a:buFont typeface="Times New Roman" panose="02020603050405020304" pitchFamily="2" charset="0"/>
        <a:buChar char="»"/>
        <a:defRPr sz="1400" b="0" i="0" u="none" kern="1200" baseline="0">
          <a:solidFill>
            <a:srgbClr val="000000"/>
          </a:solidFill>
          <a:latin typeface="+mn-lt"/>
          <a:ea typeface="+mn-ea"/>
          <a:cs typeface="+mn-cs"/>
        </a:defRPr>
      </a:lvl6pPr>
      <a:lvl7pPr marL="2971800" lvl="6" indent="-228600" algn="l" defTabSz="449580" eaLnBrk="0" fontAlgn="base" latinLnBrk="0" hangingPunct="0">
        <a:lnSpc>
          <a:spcPct val="95000"/>
        </a:lnSpc>
        <a:spcBef>
          <a:spcPct val="0"/>
        </a:spcBef>
        <a:spcAft>
          <a:spcPts val="290"/>
        </a:spcAft>
        <a:buSzPct val="100000"/>
        <a:buFont typeface="Times New Roman" panose="02020603050405020304" pitchFamily="2" charset="0"/>
        <a:buChar char="»"/>
        <a:defRPr sz="1400" b="0" i="0" u="none" kern="1200" baseline="0">
          <a:solidFill>
            <a:srgbClr val="000000"/>
          </a:solidFill>
          <a:latin typeface="+mn-lt"/>
          <a:ea typeface="+mn-ea"/>
          <a:cs typeface="+mn-cs"/>
        </a:defRPr>
      </a:lvl7pPr>
      <a:lvl8pPr marL="3429000" lvl="7" indent="-228600" algn="l" defTabSz="449580" eaLnBrk="0" fontAlgn="base" latinLnBrk="0" hangingPunct="0">
        <a:lnSpc>
          <a:spcPct val="95000"/>
        </a:lnSpc>
        <a:spcBef>
          <a:spcPct val="0"/>
        </a:spcBef>
        <a:spcAft>
          <a:spcPts val="290"/>
        </a:spcAft>
        <a:buSzPct val="100000"/>
        <a:buFont typeface="Times New Roman" panose="02020603050405020304" pitchFamily="2" charset="0"/>
        <a:buChar char="»"/>
        <a:defRPr sz="1400" b="0" i="0" u="none" kern="1200" baseline="0">
          <a:solidFill>
            <a:srgbClr val="000000"/>
          </a:solidFill>
          <a:latin typeface="+mn-lt"/>
          <a:ea typeface="+mn-ea"/>
          <a:cs typeface="+mn-cs"/>
        </a:defRPr>
      </a:lvl8pPr>
      <a:lvl9pPr marL="3886200" lvl="8" indent="-228600" algn="l" defTabSz="449580" eaLnBrk="0" fontAlgn="base" latinLnBrk="0" hangingPunct="0">
        <a:lnSpc>
          <a:spcPct val="95000"/>
        </a:lnSpc>
        <a:spcBef>
          <a:spcPct val="0"/>
        </a:spcBef>
        <a:spcAft>
          <a:spcPts val="290"/>
        </a:spcAft>
        <a:buSzPct val="100000"/>
        <a:buFont typeface="Times New Roman" panose="02020603050405020304" pitchFamily="2" charset="0"/>
        <a:buChar char="»"/>
        <a:defRPr sz="14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206030504050203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99CCFF">
            <a:alpha val="100000"/>
          </a:srgbClr>
        </a:solidFill>
        <a:effectLst/>
      </p:bgPr>
    </p:bg>
    <p:spTree>
      <p:nvGrpSpPr>
        <p:cNvPr id="1" name=""/>
        <p:cNvGrpSpPr/>
        <p:nvPr/>
      </p:nvGrpSpPr>
      <p:grpSpPr>
        <a:xfrm>
          <a:off x="0" y="0"/>
          <a:ext cx="0" cy="0"/>
          <a:chOff x="0" y="0"/>
          <a:chExt cx="0" cy="0"/>
        </a:xfrm>
      </p:grpSpPr>
      <p:sp>
        <p:nvSpPr>
          <p:cNvPr id="2050" name="AutoShape 2"/>
          <p:cNvSpPr/>
          <p:nvPr/>
        </p:nvSpPr>
        <p:spPr>
          <a:xfrm>
            <a:off x="-347662" y="5975350"/>
            <a:ext cx="2074862" cy="2160588"/>
          </a:xfrm>
          <a:prstGeom prst="roundRect">
            <a:avLst>
              <a:gd name="adj" fmla="val 16667"/>
            </a:avLst>
          </a:prstGeom>
          <a:gradFill rotWithShape="0">
            <a:gsLst>
              <a:gs pos="0">
                <a:srgbClr val="CCFFFF">
                  <a:alpha val="50000"/>
                </a:srgbClr>
              </a:gs>
              <a:gs pos="100000">
                <a:srgbClr val="FFFFFF">
                  <a:alpha val="0"/>
                </a:srgbClr>
              </a:gs>
            </a:gsLst>
            <a:lin ang="18900000" scaled="1"/>
            <a:tileRect/>
          </a:gradFill>
          <a:ln w="9525">
            <a:noFill/>
          </a:ln>
        </p:spPr>
        <p:txBody>
          <a:bodyPr wrap="none" anchor="ctr" anchorCtr="0"/>
          <a:lstStyle/>
          <a:p>
            <a:pPr lvl="0" eaLnBrk="1"/>
            <a:endParaRPr lang="en-US" altLang="x-none" dirty="0">
              <a:latin typeface="Arial" panose="020B0604020202020204" pitchFamily="34" charset="0"/>
              <a:ea typeface="宋体" panose="02010600030101010101" pitchFamily="2" charset="-122"/>
            </a:endParaRPr>
          </a:p>
        </p:txBody>
      </p:sp>
      <p:sp>
        <p:nvSpPr>
          <p:cNvPr id="2051" name="AutoShape 3"/>
          <p:cNvSpPr/>
          <p:nvPr/>
        </p:nvSpPr>
        <p:spPr>
          <a:xfrm>
            <a:off x="4679950" y="296863"/>
            <a:ext cx="5256213" cy="6330950"/>
          </a:xfrm>
          <a:prstGeom prst="roundRect">
            <a:avLst>
              <a:gd name="adj" fmla="val 8264"/>
            </a:avLst>
          </a:prstGeom>
          <a:solidFill>
            <a:srgbClr val="FFFFFF"/>
          </a:solidFill>
          <a:ln w="9525">
            <a:noFill/>
          </a:ln>
        </p:spPr>
        <p:txBody>
          <a:bodyPr wrap="none" anchor="ctr" anchorCtr="0"/>
          <a:lstStyle/>
          <a:p>
            <a:pPr lvl="0" eaLnBrk="1"/>
            <a:endParaRPr lang="en-US" altLang="x-none" dirty="0">
              <a:latin typeface="Arial" panose="020B0604020202020204" pitchFamily="34" charset="0"/>
              <a:ea typeface="宋体" panose="02010600030101010101" pitchFamily="2" charset="-122"/>
            </a:endParaRPr>
          </a:p>
        </p:txBody>
      </p:sp>
      <p:sp>
        <p:nvSpPr>
          <p:cNvPr id="2052" name="Rectangle 5"/>
          <p:cNvSpPr/>
          <p:nvPr/>
        </p:nvSpPr>
        <p:spPr>
          <a:xfrm>
            <a:off x="0" y="4356100"/>
            <a:ext cx="8496300" cy="1584325"/>
          </a:xfrm>
          <a:prstGeom prst="rect">
            <a:avLst/>
          </a:prstGeom>
          <a:gradFill rotWithShape="0">
            <a:gsLst>
              <a:gs pos="0">
                <a:srgbClr val="0047FF"/>
              </a:gs>
              <a:gs pos="100000">
                <a:srgbClr val="99CCFF"/>
              </a:gs>
            </a:gsLst>
            <a:lin ang="0" scaled="1"/>
            <a:tileRect/>
          </a:gradFill>
          <a:ln w="9525">
            <a:noFill/>
          </a:ln>
        </p:spPr>
        <p:txBody>
          <a:bodyPr wrap="none" anchor="ctr" anchorCtr="0"/>
          <a:lstStyle/>
          <a:p>
            <a:pPr lvl="0" eaLnBrk="1"/>
            <a:endParaRPr lang="en-US" altLang="x-none" dirty="0">
              <a:latin typeface="Arial" panose="020B0604020202020204" pitchFamily="34" charset="0"/>
              <a:ea typeface="宋体" panose="02010600030101010101" pitchFamily="2" charset="-122"/>
            </a:endParaRPr>
          </a:p>
        </p:txBody>
      </p:sp>
      <p:sp>
        <p:nvSpPr>
          <p:cNvPr id="2053" name="Rectangle 6"/>
          <p:cNvSpPr>
            <a:spLocks noGrp="1"/>
          </p:cNvSpPr>
          <p:nvPr>
            <p:ph type="title"/>
          </p:nvPr>
        </p:nvSpPr>
        <p:spPr>
          <a:xfrm>
            <a:off x="504825" y="4500563"/>
            <a:ext cx="7486650" cy="1260475"/>
          </a:xfrm>
          <a:prstGeom prst="rect">
            <a:avLst/>
          </a:prstGeom>
          <a:noFill/>
          <a:ln w="9525">
            <a:noFill/>
          </a:ln>
        </p:spPr>
        <p:txBody>
          <a:bodyPr lIns="0" tIns="0" rIns="0" bIns="0" anchor="ctr" anchorCtr="0"/>
          <a:lstStyle/>
          <a:p>
            <a:pPr lvl="0"/>
            <a:r>
              <a:rPr lang="en-US" altLang="zh-CN"/>
              <a:t>Click to edit the title text format</a:t>
            </a:r>
          </a:p>
        </p:txBody>
      </p:sp>
      <p:sp>
        <p:nvSpPr>
          <p:cNvPr id="2054" name="Rectangle 7"/>
          <p:cNvSpPr>
            <a:spLocks noGrp="1"/>
          </p:cNvSpPr>
          <p:nvPr>
            <p:ph type="body" idx="1"/>
          </p:nvPr>
        </p:nvSpPr>
        <p:spPr>
          <a:xfrm>
            <a:off x="4967288" y="1944688"/>
            <a:ext cx="4606925" cy="4383087"/>
          </a:xfrm>
          <a:prstGeom prst="rect">
            <a:avLst/>
          </a:prstGeom>
          <a:noFill/>
          <a:ln w="9525">
            <a:noFill/>
          </a:ln>
        </p:spPr>
        <p:txBody>
          <a:bodyPr lIns="0" tIns="28224" rIns="0" bIns="0"/>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2055" name="AutoShape 8"/>
          <p:cNvSpPr/>
          <p:nvPr/>
        </p:nvSpPr>
        <p:spPr>
          <a:xfrm>
            <a:off x="-203200" y="-274637"/>
            <a:ext cx="2074863" cy="2147887"/>
          </a:xfrm>
          <a:prstGeom prst="roundRect">
            <a:avLst>
              <a:gd name="adj" fmla="val 16667"/>
            </a:avLst>
          </a:prstGeom>
          <a:gradFill rotWithShape="0">
            <a:gsLst>
              <a:gs pos="0">
                <a:srgbClr val="CCFFFF">
                  <a:alpha val="50000"/>
                </a:srgbClr>
              </a:gs>
              <a:gs pos="100000">
                <a:srgbClr val="FFFFFF">
                  <a:alpha val="0"/>
                </a:srgbClr>
              </a:gs>
            </a:gsLst>
            <a:lin ang="0" scaled="1"/>
            <a:tileRect/>
          </a:gradFill>
          <a:ln w="9525">
            <a:noFill/>
          </a:ln>
        </p:spPr>
        <p:txBody>
          <a:bodyPr wrap="none" anchor="ctr" anchorCtr="0"/>
          <a:lstStyle/>
          <a:p>
            <a:pPr lvl="0" eaLnBrk="1"/>
            <a:endParaRPr lang="en-US" altLang="x-none" dirty="0">
              <a:latin typeface="Arial" panose="020B0604020202020204" pitchFamily="34" charset="0"/>
              <a:ea typeface="宋体" panose="02010600030101010101" pitchFamily="2" charset="-122"/>
            </a:endParaRPr>
          </a:p>
        </p:txBody>
      </p:sp>
      <p:sp>
        <p:nvSpPr>
          <p:cNvPr id="2056" name="AutoShape 9"/>
          <p:cNvSpPr/>
          <p:nvPr/>
        </p:nvSpPr>
        <p:spPr>
          <a:xfrm>
            <a:off x="1079500" y="-409575"/>
            <a:ext cx="1295400" cy="1273175"/>
          </a:xfrm>
          <a:prstGeom prst="roundRect">
            <a:avLst>
              <a:gd name="adj" fmla="val 16667"/>
            </a:avLst>
          </a:prstGeom>
          <a:gradFill rotWithShape="0">
            <a:gsLst>
              <a:gs pos="0">
                <a:srgbClr val="FFFF99">
                  <a:alpha val="50000"/>
                </a:srgbClr>
              </a:gs>
              <a:gs pos="100000">
                <a:srgbClr val="FFFFFF">
                  <a:alpha val="0"/>
                </a:srgbClr>
              </a:gs>
            </a:gsLst>
            <a:lin ang="5400000" scaled="1"/>
            <a:tileRect/>
          </a:gradFill>
          <a:ln w="9525">
            <a:noFill/>
          </a:ln>
        </p:spPr>
        <p:txBody>
          <a:bodyPr wrap="none" anchor="ctr" anchorCtr="0"/>
          <a:lstStyle/>
          <a:p>
            <a:pPr lvl="0" eaLnBrk="1"/>
            <a:endParaRPr lang="en-US" altLang="x-none" dirty="0">
              <a:latin typeface="Arial" panose="020B0604020202020204" pitchFamily="34" charset="0"/>
              <a:ea typeface="宋体" panose="02010600030101010101" pitchFamily="2" charset="-122"/>
            </a:endParaRPr>
          </a:p>
        </p:txBody>
      </p:sp>
      <p:sp>
        <p:nvSpPr>
          <p:cNvPr id="2057" name="AutoShape 10"/>
          <p:cNvSpPr/>
          <p:nvPr/>
        </p:nvSpPr>
        <p:spPr>
          <a:xfrm>
            <a:off x="-347662" y="1152525"/>
            <a:ext cx="4164012" cy="1295400"/>
          </a:xfrm>
          <a:prstGeom prst="roundRect">
            <a:avLst>
              <a:gd name="adj" fmla="val 16667"/>
            </a:avLst>
          </a:prstGeom>
          <a:solidFill>
            <a:srgbClr val="FFFFFF"/>
          </a:solidFill>
          <a:ln w="9525">
            <a:noFill/>
          </a:ln>
          <a:effectLst>
            <a:outerShdw dist="101823" dir="2699999" algn="ctr" rotWithShape="0">
              <a:srgbClr val="C0C0C0">
                <a:alpha val="32999"/>
              </a:srgbClr>
            </a:outerShdw>
          </a:effectLst>
        </p:spPr>
        <p:txBody>
          <a:bodyPr wrap="none" anchor="ctr" anchorCtr="0"/>
          <a:lstStyle/>
          <a:p>
            <a:pPr lvl="0" eaLnBrk="1"/>
            <a:endParaRPr lang="en-US" altLang="x-none" dirty="0">
              <a:latin typeface="Arial" panose="020B0604020202020204" pitchFamily="34" charset="0"/>
              <a:ea typeface="宋体" panose="02010600030101010101" pitchFamily="2" charset="-122"/>
            </a:endParaRPr>
          </a:p>
        </p:txBody>
      </p:sp>
      <p:sp>
        <p:nvSpPr>
          <p:cNvPr id="2058" name="AutoShape 11"/>
          <p:cNvSpPr/>
          <p:nvPr/>
        </p:nvSpPr>
        <p:spPr>
          <a:xfrm flipH="1" flipV="1">
            <a:off x="9361488" y="-968375"/>
            <a:ext cx="2087562" cy="2136775"/>
          </a:xfrm>
          <a:prstGeom prst="roundRect">
            <a:avLst>
              <a:gd name="adj" fmla="val 16667"/>
            </a:avLst>
          </a:prstGeom>
          <a:gradFill rotWithShape="0">
            <a:gsLst>
              <a:gs pos="0">
                <a:srgbClr val="CCFFFF">
                  <a:alpha val="50000"/>
                </a:srgbClr>
              </a:gs>
              <a:gs pos="100000">
                <a:srgbClr val="FFFFFF">
                  <a:alpha val="0"/>
                </a:srgbClr>
              </a:gs>
            </a:gsLst>
            <a:lin ang="18900000" scaled="1"/>
            <a:tileRect/>
          </a:gradFill>
          <a:ln w="9525">
            <a:noFill/>
          </a:ln>
        </p:spPr>
        <p:txBody>
          <a:bodyPr wrap="none" anchor="ctr" anchorCtr="0"/>
          <a:lstStyle/>
          <a:p>
            <a:pPr lvl="0" eaLnBrk="1"/>
            <a:endParaRPr lang="en-US" altLang="x-none" dirty="0">
              <a:latin typeface="Arial" panose="020B0604020202020204" pitchFamily="34" charset="0"/>
              <a:ea typeface="宋体" panose="02010600030101010101" pitchFamily="2" charset="-122"/>
            </a:endParaRPr>
          </a:p>
        </p:txBody>
      </p:sp>
      <p:pic>
        <p:nvPicPr>
          <p:cNvPr id="2059" name="Picture 12"/>
          <p:cNvPicPr>
            <a:picLocks noChangeAspect="1"/>
          </p:cNvPicPr>
          <p:nvPr/>
        </p:nvPicPr>
        <p:blipFill>
          <a:blip r:embed="rId13"/>
          <a:stretch>
            <a:fillRect/>
          </a:stretch>
        </p:blipFill>
        <p:spPr>
          <a:xfrm>
            <a:off x="936625" y="1116013"/>
            <a:ext cx="1368425" cy="1368425"/>
          </a:xfrm>
          <a:prstGeom prst="rect">
            <a:avLst/>
          </a:prstGeom>
          <a:noFill/>
          <a:ln w="9525">
            <a:noFill/>
          </a:ln>
        </p:spPr>
      </p:pic>
      <p:sp>
        <p:nvSpPr>
          <p:cNvPr id="2060" name="AutoShape 4"/>
          <p:cNvSpPr/>
          <p:nvPr userDrawn="1"/>
        </p:nvSpPr>
        <p:spPr>
          <a:xfrm>
            <a:off x="9215438" y="3384550"/>
            <a:ext cx="1800225" cy="1295400"/>
          </a:xfrm>
          <a:prstGeom prst="roundRect">
            <a:avLst>
              <a:gd name="adj" fmla="val 16667"/>
            </a:avLst>
          </a:prstGeom>
          <a:gradFill rotWithShape="0">
            <a:gsLst>
              <a:gs pos="0">
                <a:srgbClr val="B2B2B2">
                  <a:alpha val="0"/>
                </a:srgbClr>
              </a:gs>
              <a:gs pos="100000">
                <a:schemeClr val="bg1"/>
              </a:gs>
            </a:gsLst>
            <a:lin ang="5400000" scaled="1"/>
            <a:tileRect/>
          </a:gradFill>
          <a:ln w="9525">
            <a:noFill/>
          </a:ln>
        </p:spPr>
        <p:txBody>
          <a:bodyPr wrap="none" anchor="ctr" anchorCtr="0"/>
          <a:lstStyle/>
          <a:p>
            <a:pPr lvl="0" eaLnBrk="1"/>
            <a:endParaRPr lang="zh-CN" altLang="en-US" dirty="0">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l" defTabSz="449580" eaLnBrk="0" fontAlgn="base" latinLnBrk="0" hangingPunct="0">
        <a:lnSpc>
          <a:spcPct val="110000"/>
        </a:lnSpc>
        <a:spcBef>
          <a:spcPct val="0"/>
        </a:spcBef>
        <a:spcAft>
          <a:spcPct val="0"/>
        </a:spcAft>
        <a:buSzPct val="100000"/>
        <a:buFont typeface="Times New Roman" panose="02020603050405020304" pitchFamily="2" charset="0"/>
        <a:buNone/>
        <a:defRPr sz="4000" b="1" i="0" u="none" kern="1200" baseline="0">
          <a:solidFill>
            <a:srgbClr val="FFFFFF"/>
          </a:solidFill>
          <a:latin typeface="+mj-lt"/>
          <a:ea typeface="+mj-ea"/>
          <a:cs typeface="+mj-cs"/>
        </a:defRPr>
      </a:lvl1pPr>
    </p:titleStyle>
    <p:bodyStyle>
      <a:lvl1pPr marL="342900" lvl="0" indent="-342900" algn="l" defTabSz="449580" eaLnBrk="0" fontAlgn="base" latinLnBrk="0" hangingPunct="0">
        <a:lnSpc>
          <a:spcPct val="93000"/>
        </a:lnSpc>
        <a:spcBef>
          <a:spcPct val="0"/>
        </a:spcBef>
        <a:spcAft>
          <a:spcPts val="1425"/>
        </a:spcAft>
        <a:buSzPct val="100000"/>
        <a:buFont typeface="Times New Roman" panose="02020603050405020304" pitchFamily="2" charset="0"/>
        <a:buChar char="•"/>
        <a:defRPr sz="3200" b="0" i="0" u="none" kern="1200" baseline="0">
          <a:solidFill>
            <a:srgbClr val="000000"/>
          </a:solidFill>
          <a:latin typeface="+mn-lt"/>
          <a:ea typeface="+mn-ea"/>
          <a:cs typeface="+mn-cs"/>
        </a:defRPr>
      </a:lvl1pPr>
      <a:lvl2pPr marL="742950" lvl="1" indent="-285750" algn="l" defTabSz="449580" eaLnBrk="0" fontAlgn="base" latinLnBrk="0" hangingPunct="0">
        <a:lnSpc>
          <a:spcPct val="93000"/>
        </a:lnSpc>
        <a:spcBef>
          <a:spcPct val="0"/>
        </a:spcBef>
        <a:spcAft>
          <a:spcPts val="1140"/>
        </a:spcAft>
        <a:buSzPct val="100000"/>
        <a:buFont typeface="Times New Roman" panose="02020603050405020304" pitchFamily="2" charset="0"/>
        <a:buChar char="–"/>
        <a:defRPr sz="2800" b="0" i="0" u="none" kern="1200" baseline="0">
          <a:solidFill>
            <a:srgbClr val="000000"/>
          </a:solidFill>
          <a:latin typeface="Ubuntu" panose="020B0504030602030204" charset="0"/>
          <a:ea typeface="+mn-ea"/>
          <a:cs typeface="+mn-cs"/>
        </a:defRPr>
      </a:lvl2pPr>
      <a:lvl3pPr marL="1143000" lvl="2" indent="-228600" algn="l" defTabSz="449580" eaLnBrk="0" fontAlgn="base" latinLnBrk="0" hangingPunct="0">
        <a:lnSpc>
          <a:spcPct val="93000"/>
        </a:lnSpc>
        <a:spcBef>
          <a:spcPct val="0"/>
        </a:spcBef>
        <a:spcAft>
          <a:spcPts val="850"/>
        </a:spcAft>
        <a:buSzPct val="100000"/>
        <a:buFont typeface="Times New Roman" panose="02020603050405020304" pitchFamily="2" charset="0"/>
        <a:buChar char="•"/>
        <a:defRPr sz="2400" b="0" i="0" u="none" kern="1200" baseline="0">
          <a:solidFill>
            <a:srgbClr val="000000"/>
          </a:solidFill>
          <a:latin typeface="Ubuntu" panose="020B0504030602030204" charset="0"/>
          <a:ea typeface="+mn-ea"/>
          <a:cs typeface="+mn-cs"/>
        </a:defRPr>
      </a:lvl3pPr>
      <a:lvl4pPr marL="1600200" lvl="3" indent="-228600" algn="l" defTabSz="449580" eaLnBrk="0" fontAlgn="base" latinLnBrk="0" hangingPunct="0">
        <a:lnSpc>
          <a:spcPct val="93000"/>
        </a:lnSpc>
        <a:spcBef>
          <a:spcPct val="0"/>
        </a:spcBef>
        <a:spcAft>
          <a:spcPts val="575"/>
        </a:spcAft>
        <a:buSzPct val="100000"/>
        <a:buFont typeface="Times New Roman" panose="02020603050405020304" pitchFamily="2" charset="0"/>
        <a:buChar char="–"/>
        <a:defRPr sz="2000" b="0" i="0" u="none" kern="1200" baseline="0">
          <a:solidFill>
            <a:srgbClr val="000000"/>
          </a:solidFill>
          <a:latin typeface="Ubuntu" panose="020B0504030602030204" charset="0"/>
          <a:ea typeface="+mn-ea"/>
          <a:cs typeface="+mn-cs"/>
        </a:defRPr>
      </a:lvl4pPr>
      <a:lvl5pPr marL="2057400" lvl="4" indent="-228600" algn="l" defTabSz="449580" eaLnBrk="0" fontAlgn="base" latinLnBrk="0" hangingPunct="0">
        <a:lnSpc>
          <a:spcPct val="93000"/>
        </a:lnSpc>
        <a:spcBef>
          <a:spcPct val="0"/>
        </a:spcBef>
        <a:spcAft>
          <a:spcPts val="290"/>
        </a:spcAft>
        <a:buSzPct val="100000"/>
        <a:buFont typeface="Times New Roman" panose="02020603050405020304" pitchFamily="2" charset="0"/>
        <a:buChar char="»"/>
        <a:defRPr sz="2000" b="0" i="0" u="none" kern="1200" baseline="0">
          <a:solidFill>
            <a:srgbClr val="000000"/>
          </a:solidFill>
          <a:latin typeface="Ubuntu" panose="020B0504030602030204" charset="0"/>
          <a:ea typeface="+mn-ea"/>
          <a:cs typeface="+mn-cs"/>
        </a:defRPr>
      </a:lvl5pPr>
      <a:lvl6pPr marL="2514600" lvl="5" indent="-228600" algn="l" defTabSz="449580" eaLnBrk="0" fontAlgn="base" latinLnBrk="0" hangingPunct="0">
        <a:lnSpc>
          <a:spcPct val="93000"/>
        </a:lnSpc>
        <a:spcBef>
          <a:spcPct val="0"/>
        </a:spcBef>
        <a:spcAft>
          <a:spcPts val="290"/>
        </a:spcAft>
        <a:buSzPct val="100000"/>
        <a:buFont typeface="Times New Roman" panose="02020603050405020304" pitchFamily="2" charset="0"/>
        <a:buChar char="»"/>
        <a:defRPr sz="2000" b="0" i="0" u="none" kern="1200" baseline="0">
          <a:solidFill>
            <a:srgbClr val="000000"/>
          </a:solidFill>
          <a:latin typeface="Ubuntu" panose="020B0504030602030204" charset="0"/>
          <a:ea typeface="+mn-ea"/>
          <a:cs typeface="+mn-cs"/>
        </a:defRPr>
      </a:lvl6pPr>
      <a:lvl7pPr marL="2971800" lvl="6" indent="-228600" algn="l" defTabSz="449580" eaLnBrk="0" fontAlgn="base" latinLnBrk="0" hangingPunct="0">
        <a:lnSpc>
          <a:spcPct val="93000"/>
        </a:lnSpc>
        <a:spcBef>
          <a:spcPct val="0"/>
        </a:spcBef>
        <a:spcAft>
          <a:spcPts val="290"/>
        </a:spcAft>
        <a:buSzPct val="100000"/>
        <a:buFont typeface="Times New Roman" panose="02020603050405020304" pitchFamily="2" charset="0"/>
        <a:buChar char="»"/>
        <a:defRPr sz="2000" b="0" i="0" u="none" kern="1200" baseline="0">
          <a:solidFill>
            <a:srgbClr val="000000"/>
          </a:solidFill>
          <a:latin typeface="Ubuntu" panose="020B0504030602030204" charset="0"/>
          <a:ea typeface="+mn-ea"/>
          <a:cs typeface="+mn-cs"/>
        </a:defRPr>
      </a:lvl7pPr>
      <a:lvl8pPr marL="3429000" lvl="7" indent="-228600" algn="l" defTabSz="449580" eaLnBrk="0" fontAlgn="base" latinLnBrk="0" hangingPunct="0">
        <a:lnSpc>
          <a:spcPct val="93000"/>
        </a:lnSpc>
        <a:spcBef>
          <a:spcPct val="0"/>
        </a:spcBef>
        <a:spcAft>
          <a:spcPts val="290"/>
        </a:spcAft>
        <a:buSzPct val="100000"/>
        <a:buFont typeface="Times New Roman" panose="02020603050405020304" pitchFamily="2" charset="0"/>
        <a:buChar char="»"/>
        <a:defRPr sz="2000" b="0" i="0" u="none" kern="1200" baseline="0">
          <a:solidFill>
            <a:srgbClr val="000000"/>
          </a:solidFill>
          <a:latin typeface="Ubuntu" panose="020B0504030602030204" charset="0"/>
          <a:ea typeface="+mn-ea"/>
          <a:cs typeface="+mn-cs"/>
        </a:defRPr>
      </a:lvl8pPr>
      <a:lvl9pPr marL="3886200" lvl="8" indent="-228600" algn="l" defTabSz="449580" eaLnBrk="0" fontAlgn="base" latinLnBrk="0" hangingPunct="0">
        <a:lnSpc>
          <a:spcPct val="93000"/>
        </a:lnSpc>
        <a:spcBef>
          <a:spcPct val="0"/>
        </a:spcBef>
        <a:spcAft>
          <a:spcPts val="290"/>
        </a:spcAft>
        <a:buSzPct val="100000"/>
        <a:buFont typeface="Times New Roman" panose="02020603050405020304" pitchFamily="2" charset="0"/>
        <a:buChar char="»"/>
        <a:defRPr sz="2000" b="0" i="0" u="none" kern="1200" baseline="0">
          <a:solidFill>
            <a:srgbClr val="000000"/>
          </a:solidFill>
          <a:latin typeface="Ubuntu" panose="020B0504030602030204" charset="0"/>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206030504050203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20603050405020304" pitchFamily="2" charset="0"/>
        <a:buNone/>
        <a:defRPr b="0" i="0" u="none" kern="1200" baseline="0">
          <a:solidFill>
            <a:srgbClr val="000000"/>
          </a:solidFill>
          <a:latin typeface="Arial" panose="020B0604020202020204" pitchFamily="34" charset="0"/>
          <a:ea typeface="Droid Sans Fallback" panose="020B0502000000000001"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36881673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224697881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238780732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1601504716"/>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309087934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390009084"/>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2198431664"/>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3191342287"/>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19"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3042060591"/>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832" r:id="rId12"/>
    <p:sldLayoutId id="2147483833" r:id="rId13"/>
    <p:sldLayoutId id="2147483834" r:id="rId14"/>
    <p:sldLayoutId id="2147483835" r:id="rId15"/>
    <p:sldLayoutId id="2147483836"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1074365391"/>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 id="2147483850" r:id="rId13"/>
    <p:sldLayoutId id="2147483851" r:id="rId14"/>
    <p:sldLayoutId id="2147483852" r:id="rId15"/>
    <p:sldLayoutId id="2147483853"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2365566208"/>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 id="2147483883" r:id="rId12"/>
    <p:sldLayoutId id="2147483884" r:id="rId13"/>
    <p:sldLayoutId id="2147483885" r:id="rId14"/>
    <p:sldLayoutId id="2147483886" r:id="rId15"/>
    <p:sldLayoutId id="2147483887"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3495012374"/>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2367040989"/>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824466836"/>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 id="2147483934" r:id="rId12"/>
    <p:sldLayoutId id="2147483935" r:id="rId13"/>
    <p:sldLayoutId id="2147483936" r:id="rId14"/>
    <p:sldLayoutId id="2147483937" r:id="rId15"/>
    <p:sldLayoutId id="2147483938"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3591674258"/>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48" r:id="rId9"/>
    <p:sldLayoutId id="2147483949" r:id="rId10"/>
    <p:sldLayoutId id="2147483950" r:id="rId11"/>
    <p:sldLayoutId id="2147483951" r:id="rId12"/>
    <p:sldLayoutId id="2147483952" r:id="rId13"/>
    <p:sldLayoutId id="2147483953" r:id="rId14"/>
    <p:sldLayoutId id="2147483954" r:id="rId15"/>
    <p:sldLayoutId id="2147483955"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1992714530"/>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 id="2147483968" r:id="rId12"/>
    <p:sldLayoutId id="2147483969" r:id="rId13"/>
    <p:sldLayoutId id="2147483970" r:id="rId14"/>
    <p:sldLayoutId id="2147483971" r:id="rId15"/>
    <p:sldLayoutId id="2147483972"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3564079114"/>
      </p:ext>
    </p:extLst>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 id="2147483985" r:id="rId12"/>
    <p:sldLayoutId id="2147483986" r:id="rId13"/>
    <p:sldLayoutId id="2147483987" r:id="rId14"/>
    <p:sldLayoutId id="2147483988" r:id="rId15"/>
    <p:sldLayoutId id="2147483989"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2285492615"/>
      </p:ext>
    </p:extLst>
  </p:cSld>
  <p:clrMap bg1="lt1" tx1="dk1" bg2="lt2" tx2="dk2" accent1="accent1" accent2="accent2" accent3="accent3" accent4="accent4" accent5="accent5" accent6="accent6" hlink="hlink" folHlink="folHlink"/>
  <p:sldLayoutIdLst>
    <p:sldLayoutId id="2147483991"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 id="2147484002" r:id="rId12"/>
    <p:sldLayoutId id="2147484003" r:id="rId13"/>
    <p:sldLayoutId id="2147484004" r:id="rId14"/>
    <p:sldLayoutId id="2147484005" r:id="rId15"/>
    <p:sldLayoutId id="2147484006"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309148568"/>
      </p:ext>
    </p:extLst>
  </p:cSld>
  <p:clrMap bg1="lt1" tx1="dk1" bg2="lt2" tx2="dk2" accent1="accent1" accent2="accent2" accent3="accent3" accent4="accent4" accent5="accent5" accent6="accent6" hlink="hlink" folHlink="folHlink"/>
  <p:sldLayoutIdLst>
    <p:sldLayoutId id="2147484008" r:id="rId1"/>
    <p:sldLayoutId id="2147484009" r:id="rId2"/>
    <p:sldLayoutId id="2147484010" r:id="rId3"/>
    <p:sldLayoutId id="2147484011" r:id="rId4"/>
    <p:sldLayoutId id="2147484012" r:id="rId5"/>
    <p:sldLayoutId id="2147484013" r:id="rId6"/>
    <p:sldLayoutId id="2147484014" r:id="rId7"/>
    <p:sldLayoutId id="2147484015" r:id="rId8"/>
    <p:sldLayoutId id="2147484016" r:id="rId9"/>
    <p:sldLayoutId id="2147484017" r:id="rId10"/>
    <p:sldLayoutId id="2147484018" r:id="rId11"/>
    <p:sldLayoutId id="2147484019" r:id="rId12"/>
    <p:sldLayoutId id="2147484020" r:id="rId13"/>
    <p:sldLayoutId id="2147484021" r:id="rId14"/>
    <p:sldLayoutId id="2147484022" r:id="rId15"/>
    <p:sldLayoutId id="2147484023"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8519694"/>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 id="2147484037" r:id="rId13"/>
    <p:sldLayoutId id="2147484038" r:id="rId14"/>
    <p:sldLayoutId id="2147484039" r:id="rId15"/>
    <p:sldLayoutId id="2147484040"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989356925"/>
      </p:ext>
    </p:extLst>
  </p:cSld>
  <p:clrMap bg1="lt1" tx1="dk1" bg2="lt2" tx2="dk2" accent1="accent1" accent2="accent2" accent3="accent3" accent4="accent4" accent5="accent5" accent6="accent6" hlink="hlink" folHlink="folHlink"/>
  <p:sldLayoutIdLst>
    <p:sldLayoutId id="2147484042" r:id="rId1"/>
    <p:sldLayoutId id="2147484043" r:id="rId2"/>
    <p:sldLayoutId id="2147484044" r:id="rId3"/>
    <p:sldLayoutId id="2147484045" r:id="rId4"/>
    <p:sldLayoutId id="2147484046" r:id="rId5"/>
    <p:sldLayoutId id="2147484047" r:id="rId6"/>
    <p:sldLayoutId id="2147484048" r:id="rId7"/>
    <p:sldLayoutId id="2147484049" r:id="rId8"/>
    <p:sldLayoutId id="2147484050" r:id="rId9"/>
    <p:sldLayoutId id="2147484051" r:id="rId10"/>
    <p:sldLayoutId id="2147484052" r:id="rId11"/>
    <p:sldLayoutId id="2147484053" r:id="rId12"/>
    <p:sldLayoutId id="2147484054" r:id="rId13"/>
    <p:sldLayoutId id="2147484055" r:id="rId14"/>
    <p:sldLayoutId id="2147484056" r:id="rId15"/>
    <p:sldLayoutId id="2147484057"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1434407012"/>
      </p:ext>
    </p:extLst>
  </p:cSld>
  <p:clrMap bg1="lt1" tx1="dk1" bg2="lt2" tx2="dk2" accent1="accent1" accent2="accent2" accent3="accent3" accent4="accent4" accent5="accent5" accent6="accent6" hlink="hlink" folHlink="folHlink"/>
  <p:sldLayoutIdLst>
    <p:sldLayoutId id="2147484059" r:id="rId1"/>
    <p:sldLayoutId id="2147484060" r:id="rId2"/>
    <p:sldLayoutId id="2147484061" r:id="rId3"/>
    <p:sldLayoutId id="2147484062" r:id="rId4"/>
    <p:sldLayoutId id="2147484063" r:id="rId5"/>
    <p:sldLayoutId id="2147484064" r:id="rId6"/>
    <p:sldLayoutId id="2147484065" r:id="rId7"/>
    <p:sldLayoutId id="2147484066" r:id="rId8"/>
    <p:sldLayoutId id="2147484067" r:id="rId9"/>
    <p:sldLayoutId id="2147484068" r:id="rId10"/>
    <p:sldLayoutId id="2147484069" r:id="rId11"/>
    <p:sldLayoutId id="2147484070" r:id="rId12"/>
    <p:sldLayoutId id="2147484071" r:id="rId13"/>
    <p:sldLayoutId id="2147484072" r:id="rId14"/>
    <p:sldLayoutId id="2147484073" r:id="rId15"/>
    <p:sldLayoutId id="2147484074"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492436615"/>
      </p:ext>
    </p:extLst>
  </p:cSld>
  <p:clrMap bg1="lt1" tx1="dk1" bg2="lt2" tx2="dk2" accent1="accent1" accent2="accent2" accent3="accent3" accent4="accent4" accent5="accent5" accent6="accent6" hlink="hlink" folHlink="folHlink"/>
  <p:sldLayoutIdLst>
    <p:sldLayoutId id="2147484076" r:id="rId1"/>
    <p:sldLayoutId id="2147484077" r:id="rId2"/>
    <p:sldLayoutId id="2147484078" r:id="rId3"/>
    <p:sldLayoutId id="2147484079" r:id="rId4"/>
    <p:sldLayoutId id="2147484080" r:id="rId5"/>
    <p:sldLayoutId id="2147484081" r:id="rId6"/>
    <p:sldLayoutId id="2147484082" r:id="rId7"/>
    <p:sldLayoutId id="2147484083" r:id="rId8"/>
    <p:sldLayoutId id="2147484084" r:id="rId9"/>
    <p:sldLayoutId id="2147484085" r:id="rId10"/>
    <p:sldLayoutId id="2147484086" r:id="rId11"/>
    <p:sldLayoutId id="2147484087" r:id="rId12"/>
    <p:sldLayoutId id="2147484088" r:id="rId13"/>
    <p:sldLayoutId id="2147484089" r:id="rId14"/>
    <p:sldLayoutId id="2147484090" r:id="rId15"/>
    <p:sldLayoutId id="2147484091"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defTabSz="503972" rtl="0" fontAlgn="auto" hangingPunct="1">
              <a:lnSpc>
                <a:spcPct val="100000"/>
              </a:lnSpc>
              <a:spcBef>
                <a:spcPts val="0"/>
              </a:spcBef>
              <a:spcAft>
                <a:spcPts val="0"/>
              </a:spcAft>
              <a:buSzTx/>
            </a:pPr>
            <a:fld id="{831D656F-08AF-403B-80AE-3B33FE0D851C}" type="datetime1">
              <a:rPr lang="en-US" altLang="zh-CN" smtClean="0">
                <a:solidFill>
                  <a:prstClr val="black">
                    <a:tint val="75000"/>
                  </a:prstClr>
                </a:solidFill>
                <a:latin typeface="Arial" panose="020B0604020202020204"/>
                <a:ea typeface="黑体" panose="02010609060101010101" pitchFamily="49" charset="-122"/>
              </a:rPr>
              <a:pPr defTabSz="503972" rtl="0" fontAlgn="auto" hangingPunct="1">
                <a:lnSpc>
                  <a:spcPct val="100000"/>
                </a:lnSpc>
                <a:spcBef>
                  <a:spcPts val="0"/>
                </a:spcBef>
                <a:spcAft>
                  <a:spcPts val="0"/>
                </a:spcAft>
                <a:buSzTx/>
              </a:pPr>
              <a:t>10/11/2023</a:t>
            </a:fld>
            <a:endParaRPr lang="en-US" dirty="0">
              <a:solidFill>
                <a:prstClr val="black">
                  <a:tint val="75000"/>
                </a:prstClr>
              </a:solidFill>
              <a:latin typeface="Arial" panose="020B0604020202020204"/>
              <a:ea typeface="+mn-ea"/>
            </a:endParaRPr>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pPr defTabSz="503972" rtl="0" fontAlgn="auto" hangingPunct="1">
              <a:lnSpc>
                <a:spcPct val="100000"/>
              </a:lnSpc>
              <a:spcBef>
                <a:spcPts val="0"/>
              </a:spcBef>
              <a:spcAft>
                <a:spcPts val="0"/>
              </a:spcAft>
              <a:buSzTx/>
            </a:pPr>
            <a:endParaRPr lang="en-US" dirty="0">
              <a:solidFill>
                <a:prstClr val="black">
                  <a:tint val="75000"/>
                </a:prstClr>
              </a:solidFill>
              <a:latin typeface="Arial" panose="020B0604020202020204"/>
              <a:ea typeface="+mn-ea"/>
            </a:endParaRPr>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pPr defTabSz="503972" rtl="0" fontAlgn="auto" hangingPunct="1">
              <a:lnSpc>
                <a:spcPct val="100000"/>
              </a:lnSpc>
              <a:spcBef>
                <a:spcPts val="0"/>
              </a:spcBef>
              <a:spcAft>
                <a:spcPts val="0"/>
              </a:spcAft>
              <a:buSzTx/>
            </a:pPr>
            <a:fld id="{D57F1E4F-1CFF-5643-939E-217C01CDF565}" type="slidenum">
              <a:rPr lang="en-US" smtClean="0">
                <a:solidFill>
                  <a:srgbClr val="4F81BD"/>
                </a:solidFill>
                <a:ea typeface="+mn-ea"/>
              </a:rPr>
              <a:pPr defTabSz="503972" rtl="0" fontAlgn="auto" hangingPunct="1">
                <a:lnSpc>
                  <a:spcPct val="100000"/>
                </a:lnSpc>
                <a:spcBef>
                  <a:spcPts val="0"/>
                </a:spcBef>
                <a:spcAft>
                  <a:spcPts val="0"/>
                </a:spcAft>
                <a:buSzTx/>
              </a:pPr>
              <a:t>‹#›</a:t>
            </a:fld>
            <a:endParaRPr lang="en-US" dirty="0">
              <a:solidFill>
                <a:srgbClr val="4F81BD"/>
              </a:solidFill>
              <a:ea typeface="+mn-ea"/>
            </a:endParaRPr>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defTabSz="503972" rtl="0" fontAlgn="auto" hangingPunct="1">
              <a:lnSpc>
                <a:spcPct val="100000"/>
              </a:lnSpc>
              <a:spcBef>
                <a:spcPts val="0"/>
              </a:spcBef>
              <a:spcAft>
                <a:spcPts val="0"/>
              </a:spcAft>
              <a:buSzTx/>
              <a:buFontTx/>
              <a:buNone/>
            </a:pPr>
            <a:r>
              <a:rPr lang="zh-CN" altLang="en-US" dirty="0">
                <a:solidFill>
                  <a:prstClr val="white"/>
                </a:solidFill>
              </a:rPr>
              <a:t>视频区域</a:t>
            </a:r>
          </a:p>
        </p:txBody>
      </p:sp>
    </p:spTree>
    <p:extLst>
      <p:ext uri="{BB962C8B-B14F-4D97-AF65-F5344CB8AC3E}">
        <p14:creationId xmlns:p14="http://schemas.microsoft.com/office/powerpoint/2010/main" val="3515755612"/>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 id="2147484106" r:id="rId14"/>
    <p:sldLayoutId id="2147484107" r:id="rId15"/>
    <p:sldLayoutId id="2147484108"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4531" y="400802"/>
            <a:ext cx="8695531" cy="1460347"/>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4531" y="2009805"/>
            <a:ext cx="8695531" cy="479771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7719" y="7008077"/>
            <a:ext cx="3401219" cy="402483"/>
          </a:xfrm>
          <a:prstGeom prst="rect">
            <a:avLst/>
          </a:prstGeom>
        </p:spPr>
        <p:txBody>
          <a:bodyPr vert="horz" lIns="91440" tIns="45720" rIns="91440" bIns="45720" rtlCol="0" anchor="ctr"/>
          <a:lstStyle>
            <a:lvl1pPr algn="r">
              <a:defRPr sz="992">
                <a:solidFill>
                  <a:schemeClr val="tx1">
                    <a:tint val="75000"/>
                  </a:schemeClr>
                </a:solidFill>
              </a:defRPr>
            </a:lvl1pPr>
          </a:lstStyle>
          <a:p>
            <a:fld id="{831D656F-08AF-403B-80AE-3B33FE0D851C}" type="datetime1">
              <a:rPr lang="en-US" altLang="zh-CN" smtClean="0"/>
              <a:t>10/11/2023</a:t>
            </a:fld>
            <a:endParaRPr lang="en-US" dirty="0"/>
          </a:p>
        </p:txBody>
      </p:sp>
      <p:sp>
        <p:nvSpPr>
          <p:cNvPr id="5" name="Footer Placeholder 4"/>
          <p:cNvSpPr>
            <a:spLocks noGrp="1"/>
          </p:cNvSpPr>
          <p:nvPr>
            <p:ph type="ftr" sz="quarter" idx="3"/>
          </p:nvPr>
        </p:nvSpPr>
        <p:spPr>
          <a:xfrm>
            <a:off x="694531" y="7008077"/>
            <a:ext cx="2270125" cy="402483"/>
          </a:xfrm>
          <a:prstGeom prst="rect">
            <a:avLst/>
          </a:prstGeom>
        </p:spPr>
        <p:txBody>
          <a:bodyPr vert="horz" lIns="91440" tIns="45720" rIns="91440" bIns="45720" rtlCol="0" anchor="ctr"/>
          <a:lstStyle>
            <a:lvl1pPr algn="l">
              <a:defRPr sz="992">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119938" y="7008077"/>
            <a:ext cx="2270125" cy="402483"/>
          </a:xfrm>
          <a:prstGeom prst="rect">
            <a:avLst/>
          </a:prstGeom>
        </p:spPr>
        <p:txBody>
          <a:bodyPr vert="horz" lIns="91440" tIns="45720" rIns="91440" bIns="45720" rtlCol="0" anchor="ctr"/>
          <a:lstStyle>
            <a:lvl1pPr algn="r">
              <a:defRPr sz="1323" b="0">
                <a:solidFill>
                  <a:schemeClr val="accent1"/>
                </a:solidFill>
                <a:latin typeface="+mn-lt"/>
              </a:defRPr>
            </a:lvl1pPr>
          </a:lstStyle>
          <a:p>
            <a:fld id="{D57F1E4F-1CFF-5643-939E-217C01CDF565}" type="slidenum">
              <a:rPr lang="en-US" smtClean="0"/>
              <a:pPr/>
              <a:t>‹#›</a:t>
            </a:fld>
            <a:endParaRPr lang="en-US" dirty="0"/>
          </a:p>
        </p:txBody>
      </p:sp>
      <p:sp>
        <p:nvSpPr>
          <p:cNvPr id="9" name="矩形 8"/>
          <p:cNvSpPr/>
          <p:nvPr userDrawn="1"/>
        </p:nvSpPr>
        <p:spPr>
          <a:xfrm>
            <a:off x="7130906" y="1"/>
            <a:ext cx="2960561" cy="7569008"/>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984" dirty="0">
                <a:solidFill>
                  <a:schemeClr val="bg1"/>
                </a:solidFill>
              </a:rPr>
              <a:t>视频区域</a:t>
            </a:r>
          </a:p>
        </p:txBody>
      </p:sp>
    </p:spTree>
    <p:extLst>
      <p:ext uri="{BB962C8B-B14F-4D97-AF65-F5344CB8AC3E}">
        <p14:creationId xmlns:p14="http://schemas.microsoft.com/office/powerpoint/2010/main" val="269541336"/>
      </p:ext>
    </p:extLst>
  </p:cSld>
  <p:clrMap bg1="lt1" tx1="dk1" bg2="lt2" tx2="dk2" accent1="accent1" accent2="accent2" accent3="accent3" accent4="accent4" accent5="accent5" accent6="accent6" hlink="hlink" folHlink="folHlink"/>
  <p:sldLayoutIdLst>
    <p:sldLayoutId id="2147484127" r:id="rId1"/>
    <p:sldLayoutId id="2147484128" r:id="rId2"/>
    <p:sldLayoutId id="2147484129" r:id="rId3"/>
    <p:sldLayoutId id="2147484130" r:id="rId4"/>
    <p:sldLayoutId id="2147484131" r:id="rId5"/>
    <p:sldLayoutId id="2147484132" r:id="rId6"/>
    <p:sldLayoutId id="2147484133" r:id="rId7"/>
    <p:sldLayoutId id="2147484134" r:id="rId8"/>
    <p:sldLayoutId id="2147484135" r:id="rId9"/>
    <p:sldLayoutId id="2147484136" r:id="rId10"/>
    <p:sldLayoutId id="2147484137" r:id="rId11"/>
    <p:sldLayoutId id="2147484138" r:id="rId12"/>
    <p:sldLayoutId id="2147484139" r:id="rId13"/>
    <p:sldLayoutId id="2147484140" r:id="rId14"/>
    <p:sldLayoutId id="2147484141" r:id="rId15"/>
    <p:sldLayoutId id="2147484142" r:id="rId16"/>
  </p:sldLayoutIdLst>
  <p:hf sldNum="0" hdr="0" ftr="0" dt="0"/>
  <p:txStyles>
    <p:titleStyle>
      <a:lvl1pPr algn="l" defTabSz="503972" rtl="0" eaLnBrk="1" latinLnBrk="0" hangingPunct="1">
        <a:spcBef>
          <a:spcPct val="0"/>
        </a:spcBef>
        <a:buNone/>
        <a:defRPr sz="3968" kern="1200">
          <a:solidFill>
            <a:schemeClr val="accent1"/>
          </a:solidFill>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979" indent="-377979" algn="l" defTabSz="503972" rtl="0" eaLnBrk="1" latinLnBrk="0" hangingPunct="1">
        <a:spcBef>
          <a:spcPts val="1102"/>
        </a:spcBef>
        <a:spcAft>
          <a:spcPts val="0"/>
        </a:spcAft>
        <a:buClr>
          <a:schemeClr val="accent1"/>
        </a:buClr>
        <a:buSzPct val="80000"/>
        <a:buFont typeface="Wingdings 3" charset="2"/>
        <a:buChar char=""/>
        <a:defRPr sz="308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vl2pPr marL="818954" indent="-314982" algn="l" defTabSz="503972" rtl="0" eaLnBrk="1" latinLnBrk="0" hangingPunct="1">
        <a:spcBef>
          <a:spcPts val="1102"/>
        </a:spcBef>
        <a:spcAft>
          <a:spcPts val="0"/>
        </a:spcAft>
        <a:buClr>
          <a:schemeClr val="accent1"/>
        </a:buClr>
        <a:buSzPct val="80000"/>
        <a:buFont typeface="Wingdings 3" charset="2"/>
        <a:buChar char=""/>
        <a:defRPr sz="2646"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2pPr>
      <a:lvl3pPr marL="1259929" indent="-251986" algn="l" defTabSz="503972" rtl="0" eaLnBrk="1" latinLnBrk="0" hangingPunct="1">
        <a:spcBef>
          <a:spcPts val="1102"/>
        </a:spcBef>
        <a:spcAft>
          <a:spcPts val="0"/>
        </a:spcAft>
        <a:buClr>
          <a:schemeClr val="accent1"/>
        </a:buClr>
        <a:buSzPct val="80000"/>
        <a:buFont typeface="Wingdings 3" charset="2"/>
        <a:buChar char=""/>
        <a:defRPr sz="2205"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3pPr>
      <a:lvl4pPr marL="1763900"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4pPr>
      <a:lvl5pPr marL="2267872" indent="-251986" algn="l" defTabSz="503972" rtl="0" eaLnBrk="1" latinLnBrk="0" hangingPunct="1">
        <a:spcBef>
          <a:spcPts val="1102"/>
        </a:spcBef>
        <a:spcAft>
          <a:spcPts val="0"/>
        </a:spcAft>
        <a:buClr>
          <a:schemeClr val="accent1"/>
        </a:buClr>
        <a:buSzPct val="80000"/>
        <a:buFont typeface="Wingdings 3" charset="2"/>
        <a:buChar char=""/>
        <a:defRPr sz="1984" kern="1200">
          <a:solidFill>
            <a:schemeClr val="tx1">
              <a:lumMod val="75000"/>
              <a:lumOff val="25000"/>
            </a:schemeClr>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0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0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3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4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4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80.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6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9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2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2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2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4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6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7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7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9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0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0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0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0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08.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40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0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0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0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0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0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0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0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0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0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0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0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0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0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0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0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08.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08.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08.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08.xml"/></Relationships>
</file>

<file path=ppt/slides/_rels/slide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6.xml"/><Relationship Id="rId1" Type="http://schemas.openxmlformats.org/officeDocument/2006/relationships/slideLayout" Target="../slideLayouts/slideLayout408.xml"/><Relationship Id="rId4" Type="http://schemas.openxmlformats.org/officeDocument/2006/relationships/image" Target="../media/image5.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08.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408.xml"/></Relationships>
</file>

<file path=ppt/slides/_rels/slide9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9.xml"/><Relationship Id="rId1" Type="http://schemas.openxmlformats.org/officeDocument/2006/relationships/slideLayout" Target="../slideLayouts/slideLayout408.xml"/><Relationship Id="rId4" Type="http://schemas.openxmlformats.org/officeDocument/2006/relationships/image" Target="../media/image7.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08.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08.xml"/></Relationships>
</file>

<file path=ppt/slides/_rels/slide9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2.xml"/><Relationship Id="rId1" Type="http://schemas.openxmlformats.org/officeDocument/2006/relationships/slideLayout" Target="../slideLayouts/slideLayout408.xml"/><Relationship Id="rId4" Type="http://schemas.openxmlformats.org/officeDocument/2006/relationships/image" Target="../media/image9.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08.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08.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08.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08.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08.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08.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408.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08.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08.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408.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408.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08.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408.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40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504825" y="4500563"/>
            <a:ext cx="8001000" cy="1260475"/>
          </a:xfrm>
        </p:spPr>
        <p:txBody>
          <a:bodyPr vert="horz" wrap="square" lIns="0" tIns="0" rIns="0" bIns="0" anchor="ctr" anchorCtr="0"/>
          <a:lstStyle/>
          <a:p>
            <a:pPr defTabSz="449580"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t>第八章 优化和目标代码生成</a:t>
            </a:r>
            <a:r>
              <a:rPr lang="en-US" altLang="zh-CN" dirty="0"/>
              <a:t/>
            </a:r>
            <a:br>
              <a:rPr lang="en-US" altLang="zh-CN" dirty="0"/>
            </a:br>
            <a:r>
              <a:rPr lang="en-US" altLang="zh-CN" dirty="0"/>
              <a:t>                                      ——</a:t>
            </a:r>
            <a:r>
              <a:rPr lang="zh-CN" altLang="en-US" dirty="0"/>
              <a:t>优化</a:t>
            </a:r>
          </a:p>
        </p:txBody>
      </p:sp>
      <p:sp>
        <p:nvSpPr>
          <p:cNvPr id="5123" name="Rectangle 3"/>
          <p:cNvSpPr txBox="1"/>
          <p:nvPr/>
        </p:nvSpPr>
        <p:spPr>
          <a:xfrm>
            <a:off x="4967288" y="1944688"/>
            <a:ext cx="4608512" cy="1501775"/>
          </a:xfrm>
          <a:prstGeom prst="rect">
            <a:avLst/>
          </a:prstGeom>
          <a:noFill/>
          <a:ln w="9525">
            <a:noFill/>
          </a:ln>
        </p:spPr>
        <p:txBody>
          <a:bodyPr lIns="0" tIns="19404" rIns="0" bIns="0" anchor="ctr" anchorCtr="0"/>
          <a:lstStyle/>
          <a:p>
            <a:pPr marL="342900" indent="-342900" defTabSz="449580">
              <a:lnSpc>
                <a:spcPct val="73000"/>
              </a:lnSpc>
              <a:tabLst>
                <a:tab pos="723900" algn="l"/>
                <a:tab pos="1447800" algn="l"/>
                <a:tab pos="2171700" algn="l"/>
                <a:tab pos="2895600" algn="l"/>
                <a:tab pos="3619500" algn="l"/>
                <a:tab pos="4343400" algn="l"/>
              </a:tabLst>
            </a:pPr>
            <a:r>
              <a:rPr lang="zh-CN" altLang="en-US" sz="3400" dirty="0">
                <a:ea typeface="微软雅黑" panose="020B0503020204020204" pitchFamily="2" charset="-122"/>
              </a:rPr>
              <a:t>朱嘉静</a:t>
            </a:r>
            <a:endParaRPr lang="en-US" altLang="zh-CN" sz="3400" dirty="0">
              <a:ea typeface="微软雅黑" panose="020B0503020204020204" pitchFamily="2" charset="-122"/>
            </a:endParaRPr>
          </a:p>
          <a:p>
            <a:pPr marL="342900" indent="-342900" defTabSz="449580">
              <a:lnSpc>
                <a:spcPct val="73000"/>
              </a:lnSpc>
              <a:tabLst>
                <a:tab pos="723900" algn="l"/>
                <a:tab pos="1447800" algn="l"/>
                <a:tab pos="2171700" algn="l"/>
                <a:tab pos="2895600" algn="l"/>
                <a:tab pos="3619500" algn="l"/>
                <a:tab pos="4343400" algn="l"/>
              </a:tabLst>
            </a:pPr>
            <a:endParaRPr lang="zh-CN" altLang="en-US" sz="3400" dirty="0">
              <a:latin typeface="Arial" panose="020B0604020202020204" pitchFamily="34" charset="0"/>
              <a:ea typeface="微软雅黑" panose="020B0503020204020204" pitchFamily="2" charset="-122"/>
            </a:endParaRPr>
          </a:p>
          <a:p>
            <a:pPr marL="342900" indent="-342900" defTabSz="449580">
              <a:lnSpc>
                <a:spcPct val="73000"/>
              </a:lnSpc>
              <a:tabLst>
                <a:tab pos="723900" algn="l"/>
                <a:tab pos="1447800" algn="l"/>
                <a:tab pos="2171700" algn="l"/>
                <a:tab pos="2895600" algn="l"/>
                <a:tab pos="3619500" algn="l"/>
                <a:tab pos="4343400" algn="l"/>
              </a:tabLst>
            </a:pPr>
            <a:r>
              <a:rPr lang="zh-CN" sz="3400" dirty="0">
                <a:latin typeface="Arial" panose="020B0604020202020204" pitchFamily="34" charset="0"/>
                <a:ea typeface="微软雅黑" panose="020B0503020204020204" pitchFamily="2" charset="-122"/>
              </a:rPr>
              <a:t>编译技术</a:t>
            </a:r>
            <a:endParaRPr lang="zh-CN" sz="3200" dirty="0">
              <a:latin typeface="Arial" panose="020B0604020202020204" pitchFamily="34" charset="0"/>
              <a:ea typeface="微软雅黑" panose="020B0503020204020204"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dirty="0"/>
              <a:t>编译程序总框</a:t>
            </a:r>
          </a:p>
        </p:txBody>
      </p:sp>
      <p:sp>
        <p:nvSpPr>
          <p:cNvPr id="35" name="圆角矩形 34"/>
          <p:cNvSpPr/>
          <p:nvPr/>
        </p:nvSpPr>
        <p:spPr bwMode="auto">
          <a:xfrm>
            <a:off x="2588181" y="2218746"/>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词法分析</a:t>
            </a:r>
          </a:p>
        </p:txBody>
      </p:sp>
      <p:sp>
        <p:nvSpPr>
          <p:cNvPr id="36" name="圆角矩形 35"/>
          <p:cNvSpPr/>
          <p:nvPr/>
        </p:nvSpPr>
        <p:spPr bwMode="auto">
          <a:xfrm>
            <a:off x="2611235" y="3232957"/>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语法分析</a:t>
            </a:r>
          </a:p>
        </p:txBody>
      </p:sp>
      <p:sp>
        <p:nvSpPr>
          <p:cNvPr id="37" name="圆角矩形 36"/>
          <p:cNvSpPr/>
          <p:nvPr/>
        </p:nvSpPr>
        <p:spPr bwMode="auto">
          <a:xfrm>
            <a:off x="2611234" y="4246163"/>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语义分析与中间代码生成</a:t>
            </a:r>
          </a:p>
        </p:txBody>
      </p:sp>
      <p:sp>
        <p:nvSpPr>
          <p:cNvPr id="38" name="圆角矩形 37"/>
          <p:cNvSpPr/>
          <p:nvPr/>
        </p:nvSpPr>
        <p:spPr bwMode="auto">
          <a:xfrm>
            <a:off x="2611234" y="5254280"/>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1"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优化</a:t>
            </a:r>
          </a:p>
        </p:txBody>
      </p:sp>
      <p:sp>
        <p:nvSpPr>
          <p:cNvPr id="39" name="圆角矩形 38"/>
          <p:cNvSpPr/>
          <p:nvPr/>
        </p:nvSpPr>
        <p:spPr bwMode="auto">
          <a:xfrm>
            <a:off x="2611234" y="6263907"/>
            <a:ext cx="4027703" cy="503735"/>
          </a:xfrm>
          <a:prstGeom prst="roundRect">
            <a:avLst/>
          </a:prstGeom>
          <a:ln>
            <a:headEnd type="none" w="med" len="med"/>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目标代码生成</a:t>
            </a:r>
          </a:p>
        </p:txBody>
      </p:sp>
      <p:sp>
        <p:nvSpPr>
          <p:cNvPr id="40" name="下箭头 39"/>
          <p:cNvSpPr/>
          <p:nvPr/>
        </p:nvSpPr>
        <p:spPr>
          <a:xfrm>
            <a:off x="4512048" y="2760245"/>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1" name="下箭头 40"/>
          <p:cNvSpPr/>
          <p:nvPr/>
        </p:nvSpPr>
        <p:spPr>
          <a:xfrm>
            <a:off x="4512048" y="3767783"/>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2" name="下箭头 41"/>
          <p:cNvSpPr/>
          <p:nvPr/>
        </p:nvSpPr>
        <p:spPr>
          <a:xfrm>
            <a:off x="4512048" y="4788758"/>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8" name="下箭头 47"/>
          <p:cNvSpPr/>
          <p:nvPr/>
        </p:nvSpPr>
        <p:spPr>
          <a:xfrm>
            <a:off x="4512048" y="5792795"/>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下箭头 53"/>
          <p:cNvSpPr/>
          <p:nvPr/>
        </p:nvSpPr>
        <p:spPr>
          <a:xfrm>
            <a:off x="4512048" y="6811951"/>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0" name="下箭头 59"/>
          <p:cNvSpPr/>
          <p:nvPr/>
        </p:nvSpPr>
        <p:spPr>
          <a:xfrm>
            <a:off x="4505305" y="1741056"/>
            <a:ext cx="178816" cy="444903"/>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文本框 62"/>
          <p:cNvSpPr txBox="1"/>
          <p:nvPr/>
        </p:nvSpPr>
        <p:spPr>
          <a:xfrm>
            <a:off x="5014463" y="2762174"/>
            <a:ext cx="131318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单词符号</a:t>
            </a:r>
          </a:p>
        </p:txBody>
      </p:sp>
      <p:sp>
        <p:nvSpPr>
          <p:cNvPr id="73" name="文本框 72"/>
          <p:cNvSpPr txBox="1"/>
          <p:nvPr/>
        </p:nvSpPr>
        <p:spPr>
          <a:xfrm>
            <a:off x="5014463" y="1681680"/>
            <a:ext cx="1031051"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源程序</a:t>
            </a:r>
          </a:p>
        </p:txBody>
      </p:sp>
      <p:sp>
        <p:nvSpPr>
          <p:cNvPr id="74" name="文本框 73"/>
          <p:cNvSpPr txBox="1"/>
          <p:nvPr/>
        </p:nvSpPr>
        <p:spPr>
          <a:xfrm>
            <a:off x="5014463" y="4809758"/>
            <a:ext cx="234872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中间代码</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四元式</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5" name="文本框 74"/>
          <p:cNvSpPr txBox="1"/>
          <p:nvPr/>
        </p:nvSpPr>
        <p:spPr>
          <a:xfrm>
            <a:off x="5022453" y="3820898"/>
            <a:ext cx="1313180" cy="770980"/>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语法单位</a:t>
            </a:r>
          </a:p>
          <a:p>
            <a:pPr marL="0" marR="0" lvl="0" indent="0" algn="l" defTabSz="503972" rtl="0" eaLnBrk="1" fontAlgn="auto" latinLnBrk="0" hangingPunct="1">
              <a:lnSpc>
                <a:spcPct val="100000"/>
              </a:lnSpc>
              <a:spcBef>
                <a:spcPts val="0"/>
              </a:spcBef>
              <a:spcAft>
                <a:spcPts val="0"/>
              </a:spcAft>
              <a:buClrTx/>
              <a:buSzTx/>
              <a:buFontTx/>
              <a:buNone/>
              <a:tabLst/>
              <a:defRPr/>
            </a:pPr>
            <a:endPar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 name="文本框 75"/>
          <p:cNvSpPr txBox="1"/>
          <p:nvPr/>
        </p:nvSpPr>
        <p:spPr>
          <a:xfrm>
            <a:off x="5014463" y="6864226"/>
            <a:ext cx="131318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目标代码</a:t>
            </a:r>
          </a:p>
        </p:txBody>
      </p:sp>
      <p:sp>
        <p:nvSpPr>
          <p:cNvPr id="77" name="文本框 76"/>
          <p:cNvSpPr txBox="1"/>
          <p:nvPr/>
        </p:nvSpPr>
        <p:spPr>
          <a:xfrm>
            <a:off x="5022453" y="5798544"/>
            <a:ext cx="2348720" cy="431657"/>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Tx/>
              <a:buNone/>
              <a:tabLst/>
              <a:defRPr/>
            </a:pP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中间代码</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四元式</a:t>
            </a:r>
            <a:r>
              <a:rPr kumimoji="0" lang="en-US" altLang="zh-CN"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2205"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 name="圆角矩形 77"/>
          <p:cNvSpPr/>
          <p:nvPr/>
        </p:nvSpPr>
        <p:spPr bwMode="auto">
          <a:xfrm>
            <a:off x="1105849" y="2203926"/>
            <a:ext cx="557771" cy="4563716"/>
          </a:xfrm>
          <a:prstGeom prst="roundRect">
            <a:avLst/>
          </a:prstGeom>
          <a:ln>
            <a:headEnd type="none" w="med" len="med"/>
            <a:tailEnd type="stealth" w="lg" len="lg"/>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eaVert"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符号表管理</a:t>
            </a:r>
          </a:p>
        </p:txBody>
      </p:sp>
      <p:sp>
        <p:nvSpPr>
          <p:cNvPr id="79" name="圆角矩形 78"/>
          <p:cNvSpPr/>
          <p:nvPr/>
        </p:nvSpPr>
        <p:spPr bwMode="auto">
          <a:xfrm>
            <a:off x="7576929" y="2185959"/>
            <a:ext cx="557771" cy="4563716"/>
          </a:xfrm>
          <a:prstGeom prst="roundRect">
            <a:avLst/>
          </a:prstGeom>
          <a:ln>
            <a:headEnd type="none" w="med" len="med"/>
            <a:tailEnd type="stealth" w="lg" len="lg"/>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eaVert"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r>
              <a:rPr kumimoji="0" lang="zh-CN" altLang="en-US"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出错处理</a:t>
            </a:r>
          </a:p>
        </p:txBody>
      </p:sp>
      <p:sp>
        <p:nvSpPr>
          <p:cNvPr id="80" name="左右箭头 79"/>
          <p:cNvSpPr/>
          <p:nvPr/>
        </p:nvSpPr>
        <p:spPr>
          <a:xfrm>
            <a:off x="1744794" y="2344678"/>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1" name="左右箭头 80"/>
          <p:cNvSpPr/>
          <p:nvPr/>
        </p:nvSpPr>
        <p:spPr>
          <a:xfrm>
            <a:off x="1750843" y="3358889"/>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2" name="左右箭头 81"/>
          <p:cNvSpPr/>
          <p:nvPr/>
        </p:nvSpPr>
        <p:spPr>
          <a:xfrm>
            <a:off x="1744794" y="4366002"/>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3" name="左右箭头 82"/>
          <p:cNvSpPr/>
          <p:nvPr/>
        </p:nvSpPr>
        <p:spPr>
          <a:xfrm>
            <a:off x="1775784" y="5380213"/>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4" name="左右箭头 83"/>
          <p:cNvSpPr/>
          <p:nvPr/>
        </p:nvSpPr>
        <p:spPr>
          <a:xfrm>
            <a:off x="1744794" y="6389840"/>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
        <p:nvSpPr>
          <p:cNvPr id="85" name="左右箭头 84"/>
          <p:cNvSpPr/>
          <p:nvPr/>
        </p:nvSpPr>
        <p:spPr>
          <a:xfrm>
            <a:off x="6710661" y="2351398"/>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6" name="左右箭头 85"/>
          <p:cNvSpPr/>
          <p:nvPr/>
        </p:nvSpPr>
        <p:spPr>
          <a:xfrm>
            <a:off x="6716709" y="3365609"/>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7" name="左右箭头 86"/>
          <p:cNvSpPr/>
          <p:nvPr/>
        </p:nvSpPr>
        <p:spPr>
          <a:xfrm>
            <a:off x="6710661" y="4372721"/>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8" name="左右箭头 87"/>
          <p:cNvSpPr/>
          <p:nvPr/>
        </p:nvSpPr>
        <p:spPr>
          <a:xfrm>
            <a:off x="6741650" y="5386933"/>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9" name="左右箭头 88"/>
          <p:cNvSpPr/>
          <p:nvPr/>
        </p:nvSpPr>
        <p:spPr>
          <a:xfrm>
            <a:off x="6710661" y="6396559"/>
            <a:ext cx="753983" cy="25186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1984"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0" name="圆角矩形 89"/>
          <p:cNvSpPr/>
          <p:nvPr/>
        </p:nvSpPr>
        <p:spPr bwMode="auto">
          <a:xfrm>
            <a:off x="2583762" y="5232290"/>
            <a:ext cx="4087383" cy="515883"/>
          </a:xfrm>
          <a:prstGeom prst="roundRect">
            <a:avLst/>
          </a:prstGeom>
          <a:noFill/>
          <a:ln w="63500">
            <a:headEnd type="none" w="med" len="med"/>
            <a:tailEnd type="stealth" w="lg" len="lg"/>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134394" tIns="67197" rIns="134394" bIns="67197" numCol="1" spcCol="0" rtlCol="0" fromWordArt="0" anchor="ctr" anchorCtr="0" forceAA="0" compatLnSpc="1">
            <a:prstTxWarp prst="textNoShape">
              <a:avLst/>
            </a:prstTxWarp>
            <a:noAutofit/>
          </a:bodyPr>
          <a:lstStyle/>
          <a:p>
            <a:pPr marL="0" marR="0" lvl="0" indent="0" algn="ctr" defTabSz="503972" rtl="0" eaLnBrk="1" fontAlgn="auto" latinLnBrk="0" hangingPunct="1">
              <a:lnSpc>
                <a:spcPct val="100000"/>
              </a:lnSpc>
              <a:spcBef>
                <a:spcPts val="0"/>
              </a:spcBef>
              <a:spcAft>
                <a:spcPts val="0"/>
              </a:spcAft>
              <a:buClrTx/>
              <a:buSzTx/>
              <a:buFontTx/>
              <a:buNone/>
              <a:tabLst/>
              <a:defRPr/>
            </a:pPr>
            <a:endParaRPr kumimoji="0"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83365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3" name="Rectangle 2050"/>
          <p:cNvSpPr>
            <a:spLocks noGrp="1" noChangeArrowheads="1"/>
          </p:cNvSpPr>
          <p:nvPr>
            <p:ph type="title"/>
          </p:nvPr>
        </p:nvSpPr>
        <p:spPr/>
        <p:txBody>
          <a:bodyPr/>
          <a:lstStyle/>
          <a:p>
            <a:r>
              <a:rPr lang="zh-CN" altLang="en-US" dirty="0"/>
              <a:t>优化的基本概念</a:t>
            </a:r>
            <a:endParaRPr lang="zh-CN" altLang="en-US" dirty="0">
              <a:latin typeface="微软雅黑" panose="020B0503020204020204" pitchFamily="34" charset="-122"/>
            </a:endParaRPr>
          </a:p>
        </p:txBody>
      </p:sp>
      <p:sp>
        <p:nvSpPr>
          <p:cNvPr id="8195" name="Rectangle 2051"/>
          <p:cNvSpPr>
            <a:spLocks noGrp="1" noChangeArrowheads="1"/>
          </p:cNvSpPr>
          <p:nvPr>
            <p:ph idx="1"/>
          </p:nvPr>
        </p:nvSpPr>
        <p:spPr/>
        <p:txBody>
          <a:bodyPr/>
          <a:lstStyle/>
          <a:p>
            <a:pPr eaLnBrk="1" hangingPunct="1">
              <a:lnSpc>
                <a:spcPct val="90000"/>
              </a:lnSpc>
            </a:pPr>
            <a:r>
              <a:rPr lang="zh-CN" altLang="en-US" dirty="0">
                <a:solidFill>
                  <a:srgbClr val="CC0000"/>
                </a:solidFill>
                <a:latin typeface="微软雅黑" panose="020B0503020204020204" pitchFamily="34" charset="-122"/>
              </a:rPr>
              <a:t>优化</a:t>
            </a:r>
            <a:r>
              <a:rPr lang="zh-CN" altLang="en-US" dirty="0">
                <a:latin typeface="微软雅黑" panose="020B0503020204020204" pitchFamily="34" charset="-122"/>
              </a:rPr>
              <a:t>：对程序进行各种等价变换，使得从变换后的程序出发，能生成更有效的目标代码。</a:t>
            </a:r>
          </a:p>
          <a:p>
            <a:pPr lvl="1" algn="just" eaLnBrk="1" hangingPunct="1">
              <a:lnSpc>
                <a:spcPct val="90000"/>
              </a:lnSpc>
            </a:pPr>
            <a:r>
              <a:rPr lang="zh-CN" altLang="en-US" dirty="0">
                <a:solidFill>
                  <a:srgbClr val="CC0000"/>
                </a:solidFill>
                <a:latin typeface="微软雅黑" panose="020B0503020204020204" pitchFamily="34" charset="-122"/>
              </a:rPr>
              <a:t>等价</a:t>
            </a:r>
            <a:r>
              <a:rPr lang="zh-CN" altLang="en-US" dirty="0">
                <a:latin typeface="微软雅黑" panose="020B0503020204020204" pitchFamily="34" charset="-122"/>
              </a:rPr>
              <a:t>：不改变程序的运行结果</a:t>
            </a:r>
          </a:p>
          <a:p>
            <a:pPr lvl="1" algn="just" eaLnBrk="1" hangingPunct="1">
              <a:lnSpc>
                <a:spcPct val="90000"/>
              </a:lnSpc>
            </a:pPr>
            <a:r>
              <a:rPr lang="zh-CN" altLang="en-US" dirty="0">
                <a:solidFill>
                  <a:srgbClr val="CC0000"/>
                </a:solidFill>
                <a:latin typeface="微软雅黑" panose="020B0503020204020204" pitchFamily="34" charset="-122"/>
              </a:rPr>
              <a:t>有效</a:t>
            </a:r>
            <a:r>
              <a:rPr lang="zh-CN" altLang="en-US" dirty="0">
                <a:latin typeface="微软雅黑" panose="020B0503020204020204" pitchFamily="34" charset="-122"/>
              </a:rPr>
              <a:t>：目标代码运行时间短，占用存储空间小，两者至少占其一</a:t>
            </a:r>
          </a:p>
        </p:txBody>
      </p:sp>
      <p:sp>
        <p:nvSpPr>
          <p:cNvPr id="16" name="Rectangle 2053"/>
          <p:cNvSpPr>
            <a:spLocks noChangeArrowheads="1"/>
          </p:cNvSpPr>
          <p:nvPr/>
        </p:nvSpPr>
        <p:spPr bwMode="auto">
          <a:xfrm>
            <a:off x="747163" y="4540919"/>
            <a:ext cx="1763924" cy="671971"/>
          </a:xfrm>
          <a:prstGeom prst="rect">
            <a:avLst/>
          </a:prstGeom>
          <a:ln>
            <a:headEnd type="none" w="lg" len="lg"/>
            <a:tailEnd type="none" w="lg" len="lg"/>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3086" dirty="0">
                <a:solidFill>
                  <a:prstClr val="black"/>
                </a:solidFill>
                <a:latin typeface="Times New Roman" panose="02020603050405020304" pitchFamily="18" charset="0"/>
              </a:rPr>
              <a:t>编译前端</a:t>
            </a:r>
          </a:p>
        </p:txBody>
      </p:sp>
      <p:sp>
        <p:nvSpPr>
          <p:cNvPr id="17" name="Rectangle 2054"/>
          <p:cNvSpPr>
            <a:spLocks noChangeArrowheads="1"/>
          </p:cNvSpPr>
          <p:nvPr/>
        </p:nvSpPr>
        <p:spPr bwMode="auto">
          <a:xfrm>
            <a:off x="3687037" y="4540919"/>
            <a:ext cx="2183906" cy="671971"/>
          </a:xfrm>
          <a:prstGeom prst="rect">
            <a:avLst/>
          </a:prstGeom>
          <a:ln>
            <a:headEnd type="none" w="lg" len="lg"/>
            <a:tailEnd type="none" w="lg" len="lg"/>
          </a:ln>
        </p:spPr>
        <p:style>
          <a:lnRef idx="3">
            <a:schemeClr val="lt1"/>
          </a:lnRef>
          <a:fillRef idx="1">
            <a:schemeClr val="accent2"/>
          </a:fillRef>
          <a:effectRef idx="1">
            <a:schemeClr val="accent2"/>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3086" dirty="0">
                <a:solidFill>
                  <a:prstClr val="white"/>
                </a:solidFill>
                <a:latin typeface="Times New Roman" panose="02020603050405020304" pitchFamily="18" charset="0"/>
              </a:rPr>
              <a:t>代码优化器</a:t>
            </a:r>
          </a:p>
        </p:txBody>
      </p:sp>
      <p:sp>
        <p:nvSpPr>
          <p:cNvPr id="18" name="Rectangle 2055"/>
          <p:cNvSpPr>
            <a:spLocks noChangeArrowheads="1"/>
          </p:cNvSpPr>
          <p:nvPr/>
        </p:nvSpPr>
        <p:spPr bwMode="auto">
          <a:xfrm>
            <a:off x="7130889" y="4540919"/>
            <a:ext cx="1763924" cy="671971"/>
          </a:xfrm>
          <a:prstGeom prst="rect">
            <a:avLst/>
          </a:prstGeom>
          <a:ln>
            <a:headEnd type="none" w="lg" len="lg"/>
            <a:tailEnd type="none" w="lg" len="lg"/>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3086" dirty="0">
                <a:solidFill>
                  <a:prstClr val="black"/>
                </a:solidFill>
                <a:latin typeface="Times New Roman" panose="02020603050405020304" pitchFamily="18" charset="0"/>
              </a:rPr>
              <a:t>编译后端</a:t>
            </a:r>
          </a:p>
        </p:txBody>
      </p:sp>
      <p:sp>
        <p:nvSpPr>
          <p:cNvPr id="19" name="Line 2056"/>
          <p:cNvSpPr>
            <a:spLocks noChangeShapeType="1"/>
          </p:cNvSpPr>
          <p:nvPr/>
        </p:nvSpPr>
        <p:spPr bwMode="auto">
          <a:xfrm>
            <a:off x="2511087" y="4876905"/>
            <a:ext cx="1175949" cy="0"/>
          </a:xfrm>
          <a:prstGeom prst="line">
            <a:avLst/>
          </a:prstGeom>
          <a:ln>
            <a:headEnd type="none" w="lg" len="lg"/>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a:solidFill>
                <a:prstClr val="black"/>
              </a:solidFill>
            </a:endParaRPr>
          </a:p>
        </p:txBody>
      </p:sp>
      <p:sp>
        <p:nvSpPr>
          <p:cNvPr id="20" name="Line 2057"/>
          <p:cNvSpPr>
            <a:spLocks noChangeShapeType="1"/>
          </p:cNvSpPr>
          <p:nvPr/>
        </p:nvSpPr>
        <p:spPr bwMode="auto">
          <a:xfrm>
            <a:off x="5870943" y="4876905"/>
            <a:ext cx="1259946" cy="0"/>
          </a:xfrm>
          <a:prstGeom prst="line">
            <a:avLst/>
          </a:prstGeom>
          <a:ln>
            <a:headEnd type="none" w="lg" len="lg"/>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a:solidFill>
                <a:prstClr val="black"/>
              </a:solidFill>
            </a:endParaRPr>
          </a:p>
        </p:txBody>
      </p:sp>
      <p:sp>
        <p:nvSpPr>
          <p:cNvPr id="21" name="Rectangle 2060"/>
          <p:cNvSpPr>
            <a:spLocks noChangeArrowheads="1"/>
          </p:cNvSpPr>
          <p:nvPr/>
        </p:nvSpPr>
        <p:spPr bwMode="auto">
          <a:xfrm>
            <a:off x="1503130" y="5716869"/>
            <a:ext cx="1763924" cy="671971"/>
          </a:xfrm>
          <a:prstGeom prst="rect">
            <a:avLst/>
          </a:prstGeom>
          <a:ln>
            <a:headEnd type="none" w="lg" len="lg"/>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2646" dirty="0">
                <a:solidFill>
                  <a:prstClr val="white"/>
                </a:solidFill>
                <a:latin typeface="Times New Roman" panose="02020603050405020304" pitchFamily="18" charset="0"/>
              </a:rPr>
              <a:t>控制流分析</a:t>
            </a:r>
          </a:p>
        </p:txBody>
      </p:sp>
      <p:sp>
        <p:nvSpPr>
          <p:cNvPr id="22" name="Rectangle 2061"/>
          <p:cNvSpPr>
            <a:spLocks noChangeArrowheads="1"/>
          </p:cNvSpPr>
          <p:nvPr/>
        </p:nvSpPr>
        <p:spPr bwMode="auto">
          <a:xfrm>
            <a:off x="3813030" y="5721983"/>
            <a:ext cx="1763924" cy="671971"/>
          </a:xfrm>
          <a:prstGeom prst="rect">
            <a:avLst/>
          </a:prstGeom>
          <a:ln>
            <a:headEnd type="none" w="lg" len="lg"/>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2646" dirty="0">
                <a:solidFill>
                  <a:prstClr val="white"/>
                </a:solidFill>
                <a:latin typeface="Times New Roman" panose="02020603050405020304" pitchFamily="18" charset="0"/>
              </a:rPr>
              <a:t>数据流分析</a:t>
            </a:r>
          </a:p>
        </p:txBody>
      </p:sp>
      <p:sp>
        <p:nvSpPr>
          <p:cNvPr id="23" name="Rectangle 2062"/>
          <p:cNvSpPr>
            <a:spLocks noChangeArrowheads="1"/>
          </p:cNvSpPr>
          <p:nvPr/>
        </p:nvSpPr>
        <p:spPr bwMode="auto">
          <a:xfrm>
            <a:off x="6120725" y="5727098"/>
            <a:ext cx="1763924" cy="671971"/>
          </a:xfrm>
          <a:prstGeom prst="rect">
            <a:avLst/>
          </a:prstGeom>
          <a:ln>
            <a:headEnd type="none" w="lg" len="lg"/>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2646" dirty="0">
                <a:solidFill>
                  <a:prstClr val="white"/>
                </a:solidFill>
                <a:latin typeface="Times New Roman" panose="02020603050405020304" pitchFamily="18" charset="0"/>
              </a:rPr>
              <a:t>代码变换</a:t>
            </a:r>
          </a:p>
        </p:txBody>
      </p:sp>
      <p:sp>
        <p:nvSpPr>
          <p:cNvPr id="24" name="Line 2065"/>
          <p:cNvSpPr>
            <a:spLocks noChangeShapeType="1"/>
          </p:cNvSpPr>
          <p:nvPr/>
        </p:nvSpPr>
        <p:spPr bwMode="auto">
          <a:xfrm flipH="1">
            <a:off x="2427090" y="5212890"/>
            <a:ext cx="2267903" cy="509093"/>
          </a:xfrm>
          <a:prstGeom prst="line">
            <a:avLst/>
          </a:prstGeom>
          <a:ln>
            <a:headEnd/>
            <a:tailEnd type="none"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a:solidFill>
                <a:prstClr val="black"/>
              </a:solidFill>
            </a:endParaRPr>
          </a:p>
        </p:txBody>
      </p:sp>
      <p:sp>
        <p:nvSpPr>
          <p:cNvPr id="25" name="Line 2066"/>
          <p:cNvSpPr>
            <a:spLocks noChangeShapeType="1"/>
          </p:cNvSpPr>
          <p:nvPr/>
        </p:nvSpPr>
        <p:spPr bwMode="auto">
          <a:xfrm>
            <a:off x="4694993" y="5212891"/>
            <a:ext cx="0" cy="503978"/>
          </a:xfrm>
          <a:prstGeom prst="line">
            <a:avLst/>
          </a:prstGeom>
          <a:ln>
            <a:headEnd/>
            <a:tailEnd type="none"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a:solidFill>
                <a:prstClr val="black"/>
              </a:solidFill>
            </a:endParaRPr>
          </a:p>
        </p:txBody>
      </p:sp>
      <p:sp>
        <p:nvSpPr>
          <p:cNvPr id="26" name="Line 2067"/>
          <p:cNvSpPr>
            <a:spLocks noChangeShapeType="1"/>
          </p:cNvSpPr>
          <p:nvPr/>
        </p:nvSpPr>
        <p:spPr bwMode="auto">
          <a:xfrm>
            <a:off x="4694993" y="5212890"/>
            <a:ext cx="2183906" cy="498864"/>
          </a:xfrm>
          <a:prstGeom prst="line">
            <a:avLst/>
          </a:prstGeom>
          <a:ln>
            <a:headEnd/>
            <a:tailEnd type="none"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a:solidFill>
                <a:prstClr val="black"/>
              </a:solidFill>
            </a:endParaRPr>
          </a:p>
        </p:txBody>
      </p:sp>
    </p:spTree>
    <p:extLst>
      <p:ext uri="{BB962C8B-B14F-4D97-AF65-F5344CB8AC3E}">
        <p14:creationId xmlns:p14="http://schemas.microsoft.com/office/powerpoint/2010/main" val="38432938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up)">
                                      <p:cBhvr>
                                        <p:cTn id="47" dur="500"/>
                                        <p:tgtEl>
                                          <p:spTgt spid="24"/>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wipe(up)">
                                      <p:cBhvr>
                                        <p:cTn id="50" dur="500"/>
                                        <p:tgtEl>
                                          <p:spTgt spid="25"/>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up)">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wipe(left)">
                                      <p:cBhvr>
                                        <p:cTn id="63" dur="500"/>
                                        <p:tgtEl>
                                          <p:spTgt spid="2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left)">
                                      <p:cBhvr>
                                        <p:cTn id="6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dirty="0"/>
              <a:t>优化的基本概念</a:t>
            </a:r>
          </a:p>
        </p:txBody>
      </p:sp>
      <p:sp>
        <p:nvSpPr>
          <p:cNvPr id="9219" name="Rectangle 3"/>
          <p:cNvSpPr>
            <a:spLocks noGrp="1" noChangeArrowheads="1"/>
          </p:cNvSpPr>
          <p:nvPr>
            <p:ph idx="1"/>
          </p:nvPr>
        </p:nvSpPr>
        <p:spPr/>
        <p:txBody>
          <a:bodyPr/>
          <a:lstStyle/>
          <a:p>
            <a:r>
              <a:rPr lang="zh-CN" altLang="en-US" dirty="0"/>
              <a:t>目的</a:t>
            </a:r>
          </a:p>
          <a:p>
            <a:pPr lvl="1"/>
            <a:r>
              <a:rPr lang="zh-CN" altLang="en-US" dirty="0"/>
              <a:t>产生更高效的代码</a:t>
            </a:r>
          </a:p>
          <a:p>
            <a:r>
              <a:rPr lang="zh-CN" altLang="en-US" dirty="0"/>
              <a:t>遵循的原则</a:t>
            </a:r>
          </a:p>
          <a:p>
            <a:pPr lvl="1"/>
            <a:r>
              <a:rPr lang="zh-CN" altLang="en-US" dirty="0">
                <a:solidFill>
                  <a:srgbClr val="FF0000"/>
                </a:solidFill>
              </a:rPr>
              <a:t>等价</a:t>
            </a:r>
            <a:r>
              <a:rPr lang="zh-CN" altLang="en-US" dirty="0"/>
              <a:t>原则：优化不应改变程序运行的结果</a:t>
            </a:r>
          </a:p>
          <a:p>
            <a:pPr lvl="1"/>
            <a:r>
              <a:rPr lang="zh-CN" altLang="en-US" dirty="0">
                <a:solidFill>
                  <a:srgbClr val="FF0000"/>
                </a:solidFill>
              </a:rPr>
              <a:t>有效</a:t>
            </a:r>
            <a:r>
              <a:rPr lang="zh-CN" altLang="en-US" dirty="0"/>
              <a:t>原则：使优化后所产生的目标代码运行时间较短，占用的存储空间较小</a:t>
            </a:r>
          </a:p>
          <a:p>
            <a:pPr lvl="1"/>
            <a:r>
              <a:rPr lang="zh-CN" altLang="en-US" dirty="0">
                <a:solidFill>
                  <a:srgbClr val="FF0000"/>
                </a:solidFill>
              </a:rPr>
              <a:t>合算</a:t>
            </a:r>
            <a:r>
              <a:rPr lang="zh-CN" altLang="en-US" dirty="0"/>
              <a:t>原则：应尽可能以较低的代价取得较好的优化效果</a:t>
            </a:r>
          </a:p>
        </p:txBody>
      </p:sp>
    </p:spTree>
    <p:extLst>
      <p:ext uri="{BB962C8B-B14F-4D97-AF65-F5344CB8AC3E}">
        <p14:creationId xmlns:p14="http://schemas.microsoft.com/office/powerpoint/2010/main" val="1371802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500"/>
                                        <p:tgtEl>
                                          <p:spTgt spid="921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wipe(left)">
                                      <p:cBhvr>
                                        <p:cTn id="10" dur="500"/>
                                        <p:tgtEl>
                                          <p:spTgt spid="921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animEffect transition="in" filter="wipe(left)">
                                      <p:cBhvr>
                                        <p:cTn id="15" dur="500"/>
                                        <p:tgtEl>
                                          <p:spTgt spid="921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219">
                                            <p:txEl>
                                              <p:pRg st="3" end="3"/>
                                            </p:txEl>
                                          </p:spTgt>
                                        </p:tgtEl>
                                        <p:attrNameLst>
                                          <p:attrName>style.visibility</p:attrName>
                                        </p:attrNameLst>
                                      </p:cBhvr>
                                      <p:to>
                                        <p:strVal val="visible"/>
                                      </p:to>
                                    </p:set>
                                    <p:animEffect transition="in" filter="wipe(left)">
                                      <p:cBhvr>
                                        <p:cTn id="20" dur="500"/>
                                        <p:tgtEl>
                                          <p:spTgt spid="9219">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219">
                                            <p:txEl>
                                              <p:pRg st="4" end="4"/>
                                            </p:txEl>
                                          </p:spTgt>
                                        </p:tgtEl>
                                        <p:attrNameLst>
                                          <p:attrName>style.visibility</p:attrName>
                                        </p:attrNameLst>
                                      </p:cBhvr>
                                      <p:to>
                                        <p:strVal val="visible"/>
                                      </p:to>
                                    </p:set>
                                    <p:animEffect transition="in" filter="wipe(left)">
                                      <p:cBhvr>
                                        <p:cTn id="25" dur="500"/>
                                        <p:tgtEl>
                                          <p:spTgt spid="9219">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219">
                                            <p:txEl>
                                              <p:pRg st="5" end="5"/>
                                            </p:txEl>
                                          </p:spTgt>
                                        </p:tgtEl>
                                        <p:attrNameLst>
                                          <p:attrName>style.visibility</p:attrName>
                                        </p:attrNameLst>
                                      </p:cBhvr>
                                      <p:to>
                                        <p:strVal val="visible"/>
                                      </p:to>
                                    </p:set>
                                    <p:animEffect transition="in" filter="wipe(left)">
                                      <p:cBhvr>
                                        <p:cTn id="30"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dirty="0"/>
              <a:t>优化的基本概念</a:t>
            </a:r>
          </a:p>
        </p:txBody>
      </p:sp>
      <p:sp>
        <p:nvSpPr>
          <p:cNvPr id="74755" name="Rectangle 3"/>
          <p:cNvSpPr>
            <a:spLocks noGrp="1" noChangeArrowheads="1"/>
          </p:cNvSpPr>
          <p:nvPr>
            <p:ph idx="1"/>
          </p:nvPr>
        </p:nvSpPr>
        <p:spPr/>
        <p:txBody>
          <a:bodyPr>
            <a:normAutofit fontScale="92500" lnSpcReduction="10000"/>
          </a:bodyPr>
          <a:lstStyle/>
          <a:p>
            <a:r>
              <a:rPr lang="zh-CN" altLang="en-US" dirty="0"/>
              <a:t>优化的级别（根据程序变换涉及代码范围）</a:t>
            </a:r>
          </a:p>
          <a:p>
            <a:pPr lvl="1"/>
            <a:r>
              <a:rPr lang="zh-CN" altLang="en-US" dirty="0">
                <a:solidFill>
                  <a:srgbClr val="FF0000"/>
                </a:solidFill>
              </a:rPr>
              <a:t>局部优化、循环优化</a:t>
            </a:r>
            <a:r>
              <a:rPr lang="zh-CN" altLang="en-US" dirty="0"/>
              <a:t>、全局优化</a:t>
            </a:r>
          </a:p>
          <a:p>
            <a:r>
              <a:rPr lang="zh-CN" altLang="en-US" dirty="0"/>
              <a:t>优化的种类</a:t>
            </a:r>
          </a:p>
          <a:p>
            <a:pPr lvl="1"/>
            <a:r>
              <a:rPr lang="zh-CN" altLang="en-US" dirty="0"/>
              <a:t>删除多余运算(删除公用子表达式)</a:t>
            </a:r>
          </a:p>
          <a:p>
            <a:pPr lvl="1"/>
            <a:r>
              <a:rPr lang="zh-CN" altLang="en-US" dirty="0"/>
              <a:t>合并已知量</a:t>
            </a:r>
          </a:p>
          <a:p>
            <a:pPr lvl="1"/>
            <a:r>
              <a:rPr lang="zh-CN" altLang="en-US" dirty="0"/>
              <a:t>复写传播</a:t>
            </a:r>
          </a:p>
          <a:p>
            <a:pPr lvl="1"/>
            <a:r>
              <a:rPr lang="zh-CN" altLang="en-US" dirty="0"/>
              <a:t>删除无用赋值</a:t>
            </a:r>
          </a:p>
          <a:p>
            <a:pPr lvl="1"/>
            <a:r>
              <a:rPr lang="zh-CN" altLang="en-US" dirty="0"/>
              <a:t>代码外提</a:t>
            </a:r>
          </a:p>
          <a:p>
            <a:pPr lvl="1"/>
            <a:r>
              <a:rPr lang="zh-CN" altLang="en-US" dirty="0"/>
              <a:t>强度消弱</a:t>
            </a:r>
          </a:p>
          <a:p>
            <a:pPr lvl="1"/>
            <a:r>
              <a:rPr lang="zh-CN" altLang="en-US" dirty="0"/>
              <a:t>变换循环控制条件</a:t>
            </a:r>
          </a:p>
        </p:txBody>
      </p:sp>
    </p:spTree>
    <p:extLst>
      <p:ext uri="{BB962C8B-B14F-4D97-AF65-F5344CB8AC3E}">
        <p14:creationId xmlns:p14="http://schemas.microsoft.com/office/powerpoint/2010/main" val="28693989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wipe(left)">
                                      <p:cBhvr>
                                        <p:cTn id="7" dur="500"/>
                                        <p:tgtEl>
                                          <p:spTgt spid="74755">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4755">
                                            <p:txEl>
                                              <p:pRg st="1" end="1"/>
                                            </p:txEl>
                                          </p:spTgt>
                                        </p:tgtEl>
                                        <p:attrNameLst>
                                          <p:attrName>style.visibility</p:attrName>
                                        </p:attrNameLst>
                                      </p:cBhvr>
                                      <p:to>
                                        <p:strVal val="visible"/>
                                      </p:to>
                                    </p:set>
                                    <p:animEffect transition="in" filter="wipe(left)">
                                      <p:cBhvr>
                                        <p:cTn id="11" dur="500"/>
                                        <p:tgtEl>
                                          <p:spTgt spid="74755">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4755">
                                            <p:txEl>
                                              <p:pRg st="2" end="2"/>
                                            </p:txEl>
                                          </p:spTgt>
                                        </p:tgtEl>
                                        <p:attrNameLst>
                                          <p:attrName>style.visibility</p:attrName>
                                        </p:attrNameLst>
                                      </p:cBhvr>
                                      <p:to>
                                        <p:strVal val="visible"/>
                                      </p:to>
                                    </p:set>
                                    <p:animEffect transition="in" filter="wipe(left)">
                                      <p:cBhvr>
                                        <p:cTn id="16" dur="500"/>
                                        <p:tgtEl>
                                          <p:spTgt spid="74755">
                                            <p:txEl>
                                              <p:pRg st="2" end="2"/>
                                            </p:txEl>
                                          </p:spTgt>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74755">
                                            <p:txEl>
                                              <p:pRg st="3" end="3"/>
                                            </p:txEl>
                                          </p:spTgt>
                                        </p:tgtEl>
                                        <p:attrNameLst>
                                          <p:attrName>style.visibility</p:attrName>
                                        </p:attrNameLst>
                                      </p:cBhvr>
                                      <p:to>
                                        <p:strVal val="visible"/>
                                      </p:to>
                                    </p:set>
                                    <p:animEffect transition="in" filter="wipe(left)">
                                      <p:cBhvr>
                                        <p:cTn id="20" dur="500"/>
                                        <p:tgtEl>
                                          <p:spTgt spid="74755">
                                            <p:txEl>
                                              <p:pRg st="3" end="3"/>
                                            </p:txEl>
                                          </p:spTgt>
                                        </p:tgtEl>
                                      </p:cBhvr>
                                    </p:animEffect>
                                  </p:childTnLst>
                                </p:cTn>
                              </p:par>
                            </p:childTnLst>
                          </p:cTn>
                        </p:par>
                        <p:par>
                          <p:cTn id="21" fill="hold" nodeType="afterGroup">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74755">
                                            <p:txEl>
                                              <p:pRg st="4" end="4"/>
                                            </p:txEl>
                                          </p:spTgt>
                                        </p:tgtEl>
                                        <p:attrNameLst>
                                          <p:attrName>style.visibility</p:attrName>
                                        </p:attrNameLst>
                                      </p:cBhvr>
                                      <p:to>
                                        <p:strVal val="visible"/>
                                      </p:to>
                                    </p:set>
                                    <p:animEffect transition="in" filter="wipe(left)">
                                      <p:cBhvr>
                                        <p:cTn id="24" dur="500"/>
                                        <p:tgtEl>
                                          <p:spTgt spid="74755">
                                            <p:txEl>
                                              <p:pRg st="4" end="4"/>
                                            </p:txEl>
                                          </p:spTgt>
                                        </p:tgtEl>
                                      </p:cBhvr>
                                    </p:animEffect>
                                  </p:childTnLst>
                                </p:cTn>
                              </p:par>
                            </p:childTnLst>
                          </p:cTn>
                        </p:par>
                        <p:par>
                          <p:cTn id="25" fill="hold" nodeType="afterGroup">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74755">
                                            <p:txEl>
                                              <p:pRg st="5" end="5"/>
                                            </p:txEl>
                                          </p:spTgt>
                                        </p:tgtEl>
                                        <p:attrNameLst>
                                          <p:attrName>style.visibility</p:attrName>
                                        </p:attrNameLst>
                                      </p:cBhvr>
                                      <p:to>
                                        <p:strVal val="visible"/>
                                      </p:to>
                                    </p:set>
                                    <p:animEffect transition="in" filter="wipe(left)">
                                      <p:cBhvr>
                                        <p:cTn id="28" dur="500"/>
                                        <p:tgtEl>
                                          <p:spTgt spid="74755">
                                            <p:txEl>
                                              <p:pRg st="5" end="5"/>
                                            </p:txEl>
                                          </p:spTgt>
                                        </p:tgtEl>
                                      </p:cBhvr>
                                    </p:animEffect>
                                  </p:childTnLst>
                                </p:cTn>
                              </p:par>
                            </p:childTnLst>
                          </p:cTn>
                        </p:par>
                        <p:par>
                          <p:cTn id="29" fill="hold" nodeType="afterGroup">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74755">
                                            <p:txEl>
                                              <p:pRg st="6" end="6"/>
                                            </p:txEl>
                                          </p:spTgt>
                                        </p:tgtEl>
                                        <p:attrNameLst>
                                          <p:attrName>style.visibility</p:attrName>
                                        </p:attrNameLst>
                                      </p:cBhvr>
                                      <p:to>
                                        <p:strVal val="visible"/>
                                      </p:to>
                                    </p:set>
                                    <p:animEffect transition="in" filter="wipe(left)">
                                      <p:cBhvr>
                                        <p:cTn id="32" dur="500"/>
                                        <p:tgtEl>
                                          <p:spTgt spid="74755">
                                            <p:txEl>
                                              <p:pRg st="6" end="6"/>
                                            </p:txEl>
                                          </p:spTgt>
                                        </p:tgtEl>
                                      </p:cBhvr>
                                    </p:animEffect>
                                  </p:childTnLst>
                                </p:cTn>
                              </p:par>
                            </p:childTnLst>
                          </p:cTn>
                        </p:par>
                        <p:par>
                          <p:cTn id="33" fill="hold" nodeType="afterGroup">
                            <p:stCondLst>
                              <p:cond delay="2500"/>
                            </p:stCondLst>
                            <p:childTnLst>
                              <p:par>
                                <p:cTn id="34" presetID="22" presetClass="entr" presetSubtype="8" fill="hold" grpId="0" nodeType="afterEffect">
                                  <p:stCondLst>
                                    <p:cond delay="0"/>
                                  </p:stCondLst>
                                  <p:childTnLst>
                                    <p:set>
                                      <p:cBhvr>
                                        <p:cTn id="35" dur="1" fill="hold">
                                          <p:stCondLst>
                                            <p:cond delay="0"/>
                                          </p:stCondLst>
                                        </p:cTn>
                                        <p:tgtEl>
                                          <p:spTgt spid="74755">
                                            <p:txEl>
                                              <p:pRg st="7" end="7"/>
                                            </p:txEl>
                                          </p:spTgt>
                                        </p:tgtEl>
                                        <p:attrNameLst>
                                          <p:attrName>style.visibility</p:attrName>
                                        </p:attrNameLst>
                                      </p:cBhvr>
                                      <p:to>
                                        <p:strVal val="visible"/>
                                      </p:to>
                                    </p:set>
                                    <p:animEffect transition="in" filter="wipe(left)">
                                      <p:cBhvr>
                                        <p:cTn id="36" dur="500"/>
                                        <p:tgtEl>
                                          <p:spTgt spid="74755">
                                            <p:txEl>
                                              <p:pRg st="7" end="7"/>
                                            </p:txEl>
                                          </p:spTgt>
                                        </p:tgtEl>
                                      </p:cBhvr>
                                    </p:animEffect>
                                  </p:childTnLst>
                                </p:cTn>
                              </p:par>
                            </p:childTnLst>
                          </p:cTn>
                        </p:par>
                        <p:par>
                          <p:cTn id="37" fill="hold" nodeType="afterGroup">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74755">
                                            <p:txEl>
                                              <p:pRg st="8" end="8"/>
                                            </p:txEl>
                                          </p:spTgt>
                                        </p:tgtEl>
                                        <p:attrNameLst>
                                          <p:attrName>style.visibility</p:attrName>
                                        </p:attrNameLst>
                                      </p:cBhvr>
                                      <p:to>
                                        <p:strVal val="visible"/>
                                      </p:to>
                                    </p:set>
                                    <p:animEffect transition="in" filter="wipe(left)">
                                      <p:cBhvr>
                                        <p:cTn id="40" dur="500"/>
                                        <p:tgtEl>
                                          <p:spTgt spid="74755">
                                            <p:txEl>
                                              <p:pRg st="8" end="8"/>
                                            </p:txEl>
                                          </p:spTgt>
                                        </p:tgtEl>
                                      </p:cBhvr>
                                    </p:animEffect>
                                  </p:childTnLst>
                                </p:cTn>
                              </p:par>
                            </p:childTnLst>
                          </p:cTn>
                        </p:par>
                        <p:par>
                          <p:cTn id="41" fill="hold" nodeType="afterGroup">
                            <p:stCondLst>
                              <p:cond delay="3500"/>
                            </p:stCondLst>
                            <p:childTnLst>
                              <p:par>
                                <p:cTn id="42" presetID="22" presetClass="entr" presetSubtype="8" fill="hold" grpId="0" nodeType="afterEffect">
                                  <p:stCondLst>
                                    <p:cond delay="0"/>
                                  </p:stCondLst>
                                  <p:childTnLst>
                                    <p:set>
                                      <p:cBhvr>
                                        <p:cTn id="43" dur="1" fill="hold">
                                          <p:stCondLst>
                                            <p:cond delay="0"/>
                                          </p:stCondLst>
                                        </p:cTn>
                                        <p:tgtEl>
                                          <p:spTgt spid="74755">
                                            <p:txEl>
                                              <p:pRg st="9" end="9"/>
                                            </p:txEl>
                                          </p:spTgt>
                                        </p:tgtEl>
                                        <p:attrNameLst>
                                          <p:attrName>style.visibility</p:attrName>
                                        </p:attrNameLst>
                                      </p:cBhvr>
                                      <p:to>
                                        <p:strVal val="visible"/>
                                      </p:to>
                                    </p:set>
                                    <p:animEffect transition="in" filter="wipe(left)">
                                      <p:cBhvr>
                                        <p:cTn id="44" dur="500"/>
                                        <p:tgtEl>
                                          <p:spTgt spid="7475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示例程序</a:t>
            </a:r>
          </a:p>
        </p:txBody>
      </p:sp>
      <p:sp>
        <p:nvSpPr>
          <p:cNvPr id="6" name="Rectangle 3"/>
          <p:cNvSpPr>
            <a:spLocks noGrp="1" noChangeArrowheads="1"/>
          </p:cNvSpPr>
          <p:nvPr>
            <p:ph idx="1"/>
          </p:nvPr>
        </p:nvSpPr>
        <p:spPr>
          <a:xfrm>
            <a:off x="2665336" y="1589470"/>
            <a:ext cx="6218603" cy="5871210"/>
          </a:xfrm>
        </p:spPr>
        <p:style>
          <a:lnRef idx="2">
            <a:schemeClr val="accent1"/>
          </a:lnRef>
          <a:fillRef idx="1">
            <a:schemeClr val="lt1"/>
          </a:fillRef>
          <a:effectRef idx="0">
            <a:schemeClr val="accent1"/>
          </a:effectRef>
          <a:fontRef idx="minor">
            <a:schemeClr val="dk1"/>
          </a:fontRef>
        </p:style>
        <p:txBody>
          <a:bodyPr>
            <a:noAutofit/>
          </a:bodyPr>
          <a:lstStyle/>
          <a:p>
            <a:pPr algn="just" eaLnBrk="1" hangingPunct="1">
              <a:lnSpc>
                <a:spcPct val="80000"/>
              </a:lnSpc>
              <a:spcBef>
                <a:spcPct val="0"/>
              </a:spcBef>
              <a:buFont typeface="Wingdings" panose="05000000000000000000" pitchFamily="2" charset="2"/>
              <a:buNone/>
            </a:pPr>
            <a:r>
              <a:rPr lang="en-US" altLang="zh-CN" sz="2646" dirty="0"/>
              <a:t>void quicksort (m, n);</a:t>
            </a:r>
          </a:p>
          <a:p>
            <a:pPr algn="just" eaLnBrk="1" hangingPunct="1">
              <a:lnSpc>
                <a:spcPct val="80000"/>
              </a:lnSpc>
              <a:spcBef>
                <a:spcPct val="0"/>
              </a:spcBef>
              <a:buFont typeface="Wingdings" panose="05000000000000000000" pitchFamily="2" charset="2"/>
              <a:buNone/>
            </a:pPr>
            <a:r>
              <a:rPr lang="en-US" altLang="zh-CN" sz="2646" dirty="0" err="1"/>
              <a:t>int</a:t>
            </a:r>
            <a:r>
              <a:rPr lang="en-US" altLang="zh-CN" sz="2646" dirty="0"/>
              <a:t> m, n;</a:t>
            </a:r>
          </a:p>
          <a:p>
            <a:pPr algn="just" eaLnBrk="1" hangingPunct="1">
              <a:lnSpc>
                <a:spcPct val="80000"/>
              </a:lnSpc>
              <a:spcBef>
                <a:spcPct val="0"/>
              </a:spcBef>
              <a:buFont typeface="Wingdings" panose="05000000000000000000" pitchFamily="2" charset="2"/>
              <a:buNone/>
            </a:pPr>
            <a:r>
              <a:rPr lang="en-US" altLang="zh-CN" sz="2646" dirty="0"/>
              <a:t>	{</a:t>
            </a:r>
          </a:p>
          <a:p>
            <a:pPr algn="just" eaLnBrk="1" hangingPunct="1">
              <a:lnSpc>
                <a:spcPct val="80000"/>
              </a:lnSpc>
              <a:spcBef>
                <a:spcPct val="0"/>
              </a:spcBef>
              <a:buFont typeface="Wingdings" panose="05000000000000000000" pitchFamily="2" charset="2"/>
              <a:buNone/>
            </a:pPr>
            <a:r>
              <a:rPr lang="en-US" altLang="zh-CN" sz="2646" dirty="0"/>
              <a:t>		</a:t>
            </a:r>
            <a:r>
              <a:rPr lang="en-US" altLang="zh-CN" sz="2646" dirty="0" err="1"/>
              <a:t>int</a:t>
            </a:r>
            <a:r>
              <a:rPr lang="en-US" altLang="zh-CN" sz="2646" dirty="0"/>
              <a:t> </a:t>
            </a:r>
            <a:r>
              <a:rPr lang="en-US" altLang="zh-CN" sz="2646" dirty="0" err="1"/>
              <a:t>i</a:t>
            </a:r>
            <a:r>
              <a:rPr lang="en-US" altLang="zh-CN" sz="2646" dirty="0"/>
              <a:t>, j;</a:t>
            </a:r>
          </a:p>
          <a:p>
            <a:pPr algn="just" eaLnBrk="1" hangingPunct="1">
              <a:lnSpc>
                <a:spcPct val="80000"/>
              </a:lnSpc>
              <a:spcBef>
                <a:spcPct val="0"/>
              </a:spcBef>
              <a:buFont typeface="Wingdings" panose="05000000000000000000" pitchFamily="2" charset="2"/>
              <a:buNone/>
            </a:pPr>
            <a:r>
              <a:rPr lang="en-US" altLang="zh-CN" sz="2646" dirty="0"/>
              <a:t>		</a:t>
            </a:r>
            <a:r>
              <a:rPr lang="en-US" altLang="zh-CN" sz="2646" dirty="0" err="1"/>
              <a:t>int</a:t>
            </a:r>
            <a:r>
              <a:rPr lang="en-US" altLang="zh-CN" sz="2646" dirty="0"/>
              <a:t> v, x;</a:t>
            </a:r>
          </a:p>
          <a:p>
            <a:pPr algn="just" eaLnBrk="1" hangingPunct="1">
              <a:lnSpc>
                <a:spcPct val="80000"/>
              </a:lnSpc>
              <a:spcBef>
                <a:spcPct val="0"/>
              </a:spcBef>
              <a:buFont typeface="Wingdings" panose="05000000000000000000" pitchFamily="2" charset="2"/>
              <a:buNone/>
            </a:pPr>
            <a:r>
              <a:rPr lang="en-US" altLang="zh-CN" sz="2646" dirty="0"/>
              <a:t>		if (n&lt;=m) return;</a:t>
            </a:r>
          </a:p>
          <a:p>
            <a:pPr algn="just" eaLnBrk="1" hangingPunct="1">
              <a:lnSpc>
                <a:spcPct val="80000"/>
              </a:lnSpc>
              <a:spcBef>
                <a:spcPct val="0"/>
              </a:spcBef>
              <a:buFont typeface="Wingdings" panose="05000000000000000000" pitchFamily="2" charset="2"/>
              <a:buNone/>
            </a:pPr>
            <a:r>
              <a:rPr lang="en-US" altLang="zh-CN" sz="2646" dirty="0"/>
              <a:t>		</a:t>
            </a:r>
            <a:r>
              <a:rPr lang="en-US" altLang="zh-CN" sz="2646" dirty="0">
                <a:solidFill>
                  <a:srgbClr val="009644"/>
                </a:solidFill>
              </a:rPr>
              <a:t>/* fragment begins here*/</a:t>
            </a:r>
          </a:p>
          <a:p>
            <a:pPr algn="just" eaLnBrk="1" hangingPunct="1">
              <a:lnSpc>
                <a:spcPct val="80000"/>
              </a:lnSpc>
              <a:spcBef>
                <a:spcPct val="0"/>
              </a:spcBef>
              <a:buFont typeface="Wingdings" panose="05000000000000000000" pitchFamily="2" charset="2"/>
              <a:buNone/>
            </a:pPr>
            <a:r>
              <a:rPr lang="en-US" altLang="zh-CN" sz="2646" dirty="0"/>
              <a:t>		</a:t>
            </a:r>
            <a:r>
              <a:rPr lang="en-US" altLang="zh-CN" sz="2646" dirty="0" err="1"/>
              <a:t>i</a:t>
            </a:r>
            <a:r>
              <a:rPr lang="en-US" altLang="zh-CN" sz="2646" dirty="0"/>
              <a:t>=m-1; j=n; v=a [n];</a:t>
            </a:r>
          </a:p>
          <a:p>
            <a:pPr algn="just" eaLnBrk="1" hangingPunct="1">
              <a:lnSpc>
                <a:spcPct val="80000"/>
              </a:lnSpc>
              <a:spcBef>
                <a:spcPct val="0"/>
              </a:spcBef>
              <a:buFont typeface="Wingdings" panose="05000000000000000000" pitchFamily="2" charset="2"/>
              <a:buNone/>
            </a:pPr>
            <a:r>
              <a:rPr lang="en-US" altLang="zh-CN" sz="2646" dirty="0"/>
              <a:t>		</a:t>
            </a:r>
            <a:r>
              <a:rPr lang="en-US" altLang="zh-CN" sz="2646" dirty="0">
                <a:solidFill>
                  <a:srgbClr val="0000FF"/>
                </a:solidFill>
              </a:rPr>
              <a:t>while (1) {</a:t>
            </a:r>
          </a:p>
          <a:p>
            <a:pPr algn="just" eaLnBrk="1" hangingPunct="1">
              <a:lnSpc>
                <a:spcPct val="80000"/>
              </a:lnSpc>
              <a:spcBef>
                <a:spcPct val="0"/>
              </a:spcBef>
              <a:buFont typeface="Wingdings" panose="05000000000000000000" pitchFamily="2" charset="2"/>
              <a:buNone/>
            </a:pPr>
            <a:r>
              <a:rPr lang="en-US" altLang="zh-CN" sz="2646" dirty="0">
                <a:solidFill>
                  <a:srgbClr val="0000FF"/>
                </a:solidFill>
              </a:rPr>
              <a:t>			do  </a:t>
            </a:r>
            <a:r>
              <a:rPr lang="en-US" altLang="zh-CN" sz="2646" dirty="0" err="1">
                <a:solidFill>
                  <a:srgbClr val="0000FF"/>
                </a:solidFill>
              </a:rPr>
              <a:t>i</a:t>
            </a:r>
            <a:r>
              <a:rPr lang="en-US" altLang="zh-CN" sz="2646" dirty="0">
                <a:solidFill>
                  <a:srgbClr val="0000FF"/>
                </a:solidFill>
              </a:rPr>
              <a:t>=i+1;  while (a [</a:t>
            </a:r>
            <a:r>
              <a:rPr lang="en-US" altLang="zh-CN" sz="2646" dirty="0" err="1">
                <a:solidFill>
                  <a:srgbClr val="0000FF"/>
                </a:solidFill>
              </a:rPr>
              <a:t>i</a:t>
            </a:r>
            <a:r>
              <a:rPr lang="en-US" altLang="zh-CN" sz="2646" dirty="0">
                <a:solidFill>
                  <a:srgbClr val="0000FF"/>
                </a:solidFill>
              </a:rPr>
              <a:t>]&lt;v);</a:t>
            </a:r>
          </a:p>
          <a:p>
            <a:pPr algn="just" eaLnBrk="1" hangingPunct="1">
              <a:lnSpc>
                <a:spcPct val="80000"/>
              </a:lnSpc>
              <a:spcBef>
                <a:spcPct val="0"/>
              </a:spcBef>
              <a:buFont typeface="Wingdings" panose="05000000000000000000" pitchFamily="2" charset="2"/>
              <a:buNone/>
            </a:pPr>
            <a:r>
              <a:rPr lang="en-US" altLang="zh-CN" sz="2646" dirty="0">
                <a:solidFill>
                  <a:srgbClr val="0000FF"/>
                </a:solidFill>
              </a:rPr>
              <a:t>			do  j=j-1;   while (a [j]&gt;v);</a:t>
            </a:r>
          </a:p>
          <a:p>
            <a:pPr algn="just" eaLnBrk="1" hangingPunct="1">
              <a:lnSpc>
                <a:spcPct val="80000"/>
              </a:lnSpc>
              <a:spcBef>
                <a:spcPct val="0"/>
              </a:spcBef>
              <a:buFont typeface="Wingdings" panose="05000000000000000000" pitchFamily="2" charset="2"/>
              <a:buNone/>
            </a:pPr>
            <a:r>
              <a:rPr lang="en-US" altLang="zh-CN" sz="2646" dirty="0">
                <a:solidFill>
                  <a:srgbClr val="0000FF"/>
                </a:solidFill>
              </a:rPr>
              <a:t>			if (</a:t>
            </a:r>
            <a:r>
              <a:rPr lang="en-US" altLang="zh-CN" sz="2646" dirty="0" err="1">
                <a:solidFill>
                  <a:srgbClr val="0000FF"/>
                </a:solidFill>
              </a:rPr>
              <a:t>i</a:t>
            </a:r>
            <a:r>
              <a:rPr lang="en-US" altLang="zh-CN" sz="2646" dirty="0">
                <a:solidFill>
                  <a:srgbClr val="0000FF"/>
                </a:solidFill>
              </a:rPr>
              <a:t>&gt;=j) break;</a:t>
            </a:r>
          </a:p>
          <a:p>
            <a:pPr algn="just" eaLnBrk="1" hangingPunct="1">
              <a:lnSpc>
                <a:spcPct val="80000"/>
              </a:lnSpc>
              <a:spcBef>
                <a:spcPct val="0"/>
              </a:spcBef>
              <a:buFont typeface="Wingdings" panose="05000000000000000000" pitchFamily="2" charset="2"/>
              <a:buNone/>
            </a:pPr>
            <a:r>
              <a:rPr lang="en-US" altLang="zh-CN" sz="2646" dirty="0">
                <a:solidFill>
                  <a:srgbClr val="0000FF"/>
                </a:solidFill>
              </a:rPr>
              <a:t>			x=a [</a:t>
            </a:r>
            <a:r>
              <a:rPr lang="en-US" altLang="zh-CN" sz="2646" dirty="0" err="1">
                <a:solidFill>
                  <a:srgbClr val="0000FF"/>
                </a:solidFill>
              </a:rPr>
              <a:t>i</a:t>
            </a:r>
            <a:r>
              <a:rPr lang="en-US" altLang="zh-CN" sz="2646" dirty="0">
                <a:solidFill>
                  <a:srgbClr val="0000FF"/>
                </a:solidFill>
              </a:rPr>
              <a:t>]; a[</a:t>
            </a:r>
            <a:r>
              <a:rPr lang="en-US" altLang="zh-CN" sz="2646" dirty="0" err="1">
                <a:solidFill>
                  <a:srgbClr val="0000FF"/>
                </a:solidFill>
              </a:rPr>
              <a:t>i</a:t>
            </a:r>
            <a:r>
              <a:rPr lang="en-US" altLang="zh-CN" sz="2646" dirty="0">
                <a:solidFill>
                  <a:srgbClr val="0000FF"/>
                </a:solidFill>
              </a:rPr>
              <a:t>]=a [j]; a[j]=x;</a:t>
            </a:r>
          </a:p>
          <a:p>
            <a:pPr algn="just" eaLnBrk="1" hangingPunct="1">
              <a:lnSpc>
                <a:spcPct val="80000"/>
              </a:lnSpc>
              <a:spcBef>
                <a:spcPct val="0"/>
              </a:spcBef>
              <a:buFont typeface="Wingdings" panose="05000000000000000000" pitchFamily="2" charset="2"/>
              <a:buNone/>
            </a:pPr>
            <a:r>
              <a:rPr lang="en-US" altLang="zh-CN" sz="2646" dirty="0">
                <a:solidFill>
                  <a:srgbClr val="0000FF"/>
                </a:solidFill>
              </a:rPr>
              <a:t>	  }</a:t>
            </a:r>
          </a:p>
          <a:p>
            <a:pPr algn="just" eaLnBrk="1" hangingPunct="1">
              <a:lnSpc>
                <a:spcPct val="80000"/>
              </a:lnSpc>
              <a:spcBef>
                <a:spcPct val="0"/>
              </a:spcBef>
              <a:buFont typeface="Wingdings" panose="05000000000000000000" pitchFamily="2" charset="2"/>
              <a:buNone/>
            </a:pPr>
            <a:r>
              <a:rPr lang="en-US" altLang="zh-CN" sz="2646" dirty="0"/>
              <a:t>	  x=a[</a:t>
            </a:r>
            <a:r>
              <a:rPr lang="en-US" altLang="zh-CN" sz="2646" dirty="0" err="1"/>
              <a:t>i</a:t>
            </a:r>
            <a:r>
              <a:rPr lang="en-US" altLang="zh-CN" sz="2646" dirty="0"/>
              <a:t>]; a[</a:t>
            </a:r>
            <a:r>
              <a:rPr lang="en-US" altLang="zh-CN" sz="2646" dirty="0" err="1"/>
              <a:t>i</a:t>
            </a:r>
            <a:r>
              <a:rPr lang="en-US" altLang="zh-CN" sz="2646" dirty="0"/>
              <a:t>]=a [n]; a [n]=x;</a:t>
            </a:r>
          </a:p>
          <a:p>
            <a:pPr algn="just" eaLnBrk="1" hangingPunct="1">
              <a:lnSpc>
                <a:spcPct val="80000"/>
              </a:lnSpc>
              <a:spcBef>
                <a:spcPct val="0"/>
              </a:spcBef>
              <a:buFont typeface="Wingdings" panose="05000000000000000000" pitchFamily="2" charset="2"/>
              <a:buNone/>
            </a:pPr>
            <a:r>
              <a:rPr lang="en-US" altLang="zh-CN" sz="2646" dirty="0"/>
              <a:t>	  </a:t>
            </a:r>
            <a:r>
              <a:rPr lang="en-US" altLang="zh-CN" sz="2646" dirty="0">
                <a:solidFill>
                  <a:srgbClr val="009644"/>
                </a:solidFill>
              </a:rPr>
              <a:t>/*fragment ends here*/</a:t>
            </a:r>
          </a:p>
          <a:p>
            <a:pPr algn="just" eaLnBrk="1" hangingPunct="1">
              <a:lnSpc>
                <a:spcPct val="80000"/>
              </a:lnSpc>
              <a:spcBef>
                <a:spcPct val="0"/>
              </a:spcBef>
              <a:buFont typeface="Wingdings" panose="05000000000000000000" pitchFamily="2" charset="2"/>
              <a:buNone/>
            </a:pPr>
            <a:r>
              <a:rPr lang="en-US" altLang="zh-CN" sz="2646" dirty="0"/>
              <a:t>	  quicksort (m, j); quicksort (i+1, n);</a:t>
            </a:r>
          </a:p>
          <a:p>
            <a:pPr algn="just" eaLnBrk="1" hangingPunct="1">
              <a:lnSpc>
                <a:spcPct val="80000"/>
              </a:lnSpc>
              <a:spcBef>
                <a:spcPct val="0"/>
              </a:spcBef>
              <a:buFont typeface="Wingdings" panose="05000000000000000000" pitchFamily="2" charset="2"/>
              <a:buNone/>
            </a:pPr>
            <a:r>
              <a:rPr lang="en-US" altLang="zh-CN" sz="2646" dirty="0"/>
              <a:t>}</a:t>
            </a:r>
            <a:endParaRPr lang="zh-CN" altLang="en-US" sz="2646" dirty="0"/>
          </a:p>
        </p:txBody>
      </p:sp>
    </p:spTree>
    <p:extLst>
      <p:ext uri="{BB962C8B-B14F-4D97-AF65-F5344CB8AC3E}">
        <p14:creationId xmlns:p14="http://schemas.microsoft.com/office/powerpoint/2010/main" val="887053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42"/>
          <p:cNvGrpSpPr>
            <a:grpSpLocks/>
          </p:cNvGrpSpPr>
          <p:nvPr/>
        </p:nvGrpSpPr>
        <p:grpSpPr bwMode="auto">
          <a:xfrm>
            <a:off x="198945" y="684221"/>
            <a:ext cx="9323599" cy="6131736"/>
            <a:chOff x="576" y="528"/>
            <a:chExt cx="5328" cy="3504"/>
          </a:xfrm>
        </p:grpSpPr>
        <p:sp>
          <p:nvSpPr>
            <p:cNvPr id="29" name="Rectangle 3"/>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4"/>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21"/>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r>
                <a:rPr kumimoji="1" lang="en-US" altLang="zh-CN" sz="2205" b="1" dirty="0">
                  <a:solidFill>
                    <a:prstClr val="black"/>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&lt;v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p>
          </p:txBody>
        </p:sp>
        <p:sp>
          <p:nvSpPr>
            <p:cNvPr id="32" name="Rectangle 22"/>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23"/>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24"/>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25"/>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26"/>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27"/>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:=4*j</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4*j</a:t>
              </a:r>
              <a:r>
                <a:rPr kumimoji="1" lang="en-US" altLang="zh-CN" sz="2205" b="1" baseline="-30000" dirty="0">
                  <a:solidFill>
                    <a:srgbClr val="FF3300"/>
                  </a:solidFill>
                  <a:latin typeface="Times New Roman" panose="02020603050405020304" pitchFamily="18" charset="0"/>
                  <a:ea typeface="宋体" panose="02010600030101010101" pitchFamily="2" charset="-122"/>
                </a:rPr>
                <a:t> </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28"/>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29"/>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4*n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30"/>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32"/>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33"/>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34"/>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37"/>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38"/>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39"/>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40"/>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41"/>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中间代码程序段 </a:t>
            </a:r>
          </a:p>
        </p:txBody>
      </p:sp>
    </p:spTree>
    <p:extLst>
      <p:ext uri="{BB962C8B-B14F-4D97-AF65-F5344CB8AC3E}">
        <p14:creationId xmlns:p14="http://schemas.microsoft.com/office/powerpoint/2010/main" val="2088458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中间代码程序段 </a:t>
            </a:r>
          </a:p>
        </p:txBody>
      </p:sp>
      <p:grpSp>
        <p:nvGrpSpPr>
          <p:cNvPr id="28" name="Group 3"/>
          <p:cNvGrpSpPr>
            <a:grpSpLocks/>
          </p:cNvGrpSpPr>
          <p:nvPr/>
        </p:nvGrpSpPr>
        <p:grpSpPr bwMode="auto">
          <a:xfrm>
            <a:off x="198945" y="684221"/>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25000" dirty="0">
                  <a:solidFill>
                    <a:srgbClr val="FF3300"/>
                  </a:solidFill>
                  <a:latin typeface="Times New Roman" panose="02020603050405020304" pitchFamily="18" charset="0"/>
                  <a:ea typeface="宋体" panose="02010600030101010101" pitchFamily="2" charset="-122"/>
                </a:rPr>
                <a:t>1</a:t>
              </a:r>
              <a:r>
                <a:rPr kumimoji="1" lang="en-US" altLang="zh-CN" sz="2205" b="1" dirty="0">
                  <a:solidFill>
                    <a:srgbClr val="FF3300"/>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v:=a[T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25000">
                  <a:solidFill>
                    <a:srgbClr val="FF3300"/>
                  </a:solidFill>
                  <a:latin typeface="Times New Roman" panose="02020603050405020304" pitchFamily="18" charset="0"/>
                  <a:ea typeface="宋体" panose="02010600030101010101" pitchFamily="2" charset="-122"/>
                </a:rPr>
                <a:t>2</a:t>
              </a:r>
              <a:r>
                <a:rPr kumimoji="1" lang="en-US" altLang="zh-CN" sz="2205" b="1">
                  <a:solidFill>
                    <a:srgbClr val="FF3300"/>
                  </a:solidFill>
                  <a:latin typeface="Times New Roman" panose="02020603050405020304" pitchFamily="18" charset="0"/>
                  <a:ea typeface="宋体" panose="02010600030101010101" pitchFamily="2" charset="-122"/>
                </a:rPr>
                <a:t>:=4*i</a:t>
              </a:r>
              <a:r>
                <a:rPr kumimoji="1" lang="en-US" altLang="zh-CN" sz="2205" b="1">
                  <a:solidFill>
                    <a:prstClr val="black"/>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25000">
                  <a:solidFill>
                    <a:srgbClr val="FF3300"/>
                  </a:solidFill>
                  <a:latin typeface="Times New Roman" panose="02020603050405020304" pitchFamily="18" charset="0"/>
                  <a:ea typeface="宋体" panose="02010600030101010101" pitchFamily="2" charset="-122"/>
                </a:rPr>
                <a:t>4</a:t>
              </a:r>
              <a:r>
                <a:rPr kumimoji="1" lang="en-US" altLang="zh-CN" sz="2205" b="1">
                  <a:solidFill>
                    <a:srgbClr val="FF3300"/>
                  </a:solidFill>
                  <a:latin typeface="Times New Roman" panose="02020603050405020304" pitchFamily="18" charset="0"/>
                  <a:ea typeface="宋体" panose="02010600030101010101" pitchFamily="2" charset="-122"/>
                </a:rPr>
                <a:t>:=4*j</a:t>
              </a:r>
              <a:r>
                <a:rPr kumimoji="1" lang="en-US" altLang="zh-CN" sz="2205" b="1">
                  <a:solidFill>
                    <a:prstClr val="black"/>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6</a:t>
              </a:r>
              <a:r>
                <a:rPr kumimoji="1" lang="en-US" altLang="zh-CN" sz="2205" b="1" dirty="0">
                  <a:solidFill>
                    <a:srgbClr val="FF3300"/>
                  </a:solidFill>
                  <a:latin typeface="Times New Roman" panose="02020603050405020304" pitchFamily="18" charset="0"/>
                  <a:ea typeface="宋体" panose="02010600030101010101" pitchFamily="2" charset="-122"/>
                </a:rPr>
                <a:t>:=4*</a:t>
              </a:r>
              <a:r>
                <a:rPr kumimoji="1" lang="en-US" altLang="zh-CN" sz="2205" b="1" dirty="0" err="1">
                  <a:solidFill>
                    <a:srgbClr val="FF3300"/>
                  </a:solidFill>
                  <a:latin typeface="Times New Roman" panose="02020603050405020304" pitchFamily="18" charset="0"/>
                  <a:ea typeface="宋体" panose="02010600030101010101" pitchFamily="2" charset="-122"/>
                </a:rPr>
                <a:t>i</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7</a:t>
              </a:r>
              <a:r>
                <a:rPr kumimoji="1" lang="en-US" altLang="zh-CN" sz="2205" b="1" dirty="0">
                  <a:solidFill>
                    <a:srgbClr val="FF3300"/>
                  </a:solidFill>
                  <a:latin typeface="Times New Roman" panose="02020603050405020304" pitchFamily="18" charset="0"/>
                  <a:ea typeface="宋体" panose="02010600030101010101" pitchFamily="2" charset="-122"/>
                </a:rPr>
                <a:t>:=4*</a:t>
              </a:r>
              <a:r>
                <a:rPr kumimoji="1" lang="en-US" altLang="zh-CN" sz="2205" b="1" dirty="0" err="1">
                  <a:solidFill>
                    <a:srgbClr val="FF3300"/>
                  </a:solidFill>
                  <a:latin typeface="Times New Roman" panose="02020603050405020304" pitchFamily="18" charset="0"/>
                  <a:ea typeface="宋体" panose="02010600030101010101" pitchFamily="2" charset="-122"/>
                </a:rPr>
                <a:t>i</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8</a:t>
              </a:r>
              <a:r>
                <a:rPr kumimoji="1" lang="en-US" altLang="zh-CN" sz="2205" b="1" dirty="0">
                  <a:solidFill>
                    <a:srgbClr val="FF3300"/>
                  </a:solidFill>
                  <a:latin typeface="Times New Roman" panose="02020603050405020304" pitchFamily="18" charset="0"/>
                  <a:ea typeface="宋体" panose="02010600030101010101" pitchFamily="2" charset="-122"/>
                </a:rPr>
                <a:t>:=4*j</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10</a:t>
              </a:r>
              <a:r>
                <a:rPr kumimoji="1" lang="en-US" altLang="zh-CN" sz="2205" b="1" dirty="0">
                  <a:solidFill>
                    <a:srgbClr val="FF3300"/>
                  </a:solidFill>
                  <a:latin typeface="Times New Roman" panose="02020603050405020304" pitchFamily="18" charset="0"/>
                  <a:ea typeface="宋体" panose="02010600030101010101" pitchFamily="2" charset="-122"/>
                </a:rPr>
                <a:t>:= 4*j</a:t>
              </a:r>
              <a:r>
                <a:rPr kumimoji="1" lang="en-US" altLang="zh-CN" sz="2205" b="1" baseline="-30000" dirty="0">
                  <a:solidFill>
                    <a:srgbClr val="FF3300"/>
                  </a:solidFill>
                  <a:latin typeface="Times New Roman" panose="02020603050405020304" pitchFamily="18" charset="0"/>
                  <a:ea typeface="宋体" panose="02010600030101010101" pitchFamily="2" charset="-122"/>
                </a:rPr>
                <a:t> </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11</a:t>
              </a:r>
              <a:r>
                <a:rPr kumimoji="1" lang="en-US" altLang="zh-CN" sz="2205" b="1" dirty="0">
                  <a:solidFill>
                    <a:srgbClr val="FF3300"/>
                  </a:solidFill>
                  <a:latin typeface="Times New Roman" panose="02020603050405020304" pitchFamily="18" charset="0"/>
                  <a:ea typeface="宋体" panose="02010600030101010101" pitchFamily="2" charset="-122"/>
                </a:rPr>
                <a:t>:=4*</a:t>
              </a:r>
              <a:r>
                <a:rPr kumimoji="1" lang="en-US" altLang="zh-CN" sz="2205" b="1" dirty="0" err="1">
                  <a:solidFill>
                    <a:srgbClr val="FF3300"/>
                  </a:solidFill>
                  <a:latin typeface="Times New Roman" panose="02020603050405020304" pitchFamily="18" charset="0"/>
                  <a:ea typeface="宋体" panose="02010600030101010101" pitchFamily="2" charset="-122"/>
                </a:rPr>
                <a:t>i</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12</a:t>
              </a:r>
              <a:r>
                <a:rPr kumimoji="1" lang="en-US" altLang="zh-CN" sz="2205" b="1" dirty="0">
                  <a:solidFill>
                    <a:srgbClr val="FF3300"/>
                  </a:solidFill>
                  <a:latin typeface="Times New Roman" panose="02020603050405020304" pitchFamily="18" charset="0"/>
                  <a:ea typeface="宋体" panose="02010600030101010101" pitchFamily="2" charset="-122"/>
                </a:rPr>
                <a:t>:=4*</a:t>
              </a:r>
              <a:r>
                <a:rPr kumimoji="1" lang="en-US" altLang="zh-CN" sz="2205" b="1" dirty="0" err="1">
                  <a:solidFill>
                    <a:srgbClr val="FF3300"/>
                  </a:solidFill>
                  <a:latin typeface="Times New Roman" panose="02020603050405020304" pitchFamily="18" charset="0"/>
                  <a:ea typeface="宋体" panose="02010600030101010101" pitchFamily="2" charset="-122"/>
                </a:rPr>
                <a:t>i</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13</a:t>
              </a:r>
              <a:r>
                <a:rPr kumimoji="1" lang="en-US" altLang="zh-CN" sz="2205" b="1" dirty="0">
                  <a:solidFill>
                    <a:srgbClr val="FF3300"/>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15</a:t>
              </a:r>
              <a:r>
                <a:rPr kumimoji="1" lang="en-US" altLang="zh-CN" sz="2205" b="1" dirty="0">
                  <a:solidFill>
                    <a:srgbClr val="FF3300"/>
                  </a:solidFill>
                  <a:latin typeface="Times New Roman" panose="02020603050405020304" pitchFamily="18" charset="0"/>
                  <a:ea typeface="宋体" panose="02010600030101010101" pitchFamily="2" charset="-122"/>
                </a:rPr>
                <a:t>:= 4*n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Tree>
    <p:extLst>
      <p:ext uri="{BB962C8B-B14F-4D97-AF65-F5344CB8AC3E}">
        <p14:creationId xmlns:p14="http://schemas.microsoft.com/office/powerpoint/2010/main" val="3965655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4221"/>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25000">
                  <a:solidFill>
                    <a:srgbClr val="FF3300"/>
                  </a:solidFill>
                  <a:latin typeface="Times New Roman" panose="02020603050405020304" pitchFamily="18" charset="0"/>
                  <a:ea typeface="宋体" panose="02010600030101010101" pitchFamily="2" charset="-122"/>
                </a:rPr>
                <a:t>1</a:t>
              </a:r>
              <a:r>
                <a:rPr kumimoji="1" lang="en-US" altLang="zh-CN" sz="2205" b="1">
                  <a:solidFill>
                    <a:srgbClr val="FF3300"/>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:=4*j</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4*j</a:t>
              </a:r>
              <a:r>
                <a:rPr kumimoji="1" lang="en-US" altLang="zh-CN" sz="2205" b="1" baseline="-30000" dirty="0">
                  <a:solidFill>
                    <a:srgbClr val="FF3300"/>
                  </a:solidFill>
                  <a:latin typeface="Times New Roman" panose="02020603050405020304" pitchFamily="18" charset="0"/>
                  <a:ea typeface="宋体" panose="02010600030101010101" pitchFamily="2" charset="-122"/>
                </a:rPr>
                <a:t> </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13</a:t>
              </a:r>
              <a:r>
                <a:rPr kumimoji="1" lang="en-US" altLang="zh-CN" sz="2205" b="1" dirty="0">
                  <a:solidFill>
                    <a:srgbClr val="FF3300"/>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15</a:t>
              </a:r>
              <a:r>
                <a:rPr kumimoji="1" lang="en-US" altLang="zh-CN" sz="2205" b="1" dirty="0">
                  <a:solidFill>
                    <a:srgbClr val="FF3300"/>
                  </a:solidFill>
                  <a:latin typeface="Times New Roman" panose="02020603050405020304" pitchFamily="18" charset="0"/>
                  <a:ea typeface="宋体" panose="02010600030101010101" pitchFamily="2" charset="-122"/>
                </a:rPr>
                <a:t>:= 4*n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中间代码程序段 </a:t>
            </a:r>
          </a:p>
        </p:txBody>
      </p:sp>
    </p:spTree>
    <p:extLst>
      <p:ext uri="{BB962C8B-B14F-4D97-AF65-F5344CB8AC3E}">
        <p14:creationId xmlns:p14="http://schemas.microsoft.com/office/powerpoint/2010/main" val="2794273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4221"/>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25000" dirty="0">
                  <a:solidFill>
                    <a:srgbClr val="FF0000"/>
                  </a:solidFill>
                  <a:latin typeface="Times New Roman" panose="02020603050405020304" pitchFamily="18" charset="0"/>
                  <a:ea typeface="宋体" panose="02010600030101010101" pitchFamily="2" charset="-122"/>
                </a:rPr>
                <a:t>1</a:t>
              </a:r>
              <a:r>
                <a:rPr kumimoji="1" lang="en-US" altLang="zh-CN" sz="2205" b="1" dirty="0">
                  <a:solidFill>
                    <a:srgbClr val="FF0000"/>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v:=a[T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:=4*j</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4*j</a:t>
              </a:r>
              <a:r>
                <a:rPr kumimoji="1" lang="en-US" altLang="zh-CN" sz="2205" b="1" baseline="-30000" dirty="0">
                  <a:solidFill>
                    <a:prstClr val="black"/>
                  </a:solidFill>
                  <a:latin typeface="Times New Roman" panose="02020603050405020304" pitchFamily="18" charset="0"/>
                  <a:ea typeface="宋体" panose="02010600030101010101" pitchFamily="2" charset="-122"/>
                </a:rPr>
                <a:t> </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13</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1</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15</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13</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2" y="6529845"/>
            <a:ext cx="3700216"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lIns="0" r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删除公共子表达式后</a:t>
            </a:r>
          </a:p>
        </p:txBody>
      </p:sp>
    </p:spTree>
    <p:extLst>
      <p:ext uri="{BB962C8B-B14F-4D97-AF65-F5344CB8AC3E}">
        <p14:creationId xmlns:p14="http://schemas.microsoft.com/office/powerpoint/2010/main" val="2004781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4221"/>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25000">
                  <a:solidFill>
                    <a:srgbClr val="FF3300"/>
                  </a:solidFill>
                  <a:latin typeface="Times New Roman" panose="02020603050405020304" pitchFamily="18" charset="0"/>
                  <a:ea typeface="宋体" panose="02010600030101010101" pitchFamily="2" charset="-122"/>
                </a:rPr>
                <a:t>2</a:t>
              </a:r>
              <a:r>
                <a:rPr kumimoji="1" lang="en-US" altLang="zh-CN" sz="2205" b="1">
                  <a:solidFill>
                    <a:srgbClr val="FF3300"/>
                  </a:solidFill>
                  <a:latin typeface="Times New Roman" panose="02020603050405020304" pitchFamily="18" charset="0"/>
                  <a:ea typeface="宋体" panose="02010600030101010101" pitchFamily="2" charset="-122"/>
                </a:rPr>
                <a:t>:=4*i</a:t>
              </a:r>
              <a:r>
                <a:rPr kumimoji="1" lang="en-US" altLang="zh-CN" sz="2205" b="1">
                  <a:solidFill>
                    <a:prstClr val="black"/>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6</a:t>
              </a:r>
              <a:r>
                <a:rPr kumimoji="1" lang="en-US" altLang="zh-CN" sz="2205" b="1" dirty="0">
                  <a:solidFill>
                    <a:srgbClr val="FF3300"/>
                  </a:solidFill>
                  <a:latin typeface="Times New Roman" panose="02020603050405020304" pitchFamily="18" charset="0"/>
                  <a:ea typeface="宋体" panose="02010600030101010101" pitchFamily="2" charset="-122"/>
                </a:rPr>
                <a:t>:=4*</a:t>
              </a:r>
              <a:r>
                <a:rPr kumimoji="1" lang="en-US" altLang="zh-CN" sz="2205" b="1" dirty="0" err="1">
                  <a:solidFill>
                    <a:srgbClr val="FF3300"/>
                  </a:solidFill>
                  <a:latin typeface="Times New Roman" panose="02020603050405020304" pitchFamily="18" charset="0"/>
                  <a:ea typeface="宋体" panose="02010600030101010101" pitchFamily="2" charset="-122"/>
                </a:rPr>
                <a:t>i</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7</a:t>
              </a:r>
              <a:r>
                <a:rPr kumimoji="1" lang="en-US" altLang="zh-CN" sz="2205" b="1" dirty="0">
                  <a:solidFill>
                    <a:srgbClr val="FF3300"/>
                  </a:solidFill>
                  <a:latin typeface="Times New Roman" panose="02020603050405020304" pitchFamily="18" charset="0"/>
                  <a:ea typeface="宋体" panose="02010600030101010101" pitchFamily="2" charset="-122"/>
                </a:rPr>
                <a:t>:=4*</a:t>
              </a:r>
              <a:r>
                <a:rPr kumimoji="1" lang="en-US" altLang="zh-CN" sz="2205" b="1" dirty="0" err="1">
                  <a:solidFill>
                    <a:srgbClr val="FF3300"/>
                  </a:solidFill>
                  <a:latin typeface="Times New Roman" panose="02020603050405020304" pitchFamily="18" charset="0"/>
                  <a:ea typeface="宋体" panose="02010600030101010101" pitchFamily="2" charset="-122"/>
                </a:rPr>
                <a:t>i</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:=4*j</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4*j</a:t>
              </a:r>
              <a:r>
                <a:rPr kumimoji="1" lang="en-US" altLang="zh-CN" sz="2205" b="1" baseline="-30000" dirty="0">
                  <a:solidFill>
                    <a:prstClr val="black"/>
                  </a:solidFill>
                  <a:latin typeface="Times New Roman" panose="02020603050405020304" pitchFamily="18" charset="0"/>
                  <a:ea typeface="宋体" panose="02010600030101010101" pitchFamily="2" charset="-122"/>
                </a:rPr>
                <a:t> </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11</a:t>
              </a:r>
              <a:r>
                <a:rPr kumimoji="1" lang="en-US" altLang="zh-CN" sz="2205" b="1" dirty="0">
                  <a:solidFill>
                    <a:srgbClr val="FF3300"/>
                  </a:solidFill>
                  <a:latin typeface="Times New Roman" panose="02020603050405020304" pitchFamily="18" charset="0"/>
                  <a:ea typeface="宋体" panose="02010600030101010101" pitchFamily="2" charset="-122"/>
                </a:rPr>
                <a:t>:=4*</a:t>
              </a:r>
              <a:r>
                <a:rPr kumimoji="1" lang="en-US" altLang="zh-CN" sz="2205" b="1" dirty="0" err="1">
                  <a:solidFill>
                    <a:srgbClr val="FF3300"/>
                  </a:solidFill>
                  <a:latin typeface="Times New Roman" panose="02020603050405020304" pitchFamily="18" charset="0"/>
                  <a:ea typeface="宋体" panose="02010600030101010101" pitchFamily="2" charset="-122"/>
                </a:rPr>
                <a:t>i</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12</a:t>
              </a:r>
              <a:r>
                <a:rPr kumimoji="1" lang="en-US" altLang="zh-CN" sz="2205" b="1" dirty="0">
                  <a:solidFill>
                    <a:srgbClr val="FF3300"/>
                  </a:solidFill>
                  <a:latin typeface="Times New Roman" panose="02020603050405020304" pitchFamily="18" charset="0"/>
                  <a:ea typeface="宋体" panose="02010600030101010101" pitchFamily="2" charset="-122"/>
                </a:rPr>
                <a:t>:=4*</a:t>
              </a:r>
              <a:r>
                <a:rPr kumimoji="1" lang="en-US" altLang="zh-CN" sz="2205" b="1" dirty="0" err="1">
                  <a:solidFill>
                    <a:srgbClr val="FF3300"/>
                  </a:solidFill>
                  <a:latin typeface="Times New Roman" panose="02020603050405020304" pitchFamily="18" charset="0"/>
                  <a:ea typeface="宋体" panose="02010600030101010101" pitchFamily="2" charset="-122"/>
                </a:rPr>
                <a:t>i</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24" name="Rectangle 2"/>
          <p:cNvSpPr>
            <a:spLocks noChangeArrowheads="1"/>
          </p:cNvSpPr>
          <p:nvPr/>
        </p:nvSpPr>
        <p:spPr bwMode="auto">
          <a:xfrm>
            <a:off x="5616712" y="6529845"/>
            <a:ext cx="3700216"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lIns="0" r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删除公共子表达式后</a:t>
            </a:r>
          </a:p>
        </p:txBody>
      </p:sp>
    </p:spTree>
    <p:extLst>
      <p:ext uri="{BB962C8B-B14F-4D97-AF65-F5344CB8AC3E}">
        <p14:creationId xmlns:p14="http://schemas.microsoft.com/office/powerpoint/2010/main" val="3794051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4221"/>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25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:=4*</a:t>
              </a:r>
              <a:r>
                <a:rPr kumimoji="1" lang="en-US" altLang="zh-CN" sz="2205" b="1" dirty="0" err="1">
                  <a:solidFill>
                    <a:srgbClr val="FF0000"/>
                  </a:solidFill>
                  <a:latin typeface="Times New Roman" panose="02020603050405020304" pitchFamily="18" charset="0"/>
                  <a:ea typeface="宋体" panose="02010600030101010101" pitchFamily="2" charset="-122"/>
                </a:rPr>
                <a:t>i</a:t>
              </a:r>
              <a:r>
                <a:rPr kumimoji="1" lang="en-US" altLang="zh-CN" sz="2205" b="1" dirty="0">
                  <a:solidFill>
                    <a:srgbClr val="FF0000"/>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&lt;v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B</a:t>
              </a:r>
              <a:r>
                <a:rPr kumimoji="1" lang="en-US" altLang="zh-CN" sz="2646" b="1" baseline="-25000" dirty="0">
                  <a:solidFill>
                    <a:prstClr val="black"/>
                  </a:solidFill>
                  <a:latin typeface="Times New Roman" panose="02020603050405020304" pitchFamily="18" charset="0"/>
                  <a:ea typeface="宋体" panose="02010600030101010101" pitchFamily="2" charset="-122"/>
                </a:rPr>
                <a:t>2</a:t>
              </a:r>
              <a:endParaRPr kumimoji="1" lang="en-US" altLang="zh-CN" sz="2646" dirty="0">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6</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2</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7</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30000" dirty="0">
                  <a:solidFill>
                    <a:srgbClr val="FF0000"/>
                  </a:solidFill>
                  <a:latin typeface="Times New Roman" panose="02020603050405020304" pitchFamily="18" charset="0"/>
                  <a:ea typeface="宋体" panose="02010600030101010101" pitchFamily="2" charset="-122"/>
                </a:rPr>
                <a:t>6</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:=4*j</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4*j</a:t>
              </a:r>
              <a:r>
                <a:rPr kumimoji="1" lang="en-US" altLang="zh-CN" sz="2205" b="1" baseline="-30000" dirty="0">
                  <a:solidFill>
                    <a:srgbClr val="FF3300"/>
                  </a:solidFill>
                  <a:latin typeface="Times New Roman" panose="02020603050405020304" pitchFamily="18" charset="0"/>
                  <a:ea typeface="宋体" panose="02010600030101010101" pitchFamily="2" charset="-122"/>
                </a:rPr>
                <a:t> </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11</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2</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12</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30000" dirty="0">
                  <a:solidFill>
                    <a:srgbClr val="FF0000"/>
                  </a:solidFill>
                  <a:latin typeface="Times New Roman" panose="02020603050405020304" pitchFamily="18" charset="0"/>
                  <a:ea typeface="宋体" panose="02010600030101010101" pitchFamily="2" charset="-122"/>
                </a:rPr>
                <a:t>11</a:t>
              </a:r>
              <a:r>
                <a:rPr kumimoji="1" lang="en-US" altLang="zh-CN" sz="2205" b="1" dirty="0">
                  <a:solidFill>
                    <a:srgbClr val="FF0000"/>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24" name="Rectangle 2"/>
          <p:cNvSpPr>
            <a:spLocks noChangeArrowheads="1"/>
          </p:cNvSpPr>
          <p:nvPr/>
        </p:nvSpPr>
        <p:spPr bwMode="auto">
          <a:xfrm>
            <a:off x="5616712" y="6529845"/>
            <a:ext cx="3700216"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lIns="0" r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删除公共子表达式后</a:t>
            </a:r>
          </a:p>
        </p:txBody>
      </p:sp>
    </p:spTree>
    <p:extLst>
      <p:ext uri="{BB962C8B-B14F-4D97-AF65-F5344CB8AC3E}">
        <p14:creationId xmlns:p14="http://schemas.microsoft.com/office/powerpoint/2010/main" val="1817048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4221"/>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25000">
                  <a:solidFill>
                    <a:srgbClr val="FF3300"/>
                  </a:solidFill>
                  <a:latin typeface="Times New Roman" panose="02020603050405020304" pitchFamily="18" charset="0"/>
                  <a:ea typeface="宋体" panose="02010600030101010101" pitchFamily="2" charset="-122"/>
                </a:rPr>
                <a:t>4</a:t>
              </a:r>
              <a:r>
                <a:rPr kumimoji="1" lang="en-US" altLang="zh-CN" sz="2205" b="1">
                  <a:solidFill>
                    <a:srgbClr val="FF3300"/>
                  </a:solidFill>
                  <a:latin typeface="Times New Roman" panose="02020603050405020304" pitchFamily="18" charset="0"/>
                  <a:ea typeface="宋体" panose="02010600030101010101" pitchFamily="2" charset="-122"/>
                </a:rPr>
                <a:t>:=4*j</a:t>
              </a:r>
              <a:r>
                <a:rPr kumimoji="1" lang="en-US" altLang="zh-CN" sz="2205" b="1">
                  <a:solidFill>
                    <a:prstClr val="black"/>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8</a:t>
              </a:r>
              <a:r>
                <a:rPr kumimoji="1" lang="en-US" altLang="zh-CN" sz="2205" b="1" dirty="0">
                  <a:solidFill>
                    <a:srgbClr val="FF3300"/>
                  </a:solidFill>
                  <a:latin typeface="Times New Roman" panose="02020603050405020304" pitchFamily="18" charset="0"/>
                  <a:ea typeface="宋体" panose="02010600030101010101" pitchFamily="2" charset="-122"/>
                </a:rPr>
                <a:t>:=4*j</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10</a:t>
              </a:r>
              <a:r>
                <a:rPr kumimoji="1" lang="en-US" altLang="zh-CN" sz="2205" b="1" dirty="0">
                  <a:solidFill>
                    <a:srgbClr val="FF3300"/>
                  </a:solidFill>
                  <a:latin typeface="Times New Roman" panose="02020603050405020304" pitchFamily="18" charset="0"/>
                  <a:ea typeface="宋体" panose="02010600030101010101" pitchFamily="2" charset="-122"/>
                </a:rPr>
                <a:t>:= 4*j</a:t>
              </a:r>
              <a:r>
                <a:rPr kumimoji="1" lang="en-US" altLang="zh-CN" sz="2205" b="1" baseline="-30000" dirty="0">
                  <a:solidFill>
                    <a:srgbClr val="FF3300"/>
                  </a:solidFill>
                  <a:latin typeface="Times New Roman" panose="02020603050405020304" pitchFamily="18" charset="0"/>
                  <a:ea typeface="宋体" panose="02010600030101010101" pitchFamily="2" charset="-122"/>
                </a:rPr>
                <a:t> </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24" name="Rectangle 2"/>
          <p:cNvSpPr>
            <a:spLocks noChangeArrowheads="1"/>
          </p:cNvSpPr>
          <p:nvPr/>
        </p:nvSpPr>
        <p:spPr bwMode="auto">
          <a:xfrm>
            <a:off x="5616712" y="6529845"/>
            <a:ext cx="3700216"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lIns="0" r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删除公共子表达式后</a:t>
            </a:r>
          </a:p>
        </p:txBody>
      </p:sp>
    </p:spTree>
    <p:extLst>
      <p:ext uri="{BB962C8B-B14F-4D97-AF65-F5344CB8AC3E}">
        <p14:creationId xmlns:p14="http://schemas.microsoft.com/office/powerpoint/2010/main" val="74289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4221"/>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25000" dirty="0">
                  <a:solidFill>
                    <a:srgbClr val="FF0000"/>
                  </a:solidFill>
                  <a:latin typeface="Times New Roman" panose="02020603050405020304" pitchFamily="18" charset="0"/>
                  <a:ea typeface="宋体" panose="02010600030101010101" pitchFamily="2" charset="-122"/>
                </a:rPr>
                <a:t>4</a:t>
              </a:r>
              <a:r>
                <a:rPr kumimoji="1" lang="en-US" altLang="zh-CN" sz="2205" b="1" dirty="0">
                  <a:solidFill>
                    <a:srgbClr val="FF0000"/>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&gt;v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8</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4</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10</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30000" dirty="0">
                  <a:solidFill>
                    <a:srgbClr val="FF0000"/>
                  </a:solidFill>
                  <a:latin typeface="Times New Roman" panose="02020603050405020304" pitchFamily="18" charset="0"/>
                  <a:ea typeface="宋体" panose="02010600030101010101" pitchFamily="2" charset="-122"/>
                </a:rPr>
                <a:t>8</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24" name="Rectangle 2"/>
          <p:cNvSpPr>
            <a:spLocks noChangeArrowheads="1"/>
          </p:cNvSpPr>
          <p:nvPr/>
        </p:nvSpPr>
        <p:spPr bwMode="auto">
          <a:xfrm>
            <a:off x="5616712" y="6529845"/>
            <a:ext cx="3700216"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lIns="0" r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删除公共子表达式后</a:t>
            </a:r>
          </a:p>
        </p:txBody>
      </p:sp>
    </p:spTree>
    <p:extLst>
      <p:ext uri="{BB962C8B-B14F-4D97-AF65-F5344CB8AC3E}">
        <p14:creationId xmlns:p14="http://schemas.microsoft.com/office/powerpoint/2010/main" val="2600472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6</a:t>
              </a:r>
              <a:r>
                <a:rPr kumimoji="1" lang="en-US" altLang="zh-CN" sz="2205" b="1" dirty="0">
                  <a:solidFill>
                    <a:srgbClr val="FF3300"/>
                  </a:solidFill>
                  <a:latin typeface="Times New Roman" panose="02020603050405020304" pitchFamily="18" charset="0"/>
                  <a:ea typeface="宋体" panose="02010600030101010101" pitchFamily="2" charset="-122"/>
                </a:rPr>
                <a:t>:= T</a:t>
              </a:r>
              <a:r>
                <a:rPr kumimoji="1" lang="en-US" altLang="zh-CN" sz="2205" b="1" baseline="-25000" dirty="0">
                  <a:solidFill>
                    <a:srgbClr val="FF3300"/>
                  </a:solidFill>
                  <a:latin typeface="Times New Roman" panose="02020603050405020304" pitchFamily="18" charset="0"/>
                  <a:ea typeface="宋体" panose="02010600030101010101" pitchFamily="2" charset="-122"/>
                </a:rPr>
                <a:t>2</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x:=a[T</a:t>
              </a:r>
              <a:r>
                <a:rPr kumimoji="1" lang="en-US" altLang="zh-CN" sz="2205" b="1" baseline="-30000" dirty="0">
                  <a:solidFill>
                    <a:srgbClr val="FF3300"/>
                  </a:solidFill>
                  <a:latin typeface="Times New Roman" panose="02020603050405020304" pitchFamily="18" charset="0"/>
                  <a:ea typeface="宋体" panose="02010600030101010101" pitchFamily="2" charset="-122"/>
                </a:rPr>
                <a:t>6</a:t>
              </a:r>
              <a:r>
                <a:rPr kumimoji="1" lang="en-US" altLang="zh-CN" sz="2205" b="1" dirty="0">
                  <a:solidFill>
                    <a:srgbClr val="FF33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7</a:t>
              </a:r>
              <a:r>
                <a:rPr kumimoji="1" lang="en-US" altLang="zh-CN" sz="2205" b="1" dirty="0">
                  <a:solidFill>
                    <a:srgbClr val="FF3300"/>
                  </a:solidFill>
                  <a:latin typeface="Times New Roman" panose="02020603050405020304" pitchFamily="18" charset="0"/>
                  <a:ea typeface="宋体" panose="02010600030101010101" pitchFamily="2" charset="-122"/>
                </a:rPr>
                <a:t>:= T</a:t>
              </a:r>
              <a:r>
                <a:rPr kumimoji="1" lang="en-US" altLang="zh-CN" sz="2205" b="1" baseline="-30000" dirty="0">
                  <a:solidFill>
                    <a:srgbClr val="FF3300"/>
                  </a:solidFill>
                  <a:latin typeface="Times New Roman" panose="02020603050405020304" pitchFamily="18" charset="0"/>
                  <a:ea typeface="宋体" panose="02010600030101010101" pitchFamily="2" charset="-122"/>
                </a:rPr>
                <a:t>6</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a[T</a:t>
              </a:r>
              <a:r>
                <a:rPr kumimoji="1" lang="en-US" altLang="zh-CN" sz="2205" b="1" baseline="-30000" dirty="0">
                  <a:solidFill>
                    <a:srgbClr val="FF3300"/>
                  </a:solidFill>
                  <a:latin typeface="Times New Roman" panose="02020603050405020304" pitchFamily="18" charset="0"/>
                  <a:ea typeface="宋体" panose="02010600030101010101" pitchFamily="2" charset="-122"/>
                </a:rPr>
                <a:t>7</a:t>
              </a: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9</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11</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x:=a[T</a:t>
              </a:r>
              <a:r>
                <a:rPr kumimoji="1" lang="en-US" altLang="zh-CN" sz="2205" b="1" baseline="-30000">
                  <a:solidFill>
                    <a:prstClr val="black"/>
                  </a:solidFill>
                  <a:latin typeface="Times New Roman" panose="02020603050405020304" pitchFamily="18" charset="0"/>
                  <a:ea typeface="宋体" panose="02010600030101010101" pitchFamily="2" charset="-122"/>
                </a:rPr>
                <a:t>11</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12</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11</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13</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1</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14</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13</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12</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15</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13</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15</a:t>
              </a:r>
              <a:r>
                <a:rPr kumimoji="1" lang="en-US" altLang="zh-CN" sz="2205" b="1">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24" name="Rectangle 2"/>
          <p:cNvSpPr>
            <a:spLocks noChangeArrowheads="1"/>
          </p:cNvSpPr>
          <p:nvPr/>
        </p:nvSpPr>
        <p:spPr bwMode="auto">
          <a:xfrm>
            <a:off x="5616712" y="6529845"/>
            <a:ext cx="3700216"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lIns="0" r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删除公共子表达式后</a:t>
            </a:r>
          </a:p>
        </p:txBody>
      </p:sp>
    </p:spTree>
    <p:extLst>
      <p:ext uri="{BB962C8B-B14F-4D97-AF65-F5344CB8AC3E}">
        <p14:creationId xmlns:p14="http://schemas.microsoft.com/office/powerpoint/2010/main" val="2425107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6</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2</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x:=a[T</a:t>
              </a:r>
              <a:r>
                <a:rPr kumimoji="1" lang="en-US" altLang="zh-CN" sz="2205" b="1" baseline="-30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7</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30000" dirty="0">
                  <a:solidFill>
                    <a:srgbClr val="FF0000"/>
                  </a:solidFill>
                  <a:latin typeface="Times New Roman" panose="02020603050405020304" pitchFamily="18" charset="0"/>
                  <a:ea typeface="宋体" panose="02010600030101010101" pitchFamily="2" charset="-122"/>
                </a:rPr>
                <a:t>2</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30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9</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11</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x:=a[T</a:t>
              </a:r>
              <a:r>
                <a:rPr kumimoji="1" lang="en-US" altLang="zh-CN" sz="2205" b="1" baseline="-30000">
                  <a:solidFill>
                    <a:prstClr val="black"/>
                  </a:solidFill>
                  <a:latin typeface="Times New Roman" panose="02020603050405020304" pitchFamily="18" charset="0"/>
                  <a:ea typeface="宋体" panose="02010600030101010101" pitchFamily="2" charset="-122"/>
                </a:rPr>
                <a:t>11</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12</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11</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13</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1</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14</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13</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12</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15</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13</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15</a:t>
              </a:r>
              <a:r>
                <a:rPr kumimoji="1" lang="en-US" altLang="zh-CN" sz="2205" b="1">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2534594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11</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2</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x:=a[T</a:t>
              </a:r>
              <a:r>
                <a:rPr kumimoji="1" lang="en-US" altLang="zh-CN" sz="2205" b="1" baseline="-30000">
                  <a:solidFill>
                    <a:srgbClr val="FF3300"/>
                  </a:solidFill>
                  <a:latin typeface="Times New Roman" panose="02020603050405020304" pitchFamily="18" charset="0"/>
                  <a:ea typeface="宋体" panose="02010600030101010101" pitchFamily="2" charset="-122"/>
                </a:rPr>
                <a:t>11</a:t>
              </a:r>
              <a:r>
                <a:rPr kumimoji="1" lang="en-US" altLang="zh-CN" sz="2205" b="1">
                  <a:solidFill>
                    <a:srgbClr val="FF33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12</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30000">
                  <a:solidFill>
                    <a:srgbClr val="FF3300"/>
                  </a:solidFill>
                  <a:latin typeface="Times New Roman" panose="02020603050405020304" pitchFamily="18" charset="0"/>
                  <a:ea typeface="宋体" panose="02010600030101010101" pitchFamily="2" charset="-122"/>
                </a:rPr>
                <a:t>11</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13</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1</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14</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13</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a[T</a:t>
              </a:r>
              <a:r>
                <a:rPr kumimoji="1" lang="en-US" altLang="zh-CN" sz="2205" b="1" baseline="-30000">
                  <a:solidFill>
                    <a:srgbClr val="FF3300"/>
                  </a:solidFill>
                  <a:latin typeface="Times New Roman" panose="02020603050405020304" pitchFamily="18" charset="0"/>
                  <a:ea typeface="宋体" panose="02010600030101010101" pitchFamily="2" charset="-122"/>
                </a:rPr>
                <a:t>12</a:t>
              </a: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14</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15</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13</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15</a:t>
              </a:r>
              <a:r>
                <a:rPr kumimoji="1" lang="en-US" altLang="zh-CN" sz="2205" b="1">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3790289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11</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2</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x:=a[T</a:t>
              </a:r>
              <a:r>
                <a:rPr kumimoji="1" lang="en-US" altLang="zh-CN" sz="2205" b="1" baseline="-30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12</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30000" dirty="0">
                  <a:solidFill>
                    <a:srgbClr val="FF0000"/>
                  </a:solidFill>
                  <a:latin typeface="Times New Roman" panose="02020603050405020304" pitchFamily="18" charset="0"/>
                  <a:ea typeface="宋体" panose="02010600030101010101" pitchFamily="2" charset="-122"/>
                </a:rPr>
                <a:t>2</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30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14</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2727191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8</a:t>
              </a:r>
              <a:r>
                <a:rPr kumimoji="1" lang="en-US" altLang="zh-CN" sz="2205" b="1" dirty="0">
                  <a:solidFill>
                    <a:srgbClr val="FF3300"/>
                  </a:solidFill>
                  <a:latin typeface="Times New Roman" panose="02020603050405020304" pitchFamily="18" charset="0"/>
                  <a:ea typeface="宋体" panose="02010600030101010101" pitchFamily="2" charset="-122"/>
                </a:rPr>
                <a:t>:= T</a:t>
              </a:r>
              <a:r>
                <a:rPr kumimoji="1" lang="en-US" altLang="zh-CN" sz="2205" b="1" baseline="-25000" dirty="0">
                  <a:solidFill>
                    <a:srgbClr val="FF3300"/>
                  </a:solidFill>
                  <a:latin typeface="Times New Roman" panose="02020603050405020304" pitchFamily="18" charset="0"/>
                  <a:ea typeface="宋体" panose="02010600030101010101" pitchFamily="2" charset="-122"/>
                </a:rPr>
                <a:t>4</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9</a:t>
              </a:r>
              <a:r>
                <a:rPr kumimoji="1" lang="en-US" altLang="zh-CN" sz="2205" b="1" dirty="0">
                  <a:solidFill>
                    <a:srgbClr val="FF3300"/>
                  </a:solidFill>
                  <a:latin typeface="Times New Roman" panose="02020603050405020304" pitchFamily="18" charset="0"/>
                  <a:ea typeface="宋体" panose="02010600030101010101" pitchFamily="2" charset="-122"/>
                </a:rPr>
                <a:t>:=a[T</a:t>
              </a:r>
              <a:r>
                <a:rPr kumimoji="1" lang="en-US" altLang="zh-CN" sz="2205" b="1" baseline="-30000" dirty="0">
                  <a:solidFill>
                    <a:srgbClr val="FF3300"/>
                  </a:solidFill>
                  <a:latin typeface="Times New Roman" panose="02020603050405020304" pitchFamily="18" charset="0"/>
                  <a:ea typeface="宋体" panose="02010600030101010101" pitchFamily="2" charset="-122"/>
                </a:rPr>
                <a:t>8</a:t>
              </a:r>
              <a:r>
                <a:rPr kumimoji="1" lang="en-US" altLang="zh-CN" sz="2205" b="1" dirty="0">
                  <a:solidFill>
                    <a:srgbClr val="FF33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10</a:t>
              </a:r>
              <a:r>
                <a:rPr kumimoji="1" lang="en-US" altLang="zh-CN" sz="2205" b="1" dirty="0">
                  <a:solidFill>
                    <a:srgbClr val="FF3300"/>
                  </a:solidFill>
                  <a:latin typeface="Times New Roman" panose="02020603050405020304" pitchFamily="18" charset="0"/>
                  <a:ea typeface="宋体" panose="02010600030101010101" pitchFamily="2" charset="-122"/>
                </a:rPr>
                <a:t>:= T</a:t>
              </a:r>
              <a:r>
                <a:rPr kumimoji="1" lang="en-US" altLang="zh-CN" sz="2205" b="1" baseline="-30000" dirty="0">
                  <a:solidFill>
                    <a:srgbClr val="FF3300"/>
                  </a:solidFill>
                  <a:latin typeface="Times New Roman" panose="02020603050405020304" pitchFamily="18" charset="0"/>
                  <a:ea typeface="宋体" panose="02010600030101010101" pitchFamily="2" charset="-122"/>
                </a:rPr>
                <a:t>8</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a[T</a:t>
              </a:r>
              <a:r>
                <a:rPr kumimoji="1" lang="en-US" altLang="zh-CN" sz="2205" b="1" baseline="-30000" dirty="0">
                  <a:solidFill>
                    <a:srgbClr val="FF3300"/>
                  </a:solidFill>
                  <a:latin typeface="Times New Roman" panose="02020603050405020304" pitchFamily="18" charset="0"/>
                  <a:ea typeface="宋体" panose="02010600030101010101" pitchFamily="2" charset="-122"/>
                </a:rPr>
                <a:t>10</a:t>
              </a:r>
              <a:r>
                <a:rPr kumimoji="1" lang="en-US" altLang="zh-CN" sz="2205" b="1" dirty="0">
                  <a:solidFill>
                    <a:srgbClr val="FF3300"/>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1760718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v:=a[T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8</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4</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9</a:t>
              </a: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30000" dirty="0">
                  <a:solidFill>
                    <a:srgbClr val="FF0000"/>
                  </a:solidFill>
                  <a:latin typeface="Times New Roman" panose="02020603050405020304" pitchFamily="18" charset="0"/>
                  <a:ea typeface="宋体" panose="02010600030101010101" pitchFamily="2" charset="-122"/>
                </a:rPr>
                <a:t>4</a:t>
              </a:r>
              <a:r>
                <a:rPr kumimoji="1" lang="en-US" altLang="zh-CN" sz="2205" b="1" dirty="0">
                  <a:solidFill>
                    <a:srgbClr val="FF00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10</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30000" dirty="0">
                  <a:solidFill>
                    <a:srgbClr val="FF0000"/>
                  </a:solidFill>
                  <a:latin typeface="Times New Roman" panose="02020603050405020304" pitchFamily="18" charset="0"/>
                  <a:ea typeface="宋体" panose="02010600030101010101" pitchFamily="2" charset="-122"/>
                </a:rPr>
                <a:t>4</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30000" dirty="0">
                  <a:solidFill>
                    <a:srgbClr val="FF0000"/>
                  </a:solidFill>
                  <a:latin typeface="Times New Roman" panose="02020603050405020304" pitchFamily="18" charset="0"/>
                  <a:ea typeface="宋体" panose="02010600030101010101" pitchFamily="2" charset="-122"/>
                </a:rPr>
                <a:t>4</a:t>
              </a:r>
              <a:r>
                <a:rPr kumimoji="1" lang="en-US" altLang="zh-CN" sz="2205" b="1" dirty="0">
                  <a:solidFill>
                    <a:srgbClr val="FF0000"/>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307659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13</a:t>
              </a:r>
              <a:r>
                <a:rPr kumimoji="1" lang="en-US" altLang="zh-CN" sz="2205" b="1" dirty="0">
                  <a:solidFill>
                    <a:srgbClr val="FF3300"/>
                  </a:solidFill>
                  <a:latin typeface="Times New Roman" panose="02020603050405020304" pitchFamily="18" charset="0"/>
                  <a:ea typeface="宋体" panose="02010600030101010101" pitchFamily="2" charset="-122"/>
                </a:rPr>
                <a:t>:= T</a:t>
              </a:r>
              <a:r>
                <a:rPr kumimoji="1" lang="en-US" altLang="zh-CN" sz="2205" b="1" baseline="-25000" dirty="0">
                  <a:solidFill>
                    <a:srgbClr val="FF3300"/>
                  </a:solidFill>
                  <a:latin typeface="Times New Roman" panose="02020603050405020304" pitchFamily="18" charset="0"/>
                  <a:ea typeface="宋体" panose="02010600030101010101" pitchFamily="2" charset="-122"/>
                </a:rPr>
                <a:t>1</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14</a:t>
              </a:r>
              <a:r>
                <a:rPr kumimoji="1" lang="en-US" altLang="zh-CN" sz="2205" b="1" dirty="0">
                  <a:solidFill>
                    <a:srgbClr val="FF3300"/>
                  </a:solidFill>
                  <a:latin typeface="Times New Roman" panose="02020603050405020304" pitchFamily="18" charset="0"/>
                  <a:ea typeface="宋体" panose="02010600030101010101" pitchFamily="2" charset="-122"/>
                </a:rPr>
                <a:t>:=a[T</a:t>
              </a:r>
              <a:r>
                <a:rPr kumimoji="1" lang="en-US" altLang="zh-CN" sz="2205" b="1" baseline="-30000" dirty="0">
                  <a:solidFill>
                    <a:srgbClr val="FF3300"/>
                  </a:solidFill>
                  <a:latin typeface="Times New Roman" panose="02020603050405020304" pitchFamily="18" charset="0"/>
                  <a:ea typeface="宋体" panose="02010600030101010101" pitchFamily="2" charset="-122"/>
                </a:rPr>
                <a:t>13</a:t>
              </a:r>
              <a:r>
                <a:rPr kumimoji="1" lang="en-US" altLang="zh-CN" sz="2205" b="1" dirty="0">
                  <a:solidFill>
                    <a:srgbClr val="FF33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30000" dirty="0">
                  <a:solidFill>
                    <a:srgbClr val="FF3300"/>
                  </a:solidFill>
                  <a:latin typeface="Times New Roman" panose="02020603050405020304" pitchFamily="18" charset="0"/>
                  <a:ea typeface="宋体" panose="02010600030101010101" pitchFamily="2" charset="-122"/>
                </a:rPr>
                <a:t>15</a:t>
              </a:r>
              <a:r>
                <a:rPr kumimoji="1" lang="en-US" altLang="zh-CN" sz="2205" b="1" dirty="0">
                  <a:solidFill>
                    <a:srgbClr val="FF3300"/>
                  </a:solidFill>
                  <a:latin typeface="Times New Roman" panose="02020603050405020304" pitchFamily="18" charset="0"/>
                  <a:ea typeface="宋体" panose="02010600030101010101" pitchFamily="2" charset="-122"/>
                </a:rPr>
                <a:t>:= T</a:t>
              </a:r>
              <a:r>
                <a:rPr kumimoji="1" lang="en-US" altLang="zh-CN" sz="2205" b="1" baseline="-25000" dirty="0">
                  <a:solidFill>
                    <a:srgbClr val="FF3300"/>
                  </a:solidFill>
                  <a:latin typeface="Times New Roman" panose="02020603050405020304" pitchFamily="18" charset="0"/>
                  <a:ea typeface="宋体" panose="02010600030101010101" pitchFamily="2" charset="-122"/>
                </a:rPr>
                <a:t>13</a:t>
              </a:r>
              <a:endParaRPr kumimoji="1" lang="en-US" altLang="zh-CN" sz="2205" b="1" dirty="0">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a[T</a:t>
              </a:r>
              <a:r>
                <a:rPr kumimoji="1" lang="en-US" altLang="zh-CN" sz="2205" b="1" baseline="-30000" dirty="0">
                  <a:solidFill>
                    <a:srgbClr val="FF3300"/>
                  </a:solidFill>
                  <a:latin typeface="Times New Roman" panose="02020603050405020304" pitchFamily="18" charset="0"/>
                  <a:ea typeface="宋体" panose="02010600030101010101" pitchFamily="2" charset="-122"/>
                </a:rPr>
                <a:t>15</a:t>
              </a:r>
              <a:r>
                <a:rPr kumimoji="1" lang="en-US" altLang="zh-CN" sz="2205" b="1" dirty="0">
                  <a:solidFill>
                    <a:srgbClr val="FF3300"/>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srgbClr val="FF3300"/>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1998525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13</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1</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14</a:t>
              </a: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30000" dirty="0">
                  <a:solidFill>
                    <a:srgbClr val="FF0000"/>
                  </a:solidFill>
                  <a:latin typeface="Times New Roman" panose="02020603050405020304" pitchFamily="18" charset="0"/>
                  <a:ea typeface="宋体" panose="02010600030101010101" pitchFamily="2" charset="-122"/>
                </a:rPr>
                <a:t>1</a:t>
              </a:r>
              <a:r>
                <a:rPr kumimoji="1" lang="en-US" altLang="zh-CN" sz="2205" b="1" dirty="0">
                  <a:solidFill>
                    <a:srgbClr val="FF00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15</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1</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30000" dirty="0">
                  <a:solidFill>
                    <a:srgbClr val="FF0000"/>
                  </a:solidFill>
                  <a:latin typeface="Times New Roman" panose="02020603050405020304" pitchFamily="18" charset="0"/>
                  <a:ea typeface="宋体" panose="02010600030101010101" pitchFamily="2" charset="-122"/>
                </a:rPr>
                <a:t>1</a:t>
              </a:r>
              <a:r>
                <a:rPr kumimoji="1" lang="en-US" altLang="zh-CN" sz="2205" b="1" dirty="0">
                  <a:solidFill>
                    <a:srgbClr val="FF0000"/>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srgbClr val="FF3300"/>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3776837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v:=a[T</a:t>
              </a:r>
              <a:r>
                <a:rPr kumimoji="1" lang="en-US" altLang="zh-CN" sz="2205" b="1" baseline="-25000" dirty="0">
                  <a:solidFill>
                    <a:srgbClr val="FF3300"/>
                  </a:solidFill>
                  <a:latin typeface="Times New Roman" panose="02020603050405020304" pitchFamily="18" charset="0"/>
                  <a:ea typeface="宋体" panose="02010600030101010101" pitchFamily="2" charset="-122"/>
                </a:rPr>
                <a:t>1</a:t>
              </a:r>
              <a:r>
                <a:rPr kumimoji="1" lang="en-US" altLang="zh-CN" sz="2205" b="1" dirty="0">
                  <a:solidFill>
                    <a:srgbClr val="FF3300"/>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6</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x:=a[T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7</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8</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9</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9</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10</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goto B</a:t>
              </a:r>
              <a:r>
                <a:rPr kumimoji="1" lang="en-US" altLang="zh-CN" sz="2205" b="1" baseline="-3000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11</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x:=a[T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12</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13</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1</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14</a:t>
              </a:r>
              <a:r>
                <a:rPr kumimoji="1" lang="en-US" altLang="zh-CN" sz="2205" b="1">
                  <a:solidFill>
                    <a:srgbClr val="FF3300"/>
                  </a:solidFill>
                  <a:latin typeface="Times New Roman" panose="02020603050405020304" pitchFamily="18" charset="0"/>
                  <a:ea typeface="宋体" panose="02010600030101010101" pitchFamily="2" charset="-122"/>
                </a:rPr>
                <a:t>:=a[T</a:t>
              </a:r>
              <a:r>
                <a:rPr kumimoji="1" lang="en-US" altLang="zh-CN" sz="2205" b="1" baseline="-30000">
                  <a:solidFill>
                    <a:srgbClr val="FF3300"/>
                  </a:solidFill>
                  <a:latin typeface="Times New Roman" panose="02020603050405020304" pitchFamily="18" charset="0"/>
                  <a:ea typeface="宋体" panose="02010600030101010101" pitchFamily="2" charset="-122"/>
                </a:rPr>
                <a:t>1</a:t>
              </a:r>
              <a:r>
                <a:rPr kumimoji="1" lang="en-US" altLang="zh-CN" sz="2205" b="1">
                  <a:solidFill>
                    <a:srgbClr val="FF33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a[T</a:t>
              </a:r>
              <a:r>
                <a:rPr kumimoji="1" lang="en-US" altLang="zh-CN" sz="2205" b="1" baseline="-30000">
                  <a:solidFill>
                    <a:srgbClr val="FF3300"/>
                  </a:solidFill>
                  <a:latin typeface="Times New Roman" panose="02020603050405020304" pitchFamily="18" charset="0"/>
                  <a:ea typeface="宋体" panose="02010600030101010101" pitchFamily="2" charset="-122"/>
                </a:rPr>
                <a:t>2</a:t>
              </a: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14</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15</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1</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302260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v:=a[T</a:t>
              </a:r>
              <a:r>
                <a:rPr kumimoji="1" lang="en-US" altLang="zh-CN" sz="2205" b="1" baseline="-25000" dirty="0">
                  <a:solidFill>
                    <a:srgbClr val="FF0000"/>
                  </a:solidFill>
                  <a:latin typeface="Times New Roman" panose="02020603050405020304" pitchFamily="18" charset="0"/>
                  <a:ea typeface="宋体" panose="02010600030101010101" pitchFamily="2" charset="-122"/>
                </a:rPr>
                <a:t>1</a:t>
              </a:r>
              <a:r>
                <a:rPr kumimoji="1" lang="en-US" altLang="zh-CN" sz="2205" b="1" dirty="0">
                  <a:solidFill>
                    <a:srgbClr val="FF0000"/>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6</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x:=a[T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7</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8</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9</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9</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10</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goto B</a:t>
              </a:r>
              <a:r>
                <a:rPr kumimoji="1" lang="en-US" altLang="zh-CN" sz="2205" b="1" baseline="-3000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14</a:t>
              </a:r>
              <a:r>
                <a:rPr kumimoji="1" lang="en-US" altLang="zh-CN" sz="2205" b="1" dirty="0">
                  <a:solidFill>
                    <a:srgbClr val="FF0000"/>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30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1406523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25000">
                  <a:solidFill>
                    <a:srgbClr val="FF3300"/>
                  </a:solidFill>
                  <a:latin typeface="Times New Roman" panose="02020603050405020304" pitchFamily="18" charset="0"/>
                  <a:ea typeface="宋体" panose="02010600030101010101" pitchFamily="2" charset="-122"/>
                </a:rPr>
                <a:t>3</a:t>
              </a:r>
              <a:r>
                <a:rPr kumimoji="1" lang="en-US" altLang="zh-CN" sz="2205" b="1">
                  <a:solidFill>
                    <a:srgbClr val="FF3300"/>
                  </a:solidFill>
                  <a:latin typeface="Times New Roman" panose="02020603050405020304" pitchFamily="18" charset="0"/>
                  <a:ea typeface="宋体" panose="02010600030101010101" pitchFamily="2" charset="-122"/>
                </a:rPr>
                <a:t>:=a[T</a:t>
              </a:r>
              <a:r>
                <a:rPr kumimoji="1" lang="en-US" altLang="zh-CN" sz="2205" b="1" baseline="-25000">
                  <a:solidFill>
                    <a:srgbClr val="FF3300"/>
                  </a:solidFill>
                  <a:latin typeface="Times New Roman" panose="02020603050405020304" pitchFamily="18" charset="0"/>
                  <a:ea typeface="宋体" panose="02010600030101010101" pitchFamily="2" charset="-122"/>
                </a:rPr>
                <a:t>2</a:t>
              </a:r>
              <a:r>
                <a:rPr kumimoji="1" lang="en-US" altLang="zh-CN" sz="2205" b="1">
                  <a:solidFill>
                    <a:srgbClr val="FF33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6</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x:=a[T</a:t>
              </a:r>
              <a:r>
                <a:rPr kumimoji="1" lang="en-US" altLang="zh-CN" sz="2205" b="1" baseline="-30000">
                  <a:solidFill>
                    <a:srgbClr val="FF3300"/>
                  </a:solidFill>
                  <a:latin typeface="Times New Roman" panose="02020603050405020304" pitchFamily="18" charset="0"/>
                  <a:ea typeface="宋体" panose="02010600030101010101" pitchFamily="2" charset="-122"/>
                </a:rPr>
                <a:t>2</a:t>
              </a:r>
              <a:r>
                <a:rPr kumimoji="1" lang="en-US" altLang="zh-CN" sz="2205" b="1">
                  <a:solidFill>
                    <a:srgbClr val="FF33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7</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8</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9</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9</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10</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a[T</a:t>
              </a:r>
              <a:r>
                <a:rPr kumimoji="1" lang="en-US" altLang="zh-CN" sz="2205" b="1" baseline="-30000">
                  <a:solidFill>
                    <a:srgbClr val="FF3300"/>
                  </a:solidFill>
                  <a:latin typeface="Times New Roman" panose="02020603050405020304" pitchFamily="18" charset="0"/>
                  <a:ea typeface="宋体" panose="02010600030101010101" pitchFamily="2" charset="-122"/>
                </a:rPr>
                <a:t>4</a:t>
              </a:r>
              <a:r>
                <a:rPr kumimoji="1" lang="en-US" altLang="zh-CN" sz="2205" b="1">
                  <a:solidFill>
                    <a:srgbClr val="FF3300"/>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goto B</a:t>
              </a:r>
              <a:r>
                <a:rPr kumimoji="1" lang="en-US" altLang="zh-CN" sz="2205" b="1" baseline="-3000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x:=a[T</a:t>
              </a:r>
              <a:r>
                <a:rPr kumimoji="1" lang="en-US" altLang="zh-CN" sz="2205" b="1" baseline="-30000" dirty="0">
                  <a:solidFill>
                    <a:srgbClr val="FF3300"/>
                  </a:solidFill>
                  <a:latin typeface="Times New Roman" panose="02020603050405020304" pitchFamily="18" charset="0"/>
                  <a:ea typeface="宋体" panose="02010600030101010101" pitchFamily="2" charset="-122"/>
                </a:rPr>
                <a:t>2</a:t>
              </a:r>
              <a:r>
                <a:rPr kumimoji="1" lang="en-US" altLang="zh-CN" sz="2205" b="1" dirty="0">
                  <a:solidFill>
                    <a:srgbClr val="FF33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a[T</a:t>
              </a:r>
              <a:r>
                <a:rPr kumimoji="1" lang="en-US" altLang="zh-CN" sz="2205" b="1" baseline="-30000" dirty="0">
                  <a:solidFill>
                    <a:srgbClr val="FF3300"/>
                  </a:solidFill>
                  <a:latin typeface="Times New Roman" panose="02020603050405020304" pitchFamily="18" charset="0"/>
                  <a:ea typeface="宋体" panose="02010600030101010101" pitchFamily="2" charset="-122"/>
                </a:rPr>
                <a:t>1</a:t>
              </a:r>
              <a:r>
                <a:rPr kumimoji="1" lang="en-US" altLang="zh-CN" sz="2205" b="1" dirty="0">
                  <a:solidFill>
                    <a:srgbClr val="FF3300"/>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1696320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 name="文本框 25"/>
          <p:cNvSpPr txBox="1"/>
          <p:nvPr/>
        </p:nvSpPr>
        <p:spPr>
          <a:xfrm>
            <a:off x="7056225" y="944959"/>
            <a:ext cx="3023870" cy="5669756"/>
          </a:xfrm>
          <a:prstGeom prst="rect">
            <a:avLst/>
          </a:prstGeom>
          <a:noFill/>
        </p:spPr>
        <p:txBody>
          <a:bodyPr wrap="square" rtlCol="0">
            <a:noAutofit/>
          </a:bodyPr>
          <a:lstStyle/>
          <a:p>
            <a:pPr defTabSz="503972" rtl="0" fontAlgn="auto" hangingPunct="1">
              <a:lnSpc>
                <a:spcPct val="100000"/>
              </a:lnSpc>
              <a:spcBef>
                <a:spcPts val="0"/>
              </a:spcBef>
              <a:spcAft>
                <a:spcPts val="0"/>
              </a:spcAft>
              <a:buSzTx/>
            </a:pPr>
            <a:endParaRPr lang="zh-CN" altLang="en-US" sz="3638" dirty="0">
              <a:solidFill>
                <a:srgbClr val="FF0000"/>
              </a:solidFill>
              <a:latin typeface="微软雅黑" panose="020B0503020204020204" pitchFamily="34" charset="-122"/>
              <a:ea typeface="微软雅黑" panose="020B0503020204020204" pitchFamily="34" charset="-122"/>
            </a:endParaRPr>
          </a:p>
        </p:txBody>
      </p:sp>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:=4*</a:t>
              </a:r>
              <a:r>
                <a:rPr kumimoji="1" lang="en-US" altLang="zh-CN" sz="2205" b="1" dirty="0" err="1">
                  <a:solidFill>
                    <a:prstClr val="black"/>
                  </a:solidFill>
                  <a:latin typeface="Times New Roman" panose="02020603050405020304" pitchFamily="18" charset="0"/>
                  <a:ea typeface="宋体" panose="02010600030101010101" pitchFamily="2" charset="-122"/>
                </a:rPr>
                <a:t>i</a:t>
              </a:r>
              <a:r>
                <a:rPr kumimoji="1" lang="en-US" altLang="zh-CN" sz="2205" b="1" dirty="0">
                  <a:solidFill>
                    <a:prstClr val="black"/>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25000" dirty="0">
                  <a:solidFill>
                    <a:srgbClr val="FF0000"/>
                  </a:solidFill>
                  <a:latin typeface="Times New Roman" panose="02020603050405020304" pitchFamily="18" charset="0"/>
                  <a:ea typeface="宋体" panose="02010600030101010101" pitchFamily="2" charset="-122"/>
                </a:rPr>
                <a:t>3</a:t>
              </a: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25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&lt;v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x:=T</a:t>
              </a:r>
              <a:r>
                <a:rPr kumimoji="1" lang="en-US" altLang="zh-CN" sz="2205" b="1" baseline="-30000" dirty="0">
                  <a:solidFill>
                    <a:srgbClr val="FF0000"/>
                  </a:solidFill>
                  <a:latin typeface="Times New Roman" panose="02020603050405020304" pitchFamily="18" charset="0"/>
                  <a:ea typeface="宋体" panose="02010600030101010101" pitchFamily="2" charset="-122"/>
                </a:rPr>
                <a:t>3</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30000" dirty="0">
                  <a:solidFill>
                    <a:srgbClr val="FF0000"/>
                  </a:solidFill>
                  <a:latin typeface="Times New Roman" panose="02020603050405020304" pitchFamily="18" charset="0"/>
                  <a:ea typeface="宋体" panose="02010600030101010101" pitchFamily="2" charset="-122"/>
                </a:rPr>
                <a:t>4</a:t>
              </a: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3</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x:=T</a:t>
              </a:r>
              <a:r>
                <a:rPr kumimoji="1" lang="en-US" altLang="zh-CN" sz="2205" b="1" baseline="-30000" dirty="0">
                  <a:solidFill>
                    <a:srgbClr val="FF0000"/>
                  </a:solidFill>
                  <a:latin typeface="Times New Roman" panose="02020603050405020304" pitchFamily="18" charset="0"/>
                  <a:ea typeface="宋体" panose="02010600030101010101" pitchFamily="2" charset="-122"/>
                </a:rPr>
                <a:t>3</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30000" dirty="0">
                  <a:solidFill>
                    <a:srgbClr val="FF0000"/>
                  </a:solidFill>
                  <a:latin typeface="Times New Roman" panose="02020603050405020304" pitchFamily="18" charset="0"/>
                  <a:ea typeface="宋体" panose="02010600030101010101" pitchFamily="2" charset="-122"/>
                </a:rPr>
                <a:t>1</a:t>
              </a: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3</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16055710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25000">
                  <a:solidFill>
                    <a:srgbClr val="FF3300"/>
                  </a:solidFill>
                  <a:latin typeface="Times New Roman" panose="02020603050405020304" pitchFamily="18" charset="0"/>
                  <a:ea typeface="宋体" panose="02010600030101010101" pitchFamily="2" charset="-122"/>
                </a:rPr>
                <a:t>5</a:t>
              </a:r>
              <a:r>
                <a:rPr kumimoji="1" lang="en-US" altLang="zh-CN" sz="2205" b="1">
                  <a:solidFill>
                    <a:srgbClr val="FF3300"/>
                  </a:solidFill>
                  <a:latin typeface="Times New Roman" panose="02020603050405020304" pitchFamily="18" charset="0"/>
                  <a:ea typeface="宋体" panose="02010600030101010101" pitchFamily="2" charset="-122"/>
                </a:rPr>
                <a:t>:=a[T</a:t>
              </a:r>
              <a:r>
                <a:rPr kumimoji="1" lang="en-US" altLang="zh-CN" sz="2205" b="1" baseline="-25000">
                  <a:solidFill>
                    <a:srgbClr val="FF3300"/>
                  </a:solidFill>
                  <a:latin typeface="Times New Roman" panose="02020603050405020304" pitchFamily="18" charset="0"/>
                  <a:ea typeface="宋体" panose="02010600030101010101" pitchFamily="2" charset="-122"/>
                </a:rPr>
                <a:t>4</a:t>
              </a:r>
              <a:r>
                <a:rPr kumimoji="1" lang="en-US" altLang="zh-CN" sz="2205" b="1">
                  <a:solidFill>
                    <a:srgbClr val="FF33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6</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x:=T</a:t>
              </a:r>
              <a:r>
                <a:rPr kumimoji="1" lang="en-US" altLang="zh-CN" sz="2205" b="1" baseline="-30000">
                  <a:solidFill>
                    <a:prstClr val="black"/>
                  </a:solidFill>
                  <a:latin typeface="Times New Roman" panose="02020603050405020304" pitchFamily="18" charset="0"/>
                  <a:ea typeface="宋体" panose="02010600030101010101" pitchFamily="2" charset="-122"/>
                </a:rPr>
                <a:t>3</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7</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8</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9</a:t>
              </a:r>
              <a:r>
                <a:rPr kumimoji="1" lang="en-US" altLang="zh-CN" sz="2205" b="1">
                  <a:solidFill>
                    <a:srgbClr val="FF3300"/>
                  </a:solidFill>
                  <a:latin typeface="Times New Roman" panose="02020603050405020304" pitchFamily="18" charset="0"/>
                  <a:ea typeface="宋体" panose="02010600030101010101" pitchFamily="2" charset="-122"/>
                </a:rPr>
                <a:t>:=a[T</a:t>
              </a:r>
              <a:r>
                <a:rPr kumimoji="1" lang="en-US" altLang="zh-CN" sz="2205" b="1" baseline="-30000">
                  <a:solidFill>
                    <a:srgbClr val="FF3300"/>
                  </a:solidFill>
                  <a:latin typeface="Times New Roman" panose="02020603050405020304" pitchFamily="18" charset="0"/>
                  <a:ea typeface="宋体" panose="02010600030101010101" pitchFamily="2" charset="-122"/>
                </a:rPr>
                <a:t>4</a:t>
              </a:r>
              <a:r>
                <a:rPr kumimoji="1" lang="en-US" altLang="zh-CN" sz="2205" b="1">
                  <a:solidFill>
                    <a:srgbClr val="FF33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a[T</a:t>
              </a:r>
              <a:r>
                <a:rPr kumimoji="1" lang="en-US" altLang="zh-CN" sz="2205" b="1" baseline="-30000">
                  <a:solidFill>
                    <a:srgbClr val="FF3300"/>
                  </a:solidFill>
                  <a:latin typeface="Times New Roman" panose="02020603050405020304" pitchFamily="18" charset="0"/>
                  <a:ea typeface="宋体" panose="02010600030101010101" pitchFamily="2" charset="-122"/>
                </a:rPr>
                <a:t>2</a:t>
              </a: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9</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10</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3</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goto B</a:t>
              </a:r>
              <a:r>
                <a:rPr kumimoji="1" lang="en-US" altLang="zh-CN" sz="2205" b="1" baseline="-3000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11</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x:=T</a:t>
              </a:r>
              <a:r>
                <a:rPr kumimoji="1" lang="en-US" altLang="zh-CN" sz="2205" b="1" baseline="-30000">
                  <a:solidFill>
                    <a:prstClr val="black"/>
                  </a:solidFill>
                  <a:latin typeface="Times New Roman" panose="02020603050405020304" pitchFamily="18" charset="0"/>
                  <a:ea typeface="宋体" panose="02010600030101010101" pitchFamily="2" charset="-122"/>
                </a:rPr>
                <a:t>3</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12</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30000">
                  <a:solidFill>
                    <a:prstClr val="black"/>
                  </a:solidFill>
                  <a:latin typeface="Times New Roman" panose="02020603050405020304" pitchFamily="18" charset="0"/>
                  <a:ea typeface="宋体" panose="02010600030101010101" pitchFamily="2" charset="-122"/>
                </a:rPr>
                <a:t>2</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13</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1</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14</a:t>
              </a:r>
              <a:r>
                <a:rPr kumimoji="1" lang="en-US" altLang="zh-CN" sz="2205" b="1">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15</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1</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3</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endParaRPr kumimoji="1" lang="en-US" altLang="zh-CN" sz="2205" b="1" baseline="-3000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72448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25000" dirty="0">
                  <a:solidFill>
                    <a:srgbClr val="FF0000"/>
                  </a:solidFill>
                  <a:latin typeface="Times New Roman" panose="02020603050405020304" pitchFamily="18" charset="0"/>
                  <a:ea typeface="宋体" panose="02010600030101010101" pitchFamily="2" charset="-122"/>
                </a:rPr>
                <a:t>5</a:t>
              </a: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25000" dirty="0">
                  <a:solidFill>
                    <a:srgbClr val="FF0000"/>
                  </a:solidFill>
                  <a:latin typeface="Times New Roman" panose="02020603050405020304" pitchFamily="18" charset="0"/>
                  <a:ea typeface="宋体" panose="02010600030101010101" pitchFamily="2" charset="-122"/>
                </a:rPr>
                <a:t>4</a:t>
              </a:r>
              <a:r>
                <a:rPr kumimoji="1" lang="en-US" altLang="zh-CN" sz="2205" b="1" dirty="0">
                  <a:solidFill>
                    <a:srgbClr val="FF0000"/>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&gt;v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x:=T</a:t>
              </a:r>
              <a:r>
                <a:rPr kumimoji="1" lang="en-US" altLang="zh-CN" sz="2205" b="1" baseline="-30000" dirty="0">
                  <a:solidFill>
                    <a:prstClr val="black"/>
                  </a:solidFill>
                  <a:latin typeface="Times New Roman" panose="02020603050405020304" pitchFamily="18" charset="0"/>
                  <a:ea typeface="宋体" panose="02010600030101010101" pitchFamily="2" charset="-122"/>
                </a:rPr>
                <a:t>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9</a:t>
              </a: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5</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a[T</a:t>
              </a:r>
              <a:r>
                <a:rPr kumimoji="1" lang="en-US" altLang="zh-CN" sz="2205" b="1" baseline="-30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30000" dirty="0">
                  <a:solidFill>
                    <a:srgbClr val="FF0000"/>
                  </a:solidFill>
                  <a:latin typeface="Times New Roman" panose="02020603050405020304" pitchFamily="18" charset="0"/>
                  <a:ea typeface="宋体" panose="02010600030101010101" pitchFamily="2" charset="-122"/>
                </a:rPr>
                <a:t>5</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x:=T</a:t>
              </a:r>
              <a:r>
                <a:rPr kumimoji="1" lang="en-US" altLang="zh-CN" sz="2205" b="1" baseline="-30000" dirty="0">
                  <a:solidFill>
                    <a:prstClr val="black"/>
                  </a:solidFill>
                  <a:latin typeface="Times New Roman" panose="02020603050405020304" pitchFamily="18" charset="0"/>
                  <a:ea typeface="宋体" panose="02010600030101010101" pitchFamily="2" charset="-122"/>
                </a:rPr>
                <a:t>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B</a:t>
              </a:r>
              <a:r>
                <a:rPr kumimoji="1" lang="en-US" altLang="zh-CN" sz="2646" b="1" baseline="-25000" dirty="0">
                  <a:solidFill>
                    <a:prstClr val="black"/>
                  </a:solidFill>
                  <a:latin typeface="Times New Roman" panose="02020603050405020304" pitchFamily="18" charset="0"/>
                  <a:ea typeface="宋体" panose="02010600030101010101" pitchFamily="2" charset="-122"/>
                </a:rPr>
                <a:t>6</a:t>
              </a:r>
              <a:endParaRPr kumimoji="1" lang="en-US" altLang="zh-CN" sz="2646" dirty="0">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60142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&gt;v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6</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x:=T</a:t>
              </a:r>
              <a:r>
                <a:rPr kumimoji="1" lang="en-US" altLang="zh-CN" sz="2205" b="1" baseline="-30000" dirty="0">
                  <a:solidFill>
                    <a:prstClr val="black"/>
                  </a:solidFill>
                  <a:latin typeface="Times New Roman" panose="02020603050405020304" pitchFamily="18" charset="0"/>
                  <a:ea typeface="宋体" panose="02010600030101010101" pitchFamily="2" charset="-122"/>
                </a:rPr>
                <a:t>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7</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8</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9</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5</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5</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10</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11</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x:=T</a:t>
              </a:r>
              <a:r>
                <a:rPr kumimoji="1" lang="en-US" altLang="zh-CN" sz="2205" b="1" baseline="-30000" dirty="0">
                  <a:solidFill>
                    <a:prstClr val="black"/>
                  </a:solidFill>
                  <a:latin typeface="Times New Roman" panose="02020603050405020304" pitchFamily="18" charset="0"/>
                  <a:ea typeface="宋体" panose="02010600030101010101" pitchFamily="2" charset="-122"/>
                </a:rPr>
                <a:t>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13</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14</a:t>
              </a:r>
              <a:r>
                <a:rPr kumimoji="1" lang="en-US" altLang="zh-CN" sz="2205" b="1" dirty="0">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15</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30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30000" dirty="0">
                  <a:solidFill>
                    <a:prstClr val="black"/>
                  </a:solidFill>
                  <a:latin typeface="Times New Roman" panose="02020603050405020304" pitchFamily="18" charset="0"/>
                  <a:ea typeface="宋体" panose="02010600030101010101" pitchFamily="2" charset="-122"/>
                </a:rPr>
                <a:t>3</a:t>
              </a:r>
              <a:endParaRPr kumimoji="1" lang="en-US" altLang="zh-CN" sz="2205"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endParaRPr kumimoji="1" lang="en-US" altLang="zh-CN" sz="2205" b="1" baseline="-30000" dirty="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B</a:t>
              </a:r>
              <a:r>
                <a:rPr kumimoji="1" lang="en-US" altLang="zh-CN" sz="2646" b="1" baseline="-25000" dirty="0">
                  <a:solidFill>
                    <a:prstClr val="black"/>
                  </a:solidFill>
                  <a:latin typeface="Times New Roman" panose="02020603050405020304" pitchFamily="18" charset="0"/>
                  <a:ea typeface="宋体" panose="02010600030101010101" pitchFamily="2" charset="-122"/>
                </a:rPr>
                <a:t>6</a:t>
              </a:r>
              <a:endParaRPr kumimoji="1" lang="en-US" altLang="zh-CN" sz="2646" dirty="0">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复写传播后</a:t>
            </a:r>
          </a:p>
        </p:txBody>
      </p:sp>
    </p:spTree>
    <p:extLst>
      <p:ext uri="{BB962C8B-B14F-4D97-AF65-F5344CB8AC3E}">
        <p14:creationId xmlns:p14="http://schemas.microsoft.com/office/powerpoint/2010/main" val="3432804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6</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2</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x:=T</a:t>
              </a:r>
              <a:r>
                <a:rPr kumimoji="1" lang="en-US" altLang="zh-CN" sz="2205" b="1" baseline="-30000">
                  <a:solidFill>
                    <a:srgbClr val="FF3300"/>
                  </a:solidFill>
                  <a:latin typeface="Times New Roman" panose="02020603050405020304" pitchFamily="18" charset="0"/>
                  <a:ea typeface="宋体" panose="02010600030101010101" pitchFamily="2" charset="-122"/>
                </a:rPr>
                <a:t>3</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7</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30000">
                  <a:solidFill>
                    <a:srgbClr val="FF3300"/>
                  </a:solidFill>
                  <a:latin typeface="Times New Roman" panose="02020603050405020304" pitchFamily="18" charset="0"/>
                  <a:ea typeface="宋体" panose="02010600030101010101" pitchFamily="2" charset="-122"/>
                </a:rPr>
                <a:t>2</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8</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4</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9</a:t>
              </a: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5</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5</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10</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30000">
                  <a:solidFill>
                    <a:srgbClr val="FF3300"/>
                  </a:solidFill>
                  <a:latin typeface="Times New Roman" panose="02020603050405020304" pitchFamily="18" charset="0"/>
                  <a:ea typeface="宋体" panose="02010600030101010101" pitchFamily="2" charset="-122"/>
                </a:rPr>
                <a:t>4</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3</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goto B</a:t>
              </a:r>
              <a:r>
                <a:rPr kumimoji="1" lang="en-US" altLang="zh-CN" sz="2205" b="1" baseline="-3000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11</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2</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x:=T</a:t>
              </a:r>
              <a:r>
                <a:rPr kumimoji="1" lang="en-US" altLang="zh-CN" sz="2205" b="1" baseline="-30000">
                  <a:solidFill>
                    <a:srgbClr val="FF3300"/>
                  </a:solidFill>
                  <a:latin typeface="Times New Roman" panose="02020603050405020304" pitchFamily="18" charset="0"/>
                  <a:ea typeface="宋体" panose="02010600030101010101" pitchFamily="2" charset="-122"/>
                </a:rPr>
                <a:t>3</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12</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30000">
                  <a:solidFill>
                    <a:srgbClr val="FF3300"/>
                  </a:solidFill>
                  <a:latin typeface="Times New Roman" panose="02020603050405020304" pitchFamily="18" charset="0"/>
                  <a:ea typeface="宋体" panose="02010600030101010101" pitchFamily="2" charset="-122"/>
                </a:rPr>
                <a:t>2</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13</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1</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14</a:t>
              </a:r>
              <a:r>
                <a:rPr kumimoji="1" lang="en-US" altLang="zh-CN" sz="2205" b="1">
                  <a:solidFill>
                    <a:srgbClr val="FF3300"/>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15</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1</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3</a:t>
              </a:r>
            </a:p>
            <a:p>
              <a:pPr defTabSz="503972" rtl="0" fontAlgn="auto" hangingPunct="1">
                <a:lnSpc>
                  <a:spcPct val="100000"/>
                </a:lnSpc>
                <a:spcBef>
                  <a:spcPct val="0"/>
                </a:spcBef>
                <a:spcAft>
                  <a:spcPts val="0"/>
                </a:spcAft>
                <a:buClrTx/>
                <a:buSzTx/>
                <a:buNone/>
              </a:pPr>
              <a:endParaRPr kumimoji="1" lang="en-US" altLang="zh-CN" sz="2205" b="1" baseline="-3000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删除无用赋值</a:t>
            </a:r>
          </a:p>
        </p:txBody>
      </p:sp>
    </p:spTree>
    <p:extLst>
      <p:ext uri="{BB962C8B-B14F-4D97-AF65-F5344CB8AC3E}">
        <p14:creationId xmlns:p14="http://schemas.microsoft.com/office/powerpoint/2010/main" val="3091889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6</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2</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x:=T</a:t>
              </a:r>
              <a:r>
                <a:rPr kumimoji="1" lang="en-US" altLang="zh-CN" sz="2205" b="1" baseline="-30000">
                  <a:solidFill>
                    <a:srgbClr val="FF3300"/>
                  </a:solidFill>
                  <a:latin typeface="Times New Roman" panose="02020603050405020304" pitchFamily="18" charset="0"/>
                  <a:ea typeface="宋体" panose="02010600030101010101" pitchFamily="2" charset="-122"/>
                </a:rPr>
                <a:t>3</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7</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30000">
                  <a:solidFill>
                    <a:srgbClr val="FF3300"/>
                  </a:solidFill>
                  <a:latin typeface="Times New Roman" panose="02020603050405020304" pitchFamily="18" charset="0"/>
                  <a:ea typeface="宋体" panose="02010600030101010101" pitchFamily="2" charset="-122"/>
                </a:rPr>
                <a:t>2</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8</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4</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9</a:t>
              </a: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5</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5</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10</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30000">
                  <a:solidFill>
                    <a:srgbClr val="FF3300"/>
                  </a:solidFill>
                  <a:latin typeface="Times New Roman" panose="02020603050405020304" pitchFamily="18" charset="0"/>
                  <a:ea typeface="宋体" panose="02010600030101010101" pitchFamily="2" charset="-122"/>
                </a:rPr>
                <a:t>4</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3</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goto B</a:t>
              </a:r>
              <a:r>
                <a:rPr kumimoji="1" lang="en-US" altLang="zh-CN" sz="2205" b="1" baseline="-3000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11</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2</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x:=T</a:t>
              </a:r>
              <a:r>
                <a:rPr kumimoji="1" lang="en-US" altLang="zh-CN" sz="2205" b="1" baseline="-30000">
                  <a:solidFill>
                    <a:srgbClr val="FF3300"/>
                  </a:solidFill>
                  <a:latin typeface="Times New Roman" panose="02020603050405020304" pitchFamily="18" charset="0"/>
                  <a:ea typeface="宋体" panose="02010600030101010101" pitchFamily="2" charset="-122"/>
                </a:rPr>
                <a:t>3</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12</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30000">
                  <a:solidFill>
                    <a:srgbClr val="FF3300"/>
                  </a:solidFill>
                  <a:latin typeface="Times New Roman" panose="02020603050405020304" pitchFamily="18" charset="0"/>
                  <a:ea typeface="宋体" panose="02010600030101010101" pitchFamily="2" charset="-122"/>
                </a:rPr>
                <a:t>2</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13</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1</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14</a:t>
              </a:r>
              <a:r>
                <a:rPr kumimoji="1" lang="en-US" altLang="zh-CN" sz="2205" b="1">
                  <a:solidFill>
                    <a:srgbClr val="FF3300"/>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T</a:t>
              </a:r>
              <a:r>
                <a:rPr kumimoji="1" lang="en-US" altLang="zh-CN" sz="2205" b="1" baseline="-30000">
                  <a:solidFill>
                    <a:srgbClr val="FF3300"/>
                  </a:solidFill>
                  <a:latin typeface="Times New Roman" panose="02020603050405020304" pitchFamily="18" charset="0"/>
                  <a:ea typeface="宋体" panose="02010600030101010101" pitchFamily="2" charset="-122"/>
                </a:rPr>
                <a:t>15</a:t>
              </a:r>
              <a:r>
                <a:rPr kumimoji="1" lang="en-US" altLang="zh-CN" sz="2205" b="1">
                  <a:solidFill>
                    <a:srgbClr val="FF3300"/>
                  </a:solidFill>
                  <a:latin typeface="Times New Roman" panose="02020603050405020304" pitchFamily="18" charset="0"/>
                  <a:ea typeface="宋体" panose="02010600030101010101" pitchFamily="2" charset="-122"/>
                </a:rPr>
                <a:t>:= T</a:t>
              </a:r>
              <a:r>
                <a:rPr kumimoji="1" lang="en-US" altLang="zh-CN" sz="2205" b="1" baseline="-25000">
                  <a:solidFill>
                    <a:srgbClr val="FF3300"/>
                  </a:solidFill>
                  <a:latin typeface="Times New Roman" panose="02020603050405020304" pitchFamily="18" charset="0"/>
                  <a:ea typeface="宋体" panose="02010600030101010101" pitchFamily="2" charset="-122"/>
                </a:rPr>
                <a:t>1</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30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3</a:t>
              </a:r>
            </a:p>
            <a:p>
              <a:pPr defTabSz="503972" rtl="0" fontAlgn="auto" hangingPunct="1">
                <a:lnSpc>
                  <a:spcPct val="100000"/>
                </a:lnSpc>
                <a:spcBef>
                  <a:spcPct val="0"/>
                </a:spcBef>
                <a:spcAft>
                  <a:spcPts val="0"/>
                </a:spcAft>
                <a:buClrTx/>
                <a:buSzTx/>
                <a:buNone/>
              </a:pPr>
              <a:endParaRPr kumimoji="1" lang="en-US" altLang="zh-CN" sz="2205" b="1" baseline="-3000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删除无用赋值</a:t>
            </a:r>
          </a:p>
        </p:txBody>
      </p:sp>
    </p:spTree>
    <p:extLst>
      <p:ext uri="{BB962C8B-B14F-4D97-AF65-F5344CB8AC3E}">
        <p14:creationId xmlns:p14="http://schemas.microsoft.com/office/powerpoint/2010/main" val="2241251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7"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a[T</a:t>
              </a:r>
              <a:r>
                <a:rPr kumimoji="1" lang="en-US" altLang="zh-CN" sz="2646" b="1" baseline="-30000" dirty="0">
                  <a:solidFill>
                    <a:prstClr val="black"/>
                  </a:solidFill>
                  <a:latin typeface="Times New Roman" panose="02020603050405020304" pitchFamily="18" charset="0"/>
                  <a:ea typeface="宋体" panose="02010600030101010101" pitchFamily="2" charset="-122"/>
                </a:rPr>
                <a:t>2</a:t>
              </a:r>
              <a:r>
                <a:rPr kumimoji="1" lang="en-US" altLang="zh-CN" sz="2646" b="1" dirty="0">
                  <a:solidFill>
                    <a:prstClr val="black"/>
                  </a:solidFill>
                  <a:latin typeface="Times New Roman" panose="02020603050405020304" pitchFamily="18" charset="0"/>
                  <a:ea typeface="宋体" panose="02010600030101010101" pitchFamily="2" charset="-122"/>
                </a:rPr>
                <a:t>]=T</a:t>
              </a:r>
              <a:r>
                <a:rPr kumimoji="1" lang="en-US" altLang="zh-CN" sz="2646" b="1" baseline="-30000" dirty="0">
                  <a:solidFill>
                    <a:prstClr val="black"/>
                  </a:solidFill>
                  <a:latin typeface="Times New Roman" panose="02020603050405020304" pitchFamily="18" charset="0"/>
                  <a:ea typeface="宋体" panose="02010600030101010101" pitchFamily="2" charset="-122"/>
                </a:rPr>
                <a:t>5</a:t>
              </a:r>
              <a:endParaRPr kumimoji="1" lang="en-US" altLang="zh-CN" sz="2646"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a[T</a:t>
              </a:r>
              <a:r>
                <a:rPr kumimoji="1" lang="en-US" altLang="zh-CN" sz="2646" b="1" baseline="-30000" dirty="0">
                  <a:solidFill>
                    <a:prstClr val="black"/>
                  </a:solidFill>
                  <a:latin typeface="Times New Roman" panose="02020603050405020304" pitchFamily="18" charset="0"/>
                  <a:ea typeface="宋体" panose="02010600030101010101" pitchFamily="2" charset="-122"/>
                </a:rPr>
                <a:t>4</a:t>
              </a:r>
              <a:r>
                <a:rPr kumimoji="1" lang="en-US" altLang="zh-CN" sz="2646" b="1" dirty="0">
                  <a:solidFill>
                    <a:prstClr val="black"/>
                  </a:solidFill>
                  <a:latin typeface="Times New Roman" panose="02020603050405020304" pitchFamily="18" charset="0"/>
                  <a:ea typeface="宋体" panose="02010600030101010101" pitchFamily="2" charset="-122"/>
                </a:rPr>
                <a:t>]=T</a:t>
              </a:r>
              <a:r>
                <a:rPr kumimoji="1" lang="en-US" altLang="zh-CN" sz="2646" b="1" baseline="-30000" dirty="0">
                  <a:solidFill>
                    <a:prstClr val="black"/>
                  </a:solidFill>
                  <a:latin typeface="Times New Roman" panose="02020603050405020304" pitchFamily="18" charset="0"/>
                  <a:ea typeface="宋体" panose="02010600030101010101" pitchFamily="2" charset="-122"/>
                </a:rPr>
                <a:t>3</a:t>
              </a:r>
              <a:endParaRPr kumimoji="1" lang="en-US" altLang="zh-CN" sz="2646"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dirty="0" err="1">
                  <a:solidFill>
                    <a:prstClr val="black"/>
                  </a:solidFill>
                  <a:latin typeface="Times New Roman" panose="02020603050405020304" pitchFamily="18" charset="0"/>
                  <a:ea typeface="宋体" panose="02010600030101010101" pitchFamily="2" charset="-122"/>
                </a:rPr>
                <a:t>goto</a:t>
              </a:r>
              <a:r>
                <a:rPr kumimoji="1" lang="en-US" altLang="zh-CN" sz="2646" b="1" dirty="0">
                  <a:solidFill>
                    <a:prstClr val="black"/>
                  </a:solidFill>
                  <a:latin typeface="Times New Roman" panose="02020603050405020304" pitchFamily="18" charset="0"/>
                  <a:ea typeface="宋体" panose="02010600030101010101" pitchFamily="2" charset="-122"/>
                </a:rPr>
                <a:t> B</a:t>
              </a:r>
              <a:r>
                <a:rPr kumimoji="1" lang="en-US" altLang="zh-CN" sz="2646"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a[T</a:t>
              </a:r>
              <a:r>
                <a:rPr kumimoji="1" lang="en-US" altLang="zh-CN" sz="2646" b="1" baseline="-30000" dirty="0">
                  <a:solidFill>
                    <a:prstClr val="black"/>
                  </a:solidFill>
                  <a:latin typeface="Times New Roman" panose="02020603050405020304" pitchFamily="18" charset="0"/>
                  <a:ea typeface="宋体" panose="02010600030101010101" pitchFamily="2" charset="-122"/>
                </a:rPr>
                <a:t>2</a:t>
              </a:r>
              <a:r>
                <a:rPr kumimoji="1" lang="en-US" altLang="zh-CN" sz="2646" b="1" dirty="0">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a[T</a:t>
              </a:r>
              <a:r>
                <a:rPr kumimoji="1" lang="en-US" altLang="zh-CN" sz="2646" b="1" baseline="-30000" dirty="0">
                  <a:solidFill>
                    <a:prstClr val="black"/>
                  </a:solidFill>
                  <a:latin typeface="Times New Roman" panose="02020603050405020304" pitchFamily="18" charset="0"/>
                  <a:ea typeface="宋体" panose="02010600030101010101" pitchFamily="2" charset="-122"/>
                </a:rPr>
                <a:t>1</a:t>
              </a:r>
              <a:r>
                <a:rPr kumimoji="1" lang="en-US" altLang="zh-CN" sz="2646" b="1" dirty="0">
                  <a:solidFill>
                    <a:prstClr val="black"/>
                  </a:solidFill>
                  <a:latin typeface="Times New Roman" panose="02020603050405020304" pitchFamily="18" charset="0"/>
                  <a:ea typeface="宋体" panose="02010600030101010101" pitchFamily="2" charset="-122"/>
                </a:rPr>
                <a:t>]=T</a:t>
              </a:r>
              <a:r>
                <a:rPr kumimoji="1" lang="en-US" altLang="zh-CN" sz="2646" b="1" baseline="-25000" dirty="0">
                  <a:solidFill>
                    <a:prstClr val="black"/>
                  </a:solidFill>
                  <a:latin typeface="Times New Roman" panose="02020603050405020304" pitchFamily="18" charset="0"/>
                  <a:ea typeface="宋体" panose="02010600030101010101" pitchFamily="2" charset="-122"/>
                </a:rPr>
                <a:t>3</a:t>
              </a: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删除无用赋值后</a:t>
            </a:r>
          </a:p>
        </p:txBody>
      </p:sp>
    </p:spTree>
    <p:extLst>
      <p:ext uri="{BB962C8B-B14F-4D97-AF65-F5344CB8AC3E}">
        <p14:creationId xmlns:p14="http://schemas.microsoft.com/office/powerpoint/2010/main" val="1474769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 name="文本框 25"/>
          <p:cNvSpPr txBox="1"/>
          <p:nvPr/>
        </p:nvSpPr>
        <p:spPr>
          <a:xfrm>
            <a:off x="7056225" y="944959"/>
            <a:ext cx="3023870" cy="5669756"/>
          </a:xfrm>
          <a:prstGeom prst="rect">
            <a:avLst/>
          </a:prstGeom>
          <a:noFill/>
        </p:spPr>
        <p:txBody>
          <a:bodyPr wrap="square" rtlCol="0">
            <a:noAutofit/>
          </a:bodyPr>
          <a:lstStyle/>
          <a:p>
            <a:pPr defTabSz="503972" rtl="0" fontAlgn="auto" hangingPunct="1">
              <a:lnSpc>
                <a:spcPct val="100000"/>
              </a:lnSpc>
              <a:spcBef>
                <a:spcPts val="0"/>
              </a:spcBef>
              <a:spcAft>
                <a:spcPts val="0"/>
              </a:spcAft>
              <a:buSzTx/>
            </a:pPr>
            <a:endParaRPr lang="zh-CN" altLang="en-US" sz="2315" dirty="0">
              <a:solidFill>
                <a:srgbClr val="FF0000"/>
              </a:solidFill>
              <a:latin typeface="微软雅黑" panose="020B0503020204020204" pitchFamily="34" charset="-122"/>
              <a:ea typeface="微软雅黑" panose="020B0503020204020204" pitchFamily="34" charset="-122"/>
            </a:endParaRPr>
          </a:p>
        </p:txBody>
      </p:sp>
      <p:grpSp>
        <p:nvGrpSpPr>
          <p:cNvPr id="28" name="Group 3"/>
          <p:cNvGrpSpPr>
            <a:grpSpLocks/>
          </p:cNvGrpSpPr>
          <p:nvPr/>
        </p:nvGrpSpPr>
        <p:grpSpPr bwMode="auto">
          <a:xfrm>
            <a:off x="198945" y="682553"/>
            <a:ext cx="9323599" cy="6131736"/>
            <a:chOff x="576" y="528"/>
            <a:chExt cx="5328" cy="3504"/>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25000" dirty="0">
                  <a:solidFill>
                    <a:srgbClr val="FF3300"/>
                  </a:solidFill>
                  <a:latin typeface="Times New Roman" panose="02020603050405020304" pitchFamily="18" charset="0"/>
                  <a:ea typeface="宋体" panose="02010600030101010101" pitchFamily="2" charset="-122"/>
                </a:rPr>
                <a:t>2</a:t>
              </a:r>
              <a:r>
                <a:rPr kumimoji="1" lang="en-US" altLang="zh-CN" sz="2205" b="1" dirty="0">
                  <a:solidFill>
                    <a:srgbClr val="FF3300"/>
                  </a:solidFill>
                  <a:latin typeface="Times New Roman" panose="02020603050405020304" pitchFamily="18" charset="0"/>
                  <a:ea typeface="宋体" panose="02010600030101010101" pitchFamily="2" charset="-122"/>
                </a:rPr>
                <a:t>:=4*</a:t>
              </a:r>
              <a:r>
                <a:rPr kumimoji="1" lang="en-US" altLang="zh-CN" sz="2205" b="1" dirty="0" err="1">
                  <a:solidFill>
                    <a:srgbClr val="FF3300"/>
                  </a:solidFill>
                  <a:latin typeface="Times New Roman" panose="02020603050405020304" pitchFamily="18" charset="0"/>
                  <a:ea typeface="宋体" panose="02010600030101010101" pitchFamily="2" charset="-122"/>
                </a:rPr>
                <a:t>i</a:t>
              </a:r>
              <a:r>
                <a:rPr kumimoji="1" lang="en-US" altLang="zh-CN" sz="2205" b="1" dirty="0">
                  <a:solidFill>
                    <a:prstClr val="black"/>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&lt;v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T</a:t>
              </a:r>
              <a:r>
                <a:rPr kumimoji="1" lang="en-US" altLang="zh-CN" sz="2205" b="1" baseline="-25000" dirty="0">
                  <a:solidFill>
                    <a:srgbClr val="FF3300"/>
                  </a:solidFill>
                  <a:latin typeface="Times New Roman" panose="02020603050405020304" pitchFamily="18" charset="0"/>
                  <a:ea typeface="宋体" panose="02010600030101010101" pitchFamily="2" charset="-122"/>
                </a:rPr>
                <a:t>4</a:t>
              </a:r>
              <a:r>
                <a:rPr kumimoji="1" lang="en-US" altLang="zh-CN" sz="2205" b="1" dirty="0">
                  <a:solidFill>
                    <a:srgbClr val="FF3300"/>
                  </a:solidFill>
                  <a:latin typeface="Times New Roman" panose="02020603050405020304" pitchFamily="18" charset="0"/>
                  <a:ea typeface="宋体" panose="02010600030101010101" pitchFamily="2" charset="-122"/>
                </a:rPr>
                <a:t>:=4*j</a:t>
              </a:r>
              <a:r>
                <a:rPr kumimoji="1" lang="en-US" altLang="zh-CN" sz="2205" b="1" dirty="0">
                  <a:solidFill>
                    <a:prstClr val="black"/>
                  </a:solidFill>
                  <a:latin typeface="Times New Roman" panose="02020603050405020304" pitchFamily="18" charset="0"/>
                  <a:ea typeface="宋体" panose="02010600030101010101" pitchFamily="2" charset="-122"/>
                </a:rPr>
                <a:t>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&gt;v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a[T</a:t>
              </a:r>
              <a:r>
                <a:rPr kumimoji="1" lang="en-US" altLang="zh-CN" sz="2646" b="1" baseline="-30000" dirty="0">
                  <a:solidFill>
                    <a:prstClr val="black"/>
                  </a:solidFill>
                  <a:latin typeface="Times New Roman" panose="02020603050405020304" pitchFamily="18" charset="0"/>
                  <a:ea typeface="宋体" panose="02010600030101010101" pitchFamily="2" charset="-122"/>
                </a:rPr>
                <a:t>2</a:t>
              </a:r>
              <a:r>
                <a:rPr kumimoji="1" lang="en-US" altLang="zh-CN" sz="2646" b="1" dirty="0">
                  <a:solidFill>
                    <a:prstClr val="black"/>
                  </a:solidFill>
                  <a:latin typeface="Times New Roman" panose="02020603050405020304" pitchFamily="18" charset="0"/>
                  <a:ea typeface="宋体" panose="02010600030101010101" pitchFamily="2" charset="-122"/>
                </a:rPr>
                <a:t>]=T</a:t>
              </a:r>
              <a:r>
                <a:rPr kumimoji="1" lang="en-US" altLang="zh-CN" sz="2646" b="1" baseline="-30000" dirty="0">
                  <a:solidFill>
                    <a:prstClr val="black"/>
                  </a:solidFill>
                  <a:latin typeface="Times New Roman" panose="02020603050405020304" pitchFamily="18" charset="0"/>
                  <a:ea typeface="宋体" panose="02010600030101010101" pitchFamily="2" charset="-122"/>
                </a:rPr>
                <a:t>5</a:t>
              </a:r>
              <a:endParaRPr kumimoji="1" lang="en-US" altLang="zh-CN" sz="2646"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a[T</a:t>
              </a:r>
              <a:r>
                <a:rPr kumimoji="1" lang="en-US" altLang="zh-CN" sz="2646" b="1" baseline="-30000" dirty="0">
                  <a:solidFill>
                    <a:prstClr val="black"/>
                  </a:solidFill>
                  <a:latin typeface="Times New Roman" panose="02020603050405020304" pitchFamily="18" charset="0"/>
                  <a:ea typeface="宋体" panose="02010600030101010101" pitchFamily="2" charset="-122"/>
                </a:rPr>
                <a:t>4</a:t>
              </a:r>
              <a:r>
                <a:rPr kumimoji="1" lang="en-US" altLang="zh-CN" sz="2646" b="1" dirty="0">
                  <a:solidFill>
                    <a:prstClr val="black"/>
                  </a:solidFill>
                  <a:latin typeface="Times New Roman" panose="02020603050405020304" pitchFamily="18" charset="0"/>
                  <a:ea typeface="宋体" panose="02010600030101010101" pitchFamily="2" charset="-122"/>
                </a:rPr>
                <a:t>]=T</a:t>
              </a:r>
              <a:r>
                <a:rPr kumimoji="1" lang="en-US" altLang="zh-CN" sz="2646" b="1" baseline="-30000" dirty="0">
                  <a:solidFill>
                    <a:prstClr val="black"/>
                  </a:solidFill>
                  <a:latin typeface="Times New Roman" panose="02020603050405020304" pitchFamily="18" charset="0"/>
                  <a:ea typeface="宋体" panose="02010600030101010101" pitchFamily="2" charset="-122"/>
                </a:rPr>
                <a:t>3</a:t>
              </a:r>
              <a:endParaRPr kumimoji="1" lang="en-US" altLang="zh-CN" sz="2646" b="1" dirty="0">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dirty="0" err="1">
                  <a:solidFill>
                    <a:prstClr val="black"/>
                  </a:solidFill>
                  <a:latin typeface="Times New Roman" panose="02020603050405020304" pitchFamily="18" charset="0"/>
                  <a:ea typeface="宋体" panose="02010600030101010101" pitchFamily="2" charset="-122"/>
                </a:rPr>
                <a:t>goto</a:t>
              </a:r>
              <a:r>
                <a:rPr kumimoji="1" lang="en-US" altLang="zh-CN" sz="2646" b="1" dirty="0">
                  <a:solidFill>
                    <a:prstClr val="black"/>
                  </a:solidFill>
                  <a:latin typeface="Times New Roman" panose="02020603050405020304" pitchFamily="18" charset="0"/>
                  <a:ea typeface="宋体" panose="02010600030101010101" pitchFamily="2" charset="-122"/>
                </a:rPr>
                <a:t> B</a:t>
              </a:r>
              <a:r>
                <a:rPr kumimoji="1" lang="en-US" altLang="zh-CN" sz="2646" b="1" baseline="-30000" dirty="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a[T</a:t>
              </a:r>
              <a:r>
                <a:rPr kumimoji="1" lang="en-US" altLang="zh-CN" sz="2646" b="1" baseline="-30000" dirty="0">
                  <a:solidFill>
                    <a:prstClr val="black"/>
                  </a:solidFill>
                  <a:latin typeface="Times New Roman" panose="02020603050405020304" pitchFamily="18" charset="0"/>
                  <a:ea typeface="宋体" panose="02010600030101010101" pitchFamily="2" charset="-122"/>
                </a:rPr>
                <a:t>2</a:t>
              </a:r>
              <a:r>
                <a:rPr kumimoji="1" lang="en-US" altLang="zh-CN" sz="2646" b="1" dirty="0">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646" b="1" dirty="0">
                  <a:solidFill>
                    <a:prstClr val="black"/>
                  </a:solidFill>
                  <a:latin typeface="Times New Roman" panose="02020603050405020304" pitchFamily="18" charset="0"/>
                  <a:ea typeface="宋体" panose="02010600030101010101" pitchFamily="2" charset="-122"/>
                </a:rPr>
                <a:t>a[T</a:t>
              </a:r>
              <a:r>
                <a:rPr kumimoji="1" lang="en-US" altLang="zh-CN" sz="2646" b="1" baseline="-30000" dirty="0">
                  <a:solidFill>
                    <a:prstClr val="black"/>
                  </a:solidFill>
                  <a:latin typeface="Times New Roman" panose="02020603050405020304" pitchFamily="18" charset="0"/>
                  <a:ea typeface="宋体" panose="02010600030101010101" pitchFamily="2" charset="-122"/>
                </a:rPr>
                <a:t>1</a:t>
              </a:r>
              <a:r>
                <a:rPr kumimoji="1" lang="en-US" altLang="zh-CN" sz="2646" b="1" dirty="0">
                  <a:solidFill>
                    <a:prstClr val="black"/>
                  </a:solidFill>
                  <a:latin typeface="Times New Roman" panose="02020603050405020304" pitchFamily="18" charset="0"/>
                  <a:ea typeface="宋体" panose="02010600030101010101" pitchFamily="2" charset="-122"/>
                </a:rPr>
                <a:t>]=T</a:t>
              </a:r>
              <a:r>
                <a:rPr kumimoji="1" lang="en-US" altLang="zh-CN" sz="2646" b="1" baseline="-25000" dirty="0">
                  <a:solidFill>
                    <a:prstClr val="black"/>
                  </a:solidFill>
                  <a:latin typeface="Times New Roman" panose="02020603050405020304" pitchFamily="18" charset="0"/>
                  <a:ea typeface="宋体" panose="02010600030101010101" pitchFamily="2" charset="-122"/>
                </a:rPr>
                <a:t>3</a:t>
              </a: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832" cy="2640"/>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强度削弱 </a:t>
            </a:r>
          </a:p>
        </p:txBody>
      </p:sp>
    </p:spTree>
    <p:extLst>
      <p:ext uri="{BB962C8B-B14F-4D97-AF65-F5344CB8AC3E}">
        <p14:creationId xmlns:p14="http://schemas.microsoft.com/office/powerpoint/2010/main" val="5105320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24"/>
          <p:cNvGrpSpPr>
            <a:grpSpLocks/>
          </p:cNvGrpSpPr>
          <p:nvPr/>
        </p:nvGrpSpPr>
        <p:grpSpPr bwMode="auto">
          <a:xfrm>
            <a:off x="278941" y="682553"/>
            <a:ext cx="9239603" cy="6187735"/>
            <a:chOff x="480" y="528"/>
            <a:chExt cx="5280" cy="3536"/>
          </a:xfrm>
        </p:grpSpPr>
        <p:sp>
          <p:nvSpPr>
            <p:cNvPr id="29" name="Rectangle 4"/>
            <p:cNvSpPr>
              <a:spLocks noChangeArrowheads="1"/>
            </p:cNvSpPr>
            <p:nvPr/>
          </p:nvSpPr>
          <p:spPr bwMode="auto">
            <a:xfrm>
              <a:off x="816" y="528"/>
              <a:ext cx="1152" cy="110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v:=a[T</a:t>
              </a:r>
              <a:r>
                <a:rPr kumimoji="1" lang="en-US" altLang="zh-CN" sz="2205" b="1" baseline="-25000" dirty="0">
                  <a:solidFill>
                    <a:prstClr val="black"/>
                  </a:solidFill>
                  <a:latin typeface="Times New Roman" panose="02020603050405020304" pitchFamily="18" charset="0"/>
                  <a:ea typeface="宋体" panose="02010600030101010101" pitchFamily="2" charset="-122"/>
                </a:rPr>
                <a:t>1</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25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:=4*</a:t>
              </a:r>
              <a:r>
                <a:rPr kumimoji="1" lang="en-US" altLang="zh-CN" sz="2205" b="1" dirty="0" err="1">
                  <a:solidFill>
                    <a:srgbClr val="FF0000"/>
                  </a:solidFill>
                  <a:latin typeface="Times New Roman" panose="02020603050405020304" pitchFamily="18" charset="0"/>
                  <a:ea typeface="宋体" panose="02010600030101010101" pitchFamily="2" charset="-122"/>
                </a:rPr>
                <a:t>i</a:t>
              </a:r>
              <a:endParaRPr kumimoji="1" lang="en-US" altLang="zh-CN" sz="2205" b="1" dirty="0">
                <a:solidFill>
                  <a:srgbClr val="FF00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25000" dirty="0">
                  <a:solidFill>
                    <a:srgbClr val="FF0000"/>
                  </a:solidFill>
                  <a:latin typeface="Times New Roman" panose="02020603050405020304" pitchFamily="18" charset="0"/>
                  <a:ea typeface="宋体" panose="02010600030101010101" pitchFamily="2" charset="-122"/>
                </a:rPr>
                <a:t>4</a:t>
              </a:r>
              <a:r>
                <a:rPr kumimoji="1" lang="en-US" altLang="zh-CN" sz="2205" b="1" dirty="0">
                  <a:solidFill>
                    <a:srgbClr val="FF0000"/>
                  </a:solidFill>
                  <a:latin typeface="Times New Roman" panose="02020603050405020304" pitchFamily="18" charset="0"/>
                  <a:ea typeface="宋体" panose="02010600030101010101" pitchFamily="2" charset="-122"/>
                </a:rPr>
                <a:t>:=4*j</a:t>
              </a:r>
            </a:p>
          </p:txBody>
        </p:sp>
        <p:sp>
          <p:nvSpPr>
            <p:cNvPr id="30" name="Rectangle 5"/>
            <p:cNvSpPr>
              <a:spLocks noChangeArrowheads="1"/>
            </p:cNvSpPr>
            <p:nvPr/>
          </p:nvSpPr>
          <p:spPr bwMode="auto">
            <a:xfrm>
              <a:off x="1920"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816" y="196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25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2</a:t>
              </a:r>
              <a:r>
                <a:rPr kumimoji="1" lang="en-US" altLang="zh-CN" sz="2205" b="1" dirty="0">
                  <a:solidFill>
                    <a:srgbClr val="FF0000"/>
                  </a:solidFill>
                  <a:latin typeface="Times New Roman" panose="02020603050405020304" pitchFamily="18" charset="0"/>
                  <a:ea typeface="宋体" panose="02010600030101010101" pitchFamily="2" charset="-122"/>
                </a:rPr>
                <a:t>+4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&lt;v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1920"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816" y="3072"/>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dirty="0">
                  <a:solidFill>
                    <a:srgbClr val="FF0000"/>
                  </a:solidFill>
                  <a:latin typeface="Times New Roman" panose="02020603050405020304" pitchFamily="18" charset="0"/>
                  <a:ea typeface="宋体" panose="02010600030101010101" pitchFamily="2" charset="-122"/>
                </a:rPr>
                <a:t>T</a:t>
              </a:r>
              <a:r>
                <a:rPr kumimoji="1" lang="en-US" altLang="zh-CN" sz="2205" b="1" baseline="-25000" dirty="0">
                  <a:solidFill>
                    <a:srgbClr val="FF0000"/>
                  </a:solidFill>
                  <a:latin typeface="Times New Roman" panose="02020603050405020304" pitchFamily="18" charset="0"/>
                  <a:ea typeface="宋体" panose="02010600030101010101" pitchFamily="2" charset="-122"/>
                </a:rPr>
                <a:t>4</a:t>
              </a:r>
              <a:r>
                <a:rPr kumimoji="1" lang="en-US" altLang="zh-CN" sz="2205" b="1" dirty="0">
                  <a:solidFill>
                    <a:srgbClr val="FF0000"/>
                  </a:solidFill>
                  <a:latin typeface="Times New Roman" panose="02020603050405020304" pitchFamily="18" charset="0"/>
                  <a:ea typeface="宋体" panose="02010600030101010101" pitchFamily="2" charset="-122"/>
                </a:rPr>
                <a:t>:= T</a:t>
              </a:r>
              <a:r>
                <a:rPr kumimoji="1" lang="en-US" altLang="zh-CN" sz="2205" b="1" baseline="-25000" dirty="0">
                  <a:solidFill>
                    <a:srgbClr val="FF0000"/>
                  </a:solidFill>
                  <a:latin typeface="Times New Roman" panose="02020603050405020304" pitchFamily="18" charset="0"/>
                  <a:ea typeface="宋体" panose="02010600030101010101" pitchFamily="2" charset="-122"/>
                </a:rPr>
                <a:t>4</a:t>
              </a:r>
              <a:r>
                <a:rPr kumimoji="1" lang="en-US" altLang="zh-CN" sz="2205" b="1" dirty="0">
                  <a:solidFill>
                    <a:srgbClr val="FF0000"/>
                  </a:solidFill>
                  <a:latin typeface="Times New Roman" panose="02020603050405020304" pitchFamily="18" charset="0"/>
                  <a:ea typeface="宋体" panose="02010600030101010101" pitchFamily="2" charset="-122"/>
                </a:rPr>
                <a:t>-4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&gt;v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1920"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264"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368"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73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2</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30000">
                  <a:solidFill>
                    <a:prstClr val="black"/>
                  </a:solidFill>
                  <a:latin typeface="Times New Roman" panose="02020603050405020304" pitchFamily="18" charset="0"/>
                  <a:ea typeface="宋体" panose="02010600030101010101" pitchFamily="2" charset="-122"/>
                </a:rPr>
                <a:t>5</a:t>
              </a:r>
              <a:endParaRPr kumimoji="1" lang="en-US" altLang="zh-CN" sz="2646"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4</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30000">
                  <a:solidFill>
                    <a:prstClr val="black"/>
                  </a:solidFill>
                  <a:latin typeface="Times New Roman" panose="02020603050405020304" pitchFamily="18" charset="0"/>
                  <a:ea typeface="宋体" panose="02010600030101010101" pitchFamily="2" charset="-122"/>
                </a:rPr>
                <a:t>3</a:t>
              </a:r>
              <a:endParaRPr kumimoji="1" lang="en-US" altLang="zh-CN" sz="2646"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goto B</a:t>
              </a:r>
              <a:r>
                <a:rPr kumimoji="1" lang="en-US" altLang="zh-CN" sz="2646" b="1" baseline="-3000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84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272"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2</a:t>
              </a:r>
              <a:r>
                <a:rPr kumimoji="1" lang="en-US" altLang="zh-CN" sz="2646" b="1">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1</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25000">
                  <a:solidFill>
                    <a:prstClr val="black"/>
                  </a:solidFill>
                  <a:latin typeface="Times New Roman" panose="02020603050405020304" pitchFamily="18" charset="0"/>
                  <a:ea typeface="宋体" panose="02010600030101010101" pitchFamily="2" charset="-122"/>
                </a:rPr>
                <a:t>3</a:t>
              </a:r>
            </a:p>
          </p:txBody>
        </p:sp>
        <p:sp>
          <p:nvSpPr>
            <p:cNvPr id="40" name="Rectangle 15"/>
            <p:cNvSpPr>
              <a:spLocks noChangeArrowheads="1"/>
            </p:cNvSpPr>
            <p:nvPr/>
          </p:nvSpPr>
          <p:spPr bwMode="auto">
            <a:xfrm>
              <a:off x="5376"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536" y="1632"/>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488" y="273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487"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624" y="1824"/>
              <a:ext cx="576" cy="1008"/>
            </a:xfrm>
            <a:custGeom>
              <a:avLst/>
              <a:gdLst>
                <a:gd name="T0" fmla="*/ 576 w 576"/>
                <a:gd name="T1" fmla="*/ 921 h 1008"/>
                <a:gd name="T2" fmla="*/ 576 w 576"/>
                <a:gd name="T3" fmla="*/ 1008 h 1008"/>
                <a:gd name="T4" fmla="*/ 0 w 576"/>
                <a:gd name="T5" fmla="*/ 1008 h 1008"/>
                <a:gd name="T6" fmla="*/ 0 w 576"/>
                <a:gd name="T7" fmla="*/ 0 h 1008"/>
                <a:gd name="T8" fmla="*/ 384 w 576"/>
                <a:gd name="T9" fmla="*/ 0 h 1008"/>
                <a:gd name="T10" fmla="*/ 510 w 576"/>
                <a:gd name="T11" fmla="*/ 5 h 1008"/>
                <a:gd name="T12" fmla="*/ 510 w 576"/>
                <a:gd name="T13" fmla="*/ 151 h 1008"/>
                <a:gd name="T14" fmla="*/ 0 60000 65536"/>
                <a:gd name="T15" fmla="*/ 0 60000 65536"/>
                <a:gd name="T16" fmla="*/ 0 60000 65536"/>
                <a:gd name="T17" fmla="*/ 0 60000 65536"/>
                <a:gd name="T18" fmla="*/ 0 60000 65536"/>
                <a:gd name="T19" fmla="*/ 0 60000 65536"/>
                <a:gd name="T20" fmla="*/ 0 60000 65536"/>
                <a:gd name="T21" fmla="*/ 0 w 576"/>
                <a:gd name="T22" fmla="*/ 0 h 1008"/>
                <a:gd name="T23" fmla="*/ 576 w 576"/>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008">
                  <a:moveTo>
                    <a:pt x="576" y="921"/>
                  </a:moveTo>
                  <a:lnTo>
                    <a:pt x="576" y="1008"/>
                  </a:lnTo>
                  <a:lnTo>
                    <a:pt x="0" y="1008"/>
                  </a:lnTo>
                  <a:lnTo>
                    <a:pt x="0" y="0"/>
                  </a:lnTo>
                  <a:lnTo>
                    <a:pt x="384" y="0"/>
                  </a:lnTo>
                  <a:lnTo>
                    <a:pt x="510" y="5"/>
                  </a:lnTo>
                  <a:lnTo>
                    <a:pt x="510" y="151"/>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624" y="2880"/>
              <a:ext cx="576" cy="1056"/>
            </a:xfrm>
            <a:custGeom>
              <a:avLst/>
              <a:gdLst>
                <a:gd name="T0" fmla="*/ 576 w 576"/>
                <a:gd name="T1" fmla="*/ 508 h 1200"/>
                <a:gd name="T2" fmla="*/ 576 w 576"/>
                <a:gd name="T3" fmla="*/ 558 h 1200"/>
                <a:gd name="T4" fmla="*/ 0 w 576"/>
                <a:gd name="T5" fmla="*/ 558 h 1200"/>
                <a:gd name="T6" fmla="*/ 0 w 576"/>
                <a:gd name="T7" fmla="*/ 0 h 1200"/>
                <a:gd name="T8" fmla="*/ 384 w 576"/>
                <a:gd name="T9" fmla="*/ 0 h 1200"/>
                <a:gd name="T10" fmla="*/ 533 w 576"/>
                <a:gd name="T11" fmla="*/ 2 h 1200"/>
                <a:gd name="T12" fmla="*/ 533 w 576"/>
                <a:gd name="T13" fmla="*/ 94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216"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032"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480" y="1728"/>
              <a:ext cx="2789" cy="2336"/>
            </a:xfrm>
            <a:custGeom>
              <a:avLst/>
              <a:gdLst>
                <a:gd name="T0" fmla="*/ 2830 w 2832"/>
                <a:gd name="T1" fmla="*/ 1710 h 2304"/>
                <a:gd name="T2" fmla="*/ 2832 w 2832"/>
                <a:gd name="T3" fmla="*/ 2304 h 2304"/>
                <a:gd name="T4" fmla="*/ 0 w 2832"/>
                <a:gd name="T5" fmla="*/ 2304 h 2304"/>
                <a:gd name="T6" fmla="*/ 0 w 2832"/>
                <a:gd name="T7" fmla="*/ 0 h 2304"/>
                <a:gd name="T8" fmla="*/ 912 w 2832"/>
                <a:gd name="T9" fmla="*/ 0 h 2304"/>
                <a:gd name="T10" fmla="*/ 910 w 2832"/>
                <a:gd name="T11" fmla="*/ 253 h 2304"/>
                <a:gd name="T12" fmla="*/ 0 60000 65536"/>
                <a:gd name="T13" fmla="*/ 0 60000 65536"/>
                <a:gd name="T14" fmla="*/ 0 60000 65536"/>
                <a:gd name="T15" fmla="*/ 0 60000 65536"/>
                <a:gd name="T16" fmla="*/ 0 60000 65536"/>
                <a:gd name="T17" fmla="*/ 0 60000 65536"/>
                <a:gd name="T18" fmla="*/ 0 w 2832"/>
                <a:gd name="T19" fmla="*/ 0 h 2304"/>
                <a:gd name="T20" fmla="*/ 2832 w 2832"/>
                <a:gd name="T21" fmla="*/ 2304 h 2304"/>
              </a:gdLst>
              <a:ahLst/>
              <a:cxnLst>
                <a:cxn ang="T12">
                  <a:pos x="T0" y="T1"/>
                </a:cxn>
                <a:cxn ang="T13">
                  <a:pos x="T2" y="T3"/>
                </a:cxn>
                <a:cxn ang="T14">
                  <a:pos x="T4" y="T5"/>
                </a:cxn>
                <a:cxn ang="T15">
                  <a:pos x="T6" y="T7"/>
                </a:cxn>
                <a:cxn ang="T16">
                  <a:pos x="T8" y="T9"/>
                </a:cxn>
                <a:cxn ang="T17">
                  <a:pos x="T10" y="T11"/>
                </a:cxn>
              </a:cxnLst>
              <a:rect l="T18" t="T19" r="T20" b="T21"/>
              <a:pathLst>
                <a:path w="2832" h="2304">
                  <a:moveTo>
                    <a:pt x="2830" y="1710"/>
                  </a:moveTo>
                  <a:lnTo>
                    <a:pt x="2832" y="2304"/>
                  </a:lnTo>
                  <a:lnTo>
                    <a:pt x="0" y="2304"/>
                  </a:lnTo>
                  <a:lnTo>
                    <a:pt x="0" y="0"/>
                  </a:lnTo>
                  <a:lnTo>
                    <a:pt x="912" y="0"/>
                  </a:lnTo>
                  <a:lnTo>
                    <a:pt x="910" y="25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强度削弱后</a:t>
            </a:r>
          </a:p>
        </p:txBody>
      </p:sp>
    </p:spTree>
    <p:extLst>
      <p:ext uri="{BB962C8B-B14F-4D97-AF65-F5344CB8AC3E}">
        <p14:creationId xmlns:p14="http://schemas.microsoft.com/office/powerpoint/2010/main" val="18207565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7" name="Group 23"/>
          <p:cNvGrpSpPr>
            <a:grpSpLocks/>
          </p:cNvGrpSpPr>
          <p:nvPr/>
        </p:nvGrpSpPr>
        <p:grpSpPr bwMode="auto">
          <a:xfrm>
            <a:off x="278312" y="682553"/>
            <a:ext cx="9239603" cy="6187735"/>
            <a:chOff x="480" y="528"/>
            <a:chExt cx="5280" cy="3536"/>
          </a:xfrm>
        </p:grpSpPr>
        <p:sp>
          <p:nvSpPr>
            <p:cNvPr id="29" name="Rectangle 3"/>
            <p:cNvSpPr>
              <a:spLocks noChangeArrowheads="1"/>
            </p:cNvSpPr>
            <p:nvPr/>
          </p:nvSpPr>
          <p:spPr bwMode="auto">
            <a:xfrm>
              <a:off x="816" y="528"/>
              <a:ext cx="1152" cy="110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a:t>
              </a:r>
            </a:p>
          </p:txBody>
        </p:sp>
        <p:sp>
          <p:nvSpPr>
            <p:cNvPr id="30" name="Rectangle 4"/>
            <p:cNvSpPr>
              <a:spLocks noChangeArrowheads="1"/>
            </p:cNvSpPr>
            <p:nvPr/>
          </p:nvSpPr>
          <p:spPr bwMode="auto">
            <a:xfrm>
              <a:off x="1920"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5"/>
            <p:cNvSpPr>
              <a:spLocks noChangeArrowheads="1"/>
            </p:cNvSpPr>
            <p:nvPr/>
          </p:nvSpPr>
          <p:spPr bwMode="auto">
            <a:xfrm>
              <a:off x="816" y="196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+4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&lt;v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p>
          </p:txBody>
        </p:sp>
        <p:sp>
          <p:nvSpPr>
            <p:cNvPr id="32" name="Rectangle 6"/>
            <p:cNvSpPr>
              <a:spLocks noChangeArrowheads="1"/>
            </p:cNvSpPr>
            <p:nvPr/>
          </p:nvSpPr>
          <p:spPr bwMode="auto">
            <a:xfrm>
              <a:off x="1920"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7"/>
            <p:cNvSpPr>
              <a:spLocks noChangeArrowheads="1"/>
            </p:cNvSpPr>
            <p:nvPr/>
          </p:nvSpPr>
          <p:spPr bwMode="auto">
            <a:xfrm>
              <a:off x="816" y="3072"/>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-4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&gt;v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p>
          </p:txBody>
        </p:sp>
        <p:sp>
          <p:nvSpPr>
            <p:cNvPr id="34" name="Rectangle 8"/>
            <p:cNvSpPr>
              <a:spLocks noChangeArrowheads="1"/>
            </p:cNvSpPr>
            <p:nvPr/>
          </p:nvSpPr>
          <p:spPr bwMode="auto">
            <a:xfrm>
              <a:off x="1920"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9"/>
            <p:cNvSpPr>
              <a:spLocks noChangeArrowheads="1"/>
            </p:cNvSpPr>
            <p:nvPr/>
          </p:nvSpPr>
          <p:spPr bwMode="auto">
            <a:xfrm>
              <a:off x="3264"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if i&gt;=j goto B</a:t>
              </a:r>
              <a:r>
                <a:rPr kumimoji="1" lang="en-US" altLang="zh-CN" sz="2205" b="1" baseline="-25000">
                  <a:solidFill>
                    <a:srgbClr val="FF3300"/>
                  </a:solidFill>
                  <a:latin typeface="Times New Roman" panose="02020603050405020304" pitchFamily="18" charset="0"/>
                  <a:ea typeface="宋体" panose="02010600030101010101" pitchFamily="2" charset="-122"/>
                </a:rPr>
                <a:t>6</a:t>
              </a:r>
            </a:p>
          </p:txBody>
        </p:sp>
        <p:sp>
          <p:nvSpPr>
            <p:cNvPr id="36" name="Rectangle 10"/>
            <p:cNvSpPr>
              <a:spLocks noChangeArrowheads="1"/>
            </p:cNvSpPr>
            <p:nvPr/>
          </p:nvSpPr>
          <p:spPr bwMode="auto">
            <a:xfrm>
              <a:off x="4368"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1"/>
            <p:cNvSpPr>
              <a:spLocks noChangeArrowheads="1"/>
            </p:cNvSpPr>
            <p:nvPr/>
          </p:nvSpPr>
          <p:spPr bwMode="auto">
            <a:xfrm>
              <a:off x="273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2</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30000">
                  <a:solidFill>
                    <a:prstClr val="black"/>
                  </a:solidFill>
                  <a:latin typeface="Times New Roman" panose="02020603050405020304" pitchFamily="18" charset="0"/>
                  <a:ea typeface="宋体" panose="02010600030101010101" pitchFamily="2" charset="-122"/>
                </a:rPr>
                <a:t>5</a:t>
              </a:r>
              <a:endParaRPr kumimoji="1" lang="en-US" altLang="zh-CN" sz="2646"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4</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30000">
                  <a:solidFill>
                    <a:prstClr val="black"/>
                  </a:solidFill>
                  <a:latin typeface="Times New Roman" panose="02020603050405020304" pitchFamily="18" charset="0"/>
                  <a:ea typeface="宋体" panose="02010600030101010101" pitchFamily="2" charset="-122"/>
                </a:rPr>
                <a:t>3</a:t>
              </a:r>
              <a:endParaRPr kumimoji="1" lang="en-US" altLang="zh-CN" sz="2646"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goto B</a:t>
              </a:r>
              <a:r>
                <a:rPr kumimoji="1" lang="en-US" altLang="zh-CN" sz="2646" b="1" baseline="-30000">
                  <a:solidFill>
                    <a:prstClr val="black"/>
                  </a:solidFill>
                  <a:latin typeface="Times New Roman" panose="02020603050405020304" pitchFamily="18" charset="0"/>
                  <a:ea typeface="宋体" panose="02010600030101010101" pitchFamily="2" charset="-122"/>
                </a:rPr>
                <a:t>2</a:t>
              </a:r>
            </a:p>
          </p:txBody>
        </p:sp>
        <p:sp>
          <p:nvSpPr>
            <p:cNvPr id="38" name="Rectangle 12"/>
            <p:cNvSpPr>
              <a:spLocks noChangeArrowheads="1"/>
            </p:cNvSpPr>
            <p:nvPr/>
          </p:nvSpPr>
          <p:spPr bwMode="auto">
            <a:xfrm>
              <a:off x="384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3"/>
            <p:cNvSpPr>
              <a:spLocks noChangeArrowheads="1"/>
            </p:cNvSpPr>
            <p:nvPr/>
          </p:nvSpPr>
          <p:spPr bwMode="auto">
            <a:xfrm>
              <a:off x="4272"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2</a:t>
              </a:r>
              <a:r>
                <a:rPr kumimoji="1" lang="en-US" altLang="zh-CN" sz="2646" b="1">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1</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25000">
                  <a:solidFill>
                    <a:prstClr val="black"/>
                  </a:solidFill>
                  <a:latin typeface="Times New Roman" panose="02020603050405020304" pitchFamily="18" charset="0"/>
                  <a:ea typeface="宋体" panose="02010600030101010101" pitchFamily="2" charset="-122"/>
                </a:rPr>
                <a:t>3</a:t>
              </a:r>
            </a:p>
          </p:txBody>
        </p:sp>
        <p:sp>
          <p:nvSpPr>
            <p:cNvPr id="40" name="Rectangle 14"/>
            <p:cNvSpPr>
              <a:spLocks noChangeArrowheads="1"/>
            </p:cNvSpPr>
            <p:nvPr/>
          </p:nvSpPr>
          <p:spPr bwMode="auto">
            <a:xfrm>
              <a:off x="5376"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5"/>
            <p:cNvSpPr>
              <a:spLocks noChangeShapeType="1"/>
            </p:cNvSpPr>
            <p:nvPr/>
          </p:nvSpPr>
          <p:spPr bwMode="auto">
            <a:xfrm>
              <a:off x="1536" y="1632"/>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6"/>
            <p:cNvSpPr>
              <a:spLocks noChangeShapeType="1"/>
            </p:cNvSpPr>
            <p:nvPr/>
          </p:nvSpPr>
          <p:spPr bwMode="auto">
            <a:xfrm>
              <a:off x="1488" y="273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7"/>
            <p:cNvSpPr>
              <a:spLocks/>
            </p:cNvSpPr>
            <p:nvPr/>
          </p:nvSpPr>
          <p:spPr bwMode="auto">
            <a:xfrm>
              <a:off x="1487"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8"/>
            <p:cNvSpPr>
              <a:spLocks/>
            </p:cNvSpPr>
            <p:nvPr/>
          </p:nvSpPr>
          <p:spPr bwMode="auto">
            <a:xfrm>
              <a:off x="624" y="1824"/>
              <a:ext cx="576" cy="1008"/>
            </a:xfrm>
            <a:custGeom>
              <a:avLst/>
              <a:gdLst>
                <a:gd name="T0" fmla="*/ 576 w 576"/>
                <a:gd name="T1" fmla="*/ 921 h 1008"/>
                <a:gd name="T2" fmla="*/ 576 w 576"/>
                <a:gd name="T3" fmla="*/ 1008 h 1008"/>
                <a:gd name="T4" fmla="*/ 0 w 576"/>
                <a:gd name="T5" fmla="*/ 1008 h 1008"/>
                <a:gd name="T6" fmla="*/ 0 w 576"/>
                <a:gd name="T7" fmla="*/ 0 h 1008"/>
                <a:gd name="T8" fmla="*/ 384 w 576"/>
                <a:gd name="T9" fmla="*/ 0 h 1008"/>
                <a:gd name="T10" fmla="*/ 510 w 576"/>
                <a:gd name="T11" fmla="*/ 5 h 1008"/>
                <a:gd name="T12" fmla="*/ 510 w 576"/>
                <a:gd name="T13" fmla="*/ 151 h 1008"/>
                <a:gd name="T14" fmla="*/ 0 60000 65536"/>
                <a:gd name="T15" fmla="*/ 0 60000 65536"/>
                <a:gd name="T16" fmla="*/ 0 60000 65536"/>
                <a:gd name="T17" fmla="*/ 0 60000 65536"/>
                <a:gd name="T18" fmla="*/ 0 60000 65536"/>
                <a:gd name="T19" fmla="*/ 0 60000 65536"/>
                <a:gd name="T20" fmla="*/ 0 60000 65536"/>
                <a:gd name="T21" fmla="*/ 0 w 576"/>
                <a:gd name="T22" fmla="*/ 0 h 1008"/>
                <a:gd name="T23" fmla="*/ 576 w 576"/>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008">
                  <a:moveTo>
                    <a:pt x="576" y="921"/>
                  </a:moveTo>
                  <a:lnTo>
                    <a:pt x="576" y="1008"/>
                  </a:lnTo>
                  <a:lnTo>
                    <a:pt x="0" y="1008"/>
                  </a:lnTo>
                  <a:lnTo>
                    <a:pt x="0" y="0"/>
                  </a:lnTo>
                  <a:lnTo>
                    <a:pt x="384" y="0"/>
                  </a:lnTo>
                  <a:lnTo>
                    <a:pt x="510" y="5"/>
                  </a:lnTo>
                  <a:lnTo>
                    <a:pt x="510" y="151"/>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19"/>
            <p:cNvSpPr>
              <a:spLocks/>
            </p:cNvSpPr>
            <p:nvPr/>
          </p:nvSpPr>
          <p:spPr bwMode="auto">
            <a:xfrm>
              <a:off x="624" y="2880"/>
              <a:ext cx="576" cy="1056"/>
            </a:xfrm>
            <a:custGeom>
              <a:avLst/>
              <a:gdLst>
                <a:gd name="T0" fmla="*/ 576 w 576"/>
                <a:gd name="T1" fmla="*/ 508 h 1200"/>
                <a:gd name="T2" fmla="*/ 576 w 576"/>
                <a:gd name="T3" fmla="*/ 558 h 1200"/>
                <a:gd name="T4" fmla="*/ 0 w 576"/>
                <a:gd name="T5" fmla="*/ 558 h 1200"/>
                <a:gd name="T6" fmla="*/ 0 w 576"/>
                <a:gd name="T7" fmla="*/ 0 h 1200"/>
                <a:gd name="T8" fmla="*/ 384 w 576"/>
                <a:gd name="T9" fmla="*/ 0 h 1200"/>
                <a:gd name="T10" fmla="*/ 533 w 576"/>
                <a:gd name="T11" fmla="*/ 2 h 1200"/>
                <a:gd name="T12" fmla="*/ 533 w 576"/>
                <a:gd name="T13" fmla="*/ 94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0"/>
            <p:cNvSpPr>
              <a:spLocks noChangeShapeType="1"/>
            </p:cNvSpPr>
            <p:nvPr/>
          </p:nvSpPr>
          <p:spPr bwMode="auto">
            <a:xfrm flipH="1">
              <a:off x="3216"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1"/>
            <p:cNvSpPr>
              <a:spLocks noChangeShapeType="1"/>
            </p:cNvSpPr>
            <p:nvPr/>
          </p:nvSpPr>
          <p:spPr bwMode="auto">
            <a:xfrm>
              <a:off x="4032"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2"/>
            <p:cNvSpPr>
              <a:spLocks/>
            </p:cNvSpPr>
            <p:nvPr/>
          </p:nvSpPr>
          <p:spPr bwMode="auto">
            <a:xfrm>
              <a:off x="480" y="1728"/>
              <a:ext cx="2789" cy="2336"/>
            </a:xfrm>
            <a:custGeom>
              <a:avLst/>
              <a:gdLst>
                <a:gd name="T0" fmla="*/ 2830 w 2832"/>
                <a:gd name="T1" fmla="*/ 1710 h 2304"/>
                <a:gd name="T2" fmla="*/ 2832 w 2832"/>
                <a:gd name="T3" fmla="*/ 2304 h 2304"/>
                <a:gd name="T4" fmla="*/ 0 w 2832"/>
                <a:gd name="T5" fmla="*/ 2304 h 2304"/>
                <a:gd name="T6" fmla="*/ 0 w 2832"/>
                <a:gd name="T7" fmla="*/ 0 h 2304"/>
                <a:gd name="T8" fmla="*/ 912 w 2832"/>
                <a:gd name="T9" fmla="*/ 0 h 2304"/>
                <a:gd name="T10" fmla="*/ 910 w 2832"/>
                <a:gd name="T11" fmla="*/ 253 h 2304"/>
                <a:gd name="T12" fmla="*/ 0 60000 65536"/>
                <a:gd name="T13" fmla="*/ 0 60000 65536"/>
                <a:gd name="T14" fmla="*/ 0 60000 65536"/>
                <a:gd name="T15" fmla="*/ 0 60000 65536"/>
                <a:gd name="T16" fmla="*/ 0 60000 65536"/>
                <a:gd name="T17" fmla="*/ 0 60000 65536"/>
                <a:gd name="T18" fmla="*/ 0 w 2832"/>
                <a:gd name="T19" fmla="*/ 0 h 2304"/>
                <a:gd name="T20" fmla="*/ 2832 w 2832"/>
                <a:gd name="T21" fmla="*/ 2304 h 2304"/>
              </a:gdLst>
              <a:ahLst/>
              <a:cxnLst>
                <a:cxn ang="T12">
                  <a:pos x="T0" y="T1"/>
                </a:cxn>
                <a:cxn ang="T13">
                  <a:pos x="T2" y="T3"/>
                </a:cxn>
                <a:cxn ang="T14">
                  <a:pos x="T4" y="T5"/>
                </a:cxn>
                <a:cxn ang="T15">
                  <a:pos x="T6" y="T7"/>
                </a:cxn>
                <a:cxn ang="T16">
                  <a:pos x="T8" y="T9"/>
                </a:cxn>
                <a:cxn ang="T17">
                  <a:pos x="T10" y="T11"/>
                </a:cxn>
              </a:cxnLst>
              <a:rect l="T18" t="T19" r="T20" b="T21"/>
              <a:pathLst>
                <a:path w="2832" h="2304">
                  <a:moveTo>
                    <a:pt x="2830" y="1710"/>
                  </a:moveTo>
                  <a:lnTo>
                    <a:pt x="2832" y="2304"/>
                  </a:lnTo>
                  <a:lnTo>
                    <a:pt x="0" y="2304"/>
                  </a:lnTo>
                  <a:lnTo>
                    <a:pt x="0" y="0"/>
                  </a:lnTo>
                  <a:lnTo>
                    <a:pt x="912" y="0"/>
                  </a:lnTo>
                  <a:lnTo>
                    <a:pt x="910" y="25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删除归纳变量</a:t>
            </a:r>
          </a:p>
        </p:txBody>
      </p:sp>
    </p:spTree>
    <p:extLst>
      <p:ext uri="{BB962C8B-B14F-4D97-AF65-F5344CB8AC3E}">
        <p14:creationId xmlns:p14="http://schemas.microsoft.com/office/powerpoint/2010/main" val="6505332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7" name="Group 23"/>
          <p:cNvGrpSpPr>
            <a:grpSpLocks/>
          </p:cNvGrpSpPr>
          <p:nvPr/>
        </p:nvGrpSpPr>
        <p:grpSpPr bwMode="auto">
          <a:xfrm>
            <a:off x="278312" y="682553"/>
            <a:ext cx="9239603" cy="6187735"/>
            <a:chOff x="480" y="528"/>
            <a:chExt cx="5280" cy="3536"/>
          </a:xfrm>
        </p:grpSpPr>
        <p:sp>
          <p:nvSpPr>
            <p:cNvPr id="29" name="Rectangle 3"/>
            <p:cNvSpPr>
              <a:spLocks noChangeArrowheads="1"/>
            </p:cNvSpPr>
            <p:nvPr/>
          </p:nvSpPr>
          <p:spPr bwMode="auto">
            <a:xfrm>
              <a:off x="816" y="528"/>
              <a:ext cx="1152" cy="110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a:t>
              </a:r>
            </a:p>
          </p:txBody>
        </p:sp>
        <p:sp>
          <p:nvSpPr>
            <p:cNvPr id="30" name="Rectangle 4"/>
            <p:cNvSpPr>
              <a:spLocks noChangeArrowheads="1"/>
            </p:cNvSpPr>
            <p:nvPr/>
          </p:nvSpPr>
          <p:spPr bwMode="auto">
            <a:xfrm>
              <a:off x="1920"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5"/>
            <p:cNvSpPr>
              <a:spLocks noChangeArrowheads="1"/>
            </p:cNvSpPr>
            <p:nvPr/>
          </p:nvSpPr>
          <p:spPr bwMode="auto">
            <a:xfrm>
              <a:off x="816" y="196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+4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r>
                <a:rPr kumimoji="1" lang="en-US" altLang="zh-CN" sz="2205" b="1" dirty="0">
                  <a:solidFill>
                    <a:prstClr val="black"/>
                  </a:solidFill>
                  <a:latin typeface="Times New Roman" panose="02020603050405020304" pitchFamily="18" charset="0"/>
                  <a:ea typeface="宋体" panose="02010600030101010101" pitchFamily="2" charset="-122"/>
                </a:rPr>
                <a:t>&lt;v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2</a:t>
              </a:r>
            </a:p>
          </p:txBody>
        </p:sp>
        <p:sp>
          <p:nvSpPr>
            <p:cNvPr id="32" name="Rectangle 6"/>
            <p:cNvSpPr>
              <a:spLocks noChangeArrowheads="1"/>
            </p:cNvSpPr>
            <p:nvPr/>
          </p:nvSpPr>
          <p:spPr bwMode="auto">
            <a:xfrm>
              <a:off x="1920"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7"/>
            <p:cNvSpPr>
              <a:spLocks noChangeArrowheads="1"/>
            </p:cNvSpPr>
            <p:nvPr/>
          </p:nvSpPr>
          <p:spPr bwMode="auto">
            <a:xfrm>
              <a:off x="816" y="3072"/>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 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-4 </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:=a[T</a:t>
              </a:r>
              <a:r>
                <a:rPr kumimoji="1" lang="en-US" altLang="zh-CN" sz="2205" b="1" baseline="-25000" dirty="0">
                  <a:solidFill>
                    <a:prstClr val="black"/>
                  </a:solidFill>
                  <a:latin typeface="Times New Roman" panose="02020603050405020304" pitchFamily="18" charset="0"/>
                  <a:ea typeface="宋体" panose="02010600030101010101" pitchFamily="2" charset="-122"/>
                </a:rPr>
                <a:t>4</a:t>
              </a:r>
              <a:r>
                <a:rPr kumimoji="1" lang="en-US" altLang="zh-CN" sz="2205" b="1" dirty="0">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dirty="0">
                  <a:solidFill>
                    <a:prstClr val="black"/>
                  </a:solidFill>
                  <a:latin typeface="Times New Roman" panose="02020603050405020304" pitchFamily="18" charset="0"/>
                  <a:ea typeface="宋体" panose="02010600030101010101" pitchFamily="2" charset="-122"/>
                </a:rPr>
                <a:t>if T</a:t>
              </a:r>
              <a:r>
                <a:rPr kumimoji="1" lang="en-US" altLang="zh-CN" sz="2205" b="1" baseline="-25000" dirty="0">
                  <a:solidFill>
                    <a:prstClr val="black"/>
                  </a:solidFill>
                  <a:latin typeface="Times New Roman" panose="02020603050405020304" pitchFamily="18" charset="0"/>
                  <a:ea typeface="宋体" panose="02010600030101010101" pitchFamily="2" charset="-122"/>
                </a:rPr>
                <a:t>5</a:t>
              </a:r>
              <a:r>
                <a:rPr kumimoji="1" lang="en-US" altLang="zh-CN" sz="2205" b="1" dirty="0">
                  <a:solidFill>
                    <a:prstClr val="black"/>
                  </a:solidFill>
                  <a:latin typeface="Times New Roman" panose="02020603050405020304" pitchFamily="18" charset="0"/>
                  <a:ea typeface="宋体" panose="02010600030101010101" pitchFamily="2" charset="-122"/>
                </a:rPr>
                <a:t>&gt;v </a:t>
              </a:r>
              <a:r>
                <a:rPr kumimoji="1" lang="en-US" altLang="zh-CN" sz="2205" b="1" dirty="0" err="1">
                  <a:solidFill>
                    <a:prstClr val="black"/>
                  </a:solidFill>
                  <a:latin typeface="Times New Roman" panose="02020603050405020304" pitchFamily="18" charset="0"/>
                  <a:ea typeface="宋体" panose="02010600030101010101" pitchFamily="2" charset="-122"/>
                </a:rPr>
                <a:t>goto</a:t>
              </a:r>
              <a:r>
                <a:rPr kumimoji="1" lang="en-US" altLang="zh-CN" sz="2205" b="1" dirty="0">
                  <a:solidFill>
                    <a:prstClr val="black"/>
                  </a:solidFill>
                  <a:latin typeface="Times New Roman" panose="02020603050405020304" pitchFamily="18" charset="0"/>
                  <a:ea typeface="宋体" panose="02010600030101010101" pitchFamily="2" charset="-122"/>
                </a:rPr>
                <a:t> B</a:t>
              </a:r>
              <a:r>
                <a:rPr kumimoji="1" lang="en-US" altLang="zh-CN" sz="2205" b="1" baseline="-25000" dirty="0">
                  <a:solidFill>
                    <a:prstClr val="black"/>
                  </a:solidFill>
                  <a:latin typeface="Times New Roman" panose="02020603050405020304" pitchFamily="18" charset="0"/>
                  <a:ea typeface="宋体" panose="02010600030101010101" pitchFamily="2" charset="-122"/>
                </a:rPr>
                <a:t>3</a:t>
              </a:r>
            </a:p>
          </p:txBody>
        </p:sp>
        <p:sp>
          <p:nvSpPr>
            <p:cNvPr id="34" name="Rectangle 8"/>
            <p:cNvSpPr>
              <a:spLocks noChangeArrowheads="1"/>
            </p:cNvSpPr>
            <p:nvPr/>
          </p:nvSpPr>
          <p:spPr bwMode="auto">
            <a:xfrm>
              <a:off x="1920"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9"/>
            <p:cNvSpPr>
              <a:spLocks noChangeArrowheads="1"/>
            </p:cNvSpPr>
            <p:nvPr/>
          </p:nvSpPr>
          <p:spPr bwMode="auto">
            <a:xfrm>
              <a:off x="3264"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srgbClr val="FF3300"/>
                  </a:solidFill>
                  <a:latin typeface="Times New Roman" panose="02020603050405020304" pitchFamily="18" charset="0"/>
                  <a:ea typeface="宋体" panose="02010600030101010101" pitchFamily="2" charset="-122"/>
                </a:rPr>
                <a:t>if i&gt;=j goto B</a:t>
              </a:r>
              <a:r>
                <a:rPr kumimoji="1" lang="en-US" altLang="zh-CN" sz="2205" b="1" baseline="-25000">
                  <a:solidFill>
                    <a:srgbClr val="FF3300"/>
                  </a:solidFill>
                  <a:latin typeface="Times New Roman" panose="02020603050405020304" pitchFamily="18" charset="0"/>
                  <a:ea typeface="宋体" panose="02010600030101010101" pitchFamily="2" charset="-122"/>
                </a:rPr>
                <a:t>6</a:t>
              </a:r>
            </a:p>
          </p:txBody>
        </p:sp>
        <p:sp>
          <p:nvSpPr>
            <p:cNvPr id="36" name="Rectangle 10"/>
            <p:cNvSpPr>
              <a:spLocks noChangeArrowheads="1"/>
            </p:cNvSpPr>
            <p:nvPr/>
          </p:nvSpPr>
          <p:spPr bwMode="auto">
            <a:xfrm>
              <a:off x="4368"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1"/>
            <p:cNvSpPr>
              <a:spLocks noChangeArrowheads="1"/>
            </p:cNvSpPr>
            <p:nvPr/>
          </p:nvSpPr>
          <p:spPr bwMode="auto">
            <a:xfrm>
              <a:off x="273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2</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30000">
                  <a:solidFill>
                    <a:prstClr val="black"/>
                  </a:solidFill>
                  <a:latin typeface="Times New Roman" panose="02020603050405020304" pitchFamily="18" charset="0"/>
                  <a:ea typeface="宋体" panose="02010600030101010101" pitchFamily="2" charset="-122"/>
                </a:rPr>
                <a:t>5</a:t>
              </a:r>
              <a:endParaRPr kumimoji="1" lang="en-US" altLang="zh-CN" sz="2646"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4</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30000">
                  <a:solidFill>
                    <a:prstClr val="black"/>
                  </a:solidFill>
                  <a:latin typeface="Times New Roman" panose="02020603050405020304" pitchFamily="18" charset="0"/>
                  <a:ea typeface="宋体" panose="02010600030101010101" pitchFamily="2" charset="-122"/>
                </a:rPr>
                <a:t>3</a:t>
              </a:r>
              <a:endParaRPr kumimoji="1" lang="en-US" altLang="zh-CN" sz="2646"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goto B</a:t>
              </a:r>
              <a:r>
                <a:rPr kumimoji="1" lang="en-US" altLang="zh-CN" sz="2646" b="1" baseline="-30000">
                  <a:solidFill>
                    <a:prstClr val="black"/>
                  </a:solidFill>
                  <a:latin typeface="Times New Roman" panose="02020603050405020304" pitchFamily="18" charset="0"/>
                  <a:ea typeface="宋体" panose="02010600030101010101" pitchFamily="2" charset="-122"/>
                </a:rPr>
                <a:t>2</a:t>
              </a:r>
            </a:p>
          </p:txBody>
        </p:sp>
        <p:sp>
          <p:nvSpPr>
            <p:cNvPr id="38" name="Rectangle 12"/>
            <p:cNvSpPr>
              <a:spLocks noChangeArrowheads="1"/>
            </p:cNvSpPr>
            <p:nvPr/>
          </p:nvSpPr>
          <p:spPr bwMode="auto">
            <a:xfrm>
              <a:off x="384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3"/>
            <p:cNvSpPr>
              <a:spLocks noChangeArrowheads="1"/>
            </p:cNvSpPr>
            <p:nvPr/>
          </p:nvSpPr>
          <p:spPr bwMode="auto">
            <a:xfrm>
              <a:off x="4272"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2</a:t>
              </a:r>
              <a:r>
                <a:rPr kumimoji="1" lang="en-US" altLang="zh-CN" sz="2646" b="1">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1</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25000">
                  <a:solidFill>
                    <a:prstClr val="black"/>
                  </a:solidFill>
                  <a:latin typeface="Times New Roman" panose="02020603050405020304" pitchFamily="18" charset="0"/>
                  <a:ea typeface="宋体" panose="02010600030101010101" pitchFamily="2" charset="-122"/>
                </a:rPr>
                <a:t>3</a:t>
              </a:r>
            </a:p>
          </p:txBody>
        </p:sp>
        <p:sp>
          <p:nvSpPr>
            <p:cNvPr id="40" name="Rectangle 14"/>
            <p:cNvSpPr>
              <a:spLocks noChangeArrowheads="1"/>
            </p:cNvSpPr>
            <p:nvPr/>
          </p:nvSpPr>
          <p:spPr bwMode="auto">
            <a:xfrm>
              <a:off x="5376"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5"/>
            <p:cNvSpPr>
              <a:spLocks noChangeShapeType="1"/>
            </p:cNvSpPr>
            <p:nvPr/>
          </p:nvSpPr>
          <p:spPr bwMode="auto">
            <a:xfrm>
              <a:off x="1536" y="1632"/>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6"/>
            <p:cNvSpPr>
              <a:spLocks noChangeShapeType="1"/>
            </p:cNvSpPr>
            <p:nvPr/>
          </p:nvSpPr>
          <p:spPr bwMode="auto">
            <a:xfrm>
              <a:off x="1488" y="273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7"/>
            <p:cNvSpPr>
              <a:spLocks/>
            </p:cNvSpPr>
            <p:nvPr/>
          </p:nvSpPr>
          <p:spPr bwMode="auto">
            <a:xfrm>
              <a:off x="1487"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8"/>
            <p:cNvSpPr>
              <a:spLocks/>
            </p:cNvSpPr>
            <p:nvPr/>
          </p:nvSpPr>
          <p:spPr bwMode="auto">
            <a:xfrm>
              <a:off x="624" y="1824"/>
              <a:ext cx="576" cy="1008"/>
            </a:xfrm>
            <a:custGeom>
              <a:avLst/>
              <a:gdLst>
                <a:gd name="T0" fmla="*/ 576 w 576"/>
                <a:gd name="T1" fmla="*/ 921 h 1008"/>
                <a:gd name="T2" fmla="*/ 576 w 576"/>
                <a:gd name="T3" fmla="*/ 1008 h 1008"/>
                <a:gd name="T4" fmla="*/ 0 w 576"/>
                <a:gd name="T5" fmla="*/ 1008 h 1008"/>
                <a:gd name="T6" fmla="*/ 0 w 576"/>
                <a:gd name="T7" fmla="*/ 0 h 1008"/>
                <a:gd name="T8" fmla="*/ 384 w 576"/>
                <a:gd name="T9" fmla="*/ 0 h 1008"/>
                <a:gd name="T10" fmla="*/ 510 w 576"/>
                <a:gd name="T11" fmla="*/ 5 h 1008"/>
                <a:gd name="T12" fmla="*/ 510 w 576"/>
                <a:gd name="T13" fmla="*/ 151 h 1008"/>
                <a:gd name="T14" fmla="*/ 0 60000 65536"/>
                <a:gd name="T15" fmla="*/ 0 60000 65536"/>
                <a:gd name="T16" fmla="*/ 0 60000 65536"/>
                <a:gd name="T17" fmla="*/ 0 60000 65536"/>
                <a:gd name="T18" fmla="*/ 0 60000 65536"/>
                <a:gd name="T19" fmla="*/ 0 60000 65536"/>
                <a:gd name="T20" fmla="*/ 0 60000 65536"/>
                <a:gd name="T21" fmla="*/ 0 w 576"/>
                <a:gd name="T22" fmla="*/ 0 h 1008"/>
                <a:gd name="T23" fmla="*/ 576 w 576"/>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008">
                  <a:moveTo>
                    <a:pt x="576" y="921"/>
                  </a:moveTo>
                  <a:lnTo>
                    <a:pt x="576" y="1008"/>
                  </a:lnTo>
                  <a:lnTo>
                    <a:pt x="0" y="1008"/>
                  </a:lnTo>
                  <a:lnTo>
                    <a:pt x="0" y="0"/>
                  </a:lnTo>
                  <a:lnTo>
                    <a:pt x="384" y="0"/>
                  </a:lnTo>
                  <a:lnTo>
                    <a:pt x="510" y="5"/>
                  </a:lnTo>
                  <a:lnTo>
                    <a:pt x="510" y="151"/>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19"/>
            <p:cNvSpPr>
              <a:spLocks/>
            </p:cNvSpPr>
            <p:nvPr/>
          </p:nvSpPr>
          <p:spPr bwMode="auto">
            <a:xfrm>
              <a:off x="624" y="2880"/>
              <a:ext cx="576" cy="1056"/>
            </a:xfrm>
            <a:custGeom>
              <a:avLst/>
              <a:gdLst>
                <a:gd name="T0" fmla="*/ 576 w 576"/>
                <a:gd name="T1" fmla="*/ 508 h 1200"/>
                <a:gd name="T2" fmla="*/ 576 w 576"/>
                <a:gd name="T3" fmla="*/ 558 h 1200"/>
                <a:gd name="T4" fmla="*/ 0 w 576"/>
                <a:gd name="T5" fmla="*/ 558 h 1200"/>
                <a:gd name="T6" fmla="*/ 0 w 576"/>
                <a:gd name="T7" fmla="*/ 0 h 1200"/>
                <a:gd name="T8" fmla="*/ 384 w 576"/>
                <a:gd name="T9" fmla="*/ 0 h 1200"/>
                <a:gd name="T10" fmla="*/ 533 w 576"/>
                <a:gd name="T11" fmla="*/ 2 h 1200"/>
                <a:gd name="T12" fmla="*/ 533 w 576"/>
                <a:gd name="T13" fmla="*/ 94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0"/>
            <p:cNvSpPr>
              <a:spLocks noChangeShapeType="1"/>
            </p:cNvSpPr>
            <p:nvPr/>
          </p:nvSpPr>
          <p:spPr bwMode="auto">
            <a:xfrm flipH="1">
              <a:off x="3216"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1"/>
            <p:cNvSpPr>
              <a:spLocks noChangeShapeType="1"/>
            </p:cNvSpPr>
            <p:nvPr/>
          </p:nvSpPr>
          <p:spPr bwMode="auto">
            <a:xfrm>
              <a:off x="4032"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2"/>
            <p:cNvSpPr>
              <a:spLocks/>
            </p:cNvSpPr>
            <p:nvPr/>
          </p:nvSpPr>
          <p:spPr bwMode="auto">
            <a:xfrm>
              <a:off x="480" y="1728"/>
              <a:ext cx="2789" cy="2336"/>
            </a:xfrm>
            <a:custGeom>
              <a:avLst/>
              <a:gdLst>
                <a:gd name="T0" fmla="*/ 2830 w 2832"/>
                <a:gd name="T1" fmla="*/ 1710 h 2304"/>
                <a:gd name="T2" fmla="*/ 2832 w 2832"/>
                <a:gd name="T3" fmla="*/ 2304 h 2304"/>
                <a:gd name="T4" fmla="*/ 0 w 2832"/>
                <a:gd name="T5" fmla="*/ 2304 h 2304"/>
                <a:gd name="T6" fmla="*/ 0 w 2832"/>
                <a:gd name="T7" fmla="*/ 0 h 2304"/>
                <a:gd name="T8" fmla="*/ 912 w 2832"/>
                <a:gd name="T9" fmla="*/ 0 h 2304"/>
                <a:gd name="T10" fmla="*/ 910 w 2832"/>
                <a:gd name="T11" fmla="*/ 253 h 2304"/>
                <a:gd name="T12" fmla="*/ 0 60000 65536"/>
                <a:gd name="T13" fmla="*/ 0 60000 65536"/>
                <a:gd name="T14" fmla="*/ 0 60000 65536"/>
                <a:gd name="T15" fmla="*/ 0 60000 65536"/>
                <a:gd name="T16" fmla="*/ 0 60000 65536"/>
                <a:gd name="T17" fmla="*/ 0 60000 65536"/>
                <a:gd name="T18" fmla="*/ 0 w 2832"/>
                <a:gd name="T19" fmla="*/ 0 h 2304"/>
                <a:gd name="T20" fmla="*/ 2832 w 2832"/>
                <a:gd name="T21" fmla="*/ 2304 h 2304"/>
              </a:gdLst>
              <a:ahLst/>
              <a:cxnLst>
                <a:cxn ang="T12">
                  <a:pos x="T0" y="T1"/>
                </a:cxn>
                <a:cxn ang="T13">
                  <a:pos x="T2" y="T3"/>
                </a:cxn>
                <a:cxn ang="T14">
                  <a:pos x="T4" y="T5"/>
                </a:cxn>
                <a:cxn ang="T15">
                  <a:pos x="T6" y="T7"/>
                </a:cxn>
                <a:cxn ang="T16">
                  <a:pos x="T8" y="T9"/>
                </a:cxn>
                <a:cxn ang="T17">
                  <a:pos x="T10" y="T11"/>
                </a:cxn>
              </a:cxnLst>
              <a:rect l="T18" t="T19" r="T20" b="T21"/>
              <a:pathLst>
                <a:path w="2832" h="2304">
                  <a:moveTo>
                    <a:pt x="2830" y="1710"/>
                  </a:moveTo>
                  <a:lnTo>
                    <a:pt x="2832" y="2304"/>
                  </a:lnTo>
                  <a:lnTo>
                    <a:pt x="0" y="2304"/>
                  </a:lnTo>
                  <a:lnTo>
                    <a:pt x="0" y="0"/>
                  </a:lnTo>
                  <a:lnTo>
                    <a:pt x="912" y="0"/>
                  </a:lnTo>
                  <a:lnTo>
                    <a:pt x="910" y="25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删除归纳变量</a:t>
            </a:r>
          </a:p>
        </p:txBody>
      </p:sp>
    </p:spTree>
    <p:extLst>
      <p:ext uri="{BB962C8B-B14F-4D97-AF65-F5344CB8AC3E}">
        <p14:creationId xmlns:p14="http://schemas.microsoft.com/office/powerpoint/2010/main" val="1853664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23"/>
          <p:cNvGrpSpPr>
            <a:grpSpLocks/>
          </p:cNvGrpSpPr>
          <p:nvPr/>
        </p:nvGrpSpPr>
        <p:grpSpPr bwMode="auto">
          <a:xfrm>
            <a:off x="278312" y="682553"/>
            <a:ext cx="9239603" cy="6187735"/>
            <a:chOff x="480" y="528"/>
            <a:chExt cx="5280" cy="3536"/>
          </a:xfrm>
        </p:grpSpPr>
        <p:sp>
          <p:nvSpPr>
            <p:cNvPr id="29" name="Rectangle 3"/>
            <p:cNvSpPr>
              <a:spLocks noChangeArrowheads="1"/>
            </p:cNvSpPr>
            <p:nvPr/>
          </p:nvSpPr>
          <p:spPr bwMode="auto">
            <a:xfrm>
              <a:off x="816" y="528"/>
              <a:ext cx="1152" cy="110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a:t>
              </a:r>
            </a:p>
          </p:txBody>
        </p:sp>
        <p:sp>
          <p:nvSpPr>
            <p:cNvPr id="30" name="Rectangle 4"/>
            <p:cNvSpPr>
              <a:spLocks noChangeArrowheads="1"/>
            </p:cNvSpPr>
            <p:nvPr/>
          </p:nvSpPr>
          <p:spPr bwMode="auto">
            <a:xfrm>
              <a:off x="1920"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5"/>
            <p:cNvSpPr>
              <a:spLocks noChangeArrowheads="1"/>
            </p:cNvSpPr>
            <p:nvPr/>
          </p:nvSpPr>
          <p:spPr bwMode="auto">
            <a:xfrm>
              <a:off x="816" y="196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6"/>
            <p:cNvSpPr>
              <a:spLocks noChangeArrowheads="1"/>
            </p:cNvSpPr>
            <p:nvPr/>
          </p:nvSpPr>
          <p:spPr bwMode="auto">
            <a:xfrm>
              <a:off x="1920"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7"/>
            <p:cNvSpPr>
              <a:spLocks noChangeArrowheads="1"/>
            </p:cNvSpPr>
            <p:nvPr/>
          </p:nvSpPr>
          <p:spPr bwMode="auto">
            <a:xfrm>
              <a:off x="816" y="3072"/>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8"/>
            <p:cNvSpPr>
              <a:spLocks noChangeArrowheads="1"/>
            </p:cNvSpPr>
            <p:nvPr/>
          </p:nvSpPr>
          <p:spPr bwMode="auto">
            <a:xfrm>
              <a:off x="1920"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9"/>
            <p:cNvSpPr>
              <a:spLocks noChangeArrowheads="1"/>
            </p:cNvSpPr>
            <p:nvPr/>
          </p:nvSpPr>
          <p:spPr bwMode="auto">
            <a:xfrm>
              <a:off x="3120" y="1008"/>
              <a:ext cx="1296"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dirty="0">
                  <a:solidFill>
                    <a:srgbClr val="FF3300"/>
                  </a:solidFill>
                  <a:latin typeface="Times New Roman" panose="02020603050405020304" pitchFamily="18" charset="0"/>
                  <a:ea typeface="宋体" panose="02010600030101010101" pitchFamily="2" charset="-122"/>
                </a:rPr>
                <a:t>if T</a:t>
              </a:r>
              <a:r>
                <a:rPr kumimoji="1" lang="en-US" altLang="zh-CN" sz="2205" b="1" baseline="-25000" dirty="0">
                  <a:solidFill>
                    <a:srgbClr val="FF3300"/>
                  </a:solidFill>
                  <a:latin typeface="Times New Roman" panose="02020603050405020304" pitchFamily="18" charset="0"/>
                  <a:ea typeface="宋体" panose="02010600030101010101" pitchFamily="2" charset="-122"/>
                </a:rPr>
                <a:t>2</a:t>
              </a:r>
              <a:r>
                <a:rPr kumimoji="1" lang="en-US" altLang="zh-CN" sz="2205" b="1" dirty="0">
                  <a:solidFill>
                    <a:srgbClr val="FF3300"/>
                  </a:solidFill>
                  <a:latin typeface="Times New Roman" panose="02020603050405020304" pitchFamily="18" charset="0"/>
                  <a:ea typeface="宋体" panose="02010600030101010101" pitchFamily="2" charset="-122"/>
                </a:rPr>
                <a:t>&gt;=T</a:t>
              </a:r>
              <a:r>
                <a:rPr kumimoji="1" lang="en-US" altLang="zh-CN" sz="2205" b="1" baseline="-25000" dirty="0">
                  <a:solidFill>
                    <a:srgbClr val="FF3300"/>
                  </a:solidFill>
                  <a:latin typeface="Times New Roman" panose="02020603050405020304" pitchFamily="18" charset="0"/>
                  <a:ea typeface="宋体" panose="02010600030101010101" pitchFamily="2" charset="-122"/>
                </a:rPr>
                <a:t>4</a:t>
              </a:r>
              <a:r>
                <a:rPr kumimoji="1" lang="en-US" altLang="zh-CN" sz="2205" b="1" dirty="0">
                  <a:solidFill>
                    <a:srgbClr val="FF3300"/>
                  </a:solidFill>
                  <a:latin typeface="Times New Roman" panose="02020603050405020304" pitchFamily="18" charset="0"/>
                  <a:ea typeface="宋体" panose="02010600030101010101" pitchFamily="2" charset="-122"/>
                </a:rPr>
                <a:t> </a:t>
              </a:r>
              <a:r>
                <a:rPr kumimoji="1" lang="en-US" altLang="zh-CN" sz="2205" b="1" dirty="0" err="1">
                  <a:solidFill>
                    <a:srgbClr val="FF3300"/>
                  </a:solidFill>
                  <a:latin typeface="Times New Roman" panose="02020603050405020304" pitchFamily="18" charset="0"/>
                  <a:ea typeface="宋体" panose="02010600030101010101" pitchFamily="2" charset="-122"/>
                </a:rPr>
                <a:t>goto</a:t>
              </a:r>
              <a:r>
                <a:rPr kumimoji="1" lang="en-US" altLang="zh-CN" sz="2205" b="1" dirty="0">
                  <a:solidFill>
                    <a:srgbClr val="FF3300"/>
                  </a:solidFill>
                  <a:latin typeface="Times New Roman" panose="02020603050405020304" pitchFamily="18" charset="0"/>
                  <a:ea typeface="宋体" panose="02010600030101010101" pitchFamily="2" charset="-122"/>
                </a:rPr>
                <a:t> B</a:t>
              </a:r>
              <a:r>
                <a:rPr kumimoji="1" lang="en-US" altLang="zh-CN" sz="2205" b="1" baseline="-25000" dirty="0">
                  <a:solidFill>
                    <a:srgbClr val="FF3300"/>
                  </a:solidFill>
                  <a:latin typeface="Times New Roman" panose="02020603050405020304" pitchFamily="18" charset="0"/>
                  <a:ea typeface="宋体" panose="02010600030101010101" pitchFamily="2" charset="-122"/>
                </a:rPr>
                <a:t>6</a:t>
              </a:r>
            </a:p>
          </p:txBody>
        </p:sp>
        <p:sp>
          <p:nvSpPr>
            <p:cNvPr id="36" name="Rectangle 10"/>
            <p:cNvSpPr>
              <a:spLocks noChangeArrowheads="1"/>
            </p:cNvSpPr>
            <p:nvPr/>
          </p:nvSpPr>
          <p:spPr bwMode="auto">
            <a:xfrm>
              <a:off x="4368"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1"/>
            <p:cNvSpPr>
              <a:spLocks noChangeArrowheads="1"/>
            </p:cNvSpPr>
            <p:nvPr/>
          </p:nvSpPr>
          <p:spPr bwMode="auto">
            <a:xfrm>
              <a:off x="273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2</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30000">
                  <a:solidFill>
                    <a:prstClr val="black"/>
                  </a:solidFill>
                  <a:latin typeface="Times New Roman" panose="02020603050405020304" pitchFamily="18" charset="0"/>
                  <a:ea typeface="宋体" panose="02010600030101010101" pitchFamily="2" charset="-122"/>
                </a:rPr>
                <a:t>5</a:t>
              </a:r>
              <a:endParaRPr kumimoji="1" lang="en-US" altLang="zh-CN" sz="2646"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4</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30000">
                  <a:solidFill>
                    <a:prstClr val="black"/>
                  </a:solidFill>
                  <a:latin typeface="Times New Roman" panose="02020603050405020304" pitchFamily="18" charset="0"/>
                  <a:ea typeface="宋体" panose="02010600030101010101" pitchFamily="2" charset="-122"/>
                </a:rPr>
                <a:t>3</a:t>
              </a:r>
              <a:endParaRPr kumimoji="1" lang="en-US" altLang="zh-CN" sz="2646"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goto B</a:t>
              </a:r>
              <a:r>
                <a:rPr kumimoji="1" lang="en-US" altLang="zh-CN" sz="2646" b="1" baseline="-30000">
                  <a:solidFill>
                    <a:prstClr val="black"/>
                  </a:solidFill>
                  <a:latin typeface="Times New Roman" panose="02020603050405020304" pitchFamily="18" charset="0"/>
                  <a:ea typeface="宋体" panose="02010600030101010101" pitchFamily="2" charset="-122"/>
                </a:rPr>
                <a:t>2</a:t>
              </a:r>
            </a:p>
          </p:txBody>
        </p:sp>
        <p:sp>
          <p:nvSpPr>
            <p:cNvPr id="38" name="Rectangle 12"/>
            <p:cNvSpPr>
              <a:spLocks noChangeArrowheads="1"/>
            </p:cNvSpPr>
            <p:nvPr/>
          </p:nvSpPr>
          <p:spPr bwMode="auto">
            <a:xfrm>
              <a:off x="384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3"/>
            <p:cNvSpPr>
              <a:spLocks noChangeArrowheads="1"/>
            </p:cNvSpPr>
            <p:nvPr/>
          </p:nvSpPr>
          <p:spPr bwMode="auto">
            <a:xfrm>
              <a:off x="4272"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2</a:t>
              </a:r>
              <a:r>
                <a:rPr kumimoji="1" lang="en-US" altLang="zh-CN" sz="2646" b="1">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1</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25000">
                  <a:solidFill>
                    <a:prstClr val="black"/>
                  </a:solidFill>
                  <a:latin typeface="Times New Roman" panose="02020603050405020304" pitchFamily="18" charset="0"/>
                  <a:ea typeface="宋体" panose="02010600030101010101" pitchFamily="2" charset="-122"/>
                </a:rPr>
                <a:t>3</a:t>
              </a:r>
            </a:p>
          </p:txBody>
        </p:sp>
        <p:sp>
          <p:nvSpPr>
            <p:cNvPr id="40" name="Rectangle 14"/>
            <p:cNvSpPr>
              <a:spLocks noChangeArrowheads="1"/>
            </p:cNvSpPr>
            <p:nvPr/>
          </p:nvSpPr>
          <p:spPr bwMode="auto">
            <a:xfrm>
              <a:off x="5376"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5"/>
            <p:cNvSpPr>
              <a:spLocks noChangeShapeType="1"/>
            </p:cNvSpPr>
            <p:nvPr/>
          </p:nvSpPr>
          <p:spPr bwMode="auto">
            <a:xfrm>
              <a:off x="1536" y="1632"/>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6"/>
            <p:cNvSpPr>
              <a:spLocks noChangeShapeType="1"/>
            </p:cNvSpPr>
            <p:nvPr/>
          </p:nvSpPr>
          <p:spPr bwMode="auto">
            <a:xfrm>
              <a:off x="1488" y="273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7"/>
            <p:cNvSpPr>
              <a:spLocks/>
            </p:cNvSpPr>
            <p:nvPr/>
          </p:nvSpPr>
          <p:spPr bwMode="auto">
            <a:xfrm>
              <a:off x="1487"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8"/>
            <p:cNvSpPr>
              <a:spLocks/>
            </p:cNvSpPr>
            <p:nvPr/>
          </p:nvSpPr>
          <p:spPr bwMode="auto">
            <a:xfrm>
              <a:off x="624" y="1824"/>
              <a:ext cx="576" cy="1008"/>
            </a:xfrm>
            <a:custGeom>
              <a:avLst/>
              <a:gdLst>
                <a:gd name="T0" fmla="*/ 576 w 576"/>
                <a:gd name="T1" fmla="*/ 921 h 1008"/>
                <a:gd name="T2" fmla="*/ 576 w 576"/>
                <a:gd name="T3" fmla="*/ 1008 h 1008"/>
                <a:gd name="T4" fmla="*/ 0 w 576"/>
                <a:gd name="T5" fmla="*/ 1008 h 1008"/>
                <a:gd name="T6" fmla="*/ 0 w 576"/>
                <a:gd name="T7" fmla="*/ 0 h 1008"/>
                <a:gd name="T8" fmla="*/ 384 w 576"/>
                <a:gd name="T9" fmla="*/ 0 h 1008"/>
                <a:gd name="T10" fmla="*/ 510 w 576"/>
                <a:gd name="T11" fmla="*/ 5 h 1008"/>
                <a:gd name="T12" fmla="*/ 510 w 576"/>
                <a:gd name="T13" fmla="*/ 151 h 1008"/>
                <a:gd name="T14" fmla="*/ 0 60000 65536"/>
                <a:gd name="T15" fmla="*/ 0 60000 65536"/>
                <a:gd name="T16" fmla="*/ 0 60000 65536"/>
                <a:gd name="T17" fmla="*/ 0 60000 65536"/>
                <a:gd name="T18" fmla="*/ 0 60000 65536"/>
                <a:gd name="T19" fmla="*/ 0 60000 65536"/>
                <a:gd name="T20" fmla="*/ 0 60000 65536"/>
                <a:gd name="T21" fmla="*/ 0 w 576"/>
                <a:gd name="T22" fmla="*/ 0 h 1008"/>
                <a:gd name="T23" fmla="*/ 576 w 576"/>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008">
                  <a:moveTo>
                    <a:pt x="576" y="921"/>
                  </a:moveTo>
                  <a:lnTo>
                    <a:pt x="576" y="1008"/>
                  </a:lnTo>
                  <a:lnTo>
                    <a:pt x="0" y="1008"/>
                  </a:lnTo>
                  <a:lnTo>
                    <a:pt x="0" y="0"/>
                  </a:lnTo>
                  <a:lnTo>
                    <a:pt x="384" y="0"/>
                  </a:lnTo>
                  <a:lnTo>
                    <a:pt x="510" y="5"/>
                  </a:lnTo>
                  <a:lnTo>
                    <a:pt x="510" y="151"/>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19"/>
            <p:cNvSpPr>
              <a:spLocks/>
            </p:cNvSpPr>
            <p:nvPr/>
          </p:nvSpPr>
          <p:spPr bwMode="auto">
            <a:xfrm>
              <a:off x="624" y="2880"/>
              <a:ext cx="576" cy="1056"/>
            </a:xfrm>
            <a:custGeom>
              <a:avLst/>
              <a:gdLst>
                <a:gd name="T0" fmla="*/ 576 w 576"/>
                <a:gd name="T1" fmla="*/ 508 h 1200"/>
                <a:gd name="T2" fmla="*/ 576 w 576"/>
                <a:gd name="T3" fmla="*/ 558 h 1200"/>
                <a:gd name="T4" fmla="*/ 0 w 576"/>
                <a:gd name="T5" fmla="*/ 558 h 1200"/>
                <a:gd name="T6" fmla="*/ 0 w 576"/>
                <a:gd name="T7" fmla="*/ 0 h 1200"/>
                <a:gd name="T8" fmla="*/ 384 w 576"/>
                <a:gd name="T9" fmla="*/ 0 h 1200"/>
                <a:gd name="T10" fmla="*/ 533 w 576"/>
                <a:gd name="T11" fmla="*/ 2 h 1200"/>
                <a:gd name="T12" fmla="*/ 533 w 576"/>
                <a:gd name="T13" fmla="*/ 94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0"/>
            <p:cNvSpPr>
              <a:spLocks noChangeShapeType="1"/>
            </p:cNvSpPr>
            <p:nvPr/>
          </p:nvSpPr>
          <p:spPr bwMode="auto">
            <a:xfrm flipH="1">
              <a:off x="3216"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1"/>
            <p:cNvSpPr>
              <a:spLocks noChangeShapeType="1"/>
            </p:cNvSpPr>
            <p:nvPr/>
          </p:nvSpPr>
          <p:spPr bwMode="auto">
            <a:xfrm>
              <a:off x="4032"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2"/>
            <p:cNvSpPr>
              <a:spLocks/>
            </p:cNvSpPr>
            <p:nvPr/>
          </p:nvSpPr>
          <p:spPr bwMode="auto">
            <a:xfrm>
              <a:off x="480" y="1728"/>
              <a:ext cx="2789" cy="2336"/>
            </a:xfrm>
            <a:custGeom>
              <a:avLst/>
              <a:gdLst>
                <a:gd name="T0" fmla="*/ 2830 w 2832"/>
                <a:gd name="T1" fmla="*/ 1710 h 2304"/>
                <a:gd name="T2" fmla="*/ 2832 w 2832"/>
                <a:gd name="T3" fmla="*/ 2304 h 2304"/>
                <a:gd name="T4" fmla="*/ 0 w 2832"/>
                <a:gd name="T5" fmla="*/ 2304 h 2304"/>
                <a:gd name="T6" fmla="*/ 0 w 2832"/>
                <a:gd name="T7" fmla="*/ 0 h 2304"/>
                <a:gd name="T8" fmla="*/ 912 w 2832"/>
                <a:gd name="T9" fmla="*/ 0 h 2304"/>
                <a:gd name="T10" fmla="*/ 910 w 2832"/>
                <a:gd name="T11" fmla="*/ 253 h 2304"/>
                <a:gd name="T12" fmla="*/ 0 60000 65536"/>
                <a:gd name="T13" fmla="*/ 0 60000 65536"/>
                <a:gd name="T14" fmla="*/ 0 60000 65536"/>
                <a:gd name="T15" fmla="*/ 0 60000 65536"/>
                <a:gd name="T16" fmla="*/ 0 60000 65536"/>
                <a:gd name="T17" fmla="*/ 0 60000 65536"/>
                <a:gd name="T18" fmla="*/ 0 w 2832"/>
                <a:gd name="T19" fmla="*/ 0 h 2304"/>
                <a:gd name="T20" fmla="*/ 2832 w 2832"/>
                <a:gd name="T21" fmla="*/ 2304 h 2304"/>
              </a:gdLst>
              <a:ahLst/>
              <a:cxnLst>
                <a:cxn ang="T12">
                  <a:pos x="T0" y="T1"/>
                </a:cxn>
                <a:cxn ang="T13">
                  <a:pos x="T2" y="T3"/>
                </a:cxn>
                <a:cxn ang="T14">
                  <a:pos x="T4" y="T5"/>
                </a:cxn>
                <a:cxn ang="T15">
                  <a:pos x="T6" y="T7"/>
                </a:cxn>
                <a:cxn ang="T16">
                  <a:pos x="T8" y="T9"/>
                </a:cxn>
                <a:cxn ang="T17">
                  <a:pos x="T10" y="T11"/>
                </a:cxn>
              </a:cxnLst>
              <a:rect l="T18" t="T19" r="T20" b="T21"/>
              <a:pathLst>
                <a:path w="2832" h="2304">
                  <a:moveTo>
                    <a:pt x="2830" y="1710"/>
                  </a:moveTo>
                  <a:lnTo>
                    <a:pt x="2832" y="2304"/>
                  </a:lnTo>
                  <a:lnTo>
                    <a:pt x="0" y="2304"/>
                  </a:lnTo>
                  <a:lnTo>
                    <a:pt x="0" y="0"/>
                  </a:lnTo>
                  <a:lnTo>
                    <a:pt x="912" y="0"/>
                  </a:lnTo>
                  <a:lnTo>
                    <a:pt x="910" y="25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713" y="6529845"/>
            <a:ext cx="3372104" cy="5672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变换循环控制条件</a:t>
            </a:r>
          </a:p>
        </p:txBody>
      </p:sp>
    </p:spTree>
    <p:extLst>
      <p:ext uri="{BB962C8B-B14F-4D97-AF65-F5344CB8AC3E}">
        <p14:creationId xmlns:p14="http://schemas.microsoft.com/office/powerpoint/2010/main" val="26901107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198317" y="682553"/>
            <a:ext cx="9323599" cy="6154487"/>
            <a:chOff x="576" y="528"/>
            <a:chExt cx="5328" cy="3517"/>
          </a:xfrm>
        </p:grpSpPr>
        <p:sp>
          <p:nvSpPr>
            <p:cNvPr id="29" name="Rectangle 4"/>
            <p:cNvSpPr>
              <a:spLocks noChangeArrowheads="1"/>
            </p:cNvSpPr>
            <p:nvPr/>
          </p:nvSpPr>
          <p:spPr bwMode="auto">
            <a:xfrm>
              <a:off x="960" y="52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p:txBody>
        </p:sp>
        <p:sp>
          <p:nvSpPr>
            <p:cNvPr id="30" name="Rectangle 5"/>
            <p:cNvSpPr>
              <a:spLocks noChangeArrowheads="1"/>
            </p:cNvSpPr>
            <p:nvPr/>
          </p:nvSpPr>
          <p:spPr bwMode="auto">
            <a:xfrm>
              <a:off x="2064"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960" y="1632"/>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i:=i+1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2064"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960" y="2928"/>
              <a:ext cx="1152" cy="912"/>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j:=j-1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2064"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408" y="1008"/>
              <a:ext cx="1152"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i&gt;=j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512"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880"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6</a:t>
              </a:r>
              <a:r>
                <a:rPr kumimoji="1" lang="en-US" altLang="zh-CN" sz="2205" b="1">
                  <a:solidFill>
                    <a:prstClr val="black"/>
                  </a:solidFill>
                  <a:latin typeface="Times New Roman" panose="02020603050405020304" pitchFamily="18" charset="0"/>
                  <a:ea typeface="宋体" panose="02010600030101010101" pitchFamily="2" charset="-122"/>
                </a:rPr>
                <a:t>:=4*i</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x:=a [T</a:t>
              </a:r>
              <a:r>
                <a:rPr kumimoji="1" lang="en-US" altLang="zh-CN" sz="2205" b="1" baseline="-30000">
                  <a:solidFill>
                    <a:prstClr val="black"/>
                  </a:solidFill>
                  <a:latin typeface="Times New Roman" panose="02020603050405020304" pitchFamily="18" charset="0"/>
                  <a:ea typeface="宋体" panose="02010600030101010101" pitchFamily="2" charset="-122"/>
                </a:rPr>
                <a:t>6</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7</a:t>
              </a:r>
              <a:r>
                <a:rPr kumimoji="1" lang="en-US" altLang="zh-CN" sz="2205" b="1">
                  <a:solidFill>
                    <a:prstClr val="black"/>
                  </a:solidFill>
                  <a:latin typeface="Times New Roman" panose="02020603050405020304" pitchFamily="18" charset="0"/>
                  <a:ea typeface="宋体" panose="02010600030101010101" pitchFamily="2" charset="-122"/>
                </a:rPr>
                <a:t>:=4*i</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8</a:t>
              </a:r>
              <a:r>
                <a:rPr kumimoji="1" lang="en-US" altLang="zh-CN" sz="2205" b="1">
                  <a:solidFill>
                    <a:prstClr val="black"/>
                  </a:solidFill>
                  <a:latin typeface="Times New Roman" panose="02020603050405020304" pitchFamily="18" charset="0"/>
                  <a:ea typeface="宋体" panose="02010600030101010101" pitchFamily="2" charset="-122"/>
                </a:rPr>
                <a:t>:=4*j</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9</a:t>
              </a:r>
              <a:r>
                <a:rPr kumimoji="1" lang="en-US" altLang="zh-CN" sz="2205" b="1">
                  <a:solidFill>
                    <a:prstClr val="black"/>
                  </a:solidFill>
                  <a:latin typeface="Times New Roman" panose="02020603050405020304" pitchFamily="18" charset="0"/>
                  <a:ea typeface="宋体" panose="02010600030101010101" pitchFamily="2" charset="-122"/>
                </a:rPr>
                <a:t>:=a [T</a:t>
              </a:r>
              <a:r>
                <a:rPr kumimoji="1" lang="en-US" altLang="zh-CN" sz="2205" b="1" baseline="-30000">
                  <a:solidFill>
                    <a:prstClr val="black"/>
                  </a:solidFill>
                  <a:latin typeface="Times New Roman" panose="02020603050405020304" pitchFamily="18" charset="0"/>
                  <a:ea typeface="宋体" panose="02010600030101010101" pitchFamily="2" charset="-122"/>
                </a:rPr>
                <a:t>8</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 [T</a:t>
              </a:r>
              <a:r>
                <a:rPr kumimoji="1" lang="en-US" altLang="zh-CN" sz="2205" b="1" baseline="-30000">
                  <a:solidFill>
                    <a:prstClr val="black"/>
                  </a:solidFill>
                  <a:latin typeface="Times New Roman" panose="02020603050405020304" pitchFamily="18" charset="0"/>
                  <a:ea typeface="宋体" panose="02010600030101010101" pitchFamily="2" charset="-122"/>
                </a:rPr>
                <a:t>7</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9</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10</a:t>
              </a:r>
              <a:r>
                <a:rPr kumimoji="1" lang="en-US" altLang="zh-CN" sz="2205" b="1">
                  <a:solidFill>
                    <a:prstClr val="black"/>
                  </a:solidFill>
                  <a:latin typeface="Times New Roman" panose="02020603050405020304" pitchFamily="18" charset="0"/>
                  <a:ea typeface="宋体" panose="02010600030101010101" pitchFamily="2" charset="-122"/>
                </a:rPr>
                <a:t>:= 4*j</a:t>
              </a:r>
              <a:r>
                <a:rPr kumimoji="1" lang="en-US" altLang="zh-CN" sz="2205" b="1" baseline="-30000">
                  <a:solidFill>
                    <a:srgbClr val="FF3300"/>
                  </a:solidFill>
                  <a:latin typeface="Times New Roman" panose="02020603050405020304" pitchFamily="18" charset="0"/>
                  <a:ea typeface="宋体" panose="02010600030101010101" pitchFamily="2" charset="-122"/>
                </a:rPr>
                <a:t> </a:t>
              </a:r>
              <a:endParaRPr kumimoji="1" lang="en-US" altLang="zh-CN" sz="2205" b="1">
                <a:solidFill>
                  <a:srgbClr val="FF3300"/>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 [T</a:t>
              </a:r>
              <a:r>
                <a:rPr kumimoji="1" lang="en-US" altLang="zh-CN" sz="2205" b="1" baseline="-30000">
                  <a:solidFill>
                    <a:prstClr val="black"/>
                  </a:solidFill>
                  <a:latin typeface="Times New Roman" panose="02020603050405020304" pitchFamily="18" charset="0"/>
                  <a:ea typeface="宋体" panose="02010600030101010101" pitchFamily="2" charset="-122"/>
                </a:rPr>
                <a:t>10</a:t>
              </a:r>
              <a:r>
                <a:rPr kumimoji="1" lang="en-US" altLang="zh-CN" sz="2205" b="1">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goto B</a:t>
              </a:r>
              <a:r>
                <a:rPr kumimoji="1" lang="en-US" altLang="zh-CN" sz="2205" b="1" baseline="-3000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984"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41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11</a:t>
              </a:r>
              <a:r>
                <a:rPr kumimoji="1" lang="en-US" altLang="zh-CN" sz="2205" b="1">
                  <a:solidFill>
                    <a:prstClr val="black"/>
                  </a:solidFill>
                  <a:latin typeface="Times New Roman" panose="02020603050405020304" pitchFamily="18" charset="0"/>
                  <a:ea typeface="宋体" panose="02010600030101010101" pitchFamily="2" charset="-122"/>
                </a:rPr>
                <a:t>:=4*i</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x:=a [T</a:t>
              </a:r>
              <a:r>
                <a:rPr kumimoji="1" lang="en-US" altLang="zh-CN" sz="2205" b="1" baseline="-30000">
                  <a:solidFill>
                    <a:prstClr val="black"/>
                  </a:solidFill>
                  <a:latin typeface="Times New Roman" panose="02020603050405020304" pitchFamily="18" charset="0"/>
                  <a:ea typeface="宋体" panose="02010600030101010101" pitchFamily="2" charset="-122"/>
                </a:rPr>
                <a:t>11</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12</a:t>
              </a:r>
              <a:r>
                <a:rPr kumimoji="1" lang="en-US" altLang="zh-CN" sz="2205" b="1">
                  <a:solidFill>
                    <a:prstClr val="black"/>
                  </a:solidFill>
                  <a:latin typeface="Times New Roman" panose="02020603050405020304" pitchFamily="18" charset="0"/>
                  <a:ea typeface="宋体" panose="02010600030101010101" pitchFamily="2" charset="-122"/>
                </a:rPr>
                <a:t>:=4*i</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13</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14</a:t>
              </a:r>
              <a:r>
                <a:rPr kumimoji="1" lang="en-US" altLang="zh-CN" sz="2205" b="1">
                  <a:solidFill>
                    <a:prstClr val="black"/>
                  </a:solidFill>
                  <a:latin typeface="Times New Roman" panose="02020603050405020304" pitchFamily="18" charset="0"/>
                  <a:ea typeface="宋体" panose="02010600030101010101" pitchFamily="2" charset="-122"/>
                </a:rPr>
                <a:t>:=a [T</a:t>
              </a:r>
              <a:r>
                <a:rPr kumimoji="1" lang="en-US" altLang="zh-CN" sz="2205" b="1" baseline="-30000">
                  <a:solidFill>
                    <a:prstClr val="black"/>
                  </a:solidFill>
                  <a:latin typeface="Times New Roman" panose="02020603050405020304" pitchFamily="18" charset="0"/>
                  <a:ea typeface="宋体" panose="02010600030101010101" pitchFamily="2" charset="-122"/>
                </a:rPr>
                <a:t>13</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 [T</a:t>
              </a:r>
              <a:r>
                <a:rPr kumimoji="1" lang="en-US" altLang="zh-CN" sz="2205" b="1" baseline="-30000">
                  <a:solidFill>
                    <a:prstClr val="black"/>
                  </a:solidFill>
                  <a:latin typeface="Times New Roman" panose="02020603050405020304" pitchFamily="18" charset="0"/>
                  <a:ea typeface="宋体" panose="02010600030101010101" pitchFamily="2" charset="-122"/>
                </a:rPr>
                <a:t>12</a:t>
              </a: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14</a:t>
              </a:r>
              <a:endParaRPr kumimoji="1" lang="en-US" altLang="zh-CN" sz="2205"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30000">
                  <a:solidFill>
                    <a:prstClr val="black"/>
                  </a:solidFill>
                  <a:latin typeface="Times New Roman" panose="02020603050405020304" pitchFamily="18" charset="0"/>
                  <a:ea typeface="宋体" panose="02010600030101010101" pitchFamily="2" charset="-122"/>
                </a:rPr>
                <a:t>15</a:t>
              </a:r>
              <a:r>
                <a:rPr kumimoji="1" lang="en-US" altLang="zh-CN" sz="2205" b="1">
                  <a:solidFill>
                    <a:prstClr val="black"/>
                  </a:solidFill>
                  <a:latin typeface="Times New Roman" panose="02020603050405020304" pitchFamily="18" charset="0"/>
                  <a:ea typeface="宋体" panose="02010600030101010101" pitchFamily="2" charset="-122"/>
                </a:rPr>
                <a:t>:= 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a [T</a:t>
              </a:r>
              <a:r>
                <a:rPr kumimoji="1" lang="en-US" altLang="zh-CN" sz="2205" b="1" baseline="-30000">
                  <a:solidFill>
                    <a:prstClr val="black"/>
                  </a:solidFill>
                  <a:latin typeface="Times New Roman" panose="02020603050405020304" pitchFamily="18" charset="0"/>
                  <a:ea typeface="宋体" panose="02010600030101010101" pitchFamily="2" charset="-122"/>
                </a:rPr>
                <a:t>15</a:t>
              </a:r>
              <a:r>
                <a:rPr kumimoji="1" lang="en-US" altLang="zh-CN" sz="2205" b="1">
                  <a:solidFill>
                    <a:prstClr val="black"/>
                  </a:solidFill>
                  <a:latin typeface="Times New Roman" panose="02020603050405020304" pitchFamily="18" charset="0"/>
                  <a:ea typeface="宋体" panose="02010600030101010101" pitchFamily="2" charset="-122"/>
                </a:rPr>
                <a:t>]=x</a:t>
              </a:r>
            </a:p>
            <a:p>
              <a:pPr defTabSz="503972" rtl="0" fontAlgn="auto" hangingPunct="1">
                <a:lnSpc>
                  <a:spcPct val="100000"/>
                </a:lnSpc>
                <a:spcBef>
                  <a:spcPct val="0"/>
                </a:spcBef>
                <a:spcAft>
                  <a:spcPts val="0"/>
                </a:spcAft>
                <a:buClrTx/>
                <a:buSzTx/>
                <a:buNone/>
              </a:pPr>
              <a:endParaRPr kumimoji="1" lang="en-US" altLang="zh-CN" sz="2205" b="1" baseline="-30000">
                <a:solidFill>
                  <a:prstClr val="black"/>
                </a:solidFill>
                <a:latin typeface="Times New Roman" panose="02020603050405020304" pitchFamily="18" charset="0"/>
                <a:ea typeface="宋体" panose="02010600030101010101" pitchFamily="2" charset="-122"/>
              </a:endParaRPr>
            </a:p>
          </p:txBody>
        </p:sp>
        <p:sp>
          <p:nvSpPr>
            <p:cNvPr id="40" name="Rectangle 15"/>
            <p:cNvSpPr>
              <a:spLocks noChangeArrowheads="1"/>
            </p:cNvSpPr>
            <p:nvPr/>
          </p:nvSpPr>
          <p:spPr bwMode="auto">
            <a:xfrm>
              <a:off x="552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632" y="129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631" y="2544"/>
              <a:ext cx="1"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631"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768" y="1440"/>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768" y="2736"/>
              <a:ext cx="576" cy="1200"/>
            </a:xfrm>
            <a:custGeom>
              <a:avLst/>
              <a:gdLst>
                <a:gd name="T0" fmla="*/ 576 w 576"/>
                <a:gd name="T1" fmla="*/ 1096 h 1200"/>
                <a:gd name="T2" fmla="*/ 576 w 576"/>
                <a:gd name="T3" fmla="*/ 1200 h 1200"/>
                <a:gd name="T4" fmla="*/ 0 w 576"/>
                <a:gd name="T5" fmla="*/ 1200 h 1200"/>
                <a:gd name="T6" fmla="*/ 0 w 576"/>
                <a:gd name="T7" fmla="*/ 0 h 1200"/>
                <a:gd name="T8" fmla="*/ 384 w 576"/>
                <a:gd name="T9" fmla="*/ 0 h 1200"/>
                <a:gd name="T10" fmla="*/ 533 w 576"/>
                <a:gd name="T11" fmla="*/ 2 h 1200"/>
                <a:gd name="T12" fmla="*/ 533 w 576"/>
                <a:gd name="T13" fmla="*/ 203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360"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176"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576" y="1392"/>
              <a:ext cx="2789" cy="2653"/>
            </a:xfrm>
            <a:custGeom>
              <a:avLst/>
              <a:gdLst>
                <a:gd name="T0" fmla="*/ 2832 w 2832"/>
                <a:gd name="T1" fmla="*/ 2064 h 2640"/>
                <a:gd name="T2" fmla="*/ 2832 w 2832"/>
                <a:gd name="T3" fmla="*/ 2640 h 2640"/>
                <a:gd name="T4" fmla="*/ 0 w 2832"/>
                <a:gd name="T5" fmla="*/ 2640 h 2640"/>
                <a:gd name="T6" fmla="*/ 0 w 2832"/>
                <a:gd name="T7" fmla="*/ 0 h 2640"/>
                <a:gd name="T8" fmla="*/ 912 w 2832"/>
                <a:gd name="T9" fmla="*/ 0 h 2640"/>
                <a:gd name="T10" fmla="*/ 912 w 2832"/>
                <a:gd name="T11" fmla="*/ 240 h 2640"/>
                <a:gd name="T12" fmla="*/ 0 60000 65536"/>
                <a:gd name="T13" fmla="*/ 0 60000 65536"/>
                <a:gd name="T14" fmla="*/ 0 60000 65536"/>
                <a:gd name="T15" fmla="*/ 0 60000 65536"/>
                <a:gd name="T16" fmla="*/ 0 60000 65536"/>
                <a:gd name="T17" fmla="*/ 0 60000 65536"/>
                <a:gd name="T18" fmla="*/ 0 w 2832"/>
                <a:gd name="T19" fmla="*/ 0 h 2640"/>
                <a:gd name="T20" fmla="*/ 2832 w 2832"/>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832" h="2640">
                  <a:moveTo>
                    <a:pt x="2832" y="2064"/>
                  </a:moveTo>
                  <a:lnTo>
                    <a:pt x="2832" y="2640"/>
                  </a:lnTo>
                  <a:lnTo>
                    <a:pt x="0" y="2640"/>
                  </a:lnTo>
                  <a:lnTo>
                    <a:pt x="0" y="0"/>
                  </a:lnTo>
                  <a:lnTo>
                    <a:pt x="912" y="0"/>
                  </a:lnTo>
                  <a:lnTo>
                    <a:pt x="912" y="24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084" y="6222399"/>
            <a:ext cx="3372104" cy="104208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中间代码程序段</a:t>
            </a:r>
            <a:r>
              <a:rPr lang="en-US" altLang="zh-CN" sz="3086" dirty="0">
                <a:solidFill>
                  <a:prstClr val="white"/>
                </a:solidFill>
                <a:latin typeface="微软雅黑" panose="020B0503020204020204" pitchFamily="34" charset="-122"/>
              </a:rPr>
              <a:t>(</a:t>
            </a:r>
            <a:r>
              <a:rPr lang="zh-CN" altLang="en-US" sz="3086" dirty="0">
                <a:solidFill>
                  <a:prstClr val="white"/>
                </a:solidFill>
                <a:latin typeface="微软雅黑" panose="020B0503020204020204" pitchFamily="34" charset="-122"/>
              </a:rPr>
              <a:t>优化前</a:t>
            </a:r>
            <a:r>
              <a:rPr lang="en-US" altLang="zh-CN" sz="3086" dirty="0">
                <a:solidFill>
                  <a:prstClr val="white"/>
                </a:solidFill>
                <a:latin typeface="微软雅黑" panose="020B0503020204020204" pitchFamily="34" charset="-122"/>
              </a:rPr>
              <a:t>) </a:t>
            </a:r>
          </a:p>
        </p:txBody>
      </p:sp>
    </p:spTree>
    <p:extLst>
      <p:ext uri="{BB962C8B-B14F-4D97-AF65-F5344CB8AC3E}">
        <p14:creationId xmlns:p14="http://schemas.microsoft.com/office/powerpoint/2010/main" val="2765842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8" name="Group 3"/>
          <p:cNvGrpSpPr>
            <a:grpSpLocks/>
          </p:cNvGrpSpPr>
          <p:nvPr/>
        </p:nvGrpSpPr>
        <p:grpSpPr bwMode="auto">
          <a:xfrm>
            <a:off x="278312" y="682553"/>
            <a:ext cx="9239603" cy="6187735"/>
            <a:chOff x="480" y="528"/>
            <a:chExt cx="5280" cy="3536"/>
          </a:xfrm>
        </p:grpSpPr>
        <p:sp>
          <p:nvSpPr>
            <p:cNvPr id="29" name="Rectangle 4"/>
            <p:cNvSpPr>
              <a:spLocks noChangeArrowheads="1"/>
            </p:cNvSpPr>
            <p:nvPr/>
          </p:nvSpPr>
          <p:spPr bwMode="auto">
            <a:xfrm>
              <a:off x="816" y="528"/>
              <a:ext cx="1152" cy="110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i:=m-1</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j:=n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:=4*n</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v:=a[T</a:t>
              </a:r>
              <a:r>
                <a:rPr kumimoji="1" lang="en-US" altLang="zh-CN" sz="2205" b="1" baseline="-25000">
                  <a:solidFill>
                    <a:prstClr val="black"/>
                  </a:solidFill>
                  <a:latin typeface="Times New Roman" panose="02020603050405020304" pitchFamily="18" charset="0"/>
                  <a:ea typeface="宋体" panose="02010600030101010101" pitchFamily="2" charset="-122"/>
                </a:rPr>
                <a:t>1</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:=4*i</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:=4*j</a:t>
              </a:r>
            </a:p>
          </p:txBody>
        </p:sp>
        <p:sp>
          <p:nvSpPr>
            <p:cNvPr id="30" name="Rectangle 5"/>
            <p:cNvSpPr>
              <a:spLocks noChangeArrowheads="1"/>
            </p:cNvSpPr>
            <p:nvPr/>
          </p:nvSpPr>
          <p:spPr bwMode="auto">
            <a:xfrm>
              <a:off x="1920" y="1008"/>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1</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1" name="Rectangle 6"/>
            <p:cNvSpPr>
              <a:spLocks noChangeArrowheads="1"/>
            </p:cNvSpPr>
            <p:nvPr/>
          </p:nvSpPr>
          <p:spPr bwMode="auto">
            <a:xfrm>
              <a:off x="816" y="1968"/>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+4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3</a:t>
              </a:r>
              <a:r>
                <a:rPr kumimoji="1" lang="en-US" altLang="zh-CN" sz="2205" b="1">
                  <a:solidFill>
                    <a:prstClr val="black"/>
                  </a:solidFill>
                  <a:latin typeface="Times New Roman" panose="02020603050405020304" pitchFamily="18" charset="0"/>
                  <a:ea typeface="宋体" panose="02010600030101010101" pitchFamily="2" charset="-122"/>
                </a:rPr>
                <a:t>&lt;v goto B</a:t>
              </a:r>
              <a:r>
                <a:rPr kumimoji="1" lang="en-US" altLang="zh-CN" sz="2205" b="1" baseline="-25000">
                  <a:solidFill>
                    <a:prstClr val="black"/>
                  </a:solidFill>
                  <a:latin typeface="Times New Roman" panose="02020603050405020304" pitchFamily="18" charset="0"/>
                  <a:ea typeface="宋体" panose="02010600030101010101" pitchFamily="2" charset="-122"/>
                </a:rPr>
                <a:t>2</a:t>
              </a:r>
            </a:p>
          </p:txBody>
        </p:sp>
        <p:sp>
          <p:nvSpPr>
            <p:cNvPr id="32" name="Rectangle 7"/>
            <p:cNvSpPr>
              <a:spLocks noChangeArrowheads="1"/>
            </p:cNvSpPr>
            <p:nvPr/>
          </p:nvSpPr>
          <p:spPr bwMode="auto">
            <a:xfrm>
              <a:off x="1920" y="192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2</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3" name="Rectangle 8"/>
            <p:cNvSpPr>
              <a:spLocks noChangeArrowheads="1"/>
            </p:cNvSpPr>
            <p:nvPr/>
          </p:nvSpPr>
          <p:spPr bwMode="auto">
            <a:xfrm>
              <a:off x="816" y="3072"/>
              <a:ext cx="1152" cy="768"/>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 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-4 </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:=a[T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5</a:t>
              </a:r>
              <a:r>
                <a:rPr kumimoji="1" lang="en-US" altLang="zh-CN" sz="2205" b="1">
                  <a:solidFill>
                    <a:prstClr val="black"/>
                  </a:solidFill>
                  <a:latin typeface="Times New Roman" panose="02020603050405020304" pitchFamily="18" charset="0"/>
                  <a:ea typeface="宋体" panose="02010600030101010101" pitchFamily="2" charset="-122"/>
                </a:rPr>
                <a:t>&gt;v goto B</a:t>
              </a:r>
              <a:r>
                <a:rPr kumimoji="1" lang="en-US" altLang="zh-CN" sz="2205" b="1" baseline="-25000">
                  <a:solidFill>
                    <a:prstClr val="black"/>
                  </a:solidFill>
                  <a:latin typeface="Times New Roman" panose="02020603050405020304" pitchFamily="18" charset="0"/>
                  <a:ea typeface="宋体" panose="02010600030101010101" pitchFamily="2" charset="-122"/>
                </a:rPr>
                <a:t>3</a:t>
              </a:r>
            </a:p>
          </p:txBody>
        </p:sp>
        <p:sp>
          <p:nvSpPr>
            <p:cNvPr id="34" name="Rectangle 9"/>
            <p:cNvSpPr>
              <a:spLocks noChangeArrowheads="1"/>
            </p:cNvSpPr>
            <p:nvPr/>
          </p:nvSpPr>
          <p:spPr bwMode="auto">
            <a:xfrm>
              <a:off x="1920" y="28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3</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5" name="Rectangle 10"/>
            <p:cNvSpPr>
              <a:spLocks noChangeArrowheads="1"/>
            </p:cNvSpPr>
            <p:nvPr/>
          </p:nvSpPr>
          <p:spPr bwMode="auto">
            <a:xfrm>
              <a:off x="3120" y="1008"/>
              <a:ext cx="1296" cy="240"/>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205" b="1">
                  <a:solidFill>
                    <a:prstClr val="black"/>
                  </a:solidFill>
                  <a:latin typeface="Times New Roman" panose="02020603050405020304" pitchFamily="18" charset="0"/>
                  <a:ea typeface="宋体" panose="02010600030101010101" pitchFamily="2" charset="-122"/>
                </a:rPr>
                <a:t>if T</a:t>
              </a:r>
              <a:r>
                <a:rPr kumimoji="1" lang="en-US" altLang="zh-CN" sz="2205" b="1" baseline="-25000">
                  <a:solidFill>
                    <a:prstClr val="black"/>
                  </a:solidFill>
                  <a:latin typeface="Times New Roman" panose="02020603050405020304" pitchFamily="18" charset="0"/>
                  <a:ea typeface="宋体" panose="02010600030101010101" pitchFamily="2" charset="-122"/>
                </a:rPr>
                <a:t>2</a:t>
              </a:r>
              <a:r>
                <a:rPr kumimoji="1" lang="en-US" altLang="zh-CN" sz="2205" b="1">
                  <a:solidFill>
                    <a:prstClr val="black"/>
                  </a:solidFill>
                  <a:latin typeface="Times New Roman" panose="02020603050405020304" pitchFamily="18" charset="0"/>
                  <a:ea typeface="宋体" panose="02010600030101010101" pitchFamily="2" charset="-122"/>
                </a:rPr>
                <a:t>&gt;=T</a:t>
              </a:r>
              <a:r>
                <a:rPr kumimoji="1" lang="en-US" altLang="zh-CN" sz="2205" b="1" baseline="-25000">
                  <a:solidFill>
                    <a:prstClr val="black"/>
                  </a:solidFill>
                  <a:latin typeface="Times New Roman" panose="02020603050405020304" pitchFamily="18" charset="0"/>
                  <a:ea typeface="宋体" panose="02010600030101010101" pitchFamily="2" charset="-122"/>
                </a:rPr>
                <a:t>4</a:t>
              </a:r>
              <a:r>
                <a:rPr kumimoji="1" lang="en-US" altLang="zh-CN" sz="2205" b="1">
                  <a:solidFill>
                    <a:prstClr val="black"/>
                  </a:solidFill>
                  <a:latin typeface="Times New Roman" panose="02020603050405020304" pitchFamily="18" charset="0"/>
                  <a:ea typeface="宋体" panose="02010600030101010101" pitchFamily="2" charset="-122"/>
                </a:rPr>
                <a:t> goto B</a:t>
              </a:r>
              <a:r>
                <a:rPr kumimoji="1" lang="en-US" altLang="zh-CN" sz="2205" b="1" baseline="-25000">
                  <a:solidFill>
                    <a:prstClr val="black"/>
                  </a:solidFill>
                  <a:latin typeface="Times New Roman" panose="02020603050405020304" pitchFamily="18" charset="0"/>
                  <a:ea typeface="宋体" panose="02010600030101010101" pitchFamily="2" charset="-122"/>
                </a:rPr>
                <a:t>6</a:t>
              </a:r>
            </a:p>
          </p:txBody>
        </p:sp>
        <p:sp>
          <p:nvSpPr>
            <p:cNvPr id="36" name="Rectangle 11"/>
            <p:cNvSpPr>
              <a:spLocks noChangeArrowheads="1"/>
            </p:cNvSpPr>
            <p:nvPr/>
          </p:nvSpPr>
          <p:spPr bwMode="auto">
            <a:xfrm>
              <a:off x="4368"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4</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7" name="Rectangle 12"/>
            <p:cNvSpPr>
              <a:spLocks noChangeArrowheads="1"/>
            </p:cNvSpPr>
            <p:nvPr/>
          </p:nvSpPr>
          <p:spPr bwMode="auto">
            <a:xfrm>
              <a:off x="2736"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2</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30000">
                  <a:solidFill>
                    <a:prstClr val="black"/>
                  </a:solidFill>
                  <a:latin typeface="Times New Roman" panose="02020603050405020304" pitchFamily="18" charset="0"/>
                  <a:ea typeface="宋体" panose="02010600030101010101" pitchFamily="2" charset="-122"/>
                </a:rPr>
                <a:t>5</a:t>
              </a:r>
              <a:endParaRPr kumimoji="1" lang="en-US" altLang="zh-CN" sz="2646"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4</a:t>
              </a:r>
              <a:r>
                <a:rPr kumimoji="1" lang="en-US" altLang="zh-CN" sz="2646" b="1">
                  <a:solidFill>
                    <a:prstClr val="black"/>
                  </a:solidFill>
                  <a:latin typeface="Times New Roman" panose="02020603050405020304" pitchFamily="18" charset="0"/>
                  <a:ea typeface="宋体" panose="02010600030101010101" pitchFamily="2" charset="-122"/>
                </a:rPr>
                <a:t>]= T</a:t>
              </a:r>
              <a:r>
                <a:rPr kumimoji="1" lang="en-US" altLang="zh-CN" sz="2646" b="1" baseline="-30000">
                  <a:solidFill>
                    <a:prstClr val="black"/>
                  </a:solidFill>
                  <a:latin typeface="Times New Roman" panose="02020603050405020304" pitchFamily="18" charset="0"/>
                  <a:ea typeface="宋体" panose="02010600030101010101" pitchFamily="2" charset="-122"/>
                </a:rPr>
                <a:t>3</a:t>
              </a:r>
              <a:endParaRPr kumimoji="1" lang="en-US" altLang="zh-CN" sz="2646" b="1">
                <a:solidFill>
                  <a:prstClr val="black"/>
                </a:solidFill>
                <a:latin typeface="Times New Roman" panose="02020603050405020304" pitchFamily="18" charset="0"/>
                <a:ea typeface="宋体" panose="02010600030101010101" pitchFamily="2" charset="-122"/>
              </a:endParaRP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goto B</a:t>
              </a:r>
              <a:r>
                <a:rPr kumimoji="1" lang="en-US" altLang="zh-CN" sz="2646" b="1" baseline="-30000">
                  <a:solidFill>
                    <a:prstClr val="black"/>
                  </a:solidFill>
                  <a:latin typeface="Times New Roman" panose="02020603050405020304" pitchFamily="18" charset="0"/>
                  <a:ea typeface="宋体" panose="02010600030101010101" pitchFamily="2" charset="-122"/>
                </a:rPr>
                <a:t>2</a:t>
              </a:r>
            </a:p>
          </p:txBody>
        </p:sp>
        <p:sp>
          <p:nvSpPr>
            <p:cNvPr id="38" name="Rectangle 13"/>
            <p:cNvSpPr>
              <a:spLocks noChangeArrowheads="1"/>
            </p:cNvSpPr>
            <p:nvPr/>
          </p:nvSpPr>
          <p:spPr bwMode="auto">
            <a:xfrm>
              <a:off x="3840"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5</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39" name="Rectangle 14"/>
            <p:cNvSpPr>
              <a:spLocks noChangeArrowheads="1"/>
            </p:cNvSpPr>
            <p:nvPr/>
          </p:nvSpPr>
          <p:spPr bwMode="auto">
            <a:xfrm>
              <a:off x="4272" y="1632"/>
              <a:ext cx="1152" cy="1824"/>
            </a:xfrm>
            <a:prstGeom prst="rect">
              <a:avLst/>
            </a:prstGeom>
            <a:noFill/>
            <a:ln w="158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2</a:t>
              </a:r>
              <a:r>
                <a:rPr kumimoji="1" lang="en-US" altLang="zh-CN" sz="2646" b="1">
                  <a:solidFill>
                    <a:prstClr val="black"/>
                  </a:solidFill>
                  <a:latin typeface="Times New Roman" panose="02020603050405020304" pitchFamily="18" charset="0"/>
                  <a:ea typeface="宋体" panose="02010600030101010101" pitchFamily="2" charset="-122"/>
                </a:rPr>
                <a:t>]=v</a:t>
              </a:r>
            </a:p>
            <a:p>
              <a:pP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a [T</a:t>
              </a:r>
              <a:r>
                <a:rPr kumimoji="1" lang="en-US" altLang="zh-CN" sz="2646" b="1" baseline="-30000">
                  <a:solidFill>
                    <a:prstClr val="black"/>
                  </a:solidFill>
                  <a:latin typeface="Times New Roman" panose="02020603050405020304" pitchFamily="18" charset="0"/>
                  <a:ea typeface="宋体" panose="02010600030101010101" pitchFamily="2" charset="-122"/>
                </a:rPr>
                <a:t>1</a:t>
              </a:r>
              <a:r>
                <a:rPr kumimoji="1" lang="en-US" altLang="zh-CN" sz="2646" b="1">
                  <a:solidFill>
                    <a:prstClr val="black"/>
                  </a:solidFill>
                  <a:latin typeface="Times New Roman" panose="02020603050405020304" pitchFamily="18" charset="0"/>
                  <a:ea typeface="宋体" panose="02010600030101010101" pitchFamily="2" charset="-122"/>
                </a:rPr>
                <a:t>]=T</a:t>
              </a:r>
              <a:r>
                <a:rPr kumimoji="1" lang="en-US" altLang="zh-CN" sz="2646" b="1" baseline="-25000">
                  <a:solidFill>
                    <a:prstClr val="black"/>
                  </a:solidFill>
                  <a:latin typeface="Times New Roman" panose="02020603050405020304" pitchFamily="18" charset="0"/>
                  <a:ea typeface="宋体" panose="02010600030101010101" pitchFamily="2" charset="-122"/>
                </a:rPr>
                <a:t>3</a:t>
              </a:r>
            </a:p>
          </p:txBody>
        </p:sp>
        <p:sp>
          <p:nvSpPr>
            <p:cNvPr id="40" name="Rectangle 15"/>
            <p:cNvSpPr>
              <a:spLocks noChangeArrowheads="1"/>
            </p:cNvSpPr>
            <p:nvPr/>
          </p:nvSpPr>
          <p:spPr bwMode="auto">
            <a:xfrm>
              <a:off x="5376" y="182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2646" b="1">
                  <a:solidFill>
                    <a:prstClr val="black"/>
                  </a:solidFill>
                  <a:latin typeface="Times New Roman" panose="02020603050405020304" pitchFamily="18" charset="0"/>
                  <a:ea typeface="宋体" panose="02010600030101010101" pitchFamily="2" charset="-122"/>
                </a:rPr>
                <a:t>B</a:t>
              </a:r>
              <a:r>
                <a:rPr kumimoji="1" lang="en-US" altLang="zh-CN" sz="2646" b="1" baseline="-25000">
                  <a:solidFill>
                    <a:prstClr val="black"/>
                  </a:solidFill>
                  <a:latin typeface="Times New Roman" panose="02020603050405020304" pitchFamily="18" charset="0"/>
                  <a:ea typeface="宋体" panose="02010600030101010101" pitchFamily="2" charset="-122"/>
                </a:rPr>
                <a:t>6</a:t>
              </a:r>
              <a:endParaRPr kumimoji="1" lang="en-US" altLang="zh-CN" sz="2646">
                <a:solidFill>
                  <a:prstClr val="black"/>
                </a:solidFill>
                <a:latin typeface="Times New Roman" panose="02020603050405020304" pitchFamily="18" charset="0"/>
                <a:ea typeface="宋体" panose="02010600030101010101" pitchFamily="2" charset="-122"/>
              </a:endParaRPr>
            </a:p>
          </p:txBody>
        </p:sp>
        <p:sp>
          <p:nvSpPr>
            <p:cNvPr id="41" name="Line 16"/>
            <p:cNvSpPr>
              <a:spLocks noChangeShapeType="1"/>
            </p:cNvSpPr>
            <p:nvPr/>
          </p:nvSpPr>
          <p:spPr bwMode="auto">
            <a:xfrm>
              <a:off x="1536" y="1632"/>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2" name="Line 17"/>
            <p:cNvSpPr>
              <a:spLocks noChangeShapeType="1"/>
            </p:cNvSpPr>
            <p:nvPr/>
          </p:nvSpPr>
          <p:spPr bwMode="auto">
            <a:xfrm>
              <a:off x="1488" y="2736"/>
              <a:ext cx="0" cy="33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3" name="Freeform 18"/>
            <p:cNvSpPr>
              <a:spLocks/>
            </p:cNvSpPr>
            <p:nvPr/>
          </p:nvSpPr>
          <p:spPr bwMode="auto">
            <a:xfrm>
              <a:off x="1487" y="528"/>
              <a:ext cx="2448" cy="3408"/>
            </a:xfrm>
            <a:custGeom>
              <a:avLst/>
              <a:gdLst>
                <a:gd name="T0" fmla="*/ 0 w 2448"/>
                <a:gd name="T1" fmla="*/ 4104 h 3264"/>
                <a:gd name="T2" fmla="*/ 0 w 2448"/>
                <a:gd name="T3" fmla="*/ 4229 h 3264"/>
                <a:gd name="T4" fmla="*/ 1008 w 2448"/>
                <a:gd name="T5" fmla="*/ 4229 h 3264"/>
                <a:gd name="T6" fmla="*/ 1008 w 2448"/>
                <a:gd name="T7" fmla="*/ 0 h 3264"/>
                <a:gd name="T8" fmla="*/ 2448 w 2448"/>
                <a:gd name="T9" fmla="*/ 0 h 3264"/>
                <a:gd name="T10" fmla="*/ 2448 w 2448"/>
                <a:gd name="T11" fmla="*/ 621 h 3264"/>
                <a:gd name="T12" fmla="*/ 0 60000 65536"/>
                <a:gd name="T13" fmla="*/ 0 60000 65536"/>
                <a:gd name="T14" fmla="*/ 0 60000 65536"/>
                <a:gd name="T15" fmla="*/ 0 60000 65536"/>
                <a:gd name="T16" fmla="*/ 0 60000 65536"/>
                <a:gd name="T17" fmla="*/ 0 60000 65536"/>
                <a:gd name="T18" fmla="*/ 0 w 2448"/>
                <a:gd name="T19" fmla="*/ 0 h 3264"/>
                <a:gd name="T20" fmla="*/ 2448 w 2448"/>
                <a:gd name="T21" fmla="*/ 3264 h 3264"/>
              </a:gdLst>
              <a:ahLst/>
              <a:cxnLst>
                <a:cxn ang="T12">
                  <a:pos x="T0" y="T1"/>
                </a:cxn>
                <a:cxn ang="T13">
                  <a:pos x="T2" y="T3"/>
                </a:cxn>
                <a:cxn ang="T14">
                  <a:pos x="T4" y="T5"/>
                </a:cxn>
                <a:cxn ang="T15">
                  <a:pos x="T6" y="T7"/>
                </a:cxn>
                <a:cxn ang="T16">
                  <a:pos x="T8" y="T9"/>
                </a:cxn>
                <a:cxn ang="T17">
                  <a:pos x="T10" y="T11"/>
                </a:cxn>
              </a:cxnLst>
              <a:rect l="T18" t="T19" r="T20" b="T21"/>
              <a:pathLst>
                <a:path w="2448" h="3264">
                  <a:moveTo>
                    <a:pt x="0" y="3168"/>
                  </a:moveTo>
                  <a:lnTo>
                    <a:pt x="0" y="3264"/>
                  </a:lnTo>
                  <a:lnTo>
                    <a:pt x="1008" y="3264"/>
                  </a:lnTo>
                  <a:lnTo>
                    <a:pt x="1008" y="0"/>
                  </a:lnTo>
                  <a:lnTo>
                    <a:pt x="2448" y="0"/>
                  </a:lnTo>
                  <a:lnTo>
                    <a:pt x="2448" y="480"/>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4" name="Freeform 19"/>
            <p:cNvSpPr>
              <a:spLocks/>
            </p:cNvSpPr>
            <p:nvPr/>
          </p:nvSpPr>
          <p:spPr bwMode="auto">
            <a:xfrm>
              <a:off x="624" y="1824"/>
              <a:ext cx="576" cy="1008"/>
            </a:xfrm>
            <a:custGeom>
              <a:avLst/>
              <a:gdLst>
                <a:gd name="T0" fmla="*/ 576 w 576"/>
                <a:gd name="T1" fmla="*/ 921 h 1008"/>
                <a:gd name="T2" fmla="*/ 576 w 576"/>
                <a:gd name="T3" fmla="*/ 1008 h 1008"/>
                <a:gd name="T4" fmla="*/ 0 w 576"/>
                <a:gd name="T5" fmla="*/ 1008 h 1008"/>
                <a:gd name="T6" fmla="*/ 0 w 576"/>
                <a:gd name="T7" fmla="*/ 0 h 1008"/>
                <a:gd name="T8" fmla="*/ 384 w 576"/>
                <a:gd name="T9" fmla="*/ 0 h 1008"/>
                <a:gd name="T10" fmla="*/ 510 w 576"/>
                <a:gd name="T11" fmla="*/ 5 h 1008"/>
                <a:gd name="T12" fmla="*/ 510 w 576"/>
                <a:gd name="T13" fmla="*/ 151 h 1008"/>
                <a:gd name="T14" fmla="*/ 0 60000 65536"/>
                <a:gd name="T15" fmla="*/ 0 60000 65536"/>
                <a:gd name="T16" fmla="*/ 0 60000 65536"/>
                <a:gd name="T17" fmla="*/ 0 60000 65536"/>
                <a:gd name="T18" fmla="*/ 0 60000 65536"/>
                <a:gd name="T19" fmla="*/ 0 60000 65536"/>
                <a:gd name="T20" fmla="*/ 0 60000 65536"/>
                <a:gd name="T21" fmla="*/ 0 w 576"/>
                <a:gd name="T22" fmla="*/ 0 h 1008"/>
                <a:gd name="T23" fmla="*/ 576 w 576"/>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008">
                  <a:moveTo>
                    <a:pt x="576" y="921"/>
                  </a:moveTo>
                  <a:lnTo>
                    <a:pt x="576" y="1008"/>
                  </a:lnTo>
                  <a:lnTo>
                    <a:pt x="0" y="1008"/>
                  </a:lnTo>
                  <a:lnTo>
                    <a:pt x="0" y="0"/>
                  </a:lnTo>
                  <a:lnTo>
                    <a:pt x="384" y="0"/>
                  </a:lnTo>
                  <a:lnTo>
                    <a:pt x="510" y="5"/>
                  </a:lnTo>
                  <a:lnTo>
                    <a:pt x="510" y="151"/>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5" name="Freeform 20"/>
            <p:cNvSpPr>
              <a:spLocks/>
            </p:cNvSpPr>
            <p:nvPr/>
          </p:nvSpPr>
          <p:spPr bwMode="auto">
            <a:xfrm>
              <a:off x="624" y="2880"/>
              <a:ext cx="576" cy="1056"/>
            </a:xfrm>
            <a:custGeom>
              <a:avLst/>
              <a:gdLst>
                <a:gd name="T0" fmla="*/ 576 w 576"/>
                <a:gd name="T1" fmla="*/ 508 h 1200"/>
                <a:gd name="T2" fmla="*/ 576 w 576"/>
                <a:gd name="T3" fmla="*/ 558 h 1200"/>
                <a:gd name="T4" fmla="*/ 0 w 576"/>
                <a:gd name="T5" fmla="*/ 558 h 1200"/>
                <a:gd name="T6" fmla="*/ 0 w 576"/>
                <a:gd name="T7" fmla="*/ 0 h 1200"/>
                <a:gd name="T8" fmla="*/ 384 w 576"/>
                <a:gd name="T9" fmla="*/ 0 h 1200"/>
                <a:gd name="T10" fmla="*/ 533 w 576"/>
                <a:gd name="T11" fmla="*/ 2 h 1200"/>
                <a:gd name="T12" fmla="*/ 533 w 576"/>
                <a:gd name="T13" fmla="*/ 94 h 1200"/>
                <a:gd name="T14" fmla="*/ 0 60000 65536"/>
                <a:gd name="T15" fmla="*/ 0 60000 65536"/>
                <a:gd name="T16" fmla="*/ 0 60000 65536"/>
                <a:gd name="T17" fmla="*/ 0 60000 65536"/>
                <a:gd name="T18" fmla="*/ 0 60000 65536"/>
                <a:gd name="T19" fmla="*/ 0 60000 65536"/>
                <a:gd name="T20" fmla="*/ 0 60000 65536"/>
                <a:gd name="T21" fmla="*/ 0 w 576"/>
                <a:gd name="T22" fmla="*/ 0 h 1200"/>
                <a:gd name="T23" fmla="*/ 576 w 576"/>
                <a:gd name="T24" fmla="*/ 1200 h 12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1200">
                  <a:moveTo>
                    <a:pt x="576" y="1096"/>
                  </a:moveTo>
                  <a:lnTo>
                    <a:pt x="576" y="1200"/>
                  </a:lnTo>
                  <a:lnTo>
                    <a:pt x="0" y="1200"/>
                  </a:lnTo>
                  <a:lnTo>
                    <a:pt x="0" y="0"/>
                  </a:lnTo>
                  <a:lnTo>
                    <a:pt x="384" y="0"/>
                  </a:lnTo>
                  <a:lnTo>
                    <a:pt x="533" y="2"/>
                  </a:lnTo>
                  <a:lnTo>
                    <a:pt x="533" y="20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6" name="Line 21"/>
            <p:cNvSpPr>
              <a:spLocks noChangeShapeType="1"/>
            </p:cNvSpPr>
            <p:nvPr/>
          </p:nvSpPr>
          <p:spPr bwMode="auto">
            <a:xfrm flipH="1">
              <a:off x="3216" y="1248"/>
              <a:ext cx="624"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7" name="Line 22"/>
            <p:cNvSpPr>
              <a:spLocks noChangeShapeType="1"/>
            </p:cNvSpPr>
            <p:nvPr/>
          </p:nvSpPr>
          <p:spPr bwMode="auto">
            <a:xfrm>
              <a:off x="4032" y="1248"/>
              <a:ext cx="816" cy="384"/>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8" name="Freeform 23"/>
            <p:cNvSpPr>
              <a:spLocks/>
            </p:cNvSpPr>
            <p:nvPr/>
          </p:nvSpPr>
          <p:spPr bwMode="auto">
            <a:xfrm>
              <a:off x="480" y="1728"/>
              <a:ext cx="2789" cy="2336"/>
            </a:xfrm>
            <a:custGeom>
              <a:avLst/>
              <a:gdLst>
                <a:gd name="T0" fmla="*/ 2830 w 2832"/>
                <a:gd name="T1" fmla="*/ 1710 h 2304"/>
                <a:gd name="T2" fmla="*/ 2832 w 2832"/>
                <a:gd name="T3" fmla="*/ 2304 h 2304"/>
                <a:gd name="T4" fmla="*/ 0 w 2832"/>
                <a:gd name="T5" fmla="*/ 2304 h 2304"/>
                <a:gd name="T6" fmla="*/ 0 w 2832"/>
                <a:gd name="T7" fmla="*/ 0 h 2304"/>
                <a:gd name="T8" fmla="*/ 912 w 2832"/>
                <a:gd name="T9" fmla="*/ 0 h 2304"/>
                <a:gd name="T10" fmla="*/ 910 w 2832"/>
                <a:gd name="T11" fmla="*/ 253 h 2304"/>
                <a:gd name="T12" fmla="*/ 0 60000 65536"/>
                <a:gd name="T13" fmla="*/ 0 60000 65536"/>
                <a:gd name="T14" fmla="*/ 0 60000 65536"/>
                <a:gd name="T15" fmla="*/ 0 60000 65536"/>
                <a:gd name="T16" fmla="*/ 0 60000 65536"/>
                <a:gd name="T17" fmla="*/ 0 60000 65536"/>
                <a:gd name="T18" fmla="*/ 0 w 2832"/>
                <a:gd name="T19" fmla="*/ 0 h 2304"/>
                <a:gd name="T20" fmla="*/ 2832 w 2832"/>
                <a:gd name="T21" fmla="*/ 2304 h 2304"/>
              </a:gdLst>
              <a:ahLst/>
              <a:cxnLst>
                <a:cxn ang="T12">
                  <a:pos x="T0" y="T1"/>
                </a:cxn>
                <a:cxn ang="T13">
                  <a:pos x="T2" y="T3"/>
                </a:cxn>
                <a:cxn ang="T14">
                  <a:pos x="T4" y="T5"/>
                </a:cxn>
                <a:cxn ang="T15">
                  <a:pos x="T6" y="T7"/>
                </a:cxn>
                <a:cxn ang="T16">
                  <a:pos x="T8" y="T9"/>
                </a:cxn>
                <a:cxn ang="T17">
                  <a:pos x="T10" y="T11"/>
                </a:cxn>
              </a:cxnLst>
              <a:rect l="T18" t="T19" r="T20" b="T21"/>
              <a:pathLst>
                <a:path w="2832" h="2304">
                  <a:moveTo>
                    <a:pt x="2830" y="1710"/>
                  </a:moveTo>
                  <a:lnTo>
                    <a:pt x="2832" y="2304"/>
                  </a:lnTo>
                  <a:lnTo>
                    <a:pt x="0" y="2304"/>
                  </a:lnTo>
                  <a:lnTo>
                    <a:pt x="0" y="0"/>
                  </a:lnTo>
                  <a:lnTo>
                    <a:pt x="912" y="0"/>
                  </a:lnTo>
                  <a:lnTo>
                    <a:pt x="910" y="253"/>
                  </a:lnTo>
                </a:path>
              </a:pathLst>
            </a:custGeom>
            <a:noFill/>
            <a:ln w="19050" cap="flat" cmpd="sng">
              <a:solidFill>
                <a:schemeClr val="tx1"/>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9" name="Rectangle 2"/>
          <p:cNvSpPr>
            <a:spLocks noChangeArrowheads="1"/>
          </p:cNvSpPr>
          <p:nvPr/>
        </p:nvSpPr>
        <p:spPr bwMode="auto">
          <a:xfrm>
            <a:off x="5616084" y="6222399"/>
            <a:ext cx="3372104" cy="104208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
                <a:srgbClr val="C0504D"/>
              </a:buClr>
              <a:buNone/>
            </a:pPr>
            <a:r>
              <a:rPr lang="zh-CN" altLang="en-US" sz="3086" dirty="0">
                <a:solidFill>
                  <a:prstClr val="white"/>
                </a:solidFill>
                <a:latin typeface="微软雅黑" panose="020B0503020204020204" pitchFamily="34" charset="-122"/>
              </a:rPr>
              <a:t>中间代码程序段</a:t>
            </a:r>
            <a:r>
              <a:rPr lang="en-US" altLang="zh-CN" sz="3086" dirty="0">
                <a:solidFill>
                  <a:prstClr val="white"/>
                </a:solidFill>
                <a:latin typeface="微软雅黑" panose="020B0503020204020204" pitchFamily="34" charset="-122"/>
              </a:rPr>
              <a:t>(</a:t>
            </a:r>
            <a:r>
              <a:rPr lang="zh-CN" altLang="en-US" sz="3086" dirty="0">
                <a:solidFill>
                  <a:prstClr val="white"/>
                </a:solidFill>
                <a:latin typeface="微软雅黑" panose="020B0503020204020204" pitchFamily="34" charset="-122"/>
              </a:rPr>
              <a:t>优化后</a:t>
            </a:r>
            <a:r>
              <a:rPr lang="en-US" altLang="zh-CN" sz="3086" dirty="0">
                <a:solidFill>
                  <a:prstClr val="white"/>
                </a:solidFill>
                <a:latin typeface="微软雅黑" panose="020B0503020204020204" pitchFamily="34" charset="-122"/>
              </a:rPr>
              <a:t>) </a:t>
            </a:r>
          </a:p>
        </p:txBody>
      </p:sp>
    </p:spTree>
    <p:extLst>
      <p:ext uri="{BB962C8B-B14F-4D97-AF65-F5344CB8AC3E}">
        <p14:creationId xmlns:p14="http://schemas.microsoft.com/office/powerpoint/2010/main" val="13398895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a:t>优化的级别</a:t>
            </a:r>
            <a:endParaRPr lang="zh-CN" altLang="en-US" dirty="0"/>
          </a:p>
        </p:txBody>
      </p:sp>
      <p:sp>
        <p:nvSpPr>
          <p:cNvPr id="74755" name="Rectangle 3"/>
          <p:cNvSpPr>
            <a:spLocks noGrp="1" noChangeArrowheads="1"/>
          </p:cNvSpPr>
          <p:nvPr>
            <p:ph idx="1"/>
          </p:nvPr>
        </p:nvSpPr>
        <p:spPr/>
        <p:txBody>
          <a:bodyPr/>
          <a:lstStyle/>
          <a:p>
            <a:r>
              <a:rPr lang="zh-CN" altLang="en-US" dirty="0">
                <a:solidFill>
                  <a:srgbClr val="C00000"/>
                </a:solidFill>
              </a:rPr>
              <a:t>局部优化</a:t>
            </a:r>
            <a:endParaRPr lang="en-US" altLang="zh-CN" dirty="0">
              <a:solidFill>
                <a:srgbClr val="C00000"/>
              </a:solidFill>
            </a:endParaRPr>
          </a:p>
          <a:p>
            <a:pPr lvl="1"/>
            <a:r>
              <a:rPr lang="zh-CN" altLang="en-US" dirty="0"/>
              <a:t>局限</a:t>
            </a:r>
            <a:r>
              <a:rPr lang="zh-CN" altLang="en-US" dirty="0">
                <a:solidFill>
                  <a:schemeClr val="tx1"/>
                </a:solidFill>
              </a:rPr>
              <a:t>于基本块</a:t>
            </a:r>
            <a:r>
              <a:rPr lang="zh-CN" altLang="en-US" dirty="0"/>
              <a:t>范围内的优化</a:t>
            </a:r>
            <a:endParaRPr lang="en-US" altLang="zh-CN" dirty="0"/>
          </a:p>
          <a:p>
            <a:r>
              <a:rPr lang="zh-CN" altLang="en-US" dirty="0"/>
              <a:t>循环优化</a:t>
            </a:r>
            <a:endParaRPr lang="en-US" altLang="zh-CN" dirty="0"/>
          </a:p>
          <a:p>
            <a:r>
              <a:rPr lang="zh-CN" altLang="en-US" dirty="0"/>
              <a:t>全局优化</a:t>
            </a:r>
          </a:p>
        </p:txBody>
      </p:sp>
    </p:spTree>
    <p:extLst>
      <p:ext uri="{BB962C8B-B14F-4D97-AF65-F5344CB8AC3E}">
        <p14:creationId xmlns:p14="http://schemas.microsoft.com/office/powerpoint/2010/main" val="25757046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r>
              <a:rPr lang="zh-CN" altLang="en-US" dirty="0"/>
              <a:t>基本块</a:t>
            </a:r>
            <a:endParaRPr lang="zh-CN" altLang="en-US" dirty="0">
              <a:latin typeface="微软雅黑" panose="020B0503020204020204" pitchFamily="34" charset="-122"/>
            </a:endParaRPr>
          </a:p>
        </p:txBody>
      </p:sp>
      <p:sp>
        <p:nvSpPr>
          <p:cNvPr id="76803" name="Rectangle 3"/>
          <p:cNvSpPr>
            <a:spLocks noGrp="1" noChangeArrowheads="1"/>
          </p:cNvSpPr>
          <p:nvPr>
            <p:ph idx="1"/>
          </p:nvPr>
        </p:nvSpPr>
        <p:spPr/>
        <p:txBody>
          <a:bodyPr>
            <a:normAutofit/>
          </a:bodyPr>
          <a:lstStyle/>
          <a:p>
            <a:pPr eaLnBrk="1" hangingPunct="1"/>
            <a:r>
              <a:rPr lang="zh-CN" altLang="en-US" dirty="0"/>
              <a:t>程序中一顺序执行语句序列，其中只有一个入口和一个出口。</a:t>
            </a:r>
            <a:r>
              <a:rPr lang="zh-CN" altLang="en-US" dirty="0">
                <a:solidFill>
                  <a:srgbClr val="0070C0"/>
                </a:solidFill>
              </a:rPr>
              <a:t>入口</a:t>
            </a:r>
            <a:r>
              <a:rPr lang="zh-CN" altLang="en-US" dirty="0"/>
              <a:t>就是其中第一个语句，</a:t>
            </a:r>
            <a:r>
              <a:rPr lang="zh-CN" altLang="en-US" dirty="0">
                <a:solidFill>
                  <a:srgbClr val="C00000"/>
                </a:solidFill>
              </a:rPr>
              <a:t>出口</a:t>
            </a:r>
            <a:r>
              <a:rPr lang="zh-CN" altLang="en-US" dirty="0"/>
              <a:t>就是其中最后一个语句。</a:t>
            </a:r>
          </a:p>
        </p:txBody>
      </p:sp>
      <p:sp>
        <p:nvSpPr>
          <p:cNvPr id="14" name="Text Box 4"/>
          <p:cNvSpPr txBox="1">
            <a:spLocks noChangeArrowheads="1"/>
          </p:cNvSpPr>
          <p:nvPr/>
        </p:nvSpPr>
        <p:spPr bwMode="auto">
          <a:xfrm>
            <a:off x="1464662" y="3791421"/>
            <a:ext cx="2266967" cy="3145861"/>
          </a:xfrm>
          <a:prstGeom prst="rect">
            <a:avLst/>
          </a:prstGeom>
          <a:ln/>
        </p:spPr>
        <p:style>
          <a:lnRef idx="3">
            <a:schemeClr val="lt1"/>
          </a:lnRef>
          <a:fillRef idx="1">
            <a:schemeClr val="accent1"/>
          </a:fillRef>
          <a:effectRef idx="1">
            <a:schemeClr val="accent1"/>
          </a:effectRef>
          <a:fontRef idx="minor">
            <a:schemeClr val="lt1"/>
          </a:fontRef>
        </p:style>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3307" dirty="0">
                <a:solidFill>
                  <a:prstClr val="white"/>
                </a:solidFill>
                <a:latin typeface="微软雅黑" panose="020B0503020204020204" pitchFamily="34" charset="-122"/>
              </a:rPr>
              <a:t> </a:t>
            </a:r>
            <a:r>
              <a:rPr lang="en-US" altLang="zh-CN" sz="3307" dirty="0">
                <a:solidFill>
                  <a:prstClr val="white"/>
                </a:solidFill>
                <a:latin typeface="微软雅黑" panose="020B0503020204020204" pitchFamily="34" charset="-122"/>
              </a:rPr>
              <a:t>T</a:t>
            </a:r>
            <a:r>
              <a:rPr lang="en-US" altLang="zh-CN" sz="3307" baseline="-25000" dirty="0">
                <a:solidFill>
                  <a:prstClr val="white"/>
                </a:solidFill>
                <a:latin typeface="微软雅黑" panose="020B0503020204020204" pitchFamily="34" charset="-122"/>
              </a:rPr>
              <a:t>1</a:t>
            </a:r>
            <a:r>
              <a:rPr lang="en-US" altLang="zh-CN" sz="3307" dirty="0">
                <a:solidFill>
                  <a:prstClr val="white"/>
                </a:solidFill>
                <a:latin typeface="微软雅黑" panose="020B0503020204020204" pitchFamily="34" charset="-122"/>
              </a:rPr>
              <a:t>:=a*a</a:t>
            </a:r>
          </a:p>
          <a:p>
            <a:pPr defTabSz="503972" rtl="0" fontAlgn="auto" hangingPunct="1">
              <a:lnSpc>
                <a:spcPct val="100000"/>
              </a:lnSpc>
              <a:spcBef>
                <a:spcPct val="0"/>
              </a:spcBef>
              <a:spcAft>
                <a:spcPts val="0"/>
              </a:spcAft>
              <a:buClrTx/>
              <a:buSzTx/>
              <a:buNone/>
            </a:pPr>
            <a:r>
              <a:rPr lang="en-US" altLang="zh-CN" sz="3307" dirty="0">
                <a:solidFill>
                  <a:prstClr val="white"/>
                </a:solidFill>
                <a:latin typeface="微软雅黑" panose="020B0503020204020204" pitchFamily="34" charset="-122"/>
              </a:rPr>
              <a:t> T</a:t>
            </a:r>
            <a:r>
              <a:rPr lang="en-US" altLang="zh-CN" sz="3307" baseline="-25000" dirty="0">
                <a:solidFill>
                  <a:prstClr val="white"/>
                </a:solidFill>
                <a:latin typeface="微软雅黑" panose="020B0503020204020204" pitchFamily="34" charset="-122"/>
              </a:rPr>
              <a:t>2</a:t>
            </a:r>
            <a:r>
              <a:rPr lang="en-US" altLang="zh-CN" sz="3307" dirty="0">
                <a:solidFill>
                  <a:prstClr val="white"/>
                </a:solidFill>
                <a:latin typeface="微软雅黑" panose="020B0503020204020204" pitchFamily="34" charset="-122"/>
              </a:rPr>
              <a:t>:=a*b</a:t>
            </a:r>
          </a:p>
          <a:p>
            <a:pPr defTabSz="503972" rtl="0" fontAlgn="auto" hangingPunct="1">
              <a:lnSpc>
                <a:spcPct val="100000"/>
              </a:lnSpc>
              <a:spcBef>
                <a:spcPct val="0"/>
              </a:spcBef>
              <a:spcAft>
                <a:spcPts val="0"/>
              </a:spcAft>
              <a:buClrTx/>
              <a:buSzTx/>
              <a:buNone/>
            </a:pPr>
            <a:r>
              <a:rPr lang="en-US" altLang="zh-CN" sz="3307" dirty="0">
                <a:solidFill>
                  <a:prstClr val="white"/>
                </a:solidFill>
                <a:latin typeface="微软雅黑" panose="020B0503020204020204" pitchFamily="34" charset="-122"/>
              </a:rPr>
              <a:t> T</a:t>
            </a:r>
            <a:r>
              <a:rPr lang="en-US" altLang="zh-CN" sz="3307" baseline="-25000" dirty="0">
                <a:solidFill>
                  <a:prstClr val="white"/>
                </a:solidFill>
                <a:latin typeface="微软雅黑" panose="020B0503020204020204" pitchFamily="34" charset="-122"/>
              </a:rPr>
              <a:t>3</a:t>
            </a:r>
            <a:r>
              <a:rPr lang="en-US" altLang="zh-CN" sz="3307" dirty="0">
                <a:solidFill>
                  <a:prstClr val="white"/>
                </a:solidFill>
                <a:latin typeface="微软雅黑" panose="020B0503020204020204" pitchFamily="34" charset="-122"/>
              </a:rPr>
              <a:t>:=2*T</a:t>
            </a:r>
            <a:r>
              <a:rPr lang="en-US" altLang="zh-CN" sz="3307" baseline="-25000" dirty="0">
                <a:solidFill>
                  <a:prstClr val="white"/>
                </a:solidFill>
                <a:latin typeface="微软雅黑" panose="020B0503020204020204" pitchFamily="34" charset="-122"/>
              </a:rPr>
              <a:t>2</a:t>
            </a:r>
            <a:endParaRPr lang="en-US" altLang="zh-CN" sz="3307" dirty="0">
              <a:solidFill>
                <a:prstClr val="white"/>
              </a:solidFill>
              <a:latin typeface="微软雅黑" panose="020B0503020204020204" pitchFamily="34" charset="-122"/>
            </a:endParaRPr>
          </a:p>
          <a:p>
            <a:pPr defTabSz="503972" rtl="0" fontAlgn="auto" hangingPunct="1">
              <a:lnSpc>
                <a:spcPct val="100000"/>
              </a:lnSpc>
              <a:spcBef>
                <a:spcPct val="0"/>
              </a:spcBef>
              <a:spcAft>
                <a:spcPts val="0"/>
              </a:spcAft>
              <a:buClrTx/>
              <a:buSzTx/>
              <a:buNone/>
            </a:pPr>
            <a:r>
              <a:rPr lang="en-US" altLang="zh-CN" sz="3307" dirty="0">
                <a:solidFill>
                  <a:prstClr val="white"/>
                </a:solidFill>
                <a:latin typeface="微软雅黑" panose="020B0503020204020204" pitchFamily="34" charset="-122"/>
              </a:rPr>
              <a:t> T</a:t>
            </a:r>
            <a:r>
              <a:rPr lang="en-US" altLang="zh-CN" sz="3307" baseline="-25000" dirty="0">
                <a:solidFill>
                  <a:prstClr val="white"/>
                </a:solidFill>
                <a:latin typeface="微软雅黑" panose="020B0503020204020204" pitchFamily="34" charset="-122"/>
              </a:rPr>
              <a:t>4</a:t>
            </a:r>
            <a:r>
              <a:rPr lang="en-US" altLang="zh-CN" sz="3307" dirty="0">
                <a:solidFill>
                  <a:prstClr val="white"/>
                </a:solidFill>
                <a:latin typeface="微软雅黑" panose="020B0503020204020204" pitchFamily="34" charset="-122"/>
              </a:rPr>
              <a:t>:=T</a:t>
            </a:r>
            <a:r>
              <a:rPr lang="en-US" altLang="zh-CN" sz="3307" baseline="-25000" dirty="0">
                <a:solidFill>
                  <a:prstClr val="white"/>
                </a:solidFill>
                <a:latin typeface="微软雅黑" panose="020B0503020204020204" pitchFamily="34" charset="-122"/>
              </a:rPr>
              <a:t>1</a:t>
            </a:r>
            <a:r>
              <a:rPr lang="en-US" altLang="zh-CN" sz="3307" dirty="0">
                <a:solidFill>
                  <a:prstClr val="white"/>
                </a:solidFill>
                <a:latin typeface="微软雅黑" panose="020B0503020204020204" pitchFamily="34" charset="-122"/>
              </a:rPr>
              <a:t>+T</a:t>
            </a:r>
            <a:r>
              <a:rPr lang="en-US" altLang="zh-CN" sz="3307" baseline="-25000" dirty="0">
                <a:solidFill>
                  <a:prstClr val="white"/>
                </a:solidFill>
                <a:latin typeface="微软雅黑" panose="020B0503020204020204" pitchFamily="34" charset="-122"/>
              </a:rPr>
              <a:t>2</a:t>
            </a:r>
            <a:endParaRPr lang="en-US" altLang="zh-CN" sz="3307" dirty="0">
              <a:solidFill>
                <a:prstClr val="white"/>
              </a:solidFill>
              <a:latin typeface="微软雅黑" panose="020B0503020204020204" pitchFamily="34" charset="-122"/>
            </a:endParaRPr>
          </a:p>
          <a:p>
            <a:pPr defTabSz="503972" rtl="0" fontAlgn="auto" hangingPunct="1">
              <a:lnSpc>
                <a:spcPct val="100000"/>
              </a:lnSpc>
              <a:spcBef>
                <a:spcPct val="0"/>
              </a:spcBef>
              <a:spcAft>
                <a:spcPts val="0"/>
              </a:spcAft>
              <a:buClrTx/>
              <a:buSzTx/>
              <a:buNone/>
            </a:pPr>
            <a:r>
              <a:rPr lang="en-US" altLang="zh-CN" sz="3307" dirty="0">
                <a:solidFill>
                  <a:prstClr val="white"/>
                </a:solidFill>
                <a:latin typeface="微软雅黑" panose="020B0503020204020204" pitchFamily="34" charset="-122"/>
              </a:rPr>
              <a:t> T</a:t>
            </a:r>
            <a:r>
              <a:rPr lang="en-US" altLang="zh-CN" sz="3307" baseline="-25000" dirty="0">
                <a:solidFill>
                  <a:prstClr val="white"/>
                </a:solidFill>
                <a:latin typeface="微软雅黑" panose="020B0503020204020204" pitchFamily="34" charset="-122"/>
              </a:rPr>
              <a:t>5</a:t>
            </a:r>
            <a:r>
              <a:rPr lang="en-US" altLang="zh-CN" sz="3307" dirty="0">
                <a:solidFill>
                  <a:prstClr val="white"/>
                </a:solidFill>
                <a:latin typeface="微软雅黑" panose="020B0503020204020204" pitchFamily="34" charset="-122"/>
              </a:rPr>
              <a:t>:=b*b</a:t>
            </a:r>
          </a:p>
          <a:p>
            <a:pPr defTabSz="503972" rtl="0" fontAlgn="auto" hangingPunct="1">
              <a:lnSpc>
                <a:spcPct val="100000"/>
              </a:lnSpc>
              <a:spcBef>
                <a:spcPct val="0"/>
              </a:spcBef>
              <a:spcAft>
                <a:spcPts val="0"/>
              </a:spcAft>
              <a:buClrTx/>
              <a:buSzTx/>
              <a:buNone/>
            </a:pPr>
            <a:r>
              <a:rPr lang="en-US" altLang="zh-CN" sz="3307" dirty="0">
                <a:solidFill>
                  <a:prstClr val="white"/>
                </a:solidFill>
                <a:latin typeface="微软雅黑" panose="020B0503020204020204" pitchFamily="34" charset="-122"/>
              </a:rPr>
              <a:t> T</a:t>
            </a:r>
            <a:r>
              <a:rPr lang="en-US" altLang="zh-CN" sz="3307" baseline="-25000" dirty="0">
                <a:solidFill>
                  <a:prstClr val="white"/>
                </a:solidFill>
                <a:latin typeface="微软雅黑" panose="020B0503020204020204" pitchFamily="34" charset="-122"/>
              </a:rPr>
              <a:t>6</a:t>
            </a:r>
            <a:r>
              <a:rPr lang="en-US" altLang="zh-CN" sz="3307" dirty="0">
                <a:solidFill>
                  <a:prstClr val="white"/>
                </a:solidFill>
                <a:latin typeface="微软雅黑" panose="020B0503020204020204" pitchFamily="34" charset="-122"/>
              </a:rPr>
              <a:t>:=T</a:t>
            </a:r>
            <a:r>
              <a:rPr lang="en-US" altLang="zh-CN" sz="3307" baseline="-25000" dirty="0">
                <a:solidFill>
                  <a:prstClr val="white"/>
                </a:solidFill>
                <a:latin typeface="微软雅黑" panose="020B0503020204020204" pitchFamily="34" charset="-122"/>
              </a:rPr>
              <a:t>4</a:t>
            </a:r>
            <a:r>
              <a:rPr lang="en-US" altLang="zh-CN" sz="3307" dirty="0">
                <a:solidFill>
                  <a:prstClr val="white"/>
                </a:solidFill>
                <a:latin typeface="微软雅黑" panose="020B0503020204020204" pitchFamily="34" charset="-122"/>
              </a:rPr>
              <a:t>+T</a:t>
            </a:r>
            <a:r>
              <a:rPr lang="en-US" altLang="zh-CN" sz="3307" baseline="-25000" dirty="0">
                <a:solidFill>
                  <a:prstClr val="white"/>
                </a:solidFill>
                <a:latin typeface="微软雅黑" panose="020B0503020204020204" pitchFamily="34" charset="-122"/>
              </a:rPr>
              <a:t>5</a:t>
            </a:r>
            <a:endParaRPr kumimoji="1" lang="zh-CN" altLang="en-US" sz="3307" dirty="0">
              <a:solidFill>
                <a:prstClr val="white"/>
              </a:solidFill>
              <a:latin typeface="微软雅黑" panose="020B0503020204020204" pitchFamily="34" charset="-122"/>
            </a:endParaRPr>
          </a:p>
        </p:txBody>
      </p:sp>
      <p:sp>
        <p:nvSpPr>
          <p:cNvPr id="15" name="Text Box 5"/>
          <p:cNvSpPr txBox="1">
            <a:spLocks noChangeArrowheads="1"/>
          </p:cNvSpPr>
          <p:nvPr/>
        </p:nvSpPr>
        <p:spPr bwMode="auto">
          <a:xfrm>
            <a:off x="3960478" y="3791420"/>
            <a:ext cx="5349904" cy="3567955"/>
          </a:xfrm>
          <a:prstGeom prst="rect">
            <a:avLst/>
          </a:prstGeom>
        </p:spPr>
        <p:txBody>
          <a:bodyPr vert="horz" lIns="100796" tIns="50398" rIns="100796" bIns="50398" rtlCol="0">
            <a:normAutofit/>
          </a:bodyPr>
          <a:lstStyle>
            <a:lvl1pPr marL="342900" indent="-342900">
              <a:spcBef>
                <a:spcPts val="1000"/>
              </a:spcBef>
              <a:spcAft>
                <a:spcPts val="0"/>
              </a:spcAft>
              <a:buClr>
                <a:schemeClr val="accent1"/>
              </a:buClr>
              <a:buSzPct val="80000"/>
              <a:buFont typeface="Wingdings 3" charset="2"/>
              <a:buChar char=""/>
              <a:defRPr sz="2800">
                <a:solidFill>
                  <a:schemeClr val="tx1">
                    <a:lumMod val="75000"/>
                    <a:lumOff val="25000"/>
                  </a:schemeClr>
                </a:solidFill>
                <a:latin typeface="微软雅黑" panose="020B0503020204020204" pitchFamily="34" charset="-122"/>
                <a:ea typeface="微软雅黑" panose="020B0503020204020204" pitchFamily="34" charset="-122"/>
              </a:defRPr>
            </a:lvl1pPr>
            <a:lvl2pPr marL="742950" indent="-285750">
              <a:spcBef>
                <a:spcPts val="1000"/>
              </a:spcBef>
              <a:spcAft>
                <a:spcPts val="0"/>
              </a:spcAft>
              <a:buClr>
                <a:schemeClr val="accent1"/>
              </a:buClr>
              <a:buSzPct val="80000"/>
              <a:buFont typeface="Wingdings 3" charset="2"/>
              <a:buChar char=""/>
              <a:defRPr sz="2400">
                <a:solidFill>
                  <a:schemeClr val="tx1">
                    <a:lumMod val="75000"/>
                    <a:lumOff val="25000"/>
                  </a:schemeClr>
                </a:solidFill>
                <a:latin typeface="微软雅黑" panose="020B0503020204020204" pitchFamily="34" charset="-122"/>
                <a:ea typeface="微软雅黑" panose="020B0503020204020204" pitchFamily="34" charset="-122"/>
              </a:defRPr>
            </a:lvl2pPr>
            <a:lvl3pPr marL="1143000" indent="-228600">
              <a:spcBef>
                <a:spcPts val="1000"/>
              </a:spcBef>
              <a:spcAft>
                <a:spcPts val="0"/>
              </a:spcAft>
              <a:buClr>
                <a:schemeClr val="accent1"/>
              </a:buClr>
              <a:buSzPct val="80000"/>
              <a:buFont typeface="Wingdings 3" charset="2"/>
              <a:buChar char=""/>
              <a:defRPr sz="2000">
                <a:solidFill>
                  <a:schemeClr val="tx1">
                    <a:lumMod val="75000"/>
                    <a:lumOff val="25000"/>
                  </a:schemeClr>
                </a:solidFill>
                <a:latin typeface="微软雅黑" panose="020B0503020204020204" pitchFamily="34" charset="-122"/>
                <a:ea typeface="微软雅黑" panose="020B0503020204020204" pitchFamily="34" charset="-122"/>
              </a:defRPr>
            </a:lvl3pPr>
            <a:lvl4pPr marL="1600200" indent="-228600">
              <a:spcBef>
                <a:spcPts val="1000"/>
              </a:spcBef>
              <a:spcAft>
                <a:spcPts val="0"/>
              </a:spcAft>
              <a:buClr>
                <a:schemeClr val="accent1"/>
              </a:buClr>
              <a:buSzPct val="80000"/>
              <a:buFont typeface="Wingdings 3" charset="2"/>
              <a:buChar char=""/>
              <a:defRPr>
                <a:solidFill>
                  <a:schemeClr val="tx1">
                    <a:lumMod val="75000"/>
                    <a:lumOff val="25000"/>
                  </a:schemeClr>
                </a:solidFill>
                <a:latin typeface="微软雅黑" panose="020B0503020204020204" pitchFamily="34" charset="-122"/>
                <a:ea typeface="微软雅黑" panose="020B0503020204020204" pitchFamily="34" charset="-122"/>
              </a:defRPr>
            </a:lvl4pPr>
            <a:lvl5pPr marL="2057400" indent="-228600">
              <a:spcBef>
                <a:spcPts val="1000"/>
              </a:spcBef>
              <a:spcAft>
                <a:spcPts val="0"/>
              </a:spcAft>
              <a:buClr>
                <a:schemeClr val="accent1"/>
              </a:buClr>
              <a:buSzPct val="80000"/>
              <a:buFont typeface="Wingdings 3" charset="2"/>
              <a:buChar char=""/>
              <a:defRPr>
                <a:solidFill>
                  <a:schemeClr val="tx1">
                    <a:lumMod val="75000"/>
                    <a:lumOff val="25000"/>
                  </a:schemeClr>
                </a:solidFill>
                <a:latin typeface="微软雅黑" panose="020B0503020204020204" pitchFamily="34" charset="-122"/>
                <a:ea typeface="微软雅黑" panose="020B0503020204020204" pitchFamily="34" charset="-122"/>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pPr defTabSz="503972" rtl="0" fontAlgn="auto" hangingPunct="1">
              <a:lnSpc>
                <a:spcPct val="100000"/>
              </a:lnSpc>
              <a:buClr>
                <a:srgbClr val="4F81BD"/>
              </a:buClr>
            </a:pPr>
            <a:r>
              <a:rPr lang="zh-CN" altLang="en-US" sz="3086" dirty="0">
                <a:solidFill>
                  <a:prstClr val="black">
                    <a:lumMod val="75000"/>
                    <a:lumOff val="25000"/>
                  </a:prstClr>
                </a:solidFill>
              </a:rPr>
              <a:t>对三地址语句为</a:t>
            </a:r>
            <a:r>
              <a:rPr lang="en-US" altLang="zh-CN" sz="3086" dirty="0">
                <a:solidFill>
                  <a:prstClr val="black">
                    <a:lumMod val="75000"/>
                    <a:lumOff val="25000"/>
                  </a:prstClr>
                </a:solidFill>
              </a:rPr>
              <a:t>x:=y+z，</a:t>
            </a:r>
            <a:r>
              <a:rPr lang="zh-CN" altLang="en-US" sz="3086" dirty="0">
                <a:solidFill>
                  <a:prstClr val="black">
                    <a:lumMod val="75000"/>
                    <a:lumOff val="25000"/>
                  </a:prstClr>
                </a:solidFill>
              </a:rPr>
              <a:t>称对</a:t>
            </a:r>
            <a:r>
              <a:rPr lang="en-US" altLang="zh-CN" sz="3086" dirty="0">
                <a:solidFill>
                  <a:prstClr val="black">
                    <a:lumMod val="75000"/>
                    <a:lumOff val="25000"/>
                  </a:prstClr>
                </a:solidFill>
              </a:rPr>
              <a:t>x</a:t>
            </a:r>
            <a:r>
              <a:rPr lang="zh-CN" altLang="en-US" sz="3086" dirty="0">
                <a:solidFill>
                  <a:srgbClr val="C00000"/>
                </a:solidFill>
              </a:rPr>
              <a:t>定值</a:t>
            </a:r>
            <a:r>
              <a:rPr lang="zh-CN" altLang="en-US" sz="3086" dirty="0">
                <a:solidFill>
                  <a:prstClr val="black">
                    <a:lumMod val="75000"/>
                    <a:lumOff val="25000"/>
                  </a:prstClr>
                </a:solidFill>
              </a:rPr>
              <a:t>并</a:t>
            </a:r>
            <a:r>
              <a:rPr lang="zh-CN" altLang="en-US" sz="3086" dirty="0">
                <a:solidFill>
                  <a:srgbClr val="C00000"/>
                </a:solidFill>
              </a:rPr>
              <a:t>引用</a:t>
            </a:r>
            <a:r>
              <a:rPr lang="en-US" altLang="zh-CN" sz="3086" dirty="0">
                <a:solidFill>
                  <a:prstClr val="black">
                    <a:lumMod val="75000"/>
                    <a:lumOff val="25000"/>
                  </a:prstClr>
                </a:solidFill>
              </a:rPr>
              <a:t>y</a:t>
            </a:r>
            <a:r>
              <a:rPr lang="zh-CN" altLang="en-US" sz="3086" dirty="0">
                <a:solidFill>
                  <a:prstClr val="black">
                    <a:lumMod val="75000"/>
                    <a:lumOff val="25000"/>
                  </a:prstClr>
                </a:solidFill>
              </a:rPr>
              <a:t>和</a:t>
            </a:r>
            <a:r>
              <a:rPr lang="en-US" altLang="zh-CN" sz="3086" dirty="0">
                <a:solidFill>
                  <a:prstClr val="black">
                    <a:lumMod val="75000"/>
                    <a:lumOff val="25000"/>
                  </a:prstClr>
                </a:solidFill>
              </a:rPr>
              <a:t>z</a:t>
            </a:r>
          </a:p>
          <a:p>
            <a:pPr defTabSz="503972" rtl="0" fontAlgn="auto" hangingPunct="1">
              <a:lnSpc>
                <a:spcPct val="100000"/>
              </a:lnSpc>
              <a:buClr>
                <a:srgbClr val="4F81BD"/>
              </a:buClr>
            </a:pPr>
            <a:r>
              <a:rPr lang="zh-CN" altLang="en-US" sz="3086" dirty="0">
                <a:solidFill>
                  <a:prstClr val="black">
                    <a:lumMod val="75000"/>
                    <a:lumOff val="25000"/>
                  </a:prstClr>
                </a:solidFill>
              </a:rPr>
              <a:t>基本块中的一个名字在程序中的某个给定点是</a:t>
            </a:r>
            <a:r>
              <a:rPr lang="zh-CN" altLang="en-US" sz="3086" dirty="0">
                <a:solidFill>
                  <a:srgbClr val="C00000"/>
                </a:solidFill>
              </a:rPr>
              <a:t>活跃的</a:t>
            </a:r>
            <a:r>
              <a:rPr lang="zh-CN" altLang="en-US" sz="3086" dirty="0">
                <a:solidFill>
                  <a:prstClr val="black">
                    <a:lumMod val="75000"/>
                    <a:lumOff val="25000"/>
                  </a:prstClr>
                </a:solidFill>
              </a:rPr>
              <a:t>，是指如果在程序中(包括在本基本块或在其它基本块中)它的值在该点</a:t>
            </a:r>
            <a:r>
              <a:rPr lang="zh-CN" altLang="en-US" sz="3086" dirty="0">
                <a:solidFill>
                  <a:srgbClr val="C00000"/>
                </a:solidFill>
              </a:rPr>
              <a:t>以后被引用</a:t>
            </a:r>
          </a:p>
        </p:txBody>
      </p:sp>
      <p:grpSp>
        <p:nvGrpSpPr>
          <p:cNvPr id="16" name="Group 8"/>
          <p:cNvGrpSpPr>
            <a:grpSpLocks/>
          </p:cNvGrpSpPr>
          <p:nvPr/>
        </p:nvGrpSpPr>
        <p:grpSpPr bwMode="auto">
          <a:xfrm>
            <a:off x="303790" y="3601623"/>
            <a:ext cx="953710" cy="498729"/>
            <a:chOff x="-24" y="1848"/>
            <a:chExt cx="545" cy="285"/>
          </a:xfrm>
        </p:grpSpPr>
        <p:sp>
          <p:nvSpPr>
            <p:cNvPr id="17" name="Line 6"/>
            <p:cNvSpPr>
              <a:spLocks noChangeShapeType="1"/>
            </p:cNvSpPr>
            <p:nvPr/>
          </p:nvSpPr>
          <p:spPr bwMode="auto">
            <a:xfrm>
              <a:off x="0" y="2115"/>
              <a:ext cx="521"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18" name="Text Box 7"/>
            <p:cNvSpPr txBox="1">
              <a:spLocks noChangeArrowheads="1"/>
            </p:cNvSpPr>
            <p:nvPr/>
          </p:nvSpPr>
          <p:spPr bwMode="auto">
            <a:xfrm>
              <a:off x="-24" y="1848"/>
              <a:ext cx="49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2646" dirty="0">
                  <a:solidFill>
                    <a:srgbClr val="0070C0"/>
                  </a:solidFill>
                  <a:latin typeface="微软雅黑" panose="020B0503020204020204" pitchFamily="34" charset="-122"/>
                </a:rPr>
                <a:t>入口</a:t>
              </a:r>
              <a:endParaRPr lang="en-GB" altLang="zh-CN" sz="2646" dirty="0">
                <a:solidFill>
                  <a:srgbClr val="0070C0"/>
                </a:solidFill>
                <a:latin typeface="微软雅黑" panose="020B0503020204020204" pitchFamily="34" charset="-122"/>
              </a:endParaRPr>
            </a:p>
          </p:txBody>
        </p:sp>
      </p:grpSp>
      <p:grpSp>
        <p:nvGrpSpPr>
          <p:cNvPr id="19" name="Group 9"/>
          <p:cNvGrpSpPr>
            <a:grpSpLocks/>
          </p:cNvGrpSpPr>
          <p:nvPr/>
        </p:nvGrpSpPr>
        <p:grpSpPr bwMode="auto">
          <a:xfrm>
            <a:off x="305542" y="6141571"/>
            <a:ext cx="953708" cy="498729"/>
            <a:chOff x="-24" y="1848"/>
            <a:chExt cx="545" cy="285"/>
          </a:xfrm>
        </p:grpSpPr>
        <p:sp>
          <p:nvSpPr>
            <p:cNvPr id="20" name="Line 10"/>
            <p:cNvSpPr>
              <a:spLocks noChangeShapeType="1"/>
            </p:cNvSpPr>
            <p:nvPr/>
          </p:nvSpPr>
          <p:spPr bwMode="auto">
            <a:xfrm>
              <a:off x="0" y="2115"/>
              <a:ext cx="521"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21" name="Text Box 11"/>
            <p:cNvSpPr txBox="1">
              <a:spLocks noChangeArrowheads="1"/>
            </p:cNvSpPr>
            <p:nvPr/>
          </p:nvSpPr>
          <p:spPr bwMode="auto">
            <a:xfrm>
              <a:off x="-24" y="1848"/>
              <a:ext cx="49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2646" dirty="0">
                  <a:solidFill>
                    <a:srgbClr val="C00000"/>
                  </a:solidFill>
                  <a:latin typeface="微软雅黑" panose="020B0503020204020204" pitchFamily="34" charset="-122"/>
                </a:rPr>
                <a:t>出口</a:t>
              </a:r>
              <a:endParaRPr lang="en-GB" altLang="zh-CN" sz="2646" dirty="0">
                <a:solidFill>
                  <a:srgbClr val="C00000"/>
                </a:solidFill>
                <a:latin typeface="微软雅黑" panose="020B0503020204020204" pitchFamily="34" charset="-122"/>
              </a:endParaRPr>
            </a:p>
          </p:txBody>
        </p:sp>
      </p:grpSp>
    </p:spTree>
    <p:extLst>
      <p:ext uri="{BB962C8B-B14F-4D97-AF65-F5344CB8AC3E}">
        <p14:creationId xmlns:p14="http://schemas.microsoft.com/office/powerpoint/2010/main" val="6043035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wipe(left)">
                                      <p:cBhvr>
                                        <p:cTn id="7" dur="500"/>
                                        <p:tgtEl>
                                          <p:spTgt spid="768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animEffect transition="in" filter="blinds(horizontal)">
                                      <p:cBhvr>
                                        <p:cTn id="27" dur="500"/>
                                        <p:tgtEl>
                                          <p:spTgt spid="1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
                                            <p:txEl>
                                              <p:pRg st="1" end="1"/>
                                            </p:txEl>
                                          </p:spTgt>
                                        </p:tgtEl>
                                        <p:attrNameLst>
                                          <p:attrName>style.visibility</p:attrName>
                                        </p:attrNameLst>
                                      </p:cBhvr>
                                      <p:to>
                                        <p:strVal val="visible"/>
                                      </p:to>
                                    </p:set>
                                    <p:animEffect transition="in" filter="blinds(horizontal)">
                                      <p:cBhvr>
                                        <p:cTn id="32"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P spid="14" grpId="0" animBg="1" autoUpdateAnimBg="0"/>
      <p:bldP spid="15"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p:txBody>
          <a:bodyPr/>
          <a:lstStyle/>
          <a:p>
            <a:r>
              <a:rPr lang="zh-CN" altLang="en-US" dirty="0"/>
              <a:t>划分基本块</a:t>
            </a:r>
            <a:endParaRPr lang="zh-CN" altLang="en-US" dirty="0">
              <a:latin typeface="微软雅黑" panose="020B0503020204020204" pitchFamily="34" charset="-122"/>
            </a:endParaRPr>
          </a:p>
        </p:txBody>
      </p:sp>
      <p:sp>
        <p:nvSpPr>
          <p:cNvPr id="75779" name="Rectangle 3"/>
          <p:cNvSpPr>
            <a:spLocks noGrp="1" noChangeArrowheads="1"/>
          </p:cNvSpPr>
          <p:nvPr>
            <p:ph idx="1"/>
          </p:nvPr>
        </p:nvSpPr>
        <p:spPr/>
        <p:txBody>
          <a:bodyPr/>
          <a:lstStyle/>
          <a:p>
            <a:pPr eaLnBrk="1" hangingPunct="1">
              <a:lnSpc>
                <a:spcPct val="90000"/>
              </a:lnSpc>
            </a:pPr>
            <a:r>
              <a:rPr lang="zh-CN" altLang="en-US" dirty="0">
                <a:latin typeface="微软雅黑" panose="020B0503020204020204" pitchFamily="34" charset="-122"/>
              </a:rPr>
              <a:t>局限于基本块范围内的优化称为</a:t>
            </a:r>
            <a:r>
              <a:rPr lang="zh-CN" altLang="en-US" dirty="0">
                <a:solidFill>
                  <a:srgbClr val="CC0000"/>
                </a:solidFill>
                <a:latin typeface="微软雅黑" panose="020B0503020204020204" pitchFamily="34" charset="-122"/>
              </a:rPr>
              <a:t>基本块内的优化</a:t>
            </a:r>
            <a:r>
              <a:rPr lang="zh-CN" altLang="en-US" dirty="0">
                <a:latin typeface="微软雅黑" panose="020B0503020204020204" pitchFamily="34" charset="-122"/>
              </a:rPr>
              <a:t>，或称</a:t>
            </a:r>
            <a:r>
              <a:rPr lang="zh-CN" altLang="en-US" dirty="0">
                <a:solidFill>
                  <a:srgbClr val="CC0000"/>
                </a:solidFill>
                <a:latin typeface="微软雅黑" panose="020B0503020204020204" pitchFamily="34" charset="-122"/>
              </a:rPr>
              <a:t>局部优化</a:t>
            </a:r>
          </a:p>
          <a:p>
            <a:pPr>
              <a:lnSpc>
                <a:spcPct val="90000"/>
              </a:lnSpc>
              <a:spcBef>
                <a:spcPts val="1488"/>
              </a:spcBef>
            </a:pPr>
            <a:r>
              <a:rPr lang="zh-CN" altLang="en-US" dirty="0">
                <a:latin typeface="微软雅黑" panose="020B0503020204020204" pitchFamily="34" charset="-122"/>
              </a:rPr>
              <a:t>如何将程序划分成基本块？</a:t>
            </a:r>
          </a:p>
          <a:p>
            <a:pPr lvl="1">
              <a:lnSpc>
                <a:spcPct val="90000"/>
              </a:lnSpc>
              <a:spcBef>
                <a:spcPts val="1488"/>
              </a:spcBef>
            </a:pPr>
            <a:r>
              <a:rPr lang="zh-CN" altLang="en-US" dirty="0">
                <a:solidFill>
                  <a:schemeClr val="tx1"/>
                </a:solidFill>
              </a:rPr>
              <a:t>基本块：</a:t>
            </a:r>
            <a:r>
              <a:rPr lang="zh-CN" altLang="en-US" dirty="0"/>
              <a:t>指程序中一顺序执行语句序列，其中只有一个入口和一个出口。</a:t>
            </a:r>
            <a:r>
              <a:rPr lang="zh-CN" altLang="en-US" dirty="0">
                <a:solidFill>
                  <a:srgbClr val="0070C0"/>
                </a:solidFill>
              </a:rPr>
              <a:t>入口</a:t>
            </a:r>
            <a:r>
              <a:rPr lang="zh-CN" altLang="en-US" dirty="0"/>
              <a:t>就是其中第一个语句，</a:t>
            </a:r>
            <a:r>
              <a:rPr lang="zh-CN" altLang="en-US" dirty="0">
                <a:solidFill>
                  <a:srgbClr val="C00000"/>
                </a:solidFill>
              </a:rPr>
              <a:t>出口</a:t>
            </a:r>
            <a:r>
              <a:rPr lang="zh-CN" altLang="en-US" dirty="0"/>
              <a:t>就是其中最后一个语句。</a:t>
            </a:r>
          </a:p>
        </p:txBody>
      </p:sp>
    </p:spTree>
    <p:extLst>
      <p:ext uri="{BB962C8B-B14F-4D97-AF65-F5344CB8AC3E}">
        <p14:creationId xmlns:p14="http://schemas.microsoft.com/office/powerpoint/2010/main" val="31254335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wipe(left)">
                                      <p:cBhvr>
                                        <p:cTn id="12" dur="500"/>
                                        <p:tgtEl>
                                          <p:spTgt spid="75779">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5779">
                                            <p:txEl>
                                              <p:pRg st="2" end="2"/>
                                            </p:txEl>
                                          </p:spTgt>
                                        </p:tgtEl>
                                        <p:attrNameLst>
                                          <p:attrName>style.visibility</p:attrName>
                                        </p:attrNameLst>
                                      </p:cBhvr>
                                      <p:to>
                                        <p:strVal val="visible"/>
                                      </p:to>
                                    </p:set>
                                    <p:animEffect transition="in" filter="wipe(left)">
                                      <p:cBhvr>
                                        <p:cTn id="15" dur="500"/>
                                        <p:tgtEl>
                                          <p:spTgt spid="757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6" name="Rectangle 5"/>
          <p:cNvSpPr>
            <a:spLocks noGrp="1" noChangeArrowheads="1"/>
          </p:cNvSpPr>
          <p:nvPr>
            <p:ph type="title"/>
          </p:nvPr>
        </p:nvSpPr>
        <p:spPr/>
        <p:txBody>
          <a:bodyPr/>
          <a:lstStyle/>
          <a:p>
            <a:pPr eaLnBrk="1" hangingPunct="1"/>
            <a:r>
              <a:rPr lang="zh-CN" altLang="en-US" dirty="0">
                <a:latin typeface="微软雅黑" panose="020B0503020204020204" pitchFamily="34" charset="-122"/>
              </a:rPr>
              <a:t>划分基本块的算法</a:t>
            </a:r>
            <a:endParaRPr lang="en-GB" altLang="zh-CN" dirty="0">
              <a:latin typeface="微软雅黑" panose="020B0503020204020204" pitchFamily="34" charset="-122"/>
            </a:endParaRPr>
          </a:p>
        </p:txBody>
      </p:sp>
      <p:sp>
        <p:nvSpPr>
          <p:cNvPr id="11267" name="Rectangle 3"/>
          <p:cNvSpPr>
            <a:spLocks noGrp="1" noChangeArrowheads="1"/>
          </p:cNvSpPr>
          <p:nvPr>
            <p:ph idx="1"/>
          </p:nvPr>
        </p:nvSpPr>
        <p:spPr/>
        <p:txBody>
          <a:bodyPr/>
          <a:lstStyle/>
          <a:p>
            <a:pPr eaLnBrk="1" hangingPunct="1">
              <a:buFont typeface="Wingdings" panose="05000000000000000000" pitchFamily="2" charset="2"/>
              <a:buNone/>
            </a:pPr>
            <a:r>
              <a:rPr lang="zh-CN" altLang="en-US" dirty="0">
                <a:latin typeface="微软雅黑" panose="020B0503020204020204" pitchFamily="34" charset="-122"/>
              </a:rPr>
              <a:t>1. 找出中间语言</a:t>
            </a:r>
            <a:r>
              <a:rPr lang="en-US" altLang="zh-CN" dirty="0">
                <a:latin typeface="微软雅黑" panose="020B0503020204020204" pitchFamily="34" charset="-122"/>
              </a:rPr>
              <a:t>(</a:t>
            </a:r>
            <a:r>
              <a:rPr lang="zh-CN" altLang="en-US" dirty="0">
                <a:latin typeface="微软雅黑" panose="020B0503020204020204" pitchFamily="34" charset="-122"/>
              </a:rPr>
              <a:t>三地址语句</a:t>
            </a:r>
            <a:r>
              <a:rPr lang="en-US" altLang="zh-CN" dirty="0">
                <a:latin typeface="微软雅黑" panose="020B0503020204020204" pitchFamily="34" charset="-122"/>
              </a:rPr>
              <a:t>)</a:t>
            </a:r>
            <a:r>
              <a:rPr lang="zh-CN" altLang="en-US" dirty="0">
                <a:latin typeface="微软雅黑" panose="020B0503020204020204" pitchFamily="34" charset="-122"/>
              </a:rPr>
              <a:t>程序中各个基本块的入口语句:</a:t>
            </a:r>
          </a:p>
          <a:p>
            <a:pPr lvl="1" eaLnBrk="1" hangingPunct="1">
              <a:buFont typeface="Wingdings" panose="05000000000000000000" pitchFamily="2" charset="2"/>
              <a:buNone/>
            </a:pPr>
            <a:r>
              <a:rPr lang="zh-CN" altLang="en-US" dirty="0">
                <a:latin typeface="微软雅黑" panose="020B0503020204020204" pitchFamily="34" charset="-122"/>
              </a:rPr>
              <a:t>1) </a:t>
            </a:r>
            <a:r>
              <a:rPr lang="zh-CN" altLang="en-US" dirty="0">
                <a:solidFill>
                  <a:srgbClr val="0070C0"/>
                </a:solidFill>
                <a:latin typeface="微软雅黑" panose="020B0503020204020204" pitchFamily="34" charset="-122"/>
              </a:rPr>
              <a:t>程序第一个语句</a:t>
            </a:r>
            <a:r>
              <a:rPr lang="zh-CN" altLang="en-US" dirty="0">
                <a:latin typeface="微软雅黑" panose="020B0503020204020204" pitchFamily="34" charset="-122"/>
              </a:rPr>
              <a:t>，或</a:t>
            </a:r>
          </a:p>
          <a:p>
            <a:pPr lvl="1" eaLnBrk="1" hangingPunct="1">
              <a:buFont typeface="Wingdings" panose="05000000000000000000" pitchFamily="2" charset="2"/>
              <a:buNone/>
            </a:pPr>
            <a:r>
              <a:rPr lang="zh-CN" altLang="en-US" dirty="0">
                <a:latin typeface="微软雅黑" panose="020B0503020204020204" pitchFamily="34" charset="-122"/>
              </a:rPr>
              <a:t>2) </a:t>
            </a:r>
            <a:r>
              <a:rPr lang="zh-CN" altLang="en-US" dirty="0">
                <a:solidFill>
                  <a:srgbClr val="0070C0"/>
                </a:solidFill>
                <a:latin typeface="微软雅黑" panose="020B0503020204020204" pitchFamily="34" charset="-122"/>
              </a:rPr>
              <a:t>能由条件转移语句或无条件转移语句转移到的语句</a:t>
            </a:r>
            <a:r>
              <a:rPr lang="zh-CN" altLang="en-US" dirty="0">
                <a:latin typeface="微软雅黑" panose="020B0503020204020204" pitchFamily="34" charset="-122"/>
              </a:rPr>
              <a:t>，或</a:t>
            </a:r>
          </a:p>
          <a:p>
            <a:pPr lvl="1" eaLnBrk="1" hangingPunct="1">
              <a:buFont typeface="Wingdings" panose="05000000000000000000" pitchFamily="2" charset="2"/>
              <a:buNone/>
            </a:pPr>
            <a:r>
              <a:rPr lang="zh-CN" altLang="en-US" dirty="0">
                <a:latin typeface="微软雅黑" panose="020B0503020204020204" pitchFamily="34" charset="-122"/>
              </a:rPr>
              <a:t>3) </a:t>
            </a:r>
            <a:r>
              <a:rPr lang="zh-CN" altLang="en-US" dirty="0">
                <a:solidFill>
                  <a:srgbClr val="0070C0"/>
                </a:solidFill>
                <a:latin typeface="微软雅黑" panose="020B0503020204020204" pitchFamily="34" charset="-122"/>
              </a:rPr>
              <a:t>紧跟在条件转移语句后面的语句</a:t>
            </a:r>
          </a:p>
        </p:txBody>
      </p:sp>
    </p:spTree>
    <p:extLst>
      <p:ext uri="{BB962C8B-B14F-4D97-AF65-F5344CB8AC3E}">
        <p14:creationId xmlns:p14="http://schemas.microsoft.com/office/powerpoint/2010/main" val="210860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left)">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wipe(left)">
                                      <p:cBhvr>
                                        <p:cTn id="12" dur="5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wipe(left)">
                                      <p:cBhvr>
                                        <p:cTn id="17" dur="500"/>
                                        <p:tgtEl>
                                          <p:spTgt spid="11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267">
                                            <p:txEl>
                                              <p:pRg st="3" end="3"/>
                                            </p:txEl>
                                          </p:spTgt>
                                        </p:tgtEl>
                                        <p:attrNameLst>
                                          <p:attrName>style.visibility</p:attrName>
                                        </p:attrNameLst>
                                      </p:cBhvr>
                                      <p:to>
                                        <p:strVal val="visible"/>
                                      </p:to>
                                    </p:set>
                                    <p:animEffect transition="in" filter="wipe(left)">
                                      <p:cBhvr>
                                        <p:cTn id="22" dur="500"/>
                                        <p:tgtEl>
                                          <p:spTgt spid="112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62" name="Rectangle 5"/>
          <p:cNvSpPr>
            <a:spLocks noGrp="1" noChangeArrowheads="1"/>
          </p:cNvSpPr>
          <p:nvPr>
            <p:ph type="title"/>
          </p:nvPr>
        </p:nvSpPr>
        <p:spPr/>
        <p:txBody>
          <a:bodyPr/>
          <a:lstStyle/>
          <a:p>
            <a:r>
              <a:rPr lang="zh-CN" altLang="en-US" dirty="0"/>
              <a:t>划分基本块的算法</a:t>
            </a:r>
            <a:endParaRPr lang="en-GB" altLang="zh-CN" dirty="0">
              <a:latin typeface="微软雅黑" panose="020B0503020204020204" pitchFamily="34" charset="-122"/>
            </a:endParaRPr>
          </a:p>
        </p:txBody>
      </p:sp>
      <p:sp>
        <p:nvSpPr>
          <p:cNvPr id="48130" name="Rectangle 2"/>
          <p:cNvSpPr>
            <a:spLocks noGrp="1" noChangeArrowheads="1"/>
          </p:cNvSpPr>
          <p:nvPr>
            <p:ph idx="1"/>
          </p:nvPr>
        </p:nvSpPr>
        <p:spPr/>
        <p:txBody>
          <a:bodyPr/>
          <a:lstStyle/>
          <a:p>
            <a:pPr eaLnBrk="1" hangingPunct="1">
              <a:buFont typeface="Wingdings" panose="05000000000000000000" pitchFamily="2" charset="2"/>
              <a:buNone/>
            </a:pPr>
            <a:r>
              <a:rPr lang="zh-CN" altLang="en-US" dirty="0">
                <a:latin typeface="微软雅黑" panose="020B0503020204020204" pitchFamily="34" charset="-122"/>
              </a:rPr>
              <a:t>2. 对以上求出的每个入口语句，确定其所属的基本块。它是由该入口语句到</a:t>
            </a:r>
            <a:r>
              <a:rPr lang="zh-CN" altLang="en-US" dirty="0">
                <a:solidFill>
                  <a:srgbClr val="CC0000"/>
                </a:solidFill>
                <a:latin typeface="微软雅黑" panose="020B0503020204020204" pitchFamily="34" charset="-122"/>
              </a:rPr>
              <a:t>下一入口语句</a:t>
            </a:r>
            <a:r>
              <a:rPr lang="zh-CN" altLang="en-US" dirty="0">
                <a:latin typeface="微软雅黑" panose="020B0503020204020204" pitchFamily="34" charset="-122"/>
              </a:rPr>
              <a:t>(</a:t>
            </a:r>
            <a:r>
              <a:rPr lang="zh-CN" altLang="en-US" dirty="0">
                <a:solidFill>
                  <a:srgbClr val="0070C0"/>
                </a:solidFill>
                <a:latin typeface="微软雅黑" panose="020B0503020204020204" pitchFamily="34" charset="-122"/>
              </a:rPr>
              <a:t>不包括该入口语句</a:t>
            </a:r>
            <a:r>
              <a:rPr lang="zh-CN" altLang="en-US" dirty="0">
                <a:latin typeface="微软雅黑" panose="020B0503020204020204" pitchFamily="34" charset="-122"/>
              </a:rPr>
              <a:t>) 之间的语句序列组成的</a:t>
            </a:r>
          </a:p>
        </p:txBody>
      </p:sp>
      <p:sp>
        <p:nvSpPr>
          <p:cNvPr id="7" name="Text Box 3"/>
          <p:cNvSpPr txBox="1">
            <a:spLocks noChangeArrowheads="1"/>
          </p:cNvSpPr>
          <p:nvPr/>
        </p:nvSpPr>
        <p:spPr bwMode="auto">
          <a:xfrm>
            <a:off x="978533" y="4682259"/>
            <a:ext cx="2381000" cy="1991827"/>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GB" sz="3086">
                <a:solidFill>
                  <a:prstClr val="black"/>
                </a:solidFill>
                <a:latin typeface="微软雅黑" panose="020B0503020204020204" pitchFamily="34" charset="-122"/>
              </a:rPr>
              <a:t>入口语句</a:t>
            </a:r>
            <a:r>
              <a:rPr lang="en-GB" altLang="zh-CN" sz="3086">
                <a:solidFill>
                  <a:prstClr val="black"/>
                </a:solidFill>
                <a:latin typeface="微软雅黑" panose="020B0503020204020204" pitchFamily="34" charset="-122"/>
              </a:rPr>
              <a:t>n</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zh-CN" altLang="en-US" sz="3086">
                <a:solidFill>
                  <a:srgbClr val="CC0000"/>
                </a:solidFill>
                <a:latin typeface="微软雅黑" panose="020B0503020204020204" pitchFamily="34" charset="-122"/>
              </a:rPr>
              <a:t>入口语句</a:t>
            </a:r>
            <a:r>
              <a:rPr lang="en-US" altLang="zh-CN" sz="3086">
                <a:solidFill>
                  <a:srgbClr val="CC0000"/>
                </a:solidFill>
                <a:latin typeface="微软雅黑" panose="020B0503020204020204" pitchFamily="34" charset="-122"/>
              </a:rPr>
              <a:t>m</a:t>
            </a:r>
            <a:endParaRPr lang="en-GB" altLang="zh-CN" sz="3086">
              <a:solidFill>
                <a:srgbClr val="CC0000"/>
              </a:solidFill>
              <a:latin typeface="微软雅黑" panose="020B0503020204020204" pitchFamily="34" charset="-122"/>
            </a:endParaRPr>
          </a:p>
        </p:txBody>
      </p:sp>
      <p:sp>
        <p:nvSpPr>
          <p:cNvPr id="8" name="Rectangle 4"/>
          <p:cNvSpPr>
            <a:spLocks noChangeArrowheads="1"/>
          </p:cNvSpPr>
          <p:nvPr/>
        </p:nvSpPr>
        <p:spPr bwMode="auto">
          <a:xfrm>
            <a:off x="1033183" y="4762753"/>
            <a:ext cx="2261950" cy="1427939"/>
          </a:xfrm>
          <a:prstGeom prst="rect">
            <a:avLst/>
          </a:prstGeom>
          <a:solidFill>
            <a:srgbClr val="4F81BD">
              <a:alpha val="50196"/>
            </a:srgbClr>
          </a:solidFill>
          <a:ln>
            <a:solidFill>
              <a:schemeClr val="accent1"/>
            </a:solidFill>
            <a:headEnd/>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Tree>
    <p:extLst>
      <p:ext uri="{BB962C8B-B14F-4D97-AF65-F5344CB8AC3E}">
        <p14:creationId xmlns:p14="http://schemas.microsoft.com/office/powerpoint/2010/main" val="204400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8" name="Rectangle 7"/>
          <p:cNvSpPr>
            <a:spLocks noGrp="1" noChangeArrowheads="1"/>
          </p:cNvSpPr>
          <p:nvPr>
            <p:ph type="title"/>
          </p:nvPr>
        </p:nvSpPr>
        <p:spPr/>
        <p:txBody>
          <a:bodyPr/>
          <a:lstStyle/>
          <a:p>
            <a:r>
              <a:rPr lang="zh-CN" altLang="en-US" dirty="0"/>
              <a:t>划分基本块的算法</a:t>
            </a:r>
            <a:endParaRPr lang="en-GB" altLang="zh-CN" dirty="0">
              <a:latin typeface="微软雅黑" panose="020B0503020204020204" pitchFamily="34" charset="-122"/>
            </a:endParaRPr>
          </a:p>
        </p:txBody>
      </p:sp>
      <p:sp>
        <p:nvSpPr>
          <p:cNvPr id="71683" name="Rectangle 2"/>
          <p:cNvSpPr>
            <a:spLocks noGrp="1" noChangeArrowheads="1"/>
          </p:cNvSpPr>
          <p:nvPr>
            <p:ph idx="1"/>
          </p:nvPr>
        </p:nvSpPr>
        <p:spPr>
          <a:noFill/>
        </p:spPr>
        <p:txBody>
          <a:bodyPr/>
          <a:lstStyle/>
          <a:p>
            <a:pPr eaLnBrk="1" hangingPunct="1">
              <a:buFont typeface="Wingdings" panose="05000000000000000000" pitchFamily="2" charset="2"/>
              <a:buNone/>
            </a:pPr>
            <a:r>
              <a:rPr lang="zh-CN" altLang="en-US" dirty="0">
                <a:latin typeface="微软雅黑" panose="020B0503020204020204" pitchFamily="34" charset="-122"/>
              </a:rPr>
              <a:t>2. 对以上求出的每个入口语句，确定其所属的基本块。它是由该入口语句到</a:t>
            </a:r>
            <a:r>
              <a:rPr lang="zh-CN" altLang="en-US" dirty="0">
                <a:solidFill>
                  <a:srgbClr val="CC0000"/>
                </a:solidFill>
                <a:latin typeface="微软雅黑" panose="020B0503020204020204" pitchFamily="34" charset="-122"/>
              </a:rPr>
              <a:t>下一入口语句</a:t>
            </a:r>
            <a:r>
              <a:rPr lang="zh-CN" altLang="en-US" dirty="0">
                <a:latin typeface="微软雅黑" panose="020B0503020204020204" pitchFamily="34" charset="-122"/>
              </a:rPr>
              <a:t>(</a:t>
            </a:r>
            <a:r>
              <a:rPr lang="zh-CN" altLang="en-US" dirty="0">
                <a:solidFill>
                  <a:srgbClr val="0070C0"/>
                </a:solidFill>
                <a:latin typeface="微软雅黑" panose="020B0503020204020204" pitchFamily="34" charset="-122"/>
              </a:rPr>
              <a:t>不包括该入口语句</a:t>
            </a:r>
            <a:r>
              <a:rPr lang="zh-CN" altLang="en-US" dirty="0">
                <a:latin typeface="微软雅黑" panose="020B0503020204020204" pitchFamily="34" charset="-122"/>
              </a:rPr>
              <a:t>)、</a:t>
            </a:r>
            <a:r>
              <a:rPr lang="zh-CN" altLang="en-US" u="sng" dirty="0">
                <a:latin typeface="微软雅黑" panose="020B0503020204020204" pitchFamily="34" charset="-122"/>
              </a:rPr>
              <a:t>或到</a:t>
            </a:r>
            <a:r>
              <a:rPr lang="zh-CN" altLang="en-US" u="sng" dirty="0">
                <a:solidFill>
                  <a:srgbClr val="CC0000"/>
                </a:solidFill>
                <a:latin typeface="微软雅黑" panose="020B0503020204020204" pitchFamily="34" charset="-122"/>
              </a:rPr>
              <a:t>一转移语句</a:t>
            </a:r>
            <a:r>
              <a:rPr lang="zh-CN" altLang="en-US" u="sng" dirty="0">
                <a:latin typeface="微软雅黑" panose="020B0503020204020204" pitchFamily="34" charset="-122"/>
              </a:rPr>
              <a:t>(</a:t>
            </a:r>
            <a:r>
              <a:rPr lang="zh-CN" altLang="en-US" u="sng" dirty="0">
                <a:solidFill>
                  <a:srgbClr val="0070C0"/>
                </a:solidFill>
                <a:latin typeface="微软雅黑" panose="020B0503020204020204" pitchFamily="34" charset="-122"/>
              </a:rPr>
              <a:t>包括该转移语句</a:t>
            </a:r>
            <a:r>
              <a:rPr lang="zh-CN" altLang="en-US" u="sng" dirty="0">
                <a:latin typeface="微软雅黑" panose="020B0503020204020204" pitchFamily="34" charset="-122"/>
              </a:rPr>
              <a:t>)</a:t>
            </a:r>
            <a:r>
              <a:rPr lang="zh-CN" altLang="en-US" dirty="0">
                <a:latin typeface="微软雅黑" panose="020B0503020204020204" pitchFamily="34" charset="-122"/>
              </a:rPr>
              <a:t> 之间的语句序列组成的</a:t>
            </a:r>
          </a:p>
        </p:txBody>
      </p:sp>
      <p:sp>
        <p:nvSpPr>
          <p:cNvPr id="9" name="Text Box 3"/>
          <p:cNvSpPr txBox="1">
            <a:spLocks noChangeArrowheads="1"/>
          </p:cNvSpPr>
          <p:nvPr/>
        </p:nvSpPr>
        <p:spPr bwMode="auto">
          <a:xfrm>
            <a:off x="978533" y="4682259"/>
            <a:ext cx="2381000" cy="1991827"/>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GB" sz="3086">
                <a:solidFill>
                  <a:prstClr val="black"/>
                </a:solidFill>
                <a:latin typeface="微软雅黑" panose="020B0503020204020204" pitchFamily="34" charset="-122"/>
              </a:rPr>
              <a:t>入口语句</a:t>
            </a:r>
            <a:r>
              <a:rPr lang="en-GB" altLang="zh-CN" sz="3086">
                <a:solidFill>
                  <a:prstClr val="black"/>
                </a:solidFill>
                <a:latin typeface="微软雅黑" panose="020B0503020204020204" pitchFamily="34" charset="-122"/>
              </a:rPr>
              <a:t>n</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zh-CN" altLang="en-US" sz="3086">
                <a:solidFill>
                  <a:srgbClr val="CC0000"/>
                </a:solidFill>
                <a:latin typeface="微软雅黑" panose="020B0503020204020204" pitchFamily="34" charset="-122"/>
              </a:rPr>
              <a:t>入口语句</a:t>
            </a:r>
            <a:r>
              <a:rPr lang="en-US" altLang="zh-CN" sz="3086">
                <a:solidFill>
                  <a:srgbClr val="CC0000"/>
                </a:solidFill>
                <a:latin typeface="微软雅黑" panose="020B0503020204020204" pitchFamily="34" charset="-122"/>
              </a:rPr>
              <a:t>m</a:t>
            </a:r>
            <a:endParaRPr lang="en-GB" altLang="zh-CN" sz="3086">
              <a:solidFill>
                <a:srgbClr val="CC0000"/>
              </a:solidFill>
              <a:latin typeface="微软雅黑" panose="020B0503020204020204" pitchFamily="34" charset="-122"/>
            </a:endParaRPr>
          </a:p>
        </p:txBody>
      </p:sp>
      <p:sp>
        <p:nvSpPr>
          <p:cNvPr id="10" name="Rectangle 4"/>
          <p:cNvSpPr>
            <a:spLocks noChangeArrowheads="1"/>
          </p:cNvSpPr>
          <p:nvPr/>
        </p:nvSpPr>
        <p:spPr bwMode="auto">
          <a:xfrm>
            <a:off x="1033183" y="4762753"/>
            <a:ext cx="2261950" cy="1427939"/>
          </a:xfrm>
          <a:prstGeom prst="rect">
            <a:avLst/>
          </a:prstGeom>
          <a:solidFill>
            <a:srgbClr val="4F81BD">
              <a:alpha val="50196"/>
            </a:srgbClr>
          </a:solidFill>
          <a:ln>
            <a:solidFill>
              <a:schemeClr val="accent1"/>
            </a:solidFill>
            <a:headEnd/>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
        <p:nvSpPr>
          <p:cNvPr id="11" name="Text Box 5"/>
          <p:cNvSpPr txBox="1">
            <a:spLocks noChangeArrowheads="1"/>
          </p:cNvSpPr>
          <p:nvPr/>
        </p:nvSpPr>
        <p:spPr bwMode="auto">
          <a:xfrm>
            <a:off x="3730167" y="4682259"/>
            <a:ext cx="2381000" cy="1991827"/>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GB" sz="3086">
                <a:solidFill>
                  <a:prstClr val="black"/>
                </a:solidFill>
                <a:latin typeface="微软雅黑" panose="020B0503020204020204" pitchFamily="34" charset="-122"/>
              </a:rPr>
              <a:t>入口语句</a:t>
            </a:r>
            <a:r>
              <a:rPr lang="en-GB" altLang="zh-CN" sz="3086">
                <a:solidFill>
                  <a:prstClr val="black"/>
                </a:solidFill>
                <a:latin typeface="微软雅黑" panose="020B0503020204020204" pitchFamily="34" charset="-122"/>
              </a:rPr>
              <a:t>n</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zh-CN" altLang="en-US" sz="3086">
                <a:solidFill>
                  <a:srgbClr val="CC0000"/>
                </a:solidFill>
                <a:latin typeface="微软雅黑" panose="020B0503020204020204" pitchFamily="34" charset="-122"/>
              </a:rPr>
              <a:t>转移语句</a:t>
            </a:r>
            <a:r>
              <a:rPr lang="en-US" altLang="zh-CN" sz="3086">
                <a:solidFill>
                  <a:srgbClr val="CC0000"/>
                </a:solidFill>
                <a:latin typeface="微软雅黑" panose="020B0503020204020204" pitchFamily="34" charset="-122"/>
              </a:rPr>
              <a:t>m</a:t>
            </a:r>
            <a:endParaRPr lang="en-GB" altLang="zh-CN" sz="3086">
              <a:solidFill>
                <a:srgbClr val="CC0000"/>
              </a:solidFill>
              <a:latin typeface="微软雅黑" panose="020B0503020204020204" pitchFamily="34" charset="-122"/>
            </a:endParaRPr>
          </a:p>
        </p:txBody>
      </p:sp>
      <p:sp>
        <p:nvSpPr>
          <p:cNvPr id="12" name="Rectangle 6"/>
          <p:cNvSpPr>
            <a:spLocks noChangeArrowheads="1"/>
          </p:cNvSpPr>
          <p:nvPr/>
        </p:nvSpPr>
        <p:spPr bwMode="auto">
          <a:xfrm>
            <a:off x="3781586" y="4762755"/>
            <a:ext cx="2261950" cy="1825172"/>
          </a:xfrm>
          <a:prstGeom prst="rect">
            <a:avLst/>
          </a:prstGeom>
          <a:solidFill>
            <a:srgbClr val="4F81BD">
              <a:alpha val="50196"/>
            </a:srgbClr>
          </a:solidFill>
          <a:ln>
            <a:solidFill>
              <a:schemeClr val="accent1"/>
            </a:solidFill>
            <a:headEnd/>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Tree>
    <p:extLst>
      <p:ext uri="{BB962C8B-B14F-4D97-AF65-F5344CB8AC3E}">
        <p14:creationId xmlns:p14="http://schemas.microsoft.com/office/powerpoint/2010/main" val="47644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14" name="Rectangle 9"/>
          <p:cNvSpPr>
            <a:spLocks noGrp="1" noChangeArrowheads="1"/>
          </p:cNvSpPr>
          <p:nvPr>
            <p:ph type="title"/>
          </p:nvPr>
        </p:nvSpPr>
        <p:spPr/>
        <p:txBody>
          <a:bodyPr/>
          <a:lstStyle/>
          <a:p>
            <a:r>
              <a:rPr lang="zh-CN" altLang="en-US" dirty="0"/>
              <a:t>划分基本块的算法</a:t>
            </a:r>
            <a:endParaRPr lang="en-GB" altLang="zh-CN" dirty="0">
              <a:latin typeface="微软雅黑" panose="020B0503020204020204" pitchFamily="34" charset="-122"/>
            </a:endParaRPr>
          </a:p>
        </p:txBody>
      </p:sp>
      <p:sp>
        <p:nvSpPr>
          <p:cNvPr id="72707" name="Rectangle 2"/>
          <p:cNvSpPr>
            <a:spLocks noGrp="1" noChangeArrowheads="1"/>
          </p:cNvSpPr>
          <p:nvPr>
            <p:ph idx="1"/>
          </p:nvPr>
        </p:nvSpPr>
        <p:spPr>
          <a:noFill/>
        </p:spPr>
        <p:txBody>
          <a:bodyPr/>
          <a:lstStyle/>
          <a:p>
            <a:pPr eaLnBrk="1" hangingPunct="1">
              <a:buFont typeface="Wingdings" panose="05000000000000000000" pitchFamily="2" charset="2"/>
              <a:buNone/>
            </a:pPr>
            <a:r>
              <a:rPr lang="zh-CN" altLang="en-US" dirty="0">
                <a:latin typeface="微软雅黑" panose="020B0503020204020204" pitchFamily="34" charset="-122"/>
              </a:rPr>
              <a:t>2. 对以上求出的每个入口语句，确定其所属的基本块。它是由该入口语句到</a:t>
            </a:r>
            <a:r>
              <a:rPr lang="zh-CN" altLang="en-US" dirty="0">
                <a:solidFill>
                  <a:srgbClr val="CC0000"/>
                </a:solidFill>
                <a:latin typeface="微软雅黑" panose="020B0503020204020204" pitchFamily="34" charset="-122"/>
              </a:rPr>
              <a:t>下一入口语句</a:t>
            </a:r>
            <a:r>
              <a:rPr lang="zh-CN" altLang="en-US" dirty="0">
                <a:latin typeface="微软雅黑" panose="020B0503020204020204" pitchFamily="34" charset="-122"/>
              </a:rPr>
              <a:t>(</a:t>
            </a:r>
            <a:r>
              <a:rPr lang="zh-CN" altLang="en-US" dirty="0">
                <a:solidFill>
                  <a:srgbClr val="0070C0"/>
                </a:solidFill>
                <a:latin typeface="微软雅黑" panose="020B0503020204020204" pitchFamily="34" charset="-122"/>
              </a:rPr>
              <a:t>不包括该入口语句</a:t>
            </a:r>
            <a:r>
              <a:rPr lang="zh-CN" altLang="en-US" dirty="0">
                <a:latin typeface="微软雅黑" panose="020B0503020204020204" pitchFamily="34" charset="-122"/>
              </a:rPr>
              <a:t>)、或到</a:t>
            </a:r>
            <a:r>
              <a:rPr lang="zh-CN" altLang="en-US" dirty="0">
                <a:solidFill>
                  <a:srgbClr val="CC0000"/>
                </a:solidFill>
                <a:latin typeface="微软雅黑" panose="020B0503020204020204" pitchFamily="34" charset="-122"/>
              </a:rPr>
              <a:t>一转移语句</a:t>
            </a:r>
            <a:r>
              <a:rPr lang="zh-CN" altLang="en-US" dirty="0">
                <a:latin typeface="微软雅黑" panose="020B0503020204020204" pitchFamily="34" charset="-122"/>
              </a:rPr>
              <a:t>(</a:t>
            </a:r>
            <a:r>
              <a:rPr lang="zh-CN" altLang="en-US" dirty="0">
                <a:solidFill>
                  <a:srgbClr val="0070C0"/>
                </a:solidFill>
                <a:latin typeface="微软雅黑" panose="020B0503020204020204" pitchFamily="34" charset="-122"/>
              </a:rPr>
              <a:t>包括该转移语句</a:t>
            </a:r>
            <a:r>
              <a:rPr lang="zh-CN" altLang="en-US" dirty="0">
                <a:latin typeface="微软雅黑" panose="020B0503020204020204" pitchFamily="34" charset="-122"/>
              </a:rPr>
              <a:t>) 、</a:t>
            </a:r>
            <a:r>
              <a:rPr lang="zh-CN" altLang="en-US" u="sng" dirty="0">
                <a:latin typeface="微软雅黑" panose="020B0503020204020204" pitchFamily="34" charset="-122"/>
              </a:rPr>
              <a:t>或</a:t>
            </a:r>
            <a:r>
              <a:rPr lang="zh-CN" altLang="en-US" u="sng" dirty="0">
                <a:solidFill>
                  <a:srgbClr val="CC0000"/>
                </a:solidFill>
                <a:latin typeface="微软雅黑" panose="020B0503020204020204" pitchFamily="34" charset="-122"/>
              </a:rPr>
              <a:t>一停语句</a:t>
            </a:r>
            <a:r>
              <a:rPr lang="zh-CN" altLang="en-US" u="sng" dirty="0">
                <a:latin typeface="微软雅黑" panose="020B0503020204020204" pitchFamily="34" charset="-122"/>
              </a:rPr>
              <a:t>(</a:t>
            </a:r>
            <a:r>
              <a:rPr lang="zh-CN" altLang="en-US" u="sng" dirty="0">
                <a:solidFill>
                  <a:srgbClr val="0070C0"/>
                </a:solidFill>
                <a:latin typeface="微软雅黑" panose="020B0503020204020204" pitchFamily="34" charset="-122"/>
              </a:rPr>
              <a:t>包括该停语句</a:t>
            </a:r>
            <a:r>
              <a:rPr lang="zh-CN" altLang="en-US" u="sng" dirty="0">
                <a:latin typeface="微软雅黑" panose="020B0503020204020204" pitchFamily="34" charset="-122"/>
              </a:rPr>
              <a:t>)</a:t>
            </a:r>
            <a:r>
              <a:rPr lang="zh-CN" altLang="en-US" dirty="0">
                <a:latin typeface="微软雅黑" panose="020B0503020204020204" pitchFamily="34" charset="-122"/>
              </a:rPr>
              <a:t>之间的语句序列组成的。</a:t>
            </a:r>
          </a:p>
        </p:txBody>
      </p:sp>
      <p:sp>
        <p:nvSpPr>
          <p:cNvPr id="12" name="Text Box 3"/>
          <p:cNvSpPr txBox="1">
            <a:spLocks noChangeArrowheads="1"/>
          </p:cNvSpPr>
          <p:nvPr/>
        </p:nvSpPr>
        <p:spPr bwMode="auto">
          <a:xfrm>
            <a:off x="978533" y="4682259"/>
            <a:ext cx="2381000" cy="1991827"/>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GB" sz="3086">
                <a:solidFill>
                  <a:prstClr val="black"/>
                </a:solidFill>
                <a:latin typeface="微软雅黑" panose="020B0503020204020204" pitchFamily="34" charset="-122"/>
              </a:rPr>
              <a:t>入口语句</a:t>
            </a:r>
            <a:r>
              <a:rPr lang="en-GB" altLang="zh-CN" sz="3086">
                <a:solidFill>
                  <a:prstClr val="black"/>
                </a:solidFill>
                <a:latin typeface="微软雅黑" panose="020B0503020204020204" pitchFamily="34" charset="-122"/>
              </a:rPr>
              <a:t>n</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zh-CN" altLang="en-US" sz="3086">
                <a:solidFill>
                  <a:srgbClr val="CC0000"/>
                </a:solidFill>
                <a:latin typeface="微软雅黑" panose="020B0503020204020204" pitchFamily="34" charset="-122"/>
              </a:rPr>
              <a:t>入口语句</a:t>
            </a:r>
            <a:r>
              <a:rPr lang="en-US" altLang="zh-CN" sz="3086">
                <a:solidFill>
                  <a:srgbClr val="CC0000"/>
                </a:solidFill>
                <a:latin typeface="微软雅黑" panose="020B0503020204020204" pitchFamily="34" charset="-122"/>
              </a:rPr>
              <a:t>m</a:t>
            </a:r>
            <a:endParaRPr lang="en-GB" altLang="zh-CN" sz="3086">
              <a:solidFill>
                <a:srgbClr val="CC0000"/>
              </a:solidFill>
              <a:latin typeface="微软雅黑" panose="020B0503020204020204" pitchFamily="34" charset="-122"/>
            </a:endParaRPr>
          </a:p>
        </p:txBody>
      </p:sp>
      <p:sp>
        <p:nvSpPr>
          <p:cNvPr id="13" name="Rectangle 4"/>
          <p:cNvSpPr>
            <a:spLocks noChangeArrowheads="1"/>
          </p:cNvSpPr>
          <p:nvPr/>
        </p:nvSpPr>
        <p:spPr bwMode="auto">
          <a:xfrm>
            <a:off x="1033183" y="4762753"/>
            <a:ext cx="2261950" cy="1427939"/>
          </a:xfrm>
          <a:prstGeom prst="rect">
            <a:avLst/>
          </a:prstGeom>
          <a:solidFill>
            <a:srgbClr val="4F81BD">
              <a:alpha val="50196"/>
            </a:srgbClr>
          </a:solidFill>
          <a:ln>
            <a:solidFill>
              <a:schemeClr val="accent1"/>
            </a:solidFill>
            <a:headEnd/>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
        <p:nvSpPr>
          <p:cNvPr id="14" name="Text Box 5"/>
          <p:cNvSpPr txBox="1">
            <a:spLocks noChangeArrowheads="1"/>
          </p:cNvSpPr>
          <p:nvPr/>
        </p:nvSpPr>
        <p:spPr bwMode="auto">
          <a:xfrm>
            <a:off x="3730167" y="4682259"/>
            <a:ext cx="2381000" cy="1991827"/>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GB" sz="3086">
                <a:solidFill>
                  <a:prstClr val="black"/>
                </a:solidFill>
                <a:latin typeface="微软雅黑" panose="020B0503020204020204" pitchFamily="34" charset="-122"/>
              </a:rPr>
              <a:t>入口语句</a:t>
            </a:r>
            <a:r>
              <a:rPr lang="en-GB" altLang="zh-CN" sz="3086">
                <a:solidFill>
                  <a:prstClr val="black"/>
                </a:solidFill>
                <a:latin typeface="微软雅黑" panose="020B0503020204020204" pitchFamily="34" charset="-122"/>
              </a:rPr>
              <a:t>n</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zh-CN" altLang="en-US" sz="3086">
                <a:solidFill>
                  <a:srgbClr val="CC0000"/>
                </a:solidFill>
                <a:latin typeface="微软雅黑" panose="020B0503020204020204" pitchFamily="34" charset="-122"/>
              </a:rPr>
              <a:t>转移语句</a:t>
            </a:r>
            <a:r>
              <a:rPr lang="en-US" altLang="zh-CN" sz="3086">
                <a:solidFill>
                  <a:srgbClr val="CC0000"/>
                </a:solidFill>
                <a:latin typeface="微软雅黑" panose="020B0503020204020204" pitchFamily="34" charset="-122"/>
              </a:rPr>
              <a:t>m</a:t>
            </a:r>
            <a:endParaRPr lang="en-GB" altLang="zh-CN" sz="3086">
              <a:solidFill>
                <a:srgbClr val="CC0000"/>
              </a:solidFill>
              <a:latin typeface="微软雅黑" panose="020B0503020204020204" pitchFamily="34" charset="-122"/>
            </a:endParaRPr>
          </a:p>
        </p:txBody>
      </p:sp>
      <p:sp>
        <p:nvSpPr>
          <p:cNvPr id="15" name="Rectangle 6"/>
          <p:cNvSpPr>
            <a:spLocks noChangeArrowheads="1"/>
          </p:cNvSpPr>
          <p:nvPr/>
        </p:nvSpPr>
        <p:spPr bwMode="auto">
          <a:xfrm>
            <a:off x="3781586" y="4762755"/>
            <a:ext cx="2261950" cy="1825172"/>
          </a:xfrm>
          <a:prstGeom prst="rect">
            <a:avLst/>
          </a:prstGeom>
          <a:solidFill>
            <a:srgbClr val="4F81BD">
              <a:alpha val="50196"/>
            </a:srgbClr>
          </a:solidFill>
          <a:ln>
            <a:solidFill>
              <a:schemeClr val="accent1"/>
            </a:solidFill>
            <a:headEnd/>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
        <p:nvSpPr>
          <p:cNvPr id="16" name="Text Box 7"/>
          <p:cNvSpPr txBox="1">
            <a:spLocks noChangeArrowheads="1"/>
          </p:cNvSpPr>
          <p:nvPr/>
        </p:nvSpPr>
        <p:spPr bwMode="auto">
          <a:xfrm>
            <a:off x="6537046" y="4682259"/>
            <a:ext cx="2381000" cy="1991827"/>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GB" sz="3086">
                <a:solidFill>
                  <a:prstClr val="black"/>
                </a:solidFill>
                <a:latin typeface="微软雅黑" panose="020B0503020204020204" pitchFamily="34" charset="-122"/>
              </a:rPr>
              <a:t>入口语句</a:t>
            </a:r>
            <a:r>
              <a:rPr lang="en-GB" altLang="zh-CN" sz="3086">
                <a:solidFill>
                  <a:prstClr val="black"/>
                </a:solidFill>
                <a:latin typeface="微软雅黑" panose="020B0503020204020204" pitchFamily="34" charset="-122"/>
              </a:rPr>
              <a:t>n</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en-US" altLang="zh-CN" sz="3086">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zh-CN" altLang="zh-CN" sz="3086">
                <a:solidFill>
                  <a:srgbClr val="CC0000"/>
                </a:solidFill>
                <a:latin typeface="微软雅黑" panose="020B0503020204020204" pitchFamily="34" charset="-122"/>
              </a:rPr>
              <a:t>停语句</a:t>
            </a:r>
            <a:r>
              <a:rPr lang="en-US" altLang="zh-CN" sz="3086">
                <a:solidFill>
                  <a:srgbClr val="CC0000"/>
                </a:solidFill>
                <a:latin typeface="微软雅黑" panose="020B0503020204020204" pitchFamily="34" charset="-122"/>
              </a:rPr>
              <a:t>m</a:t>
            </a:r>
            <a:endParaRPr lang="en-GB" altLang="zh-CN" sz="3086">
              <a:solidFill>
                <a:srgbClr val="CC0000"/>
              </a:solidFill>
              <a:latin typeface="微软雅黑" panose="020B0503020204020204" pitchFamily="34" charset="-122"/>
            </a:endParaRPr>
          </a:p>
        </p:txBody>
      </p:sp>
      <p:sp>
        <p:nvSpPr>
          <p:cNvPr id="17" name="Rectangle 8"/>
          <p:cNvSpPr>
            <a:spLocks noChangeArrowheads="1"/>
          </p:cNvSpPr>
          <p:nvPr/>
        </p:nvSpPr>
        <p:spPr bwMode="auto">
          <a:xfrm>
            <a:off x="6588466" y="4762755"/>
            <a:ext cx="2261950" cy="1825172"/>
          </a:xfrm>
          <a:prstGeom prst="rect">
            <a:avLst/>
          </a:prstGeom>
          <a:solidFill>
            <a:srgbClr val="4F81BD">
              <a:alpha val="50196"/>
            </a:srgbClr>
          </a:solidFill>
          <a:ln>
            <a:solidFill>
              <a:schemeClr val="accent1"/>
            </a:solidFill>
            <a:headEnd/>
            <a:tailEnd type="none" w="lg" len="lg"/>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Tree>
    <p:extLst>
      <p:ext uri="{BB962C8B-B14F-4D97-AF65-F5344CB8AC3E}">
        <p14:creationId xmlns:p14="http://schemas.microsoft.com/office/powerpoint/2010/main" val="254018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2" name="Rectangle 3"/>
          <p:cNvSpPr>
            <a:spLocks noGrp="1" noChangeArrowheads="1"/>
          </p:cNvSpPr>
          <p:nvPr>
            <p:ph type="title"/>
          </p:nvPr>
        </p:nvSpPr>
        <p:spPr/>
        <p:txBody>
          <a:bodyPr>
            <a:normAutofit/>
          </a:bodyPr>
          <a:lstStyle/>
          <a:p>
            <a:r>
              <a:rPr lang="zh-CN" altLang="en-US" dirty="0"/>
              <a:t>划分基本块的算法</a:t>
            </a:r>
            <a:endParaRPr lang="en-GB" altLang="zh-CN" dirty="0">
              <a:latin typeface="微软雅黑" panose="020B0503020204020204" pitchFamily="34" charset="-122"/>
            </a:endParaRPr>
          </a:p>
        </p:txBody>
      </p:sp>
      <p:sp>
        <p:nvSpPr>
          <p:cNvPr id="115714" name="Rectangle 2"/>
          <p:cNvSpPr>
            <a:spLocks noGrp="1" noChangeArrowheads="1"/>
          </p:cNvSpPr>
          <p:nvPr>
            <p:ph idx="1"/>
          </p:nvPr>
        </p:nvSpPr>
        <p:spPr>
          <a:noFill/>
        </p:spPr>
        <p:txBody>
          <a:bodyPr/>
          <a:lstStyle/>
          <a:p>
            <a:pPr eaLnBrk="1" hangingPunct="1">
              <a:spcBef>
                <a:spcPct val="60000"/>
              </a:spcBef>
              <a:buFont typeface="Wingdings" panose="05000000000000000000" pitchFamily="2" charset="2"/>
              <a:buNone/>
            </a:pPr>
            <a:r>
              <a:rPr lang="zh-CN" altLang="en-US" dirty="0">
                <a:latin typeface="微软雅黑" panose="020B0503020204020204" pitchFamily="34" charset="-122"/>
              </a:rPr>
              <a:t>2. 对以上求出的每个入口语句，确定其所属的基本块。它是由该入口语句到</a:t>
            </a:r>
            <a:r>
              <a:rPr lang="zh-CN" altLang="en-US" dirty="0">
                <a:solidFill>
                  <a:srgbClr val="CC0000"/>
                </a:solidFill>
                <a:latin typeface="微软雅黑" panose="020B0503020204020204" pitchFamily="34" charset="-122"/>
              </a:rPr>
              <a:t>下一入口语句</a:t>
            </a:r>
            <a:r>
              <a:rPr lang="zh-CN" altLang="en-US" dirty="0">
                <a:latin typeface="微软雅黑" panose="020B0503020204020204" pitchFamily="34" charset="-122"/>
              </a:rPr>
              <a:t>(</a:t>
            </a:r>
            <a:r>
              <a:rPr lang="zh-CN" altLang="en-US" dirty="0">
                <a:solidFill>
                  <a:srgbClr val="0070C0"/>
                </a:solidFill>
                <a:latin typeface="微软雅黑" panose="020B0503020204020204" pitchFamily="34" charset="-122"/>
              </a:rPr>
              <a:t>不包括该入口语句</a:t>
            </a:r>
            <a:r>
              <a:rPr lang="zh-CN" altLang="en-US" dirty="0">
                <a:latin typeface="微软雅黑" panose="020B0503020204020204" pitchFamily="34" charset="-122"/>
              </a:rPr>
              <a:t>)、或到</a:t>
            </a:r>
            <a:r>
              <a:rPr lang="zh-CN" altLang="en-US" dirty="0">
                <a:solidFill>
                  <a:srgbClr val="CC0000"/>
                </a:solidFill>
                <a:latin typeface="微软雅黑" panose="020B0503020204020204" pitchFamily="34" charset="-122"/>
              </a:rPr>
              <a:t>一转移语句</a:t>
            </a:r>
            <a:r>
              <a:rPr lang="zh-CN" altLang="en-US" dirty="0">
                <a:latin typeface="微软雅黑" panose="020B0503020204020204" pitchFamily="34" charset="-122"/>
              </a:rPr>
              <a:t>(</a:t>
            </a:r>
            <a:r>
              <a:rPr lang="zh-CN" altLang="en-US" dirty="0">
                <a:solidFill>
                  <a:srgbClr val="0070C0"/>
                </a:solidFill>
                <a:latin typeface="微软雅黑" panose="020B0503020204020204" pitchFamily="34" charset="-122"/>
              </a:rPr>
              <a:t>包括该转移语句</a:t>
            </a:r>
            <a:r>
              <a:rPr lang="zh-CN" altLang="en-US" dirty="0">
                <a:latin typeface="微软雅黑" panose="020B0503020204020204" pitchFamily="34" charset="-122"/>
              </a:rPr>
              <a:t>)、或</a:t>
            </a:r>
            <a:r>
              <a:rPr lang="zh-CN" altLang="en-US" dirty="0">
                <a:solidFill>
                  <a:srgbClr val="CC0000"/>
                </a:solidFill>
                <a:latin typeface="微软雅黑" panose="020B0503020204020204" pitchFamily="34" charset="-122"/>
              </a:rPr>
              <a:t>一停语句</a:t>
            </a:r>
            <a:r>
              <a:rPr lang="zh-CN" altLang="en-US" dirty="0">
                <a:latin typeface="微软雅黑" panose="020B0503020204020204" pitchFamily="34" charset="-122"/>
              </a:rPr>
              <a:t>(</a:t>
            </a:r>
            <a:r>
              <a:rPr lang="zh-CN" altLang="en-US" dirty="0">
                <a:solidFill>
                  <a:srgbClr val="0070C0"/>
                </a:solidFill>
                <a:latin typeface="微软雅黑" panose="020B0503020204020204" pitchFamily="34" charset="-122"/>
              </a:rPr>
              <a:t>包括该停语句</a:t>
            </a:r>
            <a:r>
              <a:rPr lang="zh-CN" altLang="en-US" dirty="0">
                <a:latin typeface="微软雅黑" panose="020B0503020204020204" pitchFamily="34" charset="-122"/>
              </a:rPr>
              <a:t>)之间的语句序列组成的。</a:t>
            </a:r>
          </a:p>
          <a:p>
            <a:pPr eaLnBrk="1" hangingPunct="1">
              <a:spcBef>
                <a:spcPct val="60000"/>
              </a:spcBef>
              <a:buFont typeface="Wingdings" panose="05000000000000000000" pitchFamily="2" charset="2"/>
              <a:buNone/>
            </a:pPr>
            <a:r>
              <a:rPr lang="zh-CN" altLang="en-US" dirty="0">
                <a:latin typeface="微软雅黑" panose="020B0503020204020204" pitchFamily="34" charset="-122"/>
              </a:rPr>
              <a:t>3. 凡未被纳入某一基本块中的语句，可以从程序中删除。</a:t>
            </a:r>
          </a:p>
        </p:txBody>
      </p:sp>
      <p:sp>
        <p:nvSpPr>
          <p:cNvPr id="5" name="文本框 4"/>
          <p:cNvSpPr txBox="1"/>
          <p:nvPr/>
        </p:nvSpPr>
        <p:spPr>
          <a:xfrm>
            <a:off x="7056225" y="944959"/>
            <a:ext cx="3023870" cy="5669756"/>
          </a:xfrm>
          <a:prstGeom prst="rect">
            <a:avLst/>
          </a:prstGeom>
          <a:noFill/>
        </p:spPr>
        <p:txBody>
          <a:bodyPr wrap="square" rtlCol="0">
            <a:noAutofit/>
          </a:bodyPr>
          <a:lstStyle/>
          <a:p>
            <a:pPr defTabSz="503972" rtl="0" fontAlgn="auto" hangingPunct="1">
              <a:lnSpc>
                <a:spcPct val="100000"/>
              </a:lnSpc>
              <a:spcBef>
                <a:spcPts val="0"/>
              </a:spcBef>
              <a:spcAft>
                <a:spcPts val="0"/>
              </a:spcAft>
              <a:buSzTx/>
            </a:pPr>
            <a:endParaRPr lang="zh-CN" altLang="en-US" sz="2646"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32326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14">
                                            <p:txEl>
                                              <p:pRg st="1" end="1"/>
                                            </p:txEl>
                                          </p:spTgt>
                                        </p:tgtEl>
                                        <p:attrNameLst>
                                          <p:attrName>style.visibility</p:attrName>
                                        </p:attrNameLst>
                                      </p:cBhvr>
                                      <p:to>
                                        <p:strVal val="visible"/>
                                      </p:to>
                                    </p:set>
                                    <p:animEffect transition="in" filter="wipe(left)">
                                      <p:cBhvr>
                                        <p:cTn id="7" dur="500"/>
                                        <p:tgtEl>
                                          <p:spTgt spid="1157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划分基本块示例</a:t>
            </a:r>
          </a:p>
        </p:txBody>
      </p:sp>
      <p:sp>
        <p:nvSpPr>
          <p:cNvPr id="7" name="Rectangle 2"/>
          <p:cNvSpPr>
            <a:spLocks noGrp="1" noChangeArrowheads="1"/>
          </p:cNvSpPr>
          <p:nvPr>
            <p:ph idx="1"/>
          </p:nvPr>
        </p:nvSpPr>
        <p:spPr>
          <a:xfrm>
            <a:off x="747164" y="2009805"/>
            <a:ext cx="4215613" cy="5007124"/>
          </a:xfrm>
        </p:spPr>
        <p:style>
          <a:lnRef idx="2">
            <a:schemeClr val="accent1"/>
          </a:lnRef>
          <a:fillRef idx="1">
            <a:schemeClr val="lt1"/>
          </a:fillRef>
          <a:effectRef idx="0">
            <a:schemeClr val="accent1"/>
          </a:effectRef>
          <a:fontRef idx="minor">
            <a:schemeClr val="dk1"/>
          </a:fontRef>
        </p:style>
        <p:txBody>
          <a:bodyPr>
            <a:noAutofit/>
          </a:bodyPr>
          <a:lstStyle/>
          <a:p>
            <a:pPr marL="0" indent="0">
              <a:spcBef>
                <a:spcPts val="661"/>
              </a:spcBef>
              <a:buNone/>
            </a:pPr>
            <a:r>
              <a:rPr lang="zh-CN" altLang="en-US" dirty="0"/>
              <a:t>(1)	</a:t>
            </a:r>
            <a:r>
              <a:rPr lang="en-US" altLang="zh-CN" dirty="0"/>
              <a:t>	read X</a:t>
            </a:r>
          </a:p>
          <a:p>
            <a:pPr marL="0" indent="0">
              <a:spcBef>
                <a:spcPts val="661"/>
              </a:spcBef>
              <a:buNone/>
            </a:pPr>
            <a:r>
              <a:rPr lang="en-US" altLang="zh-CN" dirty="0"/>
              <a:t>(2) 	read Y</a:t>
            </a:r>
          </a:p>
          <a:p>
            <a:pPr marL="0" indent="0">
              <a:spcBef>
                <a:spcPts val="661"/>
              </a:spcBef>
              <a:buNone/>
            </a:pPr>
            <a:r>
              <a:rPr lang="en-US" altLang="zh-CN" dirty="0"/>
              <a:t>(3) 	R:=X mod Y</a:t>
            </a:r>
          </a:p>
          <a:p>
            <a:pPr marL="0" indent="0">
              <a:spcBef>
                <a:spcPts val="661"/>
              </a:spcBef>
              <a:buNone/>
            </a:pPr>
            <a:r>
              <a:rPr lang="en-US" altLang="zh-CN" dirty="0"/>
              <a:t>(4) 	if  R=0 </a:t>
            </a:r>
            <a:r>
              <a:rPr lang="en-US" altLang="zh-CN" dirty="0" err="1"/>
              <a:t>goto</a:t>
            </a:r>
            <a:r>
              <a:rPr lang="en-US" altLang="zh-CN" dirty="0"/>
              <a:t> (8)</a:t>
            </a:r>
          </a:p>
          <a:p>
            <a:pPr marL="0" indent="0">
              <a:spcBef>
                <a:spcPts val="661"/>
              </a:spcBef>
              <a:buNone/>
            </a:pPr>
            <a:r>
              <a:rPr lang="en-US" altLang="zh-CN" dirty="0"/>
              <a:t>(5) 	X:=Y</a:t>
            </a:r>
          </a:p>
          <a:p>
            <a:pPr marL="0" indent="0">
              <a:spcBef>
                <a:spcPts val="661"/>
              </a:spcBef>
              <a:buNone/>
            </a:pPr>
            <a:r>
              <a:rPr lang="en-US" altLang="zh-CN" dirty="0"/>
              <a:t>(6) 	Y:=R</a:t>
            </a:r>
          </a:p>
          <a:p>
            <a:pPr marL="0" indent="0">
              <a:spcBef>
                <a:spcPts val="661"/>
              </a:spcBef>
              <a:buNone/>
            </a:pPr>
            <a:r>
              <a:rPr lang="en-US" altLang="zh-CN" dirty="0"/>
              <a:t>(7) 	</a:t>
            </a:r>
            <a:r>
              <a:rPr lang="en-US" altLang="zh-CN" dirty="0" err="1"/>
              <a:t>goto</a:t>
            </a:r>
            <a:r>
              <a:rPr lang="en-US" altLang="zh-CN" dirty="0"/>
              <a:t> (3)</a:t>
            </a:r>
          </a:p>
          <a:p>
            <a:pPr marL="0" indent="0">
              <a:spcBef>
                <a:spcPts val="661"/>
              </a:spcBef>
              <a:buNone/>
            </a:pPr>
            <a:r>
              <a:rPr lang="en-US" altLang="zh-CN" dirty="0"/>
              <a:t>(8) 	write Y</a:t>
            </a:r>
          </a:p>
          <a:p>
            <a:pPr marL="0" indent="0">
              <a:spcBef>
                <a:spcPts val="661"/>
              </a:spcBef>
              <a:buNone/>
            </a:pPr>
            <a:r>
              <a:rPr lang="en-US" altLang="zh-CN" dirty="0"/>
              <a:t>(9) 	halt</a:t>
            </a:r>
          </a:p>
        </p:txBody>
      </p:sp>
      <p:sp>
        <p:nvSpPr>
          <p:cNvPr id="8" name="Text Box 4"/>
          <p:cNvSpPr txBox="1">
            <a:spLocks noChangeArrowheads="1"/>
          </p:cNvSpPr>
          <p:nvPr/>
        </p:nvSpPr>
        <p:spPr bwMode="auto">
          <a:xfrm>
            <a:off x="5155539" y="2009804"/>
            <a:ext cx="4154844" cy="4841069"/>
          </a:xfrm>
          <a:prstGeom prst="rect">
            <a:avLst/>
          </a:prstGeom>
          <a:ln>
            <a:headEnd/>
            <a:tailEnd type="none" w="lg" len="lg"/>
          </a:ln>
        </p:spPr>
        <p:style>
          <a:lnRef idx="2">
            <a:schemeClr val="accent2"/>
          </a:lnRef>
          <a:fillRef idx="1">
            <a:schemeClr val="lt1"/>
          </a:fillRef>
          <a:effectRef idx="0">
            <a:schemeClr val="accent2"/>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1.求出四元式程序中各个基本块的入口语句:</a:t>
            </a:r>
          </a:p>
          <a:p>
            <a:pPr marL="503972" lvl="1" indent="0"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1) 程序第一个语句，或</a:t>
            </a:r>
          </a:p>
          <a:p>
            <a:pPr marL="503972" lvl="1" indent="0"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2) 能由条件转移语句或无条件转移语句转移到的语句，或</a:t>
            </a:r>
          </a:p>
          <a:p>
            <a:pPr marL="503972" lvl="1" indent="0"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3) 紧跟在条件转移语句后面的语句</a:t>
            </a:r>
            <a:endParaRPr lang="en-GB" altLang="zh-CN" sz="3086" dirty="0">
              <a:solidFill>
                <a:prstClr val="black"/>
              </a:solidFill>
              <a:latin typeface="微软雅黑" panose="020B0503020204020204" pitchFamily="34" charset="-122"/>
            </a:endParaRPr>
          </a:p>
        </p:txBody>
      </p:sp>
    </p:spTree>
    <p:extLst>
      <p:ext uri="{BB962C8B-B14F-4D97-AF65-F5344CB8AC3E}">
        <p14:creationId xmlns:p14="http://schemas.microsoft.com/office/powerpoint/2010/main" val="151690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type="lt">
                                    <p:tmAbs val="0"/>
                                  </p:iterate>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iterate type="lt">
                                    <p:tmAbs val="0"/>
                                  </p:iterate>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iterate type="lt">
                                    <p:tmAbs val="0"/>
                                  </p:iterate>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8">
                                            <p:txEl>
                                              <p:pRg st="1" end="1"/>
                                            </p:txEl>
                                          </p:spTgt>
                                        </p:tgtEl>
                                        <p:attrNameLst>
                                          <p:attrName>style.color</p:attrName>
                                        </p:attrNameLst>
                                      </p:cBhvr>
                                      <p:to>
                                        <p:clrVal>
                                          <a:srgbClr val="C00000"/>
                                        </p:clrVal>
                                      </p:to>
                                    </p:set>
                                    <p:set>
                                      <p:cBhvr>
                                        <p:cTn id="19" dur="500" fill="hold"/>
                                        <p:tgtEl>
                                          <p:spTgt spid="8">
                                            <p:txEl>
                                              <p:pRg st="1" end="1"/>
                                            </p:txEl>
                                          </p:spTgt>
                                        </p:tgtEl>
                                        <p:attrNameLst>
                                          <p:attrName>fillcolor</p:attrName>
                                        </p:attrNameLst>
                                      </p:cBhvr>
                                      <p:to>
                                        <p:clrVal>
                                          <a:srgbClr val="C00000"/>
                                        </p:clrVal>
                                      </p:to>
                                    </p:set>
                                    <p:set>
                                      <p:cBhvr>
                                        <p:cTn id="20" dur="500" fill="hold"/>
                                        <p:tgtEl>
                                          <p:spTgt spid="8">
                                            <p:txEl>
                                              <p:pRg st="1" end="1"/>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7">
                                            <p:txEl>
                                              <p:pRg st="0" end="0"/>
                                            </p:txEl>
                                          </p:spTgt>
                                        </p:tgtEl>
                                        <p:attrNameLst>
                                          <p:attrName>style.color</p:attrName>
                                        </p:attrNameLst>
                                      </p:cBhvr>
                                      <p:to>
                                        <p:clrVal>
                                          <a:srgbClr val="C00000"/>
                                        </p:clrVal>
                                      </p:to>
                                    </p:set>
                                    <p:set>
                                      <p:cBhvr>
                                        <p:cTn id="25" dur="500" fill="hold"/>
                                        <p:tgtEl>
                                          <p:spTgt spid="7">
                                            <p:txEl>
                                              <p:pRg st="0" end="0"/>
                                            </p:txEl>
                                          </p:spTgt>
                                        </p:tgtEl>
                                        <p:attrNameLst>
                                          <p:attrName>fillcolor</p:attrName>
                                        </p:attrNameLst>
                                      </p:cBhvr>
                                      <p:to>
                                        <p:clrVal>
                                          <a:srgbClr val="C00000"/>
                                        </p:clrVal>
                                      </p:to>
                                    </p:set>
                                    <p:set>
                                      <p:cBhvr>
                                        <p:cTn id="26" dur="500" fill="hold"/>
                                        <p:tgtEl>
                                          <p:spTgt spid="7">
                                            <p:txEl>
                                              <p:pRg st="0" end="0"/>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8">
                                            <p:txEl>
                                              <p:pRg st="2" end="2"/>
                                            </p:txEl>
                                          </p:spTgt>
                                        </p:tgtEl>
                                        <p:attrNameLst>
                                          <p:attrName>style.color</p:attrName>
                                        </p:attrNameLst>
                                      </p:cBhvr>
                                      <p:to>
                                        <p:clrVal>
                                          <a:srgbClr val="C00000"/>
                                        </p:clrVal>
                                      </p:to>
                                    </p:set>
                                    <p:set>
                                      <p:cBhvr>
                                        <p:cTn id="31" dur="500" fill="hold"/>
                                        <p:tgtEl>
                                          <p:spTgt spid="8">
                                            <p:txEl>
                                              <p:pRg st="2" end="2"/>
                                            </p:txEl>
                                          </p:spTgt>
                                        </p:tgtEl>
                                        <p:attrNameLst>
                                          <p:attrName>fillcolor</p:attrName>
                                        </p:attrNameLst>
                                      </p:cBhvr>
                                      <p:to>
                                        <p:clrVal>
                                          <a:srgbClr val="C00000"/>
                                        </p:clrVal>
                                      </p:to>
                                    </p:set>
                                    <p:set>
                                      <p:cBhvr>
                                        <p:cTn id="32" dur="500" fill="hold"/>
                                        <p:tgtEl>
                                          <p:spTgt spid="8">
                                            <p:txEl>
                                              <p:pRg st="2" end="2"/>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7">
                                            <p:txEl>
                                              <p:pRg st="7" end="7"/>
                                            </p:txEl>
                                          </p:spTgt>
                                        </p:tgtEl>
                                        <p:attrNameLst>
                                          <p:attrName>style.color</p:attrName>
                                        </p:attrNameLst>
                                      </p:cBhvr>
                                      <p:to>
                                        <p:clrVal>
                                          <a:srgbClr val="C00000"/>
                                        </p:clrVal>
                                      </p:to>
                                    </p:set>
                                    <p:set>
                                      <p:cBhvr>
                                        <p:cTn id="37" dur="500" fill="hold"/>
                                        <p:tgtEl>
                                          <p:spTgt spid="7">
                                            <p:txEl>
                                              <p:pRg st="7" end="7"/>
                                            </p:txEl>
                                          </p:spTgt>
                                        </p:tgtEl>
                                        <p:attrNameLst>
                                          <p:attrName>fillcolor</p:attrName>
                                        </p:attrNameLst>
                                      </p:cBhvr>
                                      <p:to>
                                        <p:clrVal>
                                          <a:srgbClr val="C00000"/>
                                        </p:clrVal>
                                      </p:to>
                                    </p:set>
                                    <p:set>
                                      <p:cBhvr>
                                        <p:cTn id="38" dur="500" fill="hold"/>
                                        <p:tgtEl>
                                          <p:spTgt spid="7">
                                            <p:txEl>
                                              <p:pRg st="7" end="7"/>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7">
                                            <p:txEl>
                                              <p:pRg st="2" end="2"/>
                                            </p:txEl>
                                          </p:spTgt>
                                        </p:tgtEl>
                                        <p:attrNameLst>
                                          <p:attrName>style.color</p:attrName>
                                        </p:attrNameLst>
                                      </p:cBhvr>
                                      <p:to>
                                        <p:clrVal>
                                          <a:srgbClr val="C00000"/>
                                        </p:clrVal>
                                      </p:to>
                                    </p:set>
                                    <p:set>
                                      <p:cBhvr>
                                        <p:cTn id="43" dur="500" fill="hold"/>
                                        <p:tgtEl>
                                          <p:spTgt spid="7">
                                            <p:txEl>
                                              <p:pRg st="2" end="2"/>
                                            </p:txEl>
                                          </p:spTgt>
                                        </p:tgtEl>
                                        <p:attrNameLst>
                                          <p:attrName>fillcolor</p:attrName>
                                        </p:attrNameLst>
                                      </p:cBhvr>
                                      <p:to>
                                        <p:clrVal>
                                          <a:srgbClr val="C00000"/>
                                        </p:clrVal>
                                      </p:to>
                                    </p:set>
                                    <p:set>
                                      <p:cBhvr>
                                        <p:cTn id="44" dur="500" fill="hold"/>
                                        <p:tgtEl>
                                          <p:spTgt spid="7">
                                            <p:txEl>
                                              <p:pRg st="2" end="2"/>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16" presetClass="emph" presetSubtype="0" fill="hold" nodeType="clickEffect">
                                  <p:stCondLst>
                                    <p:cond delay="0"/>
                                  </p:stCondLst>
                                  <p:iterate type="lt">
                                    <p:tmPct val="4000"/>
                                  </p:iterate>
                                  <p:childTnLst>
                                    <p:set>
                                      <p:cBhvr override="childStyle">
                                        <p:cTn id="48" dur="500" fill="hold"/>
                                        <p:tgtEl>
                                          <p:spTgt spid="8">
                                            <p:txEl>
                                              <p:pRg st="3" end="3"/>
                                            </p:txEl>
                                          </p:spTgt>
                                        </p:tgtEl>
                                        <p:attrNameLst>
                                          <p:attrName>style.color</p:attrName>
                                        </p:attrNameLst>
                                      </p:cBhvr>
                                      <p:to>
                                        <p:clrVal>
                                          <a:srgbClr val="C00000"/>
                                        </p:clrVal>
                                      </p:to>
                                    </p:set>
                                    <p:set>
                                      <p:cBhvr>
                                        <p:cTn id="49" dur="500" fill="hold"/>
                                        <p:tgtEl>
                                          <p:spTgt spid="8">
                                            <p:txEl>
                                              <p:pRg st="3" end="3"/>
                                            </p:txEl>
                                          </p:spTgt>
                                        </p:tgtEl>
                                        <p:attrNameLst>
                                          <p:attrName>fillcolor</p:attrName>
                                        </p:attrNameLst>
                                      </p:cBhvr>
                                      <p:to>
                                        <p:clrVal>
                                          <a:srgbClr val="C00000"/>
                                        </p:clrVal>
                                      </p:to>
                                    </p:set>
                                    <p:set>
                                      <p:cBhvr>
                                        <p:cTn id="50" dur="500" fill="hold"/>
                                        <p:tgtEl>
                                          <p:spTgt spid="8">
                                            <p:txEl>
                                              <p:pRg st="3" end="3"/>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16" presetClass="emph" presetSubtype="0" fill="hold" nodeType="clickEffect">
                                  <p:stCondLst>
                                    <p:cond delay="0"/>
                                  </p:stCondLst>
                                  <p:iterate type="lt">
                                    <p:tmPct val="4000"/>
                                  </p:iterate>
                                  <p:childTnLst>
                                    <p:set>
                                      <p:cBhvr override="childStyle">
                                        <p:cTn id="54" dur="500" fill="hold"/>
                                        <p:tgtEl>
                                          <p:spTgt spid="7">
                                            <p:txEl>
                                              <p:pRg st="4" end="4"/>
                                            </p:txEl>
                                          </p:spTgt>
                                        </p:tgtEl>
                                        <p:attrNameLst>
                                          <p:attrName>style.color</p:attrName>
                                        </p:attrNameLst>
                                      </p:cBhvr>
                                      <p:to>
                                        <p:clrVal>
                                          <a:srgbClr val="C00000"/>
                                        </p:clrVal>
                                      </p:to>
                                    </p:set>
                                    <p:set>
                                      <p:cBhvr>
                                        <p:cTn id="55" dur="500" fill="hold"/>
                                        <p:tgtEl>
                                          <p:spTgt spid="7">
                                            <p:txEl>
                                              <p:pRg st="4" end="4"/>
                                            </p:txEl>
                                          </p:spTgt>
                                        </p:tgtEl>
                                        <p:attrNameLst>
                                          <p:attrName>fillcolor</p:attrName>
                                        </p:attrNameLst>
                                      </p:cBhvr>
                                      <p:to>
                                        <p:clrVal>
                                          <a:srgbClr val="C00000"/>
                                        </p:clrVal>
                                      </p:to>
                                    </p:set>
                                    <p:set>
                                      <p:cBhvr>
                                        <p:cTn id="56" dur="500" fill="hold"/>
                                        <p:tgtEl>
                                          <p:spTgt spid="7">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划分基本块示例</a:t>
            </a:r>
          </a:p>
        </p:txBody>
      </p:sp>
      <p:sp>
        <p:nvSpPr>
          <p:cNvPr id="12" name="Rectangle 2"/>
          <p:cNvSpPr>
            <a:spLocks noGrp="1" noChangeArrowheads="1"/>
          </p:cNvSpPr>
          <p:nvPr>
            <p:ph idx="1"/>
          </p:nvPr>
        </p:nvSpPr>
        <p:spPr>
          <a:xfrm>
            <a:off x="747164" y="2009805"/>
            <a:ext cx="4215613" cy="5007124"/>
          </a:xfrm>
        </p:spPr>
        <p:style>
          <a:lnRef idx="2">
            <a:schemeClr val="accent1"/>
          </a:lnRef>
          <a:fillRef idx="1">
            <a:schemeClr val="lt1"/>
          </a:fillRef>
          <a:effectRef idx="0">
            <a:schemeClr val="accent1"/>
          </a:effectRef>
          <a:fontRef idx="minor">
            <a:schemeClr val="dk1"/>
          </a:fontRef>
        </p:style>
        <p:txBody>
          <a:bodyPr>
            <a:noAutofit/>
          </a:bodyPr>
          <a:lstStyle/>
          <a:p>
            <a:pPr marL="0" indent="0">
              <a:spcBef>
                <a:spcPts val="661"/>
              </a:spcBef>
              <a:buNone/>
            </a:pPr>
            <a:r>
              <a:rPr lang="zh-CN" altLang="en-US" dirty="0">
                <a:solidFill>
                  <a:srgbClr val="C00000"/>
                </a:solidFill>
              </a:rPr>
              <a:t>(1)	</a:t>
            </a:r>
            <a:r>
              <a:rPr lang="en-US" altLang="zh-CN" dirty="0">
                <a:solidFill>
                  <a:srgbClr val="C00000"/>
                </a:solidFill>
              </a:rPr>
              <a:t>	read X</a:t>
            </a:r>
          </a:p>
          <a:p>
            <a:pPr marL="0" indent="0">
              <a:spcBef>
                <a:spcPts val="661"/>
              </a:spcBef>
              <a:buNone/>
            </a:pPr>
            <a:r>
              <a:rPr lang="en-US" altLang="zh-CN" dirty="0"/>
              <a:t>(2) 	read Y</a:t>
            </a:r>
          </a:p>
          <a:p>
            <a:pPr marL="0" indent="0">
              <a:spcBef>
                <a:spcPts val="661"/>
              </a:spcBef>
              <a:buNone/>
            </a:pPr>
            <a:r>
              <a:rPr lang="en-US" altLang="zh-CN" dirty="0">
                <a:solidFill>
                  <a:srgbClr val="C00000"/>
                </a:solidFill>
              </a:rPr>
              <a:t>(3) 	R:=X mod Y</a:t>
            </a:r>
          </a:p>
          <a:p>
            <a:pPr marL="0" indent="0">
              <a:spcBef>
                <a:spcPts val="661"/>
              </a:spcBef>
              <a:buNone/>
            </a:pPr>
            <a:r>
              <a:rPr lang="en-US" altLang="zh-CN" dirty="0"/>
              <a:t>(4) 	if  R=0 </a:t>
            </a:r>
            <a:r>
              <a:rPr lang="en-US" altLang="zh-CN" dirty="0" err="1"/>
              <a:t>goto</a:t>
            </a:r>
            <a:r>
              <a:rPr lang="en-US" altLang="zh-CN" dirty="0"/>
              <a:t> (8)</a:t>
            </a:r>
          </a:p>
          <a:p>
            <a:pPr marL="0" indent="0">
              <a:spcBef>
                <a:spcPts val="661"/>
              </a:spcBef>
              <a:buNone/>
            </a:pPr>
            <a:r>
              <a:rPr lang="en-US" altLang="zh-CN" dirty="0">
                <a:solidFill>
                  <a:srgbClr val="C00000"/>
                </a:solidFill>
              </a:rPr>
              <a:t>(5) 	X:=Y</a:t>
            </a:r>
          </a:p>
          <a:p>
            <a:pPr marL="0" indent="0">
              <a:spcBef>
                <a:spcPts val="661"/>
              </a:spcBef>
              <a:buNone/>
            </a:pPr>
            <a:r>
              <a:rPr lang="en-US" altLang="zh-CN" dirty="0"/>
              <a:t>(6) 	Y:=R</a:t>
            </a:r>
          </a:p>
          <a:p>
            <a:pPr marL="0" indent="0">
              <a:spcBef>
                <a:spcPts val="661"/>
              </a:spcBef>
              <a:buNone/>
            </a:pPr>
            <a:r>
              <a:rPr lang="en-US" altLang="zh-CN" dirty="0"/>
              <a:t>(7) 	</a:t>
            </a:r>
            <a:r>
              <a:rPr lang="en-US" altLang="zh-CN" dirty="0" err="1"/>
              <a:t>goto</a:t>
            </a:r>
            <a:r>
              <a:rPr lang="en-US" altLang="zh-CN" dirty="0"/>
              <a:t> (3)</a:t>
            </a:r>
          </a:p>
          <a:p>
            <a:pPr marL="0" indent="0">
              <a:spcBef>
                <a:spcPts val="661"/>
              </a:spcBef>
              <a:buNone/>
            </a:pPr>
            <a:r>
              <a:rPr lang="en-US" altLang="zh-CN" dirty="0">
                <a:solidFill>
                  <a:srgbClr val="C00000"/>
                </a:solidFill>
              </a:rPr>
              <a:t>(8) 	write Y</a:t>
            </a:r>
          </a:p>
          <a:p>
            <a:pPr marL="0" indent="0">
              <a:spcBef>
                <a:spcPts val="661"/>
              </a:spcBef>
              <a:buNone/>
            </a:pPr>
            <a:r>
              <a:rPr lang="en-US" altLang="zh-CN" dirty="0"/>
              <a:t>(9) 	halt</a:t>
            </a:r>
          </a:p>
        </p:txBody>
      </p:sp>
      <p:sp>
        <p:nvSpPr>
          <p:cNvPr id="13" name="Text Box 7"/>
          <p:cNvSpPr txBox="1">
            <a:spLocks noChangeArrowheads="1"/>
          </p:cNvSpPr>
          <p:nvPr/>
        </p:nvSpPr>
        <p:spPr bwMode="auto">
          <a:xfrm>
            <a:off x="5251306" y="2019756"/>
            <a:ext cx="3937136" cy="4841069"/>
          </a:xfrm>
          <a:prstGeom prst="rect">
            <a:avLst/>
          </a:prstGeom>
          <a:ln>
            <a:headEnd/>
            <a:tailEnd type="none" w="lg" len="lg"/>
          </a:ln>
        </p:spPr>
        <p:style>
          <a:lnRef idx="2">
            <a:schemeClr val="accent2"/>
          </a:lnRef>
          <a:fillRef idx="1">
            <a:schemeClr val="lt1"/>
          </a:fillRef>
          <a:effectRef idx="0">
            <a:schemeClr val="accent2"/>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2. 对以上求出的每个入口语句，确定其所属的基本块。它是由该入口语句到</a:t>
            </a:r>
            <a:r>
              <a:rPr lang="zh-CN" altLang="en-US" sz="3086" dirty="0">
                <a:solidFill>
                  <a:srgbClr val="CC0000"/>
                </a:solidFill>
                <a:latin typeface="微软雅黑" panose="020B0503020204020204" pitchFamily="34" charset="-122"/>
              </a:rPr>
              <a:t>下一入口语句(</a:t>
            </a:r>
            <a:r>
              <a:rPr lang="zh-CN" altLang="en-US" sz="3086" dirty="0">
                <a:solidFill>
                  <a:srgbClr val="0070C0"/>
                </a:solidFill>
                <a:latin typeface="微软雅黑" panose="020B0503020204020204" pitchFamily="34" charset="-122"/>
              </a:rPr>
              <a:t>不包括该入口语句</a:t>
            </a:r>
            <a:r>
              <a:rPr lang="zh-CN" altLang="en-US" sz="3086" dirty="0">
                <a:solidFill>
                  <a:prstClr val="black"/>
                </a:solidFill>
                <a:latin typeface="微软雅黑" panose="020B0503020204020204" pitchFamily="34" charset="-122"/>
              </a:rPr>
              <a:t>)、或到</a:t>
            </a:r>
            <a:r>
              <a:rPr lang="zh-CN" altLang="en-US" sz="3086" dirty="0">
                <a:solidFill>
                  <a:srgbClr val="CC0000"/>
                </a:solidFill>
                <a:latin typeface="微软雅黑" panose="020B0503020204020204" pitchFamily="34" charset="-122"/>
              </a:rPr>
              <a:t>一转移语句</a:t>
            </a:r>
            <a:r>
              <a:rPr lang="zh-CN" altLang="en-US" sz="3086" dirty="0">
                <a:solidFill>
                  <a:prstClr val="black"/>
                </a:solidFill>
                <a:latin typeface="微软雅黑" panose="020B0503020204020204" pitchFamily="34" charset="-122"/>
              </a:rPr>
              <a:t>(</a:t>
            </a:r>
            <a:r>
              <a:rPr lang="zh-CN" altLang="en-US" sz="3086" dirty="0">
                <a:solidFill>
                  <a:srgbClr val="0070C0"/>
                </a:solidFill>
                <a:latin typeface="微软雅黑" panose="020B0503020204020204" pitchFamily="34" charset="-122"/>
              </a:rPr>
              <a:t>包括该转移语句</a:t>
            </a:r>
            <a:r>
              <a:rPr lang="zh-CN" altLang="en-US" sz="3086" dirty="0">
                <a:solidFill>
                  <a:prstClr val="black"/>
                </a:solidFill>
                <a:latin typeface="微软雅黑" panose="020B0503020204020204" pitchFamily="34" charset="-122"/>
              </a:rPr>
              <a:t>)、或</a:t>
            </a:r>
            <a:r>
              <a:rPr lang="zh-CN" altLang="en-US" sz="3086" dirty="0">
                <a:solidFill>
                  <a:srgbClr val="CC0000"/>
                </a:solidFill>
                <a:latin typeface="微软雅黑" panose="020B0503020204020204" pitchFamily="34" charset="-122"/>
              </a:rPr>
              <a:t>一停语句</a:t>
            </a:r>
            <a:r>
              <a:rPr lang="zh-CN" altLang="en-US" sz="3086" dirty="0">
                <a:solidFill>
                  <a:prstClr val="black"/>
                </a:solidFill>
                <a:latin typeface="微软雅黑" panose="020B0503020204020204" pitchFamily="34" charset="-122"/>
              </a:rPr>
              <a:t>(</a:t>
            </a:r>
            <a:r>
              <a:rPr lang="zh-CN" altLang="en-US" sz="3086" dirty="0">
                <a:solidFill>
                  <a:srgbClr val="0070C0"/>
                </a:solidFill>
                <a:latin typeface="微软雅黑" panose="020B0503020204020204" pitchFamily="34" charset="-122"/>
              </a:rPr>
              <a:t>包括该停语句</a:t>
            </a:r>
            <a:r>
              <a:rPr lang="zh-CN" altLang="en-US" sz="3086" dirty="0">
                <a:solidFill>
                  <a:prstClr val="black"/>
                </a:solidFill>
                <a:latin typeface="微软雅黑" panose="020B0503020204020204" pitchFamily="34" charset="-122"/>
              </a:rPr>
              <a:t>)之间的语句序列组成的。</a:t>
            </a:r>
            <a:endParaRPr lang="en-GB" altLang="zh-CN" sz="3086" dirty="0">
              <a:solidFill>
                <a:prstClr val="black"/>
              </a:solidFill>
              <a:latin typeface="微软雅黑" panose="020B0503020204020204" pitchFamily="34" charset="-122"/>
            </a:endParaRPr>
          </a:p>
        </p:txBody>
      </p:sp>
      <p:sp>
        <p:nvSpPr>
          <p:cNvPr id="14" name="Rectangle 3"/>
          <p:cNvSpPr>
            <a:spLocks noChangeArrowheads="1"/>
          </p:cNvSpPr>
          <p:nvPr/>
        </p:nvSpPr>
        <p:spPr bwMode="auto">
          <a:xfrm>
            <a:off x="826826" y="2084369"/>
            <a:ext cx="4045493" cy="978269"/>
          </a:xfrm>
          <a:prstGeom prst="rect">
            <a:avLst/>
          </a:prstGeom>
          <a:noFill/>
          <a:ln w="28575">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
        <p:nvSpPr>
          <p:cNvPr id="15" name="Rectangle 3"/>
          <p:cNvSpPr>
            <a:spLocks noChangeArrowheads="1"/>
          </p:cNvSpPr>
          <p:nvPr/>
        </p:nvSpPr>
        <p:spPr bwMode="auto">
          <a:xfrm>
            <a:off x="826826" y="3197776"/>
            <a:ext cx="4045493" cy="978269"/>
          </a:xfrm>
          <a:prstGeom prst="rect">
            <a:avLst/>
          </a:prstGeom>
          <a:noFill/>
          <a:ln w="28575">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
        <p:nvSpPr>
          <p:cNvPr id="16" name="Rectangle 3"/>
          <p:cNvSpPr>
            <a:spLocks noChangeArrowheads="1"/>
          </p:cNvSpPr>
          <p:nvPr/>
        </p:nvSpPr>
        <p:spPr bwMode="auto">
          <a:xfrm>
            <a:off x="826826" y="4246572"/>
            <a:ext cx="4045493" cy="1633175"/>
          </a:xfrm>
          <a:prstGeom prst="rect">
            <a:avLst/>
          </a:prstGeom>
          <a:noFill/>
          <a:ln w="28575">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
        <p:nvSpPr>
          <p:cNvPr id="17" name="Rectangle 3"/>
          <p:cNvSpPr>
            <a:spLocks noChangeArrowheads="1"/>
          </p:cNvSpPr>
          <p:nvPr/>
        </p:nvSpPr>
        <p:spPr bwMode="auto">
          <a:xfrm>
            <a:off x="826826" y="5976118"/>
            <a:ext cx="4045493" cy="978269"/>
          </a:xfrm>
          <a:prstGeom prst="rect">
            <a:avLst/>
          </a:prstGeom>
          <a:noFill/>
          <a:ln w="28575">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Tree>
    <p:extLst>
      <p:ext uri="{BB962C8B-B14F-4D97-AF65-F5344CB8AC3E}">
        <p14:creationId xmlns:p14="http://schemas.microsoft.com/office/powerpoint/2010/main" val="106644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up)">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划分基本块示例</a:t>
            </a:r>
          </a:p>
        </p:txBody>
      </p:sp>
      <p:sp>
        <p:nvSpPr>
          <p:cNvPr id="11" name="Text Box 7"/>
          <p:cNvSpPr txBox="1">
            <a:spLocks noChangeArrowheads="1"/>
          </p:cNvSpPr>
          <p:nvPr/>
        </p:nvSpPr>
        <p:spPr bwMode="auto">
          <a:xfrm>
            <a:off x="5251306" y="2019757"/>
            <a:ext cx="3937136" cy="1516954"/>
          </a:xfrm>
          <a:prstGeom prst="rect">
            <a:avLst/>
          </a:prstGeom>
          <a:ln>
            <a:headEnd/>
            <a:tailEnd type="none" w="lg" len="lg"/>
          </a:ln>
        </p:spPr>
        <p:style>
          <a:lnRef idx="2">
            <a:schemeClr val="accent2"/>
          </a:lnRef>
          <a:fillRef idx="1">
            <a:schemeClr val="lt1"/>
          </a:fillRef>
          <a:effectRef idx="0">
            <a:schemeClr val="accent2"/>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US" altLang="zh-CN" sz="3086" dirty="0">
                <a:solidFill>
                  <a:prstClr val="black"/>
                </a:solidFill>
                <a:latin typeface="微软雅黑" panose="020B0503020204020204" pitchFamily="34" charset="-122"/>
              </a:rPr>
              <a:t>3</a:t>
            </a:r>
            <a:r>
              <a:rPr lang="zh-CN" altLang="en-US" sz="3086" dirty="0">
                <a:solidFill>
                  <a:prstClr val="black"/>
                </a:solidFill>
                <a:latin typeface="微软雅黑" panose="020B0503020204020204" pitchFamily="34" charset="-122"/>
              </a:rPr>
              <a:t>.凡未被纳入某一基本块中的语句，可以从程序中删除。</a:t>
            </a:r>
            <a:endParaRPr lang="en-GB" altLang="zh-CN" sz="3086" dirty="0">
              <a:solidFill>
                <a:prstClr val="black"/>
              </a:solidFill>
              <a:latin typeface="微软雅黑" panose="020B0503020204020204" pitchFamily="34" charset="-122"/>
            </a:endParaRPr>
          </a:p>
        </p:txBody>
      </p:sp>
      <p:sp>
        <p:nvSpPr>
          <p:cNvPr id="17" name="Rectangle 2"/>
          <p:cNvSpPr txBox="1">
            <a:spLocks noChangeArrowheads="1"/>
          </p:cNvSpPr>
          <p:nvPr/>
        </p:nvSpPr>
        <p:spPr>
          <a:xfrm>
            <a:off x="747164" y="2009805"/>
            <a:ext cx="4215613" cy="5007124"/>
          </a:xfrm>
          <a:prstGeom prst="rect">
            <a:avLst/>
          </a:prstGeom>
        </p:spPr>
        <p:style>
          <a:lnRef idx="2">
            <a:schemeClr val="accent1"/>
          </a:lnRef>
          <a:fillRef idx="1">
            <a:schemeClr val="lt1"/>
          </a:fillRef>
          <a:effectRef idx="0">
            <a:schemeClr val="accent1"/>
          </a:effectRef>
          <a:fontRef idx="minor">
            <a:schemeClr val="dk1"/>
          </a:fontRef>
        </p:style>
        <p:txBody>
          <a:bodyPr vert="horz" lIns="100796" tIns="50398" rIns="100796" bIns="50398"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dk1"/>
                </a:solidFill>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dk1"/>
                </a:solidFill>
                <a:latin typeface="微软雅黑" panose="020B0503020204020204" pitchFamily="34" charset="-122"/>
                <a:ea typeface="微软雅黑" panose="020B0503020204020204" pitchFamily="34" charset="-122"/>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dk1"/>
                </a:solidFill>
                <a:latin typeface="微软雅黑" panose="020B0503020204020204" pitchFamily="34" charset="-122"/>
                <a:ea typeface="微软雅黑" panose="020B0503020204020204" pitchFamily="34" charset="-122"/>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微软雅黑" panose="020B0503020204020204" pitchFamily="34" charset="-122"/>
                <a:ea typeface="微软雅黑" panose="020B0503020204020204" pitchFamily="34" charset="-122"/>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0" indent="0" fontAlgn="auto">
              <a:lnSpc>
                <a:spcPct val="100000"/>
              </a:lnSpc>
              <a:spcBef>
                <a:spcPts val="661"/>
              </a:spcBef>
              <a:buClr>
                <a:srgbClr val="4F81BD"/>
              </a:buClr>
              <a:buNone/>
            </a:pPr>
            <a:r>
              <a:rPr lang="zh-CN" altLang="en-US" sz="3086" dirty="0">
                <a:solidFill>
                  <a:srgbClr val="C00000"/>
                </a:solidFill>
              </a:rPr>
              <a:t>(1)	</a:t>
            </a:r>
            <a:r>
              <a:rPr lang="en-US" altLang="zh-CN" sz="3086" dirty="0">
                <a:solidFill>
                  <a:srgbClr val="C00000"/>
                </a:solidFill>
              </a:rPr>
              <a:t>read X</a:t>
            </a:r>
          </a:p>
          <a:p>
            <a:pPr marL="0" indent="0" fontAlgn="auto">
              <a:lnSpc>
                <a:spcPct val="100000"/>
              </a:lnSpc>
              <a:spcBef>
                <a:spcPts val="661"/>
              </a:spcBef>
              <a:buClr>
                <a:srgbClr val="4F81BD"/>
              </a:buClr>
              <a:buNone/>
            </a:pPr>
            <a:r>
              <a:rPr lang="en-US" altLang="zh-CN" sz="3086" dirty="0">
                <a:solidFill>
                  <a:prstClr val="black"/>
                </a:solidFill>
              </a:rPr>
              <a:t>(2) 	read Y</a:t>
            </a:r>
          </a:p>
          <a:p>
            <a:pPr marL="0" indent="0" fontAlgn="auto">
              <a:lnSpc>
                <a:spcPct val="100000"/>
              </a:lnSpc>
              <a:spcBef>
                <a:spcPts val="661"/>
              </a:spcBef>
              <a:buClr>
                <a:srgbClr val="4F81BD"/>
              </a:buClr>
              <a:buNone/>
            </a:pPr>
            <a:r>
              <a:rPr lang="en-US" altLang="zh-CN" sz="3086" dirty="0">
                <a:solidFill>
                  <a:srgbClr val="C00000"/>
                </a:solidFill>
              </a:rPr>
              <a:t>(3) 	R:=X mod Y</a:t>
            </a:r>
          </a:p>
          <a:p>
            <a:pPr marL="0" indent="0" fontAlgn="auto">
              <a:lnSpc>
                <a:spcPct val="100000"/>
              </a:lnSpc>
              <a:spcBef>
                <a:spcPts val="661"/>
              </a:spcBef>
              <a:buClr>
                <a:srgbClr val="4F81BD"/>
              </a:buClr>
              <a:buNone/>
            </a:pPr>
            <a:r>
              <a:rPr lang="en-US" altLang="zh-CN" sz="3086" dirty="0">
                <a:solidFill>
                  <a:prstClr val="black"/>
                </a:solidFill>
              </a:rPr>
              <a:t>(4) 	if  R=0 </a:t>
            </a:r>
            <a:r>
              <a:rPr lang="en-US" altLang="zh-CN" sz="3086" dirty="0" err="1">
                <a:solidFill>
                  <a:prstClr val="black"/>
                </a:solidFill>
              </a:rPr>
              <a:t>goto</a:t>
            </a:r>
            <a:r>
              <a:rPr lang="en-US" altLang="zh-CN" sz="3086" dirty="0">
                <a:solidFill>
                  <a:prstClr val="black"/>
                </a:solidFill>
              </a:rPr>
              <a:t> (8)</a:t>
            </a:r>
          </a:p>
          <a:p>
            <a:pPr marL="0" indent="0" fontAlgn="auto">
              <a:lnSpc>
                <a:spcPct val="100000"/>
              </a:lnSpc>
              <a:spcBef>
                <a:spcPts val="661"/>
              </a:spcBef>
              <a:buClr>
                <a:srgbClr val="4F81BD"/>
              </a:buClr>
              <a:buNone/>
            </a:pPr>
            <a:r>
              <a:rPr lang="en-US" altLang="zh-CN" sz="3086" dirty="0">
                <a:solidFill>
                  <a:srgbClr val="C00000"/>
                </a:solidFill>
              </a:rPr>
              <a:t>(5) 	X:=Y</a:t>
            </a:r>
          </a:p>
          <a:p>
            <a:pPr marL="0" indent="0" fontAlgn="auto">
              <a:lnSpc>
                <a:spcPct val="100000"/>
              </a:lnSpc>
              <a:spcBef>
                <a:spcPts val="661"/>
              </a:spcBef>
              <a:buClr>
                <a:srgbClr val="4F81BD"/>
              </a:buClr>
              <a:buNone/>
            </a:pPr>
            <a:r>
              <a:rPr lang="en-US" altLang="zh-CN" sz="3086" dirty="0">
                <a:solidFill>
                  <a:prstClr val="black"/>
                </a:solidFill>
              </a:rPr>
              <a:t>(6) 	Y:=R</a:t>
            </a:r>
          </a:p>
          <a:p>
            <a:pPr marL="0" indent="0" fontAlgn="auto">
              <a:lnSpc>
                <a:spcPct val="100000"/>
              </a:lnSpc>
              <a:spcBef>
                <a:spcPts val="661"/>
              </a:spcBef>
              <a:buClr>
                <a:srgbClr val="4F81BD"/>
              </a:buClr>
              <a:buNone/>
            </a:pPr>
            <a:r>
              <a:rPr lang="en-US" altLang="zh-CN" sz="3086" dirty="0">
                <a:solidFill>
                  <a:prstClr val="black"/>
                </a:solidFill>
              </a:rPr>
              <a:t>(7) 	</a:t>
            </a:r>
            <a:r>
              <a:rPr lang="en-US" altLang="zh-CN" sz="3086" dirty="0" err="1">
                <a:solidFill>
                  <a:prstClr val="black"/>
                </a:solidFill>
              </a:rPr>
              <a:t>goto</a:t>
            </a:r>
            <a:r>
              <a:rPr lang="en-US" altLang="zh-CN" sz="3086" dirty="0">
                <a:solidFill>
                  <a:prstClr val="black"/>
                </a:solidFill>
              </a:rPr>
              <a:t> (3)</a:t>
            </a:r>
          </a:p>
          <a:p>
            <a:pPr marL="0" indent="0" fontAlgn="auto">
              <a:lnSpc>
                <a:spcPct val="100000"/>
              </a:lnSpc>
              <a:spcBef>
                <a:spcPts val="661"/>
              </a:spcBef>
              <a:buClr>
                <a:srgbClr val="4F81BD"/>
              </a:buClr>
              <a:buNone/>
            </a:pPr>
            <a:r>
              <a:rPr lang="en-US" altLang="zh-CN" sz="3086" dirty="0">
                <a:solidFill>
                  <a:srgbClr val="C00000"/>
                </a:solidFill>
              </a:rPr>
              <a:t>(8) 	write Y</a:t>
            </a:r>
          </a:p>
          <a:p>
            <a:pPr marL="0" indent="0" fontAlgn="auto">
              <a:lnSpc>
                <a:spcPct val="100000"/>
              </a:lnSpc>
              <a:spcBef>
                <a:spcPts val="661"/>
              </a:spcBef>
              <a:buClr>
                <a:srgbClr val="4F81BD"/>
              </a:buClr>
              <a:buNone/>
            </a:pPr>
            <a:r>
              <a:rPr lang="en-US" altLang="zh-CN" sz="3086" dirty="0">
                <a:solidFill>
                  <a:prstClr val="black"/>
                </a:solidFill>
              </a:rPr>
              <a:t>(9) 	halt</a:t>
            </a:r>
          </a:p>
        </p:txBody>
      </p:sp>
      <p:sp>
        <p:nvSpPr>
          <p:cNvPr id="18" name="Rectangle 3"/>
          <p:cNvSpPr>
            <a:spLocks noChangeArrowheads="1"/>
          </p:cNvSpPr>
          <p:nvPr/>
        </p:nvSpPr>
        <p:spPr bwMode="auto">
          <a:xfrm>
            <a:off x="826826" y="2084369"/>
            <a:ext cx="4045493" cy="978269"/>
          </a:xfrm>
          <a:prstGeom prst="rect">
            <a:avLst/>
          </a:prstGeom>
          <a:noFill/>
          <a:ln w="28575">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
        <p:nvSpPr>
          <p:cNvPr id="19" name="Rectangle 3"/>
          <p:cNvSpPr>
            <a:spLocks noChangeArrowheads="1"/>
          </p:cNvSpPr>
          <p:nvPr/>
        </p:nvSpPr>
        <p:spPr bwMode="auto">
          <a:xfrm>
            <a:off x="826826" y="3197776"/>
            <a:ext cx="4045493" cy="978269"/>
          </a:xfrm>
          <a:prstGeom prst="rect">
            <a:avLst/>
          </a:prstGeom>
          <a:noFill/>
          <a:ln w="28575">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
        <p:nvSpPr>
          <p:cNvPr id="20" name="Rectangle 3"/>
          <p:cNvSpPr>
            <a:spLocks noChangeArrowheads="1"/>
          </p:cNvSpPr>
          <p:nvPr/>
        </p:nvSpPr>
        <p:spPr bwMode="auto">
          <a:xfrm>
            <a:off x="826826" y="4246572"/>
            <a:ext cx="4045493" cy="1633175"/>
          </a:xfrm>
          <a:prstGeom prst="rect">
            <a:avLst/>
          </a:prstGeom>
          <a:noFill/>
          <a:ln w="28575">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
        <p:nvSpPr>
          <p:cNvPr id="21" name="Rectangle 3"/>
          <p:cNvSpPr>
            <a:spLocks noChangeArrowheads="1"/>
          </p:cNvSpPr>
          <p:nvPr/>
        </p:nvSpPr>
        <p:spPr bwMode="auto">
          <a:xfrm>
            <a:off x="826826" y="5976118"/>
            <a:ext cx="4045493" cy="978269"/>
          </a:xfrm>
          <a:prstGeom prst="rect">
            <a:avLst/>
          </a:prstGeom>
          <a:noFill/>
          <a:ln w="28575">
            <a:headEnd type="none" w="sm" len="sm"/>
            <a:tailEnd type="none" w="sm" len="sm"/>
          </a:ln>
        </p:spPr>
        <p:style>
          <a:lnRef idx="2">
            <a:schemeClr val="accent4"/>
          </a:lnRef>
          <a:fillRef idx="1">
            <a:schemeClr val="lt1"/>
          </a:fillRef>
          <a:effectRef idx="0">
            <a:schemeClr val="accent4"/>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Tree>
    <p:extLst>
      <p:ext uri="{BB962C8B-B14F-4D97-AF65-F5344CB8AC3E}">
        <p14:creationId xmlns:p14="http://schemas.microsoft.com/office/powerpoint/2010/main" val="2904244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a:latin typeface="微软雅黑" panose="020B0503020204020204" pitchFamily="34" charset="-122"/>
              </a:rPr>
              <a:t>流图</a:t>
            </a:r>
          </a:p>
        </p:txBody>
      </p:sp>
      <p:sp>
        <p:nvSpPr>
          <p:cNvPr id="83971" name="Rectangle 3"/>
          <p:cNvSpPr>
            <a:spLocks noGrp="1" noChangeArrowheads="1"/>
          </p:cNvSpPr>
          <p:nvPr>
            <p:ph idx="1"/>
          </p:nvPr>
        </p:nvSpPr>
        <p:spPr>
          <a:xfrm>
            <a:off x="298947" y="1724537"/>
            <a:ext cx="5483927" cy="4797715"/>
          </a:xfrm>
        </p:spPr>
        <p:txBody>
          <a:bodyPr>
            <a:noAutofit/>
          </a:bodyPr>
          <a:lstStyle/>
          <a:p>
            <a:pPr>
              <a:spcBef>
                <a:spcPts val="496"/>
              </a:spcBef>
            </a:pPr>
            <a:r>
              <a:rPr lang="zh-CN" altLang="en-US" sz="2425" dirty="0">
                <a:solidFill>
                  <a:schemeClr val="tx1"/>
                </a:solidFill>
              </a:rPr>
              <a:t>以</a:t>
            </a:r>
            <a:r>
              <a:rPr lang="zh-CN" altLang="en-US" sz="2425" dirty="0">
                <a:solidFill>
                  <a:srgbClr val="0070C0"/>
                </a:solidFill>
              </a:rPr>
              <a:t>基本块</a:t>
            </a:r>
            <a:r>
              <a:rPr lang="zh-CN" altLang="en-US" sz="2425" dirty="0">
                <a:solidFill>
                  <a:schemeClr val="tx1"/>
                </a:solidFill>
              </a:rPr>
              <a:t>为</a:t>
            </a:r>
            <a:r>
              <a:rPr lang="zh-CN" altLang="en-US" sz="2425" dirty="0">
                <a:solidFill>
                  <a:srgbClr val="0070C0"/>
                </a:solidFill>
              </a:rPr>
              <a:t>结点</a:t>
            </a:r>
            <a:r>
              <a:rPr lang="zh-CN" altLang="en-US" sz="2425" dirty="0">
                <a:solidFill>
                  <a:schemeClr val="tx1"/>
                </a:solidFill>
              </a:rPr>
              <a:t>构成</a:t>
            </a:r>
            <a:r>
              <a:rPr lang="zh-CN" altLang="en-US" sz="2425" dirty="0">
                <a:solidFill>
                  <a:srgbClr val="C00000"/>
                </a:solidFill>
              </a:rPr>
              <a:t>流图</a:t>
            </a:r>
          </a:p>
          <a:p>
            <a:pPr>
              <a:spcBef>
                <a:spcPts val="496"/>
              </a:spcBef>
            </a:pPr>
            <a:r>
              <a:rPr lang="zh-CN" altLang="en-US" sz="2425" dirty="0"/>
              <a:t>如果一个结点的基本块的入口语句是程序的第一条语句，则称此结点为</a:t>
            </a:r>
            <a:r>
              <a:rPr lang="zh-CN" altLang="en-US" sz="2425" dirty="0">
                <a:solidFill>
                  <a:srgbClr val="0070C0"/>
                </a:solidFill>
              </a:rPr>
              <a:t>首结点</a:t>
            </a:r>
          </a:p>
          <a:p>
            <a:pPr marL="283484" lvl="1" indent="-283484">
              <a:spcBef>
                <a:spcPts val="496"/>
              </a:spcBef>
            </a:pPr>
            <a:r>
              <a:rPr lang="zh-CN" altLang="en-US" sz="2425" dirty="0"/>
              <a:t>如果在某个执行顺序中，基本块</a:t>
            </a:r>
            <a:r>
              <a:rPr lang="en-US" altLang="zh-CN" sz="2425" dirty="0"/>
              <a:t>B</a:t>
            </a:r>
            <a:r>
              <a:rPr lang="en-US" altLang="zh-CN" sz="2425" baseline="-25000" dirty="0"/>
              <a:t>2</a:t>
            </a:r>
            <a:r>
              <a:rPr lang="zh-CN" altLang="en-US" sz="2425" dirty="0"/>
              <a:t>紧接在基本块</a:t>
            </a:r>
            <a:r>
              <a:rPr lang="en-US" altLang="zh-CN" sz="2425" dirty="0"/>
              <a:t>B</a:t>
            </a:r>
            <a:r>
              <a:rPr lang="en-US" altLang="zh-CN" sz="2425" baseline="-25000" dirty="0"/>
              <a:t>1</a:t>
            </a:r>
            <a:r>
              <a:rPr lang="zh-CN" altLang="en-US" sz="2425" dirty="0"/>
              <a:t>之后执行，则从</a:t>
            </a:r>
            <a:r>
              <a:rPr lang="en-US" altLang="zh-CN" sz="2425" dirty="0"/>
              <a:t>B</a:t>
            </a:r>
            <a:r>
              <a:rPr lang="en-US" altLang="zh-CN" sz="2425" baseline="-25000" dirty="0"/>
              <a:t>1</a:t>
            </a:r>
            <a:r>
              <a:rPr lang="zh-CN" altLang="en-US" sz="2425" dirty="0"/>
              <a:t>到</a:t>
            </a:r>
            <a:r>
              <a:rPr lang="en-US" altLang="zh-CN" sz="2425" dirty="0"/>
              <a:t>B</a:t>
            </a:r>
            <a:r>
              <a:rPr lang="en-US" altLang="zh-CN" sz="2425" baseline="-25000" dirty="0"/>
              <a:t>2</a:t>
            </a:r>
            <a:r>
              <a:rPr lang="zh-CN" altLang="en-US" sz="2425" dirty="0"/>
              <a:t>有一条有向边（</a:t>
            </a:r>
            <a:r>
              <a:rPr lang="en-US" altLang="zh-CN" sz="2425" dirty="0"/>
              <a:t>B</a:t>
            </a:r>
            <a:r>
              <a:rPr lang="en-US" altLang="zh-CN" sz="2425" baseline="-25000" dirty="0"/>
              <a:t>1</a:t>
            </a:r>
            <a:r>
              <a:rPr lang="zh-CN" altLang="en-US" sz="2425" dirty="0"/>
              <a:t>是</a:t>
            </a:r>
            <a:r>
              <a:rPr lang="en-US" altLang="zh-CN" sz="2425" dirty="0"/>
              <a:t>B</a:t>
            </a:r>
            <a:r>
              <a:rPr lang="en-US" altLang="zh-CN" sz="2425" baseline="-25000" dirty="0"/>
              <a:t>2</a:t>
            </a:r>
            <a:r>
              <a:rPr lang="zh-CN" altLang="en-US" sz="2425" dirty="0"/>
              <a:t>的</a:t>
            </a:r>
            <a:r>
              <a:rPr lang="zh-CN" altLang="en-US" sz="2425" dirty="0">
                <a:solidFill>
                  <a:srgbClr val="0070C0"/>
                </a:solidFill>
              </a:rPr>
              <a:t>前驱</a:t>
            </a:r>
            <a:r>
              <a:rPr lang="zh-CN" altLang="en-US" sz="2425" dirty="0"/>
              <a:t>，</a:t>
            </a:r>
            <a:r>
              <a:rPr lang="en-US" altLang="zh-CN" sz="2425" dirty="0"/>
              <a:t>B</a:t>
            </a:r>
            <a:r>
              <a:rPr lang="en-US" altLang="zh-CN" sz="2425" baseline="-25000" dirty="0"/>
              <a:t>2</a:t>
            </a:r>
            <a:r>
              <a:rPr lang="zh-CN" altLang="en-US" sz="2425" dirty="0"/>
              <a:t>是</a:t>
            </a:r>
            <a:r>
              <a:rPr lang="en-US" altLang="zh-CN" sz="2425" dirty="0"/>
              <a:t>B</a:t>
            </a:r>
            <a:r>
              <a:rPr lang="en-US" altLang="zh-CN" sz="2425" baseline="-25000" dirty="0"/>
              <a:t>1</a:t>
            </a:r>
            <a:r>
              <a:rPr lang="zh-CN" altLang="en-US" sz="2425" dirty="0"/>
              <a:t>的</a:t>
            </a:r>
            <a:r>
              <a:rPr lang="zh-CN" altLang="en-US" sz="2425" dirty="0">
                <a:solidFill>
                  <a:srgbClr val="0070C0"/>
                </a:solidFill>
              </a:rPr>
              <a:t>后继</a:t>
            </a:r>
            <a:r>
              <a:rPr lang="zh-CN" altLang="en-US" sz="2425" dirty="0"/>
              <a:t>）。</a:t>
            </a:r>
            <a:endParaRPr lang="en-US" altLang="zh-CN" sz="2425" dirty="0"/>
          </a:p>
          <a:p>
            <a:pPr marL="614216" lvl="2" indent="-283484">
              <a:spcBef>
                <a:spcPts val="496"/>
              </a:spcBef>
            </a:pPr>
            <a:r>
              <a:rPr lang="zh-CN" altLang="en-US" sz="2425" dirty="0"/>
              <a:t>有一个条件或无条件转移语句从</a:t>
            </a:r>
            <a:r>
              <a:rPr lang="en-US" altLang="zh-CN" sz="2425" dirty="0"/>
              <a:t>B</a:t>
            </a:r>
            <a:r>
              <a:rPr lang="en-US" altLang="zh-CN" sz="2425" baseline="-25000" dirty="0"/>
              <a:t>1</a:t>
            </a:r>
            <a:r>
              <a:rPr lang="zh-CN" altLang="en-US" sz="2425" dirty="0"/>
              <a:t>的最后一条语句转移到</a:t>
            </a:r>
            <a:r>
              <a:rPr lang="en-US" altLang="zh-CN" sz="2425" dirty="0"/>
              <a:t>B</a:t>
            </a:r>
            <a:r>
              <a:rPr lang="en-US" altLang="zh-CN" sz="2425" baseline="-25000" dirty="0"/>
              <a:t>2</a:t>
            </a:r>
            <a:r>
              <a:rPr lang="zh-CN" altLang="en-US" sz="2425" dirty="0"/>
              <a:t>的第一条语句；</a:t>
            </a:r>
            <a:r>
              <a:rPr lang="zh-CN" altLang="en-US" sz="2425" dirty="0">
                <a:solidFill>
                  <a:srgbClr val="0070C0"/>
                </a:solidFill>
              </a:rPr>
              <a:t>或者</a:t>
            </a:r>
            <a:endParaRPr lang="en-US" altLang="zh-CN" sz="2425" dirty="0">
              <a:solidFill>
                <a:srgbClr val="0070C0"/>
              </a:solidFill>
            </a:endParaRPr>
          </a:p>
          <a:p>
            <a:pPr marL="614216" lvl="2" indent="-283484">
              <a:spcBef>
                <a:spcPts val="496"/>
              </a:spcBef>
            </a:pPr>
            <a:r>
              <a:rPr lang="zh-CN" altLang="en-US" sz="2425" dirty="0"/>
              <a:t>在程序的序列中，</a:t>
            </a:r>
            <a:r>
              <a:rPr lang="en-US" altLang="zh-CN" sz="2425" dirty="0">
                <a:solidFill>
                  <a:srgbClr val="C00000"/>
                </a:solidFill>
              </a:rPr>
              <a:t>B</a:t>
            </a:r>
            <a:r>
              <a:rPr lang="en-US" altLang="zh-CN" sz="2425" baseline="-25000" dirty="0">
                <a:solidFill>
                  <a:srgbClr val="C00000"/>
                </a:solidFill>
              </a:rPr>
              <a:t>2</a:t>
            </a:r>
            <a:r>
              <a:rPr lang="zh-CN" altLang="en-US" sz="2425" dirty="0">
                <a:solidFill>
                  <a:srgbClr val="C00000"/>
                </a:solidFill>
              </a:rPr>
              <a:t>紧接在</a:t>
            </a:r>
            <a:r>
              <a:rPr lang="en-US" altLang="zh-CN" sz="2425" dirty="0">
                <a:solidFill>
                  <a:srgbClr val="C00000"/>
                </a:solidFill>
              </a:rPr>
              <a:t>B</a:t>
            </a:r>
            <a:r>
              <a:rPr lang="en-US" altLang="zh-CN" sz="2425" baseline="-25000" dirty="0">
                <a:solidFill>
                  <a:srgbClr val="C00000"/>
                </a:solidFill>
              </a:rPr>
              <a:t>1</a:t>
            </a:r>
            <a:r>
              <a:rPr lang="zh-CN" altLang="en-US" sz="2425" dirty="0">
                <a:solidFill>
                  <a:srgbClr val="C00000"/>
                </a:solidFill>
              </a:rPr>
              <a:t>的后面</a:t>
            </a:r>
            <a:r>
              <a:rPr lang="zh-CN" altLang="en-US" sz="2425" dirty="0"/>
              <a:t>，并且</a:t>
            </a:r>
            <a:r>
              <a:rPr lang="en-US" altLang="zh-CN" sz="2425" dirty="0"/>
              <a:t>B</a:t>
            </a:r>
            <a:r>
              <a:rPr lang="en-US" altLang="zh-CN" sz="2425" baseline="-25000" dirty="0"/>
              <a:t>1</a:t>
            </a:r>
            <a:r>
              <a:rPr lang="zh-CN" altLang="en-US" sz="2425" dirty="0"/>
              <a:t>的最后一条语句不是一个无条件转移语句。</a:t>
            </a:r>
            <a:endParaRPr lang="en-US" altLang="zh-CN" sz="2425" dirty="0"/>
          </a:p>
        </p:txBody>
      </p:sp>
      <p:grpSp>
        <p:nvGrpSpPr>
          <p:cNvPr id="34" name="组合 33"/>
          <p:cNvGrpSpPr>
            <a:grpSpLocks noChangeAspect="1"/>
          </p:cNvGrpSpPr>
          <p:nvPr/>
        </p:nvGrpSpPr>
        <p:grpSpPr>
          <a:xfrm>
            <a:off x="5971530" y="1861148"/>
            <a:ext cx="4108565" cy="4767097"/>
            <a:chOff x="4348712" y="1592865"/>
            <a:chExt cx="4141353" cy="4805137"/>
          </a:xfrm>
        </p:grpSpPr>
        <p:sp>
          <p:nvSpPr>
            <p:cNvPr id="35" name="Rectangle 28"/>
            <p:cNvSpPr>
              <a:spLocks noChangeArrowheads="1"/>
            </p:cNvSpPr>
            <p:nvPr/>
          </p:nvSpPr>
          <p:spPr bwMode="auto">
            <a:xfrm>
              <a:off x="6811411" y="4990623"/>
              <a:ext cx="1594866" cy="832104"/>
            </a:xfrm>
            <a:prstGeom prst="rect">
              <a:avLst/>
            </a:prstGeom>
            <a:ln w="28575">
              <a:headEnd/>
              <a:tailEnd/>
            </a:ln>
          </p:spPr>
          <p:style>
            <a:lnRef idx="2">
              <a:schemeClr val="accent4"/>
            </a:lnRef>
            <a:fillRef idx="1">
              <a:schemeClr val="lt1"/>
            </a:fillRef>
            <a:effectRef idx="0">
              <a:schemeClr val="accent4"/>
            </a:effectRef>
            <a:fontRef idx="minor">
              <a:schemeClr val="dk1"/>
            </a:fontRef>
          </p:style>
          <p:txBody>
            <a:bodyPr anchor="ctr" anchorCtr="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zh-CN" sz="2205">
                  <a:solidFill>
                    <a:prstClr val="black"/>
                  </a:solidFill>
                  <a:latin typeface="Arial" panose="020B0604020202020204"/>
                  <a:ea typeface="宋体" panose="02010600030101010101" pitchFamily="2" charset="-122"/>
                </a:rPr>
                <a:t>(8) </a:t>
              </a:r>
              <a:r>
                <a:rPr lang="en-US" altLang="zh-CN" sz="2205">
                  <a:solidFill>
                    <a:prstClr val="black"/>
                  </a:solidFill>
                  <a:latin typeface="Arial" panose="020B0604020202020204"/>
                  <a:ea typeface="宋体" panose="02010600030101010101" pitchFamily="2" charset="-122"/>
                </a:rPr>
                <a:t>write Y</a:t>
              </a:r>
            </a:p>
            <a:p>
              <a:pPr defTabSz="503972" rtl="0" fontAlgn="auto" hangingPunct="1">
                <a:lnSpc>
                  <a:spcPct val="100000"/>
                </a:lnSpc>
                <a:spcBef>
                  <a:spcPct val="0"/>
                </a:spcBef>
                <a:spcAft>
                  <a:spcPts val="0"/>
                </a:spcAft>
                <a:buClrTx/>
                <a:buSzTx/>
                <a:buNone/>
              </a:pPr>
              <a:r>
                <a:rPr lang="en-US" altLang="zh-CN" sz="2205">
                  <a:solidFill>
                    <a:prstClr val="black"/>
                  </a:solidFill>
                  <a:latin typeface="Arial" panose="020B0604020202020204"/>
                  <a:ea typeface="宋体" panose="02010600030101010101" pitchFamily="2" charset="-122"/>
                </a:rPr>
                <a:t>(9) halt</a:t>
              </a:r>
            </a:p>
          </p:txBody>
        </p:sp>
        <p:sp>
          <p:nvSpPr>
            <p:cNvPr id="36" name="Rectangle 29"/>
            <p:cNvSpPr>
              <a:spLocks noChangeArrowheads="1"/>
            </p:cNvSpPr>
            <p:nvPr/>
          </p:nvSpPr>
          <p:spPr bwMode="auto">
            <a:xfrm>
              <a:off x="4592466" y="4782597"/>
              <a:ext cx="1733550" cy="1224000"/>
            </a:xfrm>
            <a:prstGeom prst="rect">
              <a:avLst/>
            </a:prstGeom>
            <a:ln w="28575">
              <a:headEnd/>
              <a:tailEnd/>
            </a:ln>
          </p:spPr>
          <p:style>
            <a:lnRef idx="2">
              <a:schemeClr val="accent4"/>
            </a:lnRef>
            <a:fillRef idx="1">
              <a:schemeClr val="lt1"/>
            </a:fillRef>
            <a:effectRef idx="0">
              <a:schemeClr val="accent4"/>
            </a:effectRef>
            <a:fontRef idx="minor">
              <a:schemeClr val="dk1"/>
            </a:fontRef>
          </p:style>
          <p:txBody>
            <a:bodyPr anchor="ctr" anchorCtr="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zh-CN" sz="2205">
                  <a:solidFill>
                    <a:prstClr val="black"/>
                  </a:solidFill>
                  <a:latin typeface="Arial" panose="020B0604020202020204"/>
                  <a:ea typeface="宋体" panose="02010600030101010101" pitchFamily="2" charset="-122"/>
                </a:rPr>
                <a:t>(5) </a:t>
              </a:r>
              <a:r>
                <a:rPr lang="en-US" altLang="zh-CN" sz="2205">
                  <a:solidFill>
                    <a:prstClr val="black"/>
                  </a:solidFill>
                  <a:latin typeface="Arial" panose="020B0604020202020204"/>
                  <a:ea typeface="宋体" panose="02010600030101010101" pitchFamily="2" charset="-122"/>
                </a:rPr>
                <a:t>X:=Y</a:t>
              </a:r>
            </a:p>
            <a:p>
              <a:pPr defTabSz="503972" rtl="0" fontAlgn="auto" hangingPunct="1">
                <a:lnSpc>
                  <a:spcPct val="100000"/>
                </a:lnSpc>
                <a:spcBef>
                  <a:spcPct val="0"/>
                </a:spcBef>
                <a:spcAft>
                  <a:spcPts val="0"/>
                </a:spcAft>
                <a:buClrTx/>
                <a:buSzTx/>
                <a:buNone/>
              </a:pPr>
              <a:r>
                <a:rPr lang="en-US" altLang="zh-CN" sz="2205">
                  <a:solidFill>
                    <a:prstClr val="black"/>
                  </a:solidFill>
                  <a:latin typeface="Arial" panose="020B0604020202020204"/>
                  <a:ea typeface="宋体" panose="02010600030101010101" pitchFamily="2" charset="-122"/>
                </a:rPr>
                <a:t>(6) Y:=R</a:t>
              </a:r>
            </a:p>
            <a:p>
              <a:pPr defTabSz="503972" rtl="0" fontAlgn="auto" hangingPunct="1">
                <a:lnSpc>
                  <a:spcPct val="100000"/>
                </a:lnSpc>
                <a:spcBef>
                  <a:spcPct val="0"/>
                </a:spcBef>
                <a:spcAft>
                  <a:spcPts val="0"/>
                </a:spcAft>
                <a:buClrTx/>
                <a:buSzTx/>
                <a:buNone/>
              </a:pPr>
              <a:r>
                <a:rPr lang="en-US" altLang="zh-CN" sz="2205">
                  <a:solidFill>
                    <a:prstClr val="black"/>
                  </a:solidFill>
                  <a:latin typeface="Arial" panose="020B0604020202020204"/>
                  <a:ea typeface="宋体" panose="02010600030101010101" pitchFamily="2" charset="-122"/>
                </a:rPr>
                <a:t>(7) goto (3)</a:t>
              </a:r>
            </a:p>
          </p:txBody>
        </p:sp>
        <p:sp>
          <p:nvSpPr>
            <p:cNvPr id="37" name="Rectangle 30"/>
            <p:cNvSpPr>
              <a:spLocks noChangeArrowheads="1"/>
            </p:cNvSpPr>
            <p:nvPr/>
          </p:nvSpPr>
          <p:spPr bwMode="auto">
            <a:xfrm>
              <a:off x="5216544" y="3326415"/>
              <a:ext cx="2704338" cy="762762"/>
            </a:xfrm>
            <a:prstGeom prst="rect">
              <a:avLst/>
            </a:prstGeom>
            <a:ln w="28575">
              <a:headEnd/>
              <a:tailEnd/>
            </a:ln>
          </p:spPr>
          <p:style>
            <a:lnRef idx="2">
              <a:schemeClr val="accent4"/>
            </a:lnRef>
            <a:fillRef idx="1">
              <a:schemeClr val="lt1"/>
            </a:fillRef>
            <a:effectRef idx="0">
              <a:schemeClr val="accent4"/>
            </a:effectRef>
            <a:fontRef idx="minor">
              <a:schemeClr val="dk1"/>
            </a:fontRef>
          </p:style>
          <p:txBody>
            <a:bodyPr anchor="ctr" anchorCtr="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zh-CN" sz="2205" dirty="0">
                  <a:solidFill>
                    <a:prstClr val="black"/>
                  </a:solidFill>
                  <a:latin typeface="Arial" panose="020B0604020202020204"/>
                  <a:ea typeface="宋体" panose="02010600030101010101" pitchFamily="2" charset="-122"/>
                </a:rPr>
                <a:t>(3)  </a:t>
              </a:r>
              <a:r>
                <a:rPr lang="en-US" altLang="zh-CN" sz="2205" dirty="0">
                  <a:solidFill>
                    <a:prstClr val="black"/>
                  </a:solidFill>
                  <a:latin typeface="Arial" panose="020B0604020202020204"/>
                  <a:ea typeface="宋体" panose="02010600030101010101" pitchFamily="2" charset="-122"/>
                </a:rPr>
                <a:t>R:=X mod Y</a:t>
              </a:r>
            </a:p>
            <a:p>
              <a:pPr defTabSz="503972" rtl="0" fontAlgn="auto" hangingPunct="1">
                <a:lnSpc>
                  <a:spcPct val="100000"/>
                </a:lnSpc>
                <a:spcBef>
                  <a:spcPct val="0"/>
                </a:spcBef>
                <a:spcAft>
                  <a:spcPts val="0"/>
                </a:spcAft>
                <a:buClrTx/>
                <a:buSzTx/>
                <a:buNone/>
              </a:pPr>
              <a:r>
                <a:rPr lang="en-US" altLang="zh-CN" sz="2205" dirty="0">
                  <a:solidFill>
                    <a:prstClr val="black"/>
                  </a:solidFill>
                  <a:latin typeface="Arial" panose="020B0604020202020204"/>
                  <a:ea typeface="宋体" panose="02010600030101010101" pitchFamily="2" charset="-122"/>
                </a:rPr>
                <a:t>(4)  if  R=0 </a:t>
              </a:r>
              <a:r>
                <a:rPr lang="en-US" altLang="zh-CN" sz="2205" dirty="0" err="1">
                  <a:solidFill>
                    <a:prstClr val="black"/>
                  </a:solidFill>
                  <a:latin typeface="Arial" panose="020B0604020202020204"/>
                  <a:ea typeface="宋体" panose="02010600030101010101" pitchFamily="2" charset="-122"/>
                </a:rPr>
                <a:t>goto</a:t>
              </a:r>
              <a:r>
                <a:rPr lang="en-US" altLang="zh-CN" sz="2205" dirty="0">
                  <a:solidFill>
                    <a:prstClr val="black"/>
                  </a:solidFill>
                  <a:latin typeface="Arial" panose="020B0604020202020204"/>
                  <a:ea typeface="宋体" panose="02010600030101010101" pitchFamily="2" charset="-122"/>
                </a:rPr>
                <a:t> (8)</a:t>
              </a:r>
            </a:p>
          </p:txBody>
        </p:sp>
        <p:sp>
          <p:nvSpPr>
            <p:cNvPr id="38" name="Rectangle 31"/>
            <p:cNvSpPr>
              <a:spLocks noChangeArrowheads="1"/>
            </p:cNvSpPr>
            <p:nvPr/>
          </p:nvSpPr>
          <p:spPr bwMode="auto">
            <a:xfrm>
              <a:off x="5216544" y="2147601"/>
              <a:ext cx="2634996" cy="762762"/>
            </a:xfrm>
            <a:prstGeom prst="rect">
              <a:avLst/>
            </a:prstGeom>
            <a:ln w="28575">
              <a:headEnd/>
              <a:tailEnd/>
            </a:ln>
          </p:spPr>
          <p:style>
            <a:lnRef idx="2">
              <a:schemeClr val="accent4"/>
            </a:lnRef>
            <a:fillRef idx="1">
              <a:schemeClr val="lt1"/>
            </a:fillRef>
            <a:effectRef idx="0">
              <a:schemeClr val="accent4"/>
            </a:effectRef>
            <a:fontRef idx="minor">
              <a:schemeClr val="dk1"/>
            </a:fontRef>
          </p:style>
          <p:txBody>
            <a:bodyPr anchor="ctr" anchorCtr="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2205" dirty="0">
                  <a:solidFill>
                    <a:prstClr val="black"/>
                  </a:solidFill>
                  <a:latin typeface="Arial" panose="020B0604020202020204"/>
                  <a:ea typeface="宋体" panose="02010600030101010101" pitchFamily="2" charset="-122"/>
                </a:rPr>
                <a:t>(1)  </a:t>
              </a:r>
              <a:r>
                <a:rPr lang="en-US" altLang="zh-CN" sz="2205" dirty="0">
                  <a:solidFill>
                    <a:prstClr val="black"/>
                  </a:solidFill>
                  <a:latin typeface="Arial" panose="020B0604020202020204"/>
                  <a:ea typeface="宋体" panose="02010600030101010101" pitchFamily="2" charset="-122"/>
                </a:rPr>
                <a:t>read X</a:t>
              </a:r>
            </a:p>
            <a:p>
              <a:pPr defTabSz="503972" rtl="0" fontAlgn="auto" hangingPunct="1">
                <a:lnSpc>
                  <a:spcPct val="100000"/>
                </a:lnSpc>
                <a:spcBef>
                  <a:spcPct val="0"/>
                </a:spcBef>
                <a:spcAft>
                  <a:spcPts val="0"/>
                </a:spcAft>
                <a:buClrTx/>
                <a:buSzTx/>
                <a:buNone/>
              </a:pPr>
              <a:r>
                <a:rPr lang="en-US" altLang="zh-CN" sz="2205" dirty="0">
                  <a:solidFill>
                    <a:prstClr val="black"/>
                  </a:solidFill>
                  <a:latin typeface="Arial" panose="020B0604020202020204"/>
                  <a:ea typeface="宋体" panose="02010600030101010101" pitchFamily="2" charset="-122"/>
                </a:rPr>
                <a:t>(2)  read Y</a:t>
              </a:r>
            </a:p>
          </p:txBody>
        </p:sp>
        <p:sp>
          <p:nvSpPr>
            <p:cNvPr id="39" name="Text Box 32"/>
            <p:cNvSpPr txBox="1">
              <a:spLocks noChangeArrowheads="1"/>
            </p:cNvSpPr>
            <p:nvPr/>
          </p:nvSpPr>
          <p:spPr bwMode="auto">
            <a:xfrm>
              <a:off x="7851541" y="2320956"/>
              <a:ext cx="569182" cy="435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US" altLang="zh-CN" sz="2205" dirty="0">
                  <a:solidFill>
                    <a:prstClr val="black"/>
                  </a:solidFill>
                  <a:latin typeface="Arial" panose="020B0604020202020204"/>
                  <a:ea typeface="宋体" panose="02010600030101010101" pitchFamily="2" charset="-122"/>
                </a:rPr>
                <a:t>B</a:t>
              </a:r>
              <a:r>
                <a:rPr lang="en-US" altLang="zh-CN" sz="2205" baseline="-16000" dirty="0">
                  <a:solidFill>
                    <a:prstClr val="black"/>
                  </a:solidFill>
                  <a:latin typeface="Arial" panose="020B0604020202020204"/>
                  <a:ea typeface="宋体" panose="02010600030101010101" pitchFamily="2" charset="-122"/>
                </a:rPr>
                <a:t>1</a:t>
              </a:r>
              <a:endParaRPr lang="en-US" altLang="zh-CN" sz="2205" dirty="0">
                <a:solidFill>
                  <a:prstClr val="black"/>
                </a:solidFill>
                <a:latin typeface="Arial" panose="020B0604020202020204"/>
                <a:ea typeface="宋体" panose="02010600030101010101" pitchFamily="2" charset="-122"/>
              </a:endParaRPr>
            </a:p>
          </p:txBody>
        </p:sp>
        <p:sp>
          <p:nvSpPr>
            <p:cNvPr id="40" name="Text Box 33"/>
            <p:cNvSpPr txBox="1">
              <a:spLocks noChangeArrowheads="1"/>
            </p:cNvSpPr>
            <p:nvPr/>
          </p:nvSpPr>
          <p:spPr bwMode="auto">
            <a:xfrm>
              <a:off x="7920883" y="3499770"/>
              <a:ext cx="569182" cy="435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US" altLang="zh-CN" sz="2205" dirty="0">
                  <a:solidFill>
                    <a:prstClr val="black"/>
                  </a:solidFill>
                  <a:latin typeface="Arial" panose="020B0604020202020204"/>
                  <a:ea typeface="宋体" panose="02010600030101010101" pitchFamily="2" charset="-122"/>
                </a:rPr>
                <a:t>B</a:t>
              </a:r>
              <a:r>
                <a:rPr lang="en-US" altLang="zh-CN" sz="2205" baseline="-16000" dirty="0">
                  <a:solidFill>
                    <a:prstClr val="black"/>
                  </a:solidFill>
                  <a:latin typeface="Arial" panose="020B0604020202020204"/>
                  <a:ea typeface="宋体" panose="02010600030101010101" pitchFamily="2" charset="-122"/>
                </a:rPr>
                <a:t>2</a:t>
              </a:r>
              <a:endParaRPr lang="en-US" altLang="zh-CN" sz="2205" dirty="0">
                <a:solidFill>
                  <a:prstClr val="black"/>
                </a:solidFill>
                <a:latin typeface="Arial" panose="020B0604020202020204"/>
                <a:ea typeface="宋体" panose="02010600030101010101" pitchFamily="2" charset="-122"/>
              </a:endParaRPr>
            </a:p>
          </p:txBody>
        </p:sp>
        <p:sp>
          <p:nvSpPr>
            <p:cNvPr id="41" name="Text Box 34"/>
            <p:cNvSpPr txBox="1">
              <a:spLocks noChangeArrowheads="1"/>
            </p:cNvSpPr>
            <p:nvPr/>
          </p:nvSpPr>
          <p:spPr bwMode="auto">
            <a:xfrm>
              <a:off x="4723927" y="4379478"/>
              <a:ext cx="569182" cy="435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US" altLang="zh-CN" sz="2205" dirty="0">
                  <a:solidFill>
                    <a:prstClr val="black"/>
                  </a:solidFill>
                  <a:latin typeface="Arial" panose="020B0604020202020204"/>
                  <a:ea typeface="宋体" panose="02010600030101010101" pitchFamily="2" charset="-122"/>
                </a:rPr>
                <a:t>B</a:t>
              </a:r>
              <a:r>
                <a:rPr lang="en-US" altLang="zh-CN" sz="2205" baseline="-16000" dirty="0">
                  <a:solidFill>
                    <a:prstClr val="black"/>
                  </a:solidFill>
                  <a:latin typeface="Arial" panose="020B0604020202020204"/>
                  <a:ea typeface="宋体" panose="02010600030101010101" pitchFamily="2" charset="-122"/>
                </a:rPr>
                <a:t>3</a:t>
              </a:r>
              <a:endParaRPr lang="en-US" altLang="zh-CN" sz="2205" dirty="0">
                <a:solidFill>
                  <a:prstClr val="black"/>
                </a:solidFill>
                <a:latin typeface="Arial" panose="020B0604020202020204"/>
                <a:ea typeface="宋体" panose="02010600030101010101" pitchFamily="2" charset="-122"/>
              </a:endParaRPr>
            </a:p>
          </p:txBody>
        </p:sp>
        <p:sp>
          <p:nvSpPr>
            <p:cNvPr id="42" name="Text Box 35"/>
            <p:cNvSpPr txBox="1">
              <a:spLocks noChangeArrowheads="1"/>
            </p:cNvSpPr>
            <p:nvPr/>
          </p:nvSpPr>
          <p:spPr bwMode="auto">
            <a:xfrm>
              <a:off x="7774974" y="4574571"/>
              <a:ext cx="569182" cy="435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US" altLang="zh-CN" sz="2205" dirty="0">
                  <a:solidFill>
                    <a:prstClr val="black"/>
                  </a:solidFill>
                  <a:latin typeface="Arial" panose="020B0604020202020204"/>
                  <a:ea typeface="宋体" panose="02010600030101010101" pitchFamily="2" charset="-122"/>
                </a:rPr>
                <a:t>B</a:t>
              </a:r>
              <a:r>
                <a:rPr lang="en-US" altLang="zh-CN" sz="2205" baseline="-16000" dirty="0">
                  <a:solidFill>
                    <a:prstClr val="black"/>
                  </a:solidFill>
                  <a:latin typeface="Arial" panose="020B0604020202020204"/>
                  <a:ea typeface="宋体" panose="02010600030101010101" pitchFamily="2" charset="-122"/>
                </a:rPr>
                <a:t>4</a:t>
              </a:r>
              <a:endParaRPr lang="en-US" altLang="zh-CN" sz="2205" dirty="0">
                <a:solidFill>
                  <a:prstClr val="black"/>
                </a:solidFill>
                <a:latin typeface="Arial" panose="020B0604020202020204"/>
                <a:ea typeface="宋体" panose="02010600030101010101" pitchFamily="2" charset="-122"/>
              </a:endParaRPr>
            </a:p>
          </p:txBody>
        </p:sp>
        <p:sp>
          <p:nvSpPr>
            <p:cNvPr id="43" name="Line 36"/>
            <p:cNvSpPr>
              <a:spLocks noChangeShapeType="1"/>
            </p:cNvSpPr>
            <p:nvPr/>
          </p:nvSpPr>
          <p:spPr bwMode="auto">
            <a:xfrm>
              <a:off x="6464701" y="1592865"/>
              <a:ext cx="0" cy="554736"/>
            </a:xfrm>
            <a:prstGeom prst="line">
              <a:avLst/>
            </a:prstGeom>
            <a:ln>
              <a:headEnd type="none" w="sm" len="sm"/>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sz="2205">
                <a:solidFill>
                  <a:prstClr val="black"/>
                </a:solidFill>
              </a:endParaRPr>
            </a:p>
          </p:txBody>
        </p:sp>
        <p:sp>
          <p:nvSpPr>
            <p:cNvPr id="44" name="Line 37"/>
            <p:cNvSpPr>
              <a:spLocks noChangeShapeType="1"/>
            </p:cNvSpPr>
            <p:nvPr/>
          </p:nvSpPr>
          <p:spPr bwMode="auto">
            <a:xfrm flipH="1">
              <a:off x="5424571" y="4089177"/>
              <a:ext cx="901446" cy="693420"/>
            </a:xfrm>
            <a:prstGeom prst="line">
              <a:avLst/>
            </a:prstGeom>
            <a:ln>
              <a:headEnd type="none" w="sm" len="sm"/>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sz="2205">
                <a:solidFill>
                  <a:prstClr val="black"/>
                </a:solidFill>
              </a:endParaRPr>
            </a:p>
          </p:txBody>
        </p:sp>
        <p:sp>
          <p:nvSpPr>
            <p:cNvPr id="45" name="Line 38"/>
            <p:cNvSpPr>
              <a:spLocks noChangeShapeType="1"/>
            </p:cNvSpPr>
            <p:nvPr/>
          </p:nvSpPr>
          <p:spPr bwMode="auto">
            <a:xfrm>
              <a:off x="6742069" y="4089177"/>
              <a:ext cx="901446" cy="901446"/>
            </a:xfrm>
            <a:prstGeom prst="line">
              <a:avLst/>
            </a:prstGeom>
            <a:ln>
              <a:headEnd type="none" w="sm" len="sm"/>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sz="2205">
                <a:solidFill>
                  <a:prstClr val="black"/>
                </a:solidFill>
              </a:endParaRPr>
            </a:p>
          </p:txBody>
        </p:sp>
        <p:sp>
          <p:nvSpPr>
            <p:cNvPr id="46" name="Line 39"/>
            <p:cNvSpPr>
              <a:spLocks noChangeShapeType="1"/>
            </p:cNvSpPr>
            <p:nvPr/>
          </p:nvSpPr>
          <p:spPr bwMode="auto">
            <a:xfrm>
              <a:off x="6464701" y="2910363"/>
              <a:ext cx="0" cy="416052"/>
            </a:xfrm>
            <a:prstGeom prst="line">
              <a:avLst/>
            </a:prstGeom>
            <a:ln>
              <a:headEnd type="none" w="sm" len="sm"/>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sz="2205">
                <a:solidFill>
                  <a:prstClr val="black"/>
                </a:solidFill>
              </a:endParaRPr>
            </a:p>
          </p:txBody>
        </p:sp>
        <p:sp>
          <p:nvSpPr>
            <p:cNvPr id="47" name="Freeform 40"/>
            <p:cNvSpPr>
              <a:spLocks/>
            </p:cNvSpPr>
            <p:nvPr/>
          </p:nvSpPr>
          <p:spPr bwMode="auto">
            <a:xfrm>
              <a:off x="4348712" y="3014002"/>
              <a:ext cx="1561253" cy="3384000"/>
            </a:xfrm>
            <a:custGeom>
              <a:avLst/>
              <a:gdLst>
                <a:gd name="T0" fmla="*/ 960 w 1248"/>
                <a:gd name="T1" fmla="*/ 2289 h 2256"/>
                <a:gd name="T2" fmla="*/ 960 w 1248"/>
                <a:gd name="T3" fmla="*/ 2559 h 2256"/>
                <a:gd name="T4" fmla="*/ 0 w 1248"/>
                <a:gd name="T5" fmla="*/ 2559 h 2256"/>
                <a:gd name="T6" fmla="*/ 0 w 1248"/>
                <a:gd name="T7" fmla="*/ 0 h 2256"/>
                <a:gd name="T8" fmla="*/ 1248 w 1248"/>
                <a:gd name="T9" fmla="*/ 0 h 2256"/>
                <a:gd name="T10" fmla="*/ 1248 w 1248"/>
                <a:gd name="T11" fmla="*/ 217 h 2256"/>
                <a:gd name="T12" fmla="*/ 0 60000 65536"/>
                <a:gd name="T13" fmla="*/ 0 60000 65536"/>
                <a:gd name="T14" fmla="*/ 0 60000 65536"/>
                <a:gd name="T15" fmla="*/ 0 60000 65536"/>
                <a:gd name="T16" fmla="*/ 0 60000 65536"/>
                <a:gd name="T17" fmla="*/ 0 60000 65536"/>
                <a:gd name="T18" fmla="*/ 0 w 1248"/>
                <a:gd name="T19" fmla="*/ 0 h 2256"/>
                <a:gd name="T20" fmla="*/ 1248 w 1248"/>
                <a:gd name="T21" fmla="*/ 2256 h 2256"/>
              </a:gdLst>
              <a:ahLst/>
              <a:cxnLst>
                <a:cxn ang="T12">
                  <a:pos x="T0" y="T1"/>
                </a:cxn>
                <a:cxn ang="T13">
                  <a:pos x="T2" y="T3"/>
                </a:cxn>
                <a:cxn ang="T14">
                  <a:pos x="T4" y="T5"/>
                </a:cxn>
                <a:cxn ang="T15">
                  <a:pos x="T6" y="T7"/>
                </a:cxn>
                <a:cxn ang="T16">
                  <a:pos x="T8" y="T9"/>
                </a:cxn>
                <a:cxn ang="T17">
                  <a:pos x="T10" y="T11"/>
                </a:cxn>
              </a:cxnLst>
              <a:rect l="T18" t="T19" r="T20" b="T21"/>
              <a:pathLst>
                <a:path w="1248" h="2256">
                  <a:moveTo>
                    <a:pt x="960" y="2016"/>
                  </a:moveTo>
                  <a:lnTo>
                    <a:pt x="960" y="2256"/>
                  </a:lnTo>
                  <a:lnTo>
                    <a:pt x="0" y="2256"/>
                  </a:lnTo>
                  <a:lnTo>
                    <a:pt x="0" y="0"/>
                  </a:lnTo>
                  <a:lnTo>
                    <a:pt x="1248" y="0"/>
                  </a:lnTo>
                  <a:lnTo>
                    <a:pt x="1248" y="192"/>
                  </a:lnTo>
                </a:path>
              </a:pathLst>
            </a:custGeom>
            <a:ln>
              <a:headEnd type="none" w="sm" len="sm"/>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sz="2205">
                <a:solidFill>
                  <a:prstClr val="black"/>
                </a:solidFill>
              </a:endParaRPr>
            </a:p>
          </p:txBody>
        </p:sp>
      </p:grpSp>
    </p:spTree>
    <p:extLst>
      <p:ext uri="{BB962C8B-B14F-4D97-AF65-F5344CB8AC3E}">
        <p14:creationId xmlns:p14="http://schemas.microsoft.com/office/powerpoint/2010/main" val="15543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971">
                                            <p:txEl>
                                              <p:pRg st="1" end="1"/>
                                            </p:txEl>
                                          </p:spTgt>
                                        </p:tgtEl>
                                        <p:attrNameLst>
                                          <p:attrName>style.visibility</p:attrName>
                                        </p:attrNameLst>
                                      </p:cBhvr>
                                      <p:to>
                                        <p:strVal val="visible"/>
                                      </p:to>
                                    </p:set>
                                    <p:animEffect transition="in" filter="wipe(left)">
                                      <p:cBhvr>
                                        <p:cTn id="12" dur="500"/>
                                        <p:tgtEl>
                                          <p:spTgt spid="83971">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83971">
                                            <p:txEl>
                                              <p:pRg st="2" end="2"/>
                                            </p:txEl>
                                          </p:spTgt>
                                        </p:tgtEl>
                                        <p:attrNameLst>
                                          <p:attrName>style.visibility</p:attrName>
                                        </p:attrNameLst>
                                      </p:cBhvr>
                                      <p:to>
                                        <p:strVal val="visible"/>
                                      </p:to>
                                    </p:set>
                                    <p:animEffect transition="in" filter="wipe(left)">
                                      <p:cBhvr>
                                        <p:cTn id="15" dur="500"/>
                                        <p:tgtEl>
                                          <p:spTgt spid="83971">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3971">
                                            <p:txEl>
                                              <p:pRg st="3" end="3"/>
                                            </p:txEl>
                                          </p:spTgt>
                                        </p:tgtEl>
                                        <p:attrNameLst>
                                          <p:attrName>style.visibility</p:attrName>
                                        </p:attrNameLst>
                                      </p:cBhvr>
                                      <p:to>
                                        <p:strVal val="visible"/>
                                      </p:to>
                                    </p:set>
                                    <p:animEffect transition="in" filter="wipe(left)">
                                      <p:cBhvr>
                                        <p:cTn id="18" dur="500"/>
                                        <p:tgtEl>
                                          <p:spTgt spid="83971">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83971">
                                            <p:txEl>
                                              <p:pRg st="4" end="4"/>
                                            </p:txEl>
                                          </p:spTgt>
                                        </p:tgtEl>
                                        <p:attrNameLst>
                                          <p:attrName>style.visibility</p:attrName>
                                        </p:attrNameLst>
                                      </p:cBhvr>
                                      <p:to>
                                        <p:strVal val="visible"/>
                                      </p:to>
                                    </p:set>
                                    <p:animEffect transition="in" filter="wipe(left)">
                                      <p:cBhvr>
                                        <p:cTn id="21" dur="500"/>
                                        <p:tgtEl>
                                          <p:spTgt spid="839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a:latin typeface="微软雅黑" panose="020B0503020204020204" pitchFamily="34" charset="-122"/>
              </a:rPr>
              <a:t>流图</a:t>
            </a:r>
          </a:p>
        </p:txBody>
      </p:sp>
      <p:sp>
        <p:nvSpPr>
          <p:cNvPr id="31" name="Rectangle 3"/>
          <p:cNvSpPr>
            <a:spLocks noGrp="1" noChangeArrowheads="1"/>
          </p:cNvSpPr>
          <p:nvPr>
            <p:ph idx="1"/>
          </p:nvPr>
        </p:nvSpPr>
        <p:spPr>
          <a:xfrm>
            <a:off x="747164" y="2009805"/>
            <a:ext cx="8563218" cy="4649679"/>
          </a:xfrm>
        </p:spPr>
        <p:txBody>
          <a:bodyPr>
            <a:noAutofit/>
          </a:bodyPr>
          <a:lstStyle/>
          <a:p>
            <a:pPr>
              <a:spcBef>
                <a:spcPts val="661"/>
              </a:spcBef>
            </a:pPr>
            <a:r>
              <a:rPr lang="zh-CN" altLang="en-US" sz="2646" dirty="0">
                <a:solidFill>
                  <a:schemeClr val="tx1"/>
                </a:solidFill>
              </a:rPr>
              <a:t>以基本块为结点构成</a:t>
            </a:r>
            <a:r>
              <a:rPr lang="zh-CN" altLang="en-US" sz="2646" dirty="0">
                <a:solidFill>
                  <a:srgbClr val="C00000"/>
                </a:solidFill>
              </a:rPr>
              <a:t>流图</a:t>
            </a:r>
          </a:p>
        </p:txBody>
      </p:sp>
      <p:grpSp>
        <p:nvGrpSpPr>
          <p:cNvPr id="32" name="组合 31"/>
          <p:cNvGrpSpPr/>
          <p:nvPr/>
        </p:nvGrpSpPr>
        <p:grpSpPr>
          <a:xfrm>
            <a:off x="4794179" y="1755839"/>
            <a:ext cx="4565075" cy="5296774"/>
            <a:chOff x="4348712" y="1592865"/>
            <a:chExt cx="4141353" cy="4805137"/>
          </a:xfrm>
        </p:grpSpPr>
        <p:sp>
          <p:nvSpPr>
            <p:cNvPr id="33" name="Rectangle 28"/>
            <p:cNvSpPr>
              <a:spLocks noChangeArrowheads="1"/>
            </p:cNvSpPr>
            <p:nvPr/>
          </p:nvSpPr>
          <p:spPr bwMode="auto">
            <a:xfrm>
              <a:off x="6811411" y="4990623"/>
              <a:ext cx="1594866" cy="832104"/>
            </a:xfrm>
            <a:prstGeom prst="rect">
              <a:avLst/>
            </a:prstGeom>
            <a:ln w="28575">
              <a:headEnd/>
              <a:tailEnd/>
            </a:ln>
          </p:spPr>
          <p:style>
            <a:lnRef idx="2">
              <a:schemeClr val="accent4"/>
            </a:lnRef>
            <a:fillRef idx="1">
              <a:schemeClr val="lt1"/>
            </a:fillRef>
            <a:effectRef idx="0">
              <a:schemeClr val="accent4"/>
            </a:effectRef>
            <a:fontRef idx="minor">
              <a:schemeClr val="dk1"/>
            </a:fontRef>
          </p:style>
          <p:txBody>
            <a:bodyPr anchor="ctr" anchorCtr="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zh-CN" sz="2646">
                  <a:solidFill>
                    <a:prstClr val="black"/>
                  </a:solidFill>
                  <a:latin typeface="Arial" panose="020B0604020202020204"/>
                  <a:ea typeface="宋体" panose="02010600030101010101" pitchFamily="2" charset="-122"/>
                </a:rPr>
                <a:t>(8) </a:t>
              </a:r>
              <a:r>
                <a:rPr lang="en-US" altLang="zh-CN" sz="2646">
                  <a:solidFill>
                    <a:prstClr val="black"/>
                  </a:solidFill>
                  <a:latin typeface="Arial" panose="020B0604020202020204"/>
                  <a:ea typeface="宋体" panose="02010600030101010101" pitchFamily="2" charset="-122"/>
                </a:rPr>
                <a:t>write Y</a:t>
              </a:r>
            </a:p>
            <a:p>
              <a:pPr defTabSz="503972" rtl="0" fontAlgn="auto" hangingPunct="1">
                <a:lnSpc>
                  <a:spcPct val="100000"/>
                </a:lnSpc>
                <a:spcBef>
                  <a:spcPct val="0"/>
                </a:spcBef>
                <a:spcAft>
                  <a:spcPts val="0"/>
                </a:spcAft>
                <a:buClrTx/>
                <a:buSzTx/>
                <a:buNone/>
              </a:pPr>
              <a:r>
                <a:rPr lang="en-US" altLang="zh-CN" sz="2646">
                  <a:solidFill>
                    <a:prstClr val="black"/>
                  </a:solidFill>
                  <a:latin typeface="Arial" panose="020B0604020202020204"/>
                  <a:ea typeface="宋体" panose="02010600030101010101" pitchFamily="2" charset="-122"/>
                </a:rPr>
                <a:t>(9) halt</a:t>
              </a:r>
            </a:p>
          </p:txBody>
        </p:sp>
        <p:sp>
          <p:nvSpPr>
            <p:cNvPr id="34" name="Rectangle 29"/>
            <p:cNvSpPr>
              <a:spLocks noChangeArrowheads="1"/>
            </p:cNvSpPr>
            <p:nvPr/>
          </p:nvSpPr>
          <p:spPr bwMode="auto">
            <a:xfrm>
              <a:off x="4592466" y="4782597"/>
              <a:ext cx="1733550" cy="1224000"/>
            </a:xfrm>
            <a:prstGeom prst="rect">
              <a:avLst/>
            </a:prstGeom>
            <a:ln w="28575">
              <a:headEnd/>
              <a:tailEnd/>
            </a:ln>
          </p:spPr>
          <p:style>
            <a:lnRef idx="2">
              <a:schemeClr val="accent4"/>
            </a:lnRef>
            <a:fillRef idx="1">
              <a:schemeClr val="lt1"/>
            </a:fillRef>
            <a:effectRef idx="0">
              <a:schemeClr val="accent4"/>
            </a:effectRef>
            <a:fontRef idx="minor">
              <a:schemeClr val="dk1"/>
            </a:fontRef>
          </p:style>
          <p:txBody>
            <a:bodyPr anchor="ctr" anchorCtr="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zh-CN" sz="2646">
                  <a:solidFill>
                    <a:prstClr val="black"/>
                  </a:solidFill>
                  <a:latin typeface="Arial" panose="020B0604020202020204"/>
                  <a:ea typeface="宋体" panose="02010600030101010101" pitchFamily="2" charset="-122"/>
                </a:rPr>
                <a:t>(5) </a:t>
              </a:r>
              <a:r>
                <a:rPr lang="en-US" altLang="zh-CN" sz="2646">
                  <a:solidFill>
                    <a:prstClr val="black"/>
                  </a:solidFill>
                  <a:latin typeface="Arial" panose="020B0604020202020204"/>
                  <a:ea typeface="宋体" panose="02010600030101010101" pitchFamily="2" charset="-122"/>
                </a:rPr>
                <a:t>X:=Y</a:t>
              </a:r>
            </a:p>
            <a:p>
              <a:pPr defTabSz="503972" rtl="0" fontAlgn="auto" hangingPunct="1">
                <a:lnSpc>
                  <a:spcPct val="100000"/>
                </a:lnSpc>
                <a:spcBef>
                  <a:spcPct val="0"/>
                </a:spcBef>
                <a:spcAft>
                  <a:spcPts val="0"/>
                </a:spcAft>
                <a:buClrTx/>
                <a:buSzTx/>
                <a:buNone/>
              </a:pPr>
              <a:r>
                <a:rPr lang="en-US" altLang="zh-CN" sz="2646">
                  <a:solidFill>
                    <a:prstClr val="black"/>
                  </a:solidFill>
                  <a:latin typeface="Arial" panose="020B0604020202020204"/>
                  <a:ea typeface="宋体" panose="02010600030101010101" pitchFamily="2" charset="-122"/>
                </a:rPr>
                <a:t>(6) Y:=R</a:t>
              </a:r>
            </a:p>
            <a:p>
              <a:pPr defTabSz="503972" rtl="0" fontAlgn="auto" hangingPunct="1">
                <a:lnSpc>
                  <a:spcPct val="100000"/>
                </a:lnSpc>
                <a:spcBef>
                  <a:spcPct val="0"/>
                </a:spcBef>
                <a:spcAft>
                  <a:spcPts val="0"/>
                </a:spcAft>
                <a:buClrTx/>
                <a:buSzTx/>
                <a:buNone/>
              </a:pPr>
              <a:r>
                <a:rPr lang="en-US" altLang="zh-CN" sz="2646">
                  <a:solidFill>
                    <a:prstClr val="black"/>
                  </a:solidFill>
                  <a:latin typeface="Arial" panose="020B0604020202020204"/>
                  <a:ea typeface="宋体" panose="02010600030101010101" pitchFamily="2" charset="-122"/>
                </a:rPr>
                <a:t>(7) goto (3)</a:t>
              </a:r>
            </a:p>
          </p:txBody>
        </p:sp>
        <p:sp>
          <p:nvSpPr>
            <p:cNvPr id="35" name="Rectangle 30"/>
            <p:cNvSpPr>
              <a:spLocks noChangeArrowheads="1"/>
            </p:cNvSpPr>
            <p:nvPr/>
          </p:nvSpPr>
          <p:spPr bwMode="auto">
            <a:xfrm>
              <a:off x="5216544" y="3326415"/>
              <a:ext cx="2704338" cy="762762"/>
            </a:xfrm>
            <a:prstGeom prst="rect">
              <a:avLst/>
            </a:prstGeom>
            <a:ln w="28575">
              <a:headEnd/>
              <a:tailEnd/>
            </a:ln>
          </p:spPr>
          <p:style>
            <a:lnRef idx="2">
              <a:schemeClr val="accent4"/>
            </a:lnRef>
            <a:fillRef idx="1">
              <a:schemeClr val="lt1"/>
            </a:fillRef>
            <a:effectRef idx="0">
              <a:schemeClr val="accent4"/>
            </a:effectRef>
            <a:fontRef idx="minor">
              <a:schemeClr val="dk1"/>
            </a:fontRef>
          </p:style>
          <p:txBody>
            <a:bodyPr anchor="ctr" anchorCtr="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zh-CN" sz="2646">
                  <a:solidFill>
                    <a:prstClr val="black"/>
                  </a:solidFill>
                  <a:latin typeface="Arial" panose="020B0604020202020204"/>
                  <a:ea typeface="宋体" panose="02010600030101010101" pitchFamily="2" charset="-122"/>
                </a:rPr>
                <a:t>(3)  </a:t>
              </a:r>
              <a:r>
                <a:rPr lang="en-US" altLang="zh-CN" sz="2646">
                  <a:solidFill>
                    <a:prstClr val="black"/>
                  </a:solidFill>
                  <a:latin typeface="Arial" panose="020B0604020202020204"/>
                  <a:ea typeface="宋体" panose="02010600030101010101" pitchFamily="2" charset="-122"/>
                </a:rPr>
                <a:t>R:=X mod Y</a:t>
              </a:r>
            </a:p>
            <a:p>
              <a:pPr defTabSz="503972" rtl="0" fontAlgn="auto" hangingPunct="1">
                <a:lnSpc>
                  <a:spcPct val="100000"/>
                </a:lnSpc>
                <a:spcBef>
                  <a:spcPct val="0"/>
                </a:spcBef>
                <a:spcAft>
                  <a:spcPts val="0"/>
                </a:spcAft>
                <a:buClrTx/>
                <a:buSzTx/>
                <a:buNone/>
              </a:pPr>
              <a:r>
                <a:rPr lang="en-US" altLang="zh-CN" sz="2646">
                  <a:solidFill>
                    <a:prstClr val="black"/>
                  </a:solidFill>
                  <a:latin typeface="Arial" panose="020B0604020202020204"/>
                  <a:ea typeface="宋体" panose="02010600030101010101" pitchFamily="2" charset="-122"/>
                </a:rPr>
                <a:t>(4)  if  R=0 goto (8)</a:t>
              </a:r>
            </a:p>
          </p:txBody>
        </p:sp>
        <p:sp>
          <p:nvSpPr>
            <p:cNvPr id="36" name="Rectangle 31"/>
            <p:cNvSpPr>
              <a:spLocks noChangeArrowheads="1"/>
            </p:cNvSpPr>
            <p:nvPr/>
          </p:nvSpPr>
          <p:spPr bwMode="auto">
            <a:xfrm>
              <a:off x="5216544" y="2147601"/>
              <a:ext cx="2634996" cy="762762"/>
            </a:xfrm>
            <a:prstGeom prst="rect">
              <a:avLst/>
            </a:prstGeom>
            <a:ln w="28575">
              <a:headEnd/>
              <a:tailEnd/>
            </a:ln>
          </p:spPr>
          <p:style>
            <a:lnRef idx="2">
              <a:schemeClr val="accent4"/>
            </a:lnRef>
            <a:fillRef idx="1">
              <a:schemeClr val="lt1"/>
            </a:fillRef>
            <a:effectRef idx="0">
              <a:schemeClr val="accent4"/>
            </a:effectRef>
            <a:fontRef idx="minor">
              <a:schemeClr val="dk1"/>
            </a:fontRef>
          </p:style>
          <p:txBody>
            <a:bodyPr anchor="ctr" anchorCtr="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2646" dirty="0">
                  <a:solidFill>
                    <a:prstClr val="black"/>
                  </a:solidFill>
                  <a:latin typeface="Arial" panose="020B0604020202020204"/>
                  <a:ea typeface="宋体" panose="02010600030101010101" pitchFamily="2" charset="-122"/>
                </a:rPr>
                <a:t>(1)  </a:t>
              </a:r>
              <a:r>
                <a:rPr lang="en-US" altLang="zh-CN" sz="2646" dirty="0">
                  <a:solidFill>
                    <a:prstClr val="black"/>
                  </a:solidFill>
                  <a:latin typeface="Arial" panose="020B0604020202020204"/>
                  <a:ea typeface="宋体" panose="02010600030101010101" pitchFamily="2" charset="-122"/>
                </a:rPr>
                <a:t>read X</a:t>
              </a:r>
            </a:p>
            <a:p>
              <a:pPr defTabSz="503972" rtl="0" fontAlgn="auto" hangingPunct="1">
                <a:lnSpc>
                  <a:spcPct val="100000"/>
                </a:lnSpc>
                <a:spcBef>
                  <a:spcPct val="0"/>
                </a:spcBef>
                <a:spcAft>
                  <a:spcPts val="0"/>
                </a:spcAft>
                <a:buClrTx/>
                <a:buSzTx/>
                <a:buNone/>
              </a:pPr>
              <a:r>
                <a:rPr lang="en-US" altLang="zh-CN" sz="2646" dirty="0">
                  <a:solidFill>
                    <a:prstClr val="black"/>
                  </a:solidFill>
                  <a:latin typeface="Arial" panose="020B0604020202020204"/>
                  <a:ea typeface="宋体" panose="02010600030101010101" pitchFamily="2" charset="-122"/>
                </a:rPr>
                <a:t>(2)  read Y</a:t>
              </a:r>
            </a:p>
          </p:txBody>
        </p:sp>
        <p:sp>
          <p:nvSpPr>
            <p:cNvPr id="37" name="Text Box 32"/>
            <p:cNvSpPr txBox="1">
              <a:spLocks noChangeArrowheads="1"/>
            </p:cNvSpPr>
            <p:nvPr/>
          </p:nvSpPr>
          <p:spPr bwMode="auto">
            <a:xfrm>
              <a:off x="7851541" y="2320956"/>
              <a:ext cx="569182" cy="45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US" altLang="zh-CN" sz="2646" dirty="0">
                  <a:solidFill>
                    <a:prstClr val="black"/>
                  </a:solidFill>
                  <a:latin typeface="Arial" panose="020B0604020202020204"/>
                  <a:ea typeface="宋体" panose="02010600030101010101" pitchFamily="2" charset="-122"/>
                </a:rPr>
                <a:t>B</a:t>
              </a:r>
              <a:r>
                <a:rPr lang="en-US" altLang="zh-CN" sz="2646" baseline="-16000" dirty="0">
                  <a:solidFill>
                    <a:prstClr val="black"/>
                  </a:solidFill>
                  <a:latin typeface="Arial" panose="020B0604020202020204"/>
                  <a:ea typeface="宋体" panose="02010600030101010101" pitchFamily="2" charset="-122"/>
                </a:rPr>
                <a:t>1</a:t>
              </a:r>
              <a:endParaRPr lang="en-US" altLang="zh-CN" sz="2646" dirty="0">
                <a:solidFill>
                  <a:prstClr val="black"/>
                </a:solidFill>
                <a:latin typeface="Arial" panose="020B0604020202020204"/>
                <a:ea typeface="宋体" panose="02010600030101010101" pitchFamily="2" charset="-122"/>
              </a:endParaRPr>
            </a:p>
          </p:txBody>
        </p:sp>
        <p:sp>
          <p:nvSpPr>
            <p:cNvPr id="38" name="Text Box 33"/>
            <p:cNvSpPr txBox="1">
              <a:spLocks noChangeArrowheads="1"/>
            </p:cNvSpPr>
            <p:nvPr/>
          </p:nvSpPr>
          <p:spPr bwMode="auto">
            <a:xfrm>
              <a:off x="7920883" y="3499770"/>
              <a:ext cx="569182" cy="45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US" altLang="zh-CN" sz="2646" dirty="0">
                  <a:solidFill>
                    <a:prstClr val="black"/>
                  </a:solidFill>
                  <a:latin typeface="Arial" panose="020B0604020202020204"/>
                  <a:ea typeface="宋体" panose="02010600030101010101" pitchFamily="2" charset="-122"/>
                </a:rPr>
                <a:t>B</a:t>
              </a:r>
              <a:r>
                <a:rPr lang="en-US" altLang="zh-CN" sz="2646" baseline="-16000" dirty="0">
                  <a:solidFill>
                    <a:prstClr val="black"/>
                  </a:solidFill>
                  <a:latin typeface="Arial" panose="020B0604020202020204"/>
                  <a:ea typeface="宋体" panose="02010600030101010101" pitchFamily="2" charset="-122"/>
                </a:rPr>
                <a:t>2</a:t>
              </a:r>
              <a:endParaRPr lang="en-US" altLang="zh-CN" sz="2646" dirty="0">
                <a:solidFill>
                  <a:prstClr val="black"/>
                </a:solidFill>
                <a:latin typeface="Arial" panose="020B0604020202020204"/>
                <a:ea typeface="宋体" panose="02010600030101010101" pitchFamily="2" charset="-122"/>
              </a:endParaRPr>
            </a:p>
          </p:txBody>
        </p:sp>
        <p:sp>
          <p:nvSpPr>
            <p:cNvPr id="39" name="Text Box 34"/>
            <p:cNvSpPr txBox="1">
              <a:spLocks noChangeArrowheads="1"/>
            </p:cNvSpPr>
            <p:nvPr/>
          </p:nvSpPr>
          <p:spPr bwMode="auto">
            <a:xfrm>
              <a:off x="4723927" y="4379478"/>
              <a:ext cx="569182" cy="45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US" altLang="zh-CN" sz="2646" dirty="0">
                  <a:solidFill>
                    <a:prstClr val="black"/>
                  </a:solidFill>
                  <a:latin typeface="Arial" panose="020B0604020202020204"/>
                  <a:ea typeface="宋体" panose="02010600030101010101" pitchFamily="2" charset="-122"/>
                </a:rPr>
                <a:t>B</a:t>
              </a:r>
              <a:r>
                <a:rPr lang="en-US" altLang="zh-CN" sz="2646" baseline="-16000" dirty="0">
                  <a:solidFill>
                    <a:prstClr val="black"/>
                  </a:solidFill>
                  <a:latin typeface="Arial" panose="020B0604020202020204"/>
                  <a:ea typeface="宋体" panose="02010600030101010101" pitchFamily="2" charset="-122"/>
                </a:rPr>
                <a:t>3</a:t>
              </a:r>
              <a:endParaRPr lang="en-US" altLang="zh-CN" sz="2646" dirty="0">
                <a:solidFill>
                  <a:prstClr val="black"/>
                </a:solidFill>
                <a:latin typeface="Arial" panose="020B0604020202020204"/>
                <a:ea typeface="宋体" panose="02010600030101010101" pitchFamily="2" charset="-122"/>
              </a:endParaRPr>
            </a:p>
          </p:txBody>
        </p:sp>
        <p:sp>
          <p:nvSpPr>
            <p:cNvPr id="40" name="Text Box 35"/>
            <p:cNvSpPr txBox="1">
              <a:spLocks noChangeArrowheads="1"/>
            </p:cNvSpPr>
            <p:nvPr/>
          </p:nvSpPr>
          <p:spPr bwMode="auto">
            <a:xfrm>
              <a:off x="7774974" y="4574571"/>
              <a:ext cx="569182" cy="45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US" altLang="zh-CN" sz="2646" dirty="0">
                  <a:solidFill>
                    <a:prstClr val="black"/>
                  </a:solidFill>
                  <a:latin typeface="Arial" panose="020B0604020202020204"/>
                  <a:ea typeface="宋体" panose="02010600030101010101" pitchFamily="2" charset="-122"/>
                </a:rPr>
                <a:t>B</a:t>
              </a:r>
              <a:r>
                <a:rPr lang="en-US" altLang="zh-CN" sz="2646" baseline="-16000" dirty="0">
                  <a:solidFill>
                    <a:prstClr val="black"/>
                  </a:solidFill>
                  <a:latin typeface="Arial" panose="020B0604020202020204"/>
                  <a:ea typeface="宋体" panose="02010600030101010101" pitchFamily="2" charset="-122"/>
                </a:rPr>
                <a:t>4</a:t>
              </a:r>
              <a:endParaRPr lang="en-US" altLang="zh-CN" sz="2646" dirty="0">
                <a:solidFill>
                  <a:prstClr val="black"/>
                </a:solidFill>
                <a:latin typeface="Arial" panose="020B0604020202020204"/>
                <a:ea typeface="宋体" panose="02010600030101010101" pitchFamily="2" charset="-122"/>
              </a:endParaRPr>
            </a:p>
          </p:txBody>
        </p:sp>
        <p:sp>
          <p:nvSpPr>
            <p:cNvPr id="41" name="Line 36"/>
            <p:cNvSpPr>
              <a:spLocks noChangeShapeType="1"/>
            </p:cNvSpPr>
            <p:nvPr/>
          </p:nvSpPr>
          <p:spPr bwMode="auto">
            <a:xfrm>
              <a:off x="6464701" y="1592865"/>
              <a:ext cx="0" cy="554736"/>
            </a:xfrm>
            <a:prstGeom prst="line">
              <a:avLst/>
            </a:prstGeom>
            <a:ln>
              <a:headEnd type="none" w="sm" len="sm"/>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sz="2646">
                <a:solidFill>
                  <a:prstClr val="black"/>
                </a:solidFill>
              </a:endParaRPr>
            </a:p>
          </p:txBody>
        </p:sp>
        <p:sp>
          <p:nvSpPr>
            <p:cNvPr id="42" name="Line 37"/>
            <p:cNvSpPr>
              <a:spLocks noChangeShapeType="1"/>
            </p:cNvSpPr>
            <p:nvPr/>
          </p:nvSpPr>
          <p:spPr bwMode="auto">
            <a:xfrm flipH="1">
              <a:off x="5424571" y="4089177"/>
              <a:ext cx="901446" cy="693420"/>
            </a:xfrm>
            <a:prstGeom prst="line">
              <a:avLst/>
            </a:prstGeom>
            <a:ln>
              <a:headEnd type="none" w="sm" len="sm"/>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sz="2646">
                <a:solidFill>
                  <a:prstClr val="black"/>
                </a:solidFill>
              </a:endParaRPr>
            </a:p>
          </p:txBody>
        </p:sp>
        <p:sp>
          <p:nvSpPr>
            <p:cNvPr id="43" name="Line 38"/>
            <p:cNvSpPr>
              <a:spLocks noChangeShapeType="1"/>
            </p:cNvSpPr>
            <p:nvPr/>
          </p:nvSpPr>
          <p:spPr bwMode="auto">
            <a:xfrm>
              <a:off x="6742069" y="4089177"/>
              <a:ext cx="901446" cy="901446"/>
            </a:xfrm>
            <a:prstGeom prst="line">
              <a:avLst/>
            </a:prstGeom>
            <a:ln>
              <a:headEnd type="none" w="sm" len="sm"/>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sz="2646">
                <a:solidFill>
                  <a:prstClr val="black"/>
                </a:solidFill>
              </a:endParaRPr>
            </a:p>
          </p:txBody>
        </p:sp>
        <p:sp>
          <p:nvSpPr>
            <p:cNvPr id="44" name="Line 39"/>
            <p:cNvSpPr>
              <a:spLocks noChangeShapeType="1"/>
            </p:cNvSpPr>
            <p:nvPr/>
          </p:nvSpPr>
          <p:spPr bwMode="auto">
            <a:xfrm>
              <a:off x="6464701" y="2910363"/>
              <a:ext cx="0" cy="416052"/>
            </a:xfrm>
            <a:prstGeom prst="line">
              <a:avLst/>
            </a:prstGeom>
            <a:ln>
              <a:headEnd type="none" w="sm" len="sm"/>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sz="2646">
                <a:solidFill>
                  <a:prstClr val="black"/>
                </a:solidFill>
              </a:endParaRPr>
            </a:p>
          </p:txBody>
        </p:sp>
        <p:sp>
          <p:nvSpPr>
            <p:cNvPr id="45" name="Freeform 40"/>
            <p:cNvSpPr>
              <a:spLocks/>
            </p:cNvSpPr>
            <p:nvPr/>
          </p:nvSpPr>
          <p:spPr bwMode="auto">
            <a:xfrm>
              <a:off x="4348712" y="3014002"/>
              <a:ext cx="1561253" cy="3384000"/>
            </a:xfrm>
            <a:custGeom>
              <a:avLst/>
              <a:gdLst>
                <a:gd name="T0" fmla="*/ 960 w 1248"/>
                <a:gd name="T1" fmla="*/ 2289 h 2256"/>
                <a:gd name="T2" fmla="*/ 960 w 1248"/>
                <a:gd name="T3" fmla="*/ 2559 h 2256"/>
                <a:gd name="T4" fmla="*/ 0 w 1248"/>
                <a:gd name="T5" fmla="*/ 2559 h 2256"/>
                <a:gd name="T6" fmla="*/ 0 w 1248"/>
                <a:gd name="T7" fmla="*/ 0 h 2256"/>
                <a:gd name="T8" fmla="*/ 1248 w 1248"/>
                <a:gd name="T9" fmla="*/ 0 h 2256"/>
                <a:gd name="T10" fmla="*/ 1248 w 1248"/>
                <a:gd name="T11" fmla="*/ 217 h 2256"/>
                <a:gd name="T12" fmla="*/ 0 60000 65536"/>
                <a:gd name="T13" fmla="*/ 0 60000 65536"/>
                <a:gd name="T14" fmla="*/ 0 60000 65536"/>
                <a:gd name="T15" fmla="*/ 0 60000 65536"/>
                <a:gd name="T16" fmla="*/ 0 60000 65536"/>
                <a:gd name="T17" fmla="*/ 0 60000 65536"/>
                <a:gd name="T18" fmla="*/ 0 w 1248"/>
                <a:gd name="T19" fmla="*/ 0 h 2256"/>
                <a:gd name="T20" fmla="*/ 1248 w 1248"/>
                <a:gd name="T21" fmla="*/ 2256 h 2256"/>
              </a:gdLst>
              <a:ahLst/>
              <a:cxnLst>
                <a:cxn ang="T12">
                  <a:pos x="T0" y="T1"/>
                </a:cxn>
                <a:cxn ang="T13">
                  <a:pos x="T2" y="T3"/>
                </a:cxn>
                <a:cxn ang="T14">
                  <a:pos x="T4" y="T5"/>
                </a:cxn>
                <a:cxn ang="T15">
                  <a:pos x="T6" y="T7"/>
                </a:cxn>
                <a:cxn ang="T16">
                  <a:pos x="T8" y="T9"/>
                </a:cxn>
                <a:cxn ang="T17">
                  <a:pos x="T10" y="T11"/>
                </a:cxn>
              </a:cxnLst>
              <a:rect l="T18" t="T19" r="T20" b="T21"/>
              <a:pathLst>
                <a:path w="1248" h="2256">
                  <a:moveTo>
                    <a:pt x="960" y="2016"/>
                  </a:moveTo>
                  <a:lnTo>
                    <a:pt x="960" y="2256"/>
                  </a:lnTo>
                  <a:lnTo>
                    <a:pt x="0" y="2256"/>
                  </a:lnTo>
                  <a:lnTo>
                    <a:pt x="0" y="0"/>
                  </a:lnTo>
                  <a:lnTo>
                    <a:pt x="1248" y="0"/>
                  </a:lnTo>
                  <a:lnTo>
                    <a:pt x="1248" y="192"/>
                  </a:lnTo>
                </a:path>
              </a:pathLst>
            </a:custGeom>
            <a:ln>
              <a:headEnd type="none" w="sm" len="sm"/>
              <a:tailEnd type="stealth" w="lg" len="lg"/>
            </a:ln>
          </p:spPr>
          <p:style>
            <a:lnRef idx="3">
              <a:schemeClr val="accent1"/>
            </a:lnRef>
            <a:fillRef idx="0">
              <a:schemeClr val="accent1"/>
            </a:fillRef>
            <a:effectRef idx="2">
              <a:schemeClr val="accent1"/>
            </a:effectRef>
            <a:fontRef idx="minor">
              <a:schemeClr val="tx1"/>
            </a:fontRef>
          </p:style>
          <p:txBody>
            <a:bodyPr wrap="none" anchor="ctr"/>
            <a:lstStyle/>
            <a:p>
              <a:pPr defTabSz="503972" rtl="0" fontAlgn="auto" hangingPunct="1">
                <a:lnSpc>
                  <a:spcPct val="100000"/>
                </a:lnSpc>
                <a:spcBef>
                  <a:spcPts val="0"/>
                </a:spcBef>
                <a:spcAft>
                  <a:spcPts val="0"/>
                </a:spcAft>
                <a:buSzTx/>
              </a:pPr>
              <a:endParaRPr lang="zh-CN" altLang="en-US" sz="2646">
                <a:solidFill>
                  <a:prstClr val="black"/>
                </a:solidFill>
              </a:endParaRPr>
            </a:p>
          </p:txBody>
        </p:sp>
      </p:grpSp>
      <p:pic>
        <p:nvPicPr>
          <p:cNvPr id="46" name="图片 45"/>
          <p:cNvPicPr>
            <a:picLocks noChangeAspect="1"/>
          </p:cNvPicPr>
          <p:nvPr/>
        </p:nvPicPr>
        <p:blipFill>
          <a:blip r:embed="rId3"/>
          <a:stretch>
            <a:fillRect/>
          </a:stretch>
        </p:blipFill>
        <p:spPr>
          <a:xfrm>
            <a:off x="681057" y="2747813"/>
            <a:ext cx="3663635" cy="4420072"/>
          </a:xfrm>
          <a:prstGeom prst="rect">
            <a:avLst/>
          </a:prstGeom>
        </p:spPr>
      </p:pic>
    </p:spTree>
    <p:extLst>
      <p:ext uri="{BB962C8B-B14F-4D97-AF65-F5344CB8AC3E}">
        <p14:creationId xmlns:p14="http://schemas.microsoft.com/office/powerpoint/2010/main" val="3051900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wipe(left)">
                                      <p:cBhvr>
                                        <p:cTn id="7" dur="500"/>
                                        <p:tgtEl>
                                          <p:spTgt spid="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up)">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局部优化</a:t>
            </a:r>
          </a:p>
        </p:txBody>
      </p:sp>
      <p:sp>
        <p:nvSpPr>
          <p:cNvPr id="3" name="内容占位符 2"/>
          <p:cNvSpPr>
            <a:spLocks noGrp="1"/>
          </p:cNvSpPr>
          <p:nvPr>
            <p:ph idx="1"/>
          </p:nvPr>
        </p:nvSpPr>
        <p:spPr/>
        <p:txBody>
          <a:bodyPr>
            <a:normAutofit lnSpcReduction="10000"/>
          </a:bodyPr>
          <a:lstStyle/>
          <a:p>
            <a:r>
              <a:rPr lang="zh-CN" altLang="en-US" dirty="0"/>
              <a:t>局限于基本块范围内的优化成为</a:t>
            </a:r>
            <a:r>
              <a:rPr lang="zh-CN" altLang="en-US" dirty="0">
                <a:solidFill>
                  <a:srgbClr val="C00000"/>
                </a:solidFill>
              </a:rPr>
              <a:t>基本块内的优化</a:t>
            </a:r>
            <a:r>
              <a:rPr lang="zh-CN" altLang="en-US" dirty="0"/>
              <a:t>，或称</a:t>
            </a:r>
            <a:r>
              <a:rPr lang="zh-CN" altLang="en-US" dirty="0">
                <a:solidFill>
                  <a:srgbClr val="C00000"/>
                </a:solidFill>
              </a:rPr>
              <a:t>局部优化</a:t>
            </a:r>
            <a:endParaRPr lang="en-US" altLang="zh-CN" dirty="0">
              <a:solidFill>
                <a:srgbClr val="C00000"/>
              </a:solidFill>
            </a:endParaRPr>
          </a:p>
          <a:p>
            <a:r>
              <a:rPr lang="zh-CN" altLang="en-US" dirty="0"/>
              <a:t>在一个基本块内通常可以实行下面的优化</a:t>
            </a:r>
            <a:endParaRPr lang="en-US" altLang="zh-CN" dirty="0"/>
          </a:p>
          <a:p>
            <a:pPr lvl="1"/>
            <a:r>
              <a:rPr lang="zh-CN" altLang="en-US" dirty="0"/>
              <a:t>删除公共子表达式</a:t>
            </a:r>
            <a:endParaRPr lang="en-US" altLang="zh-CN" dirty="0"/>
          </a:p>
          <a:p>
            <a:pPr lvl="1"/>
            <a:r>
              <a:rPr lang="zh-CN" altLang="en-US" dirty="0"/>
              <a:t>删除无用的赋值</a:t>
            </a:r>
            <a:endParaRPr lang="en-US" altLang="zh-CN" dirty="0"/>
          </a:p>
          <a:p>
            <a:pPr lvl="1"/>
            <a:r>
              <a:rPr lang="zh-CN" altLang="en-US" dirty="0"/>
              <a:t>合并已知量</a:t>
            </a:r>
            <a:endParaRPr lang="en-US" altLang="zh-CN" dirty="0"/>
          </a:p>
          <a:p>
            <a:pPr lvl="1"/>
            <a:r>
              <a:rPr lang="zh-CN" altLang="en-US" dirty="0"/>
              <a:t>临时变量改名</a:t>
            </a:r>
            <a:endParaRPr lang="en-US" altLang="zh-CN" dirty="0"/>
          </a:p>
          <a:p>
            <a:pPr lvl="1"/>
            <a:r>
              <a:rPr lang="zh-CN" altLang="en-US" dirty="0"/>
              <a:t>交换语句的位置</a:t>
            </a:r>
            <a:endParaRPr lang="en-US" altLang="zh-CN" dirty="0"/>
          </a:p>
          <a:p>
            <a:pPr lvl="1"/>
            <a:r>
              <a:rPr lang="zh-CN" altLang="en-US" dirty="0"/>
              <a:t>代数变换</a:t>
            </a:r>
          </a:p>
        </p:txBody>
      </p:sp>
    </p:spTree>
    <p:extLst>
      <p:ext uri="{BB962C8B-B14F-4D97-AF65-F5344CB8AC3E}">
        <p14:creationId xmlns:p14="http://schemas.microsoft.com/office/powerpoint/2010/main" val="12150300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5" name="Rectangle 4"/>
          <p:cNvSpPr>
            <a:spLocks noGrp="1" noChangeArrowheads="1"/>
          </p:cNvSpPr>
          <p:nvPr>
            <p:ph type="title"/>
          </p:nvPr>
        </p:nvSpPr>
        <p:spPr/>
        <p:txBody>
          <a:bodyPr>
            <a:normAutofit/>
          </a:bodyPr>
          <a:lstStyle/>
          <a:p>
            <a:r>
              <a:rPr lang="zh-CN" altLang="zh-CN" dirty="0"/>
              <a:t>有向无环图</a:t>
            </a:r>
            <a:r>
              <a:rPr lang="zh-CN" altLang="en-US" dirty="0"/>
              <a:t>(</a:t>
            </a:r>
            <a:r>
              <a:rPr lang="en-US" altLang="zh-CN" dirty="0"/>
              <a:t>DAG)</a:t>
            </a:r>
            <a:endParaRPr lang="zh-CN" altLang="en-US" dirty="0"/>
          </a:p>
        </p:txBody>
      </p:sp>
      <p:sp>
        <p:nvSpPr>
          <p:cNvPr id="199685" name="Rectangle 5"/>
          <p:cNvSpPr>
            <a:spLocks noGrp="1" noChangeArrowheads="1"/>
          </p:cNvSpPr>
          <p:nvPr>
            <p:ph idx="1"/>
          </p:nvPr>
        </p:nvSpPr>
        <p:spPr/>
        <p:txBody>
          <a:bodyPr>
            <a:normAutofit lnSpcReduction="10000"/>
          </a:bodyPr>
          <a:lstStyle/>
          <a:p>
            <a:r>
              <a:rPr lang="zh-CN" altLang="zh-CN" dirty="0"/>
              <a:t>有向图</a:t>
            </a:r>
            <a:r>
              <a:rPr lang="zh-CN" altLang="en-US" dirty="0"/>
              <a:t>(</a:t>
            </a:r>
            <a:r>
              <a:rPr lang="en-US" altLang="zh-CN" dirty="0"/>
              <a:t>Directed Graph)</a:t>
            </a:r>
          </a:p>
          <a:p>
            <a:pPr lvl="1"/>
            <a:r>
              <a:rPr lang="zh-CN" altLang="en-US" dirty="0"/>
              <a:t>有向边:  </a:t>
            </a:r>
            <a:r>
              <a:rPr lang="en-US" altLang="en-US" dirty="0" err="1"/>
              <a:t>n</a:t>
            </a:r>
            <a:r>
              <a:rPr lang="en-US" altLang="en-US" baseline="-25000" dirty="0" err="1"/>
              <a:t>i</a:t>
            </a:r>
            <a:r>
              <a:rPr lang="en-US" altLang="en-US" dirty="0" err="1">
                <a:sym typeface="Symbol" panose="05050102010706020507" pitchFamily="18" charset="2"/>
              </a:rPr>
              <a:t></a:t>
            </a:r>
            <a:r>
              <a:rPr lang="en-US" altLang="en-US" dirty="0" err="1"/>
              <a:t>n</a:t>
            </a:r>
            <a:r>
              <a:rPr lang="en-US" altLang="en-US" baseline="-25000" dirty="0" err="1"/>
              <a:t>j</a:t>
            </a:r>
            <a:endParaRPr lang="en-US" altLang="zh-CN" dirty="0"/>
          </a:p>
          <a:p>
            <a:pPr lvl="1"/>
            <a:r>
              <a:rPr lang="zh-CN" altLang="en-US" dirty="0"/>
              <a:t>前驱：</a:t>
            </a:r>
            <a:r>
              <a:rPr lang="en-US" altLang="en-US" dirty="0" err="1"/>
              <a:t>n</a:t>
            </a:r>
            <a:r>
              <a:rPr lang="en-US" altLang="en-US" baseline="-25000" dirty="0" err="1"/>
              <a:t>i</a:t>
            </a:r>
            <a:r>
              <a:rPr lang="zh-CN" altLang="en-US" dirty="0">
                <a:sym typeface="Symbol" panose="05050102010706020507" pitchFamily="18" charset="2"/>
              </a:rPr>
              <a:t>是</a:t>
            </a:r>
            <a:r>
              <a:rPr lang="en-US" altLang="en-US" dirty="0" err="1"/>
              <a:t>n</a:t>
            </a:r>
            <a:r>
              <a:rPr lang="en-US" altLang="en-US" baseline="-25000" dirty="0" err="1"/>
              <a:t>j</a:t>
            </a:r>
            <a:r>
              <a:rPr lang="zh-CN" altLang="en-US" dirty="0"/>
              <a:t>的前驱</a:t>
            </a:r>
          </a:p>
          <a:p>
            <a:pPr lvl="1"/>
            <a:r>
              <a:rPr lang="zh-CN" altLang="en-US" dirty="0"/>
              <a:t>后继： </a:t>
            </a:r>
            <a:r>
              <a:rPr lang="en-US" altLang="en-US" dirty="0" err="1"/>
              <a:t>n</a:t>
            </a:r>
            <a:r>
              <a:rPr lang="en-US" altLang="en-US" baseline="-25000" dirty="0" err="1"/>
              <a:t>j</a:t>
            </a:r>
            <a:r>
              <a:rPr lang="zh-CN" altLang="en-US" dirty="0">
                <a:sym typeface="Symbol" panose="05050102010706020507" pitchFamily="18" charset="2"/>
              </a:rPr>
              <a:t>是</a:t>
            </a:r>
            <a:r>
              <a:rPr lang="en-US" altLang="en-US" dirty="0" err="1"/>
              <a:t>n</a:t>
            </a:r>
            <a:r>
              <a:rPr lang="en-US" altLang="en-US" baseline="-25000" dirty="0" err="1"/>
              <a:t>i</a:t>
            </a:r>
            <a:r>
              <a:rPr lang="zh-CN" altLang="en-US" dirty="0"/>
              <a:t>的后继</a:t>
            </a:r>
          </a:p>
          <a:p>
            <a:pPr lvl="1"/>
            <a:r>
              <a:rPr lang="zh-CN" altLang="en-US" dirty="0"/>
              <a:t>通路: </a:t>
            </a:r>
            <a:r>
              <a:rPr lang="en-US" altLang="en-US" dirty="0"/>
              <a:t>n</a:t>
            </a:r>
            <a:r>
              <a:rPr lang="en-US" altLang="en-US" baseline="-25000" dirty="0"/>
              <a:t>1</a:t>
            </a:r>
            <a:r>
              <a:rPr lang="en-US" altLang="en-US" dirty="0">
                <a:sym typeface="Symbol" panose="05050102010706020507" pitchFamily="18" charset="2"/>
              </a:rPr>
              <a:t></a:t>
            </a:r>
            <a:r>
              <a:rPr lang="en-US" altLang="en-US" dirty="0"/>
              <a:t>n</a:t>
            </a:r>
            <a:r>
              <a:rPr lang="en-US" altLang="en-US" baseline="-25000" dirty="0"/>
              <a:t>2 </a:t>
            </a:r>
            <a:r>
              <a:rPr lang="en-US" altLang="en-US" dirty="0"/>
              <a:t>, n</a:t>
            </a:r>
            <a:r>
              <a:rPr lang="en-US" altLang="en-US" baseline="-25000" dirty="0"/>
              <a:t>2</a:t>
            </a:r>
            <a:r>
              <a:rPr lang="en-US" altLang="en-US" dirty="0">
                <a:sym typeface="Symbol" panose="05050102010706020507" pitchFamily="18" charset="2"/>
              </a:rPr>
              <a:t></a:t>
            </a:r>
            <a:r>
              <a:rPr lang="en-US" altLang="en-US" dirty="0"/>
              <a:t>n</a:t>
            </a:r>
            <a:r>
              <a:rPr lang="en-US" altLang="en-US" baseline="-25000" dirty="0"/>
              <a:t>3 </a:t>
            </a:r>
            <a:r>
              <a:rPr lang="en-US" altLang="en-US" dirty="0"/>
              <a:t>,... ,</a:t>
            </a:r>
            <a:r>
              <a:rPr lang="en-US" altLang="zh-CN" dirty="0"/>
              <a:t> </a:t>
            </a:r>
            <a:r>
              <a:rPr lang="en-US" altLang="en-US" dirty="0"/>
              <a:t>n</a:t>
            </a:r>
            <a:r>
              <a:rPr lang="en-US" altLang="en-US" baseline="-25000" dirty="0"/>
              <a:t>k-1</a:t>
            </a:r>
            <a:r>
              <a:rPr lang="en-US" altLang="en-US" dirty="0">
                <a:sym typeface="Symbol" panose="05050102010706020507" pitchFamily="18" charset="2"/>
              </a:rPr>
              <a:t></a:t>
            </a:r>
            <a:r>
              <a:rPr lang="en-US" altLang="en-US" dirty="0"/>
              <a:t>n</a:t>
            </a:r>
            <a:r>
              <a:rPr lang="en-US" altLang="en-US" baseline="-25000" dirty="0"/>
              <a:t>k</a:t>
            </a:r>
            <a:endParaRPr lang="zh-CN" altLang="en-US" dirty="0"/>
          </a:p>
          <a:p>
            <a:pPr lvl="1"/>
            <a:r>
              <a:rPr lang="zh-CN" altLang="en-US" dirty="0"/>
              <a:t>环路： </a:t>
            </a:r>
            <a:r>
              <a:rPr lang="en-US" altLang="en-US" dirty="0"/>
              <a:t>n</a:t>
            </a:r>
            <a:r>
              <a:rPr lang="en-US" altLang="en-US" baseline="-25000" dirty="0"/>
              <a:t>1</a:t>
            </a:r>
            <a:r>
              <a:rPr lang="en-US" altLang="en-US" dirty="0">
                <a:sym typeface="Symbol" panose="05050102010706020507" pitchFamily="18" charset="2"/>
              </a:rPr>
              <a:t>=</a:t>
            </a:r>
            <a:r>
              <a:rPr lang="en-US" altLang="en-US" dirty="0" err="1"/>
              <a:t>n</a:t>
            </a:r>
            <a:r>
              <a:rPr lang="en-US" altLang="en-US" baseline="-25000" dirty="0" err="1"/>
              <a:t>k</a:t>
            </a:r>
            <a:r>
              <a:rPr lang="en-US" altLang="en-US" baseline="-25000" dirty="0"/>
              <a:t> </a:t>
            </a:r>
            <a:endParaRPr lang="zh-CN" altLang="en-US" dirty="0"/>
          </a:p>
          <a:p>
            <a:r>
              <a:rPr lang="zh-CN" altLang="zh-CN" dirty="0"/>
              <a:t>有向无环图</a:t>
            </a:r>
            <a:r>
              <a:rPr lang="zh-CN" altLang="en-US" dirty="0"/>
              <a:t>(</a:t>
            </a:r>
            <a:r>
              <a:rPr lang="en-US" altLang="zh-CN" dirty="0"/>
              <a:t>Directed Acyclic Graph，</a:t>
            </a:r>
            <a:r>
              <a:rPr lang="zh-CN" altLang="en-US" dirty="0"/>
              <a:t>简称</a:t>
            </a:r>
            <a:r>
              <a:rPr lang="en-US" altLang="zh-CN" dirty="0"/>
              <a:t>DAG)</a:t>
            </a:r>
          </a:p>
          <a:p>
            <a:pPr lvl="1"/>
            <a:r>
              <a:rPr lang="zh-CN" altLang="en-US" dirty="0"/>
              <a:t>没有环路</a:t>
            </a:r>
            <a:endParaRPr lang="en-US" altLang="zh-CN" dirty="0"/>
          </a:p>
        </p:txBody>
      </p:sp>
    </p:spTree>
    <p:extLst>
      <p:ext uri="{BB962C8B-B14F-4D97-AF65-F5344CB8AC3E}">
        <p14:creationId xmlns:p14="http://schemas.microsoft.com/office/powerpoint/2010/main" val="2579379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9685">
                                            <p:txEl>
                                              <p:pRg st="0" end="0"/>
                                            </p:txEl>
                                          </p:spTgt>
                                        </p:tgtEl>
                                        <p:attrNameLst>
                                          <p:attrName>style.visibility</p:attrName>
                                        </p:attrNameLst>
                                      </p:cBhvr>
                                      <p:to>
                                        <p:strVal val="visible"/>
                                      </p:to>
                                    </p:set>
                                    <p:animEffect transition="in" filter="wipe(left)">
                                      <p:cBhvr>
                                        <p:cTn id="7" dur="500"/>
                                        <p:tgtEl>
                                          <p:spTgt spid="19968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99685">
                                            <p:txEl>
                                              <p:pRg st="1" end="1"/>
                                            </p:txEl>
                                          </p:spTgt>
                                        </p:tgtEl>
                                        <p:attrNameLst>
                                          <p:attrName>style.visibility</p:attrName>
                                        </p:attrNameLst>
                                      </p:cBhvr>
                                      <p:to>
                                        <p:strVal val="visible"/>
                                      </p:to>
                                    </p:set>
                                    <p:animEffect transition="in" filter="wipe(left)">
                                      <p:cBhvr>
                                        <p:cTn id="10" dur="500"/>
                                        <p:tgtEl>
                                          <p:spTgt spid="19968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9685">
                                            <p:txEl>
                                              <p:pRg st="2" end="2"/>
                                            </p:txEl>
                                          </p:spTgt>
                                        </p:tgtEl>
                                        <p:attrNameLst>
                                          <p:attrName>style.visibility</p:attrName>
                                        </p:attrNameLst>
                                      </p:cBhvr>
                                      <p:to>
                                        <p:strVal val="visible"/>
                                      </p:to>
                                    </p:set>
                                    <p:animEffect transition="in" filter="wipe(left)">
                                      <p:cBhvr>
                                        <p:cTn id="13" dur="500"/>
                                        <p:tgtEl>
                                          <p:spTgt spid="199685">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99685">
                                            <p:txEl>
                                              <p:pRg st="3" end="3"/>
                                            </p:txEl>
                                          </p:spTgt>
                                        </p:tgtEl>
                                        <p:attrNameLst>
                                          <p:attrName>style.visibility</p:attrName>
                                        </p:attrNameLst>
                                      </p:cBhvr>
                                      <p:to>
                                        <p:strVal val="visible"/>
                                      </p:to>
                                    </p:set>
                                    <p:animEffect transition="in" filter="wipe(left)">
                                      <p:cBhvr>
                                        <p:cTn id="16" dur="500"/>
                                        <p:tgtEl>
                                          <p:spTgt spid="199685">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99685">
                                            <p:txEl>
                                              <p:pRg st="4" end="4"/>
                                            </p:txEl>
                                          </p:spTgt>
                                        </p:tgtEl>
                                        <p:attrNameLst>
                                          <p:attrName>style.visibility</p:attrName>
                                        </p:attrNameLst>
                                      </p:cBhvr>
                                      <p:to>
                                        <p:strVal val="visible"/>
                                      </p:to>
                                    </p:set>
                                    <p:animEffect transition="in" filter="wipe(left)">
                                      <p:cBhvr>
                                        <p:cTn id="19" dur="500"/>
                                        <p:tgtEl>
                                          <p:spTgt spid="199685">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99685">
                                            <p:txEl>
                                              <p:pRg st="5" end="5"/>
                                            </p:txEl>
                                          </p:spTgt>
                                        </p:tgtEl>
                                        <p:attrNameLst>
                                          <p:attrName>style.visibility</p:attrName>
                                        </p:attrNameLst>
                                      </p:cBhvr>
                                      <p:to>
                                        <p:strVal val="visible"/>
                                      </p:to>
                                    </p:set>
                                    <p:animEffect transition="in" filter="wipe(left)">
                                      <p:cBhvr>
                                        <p:cTn id="22" dur="500"/>
                                        <p:tgtEl>
                                          <p:spTgt spid="19968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9685">
                                            <p:txEl>
                                              <p:pRg st="6" end="6"/>
                                            </p:txEl>
                                          </p:spTgt>
                                        </p:tgtEl>
                                        <p:attrNameLst>
                                          <p:attrName>style.visibility</p:attrName>
                                        </p:attrNameLst>
                                      </p:cBhvr>
                                      <p:to>
                                        <p:strVal val="visible"/>
                                      </p:to>
                                    </p:set>
                                    <p:animEffect transition="in" filter="wipe(left)">
                                      <p:cBhvr>
                                        <p:cTn id="27" dur="500"/>
                                        <p:tgtEl>
                                          <p:spTgt spid="199685">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99685">
                                            <p:txEl>
                                              <p:pRg st="7" end="7"/>
                                            </p:txEl>
                                          </p:spTgt>
                                        </p:tgtEl>
                                        <p:attrNameLst>
                                          <p:attrName>style.visibility</p:attrName>
                                        </p:attrNameLst>
                                      </p:cBhvr>
                                      <p:to>
                                        <p:strVal val="visible"/>
                                      </p:to>
                                    </p:set>
                                    <p:animEffect transition="in" filter="wipe(left)">
                                      <p:cBhvr>
                                        <p:cTn id="30" dur="500"/>
                                        <p:tgtEl>
                                          <p:spTgt spid="19968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5"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a:t>
            </a:r>
          </a:p>
        </p:txBody>
      </p:sp>
      <p:sp>
        <p:nvSpPr>
          <p:cNvPr id="3" name="内容占位符 2"/>
          <p:cNvSpPr>
            <a:spLocks noGrp="1"/>
          </p:cNvSpPr>
          <p:nvPr>
            <p:ph idx="1"/>
          </p:nvPr>
        </p:nvSpPr>
        <p:spPr/>
        <p:txBody>
          <a:bodyPr/>
          <a:lstStyle/>
          <a:p>
            <a:r>
              <a:rPr lang="zh-CN" altLang="en-US" dirty="0"/>
              <a:t>下面图中哪个是</a:t>
            </a:r>
            <a:r>
              <a:rPr lang="zh-CN" altLang="zh-CN" dirty="0"/>
              <a:t>有向无环图</a:t>
            </a:r>
            <a:r>
              <a:rPr lang="zh-CN" altLang="en-US" dirty="0"/>
              <a:t>(</a:t>
            </a:r>
            <a:r>
              <a:rPr lang="en-US" altLang="zh-CN" dirty="0"/>
              <a:t>DAG)</a:t>
            </a:r>
            <a:r>
              <a:rPr lang="zh-CN" altLang="en-US" dirty="0"/>
              <a:t>？</a:t>
            </a:r>
          </a:p>
        </p:txBody>
      </p:sp>
      <p:grpSp>
        <p:nvGrpSpPr>
          <p:cNvPr id="24" name="Group 4"/>
          <p:cNvGrpSpPr>
            <a:grpSpLocks/>
          </p:cNvGrpSpPr>
          <p:nvPr/>
        </p:nvGrpSpPr>
        <p:grpSpPr bwMode="auto">
          <a:xfrm>
            <a:off x="1027868" y="3287744"/>
            <a:ext cx="2603888" cy="2267903"/>
            <a:chOff x="4080" y="864"/>
            <a:chExt cx="1488" cy="1296"/>
          </a:xfrm>
        </p:grpSpPr>
        <p:sp>
          <p:nvSpPr>
            <p:cNvPr id="25" name="Oval 5"/>
            <p:cNvSpPr>
              <a:spLocks noChangeArrowheads="1"/>
            </p:cNvSpPr>
            <p:nvPr/>
          </p:nvSpPr>
          <p:spPr bwMode="auto">
            <a:xfrm>
              <a:off x="4320" y="864"/>
              <a:ext cx="480" cy="432"/>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a:solidFill>
                    <a:prstClr val="black"/>
                  </a:solidFill>
                  <a:latin typeface="Times New Roman" panose="02020603050405020304" pitchFamily="18" charset="0"/>
                  <a:ea typeface="宋体" panose="02010600030101010101" pitchFamily="2" charset="-122"/>
                </a:rPr>
                <a:t>n</a:t>
              </a:r>
              <a:r>
                <a:rPr kumimoji="1" lang="en-US" altLang="zh-CN" sz="3086" b="1" baseline="-25000">
                  <a:solidFill>
                    <a:prstClr val="black"/>
                  </a:solidFill>
                  <a:latin typeface="Times New Roman" panose="02020603050405020304" pitchFamily="18" charset="0"/>
                  <a:ea typeface="宋体" panose="02010600030101010101" pitchFamily="2" charset="-122"/>
                </a:rPr>
                <a:t>1</a:t>
              </a:r>
              <a:endParaRPr kumimoji="1" lang="en-US" altLang="zh-CN" sz="2646" b="1">
                <a:solidFill>
                  <a:prstClr val="black"/>
                </a:solidFill>
                <a:latin typeface="Times New Roman" panose="02020603050405020304" pitchFamily="18" charset="0"/>
                <a:ea typeface="宋体" panose="02010600030101010101" pitchFamily="2" charset="-122"/>
              </a:endParaRPr>
            </a:p>
          </p:txBody>
        </p:sp>
        <p:sp>
          <p:nvSpPr>
            <p:cNvPr id="26" name="Oval 6"/>
            <p:cNvSpPr>
              <a:spLocks noChangeArrowheads="1"/>
            </p:cNvSpPr>
            <p:nvPr/>
          </p:nvSpPr>
          <p:spPr bwMode="auto">
            <a:xfrm>
              <a:off x="5088" y="864"/>
              <a:ext cx="480" cy="432"/>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dirty="0">
                  <a:solidFill>
                    <a:prstClr val="black"/>
                  </a:solidFill>
                  <a:latin typeface="Times New Roman" panose="02020603050405020304" pitchFamily="18" charset="0"/>
                  <a:ea typeface="宋体" panose="02010600030101010101" pitchFamily="2" charset="-122"/>
                </a:rPr>
                <a:t>n</a:t>
              </a:r>
              <a:r>
                <a:rPr kumimoji="1" lang="en-US" altLang="zh-CN" sz="3086" b="1" baseline="-25000" dirty="0">
                  <a:solidFill>
                    <a:prstClr val="black"/>
                  </a:solidFill>
                  <a:latin typeface="Times New Roman" panose="02020603050405020304" pitchFamily="18" charset="0"/>
                  <a:ea typeface="宋体" panose="02010600030101010101" pitchFamily="2" charset="-122"/>
                </a:rPr>
                <a:t>2</a:t>
              </a:r>
              <a:endParaRPr kumimoji="1" lang="en-US" altLang="zh-CN" sz="2646" b="1" dirty="0">
                <a:solidFill>
                  <a:prstClr val="black"/>
                </a:solidFill>
                <a:latin typeface="Times New Roman" panose="02020603050405020304" pitchFamily="18" charset="0"/>
                <a:ea typeface="宋体" panose="02010600030101010101" pitchFamily="2" charset="-122"/>
              </a:endParaRPr>
            </a:p>
          </p:txBody>
        </p:sp>
        <p:sp>
          <p:nvSpPr>
            <p:cNvPr id="27" name="Oval 7"/>
            <p:cNvSpPr>
              <a:spLocks noChangeArrowheads="1"/>
            </p:cNvSpPr>
            <p:nvPr/>
          </p:nvSpPr>
          <p:spPr bwMode="auto">
            <a:xfrm>
              <a:off x="4992" y="1632"/>
              <a:ext cx="480" cy="432"/>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a:solidFill>
                    <a:prstClr val="black"/>
                  </a:solidFill>
                  <a:latin typeface="Times New Roman" panose="02020603050405020304" pitchFamily="18" charset="0"/>
                  <a:ea typeface="宋体" panose="02010600030101010101" pitchFamily="2" charset="-122"/>
                </a:rPr>
                <a:t>n</a:t>
              </a:r>
              <a:r>
                <a:rPr kumimoji="1" lang="en-US" altLang="zh-CN" sz="3086" b="1" baseline="-25000">
                  <a:solidFill>
                    <a:prstClr val="black"/>
                  </a:solidFill>
                  <a:latin typeface="Times New Roman" panose="02020603050405020304" pitchFamily="18" charset="0"/>
                  <a:ea typeface="宋体" panose="02010600030101010101" pitchFamily="2" charset="-122"/>
                </a:rPr>
                <a:t>3</a:t>
              </a:r>
              <a:endParaRPr kumimoji="1" lang="en-US" altLang="zh-CN" sz="2646" b="1">
                <a:solidFill>
                  <a:prstClr val="black"/>
                </a:solidFill>
                <a:latin typeface="Times New Roman" panose="02020603050405020304" pitchFamily="18" charset="0"/>
                <a:ea typeface="宋体" panose="02010600030101010101" pitchFamily="2" charset="-122"/>
              </a:endParaRPr>
            </a:p>
          </p:txBody>
        </p:sp>
        <p:sp>
          <p:nvSpPr>
            <p:cNvPr id="28" name="Oval 8"/>
            <p:cNvSpPr>
              <a:spLocks noChangeArrowheads="1"/>
            </p:cNvSpPr>
            <p:nvPr/>
          </p:nvSpPr>
          <p:spPr bwMode="auto">
            <a:xfrm>
              <a:off x="4080" y="1728"/>
              <a:ext cx="480" cy="432"/>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a:solidFill>
                    <a:prstClr val="black"/>
                  </a:solidFill>
                  <a:latin typeface="Times New Roman" panose="02020603050405020304" pitchFamily="18" charset="0"/>
                  <a:ea typeface="宋体" panose="02010600030101010101" pitchFamily="2" charset="-122"/>
                </a:rPr>
                <a:t>n</a:t>
              </a:r>
              <a:r>
                <a:rPr kumimoji="1" lang="en-US" altLang="zh-CN" sz="3086" b="1" baseline="-25000">
                  <a:solidFill>
                    <a:prstClr val="black"/>
                  </a:solidFill>
                  <a:latin typeface="Times New Roman" panose="02020603050405020304" pitchFamily="18" charset="0"/>
                  <a:ea typeface="宋体" panose="02010600030101010101" pitchFamily="2" charset="-122"/>
                </a:rPr>
                <a:t>4</a:t>
              </a:r>
              <a:endParaRPr kumimoji="1" lang="en-US" altLang="zh-CN" sz="2646" b="1">
                <a:solidFill>
                  <a:prstClr val="black"/>
                </a:solidFill>
                <a:latin typeface="Times New Roman" panose="02020603050405020304" pitchFamily="18" charset="0"/>
                <a:ea typeface="宋体" panose="02010600030101010101" pitchFamily="2" charset="-122"/>
              </a:endParaRPr>
            </a:p>
          </p:txBody>
        </p:sp>
        <p:sp>
          <p:nvSpPr>
            <p:cNvPr id="29" name="Line 9"/>
            <p:cNvSpPr>
              <a:spLocks noChangeShapeType="1"/>
            </p:cNvSpPr>
            <p:nvPr/>
          </p:nvSpPr>
          <p:spPr bwMode="auto">
            <a:xfrm>
              <a:off x="4799" y="1055"/>
              <a:ext cx="288" cy="0"/>
            </a:xfrm>
            <a:prstGeom prst="line">
              <a:avLst/>
            </a:prstGeom>
            <a:noFill/>
            <a:ln w="127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30" name="Line 10"/>
            <p:cNvSpPr>
              <a:spLocks noChangeShapeType="1"/>
            </p:cNvSpPr>
            <p:nvPr/>
          </p:nvSpPr>
          <p:spPr bwMode="auto">
            <a:xfrm flipH="1">
              <a:off x="5280" y="1296"/>
              <a:ext cx="48" cy="336"/>
            </a:xfrm>
            <a:prstGeom prst="line">
              <a:avLst/>
            </a:prstGeom>
            <a:noFill/>
            <a:ln w="127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31" name="Line 11"/>
            <p:cNvSpPr>
              <a:spLocks noChangeShapeType="1"/>
            </p:cNvSpPr>
            <p:nvPr/>
          </p:nvSpPr>
          <p:spPr bwMode="auto">
            <a:xfrm flipH="1">
              <a:off x="4560" y="1872"/>
              <a:ext cx="432" cy="48"/>
            </a:xfrm>
            <a:prstGeom prst="line">
              <a:avLst/>
            </a:prstGeom>
            <a:noFill/>
            <a:ln w="127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32" name="Line 12"/>
            <p:cNvSpPr>
              <a:spLocks noChangeShapeType="1"/>
            </p:cNvSpPr>
            <p:nvPr/>
          </p:nvSpPr>
          <p:spPr bwMode="auto">
            <a:xfrm flipV="1">
              <a:off x="4464" y="1200"/>
              <a:ext cx="672" cy="576"/>
            </a:xfrm>
            <a:prstGeom prst="line">
              <a:avLst/>
            </a:prstGeom>
            <a:noFill/>
            <a:ln w="127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grpSp>
        <p:nvGrpSpPr>
          <p:cNvPr id="33" name="Group 13"/>
          <p:cNvGrpSpPr>
            <a:grpSpLocks/>
          </p:cNvGrpSpPr>
          <p:nvPr/>
        </p:nvGrpSpPr>
        <p:grpSpPr bwMode="auto">
          <a:xfrm>
            <a:off x="4623149" y="3287744"/>
            <a:ext cx="2603888" cy="2267903"/>
            <a:chOff x="4128" y="2544"/>
            <a:chExt cx="1488" cy="1296"/>
          </a:xfrm>
        </p:grpSpPr>
        <p:sp>
          <p:nvSpPr>
            <p:cNvPr id="34" name="Oval 14"/>
            <p:cNvSpPr>
              <a:spLocks noChangeArrowheads="1"/>
            </p:cNvSpPr>
            <p:nvPr/>
          </p:nvSpPr>
          <p:spPr bwMode="auto">
            <a:xfrm>
              <a:off x="4368" y="2544"/>
              <a:ext cx="480" cy="432"/>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dirty="0">
                  <a:solidFill>
                    <a:prstClr val="black"/>
                  </a:solidFill>
                  <a:latin typeface="Times New Roman" panose="02020603050405020304" pitchFamily="18" charset="0"/>
                  <a:ea typeface="宋体" panose="02010600030101010101" pitchFamily="2" charset="-122"/>
                </a:rPr>
                <a:t>n</a:t>
              </a:r>
              <a:r>
                <a:rPr kumimoji="1" lang="en-US" altLang="zh-CN" sz="3086" b="1" baseline="-25000" dirty="0">
                  <a:solidFill>
                    <a:prstClr val="black"/>
                  </a:solidFill>
                  <a:latin typeface="Times New Roman" panose="02020603050405020304" pitchFamily="18" charset="0"/>
                  <a:ea typeface="宋体" panose="02010600030101010101" pitchFamily="2" charset="-122"/>
                </a:rPr>
                <a:t>1</a:t>
              </a:r>
              <a:endParaRPr kumimoji="1" lang="en-US" altLang="zh-CN" sz="2646" b="1" dirty="0">
                <a:solidFill>
                  <a:prstClr val="black"/>
                </a:solidFill>
                <a:latin typeface="Times New Roman" panose="02020603050405020304" pitchFamily="18" charset="0"/>
                <a:ea typeface="宋体" panose="02010600030101010101" pitchFamily="2" charset="-122"/>
              </a:endParaRPr>
            </a:p>
          </p:txBody>
        </p:sp>
        <p:sp>
          <p:nvSpPr>
            <p:cNvPr id="35" name="Oval 15"/>
            <p:cNvSpPr>
              <a:spLocks noChangeArrowheads="1"/>
            </p:cNvSpPr>
            <p:nvPr/>
          </p:nvSpPr>
          <p:spPr bwMode="auto">
            <a:xfrm>
              <a:off x="5136" y="2544"/>
              <a:ext cx="480" cy="432"/>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a:solidFill>
                    <a:prstClr val="black"/>
                  </a:solidFill>
                  <a:latin typeface="Times New Roman" panose="02020603050405020304" pitchFamily="18" charset="0"/>
                  <a:ea typeface="宋体" panose="02010600030101010101" pitchFamily="2" charset="-122"/>
                </a:rPr>
                <a:t>n</a:t>
              </a:r>
              <a:r>
                <a:rPr kumimoji="1" lang="en-US" altLang="zh-CN" sz="3086" b="1" baseline="-25000">
                  <a:solidFill>
                    <a:prstClr val="black"/>
                  </a:solidFill>
                  <a:latin typeface="Times New Roman" panose="02020603050405020304" pitchFamily="18" charset="0"/>
                  <a:ea typeface="宋体" panose="02010600030101010101" pitchFamily="2" charset="-122"/>
                </a:rPr>
                <a:t>2</a:t>
              </a:r>
              <a:endParaRPr kumimoji="1" lang="en-US" altLang="zh-CN" sz="2646" b="1">
                <a:solidFill>
                  <a:prstClr val="black"/>
                </a:solidFill>
                <a:latin typeface="Times New Roman" panose="02020603050405020304" pitchFamily="18" charset="0"/>
                <a:ea typeface="宋体" panose="02010600030101010101" pitchFamily="2" charset="-122"/>
              </a:endParaRPr>
            </a:p>
          </p:txBody>
        </p:sp>
        <p:sp>
          <p:nvSpPr>
            <p:cNvPr id="36" name="Oval 16"/>
            <p:cNvSpPr>
              <a:spLocks noChangeArrowheads="1"/>
            </p:cNvSpPr>
            <p:nvPr/>
          </p:nvSpPr>
          <p:spPr bwMode="auto">
            <a:xfrm>
              <a:off x="5040" y="3312"/>
              <a:ext cx="480" cy="432"/>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a:solidFill>
                    <a:prstClr val="black"/>
                  </a:solidFill>
                  <a:latin typeface="Times New Roman" panose="02020603050405020304" pitchFamily="18" charset="0"/>
                  <a:ea typeface="宋体" panose="02010600030101010101" pitchFamily="2" charset="-122"/>
                </a:rPr>
                <a:t>n</a:t>
              </a:r>
              <a:r>
                <a:rPr kumimoji="1" lang="en-US" altLang="zh-CN" sz="3086" b="1" baseline="-25000">
                  <a:solidFill>
                    <a:prstClr val="black"/>
                  </a:solidFill>
                  <a:latin typeface="Times New Roman" panose="02020603050405020304" pitchFamily="18" charset="0"/>
                  <a:ea typeface="宋体" panose="02010600030101010101" pitchFamily="2" charset="-122"/>
                </a:rPr>
                <a:t>3</a:t>
              </a:r>
              <a:endParaRPr kumimoji="1" lang="en-US" altLang="zh-CN" sz="2646" b="1">
                <a:solidFill>
                  <a:prstClr val="black"/>
                </a:solidFill>
                <a:latin typeface="Times New Roman" panose="02020603050405020304" pitchFamily="18" charset="0"/>
                <a:ea typeface="宋体" panose="02010600030101010101" pitchFamily="2" charset="-122"/>
              </a:endParaRPr>
            </a:p>
          </p:txBody>
        </p:sp>
        <p:sp>
          <p:nvSpPr>
            <p:cNvPr id="37" name="Oval 17"/>
            <p:cNvSpPr>
              <a:spLocks noChangeArrowheads="1"/>
            </p:cNvSpPr>
            <p:nvPr/>
          </p:nvSpPr>
          <p:spPr bwMode="auto">
            <a:xfrm>
              <a:off x="4128" y="3408"/>
              <a:ext cx="480" cy="432"/>
            </a:xfrm>
            <a:prstGeom prst="ellipse">
              <a:avLst/>
            </a:prstGeom>
            <a:noFill/>
            <a:ln w="158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a:solidFill>
                    <a:prstClr val="black"/>
                  </a:solidFill>
                  <a:latin typeface="Times New Roman" panose="02020603050405020304" pitchFamily="18" charset="0"/>
                  <a:ea typeface="宋体" panose="02010600030101010101" pitchFamily="2" charset="-122"/>
                </a:rPr>
                <a:t>n</a:t>
              </a:r>
              <a:r>
                <a:rPr kumimoji="1" lang="en-US" altLang="zh-CN" sz="3086" b="1" baseline="-25000">
                  <a:solidFill>
                    <a:prstClr val="black"/>
                  </a:solidFill>
                  <a:latin typeface="Times New Roman" panose="02020603050405020304" pitchFamily="18" charset="0"/>
                  <a:ea typeface="宋体" panose="02010600030101010101" pitchFamily="2" charset="-122"/>
                </a:rPr>
                <a:t>4</a:t>
              </a:r>
              <a:endParaRPr kumimoji="1" lang="en-US" altLang="zh-CN" sz="2646" b="1">
                <a:solidFill>
                  <a:prstClr val="black"/>
                </a:solidFill>
                <a:latin typeface="Times New Roman" panose="02020603050405020304" pitchFamily="18" charset="0"/>
                <a:ea typeface="宋体" panose="02010600030101010101" pitchFamily="2" charset="-122"/>
              </a:endParaRPr>
            </a:p>
          </p:txBody>
        </p:sp>
        <p:sp>
          <p:nvSpPr>
            <p:cNvPr id="38" name="Line 18"/>
            <p:cNvSpPr>
              <a:spLocks noChangeShapeType="1"/>
            </p:cNvSpPr>
            <p:nvPr/>
          </p:nvSpPr>
          <p:spPr bwMode="auto">
            <a:xfrm flipH="1">
              <a:off x="5328" y="2976"/>
              <a:ext cx="48" cy="336"/>
            </a:xfrm>
            <a:prstGeom prst="line">
              <a:avLst/>
            </a:prstGeom>
            <a:noFill/>
            <a:ln w="127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39" name="Line 19"/>
            <p:cNvSpPr>
              <a:spLocks noChangeShapeType="1"/>
            </p:cNvSpPr>
            <p:nvPr/>
          </p:nvSpPr>
          <p:spPr bwMode="auto">
            <a:xfrm flipH="1">
              <a:off x="4608" y="3552"/>
              <a:ext cx="432" cy="48"/>
            </a:xfrm>
            <a:prstGeom prst="line">
              <a:avLst/>
            </a:prstGeom>
            <a:noFill/>
            <a:ln w="127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40" name="Line 20"/>
            <p:cNvSpPr>
              <a:spLocks noChangeShapeType="1"/>
            </p:cNvSpPr>
            <p:nvPr/>
          </p:nvSpPr>
          <p:spPr bwMode="auto">
            <a:xfrm flipH="1">
              <a:off x="4464" y="2928"/>
              <a:ext cx="720" cy="480"/>
            </a:xfrm>
            <a:prstGeom prst="line">
              <a:avLst/>
            </a:prstGeom>
            <a:noFill/>
            <a:ln w="127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41" name="文本框 40"/>
          <p:cNvSpPr txBox="1"/>
          <p:nvPr/>
        </p:nvSpPr>
        <p:spPr>
          <a:xfrm>
            <a:off x="2119823" y="5957282"/>
            <a:ext cx="449162" cy="567207"/>
          </a:xfrm>
          <a:prstGeom prst="rect">
            <a:avLst/>
          </a:prstGeom>
          <a:noFill/>
        </p:spPr>
        <p:txBody>
          <a:bodyPr wrap="none" rtlCol="0">
            <a:spAutoFit/>
          </a:bodyPr>
          <a:lstStyle/>
          <a:p>
            <a:pPr defTabSz="503972" rtl="0" fontAlgn="auto" hangingPunct="1">
              <a:lnSpc>
                <a:spcPct val="100000"/>
              </a:lnSpc>
              <a:spcBef>
                <a:spcPts val="0"/>
              </a:spcBef>
              <a:spcAft>
                <a:spcPts val="0"/>
              </a:spcAft>
              <a:buSzTx/>
            </a:pPr>
            <a:r>
              <a:rPr lang="en-US" altLang="zh-CN" sz="3086" dirty="0">
                <a:solidFill>
                  <a:prstClr val="black"/>
                </a:solidFill>
                <a:latin typeface="Arial" panose="020B0604020202020204"/>
                <a:ea typeface="黑体" panose="02010609060101010101" pitchFamily="49" charset="-122"/>
              </a:rPr>
              <a:t>A</a:t>
            </a:r>
            <a:endParaRPr lang="zh-CN" altLang="en-US" sz="3086" dirty="0">
              <a:solidFill>
                <a:prstClr val="black"/>
              </a:solidFill>
              <a:latin typeface="Arial" panose="020B0604020202020204"/>
              <a:ea typeface="黑体" panose="02010609060101010101" pitchFamily="49" charset="-122"/>
            </a:endParaRPr>
          </a:p>
        </p:txBody>
      </p:sp>
      <p:sp>
        <p:nvSpPr>
          <p:cNvPr id="42" name="文本框 41"/>
          <p:cNvSpPr txBox="1"/>
          <p:nvPr/>
        </p:nvSpPr>
        <p:spPr>
          <a:xfrm>
            <a:off x="5726388" y="5957282"/>
            <a:ext cx="449162" cy="567207"/>
          </a:xfrm>
          <a:prstGeom prst="rect">
            <a:avLst/>
          </a:prstGeom>
          <a:noFill/>
        </p:spPr>
        <p:txBody>
          <a:bodyPr wrap="none" rtlCol="0">
            <a:spAutoFit/>
          </a:bodyPr>
          <a:lstStyle/>
          <a:p>
            <a:pPr defTabSz="503972" rtl="0" fontAlgn="auto" hangingPunct="1">
              <a:lnSpc>
                <a:spcPct val="100000"/>
              </a:lnSpc>
              <a:spcBef>
                <a:spcPts val="0"/>
              </a:spcBef>
              <a:spcAft>
                <a:spcPts val="0"/>
              </a:spcAft>
              <a:buSzTx/>
            </a:pPr>
            <a:r>
              <a:rPr lang="en-US" altLang="zh-CN" sz="3086" dirty="0">
                <a:solidFill>
                  <a:prstClr val="black"/>
                </a:solidFill>
                <a:latin typeface="Arial" panose="020B0604020202020204"/>
                <a:ea typeface="黑体" panose="02010609060101010101" pitchFamily="49" charset="-122"/>
              </a:rPr>
              <a:t>B</a:t>
            </a:r>
            <a:endParaRPr lang="zh-CN" altLang="en-US" sz="3086" dirty="0">
              <a:solidFill>
                <a:prstClr val="black"/>
              </a:solidFill>
              <a:latin typeface="Arial" panose="020B0604020202020204"/>
              <a:ea typeface="黑体" panose="02010609060101010101" pitchFamily="49" charset="-122"/>
            </a:endParaRPr>
          </a:p>
        </p:txBody>
      </p:sp>
    </p:spTree>
    <p:extLst>
      <p:ext uri="{BB962C8B-B14F-4D97-AF65-F5344CB8AC3E}">
        <p14:creationId xmlns:p14="http://schemas.microsoft.com/office/powerpoint/2010/main" val="20752377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5" name="Rectangle 4"/>
          <p:cNvSpPr>
            <a:spLocks noGrp="1" noChangeArrowheads="1"/>
          </p:cNvSpPr>
          <p:nvPr>
            <p:ph type="title"/>
          </p:nvPr>
        </p:nvSpPr>
        <p:spPr/>
        <p:txBody>
          <a:bodyPr/>
          <a:lstStyle/>
          <a:p>
            <a:pPr defTabSz="503972" fontAlgn="auto">
              <a:spcAft>
                <a:spcPts val="0"/>
              </a:spcAft>
              <a:defRPr/>
            </a:pPr>
            <a:r>
              <a:rPr lang="zh-CN" altLang="zh-CN" dirty="0"/>
              <a:t>有向无环图</a:t>
            </a:r>
            <a:r>
              <a:rPr lang="zh-CN" altLang="en-US" dirty="0"/>
              <a:t>(</a:t>
            </a:r>
            <a:r>
              <a:rPr lang="en-US" altLang="zh-CN" dirty="0"/>
              <a:t>DAG)</a:t>
            </a:r>
            <a:endParaRPr lang="zh-CN" altLang="en-US" dirty="0"/>
          </a:p>
        </p:txBody>
      </p:sp>
      <p:sp>
        <p:nvSpPr>
          <p:cNvPr id="199685" name="Rectangle 5"/>
          <p:cNvSpPr>
            <a:spLocks noGrp="1" noChangeArrowheads="1"/>
          </p:cNvSpPr>
          <p:nvPr>
            <p:ph idx="1"/>
          </p:nvPr>
        </p:nvSpPr>
        <p:spPr/>
        <p:txBody>
          <a:bodyPr/>
          <a:lstStyle/>
          <a:p>
            <a:pPr marL="377979" indent="-377979" defTabSz="503972" fontAlgn="auto">
              <a:spcBef>
                <a:spcPts val="1102"/>
              </a:spcBef>
              <a:spcAft>
                <a:spcPts val="0"/>
              </a:spcAft>
              <a:buFont typeface="Wingdings 3" charset="2"/>
              <a:buChar char=""/>
              <a:defRPr/>
            </a:pPr>
            <a:r>
              <a:rPr lang="zh-CN" altLang="zh-CN" sz="3086" dirty="0">
                <a:solidFill>
                  <a:schemeClr val="tx1">
                    <a:lumMod val="75000"/>
                    <a:lumOff val="25000"/>
                  </a:schemeClr>
                </a:solidFill>
              </a:rPr>
              <a:t>有向无环图</a:t>
            </a:r>
            <a:r>
              <a:rPr lang="zh-CN" altLang="en-US" sz="3086" dirty="0">
                <a:solidFill>
                  <a:schemeClr val="tx1">
                    <a:lumMod val="75000"/>
                    <a:lumOff val="25000"/>
                  </a:schemeClr>
                </a:solidFill>
              </a:rPr>
              <a:t>(</a:t>
            </a:r>
            <a:r>
              <a:rPr lang="en-US" altLang="zh-CN" sz="3086" dirty="0">
                <a:solidFill>
                  <a:schemeClr val="tx1">
                    <a:lumMod val="75000"/>
                    <a:lumOff val="25000"/>
                  </a:schemeClr>
                </a:solidFill>
              </a:rPr>
              <a:t>Directed Acyclic Graph，</a:t>
            </a:r>
            <a:r>
              <a:rPr lang="zh-CN" altLang="en-US" sz="3086" dirty="0">
                <a:solidFill>
                  <a:schemeClr val="tx1">
                    <a:lumMod val="75000"/>
                    <a:lumOff val="25000"/>
                  </a:schemeClr>
                </a:solidFill>
              </a:rPr>
              <a:t>简称</a:t>
            </a:r>
            <a:r>
              <a:rPr lang="en-US" altLang="zh-CN" sz="3086" dirty="0">
                <a:solidFill>
                  <a:schemeClr val="tx1">
                    <a:lumMod val="75000"/>
                    <a:lumOff val="25000"/>
                  </a:schemeClr>
                </a:solidFill>
              </a:rPr>
              <a:t>DAG)</a:t>
            </a: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对表达式中的每个子表达式，</a:t>
            </a:r>
            <a:r>
              <a:rPr lang="en-US" altLang="zh-CN" sz="2646" dirty="0">
                <a:solidFill>
                  <a:schemeClr val="tx1">
                    <a:lumMod val="75000"/>
                    <a:lumOff val="25000"/>
                  </a:schemeClr>
                </a:solidFill>
              </a:rPr>
              <a:t>DAG</a:t>
            </a:r>
            <a:r>
              <a:rPr lang="zh-CN" altLang="en-US" sz="2646" dirty="0">
                <a:solidFill>
                  <a:schemeClr val="tx1">
                    <a:lumMod val="75000"/>
                    <a:lumOff val="25000"/>
                  </a:schemeClr>
                </a:solidFill>
              </a:rPr>
              <a:t>中都有一个结点</a:t>
            </a: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一个</a:t>
            </a:r>
            <a:r>
              <a:rPr lang="zh-CN" altLang="en-US" sz="2646" dirty="0">
                <a:solidFill>
                  <a:srgbClr val="CC0000"/>
                </a:solidFill>
              </a:rPr>
              <a:t>内部结点</a:t>
            </a:r>
            <a:r>
              <a:rPr lang="zh-CN" altLang="en-US" sz="2646" dirty="0">
                <a:solidFill>
                  <a:schemeClr val="tx1">
                    <a:lumMod val="75000"/>
                    <a:lumOff val="25000"/>
                  </a:schemeClr>
                </a:solidFill>
              </a:rPr>
              <a:t>代表一个</a:t>
            </a:r>
            <a:r>
              <a:rPr lang="zh-CN" altLang="en-US" sz="2646" dirty="0">
                <a:solidFill>
                  <a:srgbClr val="CC0000"/>
                </a:solidFill>
              </a:rPr>
              <a:t>操作符</a:t>
            </a:r>
            <a:r>
              <a:rPr lang="zh-CN" altLang="en-US" sz="2646" dirty="0">
                <a:solidFill>
                  <a:schemeClr val="tx1">
                    <a:lumMod val="75000"/>
                    <a:lumOff val="25000"/>
                  </a:schemeClr>
                </a:solidFill>
              </a:rPr>
              <a:t>，它的孩子代表操作数</a:t>
            </a: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在一个</a:t>
            </a:r>
            <a:r>
              <a:rPr lang="en-US" altLang="zh-CN" sz="2646" dirty="0">
                <a:solidFill>
                  <a:schemeClr val="tx1">
                    <a:lumMod val="75000"/>
                    <a:lumOff val="25000"/>
                  </a:schemeClr>
                </a:solidFill>
              </a:rPr>
              <a:t>DAG</a:t>
            </a:r>
            <a:r>
              <a:rPr lang="zh-CN" altLang="en-US" sz="2646" dirty="0">
                <a:solidFill>
                  <a:schemeClr val="tx1">
                    <a:lumMod val="75000"/>
                    <a:lumOff val="25000"/>
                  </a:schemeClr>
                </a:solidFill>
              </a:rPr>
              <a:t>中代表公共子表达式的结点具有多个父结点</a:t>
            </a:r>
          </a:p>
        </p:txBody>
      </p:sp>
    </p:spTree>
    <p:extLst>
      <p:ext uri="{BB962C8B-B14F-4D97-AF65-F5344CB8AC3E}">
        <p14:creationId xmlns:p14="http://schemas.microsoft.com/office/powerpoint/2010/main" val="27201909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9685">
                                            <p:txEl>
                                              <p:pRg st="0" end="0"/>
                                            </p:txEl>
                                          </p:spTgt>
                                        </p:tgtEl>
                                        <p:attrNameLst>
                                          <p:attrName>style.visibility</p:attrName>
                                        </p:attrNameLst>
                                      </p:cBhvr>
                                      <p:to>
                                        <p:strVal val="visible"/>
                                      </p:to>
                                    </p:set>
                                    <p:animEffect transition="in" filter="wipe(left)">
                                      <p:cBhvr>
                                        <p:cTn id="7" dur="500"/>
                                        <p:tgtEl>
                                          <p:spTgt spid="19968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9685">
                                            <p:txEl>
                                              <p:pRg st="1" end="1"/>
                                            </p:txEl>
                                          </p:spTgt>
                                        </p:tgtEl>
                                        <p:attrNameLst>
                                          <p:attrName>style.visibility</p:attrName>
                                        </p:attrNameLst>
                                      </p:cBhvr>
                                      <p:to>
                                        <p:strVal val="visible"/>
                                      </p:to>
                                    </p:set>
                                    <p:animEffect transition="in" filter="wipe(left)">
                                      <p:cBhvr>
                                        <p:cTn id="12" dur="500"/>
                                        <p:tgtEl>
                                          <p:spTgt spid="19968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9685">
                                            <p:txEl>
                                              <p:pRg st="2" end="2"/>
                                            </p:txEl>
                                          </p:spTgt>
                                        </p:tgtEl>
                                        <p:attrNameLst>
                                          <p:attrName>style.visibility</p:attrName>
                                        </p:attrNameLst>
                                      </p:cBhvr>
                                      <p:to>
                                        <p:strVal val="visible"/>
                                      </p:to>
                                    </p:set>
                                    <p:animEffect transition="in" filter="wipe(left)">
                                      <p:cBhvr>
                                        <p:cTn id="17" dur="500"/>
                                        <p:tgtEl>
                                          <p:spTgt spid="19968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9685">
                                            <p:txEl>
                                              <p:pRg st="3" end="3"/>
                                            </p:txEl>
                                          </p:spTgt>
                                        </p:tgtEl>
                                        <p:attrNameLst>
                                          <p:attrName>style.visibility</p:attrName>
                                        </p:attrNameLst>
                                      </p:cBhvr>
                                      <p:to>
                                        <p:strVal val="visible"/>
                                      </p:to>
                                    </p:set>
                                    <p:animEffect transition="in" filter="wipe(left)">
                                      <p:cBhvr>
                                        <p:cTn id="22" dur="500"/>
                                        <p:tgtEl>
                                          <p:spTgt spid="19968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5" grpId="0" build="p"/>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normAutofit/>
          </a:bodyPr>
          <a:lstStyle/>
          <a:p>
            <a:r>
              <a:rPr lang="zh-CN" altLang="en-US" dirty="0"/>
              <a:t>抽象语法树 </a:t>
            </a:r>
            <a:r>
              <a:rPr lang="en-US" altLang="zh-CN" dirty="0"/>
              <a:t>vs. </a:t>
            </a:r>
            <a:r>
              <a:rPr lang="zh-CN" altLang="zh-CN" dirty="0"/>
              <a:t>有向无环图</a:t>
            </a:r>
            <a:endParaRPr lang="zh-CN" altLang="en-US" dirty="0"/>
          </a:p>
        </p:txBody>
      </p:sp>
      <p:sp>
        <p:nvSpPr>
          <p:cNvPr id="2" name="内容占位符 1"/>
          <p:cNvSpPr>
            <a:spLocks noGrp="1"/>
          </p:cNvSpPr>
          <p:nvPr>
            <p:ph idx="1"/>
          </p:nvPr>
        </p:nvSpPr>
        <p:spPr/>
        <p:txBody>
          <a:bodyPr/>
          <a:lstStyle/>
          <a:p>
            <a:r>
              <a:rPr lang="en-US" altLang="zh-CN" dirty="0"/>
              <a:t>a:=b*(-c)+b*(-c)</a:t>
            </a:r>
            <a:r>
              <a:rPr lang="zh-CN" altLang="en-US" dirty="0"/>
              <a:t>的图表示法 </a:t>
            </a:r>
          </a:p>
        </p:txBody>
      </p:sp>
      <p:grpSp>
        <p:nvGrpSpPr>
          <p:cNvPr id="44" name="Group 3"/>
          <p:cNvGrpSpPr>
            <a:grpSpLocks noChangeAspect="1"/>
          </p:cNvGrpSpPr>
          <p:nvPr/>
        </p:nvGrpSpPr>
        <p:grpSpPr bwMode="auto">
          <a:xfrm>
            <a:off x="5234904" y="2729882"/>
            <a:ext cx="3507689" cy="4530765"/>
            <a:chOff x="3216" y="1104"/>
            <a:chExt cx="2304" cy="2976"/>
          </a:xfrm>
        </p:grpSpPr>
        <p:sp>
          <p:nvSpPr>
            <p:cNvPr id="45" name="Rectangle 4"/>
            <p:cNvSpPr>
              <a:spLocks noChangeArrowheads="1"/>
            </p:cNvSpPr>
            <p:nvPr/>
          </p:nvSpPr>
          <p:spPr bwMode="auto">
            <a:xfrm>
              <a:off x="3648" y="110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assign</a:t>
              </a:r>
            </a:p>
          </p:txBody>
        </p:sp>
        <p:sp>
          <p:nvSpPr>
            <p:cNvPr id="46" name="Line 5"/>
            <p:cNvSpPr>
              <a:spLocks noChangeShapeType="1"/>
            </p:cNvSpPr>
            <p:nvPr/>
          </p:nvSpPr>
          <p:spPr bwMode="auto">
            <a:xfrm flipH="1">
              <a:off x="3552" y="1440"/>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7" name="Rectangle 6"/>
            <p:cNvSpPr>
              <a:spLocks noChangeArrowheads="1"/>
            </p:cNvSpPr>
            <p:nvPr/>
          </p:nvSpPr>
          <p:spPr bwMode="auto">
            <a:xfrm>
              <a:off x="3216"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a:t>
              </a:r>
            </a:p>
          </p:txBody>
        </p:sp>
        <p:sp>
          <p:nvSpPr>
            <p:cNvPr id="48" name="Line 7"/>
            <p:cNvSpPr>
              <a:spLocks noChangeShapeType="1"/>
            </p:cNvSpPr>
            <p:nvPr/>
          </p:nvSpPr>
          <p:spPr bwMode="auto">
            <a:xfrm>
              <a:off x="4080" y="1440"/>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9" name="Rectangle 8"/>
            <p:cNvSpPr>
              <a:spLocks noChangeArrowheads="1"/>
            </p:cNvSpPr>
            <p:nvPr/>
          </p:nvSpPr>
          <p:spPr bwMode="auto">
            <a:xfrm>
              <a:off x="4272"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t>
              </a:r>
            </a:p>
          </p:txBody>
        </p:sp>
        <p:sp>
          <p:nvSpPr>
            <p:cNvPr id="50" name="Rectangle 9"/>
            <p:cNvSpPr>
              <a:spLocks noChangeArrowheads="1"/>
            </p:cNvSpPr>
            <p:nvPr/>
          </p:nvSpPr>
          <p:spPr bwMode="auto">
            <a:xfrm>
              <a:off x="4272" y="225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t>
              </a:r>
            </a:p>
          </p:txBody>
        </p:sp>
        <p:sp>
          <p:nvSpPr>
            <p:cNvPr id="51" name="Freeform 10"/>
            <p:cNvSpPr>
              <a:spLocks/>
            </p:cNvSpPr>
            <p:nvPr/>
          </p:nvSpPr>
          <p:spPr bwMode="auto">
            <a:xfrm>
              <a:off x="4264" y="2064"/>
              <a:ext cx="248" cy="336"/>
            </a:xfrm>
            <a:custGeom>
              <a:avLst/>
              <a:gdLst>
                <a:gd name="T0" fmla="*/ 248 w 248"/>
                <a:gd name="T1" fmla="*/ 0 h 336"/>
                <a:gd name="T2" fmla="*/ 8 w 248"/>
                <a:gd name="T3" fmla="*/ 144 h 336"/>
                <a:gd name="T4" fmla="*/ 200 w 248"/>
                <a:gd name="T5" fmla="*/ 336 h 336"/>
                <a:gd name="T6" fmla="*/ 0 60000 65536"/>
                <a:gd name="T7" fmla="*/ 0 60000 65536"/>
                <a:gd name="T8" fmla="*/ 0 60000 65536"/>
                <a:gd name="T9" fmla="*/ 0 w 248"/>
                <a:gd name="T10" fmla="*/ 0 h 336"/>
                <a:gd name="T11" fmla="*/ 248 w 248"/>
                <a:gd name="T12" fmla="*/ 336 h 336"/>
              </a:gdLst>
              <a:ahLst/>
              <a:cxnLst>
                <a:cxn ang="T6">
                  <a:pos x="T0" y="T1"/>
                </a:cxn>
                <a:cxn ang="T7">
                  <a:pos x="T2" y="T3"/>
                </a:cxn>
                <a:cxn ang="T8">
                  <a:pos x="T4" y="T5"/>
                </a:cxn>
              </a:cxnLst>
              <a:rect l="T9" t="T10" r="T11" b="T12"/>
              <a:pathLst>
                <a:path w="248" h="336">
                  <a:moveTo>
                    <a:pt x="248" y="0"/>
                  </a:moveTo>
                  <a:cubicBezTo>
                    <a:pt x="132" y="44"/>
                    <a:pt x="16" y="88"/>
                    <a:pt x="8" y="144"/>
                  </a:cubicBezTo>
                  <a:cubicBezTo>
                    <a:pt x="0" y="200"/>
                    <a:pt x="100" y="268"/>
                    <a:pt x="200" y="336"/>
                  </a:cubicBez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52" name="Freeform 11"/>
            <p:cNvSpPr>
              <a:spLocks/>
            </p:cNvSpPr>
            <p:nvPr/>
          </p:nvSpPr>
          <p:spPr bwMode="auto">
            <a:xfrm>
              <a:off x="4704" y="2064"/>
              <a:ext cx="240" cy="336"/>
            </a:xfrm>
            <a:custGeom>
              <a:avLst/>
              <a:gdLst>
                <a:gd name="T0" fmla="*/ 0 w 240"/>
                <a:gd name="T1" fmla="*/ 0 h 336"/>
                <a:gd name="T2" fmla="*/ 240 w 240"/>
                <a:gd name="T3" fmla="*/ 144 h 336"/>
                <a:gd name="T4" fmla="*/ 0 w 240"/>
                <a:gd name="T5" fmla="*/ 336 h 336"/>
                <a:gd name="T6" fmla="*/ 0 60000 65536"/>
                <a:gd name="T7" fmla="*/ 0 60000 65536"/>
                <a:gd name="T8" fmla="*/ 0 60000 65536"/>
                <a:gd name="T9" fmla="*/ 0 w 240"/>
                <a:gd name="T10" fmla="*/ 0 h 336"/>
                <a:gd name="T11" fmla="*/ 240 w 240"/>
                <a:gd name="T12" fmla="*/ 336 h 336"/>
              </a:gdLst>
              <a:ahLst/>
              <a:cxnLst>
                <a:cxn ang="T6">
                  <a:pos x="T0" y="T1"/>
                </a:cxn>
                <a:cxn ang="T7">
                  <a:pos x="T2" y="T3"/>
                </a:cxn>
                <a:cxn ang="T8">
                  <a:pos x="T4" y="T5"/>
                </a:cxn>
              </a:cxnLst>
              <a:rect l="T9" t="T10" r="T11" b="T12"/>
              <a:pathLst>
                <a:path w="240" h="336">
                  <a:moveTo>
                    <a:pt x="0" y="0"/>
                  </a:moveTo>
                  <a:cubicBezTo>
                    <a:pt x="120" y="44"/>
                    <a:pt x="240" y="88"/>
                    <a:pt x="240" y="144"/>
                  </a:cubicBezTo>
                  <a:cubicBezTo>
                    <a:pt x="240" y="200"/>
                    <a:pt x="120" y="268"/>
                    <a:pt x="0" y="336"/>
                  </a:cubicBez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53" name="Line 12"/>
            <p:cNvSpPr>
              <a:spLocks noChangeShapeType="1"/>
            </p:cNvSpPr>
            <p:nvPr/>
          </p:nvSpPr>
          <p:spPr bwMode="auto">
            <a:xfrm flipH="1">
              <a:off x="4128" y="2496"/>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54" name="Line 13"/>
            <p:cNvSpPr>
              <a:spLocks noChangeShapeType="1"/>
            </p:cNvSpPr>
            <p:nvPr/>
          </p:nvSpPr>
          <p:spPr bwMode="auto">
            <a:xfrm>
              <a:off x="4656" y="2496"/>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55" name="Rectangle 14"/>
            <p:cNvSpPr>
              <a:spLocks noChangeArrowheads="1"/>
            </p:cNvSpPr>
            <p:nvPr/>
          </p:nvSpPr>
          <p:spPr bwMode="auto">
            <a:xfrm>
              <a:off x="3840"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b</a:t>
              </a:r>
            </a:p>
          </p:txBody>
        </p:sp>
        <p:sp>
          <p:nvSpPr>
            <p:cNvPr id="56" name="Rectangle 15"/>
            <p:cNvSpPr>
              <a:spLocks noChangeArrowheads="1"/>
            </p:cNvSpPr>
            <p:nvPr/>
          </p:nvSpPr>
          <p:spPr bwMode="auto">
            <a:xfrm>
              <a:off x="4896"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uminus</a:t>
              </a:r>
            </a:p>
          </p:txBody>
        </p:sp>
        <p:sp>
          <p:nvSpPr>
            <p:cNvPr id="57" name="Line 16"/>
            <p:cNvSpPr>
              <a:spLocks noChangeShapeType="1"/>
            </p:cNvSpPr>
            <p:nvPr/>
          </p:nvSpPr>
          <p:spPr bwMode="auto">
            <a:xfrm>
              <a:off x="5232"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58" name="Rectangle 17"/>
            <p:cNvSpPr>
              <a:spLocks noChangeArrowheads="1"/>
            </p:cNvSpPr>
            <p:nvPr/>
          </p:nvSpPr>
          <p:spPr bwMode="auto">
            <a:xfrm>
              <a:off x="4896"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c</a:t>
              </a:r>
            </a:p>
          </p:txBody>
        </p:sp>
        <p:sp>
          <p:nvSpPr>
            <p:cNvPr id="59" name="Rectangle 18"/>
            <p:cNvSpPr>
              <a:spLocks noChangeArrowheads="1"/>
            </p:cNvSpPr>
            <p:nvPr/>
          </p:nvSpPr>
          <p:spPr bwMode="auto">
            <a:xfrm>
              <a:off x="3984" y="3696"/>
              <a:ext cx="9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Aft>
                  <a:spcPts val="0"/>
                </a:spcAft>
                <a:buClr>
                  <a:srgbClr val="EEECE1"/>
                </a:buClr>
                <a:buNone/>
              </a:pPr>
              <a:r>
                <a:rPr lang="zh-CN" altLang="zh-CN" sz="3086" dirty="0">
                  <a:solidFill>
                    <a:prstClr val="black"/>
                  </a:solidFill>
                </a:rPr>
                <a:t>有向无环图</a:t>
              </a:r>
            </a:p>
          </p:txBody>
        </p:sp>
      </p:grpSp>
      <p:grpSp>
        <p:nvGrpSpPr>
          <p:cNvPr id="60" name="Group 19"/>
          <p:cNvGrpSpPr>
            <a:grpSpLocks noChangeAspect="1"/>
          </p:cNvGrpSpPr>
          <p:nvPr/>
        </p:nvGrpSpPr>
        <p:grpSpPr bwMode="auto">
          <a:xfrm>
            <a:off x="360773" y="2729882"/>
            <a:ext cx="4311535" cy="4530765"/>
            <a:chOff x="384" y="1104"/>
            <a:chExt cx="2832" cy="2976"/>
          </a:xfrm>
        </p:grpSpPr>
        <p:sp>
          <p:nvSpPr>
            <p:cNvPr id="61" name="Rectangle 20"/>
            <p:cNvSpPr>
              <a:spLocks noChangeArrowheads="1"/>
            </p:cNvSpPr>
            <p:nvPr/>
          </p:nvSpPr>
          <p:spPr bwMode="auto">
            <a:xfrm>
              <a:off x="816" y="110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assign</a:t>
              </a:r>
            </a:p>
          </p:txBody>
        </p:sp>
        <p:sp>
          <p:nvSpPr>
            <p:cNvPr id="62" name="Line 21"/>
            <p:cNvSpPr>
              <a:spLocks noChangeShapeType="1"/>
            </p:cNvSpPr>
            <p:nvPr/>
          </p:nvSpPr>
          <p:spPr bwMode="auto">
            <a:xfrm flipH="1">
              <a:off x="720" y="1440"/>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63" name="Rectangle 22"/>
            <p:cNvSpPr>
              <a:spLocks noChangeArrowheads="1"/>
            </p:cNvSpPr>
            <p:nvPr/>
          </p:nvSpPr>
          <p:spPr bwMode="auto">
            <a:xfrm>
              <a:off x="384"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a:t>
              </a:r>
            </a:p>
          </p:txBody>
        </p:sp>
        <p:sp>
          <p:nvSpPr>
            <p:cNvPr id="64" name="Line 23"/>
            <p:cNvSpPr>
              <a:spLocks noChangeShapeType="1"/>
            </p:cNvSpPr>
            <p:nvPr/>
          </p:nvSpPr>
          <p:spPr bwMode="auto">
            <a:xfrm>
              <a:off x="1248" y="1440"/>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65" name="Rectangle 24"/>
            <p:cNvSpPr>
              <a:spLocks noChangeArrowheads="1"/>
            </p:cNvSpPr>
            <p:nvPr/>
          </p:nvSpPr>
          <p:spPr bwMode="auto">
            <a:xfrm>
              <a:off x="1440"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t>
              </a:r>
            </a:p>
          </p:txBody>
        </p:sp>
        <p:sp>
          <p:nvSpPr>
            <p:cNvPr id="66" name="Rectangle 25"/>
            <p:cNvSpPr>
              <a:spLocks noChangeArrowheads="1"/>
            </p:cNvSpPr>
            <p:nvPr/>
          </p:nvSpPr>
          <p:spPr bwMode="auto">
            <a:xfrm>
              <a:off x="2160" y="225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t>
              </a:r>
            </a:p>
          </p:txBody>
        </p:sp>
        <p:sp>
          <p:nvSpPr>
            <p:cNvPr id="67" name="Line 26"/>
            <p:cNvSpPr>
              <a:spLocks noChangeShapeType="1"/>
            </p:cNvSpPr>
            <p:nvPr/>
          </p:nvSpPr>
          <p:spPr bwMode="auto">
            <a:xfrm flipH="1">
              <a:off x="2112" y="2496"/>
              <a:ext cx="336"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68" name="Line 27"/>
            <p:cNvSpPr>
              <a:spLocks noChangeShapeType="1"/>
            </p:cNvSpPr>
            <p:nvPr/>
          </p:nvSpPr>
          <p:spPr bwMode="auto">
            <a:xfrm>
              <a:off x="2544" y="2496"/>
              <a:ext cx="288"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69" name="Rectangle 28"/>
            <p:cNvSpPr>
              <a:spLocks noChangeArrowheads="1"/>
            </p:cNvSpPr>
            <p:nvPr/>
          </p:nvSpPr>
          <p:spPr bwMode="auto">
            <a:xfrm>
              <a:off x="1832" y="2800"/>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b</a:t>
              </a:r>
            </a:p>
          </p:txBody>
        </p:sp>
        <p:sp>
          <p:nvSpPr>
            <p:cNvPr id="70" name="Rectangle 29"/>
            <p:cNvSpPr>
              <a:spLocks noChangeArrowheads="1"/>
            </p:cNvSpPr>
            <p:nvPr/>
          </p:nvSpPr>
          <p:spPr bwMode="auto">
            <a:xfrm>
              <a:off x="2592"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err="1">
                  <a:solidFill>
                    <a:prstClr val="black"/>
                  </a:solidFill>
                  <a:latin typeface="微软雅黑" panose="020B0503020204020204" pitchFamily="34" charset="-122"/>
                </a:rPr>
                <a:t>uminus</a:t>
              </a:r>
              <a:endParaRPr kumimoji="1" lang="en-US" altLang="zh-CN" sz="3086" dirty="0">
                <a:solidFill>
                  <a:prstClr val="black"/>
                </a:solidFill>
                <a:latin typeface="微软雅黑" panose="020B0503020204020204" pitchFamily="34" charset="-122"/>
              </a:endParaRPr>
            </a:p>
          </p:txBody>
        </p:sp>
        <p:sp>
          <p:nvSpPr>
            <p:cNvPr id="71" name="Line 30"/>
            <p:cNvSpPr>
              <a:spLocks noChangeShapeType="1"/>
            </p:cNvSpPr>
            <p:nvPr/>
          </p:nvSpPr>
          <p:spPr bwMode="auto">
            <a:xfrm>
              <a:off x="2928"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72" name="Rectangle 31"/>
            <p:cNvSpPr>
              <a:spLocks noChangeArrowheads="1"/>
            </p:cNvSpPr>
            <p:nvPr/>
          </p:nvSpPr>
          <p:spPr bwMode="auto">
            <a:xfrm>
              <a:off x="2592"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c</a:t>
              </a:r>
            </a:p>
          </p:txBody>
        </p:sp>
        <p:sp>
          <p:nvSpPr>
            <p:cNvPr id="73" name="Rectangle 32"/>
            <p:cNvSpPr>
              <a:spLocks noChangeArrowheads="1"/>
            </p:cNvSpPr>
            <p:nvPr/>
          </p:nvSpPr>
          <p:spPr bwMode="auto">
            <a:xfrm>
              <a:off x="1152" y="3696"/>
              <a:ext cx="9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抽象语法树</a:t>
              </a:r>
              <a:endParaRPr lang="en-US" altLang="zh-CN" sz="3086" dirty="0">
                <a:solidFill>
                  <a:prstClr val="black"/>
                </a:solidFill>
                <a:latin typeface="微软雅黑" panose="020B0503020204020204" pitchFamily="34" charset="-122"/>
              </a:endParaRPr>
            </a:p>
          </p:txBody>
        </p:sp>
        <p:sp>
          <p:nvSpPr>
            <p:cNvPr id="74" name="Rectangle 33"/>
            <p:cNvSpPr>
              <a:spLocks noChangeArrowheads="1"/>
            </p:cNvSpPr>
            <p:nvPr/>
          </p:nvSpPr>
          <p:spPr bwMode="auto">
            <a:xfrm>
              <a:off x="768" y="225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t>
              </a:r>
            </a:p>
          </p:txBody>
        </p:sp>
        <p:sp>
          <p:nvSpPr>
            <p:cNvPr id="75" name="Line 34"/>
            <p:cNvSpPr>
              <a:spLocks noChangeShapeType="1"/>
            </p:cNvSpPr>
            <p:nvPr/>
          </p:nvSpPr>
          <p:spPr bwMode="auto">
            <a:xfrm flipH="1">
              <a:off x="1056" y="2064"/>
              <a:ext cx="624" cy="2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76" name="Line 35"/>
            <p:cNvSpPr>
              <a:spLocks noChangeShapeType="1"/>
            </p:cNvSpPr>
            <p:nvPr/>
          </p:nvSpPr>
          <p:spPr bwMode="auto">
            <a:xfrm>
              <a:off x="1776" y="2064"/>
              <a:ext cx="624" cy="2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77" name="Line 36"/>
            <p:cNvSpPr>
              <a:spLocks noChangeShapeType="1"/>
            </p:cNvSpPr>
            <p:nvPr/>
          </p:nvSpPr>
          <p:spPr bwMode="auto">
            <a:xfrm flipH="1">
              <a:off x="720" y="2496"/>
              <a:ext cx="336"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78" name="Line 37"/>
            <p:cNvSpPr>
              <a:spLocks noChangeShapeType="1"/>
            </p:cNvSpPr>
            <p:nvPr/>
          </p:nvSpPr>
          <p:spPr bwMode="auto">
            <a:xfrm>
              <a:off x="1152" y="2496"/>
              <a:ext cx="288"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79" name="Rectangle 38"/>
            <p:cNvSpPr>
              <a:spLocks noChangeArrowheads="1"/>
            </p:cNvSpPr>
            <p:nvPr/>
          </p:nvSpPr>
          <p:spPr bwMode="auto">
            <a:xfrm>
              <a:off x="414"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b</a:t>
              </a:r>
            </a:p>
          </p:txBody>
        </p:sp>
        <p:sp>
          <p:nvSpPr>
            <p:cNvPr id="80" name="Rectangle 39"/>
            <p:cNvSpPr>
              <a:spLocks noChangeArrowheads="1"/>
            </p:cNvSpPr>
            <p:nvPr/>
          </p:nvSpPr>
          <p:spPr bwMode="auto">
            <a:xfrm>
              <a:off x="1184"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err="1">
                  <a:solidFill>
                    <a:prstClr val="black"/>
                  </a:solidFill>
                  <a:latin typeface="微软雅黑" panose="020B0503020204020204" pitchFamily="34" charset="-122"/>
                </a:rPr>
                <a:t>uminus</a:t>
              </a:r>
              <a:endParaRPr kumimoji="1" lang="en-US" altLang="zh-CN" sz="3086" dirty="0">
                <a:solidFill>
                  <a:prstClr val="black"/>
                </a:solidFill>
                <a:latin typeface="微软雅黑" panose="020B0503020204020204" pitchFamily="34" charset="-122"/>
              </a:endParaRPr>
            </a:p>
          </p:txBody>
        </p:sp>
        <p:sp>
          <p:nvSpPr>
            <p:cNvPr id="81" name="Line 40"/>
            <p:cNvSpPr>
              <a:spLocks noChangeShapeType="1"/>
            </p:cNvSpPr>
            <p:nvPr/>
          </p:nvSpPr>
          <p:spPr bwMode="auto">
            <a:xfrm>
              <a:off x="1536"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82" name="Rectangle 41"/>
            <p:cNvSpPr>
              <a:spLocks noChangeArrowheads="1"/>
            </p:cNvSpPr>
            <p:nvPr/>
          </p:nvSpPr>
          <p:spPr bwMode="auto">
            <a:xfrm>
              <a:off x="1200"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c</a:t>
              </a:r>
            </a:p>
          </p:txBody>
        </p:sp>
      </p:grpSp>
    </p:spTree>
    <p:extLst>
      <p:ext uri="{BB962C8B-B14F-4D97-AF65-F5344CB8AC3E}">
        <p14:creationId xmlns:p14="http://schemas.microsoft.com/office/powerpoint/2010/main" val="6664527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抽象语法树 </a:t>
            </a:r>
            <a:r>
              <a:rPr lang="en-US" altLang="zh-CN" dirty="0"/>
              <a:t>vs. </a:t>
            </a:r>
            <a:r>
              <a:rPr lang="zh-CN" altLang="en-US" dirty="0"/>
              <a:t>三地址代码</a:t>
            </a:r>
          </a:p>
        </p:txBody>
      </p:sp>
      <p:sp>
        <p:nvSpPr>
          <p:cNvPr id="202755" name="Rectangle 3"/>
          <p:cNvSpPr>
            <a:spLocks noGrp="1" noChangeArrowheads="1"/>
          </p:cNvSpPr>
          <p:nvPr>
            <p:ph idx="1"/>
          </p:nvPr>
        </p:nvSpPr>
        <p:spPr/>
        <p:txBody>
          <a:bodyPr/>
          <a:lstStyle/>
          <a:p>
            <a:r>
              <a:rPr lang="en-US" altLang="zh-CN" dirty="0"/>
              <a:t>a:=b*(-c)+b*(-c)</a:t>
            </a:r>
            <a:r>
              <a:rPr lang="zh-CN" altLang="en-US" dirty="0"/>
              <a:t>的图表示法 </a:t>
            </a:r>
          </a:p>
        </p:txBody>
      </p:sp>
      <p:sp>
        <p:nvSpPr>
          <p:cNvPr id="30" name="文本框 29"/>
          <p:cNvSpPr txBox="1"/>
          <p:nvPr/>
        </p:nvSpPr>
        <p:spPr>
          <a:xfrm>
            <a:off x="434511" y="2883171"/>
            <a:ext cx="2888537" cy="302390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just" defTabSz="503972" rtl="0" fontAlgn="auto" hangingPunct="1">
              <a:lnSpc>
                <a:spcPct val="90000"/>
              </a:lnSpc>
              <a:spcBef>
                <a:spcPts val="0"/>
              </a:spcBef>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抽象语法树对应的三地址代码：</a:t>
            </a:r>
            <a:endParaRPr lang="en-US" altLang="zh-CN" sz="2646" dirty="0">
              <a:solidFill>
                <a:prstClr val="white"/>
              </a:solidFill>
              <a:latin typeface="微软雅黑" panose="020B0503020204020204" pitchFamily="34" charset="-122"/>
              <a:ea typeface="微软雅黑" panose="020B0503020204020204" pitchFamily="34" charset="-122"/>
            </a:endParaRP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1 </a:t>
            </a:r>
            <a:r>
              <a:rPr lang="en-US" altLang="zh-CN" sz="2646" dirty="0">
                <a:solidFill>
                  <a:prstClr val="white"/>
                </a:solidFill>
                <a:latin typeface="微软雅黑" panose="020B0503020204020204" pitchFamily="34" charset="-122"/>
                <a:ea typeface="微软雅黑" panose="020B0503020204020204" pitchFamily="34" charset="-122"/>
              </a:rPr>
              <a:t>:= -c</a:t>
            </a: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2 </a:t>
            </a:r>
            <a:r>
              <a:rPr lang="en-US" altLang="zh-CN" sz="2646" dirty="0">
                <a:solidFill>
                  <a:prstClr val="white"/>
                </a:solidFill>
                <a:latin typeface="微软雅黑" panose="020B0503020204020204" pitchFamily="34" charset="-122"/>
                <a:ea typeface="微软雅黑" panose="020B0503020204020204" pitchFamily="34" charset="-122"/>
              </a:rPr>
              <a:t>:= b * T</a:t>
            </a:r>
            <a:r>
              <a:rPr lang="en-US" altLang="zh-CN" sz="2646" baseline="-30000" dirty="0">
                <a:solidFill>
                  <a:prstClr val="white"/>
                </a:solidFill>
                <a:latin typeface="微软雅黑" panose="020B0503020204020204" pitchFamily="34" charset="-122"/>
                <a:ea typeface="微软雅黑" panose="020B0503020204020204" pitchFamily="34" charset="-122"/>
              </a:rPr>
              <a:t>1</a:t>
            </a:r>
            <a:r>
              <a:rPr lang="en-US" altLang="zh-CN" sz="2646" dirty="0">
                <a:solidFill>
                  <a:prstClr val="white"/>
                </a:solidFill>
                <a:latin typeface="微软雅黑" panose="020B0503020204020204" pitchFamily="34" charset="-122"/>
                <a:ea typeface="微软雅黑" panose="020B0503020204020204" pitchFamily="34" charset="-122"/>
              </a:rPr>
              <a:t>	</a:t>
            </a: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3 </a:t>
            </a:r>
            <a:r>
              <a:rPr lang="en-US" altLang="zh-CN" sz="2646" dirty="0">
                <a:solidFill>
                  <a:prstClr val="white"/>
                </a:solidFill>
                <a:latin typeface="微软雅黑" panose="020B0503020204020204" pitchFamily="34" charset="-122"/>
                <a:ea typeface="微软雅黑" panose="020B0503020204020204" pitchFamily="34" charset="-122"/>
              </a:rPr>
              <a:t>:= - c</a:t>
            </a: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4 </a:t>
            </a:r>
            <a:r>
              <a:rPr lang="en-US" altLang="zh-CN" sz="2646" dirty="0">
                <a:solidFill>
                  <a:prstClr val="white"/>
                </a:solidFill>
                <a:latin typeface="微软雅黑" panose="020B0503020204020204" pitchFamily="34" charset="-122"/>
                <a:ea typeface="微软雅黑" panose="020B0503020204020204" pitchFamily="34" charset="-122"/>
              </a:rPr>
              <a:t>:= b * T</a:t>
            </a:r>
            <a:r>
              <a:rPr lang="en-US" altLang="zh-CN" sz="2646" baseline="-30000" dirty="0">
                <a:solidFill>
                  <a:prstClr val="white"/>
                </a:solidFill>
                <a:latin typeface="微软雅黑" panose="020B0503020204020204" pitchFamily="34" charset="-122"/>
                <a:ea typeface="微软雅黑" panose="020B0503020204020204" pitchFamily="34" charset="-122"/>
              </a:rPr>
              <a:t>3</a:t>
            </a:r>
            <a:endParaRPr lang="en-US" altLang="zh-CN" sz="2646" dirty="0">
              <a:solidFill>
                <a:prstClr val="white"/>
              </a:solidFill>
              <a:latin typeface="微软雅黑" panose="020B0503020204020204" pitchFamily="34" charset="-122"/>
              <a:ea typeface="微软雅黑" panose="020B0503020204020204" pitchFamily="34" charset="-122"/>
            </a:endParaRP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5 </a:t>
            </a:r>
            <a:r>
              <a:rPr lang="en-US" altLang="zh-CN" sz="2646" dirty="0">
                <a:solidFill>
                  <a:prstClr val="white"/>
                </a:solidFill>
                <a:latin typeface="微软雅黑" panose="020B0503020204020204" pitchFamily="34" charset="-122"/>
                <a:ea typeface="微软雅黑" panose="020B0503020204020204" pitchFamily="34" charset="-122"/>
              </a:rPr>
              <a:t>:= T</a:t>
            </a:r>
            <a:r>
              <a:rPr lang="en-US" altLang="zh-CN" sz="2646" baseline="-30000" dirty="0">
                <a:solidFill>
                  <a:prstClr val="white"/>
                </a:solidFill>
                <a:latin typeface="微软雅黑" panose="020B0503020204020204" pitchFamily="34" charset="-122"/>
                <a:ea typeface="微软雅黑" panose="020B0503020204020204" pitchFamily="34" charset="-122"/>
              </a:rPr>
              <a:t>2 </a:t>
            </a:r>
            <a:r>
              <a:rPr lang="en-US" altLang="zh-CN" sz="2646" dirty="0">
                <a:solidFill>
                  <a:prstClr val="white"/>
                </a:solidFill>
                <a:latin typeface="微软雅黑" panose="020B0503020204020204" pitchFamily="34" charset="-122"/>
                <a:ea typeface="微软雅黑" panose="020B0503020204020204" pitchFamily="34" charset="-122"/>
              </a:rPr>
              <a:t>+ T</a:t>
            </a:r>
            <a:r>
              <a:rPr lang="en-US" altLang="zh-CN" sz="2646" baseline="-30000" dirty="0">
                <a:solidFill>
                  <a:prstClr val="white"/>
                </a:solidFill>
                <a:latin typeface="微软雅黑" panose="020B0503020204020204" pitchFamily="34" charset="-122"/>
                <a:ea typeface="微软雅黑" panose="020B0503020204020204" pitchFamily="34" charset="-122"/>
              </a:rPr>
              <a:t>4</a:t>
            </a:r>
            <a:r>
              <a:rPr lang="en-US" altLang="zh-CN" sz="2646" dirty="0">
                <a:solidFill>
                  <a:prstClr val="white"/>
                </a:solidFill>
                <a:latin typeface="微软雅黑" panose="020B0503020204020204" pitchFamily="34" charset="-122"/>
                <a:ea typeface="微软雅黑" panose="020B0503020204020204" pitchFamily="34" charset="-122"/>
              </a:rPr>
              <a:t> </a:t>
            </a: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a := T</a:t>
            </a:r>
            <a:r>
              <a:rPr lang="en-US" altLang="zh-CN" sz="2646" baseline="-30000" dirty="0">
                <a:solidFill>
                  <a:prstClr val="white"/>
                </a:solidFill>
                <a:latin typeface="微软雅黑" panose="020B0503020204020204" pitchFamily="34" charset="-122"/>
                <a:ea typeface="微软雅黑" panose="020B0503020204020204" pitchFamily="34" charset="-122"/>
              </a:rPr>
              <a:t>5</a:t>
            </a:r>
            <a:endParaRPr lang="en-US" altLang="zh-CN" sz="2646" dirty="0">
              <a:solidFill>
                <a:prstClr val="white"/>
              </a:solidFill>
              <a:latin typeface="微软雅黑" panose="020B0503020204020204" pitchFamily="34" charset="-122"/>
              <a:ea typeface="微软雅黑" panose="020B0503020204020204" pitchFamily="34" charset="-122"/>
            </a:endParaRPr>
          </a:p>
        </p:txBody>
      </p:sp>
      <p:grpSp>
        <p:nvGrpSpPr>
          <p:cNvPr id="31" name="Group 19"/>
          <p:cNvGrpSpPr>
            <a:grpSpLocks noChangeAspect="1"/>
          </p:cNvGrpSpPr>
          <p:nvPr/>
        </p:nvGrpSpPr>
        <p:grpSpPr bwMode="auto">
          <a:xfrm>
            <a:off x="3635700" y="2768650"/>
            <a:ext cx="4311535" cy="4530765"/>
            <a:chOff x="384" y="1104"/>
            <a:chExt cx="2832" cy="2976"/>
          </a:xfrm>
        </p:grpSpPr>
        <p:sp>
          <p:nvSpPr>
            <p:cNvPr id="32" name="Rectangle 20"/>
            <p:cNvSpPr>
              <a:spLocks noChangeArrowheads="1"/>
            </p:cNvSpPr>
            <p:nvPr/>
          </p:nvSpPr>
          <p:spPr bwMode="auto">
            <a:xfrm>
              <a:off x="816" y="110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assign</a:t>
              </a:r>
            </a:p>
          </p:txBody>
        </p:sp>
        <p:sp>
          <p:nvSpPr>
            <p:cNvPr id="33" name="Line 21"/>
            <p:cNvSpPr>
              <a:spLocks noChangeShapeType="1"/>
            </p:cNvSpPr>
            <p:nvPr/>
          </p:nvSpPr>
          <p:spPr bwMode="auto">
            <a:xfrm flipH="1">
              <a:off x="720" y="1440"/>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34" name="Rectangle 22"/>
            <p:cNvSpPr>
              <a:spLocks noChangeArrowheads="1"/>
            </p:cNvSpPr>
            <p:nvPr/>
          </p:nvSpPr>
          <p:spPr bwMode="auto">
            <a:xfrm>
              <a:off x="384"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a:t>
              </a:r>
            </a:p>
          </p:txBody>
        </p:sp>
        <p:sp>
          <p:nvSpPr>
            <p:cNvPr id="35" name="Line 23"/>
            <p:cNvSpPr>
              <a:spLocks noChangeShapeType="1"/>
            </p:cNvSpPr>
            <p:nvPr/>
          </p:nvSpPr>
          <p:spPr bwMode="auto">
            <a:xfrm>
              <a:off x="1248" y="1440"/>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36" name="Rectangle 24"/>
            <p:cNvSpPr>
              <a:spLocks noChangeArrowheads="1"/>
            </p:cNvSpPr>
            <p:nvPr/>
          </p:nvSpPr>
          <p:spPr bwMode="auto">
            <a:xfrm>
              <a:off x="1440"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t>
              </a:r>
            </a:p>
          </p:txBody>
        </p:sp>
        <p:sp>
          <p:nvSpPr>
            <p:cNvPr id="37" name="Rectangle 25"/>
            <p:cNvSpPr>
              <a:spLocks noChangeArrowheads="1"/>
            </p:cNvSpPr>
            <p:nvPr/>
          </p:nvSpPr>
          <p:spPr bwMode="auto">
            <a:xfrm>
              <a:off x="2160" y="225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t>
              </a:r>
            </a:p>
          </p:txBody>
        </p:sp>
        <p:sp>
          <p:nvSpPr>
            <p:cNvPr id="38" name="Line 26"/>
            <p:cNvSpPr>
              <a:spLocks noChangeShapeType="1"/>
            </p:cNvSpPr>
            <p:nvPr/>
          </p:nvSpPr>
          <p:spPr bwMode="auto">
            <a:xfrm flipH="1">
              <a:off x="2112" y="2496"/>
              <a:ext cx="336"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39" name="Line 27"/>
            <p:cNvSpPr>
              <a:spLocks noChangeShapeType="1"/>
            </p:cNvSpPr>
            <p:nvPr/>
          </p:nvSpPr>
          <p:spPr bwMode="auto">
            <a:xfrm>
              <a:off x="2544" y="2496"/>
              <a:ext cx="288"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0" name="Rectangle 28"/>
            <p:cNvSpPr>
              <a:spLocks noChangeArrowheads="1"/>
            </p:cNvSpPr>
            <p:nvPr/>
          </p:nvSpPr>
          <p:spPr bwMode="auto">
            <a:xfrm>
              <a:off x="1832" y="2800"/>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b</a:t>
              </a:r>
            </a:p>
          </p:txBody>
        </p:sp>
        <p:sp>
          <p:nvSpPr>
            <p:cNvPr id="41" name="Rectangle 29"/>
            <p:cNvSpPr>
              <a:spLocks noChangeArrowheads="1"/>
            </p:cNvSpPr>
            <p:nvPr/>
          </p:nvSpPr>
          <p:spPr bwMode="auto">
            <a:xfrm>
              <a:off x="2592"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err="1">
                  <a:solidFill>
                    <a:prstClr val="black"/>
                  </a:solidFill>
                  <a:latin typeface="微软雅黑" panose="020B0503020204020204" pitchFamily="34" charset="-122"/>
                </a:rPr>
                <a:t>uminus</a:t>
              </a:r>
              <a:endParaRPr kumimoji="1" lang="en-US" altLang="zh-CN" sz="3086" dirty="0">
                <a:solidFill>
                  <a:prstClr val="black"/>
                </a:solidFill>
                <a:latin typeface="微软雅黑" panose="020B0503020204020204" pitchFamily="34" charset="-122"/>
              </a:endParaRPr>
            </a:p>
          </p:txBody>
        </p:sp>
        <p:sp>
          <p:nvSpPr>
            <p:cNvPr id="42" name="Line 30"/>
            <p:cNvSpPr>
              <a:spLocks noChangeShapeType="1"/>
            </p:cNvSpPr>
            <p:nvPr/>
          </p:nvSpPr>
          <p:spPr bwMode="auto">
            <a:xfrm>
              <a:off x="2928"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3" name="Rectangle 31"/>
            <p:cNvSpPr>
              <a:spLocks noChangeArrowheads="1"/>
            </p:cNvSpPr>
            <p:nvPr/>
          </p:nvSpPr>
          <p:spPr bwMode="auto">
            <a:xfrm>
              <a:off x="2592"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c</a:t>
              </a:r>
            </a:p>
          </p:txBody>
        </p:sp>
        <p:sp>
          <p:nvSpPr>
            <p:cNvPr id="44" name="Rectangle 32"/>
            <p:cNvSpPr>
              <a:spLocks noChangeArrowheads="1"/>
            </p:cNvSpPr>
            <p:nvPr/>
          </p:nvSpPr>
          <p:spPr bwMode="auto">
            <a:xfrm>
              <a:off x="1152" y="3696"/>
              <a:ext cx="9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抽象语法树</a:t>
              </a:r>
              <a:endParaRPr lang="en-US" altLang="zh-CN" sz="3086" dirty="0">
                <a:solidFill>
                  <a:prstClr val="black"/>
                </a:solidFill>
                <a:latin typeface="微软雅黑" panose="020B0503020204020204" pitchFamily="34" charset="-122"/>
              </a:endParaRPr>
            </a:p>
          </p:txBody>
        </p:sp>
        <p:sp>
          <p:nvSpPr>
            <p:cNvPr id="45" name="Rectangle 33"/>
            <p:cNvSpPr>
              <a:spLocks noChangeArrowheads="1"/>
            </p:cNvSpPr>
            <p:nvPr/>
          </p:nvSpPr>
          <p:spPr bwMode="auto">
            <a:xfrm>
              <a:off x="768" y="225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t>
              </a:r>
            </a:p>
          </p:txBody>
        </p:sp>
        <p:sp>
          <p:nvSpPr>
            <p:cNvPr id="46" name="Line 34"/>
            <p:cNvSpPr>
              <a:spLocks noChangeShapeType="1"/>
            </p:cNvSpPr>
            <p:nvPr/>
          </p:nvSpPr>
          <p:spPr bwMode="auto">
            <a:xfrm flipH="1">
              <a:off x="1056" y="2064"/>
              <a:ext cx="624" cy="2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7" name="Line 35"/>
            <p:cNvSpPr>
              <a:spLocks noChangeShapeType="1"/>
            </p:cNvSpPr>
            <p:nvPr/>
          </p:nvSpPr>
          <p:spPr bwMode="auto">
            <a:xfrm>
              <a:off x="1776" y="2064"/>
              <a:ext cx="624" cy="2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8" name="Line 36"/>
            <p:cNvSpPr>
              <a:spLocks noChangeShapeType="1"/>
            </p:cNvSpPr>
            <p:nvPr/>
          </p:nvSpPr>
          <p:spPr bwMode="auto">
            <a:xfrm flipH="1">
              <a:off x="720" y="2496"/>
              <a:ext cx="336"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9" name="Line 37"/>
            <p:cNvSpPr>
              <a:spLocks noChangeShapeType="1"/>
            </p:cNvSpPr>
            <p:nvPr/>
          </p:nvSpPr>
          <p:spPr bwMode="auto">
            <a:xfrm>
              <a:off x="1152" y="2496"/>
              <a:ext cx="288"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50" name="Rectangle 38"/>
            <p:cNvSpPr>
              <a:spLocks noChangeArrowheads="1"/>
            </p:cNvSpPr>
            <p:nvPr/>
          </p:nvSpPr>
          <p:spPr bwMode="auto">
            <a:xfrm>
              <a:off x="414"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b</a:t>
              </a:r>
            </a:p>
          </p:txBody>
        </p:sp>
        <p:sp>
          <p:nvSpPr>
            <p:cNvPr id="51" name="Rectangle 39"/>
            <p:cNvSpPr>
              <a:spLocks noChangeArrowheads="1"/>
            </p:cNvSpPr>
            <p:nvPr/>
          </p:nvSpPr>
          <p:spPr bwMode="auto">
            <a:xfrm>
              <a:off x="1184"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err="1">
                  <a:solidFill>
                    <a:prstClr val="black"/>
                  </a:solidFill>
                  <a:latin typeface="微软雅黑" panose="020B0503020204020204" pitchFamily="34" charset="-122"/>
                </a:rPr>
                <a:t>uminus</a:t>
              </a:r>
              <a:endParaRPr kumimoji="1" lang="en-US" altLang="zh-CN" sz="3086" dirty="0">
                <a:solidFill>
                  <a:prstClr val="black"/>
                </a:solidFill>
                <a:latin typeface="微软雅黑" panose="020B0503020204020204" pitchFamily="34" charset="-122"/>
              </a:endParaRPr>
            </a:p>
          </p:txBody>
        </p:sp>
        <p:sp>
          <p:nvSpPr>
            <p:cNvPr id="75" name="Line 40"/>
            <p:cNvSpPr>
              <a:spLocks noChangeShapeType="1"/>
            </p:cNvSpPr>
            <p:nvPr/>
          </p:nvSpPr>
          <p:spPr bwMode="auto">
            <a:xfrm>
              <a:off x="1536"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76" name="Rectangle 41"/>
            <p:cNvSpPr>
              <a:spLocks noChangeArrowheads="1"/>
            </p:cNvSpPr>
            <p:nvPr/>
          </p:nvSpPr>
          <p:spPr bwMode="auto">
            <a:xfrm>
              <a:off x="1200"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c</a:t>
              </a:r>
            </a:p>
          </p:txBody>
        </p:sp>
      </p:grpSp>
    </p:spTree>
    <p:extLst>
      <p:ext uri="{BB962C8B-B14F-4D97-AF65-F5344CB8AC3E}">
        <p14:creationId xmlns:p14="http://schemas.microsoft.com/office/powerpoint/2010/main" val="107055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up)">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zh-CN" dirty="0"/>
              <a:t>有向无环图</a:t>
            </a:r>
            <a:r>
              <a:rPr lang="en-US" altLang="zh-CN" dirty="0"/>
              <a:t> vs. </a:t>
            </a:r>
            <a:r>
              <a:rPr lang="zh-CN" altLang="en-US" dirty="0"/>
              <a:t>三地址代码</a:t>
            </a:r>
          </a:p>
        </p:txBody>
      </p:sp>
      <p:sp>
        <p:nvSpPr>
          <p:cNvPr id="203779" name="Rectangle 3"/>
          <p:cNvSpPr>
            <a:spLocks noGrp="1" noChangeArrowheads="1"/>
          </p:cNvSpPr>
          <p:nvPr>
            <p:ph idx="1"/>
          </p:nvPr>
        </p:nvSpPr>
        <p:spPr/>
        <p:txBody>
          <a:bodyPr/>
          <a:lstStyle/>
          <a:p>
            <a:r>
              <a:rPr lang="en-US" altLang="zh-CN" dirty="0"/>
              <a:t>a:=b*(-c)+b*(-c)</a:t>
            </a:r>
            <a:r>
              <a:rPr lang="zh-CN" altLang="en-US" dirty="0"/>
              <a:t>的图表示法 </a:t>
            </a:r>
          </a:p>
        </p:txBody>
      </p:sp>
      <p:grpSp>
        <p:nvGrpSpPr>
          <p:cNvPr id="37" name="Group 3"/>
          <p:cNvGrpSpPr>
            <a:grpSpLocks noChangeAspect="1"/>
          </p:cNvGrpSpPr>
          <p:nvPr/>
        </p:nvGrpSpPr>
        <p:grpSpPr bwMode="auto">
          <a:xfrm>
            <a:off x="5493726" y="2877747"/>
            <a:ext cx="3507689" cy="4530765"/>
            <a:chOff x="3216" y="1104"/>
            <a:chExt cx="2304" cy="2976"/>
          </a:xfrm>
        </p:grpSpPr>
        <p:sp>
          <p:nvSpPr>
            <p:cNvPr id="40" name="Rectangle 4"/>
            <p:cNvSpPr>
              <a:spLocks noChangeArrowheads="1"/>
            </p:cNvSpPr>
            <p:nvPr/>
          </p:nvSpPr>
          <p:spPr bwMode="auto">
            <a:xfrm>
              <a:off x="3648" y="110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assign</a:t>
              </a:r>
            </a:p>
          </p:txBody>
        </p:sp>
        <p:sp>
          <p:nvSpPr>
            <p:cNvPr id="41" name="Line 5"/>
            <p:cNvSpPr>
              <a:spLocks noChangeShapeType="1"/>
            </p:cNvSpPr>
            <p:nvPr/>
          </p:nvSpPr>
          <p:spPr bwMode="auto">
            <a:xfrm flipH="1">
              <a:off x="3552" y="1440"/>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2" name="Rectangle 6"/>
            <p:cNvSpPr>
              <a:spLocks noChangeArrowheads="1"/>
            </p:cNvSpPr>
            <p:nvPr/>
          </p:nvSpPr>
          <p:spPr bwMode="auto">
            <a:xfrm>
              <a:off x="3216"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a:t>
              </a:r>
            </a:p>
          </p:txBody>
        </p:sp>
        <p:sp>
          <p:nvSpPr>
            <p:cNvPr id="43" name="Line 7"/>
            <p:cNvSpPr>
              <a:spLocks noChangeShapeType="1"/>
            </p:cNvSpPr>
            <p:nvPr/>
          </p:nvSpPr>
          <p:spPr bwMode="auto">
            <a:xfrm>
              <a:off x="4080" y="1440"/>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4" name="Rectangle 8"/>
            <p:cNvSpPr>
              <a:spLocks noChangeArrowheads="1"/>
            </p:cNvSpPr>
            <p:nvPr/>
          </p:nvSpPr>
          <p:spPr bwMode="auto">
            <a:xfrm>
              <a:off x="4272" y="177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t>
              </a:r>
            </a:p>
          </p:txBody>
        </p:sp>
        <p:sp>
          <p:nvSpPr>
            <p:cNvPr id="45" name="Rectangle 9"/>
            <p:cNvSpPr>
              <a:spLocks noChangeArrowheads="1"/>
            </p:cNvSpPr>
            <p:nvPr/>
          </p:nvSpPr>
          <p:spPr bwMode="auto">
            <a:xfrm>
              <a:off x="4272" y="2256"/>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t>
              </a:r>
            </a:p>
          </p:txBody>
        </p:sp>
        <p:sp>
          <p:nvSpPr>
            <p:cNvPr id="46" name="Freeform 10"/>
            <p:cNvSpPr>
              <a:spLocks/>
            </p:cNvSpPr>
            <p:nvPr/>
          </p:nvSpPr>
          <p:spPr bwMode="auto">
            <a:xfrm>
              <a:off x="4264" y="2064"/>
              <a:ext cx="248" cy="336"/>
            </a:xfrm>
            <a:custGeom>
              <a:avLst/>
              <a:gdLst>
                <a:gd name="T0" fmla="*/ 248 w 248"/>
                <a:gd name="T1" fmla="*/ 0 h 336"/>
                <a:gd name="T2" fmla="*/ 8 w 248"/>
                <a:gd name="T3" fmla="*/ 144 h 336"/>
                <a:gd name="T4" fmla="*/ 200 w 248"/>
                <a:gd name="T5" fmla="*/ 336 h 336"/>
                <a:gd name="T6" fmla="*/ 0 60000 65536"/>
                <a:gd name="T7" fmla="*/ 0 60000 65536"/>
                <a:gd name="T8" fmla="*/ 0 60000 65536"/>
                <a:gd name="T9" fmla="*/ 0 w 248"/>
                <a:gd name="T10" fmla="*/ 0 h 336"/>
                <a:gd name="T11" fmla="*/ 248 w 248"/>
                <a:gd name="T12" fmla="*/ 336 h 336"/>
              </a:gdLst>
              <a:ahLst/>
              <a:cxnLst>
                <a:cxn ang="T6">
                  <a:pos x="T0" y="T1"/>
                </a:cxn>
                <a:cxn ang="T7">
                  <a:pos x="T2" y="T3"/>
                </a:cxn>
                <a:cxn ang="T8">
                  <a:pos x="T4" y="T5"/>
                </a:cxn>
              </a:cxnLst>
              <a:rect l="T9" t="T10" r="T11" b="T12"/>
              <a:pathLst>
                <a:path w="248" h="336">
                  <a:moveTo>
                    <a:pt x="248" y="0"/>
                  </a:moveTo>
                  <a:cubicBezTo>
                    <a:pt x="132" y="44"/>
                    <a:pt x="16" y="88"/>
                    <a:pt x="8" y="144"/>
                  </a:cubicBezTo>
                  <a:cubicBezTo>
                    <a:pt x="0" y="200"/>
                    <a:pt x="100" y="268"/>
                    <a:pt x="200" y="336"/>
                  </a:cubicBez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7" name="Freeform 11"/>
            <p:cNvSpPr>
              <a:spLocks/>
            </p:cNvSpPr>
            <p:nvPr/>
          </p:nvSpPr>
          <p:spPr bwMode="auto">
            <a:xfrm>
              <a:off x="4704" y="2064"/>
              <a:ext cx="240" cy="336"/>
            </a:xfrm>
            <a:custGeom>
              <a:avLst/>
              <a:gdLst>
                <a:gd name="T0" fmla="*/ 0 w 240"/>
                <a:gd name="T1" fmla="*/ 0 h 336"/>
                <a:gd name="T2" fmla="*/ 240 w 240"/>
                <a:gd name="T3" fmla="*/ 144 h 336"/>
                <a:gd name="T4" fmla="*/ 0 w 240"/>
                <a:gd name="T5" fmla="*/ 336 h 336"/>
                <a:gd name="T6" fmla="*/ 0 60000 65536"/>
                <a:gd name="T7" fmla="*/ 0 60000 65536"/>
                <a:gd name="T8" fmla="*/ 0 60000 65536"/>
                <a:gd name="T9" fmla="*/ 0 w 240"/>
                <a:gd name="T10" fmla="*/ 0 h 336"/>
                <a:gd name="T11" fmla="*/ 240 w 240"/>
                <a:gd name="T12" fmla="*/ 336 h 336"/>
              </a:gdLst>
              <a:ahLst/>
              <a:cxnLst>
                <a:cxn ang="T6">
                  <a:pos x="T0" y="T1"/>
                </a:cxn>
                <a:cxn ang="T7">
                  <a:pos x="T2" y="T3"/>
                </a:cxn>
                <a:cxn ang="T8">
                  <a:pos x="T4" y="T5"/>
                </a:cxn>
              </a:cxnLst>
              <a:rect l="T9" t="T10" r="T11" b="T12"/>
              <a:pathLst>
                <a:path w="240" h="336">
                  <a:moveTo>
                    <a:pt x="0" y="0"/>
                  </a:moveTo>
                  <a:cubicBezTo>
                    <a:pt x="120" y="44"/>
                    <a:pt x="240" y="88"/>
                    <a:pt x="240" y="144"/>
                  </a:cubicBezTo>
                  <a:cubicBezTo>
                    <a:pt x="240" y="200"/>
                    <a:pt x="120" y="268"/>
                    <a:pt x="0" y="336"/>
                  </a:cubicBez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8" name="Line 12"/>
            <p:cNvSpPr>
              <a:spLocks noChangeShapeType="1"/>
            </p:cNvSpPr>
            <p:nvPr/>
          </p:nvSpPr>
          <p:spPr bwMode="auto">
            <a:xfrm flipH="1">
              <a:off x="4128" y="2496"/>
              <a:ext cx="432"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9" name="Line 13"/>
            <p:cNvSpPr>
              <a:spLocks noChangeShapeType="1"/>
            </p:cNvSpPr>
            <p:nvPr/>
          </p:nvSpPr>
          <p:spPr bwMode="auto">
            <a:xfrm>
              <a:off x="4656" y="2496"/>
              <a:ext cx="528" cy="336"/>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50" name="Rectangle 14"/>
            <p:cNvSpPr>
              <a:spLocks noChangeArrowheads="1"/>
            </p:cNvSpPr>
            <p:nvPr/>
          </p:nvSpPr>
          <p:spPr bwMode="auto">
            <a:xfrm>
              <a:off x="3840"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b</a:t>
              </a:r>
            </a:p>
          </p:txBody>
        </p:sp>
        <p:sp>
          <p:nvSpPr>
            <p:cNvPr id="51" name="Rectangle 15"/>
            <p:cNvSpPr>
              <a:spLocks noChangeArrowheads="1"/>
            </p:cNvSpPr>
            <p:nvPr/>
          </p:nvSpPr>
          <p:spPr bwMode="auto">
            <a:xfrm>
              <a:off x="4896" y="2784"/>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err="1">
                  <a:solidFill>
                    <a:prstClr val="black"/>
                  </a:solidFill>
                  <a:latin typeface="微软雅黑" panose="020B0503020204020204" pitchFamily="34" charset="-122"/>
                </a:rPr>
                <a:t>uminus</a:t>
              </a:r>
              <a:endParaRPr kumimoji="1" lang="en-US" altLang="zh-CN" sz="3086" dirty="0">
                <a:solidFill>
                  <a:prstClr val="black"/>
                </a:solidFill>
                <a:latin typeface="微软雅黑" panose="020B0503020204020204" pitchFamily="34" charset="-122"/>
              </a:endParaRPr>
            </a:p>
          </p:txBody>
        </p:sp>
        <p:sp>
          <p:nvSpPr>
            <p:cNvPr id="52" name="Line 16"/>
            <p:cNvSpPr>
              <a:spLocks noChangeShapeType="1"/>
            </p:cNvSpPr>
            <p:nvPr/>
          </p:nvSpPr>
          <p:spPr bwMode="auto">
            <a:xfrm>
              <a:off x="5232" y="3120"/>
              <a:ext cx="0" cy="384"/>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53" name="Rectangle 17"/>
            <p:cNvSpPr>
              <a:spLocks noChangeArrowheads="1"/>
            </p:cNvSpPr>
            <p:nvPr/>
          </p:nvSpPr>
          <p:spPr bwMode="auto">
            <a:xfrm>
              <a:off x="4896" y="3408"/>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c</a:t>
              </a:r>
            </a:p>
          </p:txBody>
        </p:sp>
        <p:sp>
          <p:nvSpPr>
            <p:cNvPr id="54" name="Rectangle 18"/>
            <p:cNvSpPr>
              <a:spLocks noChangeArrowheads="1"/>
            </p:cNvSpPr>
            <p:nvPr/>
          </p:nvSpPr>
          <p:spPr bwMode="auto">
            <a:xfrm>
              <a:off x="3984" y="3696"/>
              <a:ext cx="9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Aft>
                  <a:spcPts val="0"/>
                </a:spcAft>
                <a:buClr>
                  <a:srgbClr val="EEECE1"/>
                </a:buClr>
                <a:buNone/>
              </a:pPr>
              <a:r>
                <a:rPr lang="zh-CN" altLang="zh-CN" sz="3086" dirty="0">
                  <a:solidFill>
                    <a:prstClr val="black"/>
                  </a:solidFill>
                </a:rPr>
                <a:t>有向无环图</a:t>
              </a:r>
            </a:p>
          </p:txBody>
        </p:sp>
      </p:grpSp>
      <p:sp>
        <p:nvSpPr>
          <p:cNvPr id="55" name="文本框 54"/>
          <p:cNvSpPr txBox="1"/>
          <p:nvPr/>
        </p:nvSpPr>
        <p:spPr>
          <a:xfrm>
            <a:off x="3110240" y="2877747"/>
            <a:ext cx="2586057" cy="25353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just" defTabSz="503972" rtl="0" fontAlgn="auto" hangingPunct="1">
              <a:lnSpc>
                <a:spcPct val="100000"/>
              </a:lnSpc>
              <a:spcBef>
                <a:spcPts val="0"/>
              </a:spcBef>
              <a:spcAft>
                <a:spcPts val="0"/>
              </a:spcAft>
              <a:buSzTx/>
            </a:pPr>
            <a:r>
              <a:rPr lang="zh-CN" altLang="zh-CN" sz="2646" dirty="0">
                <a:solidFill>
                  <a:prstClr val="white"/>
                </a:solidFill>
                <a:latin typeface="微软雅黑" panose="020B0503020204020204" pitchFamily="34" charset="-122"/>
                <a:ea typeface="微软雅黑" panose="020B0503020204020204" pitchFamily="34" charset="-122"/>
              </a:rPr>
              <a:t>有向无环图</a:t>
            </a:r>
            <a:r>
              <a:rPr lang="zh-CN" altLang="en-US" sz="2646" dirty="0">
                <a:solidFill>
                  <a:prstClr val="white"/>
                </a:solidFill>
                <a:latin typeface="微软雅黑" panose="020B0503020204020204" pitchFamily="34" charset="-122"/>
                <a:ea typeface="微软雅黑" panose="020B0503020204020204" pitchFamily="34" charset="-122"/>
              </a:rPr>
              <a:t>对应的三地址代码：</a:t>
            </a:r>
            <a:r>
              <a:rPr lang="en-US" altLang="zh-CN" sz="2646" dirty="0">
                <a:solidFill>
                  <a:prstClr val="white"/>
                </a:solidFill>
                <a:latin typeface="微软雅黑" panose="020B0503020204020204" pitchFamily="34" charset="-122"/>
                <a:ea typeface="微软雅黑" panose="020B0503020204020204" pitchFamily="34" charset="-122"/>
              </a:rPr>
              <a:t> </a:t>
            </a:r>
          </a:p>
          <a:p>
            <a:pPr algn="just" defTabSz="503972" rtl="0" fontAlgn="auto" hangingPunct="1">
              <a:lnSpc>
                <a:spcPct val="10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1 </a:t>
            </a:r>
            <a:r>
              <a:rPr lang="en-US" altLang="zh-CN" sz="2646" dirty="0">
                <a:solidFill>
                  <a:prstClr val="white"/>
                </a:solidFill>
                <a:latin typeface="微软雅黑" panose="020B0503020204020204" pitchFamily="34" charset="-122"/>
                <a:ea typeface="微软雅黑" panose="020B0503020204020204" pitchFamily="34" charset="-122"/>
              </a:rPr>
              <a:t>:= - c</a:t>
            </a:r>
          </a:p>
          <a:p>
            <a:pPr algn="just" defTabSz="503972" rtl="0" fontAlgn="auto" hangingPunct="1">
              <a:lnSpc>
                <a:spcPct val="10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2 </a:t>
            </a:r>
            <a:r>
              <a:rPr lang="en-US" altLang="zh-CN" sz="2646" dirty="0">
                <a:solidFill>
                  <a:prstClr val="white"/>
                </a:solidFill>
                <a:latin typeface="微软雅黑" panose="020B0503020204020204" pitchFamily="34" charset="-122"/>
                <a:ea typeface="微软雅黑" panose="020B0503020204020204" pitchFamily="34" charset="-122"/>
              </a:rPr>
              <a:t>:= b * T</a:t>
            </a:r>
            <a:r>
              <a:rPr lang="en-US" altLang="zh-CN" sz="2646" baseline="-30000" dirty="0">
                <a:solidFill>
                  <a:prstClr val="white"/>
                </a:solidFill>
                <a:latin typeface="微软雅黑" panose="020B0503020204020204" pitchFamily="34" charset="-122"/>
                <a:ea typeface="微软雅黑" panose="020B0503020204020204" pitchFamily="34" charset="-122"/>
              </a:rPr>
              <a:t>1</a:t>
            </a:r>
            <a:endParaRPr lang="en-US" altLang="zh-CN" sz="2646" dirty="0">
              <a:solidFill>
                <a:prstClr val="white"/>
              </a:solidFill>
              <a:latin typeface="微软雅黑" panose="020B0503020204020204" pitchFamily="34" charset="-122"/>
              <a:ea typeface="微软雅黑" panose="020B0503020204020204" pitchFamily="34" charset="-122"/>
            </a:endParaRPr>
          </a:p>
          <a:p>
            <a:pPr algn="just" defTabSz="503972" rtl="0" fontAlgn="auto" hangingPunct="1">
              <a:lnSpc>
                <a:spcPct val="10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5 </a:t>
            </a:r>
            <a:r>
              <a:rPr lang="en-US" altLang="zh-CN" sz="2646" dirty="0">
                <a:solidFill>
                  <a:prstClr val="white"/>
                </a:solidFill>
                <a:latin typeface="微软雅黑" panose="020B0503020204020204" pitchFamily="34" charset="-122"/>
                <a:ea typeface="微软雅黑" panose="020B0503020204020204" pitchFamily="34" charset="-122"/>
              </a:rPr>
              <a:t>:= T</a:t>
            </a:r>
            <a:r>
              <a:rPr lang="en-US" altLang="zh-CN" sz="2646" baseline="-30000" dirty="0">
                <a:solidFill>
                  <a:prstClr val="white"/>
                </a:solidFill>
                <a:latin typeface="微软雅黑" panose="020B0503020204020204" pitchFamily="34" charset="-122"/>
                <a:ea typeface="微软雅黑" panose="020B0503020204020204" pitchFamily="34" charset="-122"/>
              </a:rPr>
              <a:t>2 </a:t>
            </a:r>
            <a:r>
              <a:rPr lang="en-US" altLang="zh-CN" sz="2646" dirty="0">
                <a:solidFill>
                  <a:prstClr val="white"/>
                </a:solidFill>
                <a:latin typeface="微软雅黑" panose="020B0503020204020204" pitchFamily="34" charset="-122"/>
                <a:ea typeface="微软雅黑" panose="020B0503020204020204" pitchFamily="34" charset="-122"/>
              </a:rPr>
              <a:t>+ T</a:t>
            </a:r>
            <a:r>
              <a:rPr lang="en-US" altLang="zh-CN" sz="2646" baseline="-30000" dirty="0">
                <a:solidFill>
                  <a:prstClr val="white"/>
                </a:solidFill>
                <a:latin typeface="微软雅黑" panose="020B0503020204020204" pitchFamily="34" charset="-122"/>
                <a:ea typeface="微软雅黑" panose="020B0503020204020204" pitchFamily="34" charset="-122"/>
              </a:rPr>
              <a:t>2</a:t>
            </a:r>
            <a:endParaRPr lang="en-US" altLang="zh-CN" sz="2646" dirty="0">
              <a:solidFill>
                <a:prstClr val="white"/>
              </a:solidFill>
              <a:latin typeface="微软雅黑" panose="020B0503020204020204" pitchFamily="34" charset="-122"/>
              <a:ea typeface="微软雅黑" panose="020B0503020204020204" pitchFamily="34" charset="-122"/>
            </a:endParaRPr>
          </a:p>
          <a:p>
            <a:pPr algn="just" defTabSz="503972" rtl="0" fontAlgn="auto" hangingPunct="1">
              <a:lnSpc>
                <a:spcPct val="10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a := T</a:t>
            </a:r>
            <a:r>
              <a:rPr lang="en-US" altLang="zh-CN" sz="2646" baseline="-30000" dirty="0">
                <a:solidFill>
                  <a:prstClr val="white"/>
                </a:solidFill>
                <a:latin typeface="微软雅黑" panose="020B0503020204020204" pitchFamily="34" charset="-122"/>
                <a:ea typeface="微软雅黑" panose="020B0503020204020204" pitchFamily="34" charset="-122"/>
              </a:rPr>
              <a:t>5</a:t>
            </a:r>
            <a:endParaRPr lang="en-US" altLang="zh-CN" sz="2646" dirty="0">
              <a:solidFill>
                <a:prstClr val="white"/>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146959" y="2877747"/>
            <a:ext cx="2888537" cy="302390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just" defTabSz="503972" rtl="0" fontAlgn="auto" hangingPunct="1">
              <a:lnSpc>
                <a:spcPct val="90000"/>
              </a:lnSpc>
              <a:spcBef>
                <a:spcPts val="0"/>
              </a:spcBef>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抽象语法树对应的三地址代码：</a:t>
            </a:r>
            <a:endParaRPr lang="en-US" altLang="zh-CN" sz="2646" dirty="0">
              <a:solidFill>
                <a:prstClr val="white"/>
              </a:solidFill>
              <a:latin typeface="微软雅黑" panose="020B0503020204020204" pitchFamily="34" charset="-122"/>
              <a:ea typeface="微软雅黑" panose="020B0503020204020204" pitchFamily="34" charset="-122"/>
            </a:endParaRP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1 </a:t>
            </a:r>
            <a:r>
              <a:rPr lang="en-US" altLang="zh-CN" sz="2646" dirty="0">
                <a:solidFill>
                  <a:prstClr val="white"/>
                </a:solidFill>
                <a:latin typeface="微软雅黑" panose="020B0503020204020204" pitchFamily="34" charset="-122"/>
                <a:ea typeface="微软雅黑" panose="020B0503020204020204" pitchFamily="34" charset="-122"/>
              </a:rPr>
              <a:t>:= -c</a:t>
            </a: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2 </a:t>
            </a:r>
            <a:r>
              <a:rPr lang="en-US" altLang="zh-CN" sz="2646" dirty="0">
                <a:solidFill>
                  <a:prstClr val="white"/>
                </a:solidFill>
                <a:latin typeface="微软雅黑" panose="020B0503020204020204" pitchFamily="34" charset="-122"/>
                <a:ea typeface="微软雅黑" panose="020B0503020204020204" pitchFamily="34" charset="-122"/>
              </a:rPr>
              <a:t>:= b * T</a:t>
            </a:r>
            <a:r>
              <a:rPr lang="en-US" altLang="zh-CN" sz="2646" baseline="-30000" dirty="0">
                <a:solidFill>
                  <a:prstClr val="white"/>
                </a:solidFill>
                <a:latin typeface="微软雅黑" panose="020B0503020204020204" pitchFamily="34" charset="-122"/>
                <a:ea typeface="微软雅黑" panose="020B0503020204020204" pitchFamily="34" charset="-122"/>
              </a:rPr>
              <a:t>1</a:t>
            </a:r>
            <a:r>
              <a:rPr lang="en-US" altLang="zh-CN" sz="2646" dirty="0">
                <a:solidFill>
                  <a:prstClr val="white"/>
                </a:solidFill>
                <a:latin typeface="微软雅黑" panose="020B0503020204020204" pitchFamily="34" charset="-122"/>
                <a:ea typeface="微软雅黑" panose="020B0503020204020204" pitchFamily="34" charset="-122"/>
              </a:rPr>
              <a:t>	</a:t>
            </a: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3 </a:t>
            </a:r>
            <a:r>
              <a:rPr lang="en-US" altLang="zh-CN" sz="2646" dirty="0">
                <a:solidFill>
                  <a:prstClr val="white"/>
                </a:solidFill>
                <a:latin typeface="微软雅黑" panose="020B0503020204020204" pitchFamily="34" charset="-122"/>
                <a:ea typeface="微软雅黑" panose="020B0503020204020204" pitchFamily="34" charset="-122"/>
              </a:rPr>
              <a:t>:= - c</a:t>
            </a: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4 </a:t>
            </a:r>
            <a:r>
              <a:rPr lang="en-US" altLang="zh-CN" sz="2646" dirty="0">
                <a:solidFill>
                  <a:prstClr val="white"/>
                </a:solidFill>
                <a:latin typeface="微软雅黑" panose="020B0503020204020204" pitchFamily="34" charset="-122"/>
                <a:ea typeface="微软雅黑" panose="020B0503020204020204" pitchFamily="34" charset="-122"/>
              </a:rPr>
              <a:t>:= b * T</a:t>
            </a:r>
            <a:r>
              <a:rPr lang="en-US" altLang="zh-CN" sz="2646" baseline="-30000" dirty="0">
                <a:solidFill>
                  <a:prstClr val="white"/>
                </a:solidFill>
                <a:latin typeface="微软雅黑" panose="020B0503020204020204" pitchFamily="34" charset="-122"/>
                <a:ea typeface="微软雅黑" panose="020B0503020204020204" pitchFamily="34" charset="-122"/>
              </a:rPr>
              <a:t>3</a:t>
            </a:r>
            <a:endParaRPr lang="en-US" altLang="zh-CN" sz="2646" dirty="0">
              <a:solidFill>
                <a:prstClr val="white"/>
              </a:solidFill>
              <a:latin typeface="微软雅黑" panose="020B0503020204020204" pitchFamily="34" charset="-122"/>
              <a:ea typeface="微软雅黑" panose="020B0503020204020204" pitchFamily="34" charset="-122"/>
            </a:endParaRP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T</a:t>
            </a:r>
            <a:r>
              <a:rPr lang="en-US" altLang="zh-CN" sz="2646" baseline="-30000" dirty="0">
                <a:solidFill>
                  <a:prstClr val="white"/>
                </a:solidFill>
                <a:latin typeface="微软雅黑" panose="020B0503020204020204" pitchFamily="34" charset="-122"/>
                <a:ea typeface="微软雅黑" panose="020B0503020204020204" pitchFamily="34" charset="-122"/>
              </a:rPr>
              <a:t>5 </a:t>
            </a:r>
            <a:r>
              <a:rPr lang="en-US" altLang="zh-CN" sz="2646" dirty="0">
                <a:solidFill>
                  <a:prstClr val="white"/>
                </a:solidFill>
                <a:latin typeface="微软雅黑" panose="020B0503020204020204" pitchFamily="34" charset="-122"/>
                <a:ea typeface="微软雅黑" panose="020B0503020204020204" pitchFamily="34" charset="-122"/>
              </a:rPr>
              <a:t>:= T</a:t>
            </a:r>
            <a:r>
              <a:rPr lang="en-US" altLang="zh-CN" sz="2646" baseline="-30000" dirty="0">
                <a:solidFill>
                  <a:prstClr val="white"/>
                </a:solidFill>
                <a:latin typeface="微软雅黑" panose="020B0503020204020204" pitchFamily="34" charset="-122"/>
                <a:ea typeface="微软雅黑" panose="020B0503020204020204" pitchFamily="34" charset="-122"/>
              </a:rPr>
              <a:t>2 </a:t>
            </a:r>
            <a:r>
              <a:rPr lang="en-US" altLang="zh-CN" sz="2646" dirty="0">
                <a:solidFill>
                  <a:prstClr val="white"/>
                </a:solidFill>
                <a:latin typeface="微软雅黑" panose="020B0503020204020204" pitchFamily="34" charset="-122"/>
                <a:ea typeface="微软雅黑" panose="020B0503020204020204" pitchFamily="34" charset="-122"/>
              </a:rPr>
              <a:t>+ T</a:t>
            </a:r>
            <a:r>
              <a:rPr lang="en-US" altLang="zh-CN" sz="2646" baseline="-30000" dirty="0">
                <a:solidFill>
                  <a:prstClr val="white"/>
                </a:solidFill>
                <a:latin typeface="微软雅黑" panose="020B0503020204020204" pitchFamily="34" charset="-122"/>
                <a:ea typeface="微软雅黑" panose="020B0503020204020204" pitchFamily="34" charset="-122"/>
              </a:rPr>
              <a:t>4</a:t>
            </a:r>
            <a:r>
              <a:rPr lang="en-US" altLang="zh-CN" sz="2646" dirty="0">
                <a:solidFill>
                  <a:prstClr val="white"/>
                </a:solidFill>
                <a:latin typeface="微软雅黑" panose="020B0503020204020204" pitchFamily="34" charset="-122"/>
                <a:ea typeface="微软雅黑" panose="020B0503020204020204" pitchFamily="34" charset="-122"/>
              </a:rPr>
              <a:t> </a:t>
            </a:r>
          </a:p>
          <a:p>
            <a:pPr algn="just" defTabSz="503972" rtl="0" fontAlgn="auto" hangingPunct="1">
              <a:lnSpc>
                <a:spcPct val="90000"/>
              </a:lnSpc>
              <a:spcBef>
                <a:spcPts val="0"/>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a := T</a:t>
            </a:r>
            <a:r>
              <a:rPr lang="en-US" altLang="zh-CN" sz="2646" baseline="-30000" dirty="0">
                <a:solidFill>
                  <a:prstClr val="white"/>
                </a:solidFill>
                <a:latin typeface="微软雅黑" panose="020B0503020204020204" pitchFamily="34" charset="-122"/>
                <a:ea typeface="微软雅黑" panose="020B0503020204020204" pitchFamily="34" charset="-122"/>
              </a:rPr>
              <a:t>5</a:t>
            </a:r>
            <a:endParaRPr lang="en-US" altLang="zh-CN" sz="2646"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3587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up)">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up)">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wipe(up)">
                                      <p:cBhvr>
                                        <p:cTn id="1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DAG</a:t>
            </a:r>
            <a:r>
              <a:rPr lang="zh-CN" altLang="en-US" dirty="0"/>
              <a:t>的扩充</a:t>
            </a:r>
          </a:p>
        </p:txBody>
      </p:sp>
      <p:sp>
        <p:nvSpPr>
          <p:cNvPr id="58371" name="Rectangle 3"/>
          <p:cNvSpPr>
            <a:spLocks noGrp="1" noChangeArrowheads="1"/>
          </p:cNvSpPr>
          <p:nvPr>
            <p:ph idx="1"/>
          </p:nvPr>
        </p:nvSpPr>
        <p:spPr/>
        <p:txBody>
          <a:bodyPr>
            <a:normAutofit/>
          </a:bodyPr>
          <a:lstStyle/>
          <a:p>
            <a:pPr eaLnBrk="1" hangingPunct="1"/>
            <a:r>
              <a:rPr lang="zh-CN" altLang="en-US" sz="2480" dirty="0"/>
              <a:t>在</a:t>
            </a:r>
            <a:r>
              <a:rPr lang="en-US" altLang="zh-CN" sz="2480" dirty="0"/>
              <a:t>DAG</a:t>
            </a:r>
            <a:r>
              <a:rPr lang="zh-CN" altLang="en-US" sz="2480" dirty="0"/>
              <a:t>增加标记和附加信息</a:t>
            </a:r>
            <a:endParaRPr lang="en-US" altLang="zh-CN" sz="2480" dirty="0"/>
          </a:p>
          <a:p>
            <a:pPr lvl="1"/>
            <a:r>
              <a:rPr lang="zh-CN" altLang="en-US" sz="2315" dirty="0"/>
              <a:t>图的</a:t>
            </a:r>
            <a:r>
              <a:rPr lang="zh-CN" altLang="en-US" sz="2315" dirty="0">
                <a:solidFill>
                  <a:srgbClr val="CC0000"/>
                </a:solidFill>
              </a:rPr>
              <a:t>叶结点</a:t>
            </a:r>
            <a:r>
              <a:rPr lang="zh-CN" altLang="en-US" sz="2315" dirty="0"/>
              <a:t>以一</a:t>
            </a:r>
            <a:r>
              <a:rPr lang="zh-CN" altLang="en-US" sz="2315" dirty="0">
                <a:solidFill>
                  <a:srgbClr val="0070C0"/>
                </a:solidFill>
              </a:rPr>
              <a:t>标识符</a:t>
            </a:r>
            <a:r>
              <a:rPr lang="zh-CN" altLang="en-US" sz="2315" dirty="0"/>
              <a:t>或</a:t>
            </a:r>
            <a:r>
              <a:rPr lang="zh-CN" altLang="en-US" sz="2315" dirty="0">
                <a:solidFill>
                  <a:srgbClr val="0070C0"/>
                </a:solidFill>
              </a:rPr>
              <a:t>常数</a:t>
            </a:r>
            <a:r>
              <a:rPr lang="zh-CN" altLang="en-US" sz="2315" dirty="0"/>
              <a:t>作为标记，表示该结点代表该变量或常数的值</a:t>
            </a:r>
          </a:p>
          <a:p>
            <a:pPr lvl="1"/>
            <a:r>
              <a:rPr lang="zh-CN" altLang="en-US" sz="2315" dirty="0"/>
              <a:t>图的</a:t>
            </a:r>
            <a:r>
              <a:rPr lang="zh-CN" altLang="en-US" sz="2315" dirty="0">
                <a:solidFill>
                  <a:srgbClr val="CC0000"/>
                </a:solidFill>
              </a:rPr>
              <a:t>内部结点</a:t>
            </a:r>
            <a:r>
              <a:rPr lang="zh-CN" altLang="en-US" sz="2315" dirty="0"/>
              <a:t>以一</a:t>
            </a:r>
            <a:r>
              <a:rPr lang="zh-CN" altLang="en-US" sz="2315" dirty="0">
                <a:solidFill>
                  <a:srgbClr val="0070C0"/>
                </a:solidFill>
              </a:rPr>
              <a:t>运算符</a:t>
            </a:r>
            <a:r>
              <a:rPr lang="zh-CN" altLang="en-US" sz="2315" dirty="0"/>
              <a:t>作为标记，表示该结点代表应用该运算符对其后继结点所代表的值进行运算的结果</a:t>
            </a:r>
          </a:p>
          <a:p>
            <a:pPr lvl="1"/>
            <a:r>
              <a:rPr lang="zh-CN" altLang="en-US" sz="2315" dirty="0"/>
              <a:t>各个结点上可能</a:t>
            </a:r>
            <a:r>
              <a:rPr lang="zh-CN" altLang="en-US" sz="2315" dirty="0">
                <a:solidFill>
                  <a:srgbClr val="0070C0"/>
                </a:solidFill>
              </a:rPr>
              <a:t>附加一个或多个标识符</a:t>
            </a:r>
            <a:r>
              <a:rPr lang="zh-CN" altLang="en-US" sz="2315" dirty="0"/>
              <a:t>(称附加标识符)表示这些变量具有该结点所代表的值</a:t>
            </a:r>
          </a:p>
        </p:txBody>
      </p:sp>
      <p:sp>
        <p:nvSpPr>
          <p:cNvPr id="17" name="Oval 9"/>
          <p:cNvSpPr>
            <a:spLocks noChangeArrowheads="1"/>
          </p:cNvSpPr>
          <p:nvPr/>
        </p:nvSpPr>
        <p:spPr bwMode="auto">
          <a:xfrm>
            <a:off x="5217636" y="6378609"/>
            <a:ext cx="587975" cy="587975"/>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a:solidFill>
                  <a:prstClr val="black"/>
                </a:solidFill>
                <a:latin typeface="Times New Roman" panose="02020603050405020304" pitchFamily="18" charset="0"/>
                <a:ea typeface="宋体" panose="02010600030101010101" pitchFamily="2" charset="-122"/>
              </a:rPr>
              <a:t>n</a:t>
            </a:r>
            <a:r>
              <a:rPr kumimoji="1" lang="en-US" altLang="zh-CN" sz="3086" b="1" baseline="-25000">
                <a:solidFill>
                  <a:prstClr val="black"/>
                </a:solidFill>
                <a:latin typeface="Times New Roman" panose="02020603050405020304" pitchFamily="18" charset="0"/>
                <a:ea typeface="宋体" panose="02010600030101010101" pitchFamily="2" charset="-122"/>
              </a:rPr>
              <a:t>1</a:t>
            </a:r>
            <a:endParaRPr kumimoji="1" lang="en-US" altLang="zh-CN" sz="3086" b="1">
              <a:solidFill>
                <a:prstClr val="black"/>
              </a:solidFill>
              <a:latin typeface="Times New Roman" panose="02020603050405020304" pitchFamily="18" charset="0"/>
              <a:ea typeface="宋体" panose="02010600030101010101" pitchFamily="2" charset="-122"/>
            </a:endParaRPr>
          </a:p>
        </p:txBody>
      </p:sp>
      <p:sp>
        <p:nvSpPr>
          <p:cNvPr id="18" name="Rectangle 10"/>
          <p:cNvSpPr>
            <a:spLocks noChangeArrowheads="1"/>
          </p:cNvSpPr>
          <p:nvPr/>
        </p:nvSpPr>
        <p:spPr bwMode="auto">
          <a:xfrm>
            <a:off x="5091641" y="7054080"/>
            <a:ext cx="839964" cy="335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3086" b="1" dirty="0">
                <a:solidFill>
                  <a:prstClr val="black"/>
                </a:solidFill>
                <a:latin typeface="Times New Roman" panose="02020603050405020304" pitchFamily="18" charset="0"/>
                <a:ea typeface="宋体" panose="02010600030101010101" pitchFamily="2" charset="-122"/>
              </a:rPr>
              <a:t>3.14</a:t>
            </a:r>
          </a:p>
        </p:txBody>
      </p:sp>
      <p:sp>
        <p:nvSpPr>
          <p:cNvPr id="19" name="Oval 11"/>
          <p:cNvSpPr>
            <a:spLocks noChangeArrowheads="1"/>
          </p:cNvSpPr>
          <p:nvPr/>
        </p:nvSpPr>
        <p:spPr bwMode="auto">
          <a:xfrm>
            <a:off x="7084806" y="6382109"/>
            <a:ext cx="587975" cy="587975"/>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dirty="0">
                <a:solidFill>
                  <a:prstClr val="black"/>
                </a:solidFill>
                <a:latin typeface="Times New Roman" panose="02020603050405020304" pitchFamily="18" charset="0"/>
                <a:ea typeface="宋体" panose="02010600030101010101" pitchFamily="2" charset="-122"/>
              </a:rPr>
              <a:t>n</a:t>
            </a:r>
            <a:r>
              <a:rPr kumimoji="1" lang="en-US" altLang="zh-CN" sz="3086" b="1" baseline="-25000" dirty="0">
                <a:solidFill>
                  <a:prstClr val="black"/>
                </a:solidFill>
                <a:latin typeface="Times New Roman" panose="02020603050405020304" pitchFamily="18" charset="0"/>
                <a:ea typeface="宋体" panose="02010600030101010101" pitchFamily="2" charset="-122"/>
              </a:rPr>
              <a:t>2</a:t>
            </a:r>
            <a:endParaRPr kumimoji="1" lang="en-US" altLang="zh-CN" sz="3086" b="1" dirty="0">
              <a:solidFill>
                <a:prstClr val="black"/>
              </a:solidFill>
              <a:latin typeface="Times New Roman" panose="02020603050405020304" pitchFamily="18" charset="0"/>
              <a:ea typeface="宋体" panose="02010600030101010101" pitchFamily="2" charset="-122"/>
            </a:endParaRPr>
          </a:p>
        </p:txBody>
      </p:sp>
      <p:sp>
        <p:nvSpPr>
          <p:cNvPr id="20" name="Oval 12"/>
          <p:cNvSpPr>
            <a:spLocks noChangeArrowheads="1"/>
          </p:cNvSpPr>
          <p:nvPr/>
        </p:nvSpPr>
        <p:spPr bwMode="auto">
          <a:xfrm>
            <a:off x="8710486" y="6378609"/>
            <a:ext cx="587975" cy="587975"/>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dirty="0">
                <a:solidFill>
                  <a:prstClr val="black"/>
                </a:solidFill>
                <a:latin typeface="Times New Roman" panose="02020603050405020304" pitchFamily="18" charset="0"/>
                <a:ea typeface="宋体" panose="02010600030101010101" pitchFamily="2" charset="-122"/>
              </a:rPr>
              <a:t>n</a:t>
            </a:r>
            <a:r>
              <a:rPr kumimoji="1" lang="en-US" altLang="zh-CN" sz="3086" b="1" baseline="-25000" dirty="0">
                <a:solidFill>
                  <a:prstClr val="black"/>
                </a:solidFill>
                <a:latin typeface="Times New Roman" panose="02020603050405020304" pitchFamily="18" charset="0"/>
                <a:ea typeface="宋体" panose="02010600030101010101" pitchFamily="2" charset="-122"/>
              </a:rPr>
              <a:t>3</a:t>
            </a:r>
            <a:endParaRPr kumimoji="1" lang="en-US" altLang="zh-CN" sz="3086" b="1" dirty="0">
              <a:solidFill>
                <a:prstClr val="black"/>
              </a:solidFill>
              <a:latin typeface="Times New Roman" panose="02020603050405020304" pitchFamily="18" charset="0"/>
              <a:ea typeface="宋体" panose="02010600030101010101" pitchFamily="2" charset="-122"/>
            </a:endParaRPr>
          </a:p>
        </p:txBody>
      </p:sp>
      <p:sp>
        <p:nvSpPr>
          <p:cNvPr id="21" name="Rectangle 13"/>
          <p:cNvSpPr>
            <a:spLocks noChangeArrowheads="1"/>
          </p:cNvSpPr>
          <p:nvPr/>
        </p:nvSpPr>
        <p:spPr bwMode="auto">
          <a:xfrm>
            <a:off x="6972811" y="7054080"/>
            <a:ext cx="839964" cy="335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dirty="0">
                <a:solidFill>
                  <a:prstClr val="black"/>
                </a:solidFill>
                <a:latin typeface="Times New Roman" panose="02020603050405020304" pitchFamily="18" charset="0"/>
                <a:ea typeface="宋体" panose="02010600030101010101" pitchFamily="2" charset="-122"/>
              </a:rPr>
              <a:t>R</a:t>
            </a:r>
          </a:p>
        </p:txBody>
      </p:sp>
      <p:sp>
        <p:nvSpPr>
          <p:cNvPr id="22" name="Rectangle 14"/>
          <p:cNvSpPr>
            <a:spLocks noChangeArrowheads="1"/>
          </p:cNvSpPr>
          <p:nvPr/>
        </p:nvSpPr>
        <p:spPr bwMode="auto">
          <a:xfrm>
            <a:off x="8584491" y="7054080"/>
            <a:ext cx="839964" cy="335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a:solidFill>
                  <a:prstClr val="black"/>
                </a:solidFill>
                <a:latin typeface="Times New Roman" panose="02020603050405020304" pitchFamily="18" charset="0"/>
                <a:ea typeface="宋体" panose="02010600030101010101" pitchFamily="2" charset="-122"/>
              </a:rPr>
              <a:t>r</a:t>
            </a:r>
          </a:p>
        </p:txBody>
      </p:sp>
      <p:sp>
        <p:nvSpPr>
          <p:cNvPr id="23" name="Oval 15"/>
          <p:cNvSpPr>
            <a:spLocks noChangeArrowheads="1"/>
          </p:cNvSpPr>
          <p:nvPr/>
        </p:nvSpPr>
        <p:spPr bwMode="auto">
          <a:xfrm>
            <a:off x="7518787" y="4870174"/>
            <a:ext cx="587975" cy="587975"/>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dirty="0">
                <a:solidFill>
                  <a:prstClr val="black"/>
                </a:solidFill>
                <a:latin typeface="Times New Roman" panose="02020603050405020304" pitchFamily="18" charset="0"/>
                <a:ea typeface="宋体" panose="02010600030101010101" pitchFamily="2" charset="-122"/>
              </a:rPr>
              <a:t>n</a:t>
            </a:r>
            <a:r>
              <a:rPr kumimoji="1" lang="en-US" altLang="zh-CN" sz="3086" b="1" baseline="-25000" dirty="0">
                <a:solidFill>
                  <a:prstClr val="black"/>
                </a:solidFill>
                <a:latin typeface="Times New Roman" panose="02020603050405020304" pitchFamily="18" charset="0"/>
                <a:ea typeface="宋体" panose="02010600030101010101" pitchFamily="2" charset="-122"/>
              </a:rPr>
              <a:t>4</a:t>
            </a:r>
            <a:endParaRPr kumimoji="1" lang="en-US" altLang="zh-CN" sz="3086" b="1" dirty="0">
              <a:solidFill>
                <a:prstClr val="black"/>
              </a:solidFill>
              <a:latin typeface="Times New Roman" panose="02020603050405020304" pitchFamily="18" charset="0"/>
              <a:ea typeface="宋体" panose="02010600030101010101" pitchFamily="2" charset="-122"/>
            </a:endParaRPr>
          </a:p>
        </p:txBody>
      </p:sp>
      <p:grpSp>
        <p:nvGrpSpPr>
          <p:cNvPr id="24" name="Group 16"/>
          <p:cNvGrpSpPr>
            <a:grpSpLocks/>
          </p:cNvGrpSpPr>
          <p:nvPr/>
        </p:nvGrpSpPr>
        <p:grpSpPr bwMode="auto">
          <a:xfrm>
            <a:off x="7339611" y="5458150"/>
            <a:ext cx="1612400" cy="920460"/>
            <a:chOff x="3939" y="2544"/>
            <a:chExt cx="889" cy="576"/>
          </a:xfrm>
        </p:grpSpPr>
        <p:sp>
          <p:nvSpPr>
            <p:cNvPr id="25" name="Line 17"/>
            <p:cNvSpPr>
              <a:spLocks noChangeShapeType="1"/>
            </p:cNvSpPr>
            <p:nvPr/>
          </p:nvSpPr>
          <p:spPr bwMode="auto">
            <a:xfrm flipH="1">
              <a:off x="3939" y="2544"/>
              <a:ext cx="189" cy="57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sp>
          <p:nvSpPr>
            <p:cNvPr id="26" name="Line 18"/>
            <p:cNvSpPr>
              <a:spLocks noChangeShapeType="1"/>
            </p:cNvSpPr>
            <p:nvPr/>
          </p:nvSpPr>
          <p:spPr bwMode="auto">
            <a:xfrm>
              <a:off x="4272" y="2544"/>
              <a:ext cx="556" cy="57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a:solidFill>
                  <a:prstClr val="black"/>
                </a:solidFill>
                <a:latin typeface="Arial" panose="020B0604020202020204"/>
                <a:ea typeface="黑体" panose="02010609060101010101" pitchFamily="49" charset="-122"/>
              </a:endParaRPr>
            </a:p>
          </p:txBody>
        </p:sp>
      </p:grpSp>
      <p:sp>
        <p:nvSpPr>
          <p:cNvPr id="27" name="Rectangle 19"/>
          <p:cNvSpPr>
            <a:spLocks noChangeArrowheads="1"/>
          </p:cNvSpPr>
          <p:nvPr/>
        </p:nvSpPr>
        <p:spPr bwMode="auto">
          <a:xfrm>
            <a:off x="7602784" y="5458149"/>
            <a:ext cx="419982" cy="335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zh-CN" sz="3086" b="1">
                <a:solidFill>
                  <a:prstClr val="black"/>
                </a:solidFill>
                <a:latin typeface="Times New Roman" panose="02020603050405020304" pitchFamily="18" charset="0"/>
                <a:ea typeface="宋体" panose="02010600030101010101" pitchFamily="2" charset="-122"/>
              </a:rPr>
              <a:t>+</a:t>
            </a:r>
          </a:p>
        </p:txBody>
      </p:sp>
      <p:sp>
        <p:nvSpPr>
          <p:cNvPr id="28" name="Rectangle 21"/>
          <p:cNvSpPr>
            <a:spLocks noChangeArrowheads="1"/>
          </p:cNvSpPr>
          <p:nvPr/>
        </p:nvSpPr>
        <p:spPr bwMode="auto">
          <a:xfrm>
            <a:off x="8206507" y="4948920"/>
            <a:ext cx="587975" cy="335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b="1" dirty="0">
                <a:solidFill>
                  <a:prstClr val="black"/>
                </a:solidFill>
                <a:latin typeface="Times New Roman" panose="02020603050405020304" pitchFamily="18" charset="0"/>
                <a:ea typeface="宋体" panose="02010600030101010101" pitchFamily="2" charset="-122"/>
              </a:rPr>
              <a:t>T</a:t>
            </a:r>
            <a:r>
              <a:rPr kumimoji="1" lang="en-US" altLang="zh-CN" sz="3086" b="1" baseline="-25000" dirty="0">
                <a:solidFill>
                  <a:prstClr val="black"/>
                </a:solidFill>
                <a:latin typeface="Times New Roman" panose="02020603050405020304" pitchFamily="18" charset="0"/>
                <a:ea typeface="宋体" panose="02010600030101010101" pitchFamily="2" charset="-122"/>
              </a:rPr>
              <a:t>2</a:t>
            </a:r>
            <a:endParaRPr kumimoji="1" lang="en-US" altLang="zh-CN" sz="3086" b="1" dirty="0">
              <a:solidFill>
                <a:prstClr val="black"/>
              </a:solidFill>
              <a:latin typeface="Times New Roman" panose="02020603050405020304" pitchFamily="18" charset="0"/>
              <a:ea typeface="宋体" panose="02010600030101010101" pitchFamily="2" charset="-122"/>
            </a:endParaRPr>
          </a:p>
        </p:txBody>
      </p:sp>
      <p:sp>
        <p:nvSpPr>
          <p:cNvPr id="29" name="Rectangle 22"/>
          <p:cNvSpPr>
            <a:spLocks noChangeArrowheads="1"/>
          </p:cNvSpPr>
          <p:nvPr/>
        </p:nvSpPr>
        <p:spPr bwMode="auto">
          <a:xfrm>
            <a:off x="8710486" y="4948920"/>
            <a:ext cx="587975" cy="335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zh-CN" sz="3086" b="1" dirty="0">
                <a:solidFill>
                  <a:prstClr val="black"/>
                </a:solidFill>
                <a:latin typeface="Times New Roman" panose="02020603050405020304" pitchFamily="18" charset="0"/>
                <a:ea typeface="宋体" panose="02010600030101010101" pitchFamily="2" charset="-122"/>
              </a:rPr>
              <a:t>, </a:t>
            </a:r>
            <a:r>
              <a:rPr kumimoji="1" lang="en-US" altLang="zh-CN" sz="3086" b="1" dirty="0">
                <a:solidFill>
                  <a:prstClr val="black"/>
                </a:solidFill>
                <a:latin typeface="Times New Roman" panose="02020603050405020304" pitchFamily="18" charset="0"/>
                <a:ea typeface="宋体" panose="02010600030101010101" pitchFamily="2" charset="-122"/>
              </a:rPr>
              <a:t>T</a:t>
            </a:r>
            <a:r>
              <a:rPr kumimoji="1" lang="en-US" altLang="zh-CN" sz="3086" b="1" baseline="-25000" dirty="0">
                <a:solidFill>
                  <a:prstClr val="black"/>
                </a:solidFill>
                <a:latin typeface="Times New Roman" panose="02020603050405020304" pitchFamily="18" charset="0"/>
                <a:ea typeface="宋体" panose="02010600030101010101" pitchFamily="2" charset="-122"/>
              </a:rPr>
              <a:t>4</a:t>
            </a:r>
            <a:endParaRPr kumimoji="1" lang="en-US" altLang="zh-CN" sz="3086" b="1" dirty="0">
              <a:solidFill>
                <a:prstClr val="black"/>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8404645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wipe(left)">
                                      <p:cBhvr>
                                        <p:cTn id="7" dur="500"/>
                                        <p:tgtEl>
                                          <p:spTgt spid="58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wipe(left)">
                                      <p:cBhvr>
                                        <p:cTn id="12" dur="500"/>
                                        <p:tgtEl>
                                          <p:spTgt spid="58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up)">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up)">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up)">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up)">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up)">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up)">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8371">
                                            <p:txEl>
                                              <p:pRg st="2" end="2"/>
                                            </p:txEl>
                                          </p:spTgt>
                                        </p:tgtEl>
                                        <p:attrNameLst>
                                          <p:attrName>style.visibility</p:attrName>
                                        </p:attrNameLst>
                                      </p:cBhvr>
                                      <p:to>
                                        <p:strVal val="visible"/>
                                      </p:to>
                                    </p:set>
                                    <p:animEffect transition="in" filter="wipe(left)">
                                      <p:cBhvr>
                                        <p:cTn id="47" dur="500"/>
                                        <p:tgtEl>
                                          <p:spTgt spid="58371">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down)">
                                      <p:cBhvr>
                                        <p:cTn id="52" dur="5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up)">
                                      <p:cBhvr>
                                        <p:cTn id="57"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up)">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8371">
                                            <p:txEl>
                                              <p:pRg st="3" end="3"/>
                                            </p:txEl>
                                          </p:spTgt>
                                        </p:tgtEl>
                                        <p:attrNameLst>
                                          <p:attrName>style.visibility</p:attrName>
                                        </p:attrNameLst>
                                      </p:cBhvr>
                                      <p:to>
                                        <p:strVal val="visible"/>
                                      </p:to>
                                    </p:set>
                                    <p:animEffect transition="in" filter="wipe(left)">
                                      <p:cBhvr>
                                        <p:cTn id="67" dur="500"/>
                                        <p:tgtEl>
                                          <p:spTgt spid="58371">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up)">
                                      <p:cBhvr>
                                        <p:cTn id="72" dur="500"/>
                                        <p:tgtEl>
                                          <p:spTgt spid="2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wipe(left)">
                                      <p:cBhvr>
                                        <p:cTn id="7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P spid="17" grpId="0" animBg="1" autoUpdateAnimBg="0"/>
      <p:bldP spid="18" grpId="0" autoUpdateAnimBg="0"/>
      <p:bldP spid="19" grpId="0" animBg="1" autoUpdateAnimBg="0"/>
      <p:bldP spid="20" grpId="0" animBg="1" autoUpdateAnimBg="0"/>
      <p:bldP spid="21" grpId="0" autoUpdateAnimBg="0"/>
      <p:bldP spid="22" grpId="0" autoUpdateAnimBg="0"/>
      <p:bldP spid="23" grpId="0" animBg="1" autoUpdateAnimBg="0"/>
      <p:bldP spid="27" grpId="0" autoUpdateAnimBg="0"/>
      <p:bldP spid="28" grpId="0" autoUpdateAnimBg="0"/>
      <p:bldP spid="29"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dirty="0"/>
              <a:t>四元式的</a:t>
            </a:r>
            <a:r>
              <a:rPr lang="en-US" altLang="zh-CN" dirty="0">
                <a:latin typeface="微软雅黑" panose="020B0503020204020204" pitchFamily="34" charset="-122"/>
              </a:rPr>
              <a:t>DAG</a:t>
            </a:r>
            <a:r>
              <a:rPr lang="zh-CN" altLang="en-US" dirty="0">
                <a:latin typeface="微软雅黑" panose="020B0503020204020204" pitchFamily="34" charset="-122"/>
              </a:rPr>
              <a:t>表示</a:t>
            </a:r>
            <a:endParaRPr lang="en-US" altLang="zh-CN" dirty="0">
              <a:latin typeface="微软雅黑" panose="020B0503020204020204" pitchFamily="34" charset="-122"/>
            </a:endParaRPr>
          </a:p>
        </p:txBody>
      </p:sp>
      <p:sp>
        <p:nvSpPr>
          <p:cNvPr id="13315" name="Rectangle 3"/>
          <p:cNvSpPr>
            <a:spLocks noGrp="1" noChangeArrowheads="1"/>
          </p:cNvSpPr>
          <p:nvPr>
            <p:ph idx="1"/>
          </p:nvPr>
        </p:nvSpPr>
        <p:spPr>
          <a:xfrm>
            <a:off x="694530" y="1709699"/>
            <a:ext cx="8695531" cy="4797715"/>
          </a:xfrm>
        </p:spPr>
        <p:txBody>
          <a:bodyPr/>
          <a:lstStyle/>
          <a:p>
            <a:pPr eaLnBrk="1" hangingPunct="1">
              <a:lnSpc>
                <a:spcPct val="90000"/>
              </a:lnSpc>
            </a:pPr>
            <a:r>
              <a:rPr lang="zh-CN" altLang="en-US" dirty="0">
                <a:latin typeface="微软雅黑" panose="020B0503020204020204" pitchFamily="34" charset="-122"/>
              </a:rPr>
              <a:t>一个基本块，可以用一个</a:t>
            </a:r>
            <a:r>
              <a:rPr lang="en-US" altLang="zh-CN" dirty="0">
                <a:latin typeface="微软雅黑" panose="020B0503020204020204" pitchFamily="34" charset="-122"/>
              </a:rPr>
              <a:t>DAG</a:t>
            </a:r>
            <a:r>
              <a:rPr lang="zh-CN" altLang="en-US" dirty="0">
                <a:latin typeface="微软雅黑" panose="020B0503020204020204" pitchFamily="34" charset="-122"/>
              </a:rPr>
              <a:t>来表示，四元式可以用</a:t>
            </a:r>
            <a:r>
              <a:rPr lang="en-US" altLang="zh-CN" dirty="0">
                <a:latin typeface="微软雅黑" panose="020B0503020204020204" pitchFamily="34" charset="-122"/>
              </a:rPr>
              <a:t>DAG</a:t>
            </a:r>
            <a:r>
              <a:rPr lang="zh-CN" altLang="en-US" dirty="0">
                <a:latin typeface="微软雅黑" panose="020B0503020204020204" pitchFamily="34" charset="-122"/>
              </a:rPr>
              <a:t>表示</a:t>
            </a:r>
            <a:endParaRPr lang="en-US" altLang="zh-CN" dirty="0">
              <a:latin typeface="微软雅黑" panose="020B0503020204020204" pitchFamily="34" charset="-122"/>
            </a:endParaRPr>
          </a:p>
          <a:p>
            <a:pPr eaLnBrk="1" hangingPunct="1">
              <a:lnSpc>
                <a:spcPct val="90000"/>
              </a:lnSpc>
            </a:pPr>
            <a:endParaRPr lang="en-US" altLang="zh-CN" dirty="0">
              <a:latin typeface="微软雅黑" panose="020B0503020204020204" pitchFamily="34" charset="-122"/>
            </a:endParaRPr>
          </a:p>
          <a:p>
            <a:pPr eaLnBrk="1" hangingPunct="1">
              <a:lnSpc>
                <a:spcPct val="90000"/>
              </a:lnSpc>
            </a:pPr>
            <a:r>
              <a:rPr lang="zh-CN" altLang="en-US" dirty="0">
                <a:latin typeface="微软雅黑" panose="020B0503020204020204" pitchFamily="34" charset="-122"/>
              </a:rPr>
              <a:t>与各四元式相对应的</a:t>
            </a:r>
            <a:r>
              <a:rPr lang="en-US" altLang="zh-CN" dirty="0">
                <a:latin typeface="微软雅黑" panose="020B0503020204020204" pitchFamily="34" charset="-122"/>
              </a:rPr>
              <a:t>DAG</a:t>
            </a:r>
            <a:r>
              <a:rPr lang="zh-CN" altLang="en-US" dirty="0">
                <a:latin typeface="微软雅黑" panose="020B0503020204020204" pitchFamily="34" charset="-122"/>
              </a:rPr>
              <a:t>结点形式:</a:t>
            </a:r>
          </a:p>
          <a:p>
            <a:pPr>
              <a:lnSpc>
                <a:spcPct val="90000"/>
              </a:lnSpc>
              <a:spcBef>
                <a:spcPct val="60000"/>
              </a:spcBef>
              <a:spcAft>
                <a:spcPts val="1488"/>
              </a:spcAft>
              <a:buNone/>
            </a:pPr>
            <a:r>
              <a:rPr lang="zh-CN" altLang="en-US" dirty="0">
                <a:latin typeface="微软雅黑" panose="020B0503020204020204" pitchFamily="34" charset="-122"/>
              </a:rPr>
              <a:t> </a:t>
            </a:r>
            <a:r>
              <a:rPr lang="en-US" altLang="zh-CN" dirty="0">
                <a:latin typeface="微软雅黑" panose="020B0503020204020204" pitchFamily="34" charset="-122"/>
              </a:rPr>
              <a:t>	</a:t>
            </a:r>
            <a:r>
              <a:rPr lang="zh-CN" altLang="en-US" dirty="0">
                <a:latin typeface="微软雅黑" panose="020B0503020204020204" pitchFamily="34" charset="-122"/>
              </a:rPr>
              <a:t>四元式			          </a:t>
            </a:r>
            <a:r>
              <a:rPr lang="en-US" altLang="zh-CN" dirty="0">
                <a:latin typeface="微软雅黑" panose="020B0503020204020204" pitchFamily="34" charset="-122"/>
              </a:rPr>
              <a:t>	DAG </a:t>
            </a:r>
            <a:r>
              <a:rPr lang="zh-CN" altLang="en-US" dirty="0">
                <a:latin typeface="微软雅黑" panose="020B0503020204020204" pitchFamily="34" charset="-122"/>
              </a:rPr>
              <a:t>图</a:t>
            </a:r>
          </a:p>
        </p:txBody>
      </p:sp>
      <p:sp>
        <p:nvSpPr>
          <p:cNvPr id="11" name="Rectangle 4"/>
          <p:cNvSpPr>
            <a:spLocks noChangeArrowheads="1"/>
          </p:cNvSpPr>
          <p:nvPr/>
        </p:nvSpPr>
        <p:spPr bwMode="auto">
          <a:xfrm>
            <a:off x="685600" y="4557850"/>
            <a:ext cx="3947830" cy="142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(0)  0型:  </a:t>
            </a:r>
            <a:r>
              <a:rPr lang="en-US" altLang="zh-CN" sz="3086" dirty="0">
                <a:solidFill>
                  <a:prstClr val="black"/>
                </a:solidFill>
                <a:latin typeface="微软雅黑" panose="020B0503020204020204" pitchFamily="34" charset="-122"/>
              </a:rPr>
              <a:t>A:=B</a:t>
            </a:r>
          </a:p>
          <a:p>
            <a:pPr defTabSz="503972" rtl="0" fontAlgn="auto" hangingPunct="1">
              <a:lnSpc>
                <a:spcPct val="100000"/>
              </a:lnSpc>
              <a:spcBef>
                <a:spcPct val="0"/>
              </a:spcBef>
              <a:spcAft>
                <a:spcPts val="0"/>
              </a:spcAft>
              <a:buClrTx/>
              <a:buSzTx/>
              <a:buNone/>
            </a:pPr>
            <a:r>
              <a:rPr lang="en-US" altLang="zh-CN" sz="3086" dirty="0">
                <a:solidFill>
                  <a:prstClr val="black"/>
                </a:solidFill>
                <a:latin typeface="微软雅黑" panose="020B0503020204020204" pitchFamily="34" charset="-122"/>
              </a:rPr>
              <a:t>     ( :=，B，-，A) </a:t>
            </a:r>
            <a:endParaRPr lang="zh-CN" altLang="en-US" sz="3086" dirty="0">
              <a:solidFill>
                <a:prstClr val="black"/>
              </a:solidFill>
              <a:latin typeface="微软雅黑" panose="020B0503020204020204" pitchFamily="34" charset="-122"/>
            </a:endParaRPr>
          </a:p>
        </p:txBody>
      </p:sp>
      <p:grpSp>
        <p:nvGrpSpPr>
          <p:cNvPr id="12" name="Group 8"/>
          <p:cNvGrpSpPr>
            <a:grpSpLocks noChangeAspect="1"/>
          </p:cNvGrpSpPr>
          <p:nvPr/>
        </p:nvGrpSpPr>
        <p:grpSpPr bwMode="auto">
          <a:xfrm>
            <a:off x="5557015" y="4499885"/>
            <a:ext cx="1224667" cy="1193482"/>
            <a:chOff x="3838" y="2736"/>
            <a:chExt cx="864" cy="842"/>
          </a:xfrm>
        </p:grpSpPr>
        <p:sp>
          <p:nvSpPr>
            <p:cNvPr id="13" name="Oval 5"/>
            <p:cNvSpPr>
              <a:spLocks noChangeArrowheads="1"/>
            </p:cNvSpPr>
            <p:nvPr/>
          </p:nvSpPr>
          <p:spPr bwMode="auto">
            <a:xfrm>
              <a:off x="3840" y="2736"/>
              <a:ext cx="476" cy="47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dirty="0">
                  <a:solidFill>
                    <a:prstClr val="black"/>
                  </a:solidFill>
                  <a:latin typeface="微软雅黑" panose="020B0503020204020204" pitchFamily="34" charset="-122"/>
                </a:rPr>
                <a:t>n</a:t>
              </a:r>
              <a:r>
                <a:rPr kumimoji="1" lang="en-US" altLang="en-US" sz="3086" baseline="-25000" dirty="0">
                  <a:solidFill>
                    <a:prstClr val="black"/>
                  </a:solidFill>
                  <a:latin typeface="微软雅黑" panose="020B0503020204020204" pitchFamily="34" charset="-122"/>
                </a:rPr>
                <a:t>1</a:t>
              </a:r>
              <a:endParaRPr kumimoji="1" lang="en-US" altLang="zh-CN" sz="2205" dirty="0">
                <a:solidFill>
                  <a:prstClr val="black"/>
                </a:solidFill>
                <a:latin typeface="微软雅黑" panose="020B0503020204020204" pitchFamily="34" charset="-122"/>
              </a:endParaRPr>
            </a:p>
          </p:txBody>
        </p:sp>
        <p:sp>
          <p:nvSpPr>
            <p:cNvPr id="14" name="Rectangle 6"/>
            <p:cNvSpPr>
              <a:spLocks noChangeArrowheads="1"/>
            </p:cNvSpPr>
            <p:nvPr/>
          </p:nvSpPr>
          <p:spPr bwMode="auto">
            <a:xfrm>
              <a:off x="4270" y="2810"/>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A</a:t>
              </a:r>
              <a:endParaRPr kumimoji="1" lang="en-US" altLang="zh-CN" sz="2205" dirty="0">
                <a:solidFill>
                  <a:prstClr val="black"/>
                </a:solidFill>
                <a:latin typeface="微软雅黑" panose="020B0503020204020204" pitchFamily="34" charset="-122"/>
              </a:endParaRPr>
            </a:p>
          </p:txBody>
        </p:sp>
        <p:sp>
          <p:nvSpPr>
            <p:cNvPr id="15" name="Rectangle 7"/>
            <p:cNvSpPr>
              <a:spLocks noChangeArrowheads="1"/>
            </p:cNvSpPr>
            <p:nvPr/>
          </p:nvSpPr>
          <p:spPr bwMode="auto">
            <a:xfrm>
              <a:off x="3838" y="3194"/>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B</a:t>
              </a:r>
              <a:endParaRPr kumimoji="1" lang="en-US" altLang="zh-CN" sz="2205" dirty="0">
                <a:solidFill>
                  <a:prstClr val="black"/>
                </a:solidFill>
                <a:latin typeface="微软雅黑" panose="020B0503020204020204" pitchFamily="34" charset="-122"/>
              </a:endParaRPr>
            </a:p>
          </p:txBody>
        </p:sp>
      </p:grpSp>
    </p:spTree>
    <p:extLst>
      <p:ext uri="{BB962C8B-B14F-4D97-AF65-F5344CB8AC3E}">
        <p14:creationId xmlns:p14="http://schemas.microsoft.com/office/powerpoint/2010/main" val="180515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wipe(left)">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5">
                                            <p:txEl>
                                              <p:pRg st="2" end="2"/>
                                            </p:txEl>
                                          </p:spTgt>
                                        </p:tgtEl>
                                        <p:attrNameLst>
                                          <p:attrName>style.visibility</p:attrName>
                                        </p:attrNameLst>
                                      </p:cBhvr>
                                      <p:to>
                                        <p:strVal val="visible"/>
                                      </p:to>
                                    </p:set>
                                    <p:animEffect transition="in" filter="wipe(left)">
                                      <p:cBhvr>
                                        <p:cTn id="12" dur="500"/>
                                        <p:tgtEl>
                                          <p:spTgt spid="133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15">
                                            <p:txEl>
                                              <p:pRg st="3" end="3"/>
                                            </p:txEl>
                                          </p:spTgt>
                                        </p:tgtEl>
                                        <p:attrNameLst>
                                          <p:attrName>style.visibility</p:attrName>
                                        </p:attrNameLst>
                                      </p:cBhvr>
                                      <p:to>
                                        <p:strVal val="visible"/>
                                      </p:to>
                                    </p:set>
                                    <p:animEffect transition="in" filter="wipe(left)">
                                      <p:cBhvr>
                                        <p:cTn id="17" dur="500"/>
                                        <p:tgtEl>
                                          <p:spTgt spid="1331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四元式的</a:t>
            </a:r>
            <a:r>
              <a:rPr lang="en-US" altLang="zh-CN" dirty="0"/>
              <a:t>DAG</a:t>
            </a:r>
            <a:r>
              <a:rPr lang="zh-CN" altLang="en-US" dirty="0"/>
              <a:t>表示</a:t>
            </a:r>
          </a:p>
        </p:txBody>
      </p:sp>
      <p:sp>
        <p:nvSpPr>
          <p:cNvPr id="14339"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dirty="0">
                <a:latin typeface="微软雅黑" panose="020B0503020204020204" pitchFamily="34" charset="-122"/>
              </a:rPr>
              <a:t>	</a:t>
            </a:r>
            <a:r>
              <a:rPr lang="zh-CN" altLang="en-US" dirty="0">
                <a:latin typeface="微软雅黑" panose="020B0503020204020204" pitchFamily="34" charset="-122"/>
              </a:rPr>
              <a:t>四元式			       </a:t>
            </a:r>
            <a:r>
              <a:rPr lang="en-US" altLang="zh-CN" dirty="0">
                <a:latin typeface="微软雅黑" panose="020B0503020204020204" pitchFamily="34" charset="-122"/>
              </a:rPr>
              <a:t>			DAG </a:t>
            </a:r>
            <a:r>
              <a:rPr lang="zh-CN" altLang="en-US" dirty="0">
                <a:latin typeface="微软雅黑" panose="020B0503020204020204" pitchFamily="34" charset="-122"/>
              </a:rPr>
              <a:t>图</a:t>
            </a:r>
          </a:p>
        </p:txBody>
      </p:sp>
      <p:sp>
        <p:nvSpPr>
          <p:cNvPr id="23" name="Rectangle 4"/>
          <p:cNvSpPr>
            <a:spLocks noChangeArrowheads="1"/>
          </p:cNvSpPr>
          <p:nvPr/>
        </p:nvSpPr>
        <p:spPr bwMode="auto">
          <a:xfrm>
            <a:off x="736778" y="2789380"/>
            <a:ext cx="3947830" cy="142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(1) 1型: </a:t>
            </a:r>
            <a:r>
              <a:rPr lang="en-US" altLang="zh-CN" sz="3086" dirty="0">
                <a:solidFill>
                  <a:prstClr val="black"/>
                </a:solidFill>
                <a:latin typeface="微软雅黑" panose="020B0503020204020204" pitchFamily="34" charset="-122"/>
              </a:rPr>
              <a:t>A:=op B</a:t>
            </a:r>
          </a:p>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     (</a:t>
            </a:r>
            <a:r>
              <a:rPr lang="en-US" altLang="zh-CN" sz="3086" dirty="0" err="1">
                <a:solidFill>
                  <a:prstClr val="black"/>
                </a:solidFill>
                <a:latin typeface="微软雅黑" panose="020B0503020204020204" pitchFamily="34" charset="-122"/>
              </a:rPr>
              <a:t>op，B</a:t>
            </a:r>
            <a:r>
              <a:rPr lang="en-US" altLang="zh-CN" sz="3086" dirty="0">
                <a:solidFill>
                  <a:prstClr val="black"/>
                </a:solidFill>
                <a:latin typeface="微软雅黑" panose="020B0503020204020204" pitchFamily="34" charset="-122"/>
              </a:rPr>
              <a:t>，-，A)</a:t>
            </a:r>
            <a:endParaRPr lang="zh-CN" altLang="en-US" sz="3086" dirty="0">
              <a:solidFill>
                <a:prstClr val="black"/>
              </a:solidFill>
              <a:latin typeface="微软雅黑" panose="020B0503020204020204" pitchFamily="34" charset="-122"/>
            </a:endParaRPr>
          </a:p>
        </p:txBody>
      </p:sp>
      <p:grpSp>
        <p:nvGrpSpPr>
          <p:cNvPr id="24" name="Group 22"/>
          <p:cNvGrpSpPr>
            <a:grpSpLocks noChangeAspect="1"/>
          </p:cNvGrpSpPr>
          <p:nvPr/>
        </p:nvGrpSpPr>
        <p:grpSpPr bwMode="auto">
          <a:xfrm>
            <a:off x="6123634" y="2584965"/>
            <a:ext cx="1230338" cy="2343499"/>
            <a:chOff x="3592" y="816"/>
            <a:chExt cx="920" cy="1600"/>
          </a:xfrm>
        </p:grpSpPr>
        <p:sp>
          <p:nvSpPr>
            <p:cNvPr id="25" name="Oval 6"/>
            <p:cNvSpPr>
              <a:spLocks noChangeArrowheads="1"/>
            </p:cNvSpPr>
            <p:nvPr/>
          </p:nvSpPr>
          <p:spPr bwMode="auto">
            <a:xfrm>
              <a:off x="3592" y="1632"/>
              <a:ext cx="480" cy="43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1</a:t>
              </a:r>
              <a:endParaRPr kumimoji="1" lang="en-US" altLang="zh-CN" sz="2205">
                <a:solidFill>
                  <a:prstClr val="black"/>
                </a:solidFill>
                <a:latin typeface="微软雅黑" panose="020B0503020204020204" pitchFamily="34" charset="-122"/>
              </a:endParaRPr>
            </a:p>
          </p:txBody>
        </p:sp>
        <p:sp>
          <p:nvSpPr>
            <p:cNvPr id="26" name="Rectangle 7"/>
            <p:cNvSpPr>
              <a:spLocks noChangeArrowheads="1"/>
            </p:cNvSpPr>
            <p:nvPr/>
          </p:nvSpPr>
          <p:spPr bwMode="auto">
            <a:xfrm>
              <a:off x="4080" y="816"/>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a:t>
              </a:r>
              <a:endParaRPr kumimoji="1" lang="en-US" altLang="zh-CN" sz="2205">
                <a:solidFill>
                  <a:prstClr val="black"/>
                </a:solidFill>
                <a:latin typeface="微软雅黑" panose="020B0503020204020204" pitchFamily="34" charset="-122"/>
              </a:endParaRPr>
            </a:p>
          </p:txBody>
        </p:sp>
        <p:sp>
          <p:nvSpPr>
            <p:cNvPr id="27" name="Rectangle 8"/>
            <p:cNvSpPr>
              <a:spLocks noChangeArrowheads="1"/>
            </p:cNvSpPr>
            <p:nvPr/>
          </p:nvSpPr>
          <p:spPr bwMode="auto">
            <a:xfrm>
              <a:off x="3608" y="2032"/>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B</a:t>
              </a:r>
              <a:endParaRPr kumimoji="1" lang="en-US" altLang="zh-CN" sz="2205" dirty="0">
                <a:solidFill>
                  <a:prstClr val="black"/>
                </a:solidFill>
                <a:latin typeface="微软雅黑" panose="020B0503020204020204" pitchFamily="34" charset="-122"/>
              </a:endParaRPr>
            </a:p>
          </p:txBody>
        </p:sp>
        <p:sp>
          <p:nvSpPr>
            <p:cNvPr id="28" name="Oval 10"/>
            <p:cNvSpPr>
              <a:spLocks noChangeArrowheads="1"/>
            </p:cNvSpPr>
            <p:nvPr/>
          </p:nvSpPr>
          <p:spPr bwMode="auto">
            <a:xfrm>
              <a:off x="3600" y="816"/>
              <a:ext cx="480" cy="43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2</a:t>
              </a:r>
              <a:endParaRPr kumimoji="1" lang="en-US" altLang="zh-CN" sz="2205">
                <a:solidFill>
                  <a:prstClr val="black"/>
                </a:solidFill>
                <a:latin typeface="微软雅黑" panose="020B0503020204020204" pitchFamily="34" charset="-122"/>
              </a:endParaRPr>
            </a:p>
          </p:txBody>
        </p:sp>
        <p:sp>
          <p:nvSpPr>
            <p:cNvPr id="29" name="Line 11"/>
            <p:cNvSpPr>
              <a:spLocks noChangeShapeType="1"/>
            </p:cNvSpPr>
            <p:nvPr/>
          </p:nvSpPr>
          <p:spPr bwMode="auto">
            <a:xfrm>
              <a:off x="3840" y="1248"/>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30" name="Rectangle 12"/>
            <p:cNvSpPr>
              <a:spLocks noChangeArrowheads="1"/>
            </p:cNvSpPr>
            <p:nvPr/>
          </p:nvSpPr>
          <p:spPr bwMode="auto">
            <a:xfrm>
              <a:off x="3816" y="1128"/>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op</a:t>
              </a:r>
              <a:endParaRPr kumimoji="1" lang="en-US" altLang="zh-CN" sz="2205" dirty="0">
                <a:solidFill>
                  <a:prstClr val="black"/>
                </a:solidFill>
                <a:latin typeface="微软雅黑" panose="020B0503020204020204" pitchFamily="34" charset="-122"/>
              </a:endParaRPr>
            </a:p>
          </p:txBody>
        </p:sp>
      </p:grpSp>
      <p:sp>
        <p:nvSpPr>
          <p:cNvPr id="31" name="Rectangle 14"/>
          <p:cNvSpPr>
            <a:spLocks noChangeArrowheads="1"/>
          </p:cNvSpPr>
          <p:nvPr/>
        </p:nvSpPr>
        <p:spPr bwMode="auto">
          <a:xfrm>
            <a:off x="660319" y="5427558"/>
            <a:ext cx="4083159" cy="142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(2) 2型: </a:t>
            </a:r>
            <a:r>
              <a:rPr lang="en-US" altLang="zh-CN" sz="3086" dirty="0">
                <a:solidFill>
                  <a:prstClr val="black"/>
                </a:solidFill>
                <a:latin typeface="微软雅黑" panose="020B0503020204020204" pitchFamily="34" charset="-122"/>
              </a:rPr>
              <a:t>A:=B op C </a:t>
            </a:r>
          </a:p>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     (</a:t>
            </a:r>
            <a:r>
              <a:rPr lang="en-US" altLang="zh-CN" sz="3086" dirty="0" err="1">
                <a:solidFill>
                  <a:prstClr val="black"/>
                </a:solidFill>
                <a:latin typeface="微软雅黑" panose="020B0503020204020204" pitchFamily="34" charset="-122"/>
              </a:rPr>
              <a:t>op，B，C，A</a:t>
            </a:r>
            <a:r>
              <a:rPr lang="en-US" altLang="zh-CN" sz="3086" dirty="0">
                <a:solidFill>
                  <a:prstClr val="black"/>
                </a:solidFill>
                <a:latin typeface="微软雅黑" panose="020B0503020204020204" pitchFamily="34" charset="-122"/>
              </a:rPr>
              <a:t>)</a:t>
            </a:r>
            <a:endParaRPr lang="zh-CN" altLang="en-US" sz="3086" dirty="0">
              <a:solidFill>
                <a:prstClr val="black"/>
              </a:solidFill>
              <a:latin typeface="微软雅黑" panose="020B0503020204020204" pitchFamily="34" charset="-122"/>
            </a:endParaRPr>
          </a:p>
        </p:txBody>
      </p:sp>
      <p:grpSp>
        <p:nvGrpSpPr>
          <p:cNvPr id="32" name="Group 27"/>
          <p:cNvGrpSpPr>
            <a:grpSpLocks noChangeAspect="1"/>
          </p:cNvGrpSpPr>
          <p:nvPr/>
        </p:nvGrpSpPr>
        <p:grpSpPr bwMode="auto">
          <a:xfrm>
            <a:off x="5565419" y="5146339"/>
            <a:ext cx="1989938" cy="2179456"/>
            <a:chOff x="3120" y="2544"/>
            <a:chExt cx="1488" cy="1488"/>
          </a:xfrm>
        </p:grpSpPr>
        <p:sp>
          <p:nvSpPr>
            <p:cNvPr id="33" name="Oval 16"/>
            <p:cNvSpPr>
              <a:spLocks noChangeArrowheads="1"/>
            </p:cNvSpPr>
            <p:nvPr/>
          </p:nvSpPr>
          <p:spPr bwMode="auto">
            <a:xfrm>
              <a:off x="4128" y="3264"/>
              <a:ext cx="480" cy="43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2</a:t>
              </a:r>
              <a:endParaRPr kumimoji="1" lang="en-US" altLang="zh-CN" sz="2205">
                <a:solidFill>
                  <a:prstClr val="black"/>
                </a:solidFill>
                <a:latin typeface="微软雅黑" panose="020B0503020204020204" pitchFamily="34" charset="-122"/>
              </a:endParaRPr>
            </a:p>
          </p:txBody>
        </p:sp>
        <p:sp>
          <p:nvSpPr>
            <p:cNvPr id="34" name="Rectangle 17"/>
            <p:cNvSpPr>
              <a:spLocks noChangeArrowheads="1"/>
            </p:cNvSpPr>
            <p:nvPr/>
          </p:nvSpPr>
          <p:spPr bwMode="auto">
            <a:xfrm>
              <a:off x="4080" y="2544"/>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A</a:t>
              </a:r>
              <a:endParaRPr kumimoji="1" lang="en-US" altLang="zh-CN" sz="2205" dirty="0">
                <a:solidFill>
                  <a:prstClr val="black"/>
                </a:solidFill>
                <a:latin typeface="微软雅黑" panose="020B0503020204020204" pitchFamily="34" charset="-122"/>
              </a:endParaRPr>
            </a:p>
          </p:txBody>
        </p:sp>
        <p:sp>
          <p:nvSpPr>
            <p:cNvPr id="35" name="Rectangle 18"/>
            <p:cNvSpPr>
              <a:spLocks noChangeArrowheads="1"/>
            </p:cNvSpPr>
            <p:nvPr/>
          </p:nvSpPr>
          <p:spPr bwMode="auto">
            <a:xfrm>
              <a:off x="3168" y="3648"/>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B</a:t>
              </a:r>
              <a:endParaRPr kumimoji="1" lang="en-US" altLang="zh-CN" sz="2205">
                <a:solidFill>
                  <a:prstClr val="black"/>
                </a:solidFill>
                <a:latin typeface="微软雅黑" panose="020B0503020204020204" pitchFamily="34" charset="-122"/>
              </a:endParaRPr>
            </a:p>
          </p:txBody>
        </p:sp>
        <p:sp>
          <p:nvSpPr>
            <p:cNvPr id="36" name="Oval 19"/>
            <p:cNvSpPr>
              <a:spLocks noChangeArrowheads="1"/>
            </p:cNvSpPr>
            <p:nvPr/>
          </p:nvSpPr>
          <p:spPr bwMode="auto">
            <a:xfrm>
              <a:off x="3120" y="3264"/>
              <a:ext cx="480" cy="43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1</a:t>
              </a:r>
              <a:endParaRPr kumimoji="1" lang="en-US" altLang="zh-CN" sz="2205">
                <a:solidFill>
                  <a:prstClr val="black"/>
                </a:solidFill>
                <a:latin typeface="微软雅黑" panose="020B0503020204020204" pitchFamily="34" charset="-122"/>
              </a:endParaRPr>
            </a:p>
          </p:txBody>
        </p:sp>
        <p:sp>
          <p:nvSpPr>
            <p:cNvPr id="37" name="Rectangle 21"/>
            <p:cNvSpPr>
              <a:spLocks noChangeArrowheads="1"/>
            </p:cNvSpPr>
            <p:nvPr/>
          </p:nvSpPr>
          <p:spPr bwMode="auto">
            <a:xfrm>
              <a:off x="3600" y="2928"/>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op</a:t>
              </a:r>
              <a:endParaRPr kumimoji="1" lang="en-US" altLang="zh-CN" sz="2205">
                <a:solidFill>
                  <a:prstClr val="black"/>
                </a:solidFill>
                <a:latin typeface="微软雅黑" panose="020B0503020204020204" pitchFamily="34" charset="-122"/>
              </a:endParaRPr>
            </a:p>
          </p:txBody>
        </p:sp>
        <p:sp>
          <p:nvSpPr>
            <p:cNvPr id="38" name="Oval 23"/>
            <p:cNvSpPr>
              <a:spLocks noChangeArrowheads="1"/>
            </p:cNvSpPr>
            <p:nvPr/>
          </p:nvSpPr>
          <p:spPr bwMode="auto">
            <a:xfrm>
              <a:off x="3600" y="2544"/>
              <a:ext cx="480" cy="432"/>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3</a:t>
              </a:r>
              <a:endParaRPr kumimoji="1" lang="en-US" altLang="zh-CN" sz="2205">
                <a:solidFill>
                  <a:prstClr val="black"/>
                </a:solidFill>
                <a:latin typeface="微软雅黑" panose="020B0503020204020204" pitchFamily="34" charset="-122"/>
              </a:endParaRPr>
            </a:p>
          </p:txBody>
        </p:sp>
        <p:sp>
          <p:nvSpPr>
            <p:cNvPr id="39" name="Rectangle 24"/>
            <p:cNvSpPr>
              <a:spLocks noChangeArrowheads="1"/>
            </p:cNvSpPr>
            <p:nvPr/>
          </p:nvSpPr>
          <p:spPr bwMode="auto">
            <a:xfrm>
              <a:off x="4128" y="3648"/>
              <a:ext cx="43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C</a:t>
              </a:r>
              <a:endParaRPr kumimoji="1" lang="en-US" altLang="zh-CN" sz="2205">
                <a:solidFill>
                  <a:prstClr val="black"/>
                </a:solidFill>
                <a:latin typeface="微软雅黑" panose="020B0503020204020204" pitchFamily="34" charset="-122"/>
              </a:endParaRPr>
            </a:p>
          </p:txBody>
        </p:sp>
        <p:sp>
          <p:nvSpPr>
            <p:cNvPr id="40" name="Line 25"/>
            <p:cNvSpPr>
              <a:spLocks noChangeShapeType="1"/>
            </p:cNvSpPr>
            <p:nvPr/>
          </p:nvSpPr>
          <p:spPr bwMode="auto">
            <a:xfrm flipH="1">
              <a:off x="3456" y="2976"/>
              <a:ext cx="288"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41" name="Line 26"/>
            <p:cNvSpPr>
              <a:spLocks noChangeShapeType="1"/>
            </p:cNvSpPr>
            <p:nvPr/>
          </p:nvSpPr>
          <p:spPr bwMode="auto">
            <a:xfrm>
              <a:off x="3936" y="2976"/>
              <a:ext cx="384"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764">
                <a:solidFill>
                  <a:prstClr val="black"/>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730089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down)">
                                      <p:cBhvr>
                                        <p:cTn id="2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P spid="31"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四元式的</a:t>
            </a:r>
            <a:r>
              <a:rPr lang="en-US" altLang="zh-CN" dirty="0"/>
              <a:t>DAG</a:t>
            </a:r>
            <a:r>
              <a:rPr lang="zh-CN" altLang="en-US" dirty="0"/>
              <a:t>表示</a:t>
            </a:r>
          </a:p>
        </p:txBody>
      </p:sp>
      <p:sp>
        <p:nvSpPr>
          <p:cNvPr id="5" name="内容占位符 4"/>
          <p:cNvSpPr>
            <a:spLocks noGrp="1"/>
          </p:cNvSpPr>
          <p:nvPr>
            <p:ph idx="1"/>
          </p:nvPr>
        </p:nvSpPr>
        <p:spPr/>
        <p:txBody>
          <a:bodyPr/>
          <a:lstStyle/>
          <a:p>
            <a:pPr marL="0" indent="0">
              <a:buNone/>
            </a:pPr>
            <a:r>
              <a:rPr lang="en-US" altLang="zh-CN" dirty="0"/>
              <a:t>	</a:t>
            </a:r>
            <a:r>
              <a:rPr lang="zh-CN" altLang="en-US" dirty="0"/>
              <a:t>四元式			      </a:t>
            </a:r>
            <a:r>
              <a:rPr lang="en-US" altLang="zh-CN" dirty="0"/>
              <a:t>					DAG </a:t>
            </a:r>
            <a:r>
              <a:rPr lang="zh-CN" altLang="en-US" dirty="0"/>
              <a:t>图</a:t>
            </a:r>
          </a:p>
        </p:txBody>
      </p:sp>
      <p:sp>
        <p:nvSpPr>
          <p:cNvPr id="26" name="Rectangle 3"/>
          <p:cNvSpPr>
            <a:spLocks noChangeArrowheads="1"/>
          </p:cNvSpPr>
          <p:nvPr/>
        </p:nvSpPr>
        <p:spPr bwMode="auto">
          <a:xfrm>
            <a:off x="680374" y="2940636"/>
            <a:ext cx="4250568" cy="142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(3)  2型: </a:t>
            </a:r>
            <a:r>
              <a:rPr lang="en-US" altLang="zh-CN" sz="3086" dirty="0">
                <a:solidFill>
                  <a:prstClr val="black"/>
                </a:solidFill>
                <a:latin typeface="微软雅黑" panose="020B0503020204020204" pitchFamily="34" charset="-122"/>
              </a:rPr>
              <a:t>A:=B[C] </a:t>
            </a:r>
          </a:p>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   (=[]，</a:t>
            </a:r>
            <a:r>
              <a:rPr lang="en-US" altLang="zh-CN" sz="3086" dirty="0">
                <a:solidFill>
                  <a:prstClr val="black"/>
                </a:solidFill>
                <a:latin typeface="微软雅黑" panose="020B0503020204020204" pitchFamily="34" charset="-122"/>
              </a:rPr>
              <a:t>B</a:t>
            </a:r>
            <a:r>
              <a:rPr lang="zh-CN" altLang="en-US" sz="3086" dirty="0">
                <a:solidFill>
                  <a:prstClr val="black"/>
                </a:solidFill>
                <a:latin typeface="微软雅黑" panose="020B0503020204020204" pitchFamily="34" charset="-122"/>
              </a:rPr>
              <a:t>，</a:t>
            </a:r>
            <a:r>
              <a:rPr lang="en-US" altLang="zh-CN" sz="3086" dirty="0">
                <a:solidFill>
                  <a:prstClr val="black"/>
                </a:solidFill>
                <a:latin typeface="微软雅黑" panose="020B0503020204020204" pitchFamily="34" charset="-122"/>
              </a:rPr>
              <a:t>C，A) </a:t>
            </a:r>
            <a:endParaRPr lang="zh-CN" altLang="en-US" sz="3086" dirty="0">
              <a:solidFill>
                <a:prstClr val="black"/>
              </a:solidFill>
              <a:latin typeface="微软雅黑" panose="020B0503020204020204" pitchFamily="34" charset="-122"/>
            </a:endParaRPr>
          </a:p>
        </p:txBody>
      </p:sp>
      <p:grpSp>
        <p:nvGrpSpPr>
          <p:cNvPr id="27" name="Group 14"/>
          <p:cNvGrpSpPr>
            <a:grpSpLocks noChangeAspect="1"/>
          </p:cNvGrpSpPr>
          <p:nvPr/>
        </p:nvGrpSpPr>
        <p:grpSpPr bwMode="auto">
          <a:xfrm>
            <a:off x="6373308" y="2600094"/>
            <a:ext cx="2040859" cy="2116709"/>
            <a:chOff x="3120" y="864"/>
            <a:chExt cx="1488" cy="1488"/>
          </a:xfrm>
        </p:grpSpPr>
        <p:sp>
          <p:nvSpPr>
            <p:cNvPr id="28" name="Oval 5"/>
            <p:cNvSpPr>
              <a:spLocks noChangeArrowheads="1"/>
            </p:cNvSpPr>
            <p:nvPr/>
          </p:nvSpPr>
          <p:spPr bwMode="auto">
            <a:xfrm>
              <a:off x="4128" y="1584"/>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2</a:t>
              </a:r>
              <a:endParaRPr kumimoji="1" lang="en-US" altLang="zh-CN" sz="2205">
                <a:solidFill>
                  <a:prstClr val="black"/>
                </a:solidFill>
                <a:latin typeface="微软雅黑" panose="020B0503020204020204" pitchFamily="34" charset="-122"/>
              </a:endParaRPr>
            </a:p>
          </p:txBody>
        </p:sp>
        <p:sp>
          <p:nvSpPr>
            <p:cNvPr id="29" name="Rectangle 6"/>
            <p:cNvSpPr>
              <a:spLocks noChangeArrowheads="1"/>
            </p:cNvSpPr>
            <p:nvPr/>
          </p:nvSpPr>
          <p:spPr bwMode="auto">
            <a:xfrm>
              <a:off x="4080" y="864"/>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A</a:t>
              </a:r>
              <a:endParaRPr kumimoji="1" lang="en-US" altLang="zh-CN" sz="2205">
                <a:solidFill>
                  <a:prstClr val="black"/>
                </a:solidFill>
                <a:latin typeface="微软雅黑" panose="020B0503020204020204" pitchFamily="34" charset="-122"/>
              </a:endParaRPr>
            </a:p>
          </p:txBody>
        </p:sp>
        <p:sp>
          <p:nvSpPr>
            <p:cNvPr id="30" name="Rectangle 7"/>
            <p:cNvSpPr>
              <a:spLocks noChangeArrowheads="1"/>
            </p:cNvSpPr>
            <p:nvPr/>
          </p:nvSpPr>
          <p:spPr bwMode="auto">
            <a:xfrm>
              <a:off x="3168" y="1968"/>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B</a:t>
              </a:r>
              <a:endParaRPr kumimoji="1" lang="en-US" altLang="zh-CN" sz="2205">
                <a:solidFill>
                  <a:prstClr val="black"/>
                </a:solidFill>
                <a:latin typeface="微软雅黑" panose="020B0503020204020204" pitchFamily="34" charset="-122"/>
              </a:endParaRPr>
            </a:p>
          </p:txBody>
        </p:sp>
        <p:sp>
          <p:nvSpPr>
            <p:cNvPr id="31" name="Oval 8"/>
            <p:cNvSpPr>
              <a:spLocks noChangeArrowheads="1"/>
            </p:cNvSpPr>
            <p:nvPr/>
          </p:nvSpPr>
          <p:spPr bwMode="auto">
            <a:xfrm>
              <a:off x="3120" y="1584"/>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1</a:t>
              </a:r>
              <a:endParaRPr kumimoji="1" lang="en-US" altLang="zh-CN" sz="2205">
                <a:solidFill>
                  <a:prstClr val="black"/>
                </a:solidFill>
                <a:latin typeface="微软雅黑" panose="020B0503020204020204" pitchFamily="34" charset="-122"/>
              </a:endParaRPr>
            </a:p>
          </p:txBody>
        </p:sp>
        <p:sp>
          <p:nvSpPr>
            <p:cNvPr id="32" name="Rectangle 9"/>
            <p:cNvSpPr>
              <a:spLocks noChangeArrowheads="1"/>
            </p:cNvSpPr>
            <p:nvPr/>
          </p:nvSpPr>
          <p:spPr bwMode="auto">
            <a:xfrm>
              <a:off x="3620" y="1306"/>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zh-CN" sz="3086" dirty="0">
                  <a:solidFill>
                    <a:prstClr val="black"/>
                  </a:solidFill>
                  <a:latin typeface="微软雅黑" panose="020B0503020204020204" pitchFamily="34" charset="-122"/>
                </a:rPr>
                <a:t>=[]</a:t>
              </a:r>
              <a:endParaRPr kumimoji="1" lang="zh-CN" altLang="zh-CN" sz="2205" dirty="0">
                <a:solidFill>
                  <a:prstClr val="black"/>
                </a:solidFill>
                <a:latin typeface="微软雅黑" panose="020B0503020204020204" pitchFamily="34" charset="-122"/>
              </a:endParaRPr>
            </a:p>
          </p:txBody>
        </p:sp>
        <p:sp>
          <p:nvSpPr>
            <p:cNvPr id="33" name="Oval 10"/>
            <p:cNvSpPr>
              <a:spLocks noChangeArrowheads="1"/>
            </p:cNvSpPr>
            <p:nvPr/>
          </p:nvSpPr>
          <p:spPr bwMode="auto">
            <a:xfrm>
              <a:off x="3600" y="864"/>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dirty="0">
                  <a:solidFill>
                    <a:prstClr val="black"/>
                  </a:solidFill>
                  <a:latin typeface="微软雅黑" panose="020B0503020204020204" pitchFamily="34" charset="-122"/>
                </a:rPr>
                <a:t>n</a:t>
              </a:r>
              <a:r>
                <a:rPr kumimoji="1" lang="en-US" altLang="en-US" sz="3086" baseline="-25000" dirty="0">
                  <a:solidFill>
                    <a:prstClr val="black"/>
                  </a:solidFill>
                  <a:latin typeface="微软雅黑" panose="020B0503020204020204" pitchFamily="34" charset="-122"/>
                </a:rPr>
                <a:t>3</a:t>
              </a:r>
              <a:endParaRPr kumimoji="1" lang="en-US" altLang="zh-CN" sz="2205" dirty="0">
                <a:solidFill>
                  <a:prstClr val="black"/>
                </a:solidFill>
                <a:latin typeface="微软雅黑" panose="020B0503020204020204" pitchFamily="34" charset="-122"/>
              </a:endParaRPr>
            </a:p>
          </p:txBody>
        </p:sp>
        <p:sp>
          <p:nvSpPr>
            <p:cNvPr id="34" name="Rectangle 11"/>
            <p:cNvSpPr>
              <a:spLocks noChangeArrowheads="1"/>
            </p:cNvSpPr>
            <p:nvPr/>
          </p:nvSpPr>
          <p:spPr bwMode="auto">
            <a:xfrm>
              <a:off x="4128" y="1968"/>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C</a:t>
              </a:r>
              <a:endParaRPr kumimoji="1" lang="en-US" altLang="zh-CN" sz="2205">
                <a:solidFill>
                  <a:prstClr val="black"/>
                </a:solidFill>
                <a:latin typeface="微软雅黑" panose="020B0503020204020204" pitchFamily="34" charset="-122"/>
              </a:endParaRPr>
            </a:p>
          </p:txBody>
        </p:sp>
        <p:sp>
          <p:nvSpPr>
            <p:cNvPr id="35" name="Line 12"/>
            <p:cNvSpPr>
              <a:spLocks noChangeShapeType="1"/>
            </p:cNvSpPr>
            <p:nvPr/>
          </p:nvSpPr>
          <p:spPr bwMode="auto">
            <a:xfrm flipH="1">
              <a:off x="3456" y="1296"/>
              <a:ext cx="288"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36" name="Line 13"/>
            <p:cNvSpPr>
              <a:spLocks noChangeShapeType="1"/>
            </p:cNvSpPr>
            <p:nvPr/>
          </p:nvSpPr>
          <p:spPr bwMode="auto">
            <a:xfrm>
              <a:off x="3936" y="1296"/>
              <a:ext cx="384"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764">
                <a:solidFill>
                  <a:prstClr val="black"/>
                </a:solidFill>
                <a:latin typeface="微软雅黑" panose="020B0503020204020204" pitchFamily="34" charset="-122"/>
                <a:ea typeface="微软雅黑" panose="020B0503020204020204" pitchFamily="34" charset="-122"/>
              </a:endParaRPr>
            </a:p>
          </p:txBody>
        </p:sp>
      </p:grpSp>
      <p:sp>
        <p:nvSpPr>
          <p:cNvPr id="37" name="Rectangle 15"/>
          <p:cNvSpPr>
            <a:spLocks noChangeArrowheads="1"/>
          </p:cNvSpPr>
          <p:nvPr/>
        </p:nvSpPr>
        <p:spPr bwMode="auto">
          <a:xfrm>
            <a:off x="681103" y="5217544"/>
            <a:ext cx="5291773" cy="142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(4) 2型: </a:t>
            </a:r>
            <a:r>
              <a:rPr lang="en-US" altLang="zh-CN" sz="3086" dirty="0">
                <a:solidFill>
                  <a:prstClr val="black"/>
                </a:solidFill>
                <a:latin typeface="微软雅黑" panose="020B0503020204020204" pitchFamily="34" charset="-122"/>
              </a:rPr>
              <a:t>if B </a:t>
            </a:r>
            <a:r>
              <a:rPr lang="en-US" altLang="zh-CN" sz="3086" dirty="0" err="1">
                <a:solidFill>
                  <a:prstClr val="black"/>
                </a:solidFill>
                <a:latin typeface="微软雅黑" panose="020B0503020204020204" pitchFamily="34" charset="-122"/>
              </a:rPr>
              <a:t>rop</a:t>
            </a:r>
            <a:r>
              <a:rPr lang="en-US" altLang="zh-CN" sz="3086" dirty="0">
                <a:solidFill>
                  <a:prstClr val="black"/>
                </a:solidFill>
                <a:latin typeface="微软雅黑" panose="020B0503020204020204" pitchFamily="34" charset="-122"/>
              </a:rPr>
              <a:t> C </a:t>
            </a:r>
            <a:r>
              <a:rPr lang="en-US" altLang="zh-CN" sz="3086" dirty="0" err="1">
                <a:solidFill>
                  <a:prstClr val="black"/>
                </a:solidFill>
                <a:latin typeface="微软雅黑" panose="020B0503020204020204" pitchFamily="34" charset="-122"/>
              </a:rPr>
              <a:t>goto</a:t>
            </a:r>
            <a:r>
              <a:rPr lang="en-US" altLang="zh-CN" sz="3086" dirty="0">
                <a:solidFill>
                  <a:prstClr val="black"/>
                </a:solidFill>
                <a:latin typeface="微软雅黑" panose="020B0503020204020204" pitchFamily="34" charset="-122"/>
              </a:rPr>
              <a:t> (s)</a:t>
            </a:r>
          </a:p>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     (</a:t>
            </a:r>
            <a:r>
              <a:rPr lang="en-US" altLang="zh-CN" sz="3086" dirty="0" err="1">
                <a:solidFill>
                  <a:prstClr val="black"/>
                </a:solidFill>
                <a:latin typeface="微软雅黑" panose="020B0503020204020204" pitchFamily="34" charset="-122"/>
              </a:rPr>
              <a:t>jrop，B，C</a:t>
            </a:r>
            <a:r>
              <a:rPr lang="en-US" altLang="zh-CN" sz="3086" dirty="0">
                <a:solidFill>
                  <a:prstClr val="black"/>
                </a:solidFill>
                <a:latin typeface="微软雅黑" panose="020B0503020204020204" pitchFamily="34" charset="-122"/>
              </a:rPr>
              <a:t>，(s))</a:t>
            </a:r>
            <a:endParaRPr lang="zh-CN" altLang="en-US" sz="3086" dirty="0">
              <a:solidFill>
                <a:prstClr val="black"/>
              </a:solidFill>
              <a:latin typeface="微软雅黑" panose="020B0503020204020204" pitchFamily="34" charset="-122"/>
            </a:endParaRPr>
          </a:p>
        </p:txBody>
      </p:sp>
      <p:grpSp>
        <p:nvGrpSpPr>
          <p:cNvPr id="38" name="Group 16"/>
          <p:cNvGrpSpPr>
            <a:grpSpLocks noChangeAspect="1"/>
          </p:cNvGrpSpPr>
          <p:nvPr/>
        </p:nvGrpSpPr>
        <p:grpSpPr bwMode="auto">
          <a:xfrm>
            <a:off x="6373308" y="5182344"/>
            <a:ext cx="2040859" cy="2116709"/>
            <a:chOff x="3120" y="864"/>
            <a:chExt cx="1488" cy="1488"/>
          </a:xfrm>
        </p:grpSpPr>
        <p:sp>
          <p:nvSpPr>
            <p:cNvPr id="39" name="Oval 17"/>
            <p:cNvSpPr>
              <a:spLocks noChangeArrowheads="1"/>
            </p:cNvSpPr>
            <p:nvPr/>
          </p:nvSpPr>
          <p:spPr bwMode="auto">
            <a:xfrm>
              <a:off x="4128" y="1584"/>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2</a:t>
              </a:r>
              <a:endParaRPr kumimoji="1" lang="en-US" altLang="zh-CN" sz="2205">
                <a:solidFill>
                  <a:prstClr val="black"/>
                </a:solidFill>
                <a:latin typeface="微软雅黑" panose="020B0503020204020204" pitchFamily="34" charset="-122"/>
              </a:endParaRPr>
            </a:p>
          </p:txBody>
        </p:sp>
        <p:sp>
          <p:nvSpPr>
            <p:cNvPr id="40" name="Rectangle 18"/>
            <p:cNvSpPr>
              <a:spLocks noChangeArrowheads="1"/>
            </p:cNvSpPr>
            <p:nvPr/>
          </p:nvSpPr>
          <p:spPr bwMode="auto">
            <a:xfrm>
              <a:off x="4080" y="864"/>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zh-CN" sz="3086">
                  <a:solidFill>
                    <a:prstClr val="black"/>
                  </a:solidFill>
                  <a:latin typeface="微软雅黑" panose="020B0503020204020204" pitchFamily="34" charset="-122"/>
                </a:rPr>
                <a:t>(</a:t>
              </a:r>
              <a:r>
                <a:rPr kumimoji="1" lang="en-US" altLang="zh-CN" sz="3086">
                  <a:solidFill>
                    <a:prstClr val="black"/>
                  </a:solidFill>
                  <a:latin typeface="微软雅黑" panose="020B0503020204020204" pitchFamily="34" charset="-122"/>
                </a:rPr>
                <a:t>s)</a:t>
              </a:r>
              <a:endParaRPr kumimoji="1" lang="en-US" altLang="zh-CN" sz="2205">
                <a:solidFill>
                  <a:prstClr val="black"/>
                </a:solidFill>
                <a:latin typeface="微软雅黑" panose="020B0503020204020204" pitchFamily="34" charset="-122"/>
              </a:endParaRPr>
            </a:p>
          </p:txBody>
        </p:sp>
        <p:sp>
          <p:nvSpPr>
            <p:cNvPr id="41" name="Rectangle 19"/>
            <p:cNvSpPr>
              <a:spLocks noChangeArrowheads="1"/>
            </p:cNvSpPr>
            <p:nvPr/>
          </p:nvSpPr>
          <p:spPr bwMode="auto">
            <a:xfrm>
              <a:off x="3168" y="1968"/>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微软雅黑" panose="020B0503020204020204" pitchFamily="34" charset="-122"/>
                </a:rPr>
                <a:t>B</a:t>
              </a:r>
              <a:endParaRPr kumimoji="1" lang="en-US" altLang="zh-CN" sz="2205" dirty="0">
                <a:solidFill>
                  <a:prstClr val="black"/>
                </a:solidFill>
                <a:latin typeface="微软雅黑" panose="020B0503020204020204" pitchFamily="34" charset="-122"/>
              </a:endParaRPr>
            </a:p>
          </p:txBody>
        </p:sp>
        <p:sp>
          <p:nvSpPr>
            <p:cNvPr id="42" name="Oval 20"/>
            <p:cNvSpPr>
              <a:spLocks noChangeArrowheads="1"/>
            </p:cNvSpPr>
            <p:nvPr/>
          </p:nvSpPr>
          <p:spPr bwMode="auto">
            <a:xfrm>
              <a:off x="3120" y="1584"/>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1</a:t>
              </a:r>
              <a:endParaRPr kumimoji="1" lang="en-US" altLang="zh-CN" sz="2205">
                <a:solidFill>
                  <a:prstClr val="black"/>
                </a:solidFill>
                <a:latin typeface="微软雅黑" panose="020B0503020204020204" pitchFamily="34" charset="-122"/>
              </a:endParaRPr>
            </a:p>
          </p:txBody>
        </p:sp>
        <p:sp>
          <p:nvSpPr>
            <p:cNvPr id="43" name="Rectangle 21"/>
            <p:cNvSpPr>
              <a:spLocks noChangeArrowheads="1"/>
            </p:cNvSpPr>
            <p:nvPr/>
          </p:nvSpPr>
          <p:spPr bwMode="auto">
            <a:xfrm>
              <a:off x="3643" y="1277"/>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err="1">
                  <a:solidFill>
                    <a:prstClr val="black"/>
                  </a:solidFill>
                  <a:latin typeface="微软雅黑" panose="020B0503020204020204" pitchFamily="34" charset="-122"/>
                </a:rPr>
                <a:t>rop</a:t>
              </a:r>
              <a:endParaRPr kumimoji="1" lang="en-US" altLang="zh-CN" sz="2205" dirty="0">
                <a:solidFill>
                  <a:prstClr val="black"/>
                </a:solidFill>
                <a:latin typeface="微软雅黑" panose="020B0503020204020204" pitchFamily="34" charset="-122"/>
              </a:endParaRPr>
            </a:p>
          </p:txBody>
        </p:sp>
        <p:sp>
          <p:nvSpPr>
            <p:cNvPr id="44" name="Oval 22"/>
            <p:cNvSpPr>
              <a:spLocks noChangeArrowheads="1"/>
            </p:cNvSpPr>
            <p:nvPr/>
          </p:nvSpPr>
          <p:spPr bwMode="auto">
            <a:xfrm>
              <a:off x="3600" y="864"/>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3</a:t>
              </a:r>
              <a:endParaRPr kumimoji="1" lang="en-US" altLang="zh-CN" sz="2205">
                <a:solidFill>
                  <a:prstClr val="black"/>
                </a:solidFill>
                <a:latin typeface="微软雅黑" panose="020B0503020204020204" pitchFamily="34" charset="-122"/>
              </a:endParaRPr>
            </a:p>
          </p:txBody>
        </p:sp>
        <p:sp>
          <p:nvSpPr>
            <p:cNvPr id="45" name="Rectangle 23"/>
            <p:cNvSpPr>
              <a:spLocks noChangeArrowheads="1"/>
            </p:cNvSpPr>
            <p:nvPr/>
          </p:nvSpPr>
          <p:spPr bwMode="auto">
            <a:xfrm>
              <a:off x="4128" y="1968"/>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C</a:t>
              </a:r>
              <a:endParaRPr kumimoji="1" lang="en-US" altLang="zh-CN" sz="2205">
                <a:solidFill>
                  <a:prstClr val="black"/>
                </a:solidFill>
                <a:latin typeface="微软雅黑" panose="020B0503020204020204" pitchFamily="34" charset="-122"/>
              </a:endParaRPr>
            </a:p>
          </p:txBody>
        </p:sp>
        <p:sp>
          <p:nvSpPr>
            <p:cNvPr id="46" name="Line 24"/>
            <p:cNvSpPr>
              <a:spLocks noChangeShapeType="1"/>
            </p:cNvSpPr>
            <p:nvPr/>
          </p:nvSpPr>
          <p:spPr bwMode="auto">
            <a:xfrm flipH="1">
              <a:off x="3456" y="1296"/>
              <a:ext cx="288"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47" name="Line 25"/>
            <p:cNvSpPr>
              <a:spLocks noChangeShapeType="1"/>
            </p:cNvSpPr>
            <p:nvPr/>
          </p:nvSpPr>
          <p:spPr bwMode="auto">
            <a:xfrm>
              <a:off x="3936" y="1296"/>
              <a:ext cx="384"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764">
                <a:solidFill>
                  <a:prstClr val="black"/>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28553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down)">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left)">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down)">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utoUpdateAnimBg="0"/>
      <p:bldP spid="37"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四元式的</a:t>
            </a:r>
            <a:r>
              <a:rPr lang="en-US" altLang="zh-CN" dirty="0"/>
              <a:t>DAG</a:t>
            </a:r>
            <a:r>
              <a:rPr lang="zh-CN" altLang="en-US" dirty="0"/>
              <a:t>表示</a:t>
            </a:r>
          </a:p>
        </p:txBody>
      </p:sp>
      <p:sp>
        <p:nvSpPr>
          <p:cNvPr id="5" name="内容占位符 4"/>
          <p:cNvSpPr>
            <a:spLocks noGrp="1"/>
          </p:cNvSpPr>
          <p:nvPr>
            <p:ph idx="1"/>
          </p:nvPr>
        </p:nvSpPr>
        <p:spPr/>
        <p:txBody>
          <a:bodyPr/>
          <a:lstStyle/>
          <a:p>
            <a:pPr marL="0" indent="0">
              <a:buNone/>
            </a:pPr>
            <a:r>
              <a:rPr lang="en-US" altLang="zh-CN" dirty="0"/>
              <a:t>	</a:t>
            </a:r>
            <a:r>
              <a:rPr lang="zh-CN" altLang="en-US" dirty="0"/>
              <a:t>四元式			      </a:t>
            </a:r>
            <a:r>
              <a:rPr lang="en-US" altLang="zh-CN" dirty="0"/>
              <a:t>					DAG </a:t>
            </a:r>
            <a:r>
              <a:rPr lang="zh-CN" altLang="en-US" dirty="0"/>
              <a:t>图</a:t>
            </a:r>
          </a:p>
        </p:txBody>
      </p:sp>
      <p:sp>
        <p:nvSpPr>
          <p:cNvPr id="21" name="Rectangle 3"/>
          <p:cNvSpPr>
            <a:spLocks noChangeArrowheads="1"/>
          </p:cNvSpPr>
          <p:nvPr/>
        </p:nvSpPr>
        <p:spPr bwMode="auto">
          <a:xfrm>
            <a:off x="1089122" y="2996890"/>
            <a:ext cx="4367812" cy="142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(5)  3型: </a:t>
            </a:r>
            <a:r>
              <a:rPr lang="en-US" altLang="zh-CN" sz="3086" dirty="0">
                <a:solidFill>
                  <a:prstClr val="black"/>
                </a:solidFill>
                <a:latin typeface="微软雅黑" panose="020B0503020204020204" pitchFamily="34" charset="-122"/>
              </a:rPr>
              <a:t>D[C]:=B</a:t>
            </a:r>
          </a:p>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     ([]=，</a:t>
            </a:r>
            <a:r>
              <a:rPr lang="en-US" altLang="zh-CN" sz="3086" dirty="0">
                <a:solidFill>
                  <a:prstClr val="black"/>
                </a:solidFill>
                <a:latin typeface="微软雅黑" panose="020B0503020204020204" pitchFamily="34" charset="-122"/>
              </a:rPr>
              <a:t>B，D</a:t>
            </a:r>
            <a:r>
              <a:rPr lang="zh-CN" altLang="en-US" sz="3086" dirty="0">
                <a:solidFill>
                  <a:prstClr val="black"/>
                </a:solidFill>
                <a:latin typeface="微软雅黑" panose="020B0503020204020204" pitchFamily="34" charset="-122"/>
              </a:rPr>
              <a:t>，</a:t>
            </a:r>
            <a:r>
              <a:rPr lang="en-US" altLang="zh-CN" sz="3086" dirty="0">
                <a:solidFill>
                  <a:prstClr val="black"/>
                </a:solidFill>
                <a:latin typeface="微软雅黑" panose="020B0503020204020204" pitchFamily="34" charset="-122"/>
              </a:rPr>
              <a:t>C)</a:t>
            </a:r>
            <a:endParaRPr lang="zh-CN" altLang="en-US" sz="3086" dirty="0">
              <a:solidFill>
                <a:prstClr val="black"/>
              </a:solidFill>
              <a:latin typeface="微软雅黑" panose="020B0503020204020204" pitchFamily="34" charset="-122"/>
            </a:endParaRPr>
          </a:p>
        </p:txBody>
      </p:sp>
      <p:sp>
        <p:nvSpPr>
          <p:cNvPr id="22" name="Rectangle 14"/>
          <p:cNvSpPr>
            <a:spLocks noChangeArrowheads="1"/>
          </p:cNvSpPr>
          <p:nvPr/>
        </p:nvSpPr>
        <p:spPr bwMode="auto">
          <a:xfrm>
            <a:off x="0" y="5634027"/>
            <a:ext cx="6786379" cy="142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(6)  0型: </a:t>
            </a:r>
            <a:r>
              <a:rPr lang="en-US" altLang="zh-CN" sz="3086" dirty="0" err="1">
                <a:solidFill>
                  <a:prstClr val="black"/>
                </a:solidFill>
                <a:latin typeface="微软雅黑" panose="020B0503020204020204" pitchFamily="34" charset="-122"/>
              </a:rPr>
              <a:t>goto</a:t>
            </a:r>
            <a:r>
              <a:rPr lang="en-US" altLang="zh-CN" sz="3086" dirty="0">
                <a:solidFill>
                  <a:prstClr val="black"/>
                </a:solidFill>
                <a:latin typeface="微软雅黑" panose="020B0503020204020204" pitchFamily="34" charset="-122"/>
              </a:rPr>
              <a:t> (s) </a:t>
            </a:r>
            <a:r>
              <a:rPr lang="zh-CN" altLang="en-US" sz="3086" dirty="0">
                <a:solidFill>
                  <a:prstClr val="black"/>
                </a:solidFill>
                <a:latin typeface="微软雅黑" panose="020B0503020204020204" pitchFamily="34" charset="-122"/>
              </a:rPr>
              <a:t>）</a:t>
            </a:r>
            <a:r>
              <a:rPr lang="en-US" altLang="zh-CN" sz="3086" dirty="0">
                <a:solidFill>
                  <a:prstClr val="black"/>
                </a:solidFill>
                <a:latin typeface="微软雅黑" panose="020B0503020204020204" pitchFamily="34" charset="-122"/>
              </a:rPr>
              <a:t>(</a:t>
            </a:r>
            <a:r>
              <a:rPr lang="zh-CN" altLang="en-US" sz="3086" dirty="0">
                <a:solidFill>
                  <a:prstClr val="black"/>
                </a:solidFill>
                <a:latin typeface="微软雅黑" panose="020B0503020204020204" pitchFamily="34" charset="-122"/>
              </a:rPr>
              <a:t>无条件转移语句</a:t>
            </a:r>
            <a:r>
              <a:rPr lang="en-US" altLang="zh-CN" sz="3086" dirty="0">
                <a:solidFill>
                  <a:prstClr val="black"/>
                </a:solidFill>
                <a:latin typeface="微软雅黑" panose="020B0503020204020204" pitchFamily="34" charset="-122"/>
              </a:rPr>
              <a:t>)</a:t>
            </a:r>
          </a:p>
          <a:p>
            <a:pPr defTabSz="503972" rtl="0" fontAlgn="auto" hangingPunct="1">
              <a:lnSpc>
                <a:spcPct val="100000"/>
              </a:lnSpc>
              <a:spcBef>
                <a:spcPct val="0"/>
              </a:spcBef>
              <a:spcAft>
                <a:spcPts val="0"/>
              </a:spcAft>
              <a:buClrTx/>
              <a:buSzTx/>
              <a:buNone/>
            </a:pPr>
            <a:r>
              <a:rPr lang="zh-CN" altLang="en-US" sz="3086" dirty="0">
                <a:solidFill>
                  <a:prstClr val="black"/>
                </a:solidFill>
                <a:latin typeface="微软雅黑" panose="020B0503020204020204" pitchFamily="34" charset="-122"/>
              </a:rPr>
              <a:t>      (</a:t>
            </a:r>
            <a:r>
              <a:rPr lang="en-US" altLang="zh-CN" sz="3086" dirty="0">
                <a:solidFill>
                  <a:prstClr val="black"/>
                </a:solidFill>
                <a:latin typeface="微软雅黑" panose="020B0503020204020204" pitchFamily="34" charset="-122"/>
              </a:rPr>
              <a:t>j，-，-，(s))</a:t>
            </a:r>
            <a:endParaRPr lang="zh-CN" altLang="en-US" sz="3086" dirty="0">
              <a:solidFill>
                <a:prstClr val="black"/>
              </a:solidFill>
              <a:latin typeface="微软雅黑" panose="020B0503020204020204" pitchFamily="34" charset="-122"/>
            </a:endParaRPr>
          </a:p>
        </p:txBody>
      </p:sp>
      <p:grpSp>
        <p:nvGrpSpPr>
          <p:cNvPr id="23" name="Group 29"/>
          <p:cNvGrpSpPr>
            <a:grpSpLocks noChangeAspect="1"/>
          </p:cNvGrpSpPr>
          <p:nvPr/>
        </p:nvGrpSpPr>
        <p:grpSpPr bwMode="auto">
          <a:xfrm>
            <a:off x="6929693" y="5634027"/>
            <a:ext cx="1290223" cy="681195"/>
            <a:chOff x="3792" y="3072"/>
            <a:chExt cx="864" cy="432"/>
          </a:xfrm>
        </p:grpSpPr>
        <p:sp>
          <p:nvSpPr>
            <p:cNvPr id="24" name="Rectangle 17"/>
            <p:cNvSpPr>
              <a:spLocks noChangeArrowheads="1"/>
            </p:cNvSpPr>
            <p:nvPr/>
          </p:nvSpPr>
          <p:spPr bwMode="auto">
            <a:xfrm>
              <a:off x="4224" y="3072"/>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zh-CN" sz="3086" dirty="0">
                  <a:solidFill>
                    <a:prstClr val="black"/>
                  </a:solidFill>
                  <a:latin typeface="微软雅黑" panose="020B0503020204020204" pitchFamily="34" charset="-122"/>
                </a:rPr>
                <a:t>(</a:t>
              </a:r>
              <a:r>
                <a:rPr kumimoji="1" lang="en-US" altLang="zh-CN" sz="3086" dirty="0">
                  <a:solidFill>
                    <a:prstClr val="black"/>
                  </a:solidFill>
                  <a:latin typeface="微软雅黑" panose="020B0503020204020204" pitchFamily="34" charset="-122"/>
                </a:rPr>
                <a:t>s)</a:t>
              </a:r>
              <a:endParaRPr kumimoji="1" lang="en-US" altLang="zh-CN" sz="2205" dirty="0">
                <a:solidFill>
                  <a:prstClr val="black"/>
                </a:solidFill>
                <a:latin typeface="微软雅黑" panose="020B0503020204020204" pitchFamily="34" charset="-122"/>
              </a:endParaRPr>
            </a:p>
          </p:txBody>
        </p:sp>
        <p:sp>
          <p:nvSpPr>
            <p:cNvPr id="25" name="Oval 21"/>
            <p:cNvSpPr>
              <a:spLocks noChangeArrowheads="1"/>
            </p:cNvSpPr>
            <p:nvPr/>
          </p:nvSpPr>
          <p:spPr bwMode="auto">
            <a:xfrm>
              <a:off x="3792" y="3072"/>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1</a:t>
              </a:r>
              <a:endParaRPr kumimoji="1" lang="en-US" altLang="zh-CN" sz="2205">
                <a:solidFill>
                  <a:prstClr val="black"/>
                </a:solidFill>
                <a:latin typeface="微软雅黑" panose="020B0503020204020204" pitchFamily="34" charset="-122"/>
              </a:endParaRPr>
            </a:p>
          </p:txBody>
        </p:sp>
      </p:grpSp>
      <p:grpSp>
        <p:nvGrpSpPr>
          <p:cNvPr id="26" name="Group 28"/>
          <p:cNvGrpSpPr>
            <a:grpSpLocks noChangeAspect="1"/>
          </p:cNvGrpSpPr>
          <p:nvPr/>
        </p:nvGrpSpPr>
        <p:grpSpPr bwMode="auto">
          <a:xfrm>
            <a:off x="5893336" y="2576912"/>
            <a:ext cx="3119521" cy="2497716"/>
            <a:chOff x="2858" y="864"/>
            <a:chExt cx="2089" cy="1584"/>
          </a:xfrm>
        </p:grpSpPr>
        <p:sp>
          <p:nvSpPr>
            <p:cNvPr id="27" name="Oval 5"/>
            <p:cNvSpPr>
              <a:spLocks noChangeArrowheads="1"/>
            </p:cNvSpPr>
            <p:nvPr/>
          </p:nvSpPr>
          <p:spPr bwMode="auto">
            <a:xfrm>
              <a:off x="3795" y="1676"/>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2</a:t>
              </a:r>
              <a:endParaRPr kumimoji="1" lang="en-US" altLang="zh-CN" sz="2205">
                <a:solidFill>
                  <a:prstClr val="black"/>
                </a:solidFill>
                <a:latin typeface="微软雅黑" panose="020B0503020204020204" pitchFamily="34" charset="-122"/>
              </a:endParaRPr>
            </a:p>
          </p:txBody>
        </p:sp>
        <p:sp>
          <p:nvSpPr>
            <p:cNvPr id="28" name="Rectangle 7"/>
            <p:cNvSpPr>
              <a:spLocks noChangeArrowheads="1"/>
            </p:cNvSpPr>
            <p:nvPr/>
          </p:nvSpPr>
          <p:spPr bwMode="auto">
            <a:xfrm>
              <a:off x="4515" y="2064"/>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B</a:t>
              </a:r>
              <a:endParaRPr kumimoji="1" lang="en-US" altLang="zh-CN" sz="2205">
                <a:solidFill>
                  <a:prstClr val="black"/>
                </a:solidFill>
                <a:latin typeface="微软雅黑" panose="020B0503020204020204" pitchFamily="34" charset="-122"/>
              </a:endParaRPr>
            </a:p>
          </p:txBody>
        </p:sp>
        <p:sp>
          <p:nvSpPr>
            <p:cNvPr id="29" name="Oval 8"/>
            <p:cNvSpPr>
              <a:spLocks noChangeArrowheads="1"/>
            </p:cNvSpPr>
            <p:nvPr/>
          </p:nvSpPr>
          <p:spPr bwMode="auto">
            <a:xfrm>
              <a:off x="2858" y="1680"/>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1</a:t>
              </a:r>
              <a:endParaRPr kumimoji="1" lang="en-US" altLang="zh-CN" sz="2205">
                <a:solidFill>
                  <a:prstClr val="black"/>
                </a:solidFill>
                <a:latin typeface="微软雅黑" panose="020B0503020204020204" pitchFamily="34" charset="-122"/>
              </a:endParaRPr>
            </a:p>
          </p:txBody>
        </p:sp>
        <p:sp>
          <p:nvSpPr>
            <p:cNvPr id="30" name="Rectangle 9"/>
            <p:cNvSpPr>
              <a:spLocks noChangeArrowheads="1"/>
            </p:cNvSpPr>
            <p:nvPr/>
          </p:nvSpPr>
          <p:spPr bwMode="auto">
            <a:xfrm>
              <a:off x="3572" y="1292"/>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zh-CN" sz="3086" dirty="0">
                  <a:solidFill>
                    <a:prstClr val="black"/>
                  </a:solidFill>
                  <a:latin typeface="微软雅黑" panose="020B0503020204020204" pitchFamily="34" charset="-122"/>
                </a:rPr>
                <a:t>[]=</a:t>
              </a:r>
              <a:endParaRPr kumimoji="1" lang="zh-CN" altLang="zh-CN" sz="2205" dirty="0">
                <a:solidFill>
                  <a:prstClr val="black"/>
                </a:solidFill>
                <a:latin typeface="微软雅黑" panose="020B0503020204020204" pitchFamily="34" charset="-122"/>
              </a:endParaRPr>
            </a:p>
          </p:txBody>
        </p:sp>
        <p:sp>
          <p:nvSpPr>
            <p:cNvPr id="31" name="Oval 10"/>
            <p:cNvSpPr>
              <a:spLocks noChangeArrowheads="1"/>
            </p:cNvSpPr>
            <p:nvPr/>
          </p:nvSpPr>
          <p:spPr bwMode="auto">
            <a:xfrm>
              <a:off x="3600" y="864"/>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4</a:t>
              </a:r>
              <a:endParaRPr kumimoji="1" lang="en-US" altLang="zh-CN" sz="2205">
                <a:solidFill>
                  <a:prstClr val="black"/>
                </a:solidFill>
                <a:latin typeface="微软雅黑" panose="020B0503020204020204" pitchFamily="34" charset="-122"/>
              </a:endParaRPr>
            </a:p>
          </p:txBody>
        </p:sp>
        <p:sp>
          <p:nvSpPr>
            <p:cNvPr id="32" name="Rectangle 11"/>
            <p:cNvSpPr>
              <a:spLocks noChangeArrowheads="1"/>
            </p:cNvSpPr>
            <p:nvPr/>
          </p:nvSpPr>
          <p:spPr bwMode="auto">
            <a:xfrm>
              <a:off x="3843" y="2064"/>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C</a:t>
              </a:r>
              <a:endParaRPr kumimoji="1" lang="en-US" altLang="zh-CN" sz="2205">
                <a:solidFill>
                  <a:prstClr val="black"/>
                </a:solidFill>
                <a:latin typeface="微软雅黑" panose="020B0503020204020204" pitchFamily="34" charset="-122"/>
              </a:endParaRPr>
            </a:p>
          </p:txBody>
        </p:sp>
        <p:sp>
          <p:nvSpPr>
            <p:cNvPr id="33" name="Line 12"/>
            <p:cNvSpPr>
              <a:spLocks noChangeShapeType="1"/>
            </p:cNvSpPr>
            <p:nvPr/>
          </p:nvSpPr>
          <p:spPr bwMode="auto">
            <a:xfrm flipH="1">
              <a:off x="3072" y="1296"/>
              <a:ext cx="672"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34" name="Line 13"/>
            <p:cNvSpPr>
              <a:spLocks noChangeShapeType="1"/>
            </p:cNvSpPr>
            <p:nvPr/>
          </p:nvSpPr>
          <p:spPr bwMode="auto">
            <a:xfrm>
              <a:off x="3936" y="1296"/>
              <a:ext cx="144" cy="3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35" name="Oval 25"/>
            <p:cNvSpPr>
              <a:spLocks noChangeArrowheads="1"/>
            </p:cNvSpPr>
            <p:nvPr/>
          </p:nvSpPr>
          <p:spPr bwMode="auto">
            <a:xfrm>
              <a:off x="4467" y="1680"/>
              <a:ext cx="480" cy="4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en-US" sz="3086">
                  <a:solidFill>
                    <a:prstClr val="black"/>
                  </a:solidFill>
                  <a:latin typeface="微软雅黑" panose="020B0503020204020204" pitchFamily="34" charset="-122"/>
                </a:rPr>
                <a:t>n</a:t>
              </a:r>
              <a:r>
                <a:rPr kumimoji="1" lang="en-US" altLang="en-US" sz="3086" baseline="-25000">
                  <a:solidFill>
                    <a:prstClr val="black"/>
                  </a:solidFill>
                  <a:latin typeface="微软雅黑" panose="020B0503020204020204" pitchFamily="34" charset="-122"/>
                </a:rPr>
                <a:t>3</a:t>
              </a:r>
              <a:endParaRPr kumimoji="1" lang="en-US" altLang="zh-CN" sz="2205">
                <a:solidFill>
                  <a:prstClr val="black"/>
                </a:solidFill>
                <a:latin typeface="微软雅黑" panose="020B0503020204020204" pitchFamily="34" charset="-122"/>
              </a:endParaRPr>
            </a:p>
          </p:txBody>
        </p:sp>
        <p:sp>
          <p:nvSpPr>
            <p:cNvPr id="36" name="Line 26"/>
            <p:cNvSpPr>
              <a:spLocks noChangeShapeType="1"/>
            </p:cNvSpPr>
            <p:nvPr/>
          </p:nvSpPr>
          <p:spPr bwMode="auto">
            <a:xfrm>
              <a:off x="4032" y="1248"/>
              <a:ext cx="576"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764">
                <a:solidFill>
                  <a:prstClr val="black"/>
                </a:solidFill>
                <a:latin typeface="微软雅黑" panose="020B0503020204020204" pitchFamily="34" charset="-122"/>
                <a:ea typeface="微软雅黑" panose="020B0503020204020204" pitchFamily="34" charset="-122"/>
              </a:endParaRPr>
            </a:p>
          </p:txBody>
        </p:sp>
        <p:sp>
          <p:nvSpPr>
            <p:cNvPr id="37" name="Rectangle 27"/>
            <p:cNvSpPr>
              <a:spLocks noChangeArrowheads="1"/>
            </p:cNvSpPr>
            <p:nvPr/>
          </p:nvSpPr>
          <p:spPr bwMode="auto">
            <a:xfrm>
              <a:off x="2906" y="2064"/>
              <a:ext cx="432" cy="384"/>
            </a:xfrm>
            <a:prstGeom prst="rect">
              <a:avLst/>
            </a:prstGeom>
            <a:noFill/>
            <a:ln w="1587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微软雅黑" panose="020B0503020204020204" pitchFamily="34" charset="-122"/>
                </a:rPr>
                <a:t>D</a:t>
              </a:r>
              <a:endParaRPr kumimoji="1" lang="en-US" altLang="zh-CN" sz="2205">
                <a:solidFill>
                  <a:prstClr val="black"/>
                </a:solidFill>
                <a:latin typeface="微软雅黑" panose="020B0503020204020204" pitchFamily="34" charset="-122"/>
              </a:endParaRPr>
            </a:p>
          </p:txBody>
        </p:sp>
      </p:grpSp>
    </p:spTree>
    <p:extLst>
      <p:ext uri="{BB962C8B-B14F-4D97-AF65-F5344CB8AC3E}">
        <p14:creationId xmlns:p14="http://schemas.microsoft.com/office/powerpoint/2010/main" val="221716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down)">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P spid="22"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基本块的优化算法</a:t>
            </a:r>
          </a:p>
        </p:txBody>
      </p:sp>
      <p:sp>
        <p:nvSpPr>
          <p:cNvPr id="24579" name="Rectangle 3"/>
          <p:cNvSpPr>
            <a:spLocks noGrp="1" noChangeArrowheads="1"/>
          </p:cNvSpPr>
          <p:nvPr>
            <p:ph idx="1"/>
          </p:nvPr>
        </p:nvSpPr>
        <p:spPr/>
        <p:txBody>
          <a:bodyPr>
            <a:normAutofit/>
          </a:bodyPr>
          <a:lstStyle/>
          <a:p>
            <a:r>
              <a:rPr lang="zh-CN" altLang="en-US" dirty="0"/>
              <a:t>一个基本块，可用一个</a:t>
            </a:r>
            <a:r>
              <a:rPr lang="en-US" altLang="zh-CN" dirty="0"/>
              <a:t>DAG</a:t>
            </a:r>
            <a:r>
              <a:rPr lang="zh-CN" altLang="en-US" dirty="0"/>
              <a:t>来表示</a:t>
            </a:r>
            <a:endParaRPr lang="en-US" altLang="zh-CN" dirty="0"/>
          </a:p>
          <a:p>
            <a:r>
              <a:rPr lang="zh-CN" altLang="zh-CN" dirty="0">
                <a:solidFill>
                  <a:schemeClr val="tx1"/>
                </a:solidFill>
              </a:rPr>
              <a:t>对基本块中每一条</a:t>
            </a:r>
            <a:r>
              <a:rPr lang="zh-CN" altLang="en-US" dirty="0">
                <a:solidFill>
                  <a:schemeClr val="tx1"/>
                </a:solidFill>
              </a:rPr>
              <a:t>四元式</a:t>
            </a:r>
            <a:r>
              <a:rPr lang="zh-CN" altLang="zh-CN" dirty="0">
                <a:solidFill>
                  <a:schemeClr val="tx1"/>
                </a:solidFill>
              </a:rPr>
              <a:t>代码，依次</a:t>
            </a:r>
            <a:r>
              <a:rPr lang="zh-CN" altLang="en-US" dirty="0">
                <a:solidFill>
                  <a:schemeClr val="tx1"/>
                </a:solidFill>
              </a:rPr>
              <a:t>构造对应的</a:t>
            </a:r>
            <a:r>
              <a:rPr lang="en-US" altLang="zh-CN" dirty="0">
                <a:solidFill>
                  <a:schemeClr val="tx1"/>
                </a:solidFill>
              </a:rPr>
              <a:t>DAG</a:t>
            </a:r>
            <a:r>
              <a:rPr lang="zh-CN" altLang="en-US" dirty="0">
                <a:solidFill>
                  <a:schemeClr val="tx1"/>
                </a:solidFill>
              </a:rPr>
              <a:t>图，最后基本块中所有四元式构造出来</a:t>
            </a:r>
            <a:r>
              <a:rPr lang="en-US" altLang="zh-CN" dirty="0">
                <a:solidFill>
                  <a:schemeClr val="tx1"/>
                </a:solidFill>
              </a:rPr>
              <a:t>DAG</a:t>
            </a:r>
            <a:r>
              <a:rPr lang="zh-CN" altLang="en-US" dirty="0">
                <a:solidFill>
                  <a:schemeClr val="tx1"/>
                </a:solidFill>
              </a:rPr>
              <a:t>连成整个基本块的</a:t>
            </a:r>
            <a:r>
              <a:rPr lang="en-US" altLang="zh-CN" dirty="0">
                <a:solidFill>
                  <a:schemeClr val="tx1"/>
                </a:solidFill>
              </a:rPr>
              <a:t>DAG</a:t>
            </a:r>
            <a:r>
              <a:rPr lang="zh-CN" altLang="en-US" dirty="0">
                <a:solidFill>
                  <a:schemeClr val="tx1"/>
                </a:solidFill>
              </a:rPr>
              <a:t>。</a:t>
            </a:r>
            <a:endParaRPr lang="en-US" altLang="zh-CN" dirty="0">
              <a:solidFill>
                <a:schemeClr val="tx1"/>
              </a:solidFill>
            </a:endParaRPr>
          </a:p>
        </p:txBody>
      </p:sp>
      <p:sp>
        <p:nvSpPr>
          <p:cNvPr id="6" name="Text Box 3"/>
          <p:cNvSpPr txBox="1">
            <a:spLocks noChangeArrowheads="1"/>
          </p:cNvSpPr>
          <p:nvPr/>
        </p:nvSpPr>
        <p:spPr bwMode="auto">
          <a:xfrm>
            <a:off x="2410885" y="4469309"/>
            <a:ext cx="4087824" cy="1720984"/>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a:spAutoFit/>
          </a:bodyPr>
          <a:lstStyle/>
          <a:p>
            <a:pPr defTabSz="503972"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1. 准备操作数的结点 </a:t>
            </a:r>
          </a:p>
          <a:p>
            <a:pPr defTabSz="503972"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2. 合并已知量</a:t>
            </a:r>
          </a:p>
          <a:p>
            <a:pPr defTabSz="503972"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3. 删除公共子表达式</a:t>
            </a:r>
          </a:p>
          <a:p>
            <a:pPr defTabSz="503972"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4. 删除无用赋值</a:t>
            </a:r>
            <a:endParaRPr lang="en-GB" sz="2646" dirty="0">
              <a:solidFill>
                <a:srgbClr val="0070C0"/>
              </a:solidFill>
              <a:latin typeface="微软雅黑" pitchFamily="34" charset="-122"/>
              <a:ea typeface="微软雅黑" pitchFamily="34" charset="-122"/>
            </a:endParaRPr>
          </a:p>
        </p:txBody>
      </p:sp>
    </p:spTree>
    <p:extLst>
      <p:ext uri="{BB962C8B-B14F-4D97-AF65-F5344CB8AC3E}">
        <p14:creationId xmlns:p14="http://schemas.microsoft.com/office/powerpoint/2010/main" val="1769929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wipe(left)">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wipe(left)">
                                      <p:cBhvr>
                                        <p:cTn id="12" dur="5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构造基本块的</a:t>
            </a:r>
            <a:r>
              <a:rPr lang="en-US" altLang="zh-CN" dirty="0"/>
              <a:t>DAG</a:t>
            </a:r>
            <a:r>
              <a:rPr lang="zh-CN" altLang="en-US" dirty="0"/>
              <a:t>示例</a:t>
            </a:r>
          </a:p>
        </p:txBody>
      </p:sp>
      <p:sp>
        <p:nvSpPr>
          <p:cNvPr id="9" name="文本框 8"/>
          <p:cNvSpPr txBox="1"/>
          <p:nvPr/>
        </p:nvSpPr>
        <p:spPr>
          <a:xfrm>
            <a:off x="984316" y="2110048"/>
            <a:ext cx="2919710" cy="484106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pPr defTabSz="503972" rtl="0" fontAlgn="auto" hangingPunct="1">
              <a:lnSpc>
                <a:spcPct val="100000"/>
              </a:lnSpc>
              <a:spcAft>
                <a:spcPts val="0"/>
              </a:spcAft>
              <a:buSzTx/>
            </a:pPr>
            <a:r>
              <a:rPr lang="en-US" altLang="zh-CN" sz="3086" dirty="0">
                <a:solidFill>
                  <a:prstClr val="black"/>
                </a:solidFill>
                <a:latin typeface="微软雅黑" panose="020B0503020204020204" pitchFamily="34" charset="-122"/>
                <a:ea typeface="黑体" panose="02010609060101010101" pitchFamily="49" charset="-122"/>
              </a:rPr>
              <a:t>(1) 	T</a:t>
            </a:r>
            <a:r>
              <a:rPr lang="en-US" altLang="zh-CN" sz="3086" baseline="-25000" dirty="0">
                <a:solidFill>
                  <a:prstClr val="black"/>
                </a:solidFill>
                <a:latin typeface="微软雅黑" panose="020B0503020204020204" pitchFamily="34" charset="-122"/>
                <a:ea typeface="黑体" panose="02010609060101010101" pitchFamily="49" charset="-122"/>
              </a:rPr>
              <a:t>0</a:t>
            </a:r>
            <a:r>
              <a:rPr lang="en-US" altLang="zh-CN" sz="3086" dirty="0">
                <a:solidFill>
                  <a:prstClr val="black"/>
                </a:solidFill>
                <a:latin typeface="微软雅黑" panose="020B0503020204020204" pitchFamily="34" charset="-122"/>
                <a:ea typeface="黑体" panose="02010609060101010101" pitchFamily="49" charset="-122"/>
              </a:rPr>
              <a:t>:=3.14</a:t>
            </a:r>
          </a:p>
          <a:p>
            <a:pPr defTabSz="503972" rtl="0" fontAlgn="auto" hangingPunct="1">
              <a:lnSpc>
                <a:spcPct val="100000"/>
              </a:lnSpc>
              <a:spcAft>
                <a:spcPts val="0"/>
              </a:spcAft>
              <a:buSzTx/>
            </a:pPr>
            <a:r>
              <a:rPr lang="en-US" altLang="zh-CN" sz="3086" dirty="0">
                <a:solidFill>
                  <a:prstClr val="black"/>
                </a:solidFill>
                <a:latin typeface="微软雅黑" panose="020B0503020204020204" pitchFamily="34" charset="-122"/>
                <a:ea typeface="黑体" panose="02010609060101010101" pitchFamily="49" charset="-122"/>
              </a:rPr>
              <a:t>(2) 	T</a:t>
            </a:r>
            <a:r>
              <a:rPr lang="en-US" altLang="zh-CN" sz="3086" baseline="-25000" dirty="0">
                <a:solidFill>
                  <a:prstClr val="black"/>
                </a:solidFill>
                <a:latin typeface="微软雅黑" panose="020B0503020204020204" pitchFamily="34" charset="-122"/>
                <a:ea typeface="黑体" panose="02010609060101010101" pitchFamily="49" charset="-122"/>
              </a:rPr>
              <a:t>1</a:t>
            </a:r>
            <a:r>
              <a:rPr lang="en-US" altLang="zh-CN" sz="3086" dirty="0">
                <a:solidFill>
                  <a:prstClr val="black"/>
                </a:solidFill>
                <a:latin typeface="微软雅黑" panose="020B0503020204020204" pitchFamily="34" charset="-122"/>
                <a:ea typeface="黑体" panose="02010609060101010101" pitchFamily="49" charset="-122"/>
              </a:rPr>
              <a:t>:=2*T</a:t>
            </a:r>
            <a:r>
              <a:rPr lang="en-US" altLang="zh-CN" sz="3086" baseline="-25000" dirty="0">
                <a:solidFill>
                  <a:prstClr val="black"/>
                </a:solidFill>
                <a:latin typeface="微软雅黑" panose="020B0503020204020204" pitchFamily="34" charset="-122"/>
                <a:ea typeface="黑体" panose="02010609060101010101" pitchFamily="49" charset="-122"/>
              </a:rPr>
              <a:t>0</a:t>
            </a:r>
            <a:endParaRPr lang="en-US" altLang="zh-CN" sz="3086" dirty="0">
              <a:solidFill>
                <a:prstClr val="black"/>
              </a:solidFill>
              <a:latin typeface="微软雅黑" panose="020B0503020204020204" pitchFamily="34" charset="-122"/>
              <a:ea typeface="黑体" panose="02010609060101010101" pitchFamily="49" charset="-122"/>
            </a:endParaRPr>
          </a:p>
          <a:p>
            <a:pPr defTabSz="503972" rtl="0" fontAlgn="auto" hangingPunct="1">
              <a:lnSpc>
                <a:spcPct val="100000"/>
              </a:lnSpc>
              <a:spcAft>
                <a:spcPts val="0"/>
              </a:spcAft>
              <a:buSzTx/>
            </a:pPr>
            <a:r>
              <a:rPr lang="en-US" altLang="zh-CN" sz="3086" dirty="0">
                <a:solidFill>
                  <a:prstClr val="black"/>
                </a:solidFill>
                <a:latin typeface="微软雅黑" panose="020B0503020204020204" pitchFamily="34" charset="-122"/>
                <a:ea typeface="黑体" panose="02010609060101010101" pitchFamily="49" charset="-122"/>
              </a:rPr>
              <a:t>(3) 	T</a:t>
            </a:r>
            <a:r>
              <a:rPr lang="en-US" altLang="zh-CN" sz="3086" baseline="-25000" dirty="0">
                <a:solidFill>
                  <a:prstClr val="black"/>
                </a:solidFill>
                <a:latin typeface="微软雅黑" panose="020B0503020204020204" pitchFamily="34" charset="-122"/>
                <a:ea typeface="黑体" panose="02010609060101010101" pitchFamily="49" charset="-122"/>
              </a:rPr>
              <a:t>2</a:t>
            </a:r>
            <a:r>
              <a:rPr lang="en-US" altLang="zh-CN" sz="3086" dirty="0">
                <a:solidFill>
                  <a:prstClr val="black"/>
                </a:solidFill>
                <a:latin typeface="微软雅黑" panose="020B0503020204020204" pitchFamily="34" charset="-122"/>
                <a:ea typeface="黑体" panose="02010609060101010101" pitchFamily="49" charset="-122"/>
              </a:rPr>
              <a:t>:=</a:t>
            </a:r>
            <a:r>
              <a:rPr lang="en-US" altLang="zh-CN" sz="3086" dirty="0" err="1">
                <a:solidFill>
                  <a:prstClr val="black"/>
                </a:solidFill>
                <a:latin typeface="微软雅黑" panose="020B0503020204020204" pitchFamily="34" charset="-122"/>
                <a:ea typeface="黑体" panose="02010609060101010101" pitchFamily="49" charset="-122"/>
              </a:rPr>
              <a:t>R+r</a:t>
            </a:r>
            <a:endParaRPr lang="en-US" altLang="zh-CN" sz="3086" dirty="0">
              <a:solidFill>
                <a:prstClr val="black"/>
              </a:solidFill>
              <a:latin typeface="微软雅黑" panose="020B0503020204020204" pitchFamily="34" charset="-122"/>
              <a:ea typeface="黑体" panose="02010609060101010101" pitchFamily="49" charset="-122"/>
            </a:endParaRPr>
          </a:p>
          <a:p>
            <a:pPr defTabSz="503972" rtl="0" fontAlgn="auto" hangingPunct="1">
              <a:lnSpc>
                <a:spcPct val="100000"/>
              </a:lnSpc>
              <a:spcAft>
                <a:spcPts val="0"/>
              </a:spcAft>
              <a:buSzTx/>
            </a:pPr>
            <a:r>
              <a:rPr lang="en-US" altLang="zh-CN" sz="3086" dirty="0">
                <a:solidFill>
                  <a:prstClr val="black"/>
                </a:solidFill>
                <a:latin typeface="微软雅黑" panose="020B0503020204020204" pitchFamily="34" charset="-122"/>
                <a:ea typeface="黑体" panose="02010609060101010101" pitchFamily="49" charset="-122"/>
              </a:rPr>
              <a:t>(4) 	A:=T</a:t>
            </a:r>
            <a:r>
              <a:rPr lang="en-US" altLang="zh-CN" sz="3086" baseline="-25000" dirty="0">
                <a:solidFill>
                  <a:prstClr val="black"/>
                </a:solidFill>
                <a:latin typeface="微软雅黑" panose="020B0503020204020204" pitchFamily="34" charset="-122"/>
                <a:ea typeface="黑体" panose="02010609060101010101" pitchFamily="49" charset="-122"/>
              </a:rPr>
              <a:t>1</a:t>
            </a:r>
            <a:r>
              <a:rPr lang="en-US" altLang="zh-CN" sz="3086" dirty="0">
                <a:solidFill>
                  <a:prstClr val="black"/>
                </a:solidFill>
                <a:latin typeface="微软雅黑" panose="020B0503020204020204" pitchFamily="34" charset="-122"/>
                <a:ea typeface="黑体" panose="02010609060101010101" pitchFamily="49" charset="-122"/>
              </a:rPr>
              <a:t>*T</a:t>
            </a:r>
            <a:r>
              <a:rPr lang="en-US" altLang="zh-CN" sz="3086" baseline="-25000" dirty="0">
                <a:solidFill>
                  <a:prstClr val="black"/>
                </a:solidFill>
                <a:latin typeface="微软雅黑" panose="020B0503020204020204" pitchFamily="34" charset="-122"/>
                <a:ea typeface="黑体" panose="02010609060101010101" pitchFamily="49" charset="-122"/>
              </a:rPr>
              <a:t>2</a:t>
            </a:r>
            <a:endParaRPr lang="en-US" altLang="zh-CN" sz="3086" dirty="0">
              <a:solidFill>
                <a:prstClr val="black"/>
              </a:solidFill>
              <a:latin typeface="微软雅黑" panose="020B0503020204020204" pitchFamily="34" charset="-122"/>
              <a:ea typeface="黑体" panose="02010609060101010101" pitchFamily="49" charset="-122"/>
            </a:endParaRPr>
          </a:p>
          <a:p>
            <a:pPr defTabSz="503972" rtl="0" fontAlgn="auto" hangingPunct="1">
              <a:lnSpc>
                <a:spcPct val="100000"/>
              </a:lnSpc>
              <a:spcAft>
                <a:spcPts val="0"/>
              </a:spcAft>
              <a:buSzTx/>
            </a:pPr>
            <a:r>
              <a:rPr lang="en-US" altLang="zh-CN" sz="3086" dirty="0">
                <a:solidFill>
                  <a:prstClr val="black"/>
                </a:solidFill>
                <a:latin typeface="微软雅黑" panose="020B0503020204020204" pitchFamily="34" charset="-122"/>
                <a:ea typeface="黑体" panose="02010609060101010101" pitchFamily="49" charset="-122"/>
              </a:rPr>
              <a:t>(5) 	B:=A</a:t>
            </a:r>
          </a:p>
          <a:p>
            <a:pPr defTabSz="503972" rtl="0" fontAlgn="auto" hangingPunct="1">
              <a:lnSpc>
                <a:spcPct val="100000"/>
              </a:lnSpc>
              <a:spcAft>
                <a:spcPts val="0"/>
              </a:spcAft>
              <a:buSzTx/>
            </a:pPr>
            <a:r>
              <a:rPr lang="en-US" altLang="zh-CN" sz="3086" dirty="0">
                <a:solidFill>
                  <a:prstClr val="black"/>
                </a:solidFill>
                <a:latin typeface="微软雅黑" panose="020B0503020204020204" pitchFamily="34" charset="-122"/>
                <a:ea typeface="黑体" panose="02010609060101010101" pitchFamily="49" charset="-122"/>
              </a:rPr>
              <a:t>(6) 	T</a:t>
            </a:r>
            <a:r>
              <a:rPr lang="en-US" altLang="zh-CN" sz="3086" baseline="-25000" dirty="0">
                <a:solidFill>
                  <a:prstClr val="black"/>
                </a:solidFill>
                <a:latin typeface="微软雅黑" panose="020B0503020204020204" pitchFamily="34" charset="-122"/>
                <a:ea typeface="黑体" panose="02010609060101010101" pitchFamily="49" charset="-122"/>
              </a:rPr>
              <a:t>3</a:t>
            </a:r>
            <a:r>
              <a:rPr lang="en-US" altLang="zh-CN" sz="3086" dirty="0">
                <a:solidFill>
                  <a:prstClr val="black"/>
                </a:solidFill>
                <a:latin typeface="微软雅黑" panose="020B0503020204020204" pitchFamily="34" charset="-122"/>
                <a:ea typeface="黑体" panose="02010609060101010101" pitchFamily="49" charset="-122"/>
              </a:rPr>
              <a:t>:=2*T</a:t>
            </a:r>
            <a:r>
              <a:rPr lang="en-US" altLang="zh-CN" sz="3086" baseline="-25000" dirty="0">
                <a:solidFill>
                  <a:prstClr val="black"/>
                </a:solidFill>
                <a:latin typeface="微软雅黑" panose="020B0503020204020204" pitchFamily="34" charset="-122"/>
                <a:ea typeface="黑体" panose="02010609060101010101" pitchFamily="49" charset="-122"/>
              </a:rPr>
              <a:t>0</a:t>
            </a:r>
            <a:endParaRPr lang="en-US" altLang="zh-CN" sz="3086" dirty="0">
              <a:solidFill>
                <a:prstClr val="black"/>
              </a:solidFill>
              <a:latin typeface="微软雅黑" panose="020B0503020204020204" pitchFamily="34" charset="-122"/>
              <a:ea typeface="黑体" panose="02010609060101010101" pitchFamily="49" charset="-122"/>
            </a:endParaRPr>
          </a:p>
          <a:p>
            <a:pPr defTabSz="503972" rtl="0" fontAlgn="auto" hangingPunct="1">
              <a:lnSpc>
                <a:spcPct val="100000"/>
              </a:lnSpc>
              <a:spcAft>
                <a:spcPts val="0"/>
              </a:spcAft>
              <a:buSzTx/>
            </a:pPr>
            <a:r>
              <a:rPr lang="en-US" altLang="zh-CN" sz="3086" dirty="0">
                <a:solidFill>
                  <a:prstClr val="black"/>
                </a:solidFill>
                <a:latin typeface="微软雅黑" panose="020B0503020204020204" pitchFamily="34" charset="-122"/>
                <a:ea typeface="黑体" panose="02010609060101010101" pitchFamily="49" charset="-122"/>
              </a:rPr>
              <a:t>(7) 	T</a:t>
            </a:r>
            <a:r>
              <a:rPr lang="en-US" altLang="zh-CN" sz="3086" baseline="-25000" dirty="0">
                <a:solidFill>
                  <a:prstClr val="black"/>
                </a:solidFill>
                <a:latin typeface="微软雅黑" panose="020B0503020204020204" pitchFamily="34" charset="-122"/>
                <a:ea typeface="黑体" panose="02010609060101010101" pitchFamily="49" charset="-122"/>
              </a:rPr>
              <a:t>4</a:t>
            </a:r>
            <a:r>
              <a:rPr lang="en-US" altLang="zh-CN" sz="3086" dirty="0">
                <a:solidFill>
                  <a:prstClr val="black"/>
                </a:solidFill>
                <a:latin typeface="微软雅黑" panose="020B0503020204020204" pitchFamily="34" charset="-122"/>
                <a:ea typeface="黑体" panose="02010609060101010101" pitchFamily="49" charset="-122"/>
              </a:rPr>
              <a:t>:=</a:t>
            </a:r>
            <a:r>
              <a:rPr lang="en-US" altLang="zh-CN" sz="3086" dirty="0" err="1">
                <a:solidFill>
                  <a:prstClr val="black"/>
                </a:solidFill>
                <a:latin typeface="微软雅黑" panose="020B0503020204020204" pitchFamily="34" charset="-122"/>
                <a:ea typeface="黑体" panose="02010609060101010101" pitchFamily="49" charset="-122"/>
              </a:rPr>
              <a:t>R+r</a:t>
            </a:r>
            <a:endParaRPr lang="en-US" altLang="zh-CN" sz="3086" dirty="0">
              <a:solidFill>
                <a:prstClr val="black"/>
              </a:solidFill>
              <a:latin typeface="微软雅黑" panose="020B0503020204020204" pitchFamily="34" charset="-122"/>
              <a:ea typeface="黑体" panose="02010609060101010101" pitchFamily="49" charset="-122"/>
            </a:endParaRPr>
          </a:p>
          <a:p>
            <a:pPr defTabSz="503972" rtl="0" fontAlgn="auto" hangingPunct="1">
              <a:lnSpc>
                <a:spcPct val="100000"/>
              </a:lnSpc>
              <a:spcAft>
                <a:spcPts val="0"/>
              </a:spcAft>
              <a:buSzTx/>
            </a:pPr>
            <a:r>
              <a:rPr lang="en-US" altLang="zh-CN" sz="3086" dirty="0">
                <a:solidFill>
                  <a:prstClr val="black"/>
                </a:solidFill>
                <a:latin typeface="微软雅黑" panose="020B0503020204020204" pitchFamily="34" charset="-122"/>
                <a:ea typeface="黑体" panose="02010609060101010101" pitchFamily="49" charset="-122"/>
              </a:rPr>
              <a:t>(8) 	T</a:t>
            </a:r>
            <a:r>
              <a:rPr lang="en-US" altLang="zh-CN" sz="3086" baseline="-25000" dirty="0">
                <a:solidFill>
                  <a:prstClr val="black"/>
                </a:solidFill>
                <a:latin typeface="微软雅黑" panose="020B0503020204020204" pitchFamily="34" charset="-122"/>
                <a:ea typeface="黑体" panose="02010609060101010101" pitchFamily="49" charset="-122"/>
              </a:rPr>
              <a:t>5</a:t>
            </a:r>
            <a:r>
              <a:rPr lang="en-US" altLang="zh-CN" sz="3086" dirty="0">
                <a:solidFill>
                  <a:prstClr val="black"/>
                </a:solidFill>
                <a:latin typeface="微软雅黑" panose="020B0503020204020204" pitchFamily="34" charset="-122"/>
                <a:ea typeface="黑体" panose="02010609060101010101" pitchFamily="49" charset="-122"/>
              </a:rPr>
              <a:t>:=T</a:t>
            </a:r>
            <a:r>
              <a:rPr lang="en-US" altLang="zh-CN" sz="3086" baseline="-25000" dirty="0">
                <a:solidFill>
                  <a:prstClr val="black"/>
                </a:solidFill>
                <a:latin typeface="微软雅黑" panose="020B0503020204020204" pitchFamily="34" charset="-122"/>
                <a:ea typeface="黑体" panose="02010609060101010101" pitchFamily="49" charset="-122"/>
              </a:rPr>
              <a:t>3</a:t>
            </a:r>
            <a:r>
              <a:rPr lang="en-US" altLang="zh-CN" sz="3086" dirty="0">
                <a:solidFill>
                  <a:prstClr val="black"/>
                </a:solidFill>
                <a:latin typeface="微软雅黑" panose="020B0503020204020204" pitchFamily="34" charset="-122"/>
                <a:ea typeface="黑体" panose="02010609060101010101" pitchFamily="49" charset="-122"/>
              </a:rPr>
              <a:t>*T</a:t>
            </a:r>
            <a:r>
              <a:rPr lang="en-US" altLang="zh-CN" sz="3086" baseline="-25000" dirty="0">
                <a:solidFill>
                  <a:prstClr val="black"/>
                </a:solidFill>
                <a:latin typeface="微软雅黑" panose="020B0503020204020204" pitchFamily="34" charset="-122"/>
                <a:ea typeface="黑体" panose="02010609060101010101" pitchFamily="49" charset="-122"/>
              </a:rPr>
              <a:t>4</a:t>
            </a:r>
            <a:endParaRPr lang="en-US" altLang="zh-CN" sz="3086" dirty="0">
              <a:solidFill>
                <a:prstClr val="black"/>
              </a:solidFill>
              <a:latin typeface="微软雅黑" panose="020B0503020204020204" pitchFamily="34" charset="-122"/>
              <a:ea typeface="黑体" panose="02010609060101010101" pitchFamily="49" charset="-122"/>
            </a:endParaRPr>
          </a:p>
          <a:p>
            <a:pPr defTabSz="503972" rtl="0" fontAlgn="auto" hangingPunct="1">
              <a:lnSpc>
                <a:spcPct val="100000"/>
              </a:lnSpc>
              <a:spcAft>
                <a:spcPts val="0"/>
              </a:spcAft>
              <a:buSzTx/>
            </a:pPr>
            <a:r>
              <a:rPr lang="en-US" altLang="zh-CN" sz="3086" dirty="0">
                <a:solidFill>
                  <a:prstClr val="black"/>
                </a:solidFill>
                <a:latin typeface="微软雅黑" panose="020B0503020204020204" pitchFamily="34" charset="-122"/>
                <a:ea typeface="黑体" panose="02010609060101010101" pitchFamily="49" charset="-122"/>
              </a:rPr>
              <a:t>(9) 	T</a:t>
            </a:r>
            <a:r>
              <a:rPr lang="en-US" altLang="zh-CN" sz="3086" baseline="-25000" dirty="0">
                <a:solidFill>
                  <a:prstClr val="black"/>
                </a:solidFill>
                <a:latin typeface="微软雅黑" panose="020B0503020204020204" pitchFamily="34" charset="-122"/>
                <a:ea typeface="黑体" panose="02010609060101010101" pitchFamily="49" charset="-122"/>
              </a:rPr>
              <a:t>6</a:t>
            </a:r>
            <a:r>
              <a:rPr lang="en-US" altLang="zh-CN" sz="3086" dirty="0">
                <a:solidFill>
                  <a:prstClr val="black"/>
                </a:solidFill>
                <a:latin typeface="微软雅黑" panose="020B0503020204020204" pitchFamily="34" charset="-122"/>
                <a:ea typeface="黑体" panose="02010609060101010101" pitchFamily="49" charset="-122"/>
              </a:rPr>
              <a:t>:=R-r</a:t>
            </a:r>
          </a:p>
          <a:p>
            <a:pPr defTabSz="503972" rtl="0" fontAlgn="auto" hangingPunct="1">
              <a:lnSpc>
                <a:spcPct val="100000"/>
              </a:lnSpc>
              <a:spcAft>
                <a:spcPts val="0"/>
              </a:spcAft>
              <a:buSzTx/>
            </a:pPr>
            <a:r>
              <a:rPr lang="en-US" altLang="zh-CN" sz="3086" dirty="0">
                <a:solidFill>
                  <a:prstClr val="black"/>
                </a:solidFill>
                <a:latin typeface="微软雅黑" panose="020B0503020204020204" pitchFamily="34" charset="-122"/>
                <a:ea typeface="黑体" panose="02010609060101010101" pitchFamily="49" charset="-122"/>
              </a:rPr>
              <a:t>(10)	 B:=T</a:t>
            </a:r>
            <a:r>
              <a:rPr lang="en-US" altLang="zh-CN" sz="3086" baseline="-25000" dirty="0">
                <a:solidFill>
                  <a:prstClr val="black"/>
                </a:solidFill>
                <a:latin typeface="微软雅黑" panose="020B0503020204020204" pitchFamily="34" charset="-122"/>
                <a:ea typeface="黑体" panose="02010609060101010101" pitchFamily="49" charset="-122"/>
              </a:rPr>
              <a:t>5</a:t>
            </a:r>
            <a:r>
              <a:rPr lang="en-US" altLang="zh-CN" sz="3086" dirty="0">
                <a:solidFill>
                  <a:prstClr val="black"/>
                </a:solidFill>
                <a:latin typeface="微软雅黑" panose="020B0503020204020204" pitchFamily="34" charset="-122"/>
                <a:ea typeface="黑体" panose="02010609060101010101" pitchFamily="49" charset="-122"/>
              </a:rPr>
              <a:t>*T</a:t>
            </a:r>
            <a:r>
              <a:rPr lang="en-US" altLang="zh-CN" sz="3086" baseline="-25000" dirty="0">
                <a:solidFill>
                  <a:prstClr val="black"/>
                </a:solidFill>
                <a:latin typeface="微软雅黑" panose="020B0503020204020204" pitchFamily="34" charset="-122"/>
                <a:ea typeface="黑体" panose="02010609060101010101" pitchFamily="49" charset="-122"/>
              </a:rPr>
              <a:t>6</a:t>
            </a:r>
            <a:endParaRPr lang="zh-CN" altLang="en-US" sz="3086" dirty="0">
              <a:solidFill>
                <a:prstClr val="black"/>
              </a:solidFill>
              <a:latin typeface="微软雅黑" panose="020B0503020204020204" pitchFamily="34" charset="-122"/>
              <a:ea typeface="黑体" panose="02010609060101010101" pitchFamily="49" charset="-122"/>
            </a:endParaRPr>
          </a:p>
        </p:txBody>
      </p:sp>
      <p:sp>
        <p:nvSpPr>
          <p:cNvPr id="10" name="Text Box 3"/>
          <p:cNvSpPr txBox="1">
            <a:spLocks noChangeArrowheads="1"/>
          </p:cNvSpPr>
          <p:nvPr/>
        </p:nvSpPr>
        <p:spPr bwMode="auto">
          <a:xfrm>
            <a:off x="4130351" y="2110047"/>
            <a:ext cx="4087824" cy="1720984"/>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a:spAutoFit/>
          </a:bodyPr>
          <a:lstStyle/>
          <a:p>
            <a:pPr defTabSz="503972"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1. 准备操作数的结点 </a:t>
            </a:r>
          </a:p>
          <a:p>
            <a:pPr defTabSz="503972"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2. 合并已知量</a:t>
            </a:r>
          </a:p>
          <a:p>
            <a:pPr defTabSz="503972"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3. 删除公共子表达式</a:t>
            </a:r>
          </a:p>
          <a:p>
            <a:pPr defTabSz="503972"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4. 删除无用赋值</a:t>
            </a:r>
            <a:endParaRPr lang="en-GB" sz="2646" dirty="0">
              <a:solidFill>
                <a:srgbClr val="0070C0"/>
              </a:solidFill>
              <a:latin typeface="微软雅黑" pitchFamily="34" charset="-122"/>
              <a:ea typeface="微软雅黑" pitchFamily="34" charset="-122"/>
            </a:endParaRPr>
          </a:p>
        </p:txBody>
      </p:sp>
    </p:spTree>
    <p:extLst>
      <p:ext uri="{BB962C8B-B14F-4D97-AF65-F5344CB8AC3E}">
        <p14:creationId xmlns:p14="http://schemas.microsoft.com/office/powerpoint/2010/main" val="210218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构造基本块的</a:t>
            </a:r>
            <a:r>
              <a:rPr lang="en-US" altLang="zh-CN" dirty="0"/>
              <a:t>DAG</a:t>
            </a:r>
            <a:r>
              <a:rPr lang="zh-CN" altLang="en-US" dirty="0"/>
              <a:t>示例</a:t>
            </a:r>
          </a:p>
        </p:txBody>
      </p:sp>
      <p:sp>
        <p:nvSpPr>
          <p:cNvPr id="90" name="Oval 3"/>
          <p:cNvSpPr>
            <a:spLocks noChangeArrowheads="1"/>
          </p:cNvSpPr>
          <p:nvPr/>
        </p:nvSpPr>
        <p:spPr bwMode="auto">
          <a:xfrm>
            <a:off x="4154343" y="6321962"/>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1</a:t>
            </a:r>
            <a:endParaRPr kumimoji="1" lang="en-US" altLang="zh-CN" sz="2646">
              <a:solidFill>
                <a:prstClr val="black"/>
              </a:solidFill>
              <a:latin typeface="微软雅黑" panose="020B0503020204020204" pitchFamily="34" charset="-122"/>
            </a:endParaRPr>
          </a:p>
        </p:txBody>
      </p:sp>
      <p:sp>
        <p:nvSpPr>
          <p:cNvPr id="91" name="Rectangle 4"/>
          <p:cNvSpPr>
            <a:spLocks noChangeArrowheads="1"/>
          </p:cNvSpPr>
          <p:nvPr/>
        </p:nvSpPr>
        <p:spPr bwMode="auto">
          <a:xfrm>
            <a:off x="4084936" y="6897338"/>
            <a:ext cx="719220"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en-US" sz="2646" dirty="0">
                <a:solidFill>
                  <a:prstClr val="black"/>
                </a:solidFill>
                <a:latin typeface="微软雅黑" panose="020B0503020204020204" pitchFamily="34" charset="-122"/>
              </a:rPr>
              <a:t>3.14</a:t>
            </a:r>
          </a:p>
        </p:txBody>
      </p:sp>
      <p:sp>
        <p:nvSpPr>
          <p:cNvPr id="92" name="Rectangle 5"/>
          <p:cNvSpPr>
            <a:spLocks noChangeArrowheads="1"/>
          </p:cNvSpPr>
          <p:nvPr/>
        </p:nvSpPr>
        <p:spPr bwMode="auto">
          <a:xfrm>
            <a:off x="4624350" y="6441832"/>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T</a:t>
            </a:r>
            <a:r>
              <a:rPr kumimoji="1" lang="en-US" altLang="zh-CN" sz="2646" baseline="-25000" dirty="0">
                <a:solidFill>
                  <a:prstClr val="black"/>
                </a:solidFill>
                <a:latin typeface="微软雅黑" panose="020B0503020204020204" pitchFamily="34" charset="-122"/>
              </a:rPr>
              <a:t>0</a:t>
            </a:r>
            <a:endParaRPr kumimoji="1" lang="en-US" altLang="zh-CN" sz="2646" dirty="0">
              <a:solidFill>
                <a:prstClr val="black"/>
              </a:solidFill>
              <a:latin typeface="微软雅黑" panose="020B0503020204020204" pitchFamily="34" charset="-122"/>
            </a:endParaRPr>
          </a:p>
        </p:txBody>
      </p:sp>
      <p:sp>
        <p:nvSpPr>
          <p:cNvPr id="93" name="Oval 6"/>
          <p:cNvSpPr>
            <a:spLocks noChangeArrowheads="1"/>
          </p:cNvSpPr>
          <p:nvPr/>
        </p:nvSpPr>
        <p:spPr bwMode="auto">
          <a:xfrm>
            <a:off x="5247674" y="6321962"/>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2</a:t>
            </a:r>
            <a:endParaRPr kumimoji="1" lang="en-US" altLang="zh-CN" sz="2646">
              <a:solidFill>
                <a:prstClr val="black"/>
              </a:solidFill>
              <a:latin typeface="微软雅黑" panose="020B0503020204020204" pitchFamily="34" charset="-122"/>
            </a:endParaRPr>
          </a:p>
        </p:txBody>
      </p:sp>
      <p:sp>
        <p:nvSpPr>
          <p:cNvPr id="94" name="Rectangle 7"/>
          <p:cNvSpPr>
            <a:spLocks noChangeArrowheads="1"/>
          </p:cNvSpPr>
          <p:nvPr/>
        </p:nvSpPr>
        <p:spPr bwMode="auto">
          <a:xfrm>
            <a:off x="5175752" y="6897338"/>
            <a:ext cx="719220"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en-US" sz="2646" dirty="0">
                <a:solidFill>
                  <a:prstClr val="black"/>
                </a:solidFill>
                <a:latin typeface="微软雅黑" panose="020B0503020204020204" pitchFamily="34" charset="-122"/>
              </a:rPr>
              <a:t>6.28</a:t>
            </a:r>
          </a:p>
        </p:txBody>
      </p:sp>
      <p:sp>
        <p:nvSpPr>
          <p:cNvPr id="95" name="Rectangle 8"/>
          <p:cNvSpPr>
            <a:spLocks noChangeArrowheads="1"/>
          </p:cNvSpPr>
          <p:nvPr/>
        </p:nvSpPr>
        <p:spPr bwMode="auto">
          <a:xfrm>
            <a:off x="5667218" y="6441832"/>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T</a:t>
            </a:r>
            <a:r>
              <a:rPr kumimoji="1" lang="en-US" altLang="zh-CN" sz="2646" baseline="-25000" dirty="0">
                <a:solidFill>
                  <a:prstClr val="black"/>
                </a:solidFill>
                <a:latin typeface="微软雅黑" panose="020B0503020204020204" pitchFamily="34" charset="-122"/>
              </a:rPr>
              <a:t>1</a:t>
            </a:r>
            <a:endParaRPr kumimoji="1" lang="en-US" altLang="zh-CN" sz="2646" dirty="0">
              <a:solidFill>
                <a:prstClr val="black"/>
              </a:solidFill>
              <a:latin typeface="微软雅黑" panose="020B0503020204020204" pitchFamily="34" charset="-122"/>
            </a:endParaRPr>
          </a:p>
        </p:txBody>
      </p:sp>
      <p:sp>
        <p:nvSpPr>
          <p:cNvPr id="96" name="Oval 9"/>
          <p:cNvSpPr>
            <a:spLocks noChangeArrowheads="1"/>
          </p:cNvSpPr>
          <p:nvPr/>
        </p:nvSpPr>
        <p:spPr bwMode="auto">
          <a:xfrm>
            <a:off x="6686112" y="6321962"/>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3</a:t>
            </a:r>
            <a:endParaRPr kumimoji="1" lang="en-US" altLang="zh-CN" sz="2646">
              <a:solidFill>
                <a:prstClr val="black"/>
              </a:solidFill>
              <a:latin typeface="微软雅黑" panose="020B0503020204020204" pitchFamily="34" charset="-122"/>
            </a:endParaRPr>
          </a:p>
        </p:txBody>
      </p:sp>
      <p:sp>
        <p:nvSpPr>
          <p:cNvPr id="97" name="Oval 10"/>
          <p:cNvSpPr>
            <a:spLocks noChangeArrowheads="1"/>
          </p:cNvSpPr>
          <p:nvPr/>
        </p:nvSpPr>
        <p:spPr bwMode="auto">
          <a:xfrm>
            <a:off x="8196473" y="6321962"/>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n</a:t>
            </a:r>
            <a:r>
              <a:rPr kumimoji="1" lang="en-US" altLang="zh-CN" sz="2646" baseline="-25000" dirty="0">
                <a:solidFill>
                  <a:prstClr val="black"/>
                </a:solidFill>
                <a:latin typeface="微软雅黑" panose="020B0503020204020204" pitchFamily="34" charset="-122"/>
              </a:rPr>
              <a:t>4</a:t>
            </a:r>
            <a:endParaRPr kumimoji="1" lang="en-US" altLang="zh-CN" sz="2646" dirty="0">
              <a:solidFill>
                <a:prstClr val="black"/>
              </a:solidFill>
              <a:latin typeface="微软雅黑" panose="020B0503020204020204" pitchFamily="34" charset="-122"/>
            </a:endParaRPr>
          </a:p>
        </p:txBody>
      </p:sp>
      <p:sp>
        <p:nvSpPr>
          <p:cNvPr id="98" name="Rectangle 11"/>
          <p:cNvSpPr>
            <a:spLocks noChangeArrowheads="1"/>
          </p:cNvSpPr>
          <p:nvPr/>
        </p:nvSpPr>
        <p:spPr bwMode="auto">
          <a:xfrm>
            <a:off x="6542269" y="6897338"/>
            <a:ext cx="719220"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R</a:t>
            </a:r>
          </a:p>
        </p:txBody>
      </p:sp>
      <p:sp>
        <p:nvSpPr>
          <p:cNvPr id="99" name="Rectangle 12"/>
          <p:cNvSpPr>
            <a:spLocks noChangeArrowheads="1"/>
          </p:cNvSpPr>
          <p:nvPr/>
        </p:nvSpPr>
        <p:spPr bwMode="auto">
          <a:xfrm>
            <a:off x="8124550" y="6897338"/>
            <a:ext cx="719220"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r</a:t>
            </a:r>
          </a:p>
        </p:txBody>
      </p:sp>
      <p:sp>
        <p:nvSpPr>
          <p:cNvPr id="100" name="Oval 13"/>
          <p:cNvSpPr>
            <a:spLocks noChangeArrowheads="1"/>
          </p:cNvSpPr>
          <p:nvPr/>
        </p:nvSpPr>
        <p:spPr bwMode="auto">
          <a:xfrm>
            <a:off x="7189566" y="5027367"/>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5</a:t>
            </a:r>
            <a:endParaRPr kumimoji="1" lang="en-US" altLang="zh-CN" sz="2646">
              <a:solidFill>
                <a:prstClr val="black"/>
              </a:solidFill>
              <a:latin typeface="微软雅黑" panose="020B0503020204020204" pitchFamily="34" charset="-122"/>
            </a:endParaRPr>
          </a:p>
        </p:txBody>
      </p:sp>
      <p:grpSp>
        <p:nvGrpSpPr>
          <p:cNvPr id="101" name="Group 47"/>
          <p:cNvGrpSpPr>
            <a:grpSpLocks/>
          </p:cNvGrpSpPr>
          <p:nvPr/>
        </p:nvGrpSpPr>
        <p:grpSpPr bwMode="auto">
          <a:xfrm>
            <a:off x="7045723" y="5530822"/>
            <a:ext cx="1222672" cy="791140"/>
            <a:chOff x="3936" y="2544"/>
            <a:chExt cx="816" cy="528"/>
          </a:xfrm>
        </p:grpSpPr>
        <p:sp>
          <p:nvSpPr>
            <p:cNvPr id="102" name="Line 14"/>
            <p:cNvSpPr>
              <a:spLocks noChangeShapeType="1"/>
            </p:cNvSpPr>
            <p:nvPr/>
          </p:nvSpPr>
          <p:spPr bwMode="auto">
            <a:xfrm flipH="1">
              <a:off x="3936" y="2544"/>
              <a:ext cx="192"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103" name="Line 15"/>
            <p:cNvSpPr>
              <a:spLocks noChangeShapeType="1"/>
            </p:cNvSpPr>
            <p:nvPr/>
          </p:nvSpPr>
          <p:spPr bwMode="auto">
            <a:xfrm>
              <a:off x="4272" y="2544"/>
              <a:ext cx="48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104" name="Rectangle 16"/>
          <p:cNvSpPr>
            <a:spLocks noChangeArrowheads="1"/>
          </p:cNvSpPr>
          <p:nvPr/>
        </p:nvSpPr>
        <p:spPr bwMode="auto">
          <a:xfrm>
            <a:off x="7261489" y="5530821"/>
            <a:ext cx="359609"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105" name="Rectangle 17"/>
          <p:cNvSpPr>
            <a:spLocks noChangeArrowheads="1"/>
          </p:cNvSpPr>
          <p:nvPr/>
        </p:nvSpPr>
        <p:spPr bwMode="auto">
          <a:xfrm>
            <a:off x="7621096" y="5099289"/>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2</a:t>
            </a:r>
            <a:endParaRPr kumimoji="1" lang="en-US" altLang="zh-CN" sz="2646">
              <a:solidFill>
                <a:prstClr val="black"/>
              </a:solidFill>
              <a:latin typeface="微软雅黑" panose="020B0503020204020204" pitchFamily="34" charset="-122"/>
            </a:endParaRPr>
          </a:p>
        </p:txBody>
      </p:sp>
      <p:sp>
        <p:nvSpPr>
          <p:cNvPr id="106" name="Oval 18"/>
          <p:cNvSpPr>
            <a:spLocks noChangeArrowheads="1"/>
          </p:cNvSpPr>
          <p:nvPr/>
        </p:nvSpPr>
        <p:spPr bwMode="auto">
          <a:xfrm>
            <a:off x="6542268" y="4164304"/>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6</a:t>
            </a:r>
            <a:endParaRPr kumimoji="1" lang="en-US" altLang="zh-CN" sz="2646">
              <a:solidFill>
                <a:prstClr val="black"/>
              </a:solidFill>
              <a:latin typeface="微软雅黑" panose="020B0503020204020204" pitchFamily="34" charset="-122"/>
            </a:endParaRPr>
          </a:p>
        </p:txBody>
      </p:sp>
      <p:grpSp>
        <p:nvGrpSpPr>
          <p:cNvPr id="107" name="Group 48"/>
          <p:cNvGrpSpPr>
            <a:grpSpLocks/>
          </p:cNvGrpSpPr>
          <p:nvPr/>
        </p:nvGrpSpPr>
        <p:grpSpPr bwMode="auto">
          <a:xfrm>
            <a:off x="5607285" y="4595837"/>
            <a:ext cx="1798046" cy="1714138"/>
            <a:chOff x="2976" y="1920"/>
            <a:chExt cx="1200" cy="1144"/>
          </a:xfrm>
        </p:grpSpPr>
        <p:sp>
          <p:nvSpPr>
            <p:cNvPr id="108" name="Line 19"/>
            <p:cNvSpPr>
              <a:spLocks noChangeShapeType="1"/>
            </p:cNvSpPr>
            <p:nvPr/>
          </p:nvSpPr>
          <p:spPr bwMode="auto">
            <a:xfrm flipH="1">
              <a:off x="2976" y="1976"/>
              <a:ext cx="720" cy="10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109" name="Line 20"/>
            <p:cNvSpPr>
              <a:spLocks noChangeShapeType="1"/>
            </p:cNvSpPr>
            <p:nvPr/>
          </p:nvSpPr>
          <p:spPr bwMode="auto">
            <a:xfrm>
              <a:off x="3888" y="1920"/>
              <a:ext cx="288" cy="2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110" name="Rectangle 21"/>
          <p:cNvSpPr>
            <a:spLocks noChangeArrowheads="1"/>
          </p:cNvSpPr>
          <p:nvPr/>
        </p:nvSpPr>
        <p:spPr bwMode="auto">
          <a:xfrm>
            <a:off x="6686113" y="4739681"/>
            <a:ext cx="359609"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111" name="Rectangle 22"/>
          <p:cNvSpPr>
            <a:spLocks noChangeArrowheads="1"/>
          </p:cNvSpPr>
          <p:nvPr/>
        </p:nvSpPr>
        <p:spPr bwMode="auto">
          <a:xfrm>
            <a:off x="6973800" y="4236228"/>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A</a:t>
            </a:r>
          </a:p>
        </p:txBody>
      </p:sp>
      <p:sp>
        <p:nvSpPr>
          <p:cNvPr id="112" name="Rectangle 23"/>
          <p:cNvSpPr>
            <a:spLocks noChangeArrowheads="1"/>
          </p:cNvSpPr>
          <p:nvPr/>
        </p:nvSpPr>
        <p:spPr bwMode="auto">
          <a:xfrm>
            <a:off x="7333409" y="4236228"/>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 </a:t>
            </a:r>
            <a:r>
              <a:rPr kumimoji="1" lang="en-US" altLang="zh-CN" sz="2646">
                <a:solidFill>
                  <a:prstClr val="black"/>
                </a:solidFill>
                <a:latin typeface="微软雅黑" panose="020B0503020204020204" pitchFamily="34" charset="-122"/>
              </a:rPr>
              <a:t>B</a:t>
            </a:r>
          </a:p>
        </p:txBody>
      </p:sp>
      <p:sp>
        <p:nvSpPr>
          <p:cNvPr id="113" name="Rectangle 24"/>
          <p:cNvSpPr>
            <a:spLocks noChangeArrowheads="1"/>
          </p:cNvSpPr>
          <p:nvPr/>
        </p:nvSpPr>
        <p:spPr bwMode="auto">
          <a:xfrm>
            <a:off x="6026827" y="6441832"/>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,T</a:t>
            </a:r>
            <a:r>
              <a:rPr kumimoji="1" lang="en-US" altLang="zh-CN" sz="2646" baseline="-25000" dirty="0">
                <a:solidFill>
                  <a:prstClr val="black"/>
                </a:solidFill>
                <a:latin typeface="微软雅黑" panose="020B0503020204020204" pitchFamily="34" charset="-122"/>
              </a:rPr>
              <a:t>3</a:t>
            </a:r>
            <a:endParaRPr kumimoji="1" lang="en-US" altLang="zh-CN" sz="2646" dirty="0">
              <a:solidFill>
                <a:prstClr val="black"/>
              </a:solidFill>
              <a:latin typeface="微软雅黑" panose="020B0503020204020204" pitchFamily="34" charset="-122"/>
            </a:endParaRPr>
          </a:p>
        </p:txBody>
      </p:sp>
      <p:sp>
        <p:nvSpPr>
          <p:cNvPr id="114" name="Rectangle 25"/>
          <p:cNvSpPr>
            <a:spLocks noChangeArrowheads="1"/>
          </p:cNvSpPr>
          <p:nvPr/>
        </p:nvSpPr>
        <p:spPr bwMode="auto">
          <a:xfrm>
            <a:off x="8052627" y="5099289"/>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 </a:t>
            </a: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4</a:t>
            </a:r>
            <a:endParaRPr kumimoji="1" lang="en-US" altLang="zh-CN" sz="2646">
              <a:solidFill>
                <a:prstClr val="black"/>
              </a:solidFill>
              <a:latin typeface="微软雅黑" panose="020B0503020204020204" pitchFamily="34" charset="-122"/>
            </a:endParaRPr>
          </a:p>
        </p:txBody>
      </p:sp>
      <p:sp>
        <p:nvSpPr>
          <p:cNvPr id="115" name="Rectangle 26"/>
          <p:cNvSpPr>
            <a:spLocks noChangeArrowheads="1"/>
          </p:cNvSpPr>
          <p:nvPr/>
        </p:nvSpPr>
        <p:spPr bwMode="auto">
          <a:xfrm>
            <a:off x="7764940" y="4236228"/>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 </a:t>
            </a: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5</a:t>
            </a:r>
            <a:endParaRPr kumimoji="1" lang="en-US" altLang="zh-CN" sz="2646">
              <a:solidFill>
                <a:prstClr val="black"/>
              </a:solidFill>
              <a:latin typeface="微软雅黑" panose="020B0503020204020204" pitchFamily="34" charset="-122"/>
            </a:endParaRPr>
          </a:p>
        </p:txBody>
      </p:sp>
      <p:sp>
        <p:nvSpPr>
          <p:cNvPr id="116" name="Oval 27"/>
          <p:cNvSpPr>
            <a:spLocks noChangeArrowheads="1"/>
          </p:cNvSpPr>
          <p:nvPr/>
        </p:nvSpPr>
        <p:spPr bwMode="auto">
          <a:xfrm>
            <a:off x="8771847" y="5099289"/>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7</a:t>
            </a:r>
            <a:endParaRPr kumimoji="1" lang="en-US" altLang="zh-CN" sz="2646">
              <a:solidFill>
                <a:prstClr val="black"/>
              </a:solidFill>
              <a:latin typeface="微软雅黑" panose="020B0503020204020204" pitchFamily="34" charset="-122"/>
            </a:endParaRPr>
          </a:p>
        </p:txBody>
      </p:sp>
      <p:grpSp>
        <p:nvGrpSpPr>
          <p:cNvPr id="117" name="Group 49"/>
          <p:cNvGrpSpPr>
            <a:grpSpLocks/>
          </p:cNvGrpSpPr>
          <p:nvPr/>
        </p:nvGrpSpPr>
        <p:grpSpPr bwMode="auto">
          <a:xfrm>
            <a:off x="7045722" y="5530822"/>
            <a:ext cx="2013813" cy="863063"/>
            <a:chOff x="3936" y="2544"/>
            <a:chExt cx="1344" cy="576"/>
          </a:xfrm>
        </p:grpSpPr>
        <p:sp>
          <p:nvSpPr>
            <p:cNvPr id="118" name="Line 28"/>
            <p:cNvSpPr>
              <a:spLocks noChangeShapeType="1"/>
            </p:cNvSpPr>
            <p:nvPr/>
          </p:nvSpPr>
          <p:spPr bwMode="auto">
            <a:xfrm flipV="1">
              <a:off x="3936" y="2544"/>
              <a:ext cx="120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119" name="Line 29"/>
            <p:cNvSpPr>
              <a:spLocks noChangeShapeType="1"/>
            </p:cNvSpPr>
            <p:nvPr/>
          </p:nvSpPr>
          <p:spPr bwMode="auto">
            <a:xfrm flipV="1">
              <a:off x="4992" y="2592"/>
              <a:ext cx="288"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120" name="Rectangle 30"/>
          <p:cNvSpPr>
            <a:spLocks noChangeArrowheads="1"/>
          </p:cNvSpPr>
          <p:nvPr/>
        </p:nvSpPr>
        <p:spPr bwMode="auto">
          <a:xfrm>
            <a:off x="9275300" y="5243135"/>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6</a:t>
            </a:r>
            <a:endParaRPr kumimoji="1" lang="en-US" altLang="zh-CN" sz="2646">
              <a:solidFill>
                <a:prstClr val="black"/>
              </a:solidFill>
              <a:latin typeface="微软雅黑" panose="020B0503020204020204" pitchFamily="34" charset="-122"/>
            </a:endParaRPr>
          </a:p>
        </p:txBody>
      </p:sp>
      <p:sp>
        <p:nvSpPr>
          <p:cNvPr id="121" name="Rectangle 31"/>
          <p:cNvSpPr>
            <a:spLocks noChangeArrowheads="1"/>
          </p:cNvSpPr>
          <p:nvPr/>
        </p:nvSpPr>
        <p:spPr bwMode="auto">
          <a:xfrm>
            <a:off x="8628005" y="5530821"/>
            <a:ext cx="359609"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122" name="Oval 32"/>
          <p:cNvSpPr>
            <a:spLocks noChangeArrowheads="1"/>
          </p:cNvSpPr>
          <p:nvPr/>
        </p:nvSpPr>
        <p:spPr bwMode="auto">
          <a:xfrm>
            <a:off x="7836862" y="2869711"/>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8</a:t>
            </a:r>
            <a:endParaRPr kumimoji="1" lang="en-US" altLang="zh-CN" sz="2646">
              <a:solidFill>
                <a:prstClr val="black"/>
              </a:solidFill>
              <a:latin typeface="微软雅黑" panose="020B0503020204020204" pitchFamily="34" charset="-122"/>
            </a:endParaRPr>
          </a:p>
        </p:txBody>
      </p:sp>
      <p:grpSp>
        <p:nvGrpSpPr>
          <p:cNvPr id="123" name="Group 50"/>
          <p:cNvGrpSpPr>
            <a:grpSpLocks/>
          </p:cNvGrpSpPr>
          <p:nvPr/>
        </p:nvGrpSpPr>
        <p:grpSpPr bwMode="auto">
          <a:xfrm>
            <a:off x="6973799" y="3361177"/>
            <a:ext cx="2001827" cy="1726126"/>
            <a:chOff x="3888" y="1096"/>
            <a:chExt cx="1336" cy="1152"/>
          </a:xfrm>
        </p:grpSpPr>
        <p:sp>
          <p:nvSpPr>
            <p:cNvPr id="124" name="Line 33"/>
            <p:cNvSpPr>
              <a:spLocks noChangeShapeType="1"/>
            </p:cNvSpPr>
            <p:nvPr/>
          </p:nvSpPr>
          <p:spPr bwMode="auto">
            <a:xfrm flipH="1">
              <a:off x="3888" y="1104"/>
              <a:ext cx="672" cy="57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125" name="Line 34"/>
            <p:cNvSpPr>
              <a:spLocks noChangeShapeType="1"/>
            </p:cNvSpPr>
            <p:nvPr/>
          </p:nvSpPr>
          <p:spPr bwMode="auto">
            <a:xfrm>
              <a:off x="4720" y="1096"/>
              <a:ext cx="504" cy="115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126" name="Rectangle 35"/>
          <p:cNvSpPr>
            <a:spLocks noChangeArrowheads="1"/>
          </p:cNvSpPr>
          <p:nvPr/>
        </p:nvSpPr>
        <p:spPr bwMode="auto">
          <a:xfrm>
            <a:off x="7908785" y="3445086"/>
            <a:ext cx="359609"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127" name="Rectangle 36"/>
          <p:cNvSpPr>
            <a:spLocks noChangeArrowheads="1"/>
          </p:cNvSpPr>
          <p:nvPr/>
        </p:nvSpPr>
        <p:spPr bwMode="auto">
          <a:xfrm>
            <a:off x="8340315" y="2941633"/>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B</a:t>
            </a:r>
          </a:p>
        </p:txBody>
      </p:sp>
      <p:sp>
        <p:nvSpPr>
          <p:cNvPr id="128" name="Line 37"/>
          <p:cNvSpPr>
            <a:spLocks noChangeShapeType="1"/>
          </p:cNvSpPr>
          <p:nvPr/>
        </p:nvSpPr>
        <p:spPr bwMode="auto">
          <a:xfrm flipH="1">
            <a:off x="7477254" y="4164304"/>
            <a:ext cx="359609" cy="50345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129" name="Rectangle 51"/>
          <p:cNvSpPr>
            <a:spLocks noChangeArrowheads="1"/>
          </p:cNvSpPr>
          <p:nvPr/>
        </p:nvSpPr>
        <p:spPr bwMode="auto">
          <a:xfrm>
            <a:off x="9275300" y="5243135"/>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6</a:t>
            </a:r>
            <a:endParaRPr kumimoji="1" lang="en-US" altLang="zh-CN" sz="2646">
              <a:solidFill>
                <a:prstClr val="black"/>
              </a:solidFill>
              <a:latin typeface="微软雅黑" panose="020B0503020204020204" pitchFamily="34" charset="-122"/>
            </a:endParaRPr>
          </a:p>
        </p:txBody>
      </p:sp>
      <p:sp>
        <p:nvSpPr>
          <p:cNvPr id="130" name="Text Box 3"/>
          <p:cNvSpPr txBox="1">
            <a:spLocks noChangeArrowheads="1"/>
          </p:cNvSpPr>
          <p:nvPr/>
        </p:nvSpPr>
        <p:spPr bwMode="auto">
          <a:xfrm>
            <a:off x="3177830" y="2159333"/>
            <a:ext cx="3500200" cy="1720984"/>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a:spAutoFit/>
          </a:bodyPr>
          <a:lstStyle/>
          <a:p>
            <a:pPr defTabSz="431545"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1. 准备操作数的结点 </a:t>
            </a:r>
          </a:p>
          <a:p>
            <a:pPr defTabSz="431545"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2. 合并已知量</a:t>
            </a:r>
          </a:p>
          <a:p>
            <a:pPr defTabSz="431545"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3. 删除公共子表达式</a:t>
            </a:r>
          </a:p>
          <a:p>
            <a:pPr defTabSz="431545" rtl="0" fontAlgn="auto" hangingPunct="1">
              <a:lnSpc>
                <a:spcPct val="100000"/>
              </a:lnSpc>
              <a:spcBef>
                <a:spcPts val="0"/>
              </a:spcBef>
              <a:spcAft>
                <a:spcPts val="0"/>
              </a:spcAft>
              <a:buSzTx/>
              <a:defRPr/>
            </a:pPr>
            <a:r>
              <a:rPr lang="zh-CN" altLang="en-US" sz="2646" dirty="0">
                <a:solidFill>
                  <a:srgbClr val="0070C0"/>
                </a:solidFill>
                <a:latin typeface="微软雅黑" pitchFamily="34" charset="-122"/>
                <a:ea typeface="微软雅黑" pitchFamily="34" charset="-122"/>
              </a:rPr>
              <a:t>4. 删除无用赋值</a:t>
            </a:r>
            <a:endParaRPr lang="en-GB" sz="2646" dirty="0">
              <a:solidFill>
                <a:srgbClr val="0070C0"/>
              </a:solidFill>
              <a:latin typeface="微软雅黑" pitchFamily="34" charset="-122"/>
              <a:ea typeface="微软雅黑" pitchFamily="34" charset="-122"/>
            </a:endParaRPr>
          </a:p>
        </p:txBody>
      </p:sp>
      <p:sp>
        <p:nvSpPr>
          <p:cNvPr id="131" name="文本框 130"/>
          <p:cNvSpPr txBox="1"/>
          <p:nvPr/>
        </p:nvSpPr>
        <p:spPr>
          <a:xfrm>
            <a:off x="484038" y="2159334"/>
            <a:ext cx="2525050" cy="416396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pPr defTabSz="431545" rtl="0" fontAlgn="auto" hangingPunct="1">
              <a:lnSpc>
                <a:spcPct val="100000"/>
              </a:lnSpc>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(1) 	T</a:t>
            </a:r>
            <a:r>
              <a:rPr lang="en-US" altLang="zh-CN" sz="2646" baseline="-25000" dirty="0">
                <a:solidFill>
                  <a:prstClr val="black"/>
                </a:solidFill>
                <a:latin typeface="微软雅黑" panose="020B0503020204020204" pitchFamily="34" charset="-122"/>
                <a:ea typeface="黑体" panose="02010609060101010101" pitchFamily="49" charset="-122"/>
              </a:rPr>
              <a:t>0</a:t>
            </a:r>
            <a:r>
              <a:rPr lang="en-US" altLang="zh-CN" sz="2646" dirty="0">
                <a:solidFill>
                  <a:prstClr val="black"/>
                </a:solidFill>
                <a:latin typeface="微软雅黑" panose="020B0503020204020204" pitchFamily="34" charset="-122"/>
                <a:ea typeface="黑体" panose="02010609060101010101" pitchFamily="49" charset="-122"/>
              </a:rPr>
              <a:t>:=3.14</a:t>
            </a:r>
          </a:p>
          <a:p>
            <a:pPr defTabSz="431545" rtl="0" fontAlgn="auto" hangingPunct="1">
              <a:lnSpc>
                <a:spcPct val="100000"/>
              </a:lnSpc>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(2) 	T</a:t>
            </a:r>
            <a:r>
              <a:rPr lang="en-US" altLang="zh-CN" sz="2646" baseline="-25000" dirty="0">
                <a:solidFill>
                  <a:prstClr val="black"/>
                </a:solidFill>
                <a:latin typeface="微软雅黑" panose="020B0503020204020204" pitchFamily="34" charset="-122"/>
                <a:ea typeface="黑体" panose="02010609060101010101" pitchFamily="49" charset="-122"/>
              </a:rPr>
              <a:t>1</a:t>
            </a:r>
            <a:r>
              <a:rPr lang="en-US" altLang="zh-CN" sz="2646" dirty="0">
                <a:solidFill>
                  <a:prstClr val="black"/>
                </a:solidFill>
                <a:latin typeface="微软雅黑" panose="020B0503020204020204" pitchFamily="34" charset="-122"/>
                <a:ea typeface="黑体" panose="02010609060101010101" pitchFamily="49" charset="-122"/>
              </a:rPr>
              <a:t>:=2*T</a:t>
            </a:r>
            <a:r>
              <a:rPr lang="en-US" altLang="zh-CN" sz="2646" baseline="-25000" dirty="0">
                <a:solidFill>
                  <a:prstClr val="black"/>
                </a:solidFill>
                <a:latin typeface="微软雅黑" panose="020B0503020204020204" pitchFamily="34" charset="-122"/>
                <a:ea typeface="黑体" panose="02010609060101010101" pitchFamily="49" charset="-122"/>
              </a:rPr>
              <a:t>0</a:t>
            </a:r>
            <a:endParaRPr lang="en-US" altLang="zh-CN" sz="2646" dirty="0">
              <a:solidFill>
                <a:prstClr val="black"/>
              </a:solidFill>
              <a:latin typeface="微软雅黑" panose="020B0503020204020204" pitchFamily="34" charset="-122"/>
              <a:ea typeface="黑体" panose="02010609060101010101" pitchFamily="49" charset="-122"/>
            </a:endParaRPr>
          </a:p>
          <a:p>
            <a:pPr defTabSz="431545" rtl="0" fontAlgn="auto" hangingPunct="1">
              <a:lnSpc>
                <a:spcPct val="100000"/>
              </a:lnSpc>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(3) 	T</a:t>
            </a:r>
            <a:r>
              <a:rPr lang="en-US" altLang="zh-CN" sz="2646" baseline="-25000" dirty="0">
                <a:solidFill>
                  <a:prstClr val="black"/>
                </a:solidFill>
                <a:latin typeface="微软雅黑" panose="020B0503020204020204" pitchFamily="34" charset="-122"/>
                <a:ea typeface="黑体" panose="02010609060101010101" pitchFamily="49" charset="-122"/>
              </a:rPr>
              <a:t>2</a:t>
            </a:r>
            <a:r>
              <a:rPr lang="en-US" altLang="zh-CN" sz="2646" dirty="0">
                <a:solidFill>
                  <a:prstClr val="black"/>
                </a:solidFill>
                <a:latin typeface="微软雅黑" panose="020B0503020204020204" pitchFamily="34" charset="-122"/>
                <a:ea typeface="黑体" panose="02010609060101010101" pitchFamily="49" charset="-122"/>
              </a:rPr>
              <a:t>:=</a:t>
            </a:r>
            <a:r>
              <a:rPr lang="en-US" altLang="zh-CN" sz="2646" dirty="0" err="1">
                <a:solidFill>
                  <a:prstClr val="black"/>
                </a:solidFill>
                <a:latin typeface="微软雅黑" panose="020B0503020204020204" pitchFamily="34" charset="-122"/>
                <a:ea typeface="黑体" panose="02010609060101010101" pitchFamily="49" charset="-122"/>
              </a:rPr>
              <a:t>R+r</a:t>
            </a:r>
            <a:endParaRPr lang="en-US" altLang="zh-CN" sz="2646" dirty="0">
              <a:solidFill>
                <a:prstClr val="black"/>
              </a:solidFill>
              <a:latin typeface="微软雅黑" panose="020B0503020204020204" pitchFamily="34" charset="-122"/>
              <a:ea typeface="黑体" panose="02010609060101010101" pitchFamily="49" charset="-122"/>
            </a:endParaRPr>
          </a:p>
          <a:p>
            <a:pPr defTabSz="431545" rtl="0" fontAlgn="auto" hangingPunct="1">
              <a:lnSpc>
                <a:spcPct val="100000"/>
              </a:lnSpc>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(4) 	A:=T</a:t>
            </a:r>
            <a:r>
              <a:rPr lang="en-US" altLang="zh-CN" sz="2646" baseline="-25000" dirty="0">
                <a:solidFill>
                  <a:prstClr val="black"/>
                </a:solidFill>
                <a:latin typeface="微软雅黑" panose="020B0503020204020204" pitchFamily="34" charset="-122"/>
                <a:ea typeface="黑体" panose="02010609060101010101" pitchFamily="49" charset="-122"/>
              </a:rPr>
              <a:t>1</a:t>
            </a:r>
            <a:r>
              <a:rPr lang="en-US" altLang="zh-CN" sz="2646" dirty="0">
                <a:solidFill>
                  <a:prstClr val="black"/>
                </a:solidFill>
                <a:latin typeface="微软雅黑" panose="020B0503020204020204" pitchFamily="34" charset="-122"/>
                <a:ea typeface="黑体" panose="02010609060101010101" pitchFamily="49" charset="-122"/>
              </a:rPr>
              <a:t>*T</a:t>
            </a:r>
            <a:r>
              <a:rPr lang="en-US" altLang="zh-CN" sz="2646" baseline="-25000" dirty="0">
                <a:solidFill>
                  <a:prstClr val="black"/>
                </a:solidFill>
                <a:latin typeface="微软雅黑" panose="020B0503020204020204" pitchFamily="34" charset="-122"/>
                <a:ea typeface="黑体" panose="02010609060101010101" pitchFamily="49" charset="-122"/>
              </a:rPr>
              <a:t>2</a:t>
            </a:r>
            <a:endParaRPr lang="en-US" altLang="zh-CN" sz="2646" dirty="0">
              <a:solidFill>
                <a:prstClr val="black"/>
              </a:solidFill>
              <a:latin typeface="微软雅黑" panose="020B0503020204020204" pitchFamily="34" charset="-122"/>
              <a:ea typeface="黑体" panose="02010609060101010101" pitchFamily="49" charset="-122"/>
            </a:endParaRPr>
          </a:p>
          <a:p>
            <a:pPr defTabSz="431545" rtl="0" fontAlgn="auto" hangingPunct="1">
              <a:lnSpc>
                <a:spcPct val="100000"/>
              </a:lnSpc>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(5) 	B:=A</a:t>
            </a:r>
          </a:p>
          <a:p>
            <a:pPr defTabSz="431545" rtl="0" fontAlgn="auto" hangingPunct="1">
              <a:lnSpc>
                <a:spcPct val="100000"/>
              </a:lnSpc>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(6) 	T</a:t>
            </a:r>
            <a:r>
              <a:rPr lang="en-US" altLang="zh-CN" sz="2646" baseline="-25000" dirty="0">
                <a:solidFill>
                  <a:prstClr val="black"/>
                </a:solidFill>
                <a:latin typeface="微软雅黑" panose="020B0503020204020204" pitchFamily="34" charset="-122"/>
                <a:ea typeface="黑体" panose="02010609060101010101" pitchFamily="49" charset="-122"/>
              </a:rPr>
              <a:t>3</a:t>
            </a:r>
            <a:r>
              <a:rPr lang="en-US" altLang="zh-CN" sz="2646" dirty="0">
                <a:solidFill>
                  <a:prstClr val="black"/>
                </a:solidFill>
                <a:latin typeface="微软雅黑" panose="020B0503020204020204" pitchFamily="34" charset="-122"/>
                <a:ea typeface="黑体" panose="02010609060101010101" pitchFamily="49" charset="-122"/>
              </a:rPr>
              <a:t>:=2*T</a:t>
            </a:r>
            <a:r>
              <a:rPr lang="en-US" altLang="zh-CN" sz="2646" baseline="-25000" dirty="0">
                <a:solidFill>
                  <a:prstClr val="black"/>
                </a:solidFill>
                <a:latin typeface="微软雅黑" panose="020B0503020204020204" pitchFamily="34" charset="-122"/>
                <a:ea typeface="黑体" panose="02010609060101010101" pitchFamily="49" charset="-122"/>
              </a:rPr>
              <a:t>0</a:t>
            </a:r>
            <a:endParaRPr lang="en-US" altLang="zh-CN" sz="2646" dirty="0">
              <a:solidFill>
                <a:prstClr val="black"/>
              </a:solidFill>
              <a:latin typeface="微软雅黑" panose="020B0503020204020204" pitchFamily="34" charset="-122"/>
              <a:ea typeface="黑体" panose="02010609060101010101" pitchFamily="49" charset="-122"/>
            </a:endParaRPr>
          </a:p>
          <a:p>
            <a:pPr defTabSz="431545" rtl="0" fontAlgn="auto" hangingPunct="1">
              <a:lnSpc>
                <a:spcPct val="100000"/>
              </a:lnSpc>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(7) 	T</a:t>
            </a:r>
            <a:r>
              <a:rPr lang="en-US" altLang="zh-CN" sz="2646" baseline="-25000" dirty="0">
                <a:solidFill>
                  <a:prstClr val="black"/>
                </a:solidFill>
                <a:latin typeface="微软雅黑" panose="020B0503020204020204" pitchFamily="34" charset="-122"/>
                <a:ea typeface="黑体" panose="02010609060101010101" pitchFamily="49" charset="-122"/>
              </a:rPr>
              <a:t>4</a:t>
            </a:r>
            <a:r>
              <a:rPr lang="en-US" altLang="zh-CN" sz="2646" dirty="0">
                <a:solidFill>
                  <a:prstClr val="black"/>
                </a:solidFill>
                <a:latin typeface="微软雅黑" panose="020B0503020204020204" pitchFamily="34" charset="-122"/>
                <a:ea typeface="黑体" panose="02010609060101010101" pitchFamily="49" charset="-122"/>
              </a:rPr>
              <a:t>:=</a:t>
            </a:r>
            <a:r>
              <a:rPr lang="en-US" altLang="zh-CN" sz="2646" dirty="0" err="1">
                <a:solidFill>
                  <a:prstClr val="black"/>
                </a:solidFill>
                <a:latin typeface="微软雅黑" panose="020B0503020204020204" pitchFamily="34" charset="-122"/>
                <a:ea typeface="黑体" panose="02010609060101010101" pitchFamily="49" charset="-122"/>
              </a:rPr>
              <a:t>R+r</a:t>
            </a:r>
            <a:endParaRPr lang="en-US" altLang="zh-CN" sz="2646" dirty="0">
              <a:solidFill>
                <a:prstClr val="black"/>
              </a:solidFill>
              <a:latin typeface="微软雅黑" panose="020B0503020204020204" pitchFamily="34" charset="-122"/>
              <a:ea typeface="黑体" panose="02010609060101010101" pitchFamily="49" charset="-122"/>
            </a:endParaRPr>
          </a:p>
          <a:p>
            <a:pPr defTabSz="431545" rtl="0" fontAlgn="auto" hangingPunct="1">
              <a:lnSpc>
                <a:spcPct val="100000"/>
              </a:lnSpc>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(8) 	T</a:t>
            </a:r>
            <a:r>
              <a:rPr lang="en-US" altLang="zh-CN" sz="2646" baseline="-25000" dirty="0">
                <a:solidFill>
                  <a:prstClr val="black"/>
                </a:solidFill>
                <a:latin typeface="微软雅黑" panose="020B0503020204020204" pitchFamily="34" charset="-122"/>
                <a:ea typeface="黑体" panose="02010609060101010101" pitchFamily="49" charset="-122"/>
              </a:rPr>
              <a:t>5</a:t>
            </a:r>
            <a:r>
              <a:rPr lang="en-US" altLang="zh-CN" sz="2646" dirty="0">
                <a:solidFill>
                  <a:prstClr val="black"/>
                </a:solidFill>
                <a:latin typeface="微软雅黑" panose="020B0503020204020204" pitchFamily="34" charset="-122"/>
                <a:ea typeface="黑体" panose="02010609060101010101" pitchFamily="49" charset="-122"/>
              </a:rPr>
              <a:t>:=T</a:t>
            </a:r>
            <a:r>
              <a:rPr lang="en-US" altLang="zh-CN" sz="2646" baseline="-25000" dirty="0">
                <a:solidFill>
                  <a:prstClr val="black"/>
                </a:solidFill>
                <a:latin typeface="微软雅黑" panose="020B0503020204020204" pitchFamily="34" charset="-122"/>
                <a:ea typeface="黑体" panose="02010609060101010101" pitchFamily="49" charset="-122"/>
              </a:rPr>
              <a:t>3</a:t>
            </a:r>
            <a:r>
              <a:rPr lang="en-US" altLang="zh-CN" sz="2646" dirty="0">
                <a:solidFill>
                  <a:prstClr val="black"/>
                </a:solidFill>
                <a:latin typeface="微软雅黑" panose="020B0503020204020204" pitchFamily="34" charset="-122"/>
                <a:ea typeface="黑体" panose="02010609060101010101" pitchFamily="49" charset="-122"/>
              </a:rPr>
              <a:t>*T</a:t>
            </a:r>
            <a:r>
              <a:rPr lang="en-US" altLang="zh-CN" sz="2646" baseline="-25000" dirty="0">
                <a:solidFill>
                  <a:prstClr val="black"/>
                </a:solidFill>
                <a:latin typeface="微软雅黑" panose="020B0503020204020204" pitchFamily="34" charset="-122"/>
                <a:ea typeface="黑体" panose="02010609060101010101" pitchFamily="49" charset="-122"/>
              </a:rPr>
              <a:t>4</a:t>
            </a:r>
            <a:endParaRPr lang="en-US" altLang="zh-CN" sz="2646" dirty="0">
              <a:solidFill>
                <a:prstClr val="black"/>
              </a:solidFill>
              <a:latin typeface="微软雅黑" panose="020B0503020204020204" pitchFamily="34" charset="-122"/>
              <a:ea typeface="黑体" panose="02010609060101010101" pitchFamily="49" charset="-122"/>
            </a:endParaRPr>
          </a:p>
          <a:p>
            <a:pPr defTabSz="431545" rtl="0" fontAlgn="auto" hangingPunct="1">
              <a:lnSpc>
                <a:spcPct val="100000"/>
              </a:lnSpc>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(9) 	T</a:t>
            </a:r>
            <a:r>
              <a:rPr lang="en-US" altLang="zh-CN" sz="2646" baseline="-25000" dirty="0">
                <a:solidFill>
                  <a:prstClr val="black"/>
                </a:solidFill>
                <a:latin typeface="微软雅黑" panose="020B0503020204020204" pitchFamily="34" charset="-122"/>
                <a:ea typeface="黑体" panose="02010609060101010101" pitchFamily="49" charset="-122"/>
              </a:rPr>
              <a:t>6</a:t>
            </a:r>
            <a:r>
              <a:rPr lang="en-US" altLang="zh-CN" sz="2646" dirty="0">
                <a:solidFill>
                  <a:prstClr val="black"/>
                </a:solidFill>
                <a:latin typeface="微软雅黑" panose="020B0503020204020204" pitchFamily="34" charset="-122"/>
                <a:ea typeface="黑体" panose="02010609060101010101" pitchFamily="49" charset="-122"/>
              </a:rPr>
              <a:t>:=R-r</a:t>
            </a:r>
          </a:p>
          <a:p>
            <a:pPr defTabSz="431545" rtl="0" fontAlgn="auto" hangingPunct="1">
              <a:lnSpc>
                <a:spcPct val="100000"/>
              </a:lnSpc>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(10)	 B:=T</a:t>
            </a:r>
            <a:r>
              <a:rPr lang="en-US" altLang="zh-CN" sz="2646" baseline="-25000" dirty="0">
                <a:solidFill>
                  <a:prstClr val="black"/>
                </a:solidFill>
                <a:latin typeface="微软雅黑" panose="020B0503020204020204" pitchFamily="34" charset="-122"/>
                <a:ea typeface="黑体" panose="02010609060101010101" pitchFamily="49" charset="-122"/>
              </a:rPr>
              <a:t>5</a:t>
            </a:r>
            <a:r>
              <a:rPr lang="en-US" altLang="zh-CN" sz="2646" dirty="0">
                <a:solidFill>
                  <a:prstClr val="black"/>
                </a:solidFill>
                <a:latin typeface="微软雅黑" panose="020B0503020204020204" pitchFamily="34" charset="-122"/>
                <a:ea typeface="黑体" panose="02010609060101010101" pitchFamily="49" charset="-122"/>
              </a:rPr>
              <a:t>*T</a:t>
            </a:r>
            <a:r>
              <a:rPr lang="en-US" altLang="zh-CN" sz="2646" baseline="-25000" dirty="0">
                <a:solidFill>
                  <a:prstClr val="black"/>
                </a:solidFill>
                <a:latin typeface="微软雅黑" panose="020B0503020204020204" pitchFamily="34" charset="-122"/>
                <a:ea typeface="黑体" panose="02010609060101010101" pitchFamily="49" charset="-122"/>
              </a:rPr>
              <a:t>6</a:t>
            </a:r>
            <a:endParaRPr lang="zh-CN" altLang="en-US" sz="2646" dirty="0">
              <a:solidFill>
                <a:prstClr val="black"/>
              </a:solidFill>
              <a:latin typeface="微软雅黑" panose="020B0503020204020204" pitchFamily="34" charset="-122"/>
              <a:ea typeface="黑体" panose="02010609060101010101" pitchFamily="49" charset="-122"/>
            </a:endParaRPr>
          </a:p>
        </p:txBody>
      </p:sp>
    </p:spTree>
    <p:extLst>
      <p:ext uri="{BB962C8B-B14F-4D97-AF65-F5344CB8AC3E}">
        <p14:creationId xmlns:p14="http://schemas.microsoft.com/office/powerpoint/2010/main" val="344745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31">
                                            <p:txEl>
                                              <p:pRg st="0" end="0"/>
                                            </p:txEl>
                                          </p:spTgt>
                                        </p:tgtEl>
                                        <p:attrNameLst>
                                          <p:attrName>style.color</p:attrName>
                                        </p:attrNameLst>
                                      </p:cBhvr>
                                      <p:to>
                                        <p:clrVal>
                                          <a:schemeClr val="accent2"/>
                                        </p:clrVal>
                                      </p:to>
                                    </p:set>
                                    <p:set>
                                      <p:cBhvr>
                                        <p:cTn id="7" dur="500" fill="hold"/>
                                        <p:tgtEl>
                                          <p:spTgt spid="131">
                                            <p:txEl>
                                              <p:pRg st="0" end="0"/>
                                            </p:txEl>
                                          </p:spTgt>
                                        </p:tgtEl>
                                        <p:attrNameLst>
                                          <p:attrName>fillcolor</p:attrName>
                                        </p:attrNameLst>
                                      </p:cBhvr>
                                      <p:to>
                                        <p:clrVal>
                                          <a:schemeClr val="accent2"/>
                                        </p:clrVal>
                                      </p:to>
                                    </p:set>
                                    <p:set>
                                      <p:cBhvr>
                                        <p:cTn id="8" dur="500" fill="hold"/>
                                        <p:tgtEl>
                                          <p:spTgt spid="131">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90"/>
                                        </p:tgtEl>
                                        <p:attrNameLst>
                                          <p:attrName>style.visibility</p:attrName>
                                        </p:attrNameLst>
                                      </p:cBhvr>
                                      <p:to>
                                        <p:strVal val="visible"/>
                                      </p:to>
                                    </p:set>
                                    <p:animEffect transition="in" filter="wipe(up)">
                                      <p:cBhvr>
                                        <p:cTn id="13" dur="500"/>
                                        <p:tgtEl>
                                          <p:spTgt spid="9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91"/>
                                        </p:tgtEl>
                                        <p:attrNameLst>
                                          <p:attrName>style.visibility</p:attrName>
                                        </p:attrNameLst>
                                      </p:cBhvr>
                                      <p:to>
                                        <p:strVal val="visible"/>
                                      </p:to>
                                    </p:set>
                                    <p:animEffect transition="in" filter="wipe(up)">
                                      <p:cBhvr>
                                        <p:cTn id="18" dur="500"/>
                                        <p:tgtEl>
                                          <p:spTgt spid="9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wipe(up)">
                                      <p:cBhvr>
                                        <p:cTn id="23" dur="500"/>
                                        <p:tgtEl>
                                          <p:spTgt spid="92"/>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mph" presetSubtype="0" fill="hold" nodeType="clickEffect">
                                  <p:stCondLst>
                                    <p:cond delay="0"/>
                                  </p:stCondLst>
                                  <p:iterate type="lt">
                                    <p:tmPct val="4000"/>
                                  </p:iterate>
                                  <p:childTnLst>
                                    <p:set>
                                      <p:cBhvr override="childStyle">
                                        <p:cTn id="27" dur="500" fill="hold"/>
                                        <p:tgtEl>
                                          <p:spTgt spid="131">
                                            <p:txEl>
                                              <p:pRg st="1" end="1"/>
                                            </p:txEl>
                                          </p:spTgt>
                                        </p:tgtEl>
                                        <p:attrNameLst>
                                          <p:attrName>style.color</p:attrName>
                                        </p:attrNameLst>
                                      </p:cBhvr>
                                      <p:to>
                                        <p:clrVal>
                                          <a:schemeClr val="accent2"/>
                                        </p:clrVal>
                                      </p:to>
                                    </p:set>
                                    <p:set>
                                      <p:cBhvr>
                                        <p:cTn id="28" dur="500" fill="hold"/>
                                        <p:tgtEl>
                                          <p:spTgt spid="131">
                                            <p:txEl>
                                              <p:pRg st="1" end="1"/>
                                            </p:txEl>
                                          </p:spTgt>
                                        </p:tgtEl>
                                        <p:attrNameLst>
                                          <p:attrName>fillcolor</p:attrName>
                                        </p:attrNameLst>
                                      </p:cBhvr>
                                      <p:to>
                                        <p:clrVal>
                                          <a:schemeClr val="accent2"/>
                                        </p:clrVal>
                                      </p:to>
                                    </p:set>
                                    <p:set>
                                      <p:cBhvr>
                                        <p:cTn id="29" dur="500" fill="hold"/>
                                        <p:tgtEl>
                                          <p:spTgt spid="131">
                                            <p:txEl>
                                              <p:pRg st="1" end="1"/>
                                            </p:txEl>
                                          </p:spTgt>
                                        </p:tgtEl>
                                        <p:attrNameLst>
                                          <p:attrName>fill.type</p:attrName>
                                        </p:attrNameLst>
                                      </p:cBhvr>
                                      <p:to>
                                        <p:strVal val="solid"/>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93"/>
                                        </p:tgtEl>
                                        <p:attrNameLst>
                                          <p:attrName>style.visibility</p:attrName>
                                        </p:attrNameLst>
                                      </p:cBhvr>
                                      <p:to>
                                        <p:strVal val="visible"/>
                                      </p:to>
                                    </p:set>
                                    <p:animEffect transition="in" filter="wipe(up)">
                                      <p:cBhvr>
                                        <p:cTn id="34" dur="500"/>
                                        <p:tgtEl>
                                          <p:spTgt spid="9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94"/>
                                        </p:tgtEl>
                                        <p:attrNameLst>
                                          <p:attrName>style.visibility</p:attrName>
                                        </p:attrNameLst>
                                      </p:cBhvr>
                                      <p:to>
                                        <p:strVal val="visible"/>
                                      </p:to>
                                    </p:set>
                                    <p:animEffect transition="in" filter="wipe(up)">
                                      <p:cBhvr>
                                        <p:cTn id="39" dur="500"/>
                                        <p:tgtEl>
                                          <p:spTgt spid="9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95"/>
                                        </p:tgtEl>
                                        <p:attrNameLst>
                                          <p:attrName>style.visibility</p:attrName>
                                        </p:attrNameLst>
                                      </p:cBhvr>
                                      <p:to>
                                        <p:strVal val="visible"/>
                                      </p:to>
                                    </p:set>
                                    <p:animEffect transition="in" filter="wipe(up)">
                                      <p:cBhvr>
                                        <p:cTn id="44" dur="500"/>
                                        <p:tgtEl>
                                          <p:spTgt spid="95"/>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mph" presetSubtype="0" fill="hold" nodeType="clickEffect">
                                  <p:stCondLst>
                                    <p:cond delay="0"/>
                                  </p:stCondLst>
                                  <p:iterate type="lt">
                                    <p:tmPct val="4000"/>
                                  </p:iterate>
                                  <p:childTnLst>
                                    <p:set>
                                      <p:cBhvr override="childStyle">
                                        <p:cTn id="48" dur="500" fill="hold"/>
                                        <p:tgtEl>
                                          <p:spTgt spid="131">
                                            <p:txEl>
                                              <p:pRg st="2" end="2"/>
                                            </p:txEl>
                                          </p:spTgt>
                                        </p:tgtEl>
                                        <p:attrNameLst>
                                          <p:attrName>style.color</p:attrName>
                                        </p:attrNameLst>
                                      </p:cBhvr>
                                      <p:to>
                                        <p:clrVal>
                                          <a:schemeClr val="accent2"/>
                                        </p:clrVal>
                                      </p:to>
                                    </p:set>
                                    <p:set>
                                      <p:cBhvr>
                                        <p:cTn id="49" dur="500" fill="hold"/>
                                        <p:tgtEl>
                                          <p:spTgt spid="131">
                                            <p:txEl>
                                              <p:pRg st="2" end="2"/>
                                            </p:txEl>
                                          </p:spTgt>
                                        </p:tgtEl>
                                        <p:attrNameLst>
                                          <p:attrName>fillcolor</p:attrName>
                                        </p:attrNameLst>
                                      </p:cBhvr>
                                      <p:to>
                                        <p:clrVal>
                                          <a:schemeClr val="accent2"/>
                                        </p:clrVal>
                                      </p:to>
                                    </p:set>
                                    <p:set>
                                      <p:cBhvr>
                                        <p:cTn id="50" dur="500" fill="hold"/>
                                        <p:tgtEl>
                                          <p:spTgt spid="131">
                                            <p:txEl>
                                              <p:pRg st="2" end="2"/>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96"/>
                                        </p:tgtEl>
                                        <p:attrNameLst>
                                          <p:attrName>style.visibility</p:attrName>
                                        </p:attrNameLst>
                                      </p:cBhvr>
                                      <p:to>
                                        <p:strVal val="visible"/>
                                      </p:to>
                                    </p:set>
                                    <p:animEffect transition="in" filter="wipe(up)">
                                      <p:cBhvr>
                                        <p:cTn id="55" dur="500"/>
                                        <p:tgtEl>
                                          <p:spTgt spid="9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98"/>
                                        </p:tgtEl>
                                        <p:attrNameLst>
                                          <p:attrName>style.visibility</p:attrName>
                                        </p:attrNameLst>
                                      </p:cBhvr>
                                      <p:to>
                                        <p:strVal val="visible"/>
                                      </p:to>
                                    </p:set>
                                    <p:animEffect transition="in" filter="wipe(up)">
                                      <p:cBhvr>
                                        <p:cTn id="60" dur="500"/>
                                        <p:tgtEl>
                                          <p:spTgt spid="9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97"/>
                                        </p:tgtEl>
                                        <p:attrNameLst>
                                          <p:attrName>style.visibility</p:attrName>
                                        </p:attrNameLst>
                                      </p:cBhvr>
                                      <p:to>
                                        <p:strVal val="visible"/>
                                      </p:to>
                                    </p:set>
                                    <p:animEffect transition="in" filter="wipe(up)">
                                      <p:cBhvr>
                                        <p:cTn id="65" dur="500"/>
                                        <p:tgtEl>
                                          <p:spTgt spid="9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99"/>
                                        </p:tgtEl>
                                        <p:attrNameLst>
                                          <p:attrName>style.visibility</p:attrName>
                                        </p:attrNameLst>
                                      </p:cBhvr>
                                      <p:to>
                                        <p:strVal val="visible"/>
                                      </p:to>
                                    </p:set>
                                    <p:animEffect transition="in" filter="wipe(up)">
                                      <p:cBhvr>
                                        <p:cTn id="70" dur="500"/>
                                        <p:tgtEl>
                                          <p:spTgt spid="9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101"/>
                                        </p:tgtEl>
                                        <p:attrNameLst>
                                          <p:attrName>style.visibility</p:attrName>
                                        </p:attrNameLst>
                                      </p:cBhvr>
                                      <p:to>
                                        <p:strVal val="visible"/>
                                      </p:to>
                                    </p:set>
                                    <p:animEffect transition="in" filter="wipe(down)">
                                      <p:cBhvr>
                                        <p:cTn id="75" dur="500"/>
                                        <p:tgtEl>
                                          <p:spTgt spid="10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100"/>
                                        </p:tgtEl>
                                        <p:attrNameLst>
                                          <p:attrName>style.visibility</p:attrName>
                                        </p:attrNameLst>
                                      </p:cBhvr>
                                      <p:to>
                                        <p:strVal val="visible"/>
                                      </p:to>
                                    </p:set>
                                    <p:animEffect transition="in" filter="wipe(up)">
                                      <p:cBhvr>
                                        <p:cTn id="80" dur="500"/>
                                        <p:tgtEl>
                                          <p:spTgt spid="10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104"/>
                                        </p:tgtEl>
                                        <p:attrNameLst>
                                          <p:attrName>style.visibility</p:attrName>
                                        </p:attrNameLst>
                                      </p:cBhvr>
                                      <p:to>
                                        <p:strVal val="visible"/>
                                      </p:to>
                                    </p:set>
                                    <p:animEffect transition="in" filter="wipe(up)">
                                      <p:cBhvr>
                                        <p:cTn id="85" dur="500"/>
                                        <p:tgtEl>
                                          <p:spTgt spid="104"/>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105"/>
                                        </p:tgtEl>
                                        <p:attrNameLst>
                                          <p:attrName>style.visibility</p:attrName>
                                        </p:attrNameLst>
                                      </p:cBhvr>
                                      <p:to>
                                        <p:strVal val="visible"/>
                                      </p:to>
                                    </p:set>
                                    <p:animEffect transition="in" filter="wipe(up)">
                                      <p:cBhvr>
                                        <p:cTn id="90" dur="500"/>
                                        <p:tgtEl>
                                          <p:spTgt spid="105"/>
                                        </p:tgtEl>
                                      </p:cBhvr>
                                    </p:animEffect>
                                  </p:childTnLst>
                                </p:cTn>
                              </p:par>
                            </p:childTnLst>
                          </p:cTn>
                        </p:par>
                      </p:childTnLst>
                    </p:cTn>
                  </p:par>
                  <p:par>
                    <p:cTn id="91" fill="hold">
                      <p:stCondLst>
                        <p:cond delay="indefinite"/>
                      </p:stCondLst>
                      <p:childTnLst>
                        <p:par>
                          <p:cTn id="92" fill="hold">
                            <p:stCondLst>
                              <p:cond delay="0"/>
                            </p:stCondLst>
                            <p:childTnLst>
                              <p:par>
                                <p:cTn id="93" presetID="16" presetClass="emph" presetSubtype="0" fill="hold" nodeType="clickEffect">
                                  <p:stCondLst>
                                    <p:cond delay="0"/>
                                  </p:stCondLst>
                                  <p:iterate type="lt">
                                    <p:tmPct val="4000"/>
                                  </p:iterate>
                                  <p:childTnLst>
                                    <p:set>
                                      <p:cBhvr override="childStyle">
                                        <p:cTn id="94" dur="500" fill="hold"/>
                                        <p:tgtEl>
                                          <p:spTgt spid="131">
                                            <p:txEl>
                                              <p:pRg st="3" end="3"/>
                                            </p:txEl>
                                          </p:spTgt>
                                        </p:tgtEl>
                                        <p:attrNameLst>
                                          <p:attrName>style.color</p:attrName>
                                        </p:attrNameLst>
                                      </p:cBhvr>
                                      <p:to>
                                        <p:clrVal>
                                          <a:schemeClr val="accent2"/>
                                        </p:clrVal>
                                      </p:to>
                                    </p:set>
                                    <p:set>
                                      <p:cBhvr>
                                        <p:cTn id="95" dur="500" fill="hold"/>
                                        <p:tgtEl>
                                          <p:spTgt spid="131">
                                            <p:txEl>
                                              <p:pRg st="3" end="3"/>
                                            </p:txEl>
                                          </p:spTgt>
                                        </p:tgtEl>
                                        <p:attrNameLst>
                                          <p:attrName>fillcolor</p:attrName>
                                        </p:attrNameLst>
                                      </p:cBhvr>
                                      <p:to>
                                        <p:clrVal>
                                          <a:schemeClr val="accent2"/>
                                        </p:clrVal>
                                      </p:to>
                                    </p:set>
                                    <p:set>
                                      <p:cBhvr>
                                        <p:cTn id="96" dur="500" fill="hold"/>
                                        <p:tgtEl>
                                          <p:spTgt spid="131">
                                            <p:txEl>
                                              <p:pRg st="3" end="3"/>
                                            </p:txEl>
                                          </p:spTgt>
                                        </p:tgtEl>
                                        <p:attrNameLst>
                                          <p:attrName>fill.type</p:attrName>
                                        </p:attrNameLst>
                                      </p:cBhvr>
                                      <p:to>
                                        <p:strVal val="solid"/>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nodeType="clickEffect">
                                  <p:stCondLst>
                                    <p:cond delay="0"/>
                                  </p:stCondLst>
                                  <p:childTnLst>
                                    <p:set>
                                      <p:cBhvr>
                                        <p:cTn id="100" dur="1" fill="hold">
                                          <p:stCondLst>
                                            <p:cond delay="0"/>
                                          </p:stCondLst>
                                        </p:cTn>
                                        <p:tgtEl>
                                          <p:spTgt spid="107"/>
                                        </p:tgtEl>
                                        <p:attrNameLst>
                                          <p:attrName>style.visibility</p:attrName>
                                        </p:attrNameLst>
                                      </p:cBhvr>
                                      <p:to>
                                        <p:strVal val="visible"/>
                                      </p:to>
                                    </p:set>
                                    <p:animEffect transition="in" filter="wipe(down)">
                                      <p:cBhvr>
                                        <p:cTn id="101" dur="500"/>
                                        <p:tgtEl>
                                          <p:spTgt spid="107"/>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106"/>
                                        </p:tgtEl>
                                        <p:attrNameLst>
                                          <p:attrName>style.visibility</p:attrName>
                                        </p:attrNameLst>
                                      </p:cBhvr>
                                      <p:to>
                                        <p:strVal val="visible"/>
                                      </p:to>
                                    </p:set>
                                    <p:animEffect transition="in" filter="wipe(up)">
                                      <p:cBhvr>
                                        <p:cTn id="106" dur="500"/>
                                        <p:tgtEl>
                                          <p:spTgt spid="106"/>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grpId="0" nodeType="clickEffect">
                                  <p:stCondLst>
                                    <p:cond delay="0"/>
                                  </p:stCondLst>
                                  <p:childTnLst>
                                    <p:set>
                                      <p:cBhvr>
                                        <p:cTn id="110" dur="1" fill="hold">
                                          <p:stCondLst>
                                            <p:cond delay="0"/>
                                          </p:stCondLst>
                                        </p:cTn>
                                        <p:tgtEl>
                                          <p:spTgt spid="110"/>
                                        </p:tgtEl>
                                        <p:attrNameLst>
                                          <p:attrName>style.visibility</p:attrName>
                                        </p:attrNameLst>
                                      </p:cBhvr>
                                      <p:to>
                                        <p:strVal val="visible"/>
                                      </p:to>
                                    </p:set>
                                    <p:animEffect transition="in" filter="wipe(up)">
                                      <p:cBhvr>
                                        <p:cTn id="111" dur="500"/>
                                        <p:tgtEl>
                                          <p:spTgt spid="110"/>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1" fill="hold" grpId="0" nodeType="clickEffect">
                                  <p:stCondLst>
                                    <p:cond delay="0"/>
                                  </p:stCondLst>
                                  <p:childTnLst>
                                    <p:set>
                                      <p:cBhvr>
                                        <p:cTn id="115" dur="1" fill="hold">
                                          <p:stCondLst>
                                            <p:cond delay="0"/>
                                          </p:stCondLst>
                                        </p:cTn>
                                        <p:tgtEl>
                                          <p:spTgt spid="111"/>
                                        </p:tgtEl>
                                        <p:attrNameLst>
                                          <p:attrName>style.visibility</p:attrName>
                                        </p:attrNameLst>
                                      </p:cBhvr>
                                      <p:to>
                                        <p:strVal val="visible"/>
                                      </p:to>
                                    </p:set>
                                    <p:animEffect transition="in" filter="wipe(up)">
                                      <p:cBhvr>
                                        <p:cTn id="116" dur="500"/>
                                        <p:tgtEl>
                                          <p:spTgt spid="111"/>
                                        </p:tgtEl>
                                      </p:cBhvr>
                                    </p:animEffect>
                                  </p:childTnLst>
                                </p:cTn>
                              </p:par>
                            </p:childTnLst>
                          </p:cTn>
                        </p:par>
                      </p:childTnLst>
                    </p:cTn>
                  </p:par>
                  <p:par>
                    <p:cTn id="117" fill="hold">
                      <p:stCondLst>
                        <p:cond delay="indefinite"/>
                      </p:stCondLst>
                      <p:childTnLst>
                        <p:par>
                          <p:cTn id="118" fill="hold">
                            <p:stCondLst>
                              <p:cond delay="0"/>
                            </p:stCondLst>
                            <p:childTnLst>
                              <p:par>
                                <p:cTn id="119" presetID="16" presetClass="emph" presetSubtype="0" fill="hold" nodeType="clickEffect">
                                  <p:stCondLst>
                                    <p:cond delay="0"/>
                                  </p:stCondLst>
                                  <p:iterate type="lt">
                                    <p:tmPct val="4000"/>
                                  </p:iterate>
                                  <p:childTnLst>
                                    <p:set>
                                      <p:cBhvr override="childStyle">
                                        <p:cTn id="120" dur="500" fill="hold"/>
                                        <p:tgtEl>
                                          <p:spTgt spid="131">
                                            <p:txEl>
                                              <p:pRg st="4" end="4"/>
                                            </p:txEl>
                                          </p:spTgt>
                                        </p:tgtEl>
                                        <p:attrNameLst>
                                          <p:attrName>style.color</p:attrName>
                                        </p:attrNameLst>
                                      </p:cBhvr>
                                      <p:to>
                                        <p:clrVal>
                                          <a:schemeClr val="accent2"/>
                                        </p:clrVal>
                                      </p:to>
                                    </p:set>
                                    <p:set>
                                      <p:cBhvr>
                                        <p:cTn id="121" dur="500" fill="hold"/>
                                        <p:tgtEl>
                                          <p:spTgt spid="131">
                                            <p:txEl>
                                              <p:pRg st="4" end="4"/>
                                            </p:txEl>
                                          </p:spTgt>
                                        </p:tgtEl>
                                        <p:attrNameLst>
                                          <p:attrName>fillcolor</p:attrName>
                                        </p:attrNameLst>
                                      </p:cBhvr>
                                      <p:to>
                                        <p:clrVal>
                                          <a:schemeClr val="accent2"/>
                                        </p:clrVal>
                                      </p:to>
                                    </p:set>
                                    <p:set>
                                      <p:cBhvr>
                                        <p:cTn id="122" dur="500" fill="hold"/>
                                        <p:tgtEl>
                                          <p:spTgt spid="131">
                                            <p:txEl>
                                              <p:pRg st="4" end="4"/>
                                            </p:txEl>
                                          </p:spTgt>
                                        </p:tgtEl>
                                        <p:attrNameLst>
                                          <p:attrName>fill.type</p:attrName>
                                        </p:attrNameLst>
                                      </p:cBhvr>
                                      <p:to>
                                        <p:strVal val="solid"/>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12"/>
                                        </p:tgtEl>
                                        <p:attrNameLst>
                                          <p:attrName>style.visibility</p:attrName>
                                        </p:attrNameLst>
                                      </p:cBhvr>
                                      <p:to>
                                        <p:strVal val="visible"/>
                                      </p:to>
                                    </p:set>
                                    <p:animEffect transition="in" filter="wipe(left)">
                                      <p:cBhvr>
                                        <p:cTn id="127" dur="500"/>
                                        <p:tgtEl>
                                          <p:spTgt spid="112"/>
                                        </p:tgtEl>
                                      </p:cBhvr>
                                    </p:animEffect>
                                  </p:childTnLst>
                                </p:cTn>
                              </p:par>
                            </p:childTnLst>
                          </p:cTn>
                        </p:par>
                      </p:childTnLst>
                    </p:cTn>
                  </p:par>
                  <p:par>
                    <p:cTn id="128" fill="hold">
                      <p:stCondLst>
                        <p:cond delay="indefinite"/>
                      </p:stCondLst>
                      <p:childTnLst>
                        <p:par>
                          <p:cTn id="129" fill="hold">
                            <p:stCondLst>
                              <p:cond delay="0"/>
                            </p:stCondLst>
                            <p:childTnLst>
                              <p:par>
                                <p:cTn id="130" presetID="16" presetClass="emph" presetSubtype="0" fill="hold" nodeType="clickEffect">
                                  <p:stCondLst>
                                    <p:cond delay="0"/>
                                  </p:stCondLst>
                                  <p:iterate type="lt">
                                    <p:tmPct val="4000"/>
                                  </p:iterate>
                                  <p:childTnLst>
                                    <p:set>
                                      <p:cBhvr override="childStyle">
                                        <p:cTn id="131" dur="500" fill="hold"/>
                                        <p:tgtEl>
                                          <p:spTgt spid="131">
                                            <p:txEl>
                                              <p:pRg st="5" end="5"/>
                                            </p:txEl>
                                          </p:spTgt>
                                        </p:tgtEl>
                                        <p:attrNameLst>
                                          <p:attrName>style.color</p:attrName>
                                        </p:attrNameLst>
                                      </p:cBhvr>
                                      <p:to>
                                        <p:clrVal>
                                          <a:schemeClr val="accent2"/>
                                        </p:clrVal>
                                      </p:to>
                                    </p:set>
                                    <p:set>
                                      <p:cBhvr>
                                        <p:cTn id="132" dur="500" fill="hold"/>
                                        <p:tgtEl>
                                          <p:spTgt spid="131">
                                            <p:txEl>
                                              <p:pRg st="5" end="5"/>
                                            </p:txEl>
                                          </p:spTgt>
                                        </p:tgtEl>
                                        <p:attrNameLst>
                                          <p:attrName>fillcolor</p:attrName>
                                        </p:attrNameLst>
                                      </p:cBhvr>
                                      <p:to>
                                        <p:clrVal>
                                          <a:schemeClr val="accent2"/>
                                        </p:clrVal>
                                      </p:to>
                                    </p:set>
                                    <p:set>
                                      <p:cBhvr>
                                        <p:cTn id="133" dur="500" fill="hold"/>
                                        <p:tgtEl>
                                          <p:spTgt spid="131">
                                            <p:txEl>
                                              <p:pRg st="5" end="5"/>
                                            </p:txEl>
                                          </p:spTgt>
                                        </p:tgtEl>
                                        <p:attrNameLst>
                                          <p:attrName>fill.type</p:attrName>
                                        </p:attrNameLst>
                                      </p:cBhvr>
                                      <p:to>
                                        <p:strVal val="solid"/>
                                      </p:to>
                                    </p:se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13"/>
                                        </p:tgtEl>
                                        <p:attrNameLst>
                                          <p:attrName>style.visibility</p:attrName>
                                        </p:attrNameLst>
                                      </p:cBhvr>
                                      <p:to>
                                        <p:strVal val="visible"/>
                                      </p:to>
                                    </p:set>
                                    <p:animEffect transition="in" filter="wipe(left)">
                                      <p:cBhvr>
                                        <p:cTn id="138" dur="500"/>
                                        <p:tgtEl>
                                          <p:spTgt spid="113"/>
                                        </p:tgtEl>
                                      </p:cBhvr>
                                    </p:animEffect>
                                  </p:childTnLst>
                                </p:cTn>
                              </p:par>
                            </p:childTnLst>
                          </p:cTn>
                        </p:par>
                      </p:childTnLst>
                    </p:cTn>
                  </p:par>
                  <p:par>
                    <p:cTn id="139" fill="hold">
                      <p:stCondLst>
                        <p:cond delay="indefinite"/>
                      </p:stCondLst>
                      <p:childTnLst>
                        <p:par>
                          <p:cTn id="140" fill="hold">
                            <p:stCondLst>
                              <p:cond delay="0"/>
                            </p:stCondLst>
                            <p:childTnLst>
                              <p:par>
                                <p:cTn id="141" presetID="16" presetClass="emph" presetSubtype="0" fill="hold" nodeType="clickEffect">
                                  <p:stCondLst>
                                    <p:cond delay="0"/>
                                  </p:stCondLst>
                                  <p:iterate type="lt">
                                    <p:tmPct val="4000"/>
                                  </p:iterate>
                                  <p:childTnLst>
                                    <p:set>
                                      <p:cBhvr override="childStyle">
                                        <p:cTn id="142" dur="500" fill="hold"/>
                                        <p:tgtEl>
                                          <p:spTgt spid="131">
                                            <p:txEl>
                                              <p:pRg st="6" end="6"/>
                                            </p:txEl>
                                          </p:spTgt>
                                        </p:tgtEl>
                                        <p:attrNameLst>
                                          <p:attrName>style.color</p:attrName>
                                        </p:attrNameLst>
                                      </p:cBhvr>
                                      <p:to>
                                        <p:clrVal>
                                          <a:schemeClr val="accent2"/>
                                        </p:clrVal>
                                      </p:to>
                                    </p:set>
                                    <p:set>
                                      <p:cBhvr>
                                        <p:cTn id="143" dur="500" fill="hold"/>
                                        <p:tgtEl>
                                          <p:spTgt spid="131">
                                            <p:txEl>
                                              <p:pRg st="6" end="6"/>
                                            </p:txEl>
                                          </p:spTgt>
                                        </p:tgtEl>
                                        <p:attrNameLst>
                                          <p:attrName>fillcolor</p:attrName>
                                        </p:attrNameLst>
                                      </p:cBhvr>
                                      <p:to>
                                        <p:clrVal>
                                          <a:schemeClr val="accent2"/>
                                        </p:clrVal>
                                      </p:to>
                                    </p:set>
                                    <p:set>
                                      <p:cBhvr>
                                        <p:cTn id="144" dur="500" fill="hold"/>
                                        <p:tgtEl>
                                          <p:spTgt spid="131">
                                            <p:txEl>
                                              <p:pRg st="6" end="6"/>
                                            </p:txEl>
                                          </p:spTgt>
                                        </p:tgtEl>
                                        <p:attrNameLst>
                                          <p:attrName>fill.type</p:attrName>
                                        </p:attrNameLst>
                                      </p:cBhvr>
                                      <p:to>
                                        <p:strVal val="solid"/>
                                      </p:to>
                                    </p:se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114"/>
                                        </p:tgtEl>
                                        <p:attrNameLst>
                                          <p:attrName>style.visibility</p:attrName>
                                        </p:attrNameLst>
                                      </p:cBhvr>
                                      <p:to>
                                        <p:strVal val="visible"/>
                                      </p:to>
                                    </p:set>
                                    <p:animEffect transition="in" filter="wipe(left)">
                                      <p:cBhvr>
                                        <p:cTn id="149" dur="500"/>
                                        <p:tgtEl>
                                          <p:spTgt spid="114"/>
                                        </p:tgtEl>
                                      </p:cBhvr>
                                    </p:animEffect>
                                  </p:childTnLst>
                                </p:cTn>
                              </p:par>
                            </p:childTnLst>
                          </p:cTn>
                        </p:par>
                      </p:childTnLst>
                    </p:cTn>
                  </p:par>
                  <p:par>
                    <p:cTn id="150" fill="hold">
                      <p:stCondLst>
                        <p:cond delay="indefinite"/>
                      </p:stCondLst>
                      <p:childTnLst>
                        <p:par>
                          <p:cTn id="151" fill="hold">
                            <p:stCondLst>
                              <p:cond delay="0"/>
                            </p:stCondLst>
                            <p:childTnLst>
                              <p:par>
                                <p:cTn id="152" presetID="16" presetClass="emph" presetSubtype="0" fill="hold" nodeType="clickEffect">
                                  <p:stCondLst>
                                    <p:cond delay="0"/>
                                  </p:stCondLst>
                                  <p:iterate type="lt">
                                    <p:tmPct val="4000"/>
                                  </p:iterate>
                                  <p:childTnLst>
                                    <p:set>
                                      <p:cBhvr override="childStyle">
                                        <p:cTn id="153" dur="500" fill="hold"/>
                                        <p:tgtEl>
                                          <p:spTgt spid="131">
                                            <p:txEl>
                                              <p:pRg st="7" end="7"/>
                                            </p:txEl>
                                          </p:spTgt>
                                        </p:tgtEl>
                                        <p:attrNameLst>
                                          <p:attrName>style.color</p:attrName>
                                        </p:attrNameLst>
                                      </p:cBhvr>
                                      <p:to>
                                        <p:clrVal>
                                          <a:schemeClr val="accent2"/>
                                        </p:clrVal>
                                      </p:to>
                                    </p:set>
                                    <p:set>
                                      <p:cBhvr>
                                        <p:cTn id="154" dur="500" fill="hold"/>
                                        <p:tgtEl>
                                          <p:spTgt spid="131">
                                            <p:txEl>
                                              <p:pRg st="7" end="7"/>
                                            </p:txEl>
                                          </p:spTgt>
                                        </p:tgtEl>
                                        <p:attrNameLst>
                                          <p:attrName>fillcolor</p:attrName>
                                        </p:attrNameLst>
                                      </p:cBhvr>
                                      <p:to>
                                        <p:clrVal>
                                          <a:schemeClr val="accent2"/>
                                        </p:clrVal>
                                      </p:to>
                                    </p:set>
                                    <p:set>
                                      <p:cBhvr>
                                        <p:cTn id="155" dur="500" fill="hold"/>
                                        <p:tgtEl>
                                          <p:spTgt spid="131">
                                            <p:txEl>
                                              <p:pRg st="7" end="7"/>
                                            </p:txEl>
                                          </p:spTgt>
                                        </p:tgtEl>
                                        <p:attrNameLst>
                                          <p:attrName>fill.type</p:attrName>
                                        </p:attrNameLst>
                                      </p:cBhvr>
                                      <p:to>
                                        <p:strVal val="solid"/>
                                      </p:to>
                                    </p:set>
                                  </p:childTnLst>
                                </p:cTn>
                              </p:par>
                            </p:childTnLst>
                          </p:cTn>
                        </p:par>
                      </p:childTnLst>
                    </p:cTn>
                  </p:par>
                  <p:par>
                    <p:cTn id="156" fill="hold">
                      <p:stCondLst>
                        <p:cond delay="indefinite"/>
                      </p:stCondLst>
                      <p:childTnLst>
                        <p:par>
                          <p:cTn id="157" fill="hold">
                            <p:stCondLst>
                              <p:cond delay="0"/>
                            </p:stCondLst>
                            <p:childTnLst>
                              <p:par>
                                <p:cTn id="158" presetID="22" presetClass="entr" presetSubtype="8" fill="hold" grpId="0" nodeType="clickEffect">
                                  <p:stCondLst>
                                    <p:cond delay="0"/>
                                  </p:stCondLst>
                                  <p:childTnLst>
                                    <p:set>
                                      <p:cBhvr>
                                        <p:cTn id="159" dur="1" fill="hold">
                                          <p:stCondLst>
                                            <p:cond delay="0"/>
                                          </p:stCondLst>
                                        </p:cTn>
                                        <p:tgtEl>
                                          <p:spTgt spid="115"/>
                                        </p:tgtEl>
                                        <p:attrNameLst>
                                          <p:attrName>style.visibility</p:attrName>
                                        </p:attrNameLst>
                                      </p:cBhvr>
                                      <p:to>
                                        <p:strVal val="visible"/>
                                      </p:to>
                                    </p:set>
                                    <p:animEffect transition="in" filter="wipe(left)">
                                      <p:cBhvr>
                                        <p:cTn id="160" dur="500"/>
                                        <p:tgtEl>
                                          <p:spTgt spid="115"/>
                                        </p:tgtEl>
                                      </p:cBhvr>
                                    </p:animEffect>
                                  </p:childTnLst>
                                </p:cTn>
                              </p:par>
                            </p:childTnLst>
                          </p:cTn>
                        </p:par>
                      </p:childTnLst>
                    </p:cTn>
                  </p:par>
                  <p:par>
                    <p:cTn id="161" fill="hold">
                      <p:stCondLst>
                        <p:cond delay="indefinite"/>
                      </p:stCondLst>
                      <p:childTnLst>
                        <p:par>
                          <p:cTn id="162" fill="hold">
                            <p:stCondLst>
                              <p:cond delay="0"/>
                            </p:stCondLst>
                            <p:childTnLst>
                              <p:par>
                                <p:cTn id="163" presetID="16" presetClass="emph" presetSubtype="0" fill="hold" nodeType="clickEffect">
                                  <p:stCondLst>
                                    <p:cond delay="0"/>
                                  </p:stCondLst>
                                  <p:iterate type="lt">
                                    <p:tmPct val="4000"/>
                                  </p:iterate>
                                  <p:childTnLst>
                                    <p:set>
                                      <p:cBhvr override="childStyle">
                                        <p:cTn id="164" dur="500" fill="hold"/>
                                        <p:tgtEl>
                                          <p:spTgt spid="131">
                                            <p:txEl>
                                              <p:pRg st="8" end="8"/>
                                            </p:txEl>
                                          </p:spTgt>
                                        </p:tgtEl>
                                        <p:attrNameLst>
                                          <p:attrName>style.color</p:attrName>
                                        </p:attrNameLst>
                                      </p:cBhvr>
                                      <p:to>
                                        <p:clrVal>
                                          <a:schemeClr val="accent2"/>
                                        </p:clrVal>
                                      </p:to>
                                    </p:set>
                                    <p:set>
                                      <p:cBhvr>
                                        <p:cTn id="165" dur="500" fill="hold"/>
                                        <p:tgtEl>
                                          <p:spTgt spid="131">
                                            <p:txEl>
                                              <p:pRg st="8" end="8"/>
                                            </p:txEl>
                                          </p:spTgt>
                                        </p:tgtEl>
                                        <p:attrNameLst>
                                          <p:attrName>fillcolor</p:attrName>
                                        </p:attrNameLst>
                                      </p:cBhvr>
                                      <p:to>
                                        <p:clrVal>
                                          <a:schemeClr val="accent2"/>
                                        </p:clrVal>
                                      </p:to>
                                    </p:set>
                                    <p:set>
                                      <p:cBhvr>
                                        <p:cTn id="166" dur="500" fill="hold"/>
                                        <p:tgtEl>
                                          <p:spTgt spid="131">
                                            <p:txEl>
                                              <p:pRg st="8" end="8"/>
                                            </p:txEl>
                                          </p:spTgt>
                                        </p:tgtEl>
                                        <p:attrNameLst>
                                          <p:attrName>fill.type</p:attrName>
                                        </p:attrNameLst>
                                      </p:cBhvr>
                                      <p:to>
                                        <p:strVal val="solid"/>
                                      </p:to>
                                    </p:set>
                                  </p:childTnLst>
                                </p:cTn>
                              </p:par>
                            </p:childTnLst>
                          </p:cTn>
                        </p:par>
                      </p:childTnLst>
                    </p:cTn>
                  </p:par>
                  <p:par>
                    <p:cTn id="167" fill="hold">
                      <p:stCondLst>
                        <p:cond delay="indefinite"/>
                      </p:stCondLst>
                      <p:childTnLst>
                        <p:par>
                          <p:cTn id="168" fill="hold">
                            <p:stCondLst>
                              <p:cond delay="0"/>
                            </p:stCondLst>
                            <p:childTnLst>
                              <p:par>
                                <p:cTn id="169" presetID="22" presetClass="entr" presetSubtype="4" fill="hold" nodeType="clickEffect">
                                  <p:stCondLst>
                                    <p:cond delay="0"/>
                                  </p:stCondLst>
                                  <p:childTnLst>
                                    <p:set>
                                      <p:cBhvr>
                                        <p:cTn id="170" dur="1" fill="hold">
                                          <p:stCondLst>
                                            <p:cond delay="0"/>
                                          </p:stCondLst>
                                        </p:cTn>
                                        <p:tgtEl>
                                          <p:spTgt spid="117"/>
                                        </p:tgtEl>
                                        <p:attrNameLst>
                                          <p:attrName>style.visibility</p:attrName>
                                        </p:attrNameLst>
                                      </p:cBhvr>
                                      <p:to>
                                        <p:strVal val="visible"/>
                                      </p:to>
                                    </p:set>
                                    <p:animEffect transition="in" filter="wipe(down)">
                                      <p:cBhvr>
                                        <p:cTn id="171" dur="500"/>
                                        <p:tgtEl>
                                          <p:spTgt spid="117"/>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1" fill="hold" grpId="0" nodeType="clickEffect">
                                  <p:stCondLst>
                                    <p:cond delay="0"/>
                                  </p:stCondLst>
                                  <p:childTnLst>
                                    <p:set>
                                      <p:cBhvr>
                                        <p:cTn id="175" dur="1" fill="hold">
                                          <p:stCondLst>
                                            <p:cond delay="0"/>
                                          </p:stCondLst>
                                        </p:cTn>
                                        <p:tgtEl>
                                          <p:spTgt spid="116"/>
                                        </p:tgtEl>
                                        <p:attrNameLst>
                                          <p:attrName>style.visibility</p:attrName>
                                        </p:attrNameLst>
                                      </p:cBhvr>
                                      <p:to>
                                        <p:strVal val="visible"/>
                                      </p:to>
                                    </p:set>
                                    <p:animEffect transition="in" filter="wipe(up)">
                                      <p:cBhvr>
                                        <p:cTn id="176" dur="500"/>
                                        <p:tgtEl>
                                          <p:spTgt spid="116"/>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1" fill="hold" grpId="0" nodeType="clickEffect">
                                  <p:stCondLst>
                                    <p:cond delay="0"/>
                                  </p:stCondLst>
                                  <p:childTnLst>
                                    <p:set>
                                      <p:cBhvr>
                                        <p:cTn id="180" dur="1" fill="hold">
                                          <p:stCondLst>
                                            <p:cond delay="0"/>
                                          </p:stCondLst>
                                        </p:cTn>
                                        <p:tgtEl>
                                          <p:spTgt spid="121"/>
                                        </p:tgtEl>
                                        <p:attrNameLst>
                                          <p:attrName>style.visibility</p:attrName>
                                        </p:attrNameLst>
                                      </p:cBhvr>
                                      <p:to>
                                        <p:strVal val="visible"/>
                                      </p:to>
                                    </p:set>
                                    <p:animEffect transition="in" filter="wipe(up)">
                                      <p:cBhvr>
                                        <p:cTn id="181" dur="500"/>
                                        <p:tgtEl>
                                          <p:spTgt spid="121"/>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1" fill="hold" grpId="0" nodeType="clickEffect">
                                  <p:stCondLst>
                                    <p:cond delay="0"/>
                                  </p:stCondLst>
                                  <p:childTnLst>
                                    <p:set>
                                      <p:cBhvr>
                                        <p:cTn id="185" dur="1" fill="hold">
                                          <p:stCondLst>
                                            <p:cond delay="0"/>
                                          </p:stCondLst>
                                        </p:cTn>
                                        <p:tgtEl>
                                          <p:spTgt spid="120"/>
                                        </p:tgtEl>
                                        <p:attrNameLst>
                                          <p:attrName>style.visibility</p:attrName>
                                        </p:attrNameLst>
                                      </p:cBhvr>
                                      <p:to>
                                        <p:strVal val="visible"/>
                                      </p:to>
                                    </p:set>
                                    <p:animEffect transition="in" filter="wipe(up)">
                                      <p:cBhvr>
                                        <p:cTn id="186" dur="500"/>
                                        <p:tgtEl>
                                          <p:spTgt spid="120"/>
                                        </p:tgtEl>
                                      </p:cBhvr>
                                    </p:animEffect>
                                  </p:childTnLst>
                                </p:cTn>
                              </p:par>
                            </p:childTnLst>
                          </p:cTn>
                        </p:par>
                      </p:childTnLst>
                    </p:cTn>
                  </p:par>
                  <p:par>
                    <p:cTn id="187" fill="hold">
                      <p:stCondLst>
                        <p:cond delay="indefinite"/>
                      </p:stCondLst>
                      <p:childTnLst>
                        <p:par>
                          <p:cTn id="188" fill="hold">
                            <p:stCondLst>
                              <p:cond delay="0"/>
                            </p:stCondLst>
                            <p:childTnLst>
                              <p:par>
                                <p:cTn id="189" presetID="22" presetClass="entr" presetSubtype="1" fill="hold" grpId="0" nodeType="clickEffect">
                                  <p:stCondLst>
                                    <p:cond delay="0"/>
                                  </p:stCondLst>
                                  <p:childTnLst>
                                    <p:set>
                                      <p:cBhvr>
                                        <p:cTn id="190" dur="1" fill="hold">
                                          <p:stCondLst>
                                            <p:cond delay="0"/>
                                          </p:stCondLst>
                                        </p:cTn>
                                        <p:tgtEl>
                                          <p:spTgt spid="129"/>
                                        </p:tgtEl>
                                        <p:attrNameLst>
                                          <p:attrName>style.visibility</p:attrName>
                                        </p:attrNameLst>
                                      </p:cBhvr>
                                      <p:to>
                                        <p:strVal val="visible"/>
                                      </p:to>
                                    </p:set>
                                    <p:animEffect transition="in" filter="wipe(up)">
                                      <p:cBhvr>
                                        <p:cTn id="191" dur="500"/>
                                        <p:tgtEl>
                                          <p:spTgt spid="129"/>
                                        </p:tgtEl>
                                      </p:cBhvr>
                                    </p:animEffect>
                                  </p:childTnLst>
                                </p:cTn>
                              </p:par>
                            </p:childTnLst>
                          </p:cTn>
                        </p:par>
                      </p:childTnLst>
                    </p:cTn>
                  </p:par>
                  <p:par>
                    <p:cTn id="192" fill="hold">
                      <p:stCondLst>
                        <p:cond delay="indefinite"/>
                      </p:stCondLst>
                      <p:childTnLst>
                        <p:par>
                          <p:cTn id="193" fill="hold">
                            <p:stCondLst>
                              <p:cond delay="0"/>
                            </p:stCondLst>
                            <p:childTnLst>
                              <p:par>
                                <p:cTn id="194" presetID="16" presetClass="emph" presetSubtype="0" fill="hold" nodeType="clickEffect">
                                  <p:stCondLst>
                                    <p:cond delay="0"/>
                                  </p:stCondLst>
                                  <p:iterate type="lt">
                                    <p:tmPct val="4000"/>
                                  </p:iterate>
                                  <p:childTnLst>
                                    <p:set>
                                      <p:cBhvr override="childStyle">
                                        <p:cTn id="195" dur="500" fill="hold"/>
                                        <p:tgtEl>
                                          <p:spTgt spid="131">
                                            <p:txEl>
                                              <p:pRg st="9" end="9"/>
                                            </p:txEl>
                                          </p:spTgt>
                                        </p:tgtEl>
                                        <p:attrNameLst>
                                          <p:attrName>style.color</p:attrName>
                                        </p:attrNameLst>
                                      </p:cBhvr>
                                      <p:to>
                                        <p:clrVal>
                                          <a:schemeClr val="accent2"/>
                                        </p:clrVal>
                                      </p:to>
                                    </p:set>
                                    <p:set>
                                      <p:cBhvr>
                                        <p:cTn id="196" dur="500" fill="hold"/>
                                        <p:tgtEl>
                                          <p:spTgt spid="131">
                                            <p:txEl>
                                              <p:pRg st="9" end="9"/>
                                            </p:txEl>
                                          </p:spTgt>
                                        </p:tgtEl>
                                        <p:attrNameLst>
                                          <p:attrName>fillcolor</p:attrName>
                                        </p:attrNameLst>
                                      </p:cBhvr>
                                      <p:to>
                                        <p:clrVal>
                                          <a:schemeClr val="accent2"/>
                                        </p:clrVal>
                                      </p:to>
                                    </p:set>
                                    <p:set>
                                      <p:cBhvr>
                                        <p:cTn id="197" dur="500" fill="hold"/>
                                        <p:tgtEl>
                                          <p:spTgt spid="131">
                                            <p:txEl>
                                              <p:pRg st="9" end="9"/>
                                            </p:txEl>
                                          </p:spTgt>
                                        </p:tgtEl>
                                        <p:attrNameLst>
                                          <p:attrName>fill.type</p:attrName>
                                        </p:attrNameLst>
                                      </p:cBhvr>
                                      <p:to>
                                        <p:strVal val="solid"/>
                                      </p:to>
                                    </p:set>
                                  </p:childTnLst>
                                </p:cTn>
                              </p:par>
                            </p:childTnLst>
                          </p:cTn>
                        </p:par>
                      </p:childTnLst>
                    </p:cTn>
                  </p:par>
                  <p:par>
                    <p:cTn id="198" fill="hold">
                      <p:stCondLst>
                        <p:cond delay="indefinite"/>
                      </p:stCondLst>
                      <p:childTnLst>
                        <p:par>
                          <p:cTn id="199" fill="hold">
                            <p:stCondLst>
                              <p:cond delay="0"/>
                            </p:stCondLst>
                            <p:childTnLst>
                              <p:par>
                                <p:cTn id="200" presetID="22" presetClass="entr" presetSubtype="4" fill="hold" nodeType="clickEffect">
                                  <p:stCondLst>
                                    <p:cond delay="0"/>
                                  </p:stCondLst>
                                  <p:childTnLst>
                                    <p:set>
                                      <p:cBhvr>
                                        <p:cTn id="201" dur="1" fill="hold">
                                          <p:stCondLst>
                                            <p:cond delay="0"/>
                                          </p:stCondLst>
                                        </p:cTn>
                                        <p:tgtEl>
                                          <p:spTgt spid="123"/>
                                        </p:tgtEl>
                                        <p:attrNameLst>
                                          <p:attrName>style.visibility</p:attrName>
                                        </p:attrNameLst>
                                      </p:cBhvr>
                                      <p:to>
                                        <p:strVal val="visible"/>
                                      </p:to>
                                    </p:set>
                                    <p:animEffect transition="in" filter="wipe(down)">
                                      <p:cBhvr>
                                        <p:cTn id="202" dur="500"/>
                                        <p:tgtEl>
                                          <p:spTgt spid="123"/>
                                        </p:tgtEl>
                                      </p:cBhvr>
                                    </p:animEffect>
                                  </p:childTnLst>
                                </p:cTn>
                              </p:par>
                            </p:childTnLst>
                          </p:cTn>
                        </p:par>
                      </p:childTnLst>
                    </p:cTn>
                  </p:par>
                  <p:par>
                    <p:cTn id="203" fill="hold">
                      <p:stCondLst>
                        <p:cond delay="indefinite"/>
                      </p:stCondLst>
                      <p:childTnLst>
                        <p:par>
                          <p:cTn id="204" fill="hold">
                            <p:stCondLst>
                              <p:cond delay="0"/>
                            </p:stCondLst>
                            <p:childTnLst>
                              <p:par>
                                <p:cTn id="205" presetID="22" presetClass="entr" presetSubtype="1" fill="hold" grpId="0" nodeType="clickEffect">
                                  <p:stCondLst>
                                    <p:cond delay="0"/>
                                  </p:stCondLst>
                                  <p:childTnLst>
                                    <p:set>
                                      <p:cBhvr>
                                        <p:cTn id="206" dur="1" fill="hold">
                                          <p:stCondLst>
                                            <p:cond delay="0"/>
                                          </p:stCondLst>
                                        </p:cTn>
                                        <p:tgtEl>
                                          <p:spTgt spid="122"/>
                                        </p:tgtEl>
                                        <p:attrNameLst>
                                          <p:attrName>style.visibility</p:attrName>
                                        </p:attrNameLst>
                                      </p:cBhvr>
                                      <p:to>
                                        <p:strVal val="visible"/>
                                      </p:to>
                                    </p:set>
                                    <p:animEffect transition="in" filter="wipe(up)">
                                      <p:cBhvr>
                                        <p:cTn id="207" dur="500"/>
                                        <p:tgtEl>
                                          <p:spTgt spid="122"/>
                                        </p:tgtEl>
                                      </p:cBhvr>
                                    </p:animEffect>
                                  </p:childTnLst>
                                </p:cTn>
                              </p:par>
                            </p:childTnLst>
                          </p:cTn>
                        </p:par>
                      </p:childTnLst>
                    </p:cTn>
                  </p:par>
                  <p:par>
                    <p:cTn id="208" fill="hold">
                      <p:stCondLst>
                        <p:cond delay="indefinite"/>
                      </p:stCondLst>
                      <p:childTnLst>
                        <p:par>
                          <p:cTn id="209" fill="hold">
                            <p:stCondLst>
                              <p:cond delay="0"/>
                            </p:stCondLst>
                            <p:childTnLst>
                              <p:par>
                                <p:cTn id="210" presetID="22" presetClass="entr" presetSubtype="1" fill="hold" grpId="0" nodeType="clickEffect">
                                  <p:stCondLst>
                                    <p:cond delay="0"/>
                                  </p:stCondLst>
                                  <p:childTnLst>
                                    <p:set>
                                      <p:cBhvr>
                                        <p:cTn id="211" dur="1" fill="hold">
                                          <p:stCondLst>
                                            <p:cond delay="0"/>
                                          </p:stCondLst>
                                        </p:cTn>
                                        <p:tgtEl>
                                          <p:spTgt spid="126"/>
                                        </p:tgtEl>
                                        <p:attrNameLst>
                                          <p:attrName>style.visibility</p:attrName>
                                        </p:attrNameLst>
                                      </p:cBhvr>
                                      <p:to>
                                        <p:strVal val="visible"/>
                                      </p:to>
                                    </p:set>
                                    <p:animEffect transition="in" filter="wipe(up)">
                                      <p:cBhvr>
                                        <p:cTn id="212" dur="500"/>
                                        <p:tgtEl>
                                          <p:spTgt spid="126"/>
                                        </p:tgtEl>
                                      </p:cBhvr>
                                    </p:animEffect>
                                  </p:childTnLst>
                                </p:cTn>
                              </p:par>
                            </p:childTnLst>
                          </p:cTn>
                        </p:par>
                      </p:childTnLst>
                    </p:cTn>
                  </p:par>
                  <p:par>
                    <p:cTn id="213" fill="hold">
                      <p:stCondLst>
                        <p:cond delay="indefinite"/>
                      </p:stCondLst>
                      <p:childTnLst>
                        <p:par>
                          <p:cTn id="214" fill="hold">
                            <p:stCondLst>
                              <p:cond delay="0"/>
                            </p:stCondLst>
                            <p:childTnLst>
                              <p:par>
                                <p:cTn id="215" presetID="22" presetClass="entr" presetSubtype="1" fill="hold" grpId="0" nodeType="clickEffect">
                                  <p:stCondLst>
                                    <p:cond delay="0"/>
                                  </p:stCondLst>
                                  <p:childTnLst>
                                    <p:set>
                                      <p:cBhvr>
                                        <p:cTn id="216" dur="1" fill="hold">
                                          <p:stCondLst>
                                            <p:cond delay="0"/>
                                          </p:stCondLst>
                                        </p:cTn>
                                        <p:tgtEl>
                                          <p:spTgt spid="128"/>
                                        </p:tgtEl>
                                        <p:attrNameLst>
                                          <p:attrName>style.visibility</p:attrName>
                                        </p:attrNameLst>
                                      </p:cBhvr>
                                      <p:to>
                                        <p:strVal val="visible"/>
                                      </p:to>
                                    </p:set>
                                    <p:animEffect transition="in" filter="wipe(up)">
                                      <p:cBhvr>
                                        <p:cTn id="217" dur="500"/>
                                        <p:tgtEl>
                                          <p:spTgt spid="128"/>
                                        </p:tgtEl>
                                      </p:cBhvr>
                                    </p:animEffect>
                                  </p:childTnLst>
                                </p:cTn>
                              </p:par>
                            </p:childTnLst>
                          </p:cTn>
                        </p:par>
                      </p:childTnLst>
                    </p:cTn>
                  </p:par>
                  <p:par>
                    <p:cTn id="218" fill="hold">
                      <p:stCondLst>
                        <p:cond delay="indefinite"/>
                      </p:stCondLst>
                      <p:childTnLst>
                        <p:par>
                          <p:cTn id="219" fill="hold">
                            <p:stCondLst>
                              <p:cond delay="0"/>
                            </p:stCondLst>
                            <p:childTnLst>
                              <p:par>
                                <p:cTn id="220" presetID="22" presetClass="entr" presetSubtype="1" fill="hold" grpId="0" nodeType="clickEffect">
                                  <p:stCondLst>
                                    <p:cond delay="0"/>
                                  </p:stCondLst>
                                  <p:childTnLst>
                                    <p:set>
                                      <p:cBhvr>
                                        <p:cTn id="221" dur="1" fill="hold">
                                          <p:stCondLst>
                                            <p:cond delay="0"/>
                                          </p:stCondLst>
                                        </p:cTn>
                                        <p:tgtEl>
                                          <p:spTgt spid="127"/>
                                        </p:tgtEl>
                                        <p:attrNameLst>
                                          <p:attrName>style.visibility</p:attrName>
                                        </p:attrNameLst>
                                      </p:cBhvr>
                                      <p:to>
                                        <p:strVal val="visible"/>
                                      </p:to>
                                    </p:set>
                                    <p:animEffect transition="in" filter="wipe(up)">
                                      <p:cBhvr>
                                        <p:cTn id="222"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autoUpdateAnimBg="0"/>
      <p:bldP spid="91" grpId="0" autoUpdateAnimBg="0"/>
      <p:bldP spid="92" grpId="0" autoUpdateAnimBg="0"/>
      <p:bldP spid="93" grpId="0" animBg="1" autoUpdateAnimBg="0"/>
      <p:bldP spid="94" grpId="0" autoUpdateAnimBg="0"/>
      <p:bldP spid="95" grpId="0" autoUpdateAnimBg="0"/>
      <p:bldP spid="96" grpId="0" animBg="1" autoUpdateAnimBg="0"/>
      <p:bldP spid="97" grpId="0" animBg="1" autoUpdateAnimBg="0"/>
      <p:bldP spid="98" grpId="0" autoUpdateAnimBg="0"/>
      <p:bldP spid="99" grpId="0" autoUpdateAnimBg="0"/>
      <p:bldP spid="100" grpId="0" animBg="1" autoUpdateAnimBg="0"/>
      <p:bldP spid="104" grpId="0" autoUpdateAnimBg="0"/>
      <p:bldP spid="105" grpId="0" autoUpdateAnimBg="0"/>
      <p:bldP spid="106" grpId="0" animBg="1" autoUpdateAnimBg="0"/>
      <p:bldP spid="110" grpId="0" autoUpdateAnimBg="0"/>
      <p:bldP spid="111" grpId="0" autoUpdateAnimBg="0"/>
      <p:bldP spid="112" grpId="0" autoUpdateAnimBg="0"/>
      <p:bldP spid="113" grpId="0" autoUpdateAnimBg="0"/>
      <p:bldP spid="114" grpId="0" autoUpdateAnimBg="0"/>
      <p:bldP spid="115" grpId="0" autoUpdateAnimBg="0"/>
      <p:bldP spid="116" grpId="0" animBg="1" autoUpdateAnimBg="0"/>
      <p:bldP spid="120" grpId="0" autoUpdateAnimBg="0"/>
      <p:bldP spid="121" grpId="0" autoUpdateAnimBg="0"/>
      <p:bldP spid="122" grpId="0" animBg="1" autoUpdateAnimBg="0"/>
      <p:bldP spid="126" grpId="0" autoUpdateAnimBg="0"/>
      <p:bldP spid="127" grpId="0" autoUpdateAnimBg="0"/>
      <p:bldP spid="128" grpId="0" animBg="1"/>
      <p:bldP spid="129"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构造基本块的</a:t>
            </a:r>
            <a:r>
              <a:rPr lang="en-US" altLang="zh-CN" dirty="0"/>
              <a:t>DAG</a:t>
            </a:r>
            <a:r>
              <a:rPr lang="zh-CN" altLang="en-US" dirty="0"/>
              <a:t>示例</a:t>
            </a:r>
          </a:p>
        </p:txBody>
      </p:sp>
      <p:sp>
        <p:nvSpPr>
          <p:cNvPr id="3" name="内容占位符 2"/>
          <p:cNvSpPr>
            <a:spLocks noGrp="1"/>
          </p:cNvSpPr>
          <p:nvPr>
            <p:ph idx="1"/>
          </p:nvPr>
        </p:nvSpPr>
        <p:spPr/>
        <p:txBody>
          <a:bodyPr/>
          <a:lstStyle/>
          <a:p>
            <a:r>
              <a:rPr lang="zh-CN" altLang="en-US" dirty="0">
                <a:latin typeface="Times New Roman" panose="02020603050405020304" pitchFamily="18" charset="0"/>
              </a:rPr>
              <a:t>优化后的四元式</a:t>
            </a:r>
          </a:p>
          <a:p>
            <a:endParaRPr lang="zh-CN" altLang="en-US" dirty="0"/>
          </a:p>
        </p:txBody>
      </p:sp>
      <p:grpSp>
        <p:nvGrpSpPr>
          <p:cNvPr id="4" name="组合 3"/>
          <p:cNvGrpSpPr/>
          <p:nvPr/>
        </p:nvGrpSpPr>
        <p:grpSpPr>
          <a:xfrm>
            <a:off x="4084936" y="2869712"/>
            <a:ext cx="5693818" cy="4315314"/>
            <a:chOff x="3705300" y="2603350"/>
            <a:chExt cx="5165328" cy="3914775"/>
          </a:xfrm>
        </p:grpSpPr>
        <p:sp>
          <p:nvSpPr>
            <p:cNvPr id="47" name="Oval 3"/>
            <p:cNvSpPr>
              <a:spLocks noChangeArrowheads="1"/>
            </p:cNvSpPr>
            <p:nvPr/>
          </p:nvSpPr>
          <p:spPr bwMode="auto">
            <a:xfrm>
              <a:off x="3768265"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1</a:t>
              </a:r>
              <a:endParaRPr kumimoji="1" lang="en-US" altLang="zh-CN" sz="2646">
                <a:solidFill>
                  <a:prstClr val="black"/>
                </a:solidFill>
                <a:latin typeface="微软雅黑" panose="020B0503020204020204" pitchFamily="34" charset="-122"/>
              </a:endParaRPr>
            </a:p>
          </p:txBody>
        </p:sp>
        <p:sp>
          <p:nvSpPr>
            <p:cNvPr id="48" name="Rectangle 4"/>
            <p:cNvSpPr>
              <a:spLocks noChangeArrowheads="1"/>
            </p:cNvSpPr>
            <p:nvPr/>
          </p:nvSpPr>
          <p:spPr bwMode="auto">
            <a:xfrm>
              <a:off x="3705300"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en-US" sz="2646" dirty="0">
                  <a:solidFill>
                    <a:prstClr val="black"/>
                  </a:solidFill>
                  <a:latin typeface="微软雅黑" panose="020B0503020204020204" pitchFamily="34" charset="-122"/>
                </a:rPr>
                <a:t>3.14</a:t>
              </a:r>
            </a:p>
          </p:txBody>
        </p:sp>
        <p:sp>
          <p:nvSpPr>
            <p:cNvPr id="49" name="Rectangle 5"/>
            <p:cNvSpPr>
              <a:spLocks noChangeArrowheads="1"/>
            </p:cNvSpPr>
            <p:nvPr/>
          </p:nvSpPr>
          <p:spPr bwMode="auto">
            <a:xfrm>
              <a:off x="4194647"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T</a:t>
              </a:r>
              <a:r>
                <a:rPr kumimoji="1" lang="en-US" altLang="zh-CN" sz="2646" baseline="-25000" dirty="0">
                  <a:solidFill>
                    <a:prstClr val="black"/>
                  </a:solidFill>
                  <a:latin typeface="微软雅黑" panose="020B0503020204020204" pitchFamily="34" charset="-122"/>
                </a:rPr>
                <a:t>0</a:t>
              </a:r>
              <a:endParaRPr kumimoji="1" lang="en-US" altLang="zh-CN" sz="2646" dirty="0">
                <a:solidFill>
                  <a:prstClr val="black"/>
                </a:solidFill>
                <a:latin typeface="微软雅黑" panose="020B0503020204020204" pitchFamily="34" charset="-122"/>
              </a:endParaRPr>
            </a:p>
          </p:txBody>
        </p:sp>
        <p:sp>
          <p:nvSpPr>
            <p:cNvPr id="50" name="Oval 6"/>
            <p:cNvSpPr>
              <a:spLocks noChangeArrowheads="1"/>
            </p:cNvSpPr>
            <p:nvPr/>
          </p:nvSpPr>
          <p:spPr bwMode="auto">
            <a:xfrm>
              <a:off x="4760115"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2</a:t>
              </a:r>
              <a:endParaRPr kumimoji="1" lang="en-US" altLang="zh-CN" sz="2646">
                <a:solidFill>
                  <a:prstClr val="black"/>
                </a:solidFill>
                <a:latin typeface="微软雅黑" panose="020B0503020204020204" pitchFamily="34" charset="-122"/>
              </a:endParaRPr>
            </a:p>
          </p:txBody>
        </p:sp>
        <p:sp>
          <p:nvSpPr>
            <p:cNvPr id="51" name="Rectangle 7"/>
            <p:cNvSpPr>
              <a:spLocks noChangeArrowheads="1"/>
            </p:cNvSpPr>
            <p:nvPr/>
          </p:nvSpPr>
          <p:spPr bwMode="auto">
            <a:xfrm>
              <a:off x="4694868"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en-US" sz="2646" dirty="0">
                  <a:solidFill>
                    <a:prstClr val="black"/>
                  </a:solidFill>
                  <a:latin typeface="微软雅黑" panose="020B0503020204020204" pitchFamily="34" charset="-122"/>
                </a:rPr>
                <a:t>6.28</a:t>
              </a:r>
            </a:p>
          </p:txBody>
        </p:sp>
        <p:sp>
          <p:nvSpPr>
            <p:cNvPr id="52" name="Rectangle 8"/>
            <p:cNvSpPr>
              <a:spLocks noChangeArrowheads="1"/>
            </p:cNvSpPr>
            <p:nvPr/>
          </p:nvSpPr>
          <p:spPr bwMode="auto">
            <a:xfrm>
              <a:off x="5140718"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T</a:t>
              </a:r>
              <a:r>
                <a:rPr kumimoji="1" lang="en-US" altLang="zh-CN" sz="2646" baseline="-25000" dirty="0">
                  <a:solidFill>
                    <a:prstClr val="black"/>
                  </a:solidFill>
                  <a:latin typeface="微软雅黑" panose="020B0503020204020204" pitchFamily="34" charset="-122"/>
                </a:rPr>
                <a:t>1</a:t>
              </a:r>
              <a:endParaRPr kumimoji="1" lang="en-US" altLang="zh-CN" sz="2646" dirty="0">
                <a:solidFill>
                  <a:prstClr val="black"/>
                </a:solidFill>
                <a:latin typeface="微软雅黑" panose="020B0503020204020204" pitchFamily="34" charset="-122"/>
              </a:endParaRPr>
            </a:p>
          </p:txBody>
        </p:sp>
        <p:sp>
          <p:nvSpPr>
            <p:cNvPr id="53" name="Oval 9"/>
            <p:cNvSpPr>
              <a:spLocks noChangeArrowheads="1"/>
            </p:cNvSpPr>
            <p:nvPr/>
          </p:nvSpPr>
          <p:spPr bwMode="auto">
            <a:xfrm>
              <a:off x="6065040"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3</a:t>
              </a:r>
              <a:endParaRPr kumimoji="1" lang="en-US" altLang="zh-CN" sz="2646">
                <a:solidFill>
                  <a:prstClr val="black"/>
                </a:solidFill>
                <a:latin typeface="微软雅黑" panose="020B0503020204020204" pitchFamily="34" charset="-122"/>
              </a:endParaRPr>
            </a:p>
          </p:txBody>
        </p:sp>
        <p:sp>
          <p:nvSpPr>
            <p:cNvPr id="54" name="Oval 10"/>
            <p:cNvSpPr>
              <a:spLocks noChangeArrowheads="1"/>
            </p:cNvSpPr>
            <p:nvPr/>
          </p:nvSpPr>
          <p:spPr bwMode="auto">
            <a:xfrm>
              <a:off x="7435212"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n</a:t>
              </a:r>
              <a:r>
                <a:rPr kumimoji="1" lang="en-US" altLang="zh-CN" sz="2646" baseline="-25000" dirty="0">
                  <a:solidFill>
                    <a:prstClr val="black"/>
                  </a:solidFill>
                  <a:latin typeface="微软雅黑" panose="020B0503020204020204" pitchFamily="34" charset="-122"/>
                </a:rPr>
                <a:t>4</a:t>
              </a:r>
              <a:endParaRPr kumimoji="1" lang="en-US" altLang="zh-CN" sz="2646" dirty="0">
                <a:solidFill>
                  <a:prstClr val="black"/>
                </a:solidFill>
                <a:latin typeface="微软雅黑" panose="020B0503020204020204" pitchFamily="34" charset="-122"/>
              </a:endParaRPr>
            </a:p>
          </p:txBody>
        </p:sp>
        <p:sp>
          <p:nvSpPr>
            <p:cNvPr id="55" name="Rectangle 11"/>
            <p:cNvSpPr>
              <a:spLocks noChangeArrowheads="1"/>
            </p:cNvSpPr>
            <p:nvPr/>
          </p:nvSpPr>
          <p:spPr bwMode="auto">
            <a:xfrm>
              <a:off x="5934548"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R</a:t>
              </a:r>
            </a:p>
          </p:txBody>
        </p:sp>
        <p:sp>
          <p:nvSpPr>
            <p:cNvPr id="56" name="Rectangle 12"/>
            <p:cNvSpPr>
              <a:spLocks noChangeArrowheads="1"/>
            </p:cNvSpPr>
            <p:nvPr/>
          </p:nvSpPr>
          <p:spPr bwMode="auto">
            <a:xfrm>
              <a:off x="7369964"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r</a:t>
              </a:r>
            </a:p>
          </p:txBody>
        </p:sp>
        <p:sp>
          <p:nvSpPr>
            <p:cNvPr id="57" name="Oval 13"/>
            <p:cNvSpPr>
              <a:spLocks noChangeArrowheads="1"/>
            </p:cNvSpPr>
            <p:nvPr/>
          </p:nvSpPr>
          <p:spPr bwMode="auto">
            <a:xfrm>
              <a:off x="6521764" y="4560737"/>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5</a:t>
              </a:r>
              <a:endParaRPr kumimoji="1" lang="en-US" altLang="zh-CN" sz="2646">
                <a:solidFill>
                  <a:prstClr val="black"/>
                </a:solidFill>
                <a:latin typeface="微软雅黑" panose="020B0503020204020204" pitchFamily="34" charset="-122"/>
              </a:endParaRPr>
            </a:p>
          </p:txBody>
        </p:sp>
        <p:grpSp>
          <p:nvGrpSpPr>
            <p:cNvPr id="58" name="Group 47"/>
            <p:cNvGrpSpPr>
              <a:grpSpLocks/>
            </p:cNvGrpSpPr>
            <p:nvPr/>
          </p:nvGrpSpPr>
          <p:grpSpPr bwMode="auto">
            <a:xfrm>
              <a:off x="6391272" y="5017462"/>
              <a:ext cx="1109186" cy="717708"/>
              <a:chOff x="3936" y="2544"/>
              <a:chExt cx="816" cy="528"/>
            </a:xfrm>
          </p:grpSpPr>
          <p:sp>
            <p:nvSpPr>
              <p:cNvPr id="59" name="Line 14"/>
              <p:cNvSpPr>
                <a:spLocks noChangeShapeType="1"/>
              </p:cNvSpPr>
              <p:nvPr/>
            </p:nvSpPr>
            <p:spPr bwMode="auto">
              <a:xfrm flipH="1">
                <a:off x="3936" y="2544"/>
                <a:ext cx="192"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60" name="Line 15"/>
              <p:cNvSpPr>
                <a:spLocks noChangeShapeType="1"/>
              </p:cNvSpPr>
              <p:nvPr/>
            </p:nvSpPr>
            <p:spPr bwMode="auto">
              <a:xfrm>
                <a:off x="4272" y="2544"/>
                <a:ext cx="48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61" name="Rectangle 16"/>
            <p:cNvSpPr>
              <a:spLocks noChangeArrowheads="1"/>
            </p:cNvSpPr>
            <p:nvPr/>
          </p:nvSpPr>
          <p:spPr bwMode="auto">
            <a:xfrm>
              <a:off x="6587011" y="5017461"/>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62" name="Rectangle 17"/>
            <p:cNvSpPr>
              <a:spLocks noChangeArrowheads="1"/>
            </p:cNvSpPr>
            <p:nvPr/>
          </p:nvSpPr>
          <p:spPr bwMode="auto">
            <a:xfrm>
              <a:off x="6913241" y="462598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2</a:t>
              </a:r>
              <a:endParaRPr kumimoji="1" lang="en-US" altLang="zh-CN" sz="2646">
                <a:solidFill>
                  <a:prstClr val="black"/>
                </a:solidFill>
                <a:latin typeface="微软雅黑" panose="020B0503020204020204" pitchFamily="34" charset="-122"/>
              </a:endParaRPr>
            </a:p>
          </p:txBody>
        </p:sp>
        <p:sp>
          <p:nvSpPr>
            <p:cNvPr id="63" name="Oval 18"/>
            <p:cNvSpPr>
              <a:spLocks noChangeArrowheads="1"/>
            </p:cNvSpPr>
            <p:nvPr/>
          </p:nvSpPr>
          <p:spPr bwMode="auto">
            <a:xfrm>
              <a:off x="5934547" y="3777782"/>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6</a:t>
              </a:r>
              <a:endParaRPr kumimoji="1" lang="en-US" altLang="zh-CN" sz="2646">
                <a:solidFill>
                  <a:prstClr val="black"/>
                </a:solidFill>
                <a:latin typeface="微软雅黑" panose="020B0503020204020204" pitchFamily="34" charset="-122"/>
              </a:endParaRPr>
            </a:p>
          </p:txBody>
        </p:sp>
        <p:grpSp>
          <p:nvGrpSpPr>
            <p:cNvPr id="64" name="Group 48"/>
            <p:cNvGrpSpPr>
              <a:grpSpLocks/>
            </p:cNvGrpSpPr>
            <p:nvPr/>
          </p:nvGrpSpPr>
          <p:grpSpPr bwMode="auto">
            <a:xfrm>
              <a:off x="5086347" y="4169260"/>
              <a:ext cx="1631155" cy="1555035"/>
              <a:chOff x="2976" y="1920"/>
              <a:chExt cx="1200" cy="1144"/>
            </a:xfrm>
          </p:grpSpPr>
          <p:sp>
            <p:nvSpPr>
              <p:cNvPr id="65" name="Line 19"/>
              <p:cNvSpPr>
                <a:spLocks noChangeShapeType="1"/>
              </p:cNvSpPr>
              <p:nvPr/>
            </p:nvSpPr>
            <p:spPr bwMode="auto">
              <a:xfrm flipH="1">
                <a:off x="2976" y="1976"/>
                <a:ext cx="720" cy="10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66" name="Line 20"/>
              <p:cNvSpPr>
                <a:spLocks noChangeShapeType="1"/>
              </p:cNvSpPr>
              <p:nvPr/>
            </p:nvSpPr>
            <p:spPr bwMode="auto">
              <a:xfrm>
                <a:off x="3888" y="1920"/>
                <a:ext cx="288" cy="2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67" name="Rectangle 21"/>
            <p:cNvSpPr>
              <a:spLocks noChangeArrowheads="1"/>
            </p:cNvSpPr>
            <p:nvPr/>
          </p:nvSpPr>
          <p:spPr bwMode="auto">
            <a:xfrm>
              <a:off x="6065040" y="4299753"/>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68" name="Rectangle 22"/>
            <p:cNvSpPr>
              <a:spLocks noChangeArrowheads="1"/>
            </p:cNvSpPr>
            <p:nvPr/>
          </p:nvSpPr>
          <p:spPr bwMode="auto">
            <a:xfrm>
              <a:off x="6326025"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A</a:t>
              </a:r>
            </a:p>
          </p:txBody>
        </p:sp>
        <p:sp>
          <p:nvSpPr>
            <p:cNvPr id="69" name="Rectangle 23"/>
            <p:cNvSpPr>
              <a:spLocks noChangeArrowheads="1"/>
            </p:cNvSpPr>
            <p:nvPr/>
          </p:nvSpPr>
          <p:spPr bwMode="auto">
            <a:xfrm>
              <a:off x="6652256"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 </a:t>
              </a:r>
              <a:r>
                <a:rPr kumimoji="1" lang="en-US" altLang="zh-CN" sz="2646">
                  <a:solidFill>
                    <a:prstClr val="black"/>
                  </a:solidFill>
                  <a:latin typeface="微软雅黑" panose="020B0503020204020204" pitchFamily="34" charset="-122"/>
                </a:rPr>
                <a:t>B</a:t>
              </a:r>
            </a:p>
          </p:txBody>
        </p:sp>
        <p:sp>
          <p:nvSpPr>
            <p:cNvPr id="70" name="Rectangle 24"/>
            <p:cNvSpPr>
              <a:spLocks noChangeArrowheads="1"/>
            </p:cNvSpPr>
            <p:nvPr/>
          </p:nvSpPr>
          <p:spPr bwMode="auto">
            <a:xfrm>
              <a:off x="5466949"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,T</a:t>
              </a:r>
              <a:r>
                <a:rPr kumimoji="1" lang="en-US" altLang="zh-CN" sz="2646" baseline="-25000" dirty="0">
                  <a:solidFill>
                    <a:prstClr val="black"/>
                  </a:solidFill>
                  <a:latin typeface="微软雅黑" panose="020B0503020204020204" pitchFamily="34" charset="-122"/>
                </a:rPr>
                <a:t>3</a:t>
              </a:r>
              <a:endParaRPr kumimoji="1" lang="en-US" altLang="zh-CN" sz="2646" dirty="0">
                <a:solidFill>
                  <a:prstClr val="black"/>
                </a:solidFill>
                <a:latin typeface="微软雅黑" panose="020B0503020204020204" pitchFamily="34" charset="-122"/>
              </a:endParaRPr>
            </a:p>
          </p:txBody>
        </p:sp>
        <p:sp>
          <p:nvSpPr>
            <p:cNvPr id="71" name="Rectangle 25"/>
            <p:cNvSpPr>
              <a:spLocks noChangeArrowheads="1"/>
            </p:cNvSpPr>
            <p:nvPr/>
          </p:nvSpPr>
          <p:spPr bwMode="auto">
            <a:xfrm>
              <a:off x="7304718" y="462598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 </a:t>
              </a: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4</a:t>
              </a:r>
              <a:endParaRPr kumimoji="1" lang="en-US" altLang="zh-CN" sz="2646">
                <a:solidFill>
                  <a:prstClr val="black"/>
                </a:solidFill>
                <a:latin typeface="微软雅黑" panose="020B0503020204020204" pitchFamily="34" charset="-122"/>
              </a:endParaRPr>
            </a:p>
          </p:txBody>
        </p:sp>
        <p:sp>
          <p:nvSpPr>
            <p:cNvPr id="72" name="Rectangle 26"/>
            <p:cNvSpPr>
              <a:spLocks noChangeArrowheads="1"/>
            </p:cNvSpPr>
            <p:nvPr/>
          </p:nvSpPr>
          <p:spPr bwMode="auto">
            <a:xfrm>
              <a:off x="7043733"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 </a:t>
              </a: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5</a:t>
              </a:r>
              <a:endParaRPr kumimoji="1" lang="en-US" altLang="zh-CN" sz="2646">
                <a:solidFill>
                  <a:prstClr val="black"/>
                </a:solidFill>
                <a:latin typeface="微软雅黑" panose="020B0503020204020204" pitchFamily="34" charset="-122"/>
              </a:endParaRPr>
            </a:p>
          </p:txBody>
        </p:sp>
        <p:sp>
          <p:nvSpPr>
            <p:cNvPr id="73" name="Oval 27"/>
            <p:cNvSpPr>
              <a:spLocks noChangeArrowheads="1"/>
            </p:cNvSpPr>
            <p:nvPr/>
          </p:nvSpPr>
          <p:spPr bwMode="auto">
            <a:xfrm>
              <a:off x="7957181" y="4625983"/>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7</a:t>
              </a:r>
              <a:endParaRPr kumimoji="1" lang="en-US" altLang="zh-CN" sz="2646">
                <a:solidFill>
                  <a:prstClr val="black"/>
                </a:solidFill>
                <a:latin typeface="微软雅黑" panose="020B0503020204020204" pitchFamily="34" charset="-122"/>
              </a:endParaRPr>
            </a:p>
          </p:txBody>
        </p:sp>
        <p:grpSp>
          <p:nvGrpSpPr>
            <p:cNvPr id="74" name="Group 49"/>
            <p:cNvGrpSpPr>
              <a:grpSpLocks/>
            </p:cNvGrpSpPr>
            <p:nvPr/>
          </p:nvGrpSpPr>
          <p:grpSpPr bwMode="auto">
            <a:xfrm>
              <a:off x="6391271" y="5017461"/>
              <a:ext cx="1826895" cy="782955"/>
              <a:chOff x="3936" y="2544"/>
              <a:chExt cx="1344" cy="576"/>
            </a:xfrm>
          </p:grpSpPr>
          <p:sp>
            <p:nvSpPr>
              <p:cNvPr id="75" name="Line 28"/>
              <p:cNvSpPr>
                <a:spLocks noChangeShapeType="1"/>
              </p:cNvSpPr>
              <p:nvPr/>
            </p:nvSpPr>
            <p:spPr bwMode="auto">
              <a:xfrm flipV="1">
                <a:off x="3936" y="2544"/>
                <a:ext cx="120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76" name="Line 29"/>
              <p:cNvSpPr>
                <a:spLocks noChangeShapeType="1"/>
              </p:cNvSpPr>
              <p:nvPr/>
            </p:nvSpPr>
            <p:spPr bwMode="auto">
              <a:xfrm flipV="1">
                <a:off x="4992" y="2592"/>
                <a:ext cx="288"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77" name="Rectangle 30"/>
            <p:cNvSpPr>
              <a:spLocks noChangeArrowheads="1"/>
            </p:cNvSpPr>
            <p:nvPr/>
          </p:nvSpPr>
          <p:spPr bwMode="auto">
            <a:xfrm>
              <a:off x="8413904" y="4756477"/>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6</a:t>
              </a:r>
              <a:endParaRPr kumimoji="1" lang="en-US" altLang="zh-CN" sz="2646">
                <a:solidFill>
                  <a:prstClr val="black"/>
                </a:solidFill>
                <a:latin typeface="微软雅黑" panose="020B0503020204020204" pitchFamily="34" charset="-122"/>
              </a:endParaRPr>
            </a:p>
          </p:txBody>
        </p:sp>
        <p:sp>
          <p:nvSpPr>
            <p:cNvPr id="78" name="Rectangle 31"/>
            <p:cNvSpPr>
              <a:spLocks noChangeArrowheads="1"/>
            </p:cNvSpPr>
            <p:nvPr/>
          </p:nvSpPr>
          <p:spPr bwMode="auto">
            <a:xfrm>
              <a:off x="7826689" y="5017461"/>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79" name="Oval 32"/>
            <p:cNvSpPr>
              <a:spLocks noChangeArrowheads="1"/>
            </p:cNvSpPr>
            <p:nvPr/>
          </p:nvSpPr>
          <p:spPr bwMode="auto">
            <a:xfrm>
              <a:off x="7108980" y="260335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8</a:t>
              </a:r>
              <a:endParaRPr kumimoji="1" lang="en-US" altLang="zh-CN" sz="2646">
                <a:solidFill>
                  <a:prstClr val="black"/>
                </a:solidFill>
                <a:latin typeface="微软雅黑" panose="020B0503020204020204" pitchFamily="34" charset="-122"/>
              </a:endParaRPr>
            </a:p>
          </p:txBody>
        </p:sp>
        <p:grpSp>
          <p:nvGrpSpPr>
            <p:cNvPr id="80" name="Group 50"/>
            <p:cNvGrpSpPr>
              <a:grpSpLocks/>
            </p:cNvGrpSpPr>
            <p:nvPr/>
          </p:nvGrpSpPr>
          <p:grpSpPr bwMode="auto">
            <a:xfrm>
              <a:off x="6326024" y="3049199"/>
              <a:ext cx="1816021" cy="1565910"/>
              <a:chOff x="3888" y="1096"/>
              <a:chExt cx="1336" cy="1152"/>
            </a:xfrm>
          </p:grpSpPr>
          <p:sp>
            <p:nvSpPr>
              <p:cNvPr id="81" name="Line 33"/>
              <p:cNvSpPr>
                <a:spLocks noChangeShapeType="1"/>
              </p:cNvSpPr>
              <p:nvPr/>
            </p:nvSpPr>
            <p:spPr bwMode="auto">
              <a:xfrm flipH="1">
                <a:off x="3888" y="1104"/>
                <a:ext cx="672" cy="57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82" name="Line 34"/>
              <p:cNvSpPr>
                <a:spLocks noChangeShapeType="1"/>
              </p:cNvSpPr>
              <p:nvPr/>
            </p:nvSpPr>
            <p:spPr bwMode="auto">
              <a:xfrm>
                <a:off x="4720" y="1096"/>
                <a:ext cx="504" cy="115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83" name="Rectangle 35"/>
            <p:cNvSpPr>
              <a:spLocks noChangeArrowheads="1"/>
            </p:cNvSpPr>
            <p:nvPr/>
          </p:nvSpPr>
          <p:spPr bwMode="auto">
            <a:xfrm>
              <a:off x="7174226" y="3125320"/>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84" name="Rectangle 36"/>
            <p:cNvSpPr>
              <a:spLocks noChangeArrowheads="1"/>
            </p:cNvSpPr>
            <p:nvPr/>
          </p:nvSpPr>
          <p:spPr bwMode="auto">
            <a:xfrm>
              <a:off x="7565703" y="2668596"/>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B</a:t>
              </a:r>
            </a:p>
          </p:txBody>
        </p:sp>
        <p:sp>
          <p:nvSpPr>
            <p:cNvPr id="85" name="Line 37"/>
            <p:cNvSpPr>
              <a:spLocks noChangeShapeType="1"/>
            </p:cNvSpPr>
            <p:nvPr/>
          </p:nvSpPr>
          <p:spPr bwMode="auto">
            <a:xfrm flipH="1">
              <a:off x="6782749" y="3777782"/>
              <a:ext cx="326231" cy="4567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86" name="Rectangle 51"/>
            <p:cNvSpPr>
              <a:spLocks noChangeArrowheads="1"/>
            </p:cNvSpPr>
            <p:nvPr/>
          </p:nvSpPr>
          <p:spPr bwMode="auto">
            <a:xfrm>
              <a:off x="8413904" y="4756477"/>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6</a:t>
              </a:r>
              <a:endParaRPr kumimoji="1" lang="en-US" altLang="zh-CN" sz="2646">
                <a:solidFill>
                  <a:prstClr val="black"/>
                </a:solidFill>
                <a:latin typeface="微软雅黑" panose="020B0503020204020204" pitchFamily="34" charset="-122"/>
              </a:endParaRPr>
            </a:p>
          </p:txBody>
        </p:sp>
      </p:grpSp>
      <p:sp>
        <p:nvSpPr>
          <p:cNvPr id="88" name="Rectangle 51"/>
          <p:cNvSpPr>
            <a:spLocks noChangeArrowheads="1"/>
          </p:cNvSpPr>
          <p:nvPr/>
        </p:nvSpPr>
        <p:spPr bwMode="auto">
          <a:xfrm>
            <a:off x="565520" y="2803339"/>
            <a:ext cx="2737853" cy="3872679"/>
          </a:xfrm>
          <a:prstGeom prst="rect">
            <a:avLst/>
          </a:prstGeom>
          <a:ln/>
        </p:spPr>
        <p:style>
          <a:lnRef idx="3">
            <a:schemeClr val="lt1"/>
          </a:lnRef>
          <a:fillRef idx="1">
            <a:schemeClr val="accent1"/>
          </a:fillRef>
          <a:effectRef idx="1">
            <a:schemeClr val="accent1"/>
          </a:effectRef>
          <a:fontRef idx="minor">
            <a:schemeClr val="lt1"/>
          </a:fontRef>
        </p:style>
        <p:txBody>
          <a:bodyPr lIns="86905" tIns="43453" rIns="86905" bIns="43453"/>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431545" rtl="0" fontAlgn="auto" hangingPunct="1">
              <a:lnSpc>
                <a:spcPct val="100000"/>
              </a:lnSpc>
              <a:spcBef>
                <a:spcPct val="0"/>
              </a:spcBef>
              <a:spcAft>
                <a:spcPts val="0"/>
              </a:spcAft>
              <a:buClrTx/>
              <a:buSzTx/>
              <a:buNone/>
            </a:pPr>
            <a:r>
              <a:rPr lang="zh-CN" altLang="zh-CN" sz="2646" dirty="0">
                <a:solidFill>
                  <a:prstClr val="white"/>
                </a:solidFill>
                <a:latin typeface="微软雅黑" panose="020B0503020204020204" pitchFamily="34" charset="-122"/>
              </a:rPr>
              <a:t>(1) 	</a:t>
            </a:r>
            <a:r>
              <a:rPr lang="en-US" altLang="zh-CN" sz="2646" dirty="0">
                <a:solidFill>
                  <a:prstClr val="white"/>
                </a:solidFill>
                <a:latin typeface="微软雅黑" panose="020B0503020204020204" pitchFamily="34" charset="-122"/>
              </a:rPr>
              <a:t>T</a:t>
            </a:r>
            <a:r>
              <a:rPr lang="en-US" altLang="zh-CN" sz="2646" baseline="-25000" dirty="0">
                <a:solidFill>
                  <a:prstClr val="white"/>
                </a:solidFill>
                <a:latin typeface="微软雅黑" panose="020B0503020204020204" pitchFamily="34" charset="-122"/>
              </a:rPr>
              <a:t>0</a:t>
            </a:r>
            <a:r>
              <a:rPr lang="en-US" altLang="zh-CN" sz="2646" dirty="0">
                <a:solidFill>
                  <a:prstClr val="white"/>
                </a:solidFill>
                <a:latin typeface="微软雅黑" panose="020B0503020204020204" pitchFamily="34" charset="-122"/>
              </a:rPr>
              <a:t>:=3.14</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(2) 	T</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:=6.28</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(3) 	T</a:t>
            </a:r>
            <a:r>
              <a:rPr lang="en-US" altLang="zh-CN" sz="2646" baseline="-25000" dirty="0">
                <a:solidFill>
                  <a:prstClr val="white"/>
                </a:solidFill>
                <a:latin typeface="微软雅黑" panose="020B0503020204020204" pitchFamily="34" charset="-122"/>
              </a:rPr>
              <a:t>3</a:t>
            </a:r>
            <a:r>
              <a:rPr lang="en-US" altLang="zh-CN" sz="2646" dirty="0">
                <a:solidFill>
                  <a:prstClr val="white"/>
                </a:solidFill>
                <a:latin typeface="微软雅黑" panose="020B0503020204020204" pitchFamily="34" charset="-122"/>
              </a:rPr>
              <a:t>:=6.28</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(4) 	T</a:t>
            </a:r>
            <a:r>
              <a:rPr lang="en-US" altLang="zh-CN" sz="2646" baseline="-25000" dirty="0">
                <a:solidFill>
                  <a:prstClr val="white"/>
                </a:solidFill>
                <a:latin typeface="微软雅黑" panose="020B0503020204020204" pitchFamily="34" charset="-122"/>
              </a:rPr>
              <a:t>2</a:t>
            </a:r>
            <a:r>
              <a:rPr lang="en-US" altLang="zh-CN" sz="2646" dirty="0">
                <a:solidFill>
                  <a:prstClr val="white"/>
                </a:solidFill>
                <a:latin typeface="微软雅黑" panose="020B0503020204020204" pitchFamily="34" charset="-122"/>
              </a:rPr>
              <a:t>:=</a:t>
            </a:r>
            <a:r>
              <a:rPr lang="en-US" altLang="zh-CN" sz="2646" dirty="0" err="1">
                <a:solidFill>
                  <a:prstClr val="white"/>
                </a:solidFill>
                <a:latin typeface="微软雅黑" panose="020B0503020204020204" pitchFamily="34" charset="-122"/>
              </a:rPr>
              <a:t>R+r</a:t>
            </a:r>
            <a:endParaRPr lang="en-US" altLang="zh-CN" sz="2646" dirty="0">
              <a:solidFill>
                <a:prstClr val="white"/>
              </a:solidFill>
              <a:latin typeface="微软雅黑" panose="020B0503020204020204" pitchFamily="34" charset="-122"/>
            </a:endParaRP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(5) 	T</a:t>
            </a:r>
            <a:r>
              <a:rPr lang="en-US" altLang="zh-CN" sz="2646" baseline="-25000" dirty="0">
                <a:solidFill>
                  <a:prstClr val="white"/>
                </a:solidFill>
                <a:latin typeface="微软雅黑" panose="020B0503020204020204" pitchFamily="34" charset="-122"/>
              </a:rPr>
              <a:t>4</a:t>
            </a:r>
            <a:r>
              <a:rPr lang="en-US" altLang="zh-CN" sz="2646" dirty="0">
                <a:solidFill>
                  <a:prstClr val="white"/>
                </a:solidFill>
                <a:latin typeface="微软雅黑" panose="020B0503020204020204" pitchFamily="34" charset="-122"/>
              </a:rPr>
              <a:t>:=T</a:t>
            </a:r>
            <a:r>
              <a:rPr lang="en-US" altLang="zh-CN" sz="2646" baseline="-25000" dirty="0">
                <a:solidFill>
                  <a:prstClr val="white"/>
                </a:solidFill>
                <a:latin typeface="微软雅黑" panose="020B0503020204020204" pitchFamily="34" charset="-122"/>
              </a:rPr>
              <a:t>2</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(6)    A:=6.28*T</a:t>
            </a:r>
            <a:r>
              <a:rPr lang="en-US" altLang="zh-CN" sz="2646" baseline="-25000" dirty="0">
                <a:solidFill>
                  <a:prstClr val="white"/>
                </a:solidFill>
                <a:latin typeface="微软雅黑" panose="020B0503020204020204" pitchFamily="34" charset="-122"/>
              </a:rPr>
              <a:t>2</a:t>
            </a:r>
            <a:endParaRPr lang="en-US" altLang="zh-CN" sz="2646" dirty="0">
              <a:solidFill>
                <a:prstClr val="white"/>
              </a:solidFill>
              <a:latin typeface="微软雅黑" panose="020B0503020204020204" pitchFamily="34" charset="-122"/>
            </a:endParaRP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(7) 	T</a:t>
            </a:r>
            <a:r>
              <a:rPr lang="en-US" altLang="zh-CN" sz="2646" baseline="-25000" dirty="0">
                <a:solidFill>
                  <a:prstClr val="white"/>
                </a:solidFill>
                <a:latin typeface="微软雅黑" panose="020B0503020204020204" pitchFamily="34" charset="-122"/>
              </a:rPr>
              <a:t>5</a:t>
            </a:r>
            <a:r>
              <a:rPr lang="en-US" altLang="zh-CN" sz="2646" dirty="0">
                <a:solidFill>
                  <a:prstClr val="white"/>
                </a:solidFill>
                <a:latin typeface="微软雅黑" panose="020B0503020204020204" pitchFamily="34" charset="-122"/>
              </a:rPr>
              <a:t>:=A</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(8) 	T</a:t>
            </a:r>
            <a:r>
              <a:rPr lang="en-US" altLang="zh-CN" sz="2646" baseline="-25000" dirty="0">
                <a:solidFill>
                  <a:prstClr val="white"/>
                </a:solidFill>
                <a:latin typeface="微软雅黑" panose="020B0503020204020204" pitchFamily="34" charset="-122"/>
              </a:rPr>
              <a:t>6</a:t>
            </a:r>
            <a:r>
              <a:rPr lang="en-US" altLang="zh-CN" sz="2646" dirty="0">
                <a:solidFill>
                  <a:prstClr val="white"/>
                </a:solidFill>
                <a:latin typeface="微软雅黑" panose="020B0503020204020204" pitchFamily="34" charset="-122"/>
              </a:rPr>
              <a:t>:=R-r</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(9)		B:=A*T</a:t>
            </a:r>
            <a:r>
              <a:rPr lang="en-US" altLang="zh-CN" sz="2646" baseline="-25000" dirty="0">
                <a:solidFill>
                  <a:prstClr val="white"/>
                </a:solidFill>
                <a:latin typeface="微软雅黑" panose="020B0503020204020204" pitchFamily="34" charset="-122"/>
              </a:rPr>
              <a:t>6</a:t>
            </a:r>
            <a:endParaRPr lang="zh-CN" altLang="en-US" sz="2646" baseline="-25000" dirty="0">
              <a:solidFill>
                <a:prstClr val="white"/>
              </a:solidFill>
              <a:latin typeface="微软雅黑" panose="020B0503020204020204" pitchFamily="34" charset="-122"/>
            </a:endParaRPr>
          </a:p>
        </p:txBody>
      </p:sp>
      <p:sp>
        <p:nvSpPr>
          <p:cNvPr id="89" name="Rectangle 93"/>
          <p:cNvSpPr>
            <a:spLocks noChangeArrowheads="1"/>
          </p:cNvSpPr>
          <p:nvPr/>
        </p:nvSpPr>
        <p:spPr bwMode="auto">
          <a:xfrm>
            <a:off x="3763034" y="221794"/>
            <a:ext cx="2575456" cy="4158277"/>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377979" indent="-377979" defTabSz="431545" rtl="0" fontAlgn="auto" hangingPunct="1">
              <a:lnSpc>
                <a:spcPct val="100000"/>
              </a:lnSpc>
              <a:spcBef>
                <a:spcPct val="0"/>
              </a:spcBef>
              <a:spcAft>
                <a:spcPts val="0"/>
              </a:spcAft>
              <a:buClr>
                <a:srgbClr val="EEECE1"/>
              </a:buClr>
              <a:buNone/>
            </a:pPr>
            <a:r>
              <a:rPr lang="en-US" altLang="zh-CN" sz="2646" dirty="0">
                <a:solidFill>
                  <a:prstClr val="black"/>
                </a:solidFill>
              </a:rPr>
              <a:t>(1) 	T</a:t>
            </a:r>
            <a:r>
              <a:rPr lang="en-US" altLang="zh-CN" sz="2646" baseline="-25000" dirty="0">
                <a:solidFill>
                  <a:prstClr val="black"/>
                </a:solidFill>
              </a:rPr>
              <a:t>0</a:t>
            </a:r>
            <a:r>
              <a:rPr lang="en-US" altLang="zh-CN" sz="2646" dirty="0">
                <a:solidFill>
                  <a:prstClr val="black"/>
                </a:solidFill>
              </a:rPr>
              <a:t>:=3.14</a:t>
            </a:r>
          </a:p>
          <a:p>
            <a:pPr marL="377979" indent="-377979" defTabSz="431545" rtl="0" fontAlgn="auto" hangingPunct="1">
              <a:lnSpc>
                <a:spcPct val="100000"/>
              </a:lnSpc>
              <a:spcBef>
                <a:spcPct val="0"/>
              </a:spcBef>
              <a:spcAft>
                <a:spcPts val="0"/>
              </a:spcAft>
              <a:buClr>
                <a:srgbClr val="EEECE1"/>
              </a:buClr>
              <a:buNone/>
            </a:pPr>
            <a:r>
              <a:rPr lang="en-US" altLang="zh-CN" sz="2646" dirty="0">
                <a:solidFill>
                  <a:prstClr val="black"/>
                </a:solidFill>
              </a:rPr>
              <a:t>(2) 	T</a:t>
            </a:r>
            <a:r>
              <a:rPr lang="en-US" altLang="zh-CN" sz="2646" baseline="-25000" dirty="0">
                <a:solidFill>
                  <a:prstClr val="black"/>
                </a:solidFill>
              </a:rPr>
              <a:t>1</a:t>
            </a:r>
            <a:r>
              <a:rPr lang="en-US" altLang="zh-CN" sz="2646" dirty="0">
                <a:solidFill>
                  <a:prstClr val="black"/>
                </a:solidFill>
              </a:rPr>
              <a:t>:=2*T</a:t>
            </a:r>
            <a:r>
              <a:rPr lang="en-US" altLang="zh-CN" sz="2646" baseline="-25000" dirty="0">
                <a:solidFill>
                  <a:prstClr val="black"/>
                </a:solidFill>
              </a:rPr>
              <a:t>0</a:t>
            </a:r>
            <a:endParaRPr lang="en-US" altLang="zh-CN" sz="2646" dirty="0">
              <a:solidFill>
                <a:prstClr val="black"/>
              </a:solidFill>
            </a:endParaRPr>
          </a:p>
          <a:p>
            <a:pPr marL="377979" indent="-377979" defTabSz="431545" rtl="0" fontAlgn="auto" hangingPunct="1">
              <a:lnSpc>
                <a:spcPct val="100000"/>
              </a:lnSpc>
              <a:spcBef>
                <a:spcPct val="0"/>
              </a:spcBef>
              <a:spcAft>
                <a:spcPts val="0"/>
              </a:spcAft>
              <a:buClr>
                <a:srgbClr val="EEECE1"/>
              </a:buClr>
              <a:buNone/>
            </a:pPr>
            <a:r>
              <a:rPr lang="en-US" altLang="zh-CN" sz="2646" dirty="0">
                <a:solidFill>
                  <a:prstClr val="black"/>
                </a:solidFill>
              </a:rPr>
              <a:t>(3) 	T</a:t>
            </a:r>
            <a:r>
              <a:rPr lang="en-US" altLang="zh-CN" sz="2646" baseline="-25000" dirty="0">
                <a:solidFill>
                  <a:prstClr val="black"/>
                </a:solidFill>
              </a:rPr>
              <a:t>2</a:t>
            </a:r>
            <a:r>
              <a:rPr lang="en-US" altLang="zh-CN" sz="2646" dirty="0">
                <a:solidFill>
                  <a:prstClr val="black"/>
                </a:solidFill>
              </a:rPr>
              <a:t>:=</a:t>
            </a:r>
            <a:r>
              <a:rPr lang="en-US" altLang="zh-CN" sz="2646" dirty="0" err="1">
                <a:solidFill>
                  <a:prstClr val="black"/>
                </a:solidFill>
              </a:rPr>
              <a:t>R+r</a:t>
            </a:r>
            <a:endParaRPr lang="en-US" altLang="zh-CN" sz="2646" dirty="0">
              <a:solidFill>
                <a:prstClr val="black"/>
              </a:solidFill>
            </a:endParaRPr>
          </a:p>
          <a:p>
            <a:pPr marL="377979" indent="-377979" defTabSz="431545" rtl="0" fontAlgn="auto" hangingPunct="1">
              <a:lnSpc>
                <a:spcPct val="100000"/>
              </a:lnSpc>
              <a:spcBef>
                <a:spcPct val="0"/>
              </a:spcBef>
              <a:spcAft>
                <a:spcPts val="0"/>
              </a:spcAft>
              <a:buClr>
                <a:srgbClr val="EEECE1"/>
              </a:buClr>
              <a:buNone/>
            </a:pPr>
            <a:r>
              <a:rPr lang="en-US" altLang="zh-CN" sz="2646" dirty="0">
                <a:solidFill>
                  <a:prstClr val="black"/>
                </a:solidFill>
              </a:rPr>
              <a:t>(4) 	A:=T</a:t>
            </a:r>
            <a:r>
              <a:rPr lang="en-US" altLang="zh-CN" sz="2646" baseline="-25000" dirty="0">
                <a:solidFill>
                  <a:prstClr val="black"/>
                </a:solidFill>
              </a:rPr>
              <a:t>1</a:t>
            </a:r>
            <a:r>
              <a:rPr lang="en-US" altLang="zh-CN" sz="2646" dirty="0">
                <a:solidFill>
                  <a:prstClr val="black"/>
                </a:solidFill>
              </a:rPr>
              <a:t>*T</a:t>
            </a:r>
            <a:r>
              <a:rPr lang="en-US" altLang="zh-CN" sz="2646" baseline="-25000" dirty="0">
                <a:solidFill>
                  <a:prstClr val="black"/>
                </a:solidFill>
              </a:rPr>
              <a:t>2</a:t>
            </a:r>
            <a:endParaRPr lang="en-US" altLang="zh-CN" sz="2646" dirty="0">
              <a:solidFill>
                <a:prstClr val="black"/>
              </a:solidFill>
            </a:endParaRPr>
          </a:p>
          <a:p>
            <a:pPr marL="377979" indent="-377979" defTabSz="431545" rtl="0" fontAlgn="auto" hangingPunct="1">
              <a:lnSpc>
                <a:spcPct val="100000"/>
              </a:lnSpc>
              <a:spcBef>
                <a:spcPct val="0"/>
              </a:spcBef>
              <a:spcAft>
                <a:spcPts val="0"/>
              </a:spcAft>
              <a:buClr>
                <a:srgbClr val="EEECE1"/>
              </a:buClr>
              <a:buNone/>
            </a:pPr>
            <a:r>
              <a:rPr lang="en-US" altLang="zh-CN" sz="2646" dirty="0">
                <a:solidFill>
                  <a:prstClr val="black"/>
                </a:solidFill>
              </a:rPr>
              <a:t>(5) 	B:=A</a:t>
            </a:r>
          </a:p>
          <a:p>
            <a:pPr marL="377979" indent="-377979" defTabSz="431545" rtl="0" fontAlgn="auto" hangingPunct="1">
              <a:lnSpc>
                <a:spcPct val="100000"/>
              </a:lnSpc>
              <a:spcBef>
                <a:spcPct val="0"/>
              </a:spcBef>
              <a:spcAft>
                <a:spcPts val="0"/>
              </a:spcAft>
              <a:buClr>
                <a:srgbClr val="EEECE1"/>
              </a:buClr>
              <a:buNone/>
            </a:pPr>
            <a:r>
              <a:rPr lang="en-US" altLang="zh-CN" sz="2646" dirty="0">
                <a:solidFill>
                  <a:prstClr val="black"/>
                </a:solidFill>
              </a:rPr>
              <a:t>(6) 	T</a:t>
            </a:r>
            <a:r>
              <a:rPr lang="en-US" altLang="zh-CN" sz="2646" baseline="-25000" dirty="0">
                <a:solidFill>
                  <a:prstClr val="black"/>
                </a:solidFill>
              </a:rPr>
              <a:t>3</a:t>
            </a:r>
            <a:r>
              <a:rPr lang="en-US" altLang="zh-CN" sz="2646" dirty="0">
                <a:solidFill>
                  <a:prstClr val="black"/>
                </a:solidFill>
              </a:rPr>
              <a:t>:=2*T</a:t>
            </a:r>
            <a:r>
              <a:rPr lang="en-US" altLang="zh-CN" sz="2646" baseline="-25000" dirty="0">
                <a:solidFill>
                  <a:prstClr val="black"/>
                </a:solidFill>
              </a:rPr>
              <a:t>0</a:t>
            </a:r>
            <a:endParaRPr lang="en-US" altLang="zh-CN" sz="2646" dirty="0">
              <a:solidFill>
                <a:prstClr val="black"/>
              </a:solidFill>
            </a:endParaRPr>
          </a:p>
          <a:p>
            <a:pPr marL="377979" indent="-377979" defTabSz="431545" rtl="0" fontAlgn="auto" hangingPunct="1">
              <a:lnSpc>
                <a:spcPct val="100000"/>
              </a:lnSpc>
              <a:spcBef>
                <a:spcPct val="0"/>
              </a:spcBef>
              <a:spcAft>
                <a:spcPts val="0"/>
              </a:spcAft>
              <a:buClr>
                <a:srgbClr val="EEECE1"/>
              </a:buClr>
              <a:buNone/>
            </a:pPr>
            <a:r>
              <a:rPr lang="en-US" altLang="zh-CN" sz="2646" dirty="0">
                <a:solidFill>
                  <a:prstClr val="black"/>
                </a:solidFill>
              </a:rPr>
              <a:t>(7) 	T</a:t>
            </a:r>
            <a:r>
              <a:rPr lang="en-US" altLang="zh-CN" sz="2646" baseline="-25000" dirty="0">
                <a:solidFill>
                  <a:prstClr val="black"/>
                </a:solidFill>
              </a:rPr>
              <a:t>4</a:t>
            </a:r>
            <a:r>
              <a:rPr lang="en-US" altLang="zh-CN" sz="2646" dirty="0">
                <a:solidFill>
                  <a:prstClr val="black"/>
                </a:solidFill>
              </a:rPr>
              <a:t>:=</a:t>
            </a:r>
            <a:r>
              <a:rPr lang="en-US" altLang="zh-CN" sz="2646" dirty="0" err="1">
                <a:solidFill>
                  <a:prstClr val="black"/>
                </a:solidFill>
              </a:rPr>
              <a:t>R+r</a:t>
            </a:r>
            <a:endParaRPr lang="en-US" altLang="zh-CN" sz="2646" dirty="0">
              <a:solidFill>
                <a:prstClr val="black"/>
              </a:solidFill>
            </a:endParaRPr>
          </a:p>
          <a:p>
            <a:pPr marL="377979" indent="-377979" defTabSz="431545" rtl="0" fontAlgn="auto" hangingPunct="1">
              <a:lnSpc>
                <a:spcPct val="100000"/>
              </a:lnSpc>
              <a:spcBef>
                <a:spcPct val="0"/>
              </a:spcBef>
              <a:spcAft>
                <a:spcPts val="0"/>
              </a:spcAft>
              <a:buClr>
                <a:srgbClr val="EEECE1"/>
              </a:buClr>
              <a:buNone/>
            </a:pPr>
            <a:r>
              <a:rPr lang="en-US" altLang="zh-CN" sz="2646" dirty="0">
                <a:solidFill>
                  <a:prstClr val="black"/>
                </a:solidFill>
              </a:rPr>
              <a:t>(8) 	T</a:t>
            </a:r>
            <a:r>
              <a:rPr lang="en-US" altLang="zh-CN" sz="2646" baseline="-25000" dirty="0">
                <a:solidFill>
                  <a:prstClr val="black"/>
                </a:solidFill>
              </a:rPr>
              <a:t>5</a:t>
            </a:r>
            <a:r>
              <a:rPr lang="en-US" altLang="zh-CN" sz="2646" dirty="0">
                <a:solidFill>
                  <a:prstClr val="black"/>
                </a:solidFill>
              </a:rPr>
              <a:t>:=T</a:t>
            </a:r>
            <a:r>
              <a:rPr lang="en-US" altLang="zh-CN" sz="2646" baseline="-25000" dirty="0">
                <a:solidFill>
                  <a:prstClr val="black"/>
                </a:solidFill>
              </a:rPr>
              <a:t>3</a:t>
            </a:r>
            <a:r>
              <a:rPr lang="en-US" altLang="zh-CN" sz="2646" dirty="0">
                <a:solidFill>
                  <a:prstClr val="black"/>
                </a:solidFill>
              </a:rPr>
              <a:t>*T</a:t>
            </a:r>
            <a:r>
              <a:rPr lang="en-US" altLang="zh-CN" sz="2646" baseline="-25000" dirty="0">
                <a:solidFill>
                  <a:prstClr val="black"/>
                </a:solidFill>
              </a:rPr>
              <a:t>4</a:t>
            </a:r>
            <a:endParaRPr lang="en-US" altLang="zh-CN" sz="2646" dirty="0">
              <a:solidFill>
                <a:prstClr val="black"/>
              </a:solidFill>
            </a:endParaRPr>
          </a:p>
          <a:p>
            <a:pPr marL="377979" indent="-377979" defTabSz="431545" rtl="0" fontAlgn="auto" hangingPunct="1">
              <a:lnSpc>
                <a:spcPct val="100000"/>
              </a:lnSpc>
              <a:spcBef>
                <a:spcPct val="0"/>
              </a:spcBef>
              <a:spcAft>
                <a:spcPts val="0"/>
              </a:spcAft>
              <a:buClr>
                <a:srgbClr val="EEECE1"/>
              </a:buClr>
              <a:buNone/>
            </a:pPr>
            <a:r>
              <a:rPr lang="en-US" altLang="zh-CN" sz="2646" dirty="0">
                <a:solidFill>
                  <a:prstClr val="black"/>
                </a:solidFill>
              </a:rPr>
              <a:t>(9) 	T</a:t>
            </a:r>
            <a:r>
              <a:rPr lang="en-US" altLang="zh-CN" sz="2646" baseline="-25000" dirty="0">
                <a:solidFill>
                  <a:prstClr val="black"/>
                </a:solidFill>
              </a:rPr>
              <a:t>6</a:t>
            </a:r>
            <a:r>
              <a:rPr lang="en-US" altLang="zh-CN" sz="2646" dirty="0">
                <a:solidFill>
                  <a:prstClr val="black"/>
                </a:solidFill>
              </a:rPr>
              <a:t>:=R-r</a:t>
            </a:r>
          </a:p>
          <a:p>
            <a:pPr marL="377979" indent="-377979" defTabSz="431545" rtl="0" fontAlgn="auto" hangingPunct="1">
              <a:lnSpc>
                <a:spcPct val="100000"/>
              </a:lnSpc>
              <a:spcBef>
                <a:spcPct val="0"/>
              </a:spcBef>
              <a:spcAft>
                <a:spcPts val="0"/>
              </a:spcAft>
              <a:buClr>
                <a:srgbClr val="EEECE1"/>
              </a:buClr>
              <a:buNone/>
            </a:pPr>
            <a:r>
              <a:rPr lang="en-US" altLang="zh-CN" sz="2646" dirty="0">
                <a:solidFill>
                  <a:prstClr val="black"/>
                </a:solidFill>
              </a:rPr>
              <a:t>(10)	 B:=T</a:t>
            </a:r>
            <a:r>
              <a:rPr lang="en-US" altLang="zh-CN" sz="2646" baseline="-25000" dirty="0">
                <a:solidFill>
                  <a:prstClr val="black"/>
                </a:solidFill>
              </a:rPr>
              <a:t>5</a:t>
            </a:r>
            <a:r>
              <a:rPr lang="en-US" altLang="zh-CN" sz="2646" dirty="0">
                <a:solidFill>
                  <a:prstClr val="black"/>
                </a:solidFill>
              </a:rPr>
              <a:t>*T</a:t>
            </a:r>
            <a:r>
              <a:rPr lang="en-US" altLang="zh-CN" sz="2646" baseline="-25000" dirty="0">
                <a:solidFill>
                  <a:prstClr val="black"/>
                </a:solidFill>
              </a:rPr>
              <a:t>6</a:t>
            </a:r>
            <a:endParaRPr lang="zh-CN" altLang="en-US" sz="2646" dirty="0">
              <a:solidFill>
                <a:prstClr val="black"/>
              </a:solidFill>
              <a:latin typeface="宋体" panose="02010600030101010101" pitchFamily="2" charset="-122"/>
            </a:endParaRPr>
          </a:p>
        </p:txBody>
      </p:sp>
    </p:spTree>
    <p:extLst>
      <p:ext uri="{BB962C8B-B14F-4D97-AF65-F5344CB8AC3E}">
        <p14:creationId xmlns:p14="http://schemas.microsoft.com/office/powerpoint/2010/main" val="270589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8">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xit" presetSubtype="4" fill="hold" grpId="1" nodeType="clickEffect">
                                  <p:stCondLst>
                                    <p:cond delay="0"/>
                                  </p:stCondLst>
                                  <p:childTnLst>
                                    <p:animEffect transition="out" filter="wipe(down)">
                                      <p:cBhvr>
                                        <p:cTn id="50" dur="500"/>
                                        <p:tgtEl>
                                          <p:spTgt spid="89"/>
                                        </p:tgtEl>
                                      </p:cBhvr>
                                    </p:animEffect>
                                    <p:set>
                                      <p:cBhvr>
                                        <p:cTn id="51" dur="1" fill="hold">
                                          <p:stCondLst>
                                            <p:cond delay="499"/>
                                          </p:stCondLst>
                                        </p:cTn>
                                        <p:tgtEl>
                                          <p:spTgt spid="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build="p" animBg="1"/>
      <p:bldP spid="89" grpId="0" animBg="1"/>
      <p:bldP spid="89" grpId="1"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构造基本块的</a:t>
            </a:r>
            <a:r>
              <a:rPr lang="en-US" altLang="zh-CN" dirty="0"/>
              <a:t>DAG</a:t>
            </a:r>
            <a:r>
              <a:rPr lang="zh-CN" altLang="en-US" dirty="0"/>
              <a:t>示例</a:t>
            </a:r>
          </a:p>
        </p:txBody>
      </p:sp>
      <p:sp>
        <p:nvSpPr>
          <p:cNvPr id="3" name="内容占位符 2"/>
          <p:cNvSpPr>
            <a:spLocks noGrp="1"/>
          </p:cNvSpPr>
          <p:nvPr>
            <p:ph idx="1"/>
          </p:nvPr>
        </p:nvSpPr>
        <p:spPr/>
        <p:txBody>
          <a:bodyPr/>
          <a:lstStyle/>
          <a:p>
            <a:r>
              <a:rPr lang="zh-CN" altLang="en-US" dirty="0">
                <a:latin typeface="Times New Roman" panose="02020603050405020304" pitchFamily="18" charset="0"/>
              </a:rPr>
              <a:t>优化后的四元式</a:t>
            </a:r>
          </a:p>
          <a:p>
            <a:endParaRPr lang="zh-CN" altLang="en-US" dirty="0"/>
          </a:p>
        </p:txBody>
      </p:sp>
      <p:grpSp>
        <p:nvGrpSpPr>
          <p:cNvPr id="48" name="组合 47"/>
          <p:cNvGrpSpPr/>
          <p:nvPr/>
        </p:nvGrpSpPr>
        <p:grpSpPr>
          <a:xfrm>
            <a:off x="4084936" y="2869712"/>
            <a:ext cx="5693818" cy="4315314"/>
            <a:chOff x="3705300" y="2603350"/>
            <a:chExt cx="5165328" cy="3914775"/>
          </a:xfrm>
        </p:grpSpPr>
        <p:sp>
          <p:nvSpPr>
            <p:cNvPr id="49" name="Oval 3"/>
            <p:cNvSpPr>
              <a:spLocks noChangeArrowheads="1"/>
            </p:cNvSpPr>
            <p:nvPr/>
          </p:nvSpPr>
          <p:spPr bwMode="auto">
            <a:xfrm>
              <a:off x="3768265"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1</a:t>
              </a:r>
              <a:endParaRPr kumimoji="1" lang="en-US" altLang="zh-CN" sz="2646">
                <a:solidFill>
                  <a:prstClr val="black"/>
                </a:solidFill>
                <a:latin typeface="微软雅黑" panose="020B0503020204020204" pitchFamily="34" charset="-122"/>
              </a:endParaRPr>
            </a:p>
          </p:txBody>
        </p:sp>
        <p:sp>
          <p:nvSpPr>
            <p:cNvPr id="50" name="Rectangle 4"/>
            <p:cNvSpPr>
              <a:spLocks noChangeArrowheads="1"/>
            </p:cNvSpPr>
            <p:nvPr/>
          </p:nvSpPr>
          <p:spPr bwMode="auto">
            <a:xfrm>
              <a:off x="3705300"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en-US" sz="2646" dirty="0">
                  <a:solidFill>
                    <a:prstClr val="black"/>
                  </a:solidFill>
                  <a:latin typeface="微软雅黑" panose="020B0503020204020204" pitchFamily="34" charset="-122"/>
                </a:rPr>
                <a:t>3.14</a:t>
              </a:r>
            </a:p>
          </p:txBody>
        </p:sp>
        <p:sp>
          <p:nvSpPr>
            <p:cNvPr id="51" name="Rectangle 5"/>
            <p:cNvSpPr>
              <a:spLocks noChangeArrowheads="1"/>
            </p:cNvSpPr>
            <p:nvPr/>
          </p:nvSpPr>
          <p:spPr bwMode="auto">
            <a:xfrm>
              <a:off x="4194647"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T</a:t>
              </a:r>
              <a:r>
                <a:rPr kumimoji="1" lang="en-US" altLang="zh-CN" sz="2646" baseline="-25000" dirty="0">
                  <a:solidFill>
                    <a:prstClr val="black"/>
                  </a:solidFill>
                  <a:latin typeface="微软雅黑" panose="020B0503020204020204" pitchFamily="34" charset="-122"/>
                </a:rPr>
                <a:t>0</a:t>
              </a:r>
              <a:endParaRPr kumimoji="1" lang="en-US" altLang="zh-CN" sz="2646" dirty="0">
                <a:solidFill>
                  <a:prstClr val="black"/>
                </a:solidFill>
                <a:latin typeface="微软雅黑" panose="020B0503020204020204" pitchFamily="34" charset="-122"/>
              </a:endParaRPr>
            </a:p>
          </p:txBody>
        </p:sp>
        <p:sp>
          <p:nvSpPr>
            <p:cNvPr id="52" name="Oval 6"/>
            <p:cNvSpPr>
              <a:spLocks noChangeArrowheads="1"/>
            </p:cNvSpPr>
            <p:nvPr/>
          </p:nvSpPr>
          <p:spPr bwMode="auto">
            <a:xfrm>
              <a:off x="4760115"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2</a:t>
              </a:r>
              <a:endParaRPr kumimoji="1" lang="en-US" altLang="zh-CN" sz="2646">
                <a:solidFill>
                  <a:prstClr val="black"/>
                </a:solidFill>
                <a:latin typeface="微软雅黑" panose="020B0503020204020204" pitchFamily="34" charset="-122"/>
              </a:endParaRPr>
            </a:p>
          </p:txBody>
        </p:sp>
        <p:sp>
          <p:nvSpPr>
            <p:cNvPr id="53" name="Rectangle 7"/>
            <p:cNvSpPr>
              <a:spLocks noChangeArrowheads="1"/>
            </p:cNvSpPr>
            <p:nvPr/>
          </p:nvSpPr>
          <p:spPr bwMode="auto">
            <a:xfrm>
              <a:off x="4694868"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en-US" sz="2646" dirty="0">
                  <a:solidFill>
                    <a:prstClr val="black"/>
                  </a:solidFill>
                  <a:latin typeface="微软雅黑" panose="020B0503020204020204" pitchFamily="34" charset="-122"/>
                </a:rPr>
                <a:t>6.28</a:t>
              </a:r>
            </a:p>
          </p:txBody>
        </p:sp>
        <p:sp>
          <p:nvSpPr>
            <p:cNvPr id="54" name="Rectangle 8"/>
            <p:cNvSpPr>
              <a:spLocks noChangeArrowheads="1"/>
            </p:cNvSpPr>
            <p:nvPr/>
          </p:nvSpPr>
          <p:spPr bwMode="auto">
            <a:xfrm>
              <a:off x="5140718"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T</a:t>
              </a:r>
              <a:r>
                <a:rPr kumimoji="1" lang="en-US" altLang="zh-CN" sz="2646" baseline="-25000" dirty="0">
                  <a:solidFill>
                    <a:prstClr val="black"/>
                  </a:solidFill>
                  <a:latin typeface="微软雅黑" panose="020B0503020204020204" pitchFamily="34" charset="-122"/>
                </a:rPr>
                <a:t>1</a:t>
              </a:r>
              <a:endParaRPr kumimoji="1" lang="en-US" altLang="zh-CN" sz="2646" dirty="0">
                <a:solidFill>
                  <a:prstClr val="black"/>
                </a:solidFill>
                <a:latin typeface="微软雅黑" panose="020B0503020204020204" pitchFamily="34" charset="-122"/>
              </a:endParaRPr>
            </a:p>
          </p:txBody>
        </p:sp>
        <p:sp>
          <p:nvSpPr>
            <p:cNvPr id="55" name="Oval 9"/>
            <p:cNvSpPr>
              <a:spLocks noChangeArrowheads="1"/>
            </p:cNvSpPr>
            <p:nvPr/>
          </p:nvSpPr>
          <p:spPr bwMode="auto">
            <a:xfrm>
              <a:off x="6065040"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3</a:t>
              </a:r>
              <a:endParaRPr kumimoji="1" lang="en-US" altLang="zh-CN" sz="2646">
                <a:solidFill>
                  <a:prstClr val="black"/>
                </a:solidFill>
                <a:latin typeface="微软雅黑" panose="020B0503020204020204" pitchFamily="34" charset="-122"/>
              </a:endParaRPr>
            </a:p>
          </p:txBody>
        </p:sp>
        <p:sp>
          <p:nvSpPr>
            <p:cNvPr id="56" name="Oval 10"/>
            <p:cNvSpPr>
              <a:spLocks noChangeArrowheads="1"/>
            </p:cNvSpPr>
            <p:nvPr/>
          </p:nvSpPr>
          <p:spPr bwMode="auto">
            <a:xfrm>
              <a:off x="7435212"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n</a:t>
              </a:r>
              <a:r>
                <a:rPr kumimoji="1" lang="en-US" altLang="zh-CN" sz="2646" baseline="-25000" dirty="0">
                  <a:solidFill>
                    <a:prstClr val="black"/>
                  </a:solidFill>
                  <a:latin typeface="微软雅黑" panose="020B0503020204020204" pitchFamily="34" charset="-122"/>
                </a:rPr>
                <a:t>4</a:t>
              </a:r>
              <a:endParaRPr kumimoji="1" lang="en-US" altLang="zh-CN" sz="2646" dirty="0">
                <a:solidFill>
                  <a:prstClr val="black"/>
                </a:solidFill>
                <a:latin typeface="微软雅黑" panose="020B0503020204020204" pitchFamily="34" charset="-122"/>
              </a:endParaRPr>
            </a:p>
          </p:txBody>
        </p:sp>
        <p:sp>
          <p:nvSpPr>
            <p:cNvPr id="57" name="Rectangle 11"/>
            <p:cNvSpPr>
              <a:spLocks noChangeArrowheads="1"/>
            </p:cNvSpPr>
            <p:nvPr/>
          </p:nvSpPr>
          <p:spPr bwMode="auto">
            <a:xfrm>
              <a:off x="5934548"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R</a:t>
              </a:r>
            </a:p>
          </p:txBody>
        </p:sp>
        <p:sp>
          <p:nvSpPr>
            <p:cNvPr id="58" name="Rectangle 12"/>
            <p:cNvSpPr>
              <a:spLocks noChangeArrowheads="1"/>
            </p:cNvSpPr>
            <p:nvPr/>
          </p:nvSpPr>
          <p:spPr bwMode="auto">
            <a:xfrm>
              <a:off x="7369964"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r</a:t>
              </a:r>
            </a:p>
          </p:txBody>
        </p:sp>
        <p:sp>
          <p:nvSpPr>
            <p:cNvPr id="59" name="Oval 13"/>
            <p:cNvSpPr>
              <a:spLocks noChangeArrowheads="1"/>
            </p:cNvSpPr>
            <p:nvPr/>
          </p:nvSpPr>
          <p:spPr bwMode="auto">
            <a:xfrm>
              <a:off x="6521764" y="4560737"/>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5</a:t>
              </a:r>
              <a:endParaRPr kumimoji="1" lang="en-US" altLang="zh-CN" sz="2646">
                <a:solidFill>
                  <a:prstClr val="black"/>
                </a:solidFill>
                <a:latin typeface="微软雅黑" panose="020B0503020204020204" pitchFamily="34" charset="-122"/>
              </a:endParaRPr>
            </a:p>
          </p:txBody>
        </p:sp>
        <p:grpSp>
          <p:nvGrpSpPr>
            <p:cNvPr id="60" name="Group 47"/>
            <p:cNvGrpSpPr>
              <a:grpSpLocks/>
            </p:cNvGrpSpPr>
            <p:nvPr/>
          </p:nvGrpSpPr>
          <p:grpSpPr bwMode="auto">
            <a:xfrm>
              <a:off x="6391272" y="5017462"/>
              <a:ext cx="1109186" cy="717708"/>
              <a:chOff x="3936" y="2544"/>
              <a:chExt cx="816" cy="528"/>
            </a:xfrm>
          </p:grpSpPr>
          <p:sp>
            <p:nvSpPr>
              <p:cNvPr id="87" name="Line 14"/>
              <p:cNvSpPr>
                <a:spLocks noChangeShapeType="1"/>
              </p:cNvSpPr>
              <p:nvPr/>
            </p:nvSpPr>
            <p:spPr bwMode="auto">
              <a:xfrm flipH="1">
                <a:off x="3936" y="2544"/>
                <a:ext cx="192"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88" name="Line 15"/>
              <p:cNvSpPr>
                <a:spLocks noChangeShapeType="1"/>
              </p:cNvSpPr>
              <p:nvPr/>
            </p:nvSpPr>
            <p:spPr bwMode="auto">
              <a:xfrm>
                <a:off x="4272" y="2544"/>
                <a:ext cx="48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61" name="Rectangle 16"/>
            <p:cNvSpPr>
              <a:spLocks noChangeArrowheads="1"/>
            </p:cNvSpPr>
            <p:nvPr/>
          </p:nvSpPr>
          <p:spPr bwMode="auto">
            <a:xfrm>
              <a:off x="6587011" y="5017461"/>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62" name="Rectangle 17"/>
            <p:cNvSpPr>
              <a:spLocks noChangeArrowheads="1"/>
            </p:cNvSpPr>
            <p:nvPr/>
          </p:nvSpPr>
          <p:spPr bwMode="auto">
            <a:xfrm>
              <a:off x="6913241" y="462598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2</a:t>
              </a:r>
              <a:endParaRPr kumimoji="1" lang="en-US" altLang="zh-CN" sz="2646">
                <a:solidFill>
                  <a:prstClr val="black"/>
                </a:solidFill>
                <a:latin typeface="微软雅黑" panose="020B0503020204020204" pitchFamily="34" charset="-122"/>
              </a:endParaRPr>
            </a:p>
          </p:txBody>
        </p:sp>
        <p:sp>
          <p:nvSpPr>
            <p:cNvPr id="63" name="Oval 18"/>
            <p:cNvSpPr>
              <a:spLocks noChangeArrowheads="1"/>
            </p:cNvSpPr>
            <p:nvPr/>
          </p:nvSpPr>
          <p:spPr bwMode="auto">
            <a:xfrm>
              <a:off x="5934547" y="3777782"/>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6</a:t>
              </a:r>
              <a:endParaRPr kumimoji="1" lang="en-US" altLang="zh-CN" sz="2646">
                <a:solidFill>
                  <a:prstClr val="black"/>
                </a:solidFill>
                <a:latin typeface="微软雅黑" panose="020B0503020204020204" pitchFamily="34" charset="-122"/>
              </a:endParaRPr>
            </a:p>
          </p:txBody>
        </p:sp>
        <p:grpSp>
          <p:nvGrpSpPr>
            <p:cNvPr id="64" name="Group 48"/>
            <p:cNvGrpSpPr>
              <a:grpSpLocks/>
            </p:cNvGrpSpPr>
            <p:nvPr/>
          </p:nvGrpSpPr>
          <p:grpSpPr bwMode="auto">
            <a:xfrm>
              <a:off x="5086347" y="4169260"/>
              <a:ext cx="1631155" cy="1555035"/>
              <a:chOff x="2976" y="1920"/>
              <a:chExt cx="1200" cy="1144"/>
            </a:xfrm>
          </p:grpSpPr>
          <p:sp>
            <p:nvSpPr>
              <p:cNvPr id="85" name="Line 19"/>
              <p:cNvSpPr>
                <a:spLocks noChangeShapeType="1"/>
              </p:cNvSpPr>
              <p:nvPr/>
            </p:nvSpPr>
            <p:spPr bwMode="auto">
              <a:xfrm flipH="1">
                <a:off x="2976" y="1976"/>
                <a:ext cx="720" cy="10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86" name="Line 20"/>
              <p:cNvSpPr>
                <a:spLocks noChangeShapeType="1"/>
              </p:cNvSpPr>
              <p:nvPr/>
            </p:nvSpPr>
            <p:spPr bwMode="auto">
              <a:xfrm>
                <a:off x="3888" y="1920"/>
                <a:ext cx="288" cy="2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65" name="Rectangle 21"/>
            <p:cNvSpPr>
              <a:spLocks noChangeArrowheads="1"/>
            </p:cNvSpPr>
            <p:nvPr/>
          </p:nvSpPr>
          <p:spPr bwMode="auto">
            <a:xfrm>
              <a:off x="6065040" y="4299753"/>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66" name="Rectangle 22"/>
            <p:cNvSpPr>
              <a:spLocks noChangeArrowheads="1"/>
            </p:cNvSpPr>
            <p:nvPr/>
          </p:nvSpPr>
          <p:spPr bwMode="auto">
            <a:xfrm>
              <a:off x="6326025"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A</a:t>
              </a:r>
            </a:p>
          </p:txBody>
        </p:sp>
        <p:sp>
          <p:nvSpPr>
            <p:cNvPr id="67" name="Rectangle 23"/>
            <p:cNvSpPr>
              <a:spLocks noChangeArrowheads="1"/>
            </p:cNvSpPr>
            <p:nvPr/>
          </p:nvSpPr>
          <p:spPr bwMode="auto">
            <a:xfrm>
              <a:off x="6652256"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 </a:t>
              </a:r>
              <a:r>
                <a:rPr kumimoji="1" lang="en-US" altLang="zh-CN" sz="2646">
                  <a:solidFill>
                    <a:prstClr val="black"/>
                  </a:solidFill>
                  <a:latin typeface="微软雅黑" panose="020B0503020204020204" pitchFamily="34" charset="-122"/>
                </a:rPr>
                <a:t>B</a:t>
              </a:r>
            </a:p>
          </p:txBody>
        </p:sp>
        <p:sp>
          <p:nvSpPr>
            <p:cNvPr id="68" name="Rectangle 24"/>
            <p:cNvSpPr>
              <a:spLocks noChangeArrowheads="1"/>
            </p:cNvSpPr>
            <p:nvPr/>
          </p:nvSpPr>
          <p:spPr bwMode="auto">
            <a:xfrm>
              <a:off x="5466949"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dirty="0">
                  <a:solidFill>
                    <a:prstClr val="black"/>
                  </a:solidFill>
                  <a:latin typeface="微软雅黑" panose="020B0503020204020204" pitchFamily="34" charset="-122"/>
                </a:rPr>
                <a:t>,T</a:t>
              </a:r>
              <a:r>
                <a:rPr kumimoji="1" lang="en-US" altLang="zh-CN" sz="2646" baseline="-25000" dirty="0">
                  <a:solidFill>
                    <a:prstClr val="black"/>
                  </a:solidFill>
                  <a:latin typeface="微软雅黑" panose="020B0503020204020204" pitchFamily="34" charset="-122"/>
                </a:rPr>
                <a:t>3</a:t>
              </a:r>
              <a:endParaRPr kumimoji="1" lang="en-US" altLang="zh-CN" sz="2646" dirty="0">
                <a:solidFill>
                  <a:prstClr val="black"/>
                </a:solidFill>
                <a:latin typeface="微软雅黑" panose="020B0503020204020204" pitchFamily="34" charset="-122"/>
              </a:endParaRPr>
            </a:p>
          </p:txBody>
        </p:sp>
        <p:sp>
          <p:nvSpPr>
            <p:cNvPr id="69" name="Rectangle 25"/>
            <p:cNvSpPr>
              <a:spLocks noChangeArrowheads="1"/>
            </p:cNvSpPr>
            <p:nvPr/>
          </p:nvSpPr>
          <p:spPr bwMode="auto">
            <a:xfrm>
              <a:off x="7304718" y="462598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 </a:t>
              </a: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4</a:t>
              </a:r>
              <a:endParaRPr kumimoji="1" lang="en-US" altLang="zh-CN" sz="2646">
                <a:solidFill>
                  <a:prstClr val="black"/>
                </a:solidFill>
                <a:latin typeface="微软雅黑" panose="020B0503020204020204" pitchFamily="34" charset="-122"/>
              </a:endParaRPr>
            </a:p>
          </p:txBody>
        </p:sp>
        <p:sp>
          <p:nvSpPr>
            <p:cNvPr id="70" name="Rectangle 26"/>
            <p:cNvSpPr>
              <a:spLocks noChangeArrowheads="1"/>
            </p:cNvSpPr>
            <p:nvPr/>
          </p:nvSpPr>
          <p:spPr bwMode="auto">
            <a:xfrm>
              <a:off x="7043733"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 </a:t>
              </a: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5</a:t>
              </a:r>
              <a:endParaRPr kumimoji="1" lang="en-US" altLang="zh-CN" sz="2646">
                <a:solidFill>
                  <a:prstClr val="black"/>
                </a:solidFill>
                <a:latin typeface="微软雅黑" panose="020B0503020204020204" pitchFamily="34" charset="-122"/>
              </a:endParaRPr>
            </a:p>
          </p:txBody>
        </p:sp>
        <p:sp>
          <p:nvSpPr>
            <p:cNvPr id="71" name="Oval 27"/>
            <p:cNvSpPr>
              <a:spLocks noChangeArrowheads="1"/>
            </p:cNvSpPr>
            <p:nvPr/>
          </p:nvSpPr>
          <p:spPr bwMode="auto">
            <a:xfrm>
              <a:off x="7957181" y="4625983"/>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7</a:t>
              </a:r>
              <a:endParaRPr kumimoji="1" lang="en-US" altLang="zh-CN" sz="2646">
                <a:solidFill>
                  <a:prstClr val="black"/>
                </a:solidFill>
                <a:latin typeface="微软雅黑" panose="020B0503020204020204" pitchFamily="34" charset="-122"/>
              </a:endParaRPr>
            </a:p>
          </p:txBody>
        </p:sp>
        <p:grpSp>
          <p:nvGrpSpPr>
            <p:cNvPr id="72" name="Group 49"/>
            <p:cNvGrpSpPr>
              <a:grpSpLocks/>
            </p:cNvGrpSpPr>
            <p:nvPr/>
          </p:nvGrpSpPr>
          <p:grpSpPr bwMode="auto">
            <a:xfrm>
              <a:off x="6391271" y="5017461"/>
              <a:ext cx="1826895" cy="782955"/>
              <a:chOff x="3936" y="2544"/>
              <a:chExt cx="1344" cy="576"/>
            </a:xfrm>
          </p:grpSpPr>
          <p:sp>
            <p:nvSpPr>
              <p:cNvPr id="83" name="Line 28"/>
              <p:cNvSpPr>
                <a:spLocks noChangeShapeType="1"/>
              </p:cNvSpPr>
              <p:nvPr/>
            </p:nvSpPr>
            <p:spPr bwMode="auto">
              <a:xfrm flipV="1">
                <a:off x="3936" y="2544"/>
                <a:ext cx="120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84" name="Line 29"/>
              <p:cNvSpPr>
                <a:spLocks noChangeShapeType="1"/>
              </p:cNvSpPr>
              <p:nvPr/>
            </p:nvSpPr>
            <p:spPr bwMode="auto">
              <a:xfrm flipV="1">
                <a:off x="4992" y="2592"/>
                <a:ext cx="288"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73" name="Rectangle 30"/>
            <p:cNvSpPr>
              <a:spLocks noChangeArrowheads="1"/>
            </p:cNvSpPr>
            <p:nvPr/>
          </p:nvSpPr>
          <p:spPr bwMode="auto">
            <a:xfrm>
              <a:off x="8413904" y="4756477"/>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6</a:t>
              </a:r>
              <a:endParaRPr kumimoji="1" lang="en-US" altLang="zh-CN" sz="2646">
                <a:solidFill>
                  <a:prstClr val="black"/>
                </a:solidFill>
                <a:latin typeface="微软雅黑" panose="020B0503020204020204" pitchFamily="34" charset="-122"/>
              </a:endParaRPr>
            </a:p>
          </p:txBody>
        </p:sp>
        <p:sp>
          <p:nvSpPr>
            <p:cNvPr id="74" name="Rectangle 31"/>
            <p:cNvSpPr>
              <a:spLocks noChangeArrowheads="1"/>
            </p:cNvSpPr>
            <p:nvPr/>
          </p:nvSpPr>
          <p:spPr bwMode="auto">
            <a:xfrm>
              <a:off x="7826689" y="5017461"/>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75" name="Oval 32"/>
            <p:cNvSpPr>
              <a:spLocks noChangeArrowheads="1"/>
            </p:cNvSpPr>
            <p:nvPr/>
          </p:nvSpPr>
          <p:spPr bwMode="auto">
            <a:xfrm>
              <a:off x="7108980" y="260335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n</a:t>
              </a:r>
              <a:r>
                <a:rPr kumimoji="1" lang="en-US" altLang="zh-CN" sz="2646" baseline="-25000">
                  <a:solidFill>
                    <a:prstClr val="black"/>
                  </a:solidFill>
                  <a:latin typeface="微软雅黑" panose="020B0503020204020204" pitchFamily="34" charset="-122"/>
                </a:rPr>
                <a:t>8</a:t>
              </a:r>
              <a:endParaRPr kumimoji="1" lang="en-US" altLang="zh-CN" sz="2646">
                <a:solidFill>
                  <a:prstClr val="black"/>
                </a:solidFill>
                <a:latin typeface="微软雅黑" panose="020B0503020204020204" pitchFamily="34" charset="-122"/>
              </a:endParaRPr>
            </a:p>
          </p:txBody>
        </p:sp>
        <p:grpSp>
          <p:nvGrpSpPr>
            <p:cNvPr id="76" name="Group 50"/>
            <p:cNvGrpSpPr>
              <a:grpSpLocks/>
            </p:cNvGrpSpPr>
            <p:nvPr/>
          </p:nvGrpSpPr>
          <p:grpSpPr bwMode="auto">
            <a:xfrm>
              <a:off x="6326024" y="3049199"/>
              <a:ext cx="1816021" cy="1565910"/>
              <a:chOff x="3888" y="1096"/>
              <a:chExt cx="1336" cy="1152"/>
            </a:xfrm>
          </p:grpSpPr>
          <p:sp>
            <p:nvSpPr>
              <p:cNvPr id="81" name="Line 33"/>
              <p:cNvSpPr>
                <a:spLocks noChangeShapeType="1"/>
              </p:cNvSpPr>
              <p:nvPr/>
            </p:nvSpPr>
            <p:spPr bwMode="auto">
              <a:xfrm flipH="1">
                <a:off x="3888" y="1104"/>
                <a:ext cx="672" cy="57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82" name="Line 34"/>
              <p:cNvSpPr>
                <a:spLocks noChangeShapeType="1"/>
              </p:cNvSpPr>
              <p:nvPr/>
            </p:nvSpPr>
            <p:spPr bwMode="auto">
              <a:xfrm>
                <a:off x="4720" y="1096"/>
                <a:ext cx="504" cy="115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grpSp>
        <p:sp>
          <p:nvSpPr>
            <p:cNvPr id="77" name="Rectangle 35"/>
            <p:cNvSpPr>
              <a:spLocks noChangeArrowheads="1"/>
            </p:cNvSpPr>
            <p:nvPr/>
          </p:nvSpPr>
          <p:spPr bwMode="auto">
            <a:xfrm>
              <a:off x="7174226" y="3125320"/>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zh-CN" altLang="zh-CN" sz="2646">
                  <a:solidFill>
                    <a:prstClr val="black"/>
                  </a:solidFill>
                  <a:latin typeface="微软雅黑" panose="020B0503020204020204" pitchFamily="34" charset="-122"/>
                </a:rPr>
                <a:t>*</a:t>
              </a:r>
            </a:p>
          </p:txBody>
        </p:sp>
        <p:sp>
          <p:nvSpPr>
            <p:cNvPr id="78" name="Rectangle 36"/>
            <p:cNvSpPr>
              <a:spLocks noChangeArrowheads="1"/>
            </p:cNvSpPr>
            <p:nvPr/>
          </p:nvSpPr>
          <p:spPr bwMode="auto">
            <a:xfrm>
              <a:off x="7565703" y="2668596"/>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B</a:t>
              </a:r>
            </a:p>
          </p:txBody>
        </p:sp>
        <p:sp>
          <p:nvSpPr>
            <p:cNvPr id="79" name="Line 37"/>
            <p:cNvSpPr>
              <a:spLocks noChangeShapeType="1"/>
            </p:cNvSpPr>
            <p:nvPr/>
          </p:nvSpPr>
          <p:spPr bwMode="auto">
            <a:xfrm flipH="1">
              <a:off x="6782749" y="3777782"/>
              <a:ext cx="326231" cy="4567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431545" rtl="0" fontAlgn="auto" hangingPunct="1">
                <a:lnSpc>
                  <a:spcPct val="100000"/>
                </a:lnSpc>
                <a:spcBef>
                  <a:spcPts val="0"/>
                </a:spcBef>
                <a:spcAft>
                  <a:spcPts val="0"/>
                </a:spcAft>
                <a:buSzTx/>
              </a:pPr>
              <a:endParaRPr lang="zh-CN" altLang="en-US" sz="2646">
                <a:solidFill>
                  <a:prstClr val="black"/>
                </a:solidFill>
                <a:latin typeface="微软雅黑" panose="020B0503020204020204" pitchFamily="34" charset="-122"/>
                <a:ea typeface="微软雅黑" panose="020B0503020204020204" pitchFamily="34" charset="-122"/>
              </a:endParaRPr>
            </a:p>
          </p:txBody>
        </p:sp>
        <p:sp>
          <p:nvSpPr>
            <p:cNvPr id="80" name="Rectangle 51"/>
            <p:cNvSpPr>
              <a:spLocks noChangeArrowheads="1"/>
            </p:cNvSpPr>
            <p:nvPr/>
          </p:nvSpPr>
          <p:spPr bwMode="auto">
            <a:xfrm>
              <a:off x="8413904" y="4756477"/>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431545" rtl="0" fontAlgn="auto" hangingPunct="1">
                <a:lnSpc>
                  <a:spcPct val="100000"/>
                </a:lnSpc>
                <a:spcBef>
                  <a:spcPct val="0"/>
                </a:spcBef>
                <a:spcAft>
                  <a:spcPts val="0"/>
                </a:spcAft>
                <a:buClrTx/>
                <a:buSzTx/>
                <a:buNone/>
              </a:pPr>
              <a:r>
                <a:rPr kumimoji="1" lang="en-US" altLang="zh-CN" sz="2646">
                  <a:solidFill>
                    <a:prstClr val="black"/>
                  </a:solidFill>
                  <a:latin typeface="微软雅黑" panose="020B0503020204020204" pitchFamily="34" charset="-122"/>
                </a:rPr>
                <a:t>T</a:t>
              </a:r>
              <a:r>
                <a:rPr kumimoji="1" lang="en-US" altLang="zh-CN" sz="2646" baseline="-25000">
                  <a:solidFill>
                    <a:prstClr val="black"/>
                  </a:solidFill>
                  <a:latin typeface="微软雅黑" panose="020B0503020204020204" pitchFamily="34" charset="-122"/>
                </a:rPr>
                <a:t>6</a:t>
              </a:r>
              <a:endParaRPr kumimoji="1" lang="en-US" altLang="zh-CN" sz="2646">
                <a:solidFill>
                  <a:prstClr val="black"/>
                </a:solidFill>
                <a:latin typeface="微软雅黑" panose="020B0503020204020204" pitchFamily="34" charset="-122"/>
              </a:endParaRPr>
            </a:p>
          </p:txBody>
        </p:sp>
      </p:grpSp>
      <p:sp>
        <p:nvSpPr>
          <p:cNvPr id="89" name="Rectangle 51"/>
          <p:cNvSpPr>
            <a:spLocks noChangeArrowheads="1"/>
          </p:cNvSpPr>
          <p:nvPr/>
        </p:nvSpPr>
        <p:spPr bwMode="auto">
          <a:xfrm>
            <a:off x="565520" y="2803339"/>
            <a:ext cx="2737853" cy="3872679"/>
          </a:xfrm>
          <a:prstGeom prst="rect">
            <a:avLst/>
          </a:prstGeom>
          <a:ln/>
        </p:spPr>
        <p:style>
          <a:lnRef idx="3">
            <a:schemeClr val="lt1"/>
          </a:lnRef>
          <a:fillRef idx="1">
            <a:schemeClr val="accent1"/>
          </a:fillRef>
          <a:effectRef idx="1">
            <a:schemeClr val="accent1"/>
          </a:effectRef>
          <a:fontRef idx="minor">
            <a:schemeClr val="lt1"/>
          </a:fontRef>
        </p:style>
        <p:txBody>
          <a:bodyPr lIns="86905" tIns="43453" rIns="86905" bIns="43453"/>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431545" rtl="0" fontAlgn="auto" hangingPunct="1">
              <a:lnSpc>
                <a:spcPct val="100000"/>
              </a:lnSpc>
              <a:spcBef>
                <a:spcPct val="0"/>
              </a:spcBef>
              <a:spcAft>
                <a:spcPts val="0"/>
              </a:spcAft>
              <a:buClrTx/>
              <a:buSzTx/>
              <a:buNone/>
            </a:pPr>
            <a:r>
              <a:rPr lang="zh-CN" altLang="zh-CN" sz="2646" dirty="0">
                <a:solidFill>
                  <a:prstClr val="white"/>
                </a:solidFill>
                <a:latin typeface="微软雅黑" panose="020B0503020204020204" pitchFamily="34" charset="-122"/>
              </a:rPr>
              <a:t>(1) 	</a:t>
            </a:r>
            <a:r>
              <a:rPr lang="en-US" altLang="zh-CN" sz="2646" dirty="0">
                <a:solidFill>
                  <a:prstClr val="white"/>
                </a:solidFill>
                <a:latin typeface="微软雅黑" panose="020B0503020204020204" pitchFamily="34" charset="-122"/>
              </a:rPr>
              <a:t>T</a:t>
            </a:r>
            <a:r>
              <a:rPr lang="en-US" altLang="zh-CN" sz="2646" baseline="-25000" dirty="0">
                <a:solidFill>
                  <a:prstClr val="white"/>
                </a:solidFill>
                <a:latin typeface="微软雅黑" panose="020B0503020204020204" pitchFamily="34" charset="-122"/>
              </a:rPr>
              <a:t>0</a:t>
            </a:r>
            <a:r>
              <a:rPr lang="en-US" altLang="zh-CN" sz="2646" dirty="0">
                <a:solidFill>
                  <a:prstClr val="white"/>
                </a:solidFill>
                <a:latin typeface="微软雅黑" panose="020B0503020204020204" pitchFamily="34" charset="-122"/>
              </a:rPr>
              <a:t>:=3.14</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(2) 	T</a:t>
            </a:r>
            <a:r>
              <a:rPr lang="en-US" altLang="zh-CN" sz="2646" baseline="-25000" dirty="0">
                <a:solidFill>
                  <a:prstClr val="white"/>
                </a:solidFill>
                <a:latin typeface="微软雅黑" panose="020B0503020204020204" pitchFamily="34" charset="-122"/>
              </a:rPr>
              <a:t>1</a:t>
            </a:r>
            <a:r>
              <a:rPr lang="en-US" altLang="zh-CN" sz="2646" dirty="0">
                <a:solidFill>
                  <a:prstClr val="white"/>
                </a:solidFill>
                <a:latin typeface="微软雅黑" panose="020B0503020204020204" pitchFamily="34" charset="-122"/>
              </a:rPr>
              <a:t>:=6.28</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(3) 	T</a:t>
            </a:r>
            <a:r>
              <a:rPr lang="en-US" altLang="zh-CN" sz="2646" baseline="-25000" dirty="0">
                <a:solidFill>
                  <a:prstClr val="white"/>
                </a:solidFill>
                <a:latin typeface="微软雅黑" panose="020B0503020204020204" pitchFamily="34" charset="-122"/>
              </a:rPr>
              <a:t>3</a:t>
            </a:r>
            <a:r>
              <a:rPr lang="en-US" altLang="zh-CN" sz="2646" dirty="0">
                <a:solidFill>
                  <a:prstClr val="white"/>
                </a:solidFill>
                <a:latin typeface="微软雅黑" panose="020B0503020204020204" pitchFamily="34" charset="-122"/>
              </a:rPr>
              <a:t>:=6.28</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(4) 	T</a:t>
            </a:r>
            <a:r>
              <a:rPr lang="en-US" altLang="zh-CN" sz="2646" baseline="-25000" dirty="0">
                <a:solidFill>
                  <a:prstClr val="white"/>
                </a:solidFill>
                <a:latin typeface="微软雅黑" panose="020B0503020204020204" pitchFamily="34" charset="-122"/>
              </a:rPr>
              <a:t>2</a:t>
            </a:r>
            <a:r>
              <a:rPr lang="en-US" altLang="zh-CN" sz="2646" dirty="0">
                <a:solidFill>
                  <a:prstClr val="white"/>
                </a:solidFill>
                <a:latin typeface="微软雅黑" panose="020B0503020204020204" pitchFamily="34" charset="-122"/>
              </a:rPr>
              <a:t>:=</a:t>
            </a:r>
            <a:r>
              <a:rPr lang="en-US" altLang="zh-CN" sz="2646" dirty="0" err="1">
                <a:solidFill>
                  <a:prstClr val="white"/>
                </a:solidFill>
                <a:latin typeface="微软雅黑" panose="020B0503020204020204" pitchFamily="34" charset="-122"/>
              </a:rPr>
              <a:t>R+r</a:t>
            </a:r>
            <a:endParaRPr lang="en-US" altLang="zh-CN" sz="2646" dirty="0">
              <a:solidFill>
                <a:prstClr val="white"/>
              </a:solidFill>
              <a:latin typeface="微软雅黑" panose="020B0503020204020204" pitchFamily="34" charset="-122"/>
            </a:endParaRP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(5) 	T</a:t>
            </a:r>
            <a:r>
              <a:rPr lang="en-US" altLang="zh-CN" sz="2646" baseline="-25000" dirty="0">
                <a:solidFill>
                  <a:prstClr val="white"/>
                </a:solidFill>
                <a:latin typeface="微软雅黑" panose="020B0503020204020204" pitchFamily="34" charset="-122"/>
              </a:rPr>
              <a:t>4</a:t>
            </a:r>
            <a:r>
              <a:rPr lang="en-US" altLang="zh-CN" sz="2646" dirty="0">
                <a:solidFill>
                  <a:prstClr val="white"/>
                </a:solidFill>
                <a:latin typeface="微软雅黑" panose="020B0503020204020204" pitchFamily="34" charset="-122"/>
              </a:rPr>
              <a:t>:=T</a:t>
            </a:r>
            <a:r>
              <a:rPr lang="en-US" altLang="zh-CN" sz="2646" baseline="-25000" dirty="0">
                <a:solidFill>
                  <a:prstClr val="white"/>
                </a:solidFill>
                <a:latin typeface="微软雅黑" panose="020B0503020204020204" pitchFamily="34" charset="-122"/>
              </a:rPr>
              <a:t>2</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(6)    A:=6.28*T</a:t>
            </a:r>
            <a:r>
              <a:rPr lang="en-US" altLang="zh-CN" sz="2646" baseline="-25000" dirty="0">
                <a:solidFill>
                  <a:prstClr val="white"/>
                </a:solidFill>
                <a:latin typeface="微软雅黑" panose="020B0503020204020204" pitchFamily="34" charset="-122"/>
              </a:rPr>
              <a:t>2</a:t>
            </a:r>
            <a:endParaRPr lang="en-US" altLang="zh-CN" sz="2646" dirty="0">
              <a:solidFill>
                <a:prstClr val="white"/>
              </a:solidFill>
              <a:latin typeface="微软雅黑" panose="020B0503020204020204" pitchFamily="34" charset="-122"/>
            </a:endParaRP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(7) 	T</a:t>
            </a:r>
            <a:r>
              <a:rPr lang="en-US" altLang="zh-CN" sz="2646" baseline="-25000" dirty="0">
                <a:solidFill>
                  <a:prstClr val="white"/>
                </a:solidFill>
                <a:latin typeface="微软雅黑" panose="020B0503020204020204" pitchFamily="34" charset="-122"/>
              </a:rPr>
              <a:t>5</a:t>
            </a:r>
            <a:r>
              <a:rPr lang="en-US" altLang="zh-CN" sz="2646" dirty="0">
                <a:solidFill>
                  <a:prstClr val="white"/>
                </a:solidFill>
                <a:latin typeface="微软雅黑" panose="020B0503020204020204" pitchFamily="34" charset="-122"/>
              </a:rPr>
              <a:t>:=A</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(8) 	T</a:t>
            </a:r>
            <a:r>
              <a:rPr lang="en-US" altLang="zh-CN" sz="2646" baseline="-25000" dirty="0">
                <a:solidFill>
                  <a:prstClr val="white"/>
                </a:solidFill>
                <a:latin typeface="微软雅黑" panose="020B0503020204020204" pitchFamily="34" charset="-122"/>
              </a:rPr>
              <a:t>6</a:t>
            </a:r>
            <a:r>
              <a:rPr lang="en-US" altLang="zh-CN" sz="2646" dirty="0">
                <a:solidFill>
                  <a:prstClr val="white"/>
                </a:solidFill>
                <a:latin typeface="微软雅黑" panose="020B0503020204020204" pitchFamily="34" charset="-122"/>
              </a:rPr>
              <a:t>:=R-r</a:t>
            </a:r>
          </a:p>
          <a:p>
            <a:pPr defTabSz="431545" rtl="0" fontAlgn="auto" hangingPunct="1">
              <a:lnSpc>
                <a:spcPct val="100000"/>
              </a:lnSpc>
              <a:spcBef>
                <a:spcPct val="0"/>
              </a:spcBef>
              <a:spcAft>
                <a:spcPts val="0"/>
              </a:spcAft>
              <a:buClrTx/>
              <a:buSzTx/>
              <a:buNone/>
            </a:pPr>
            <a:r>
              <a:rPr lang="en-US" altLang="zh-CN" sz="2646" dirty="0">
                <a:solidFill>
                  <a:prstClr val="white"/>
                </a:solidFill>
                <a:latin typeface="微软雅黑" panose="020B0503020204020204" pitchFamily="34" charset="-122"/>
              </a:rPr>
              <a:t>(9)		B:=A*T</a:t>
            </a:r>
            <a:r>
              <a:rPr lang="en-US" altLang="zh-CN" sz="2646" baseline="-25000" dirty="0">
                <a:solidFill>
                  <a:prstClr val="white"/>
                </a:solidFill>
                <a:latin typeface="微软雅黑" panose="020B0503020204020204" pitchFamily="34" charset="-122"/>
              </a:rPr>
              <a:t>6</a:t>
            </a:r>
            <a:endParaRPr lang="zh-CN" altLang="en-US" sz="2646" baseline="-25000" dirty="0">
              <a:solidFill>
                <a:prstClr val="white"/>
              </a:solidFill>
              <a:latin typeface="微软雅黑" panose="020B0503020204020204" pitchFamily="34" charset="-122"/>
            </a:endParaRPr>
          </a:p>
        </p:txBody>
      </p:sp>
      <p:sp>
        <p:nvSpPr>
          <p:cNvPr id="90" name="Rectangle 2"/>
          <p:cNvSpPr>
            <a:spLocks noChangeArrowheads="1"/>
          </p:cNvSpPr>
          <p:nvPr/>
        </p:nvSpPr>
        <p:spPr bwMode="auto">
          <a:xfrm>
            <a:off x="3455750" y="3797878"/>
            <a:ext cx="2571078" cy="1732943"/>
          </a:xfrm>
          <a:prstGeom prst="rect">
            <a:avLst/>
          </a:prstGeom>
          <a:ln/>
        </p:spPr>
        <p:style>
          <a:lnRef idx="2">
            <a:schemeClr val="accent1"/>
          </a:lnRef>
          <a:fillRef idx="1">
            <a:schemeClr val="lt1"/>
          </a:fillRef>
          <a:effectRef idx="0">
            <a:schemeClr val="accent1"/>
          </a:effectRef>
          <a:fontRef idx="minor">
            <a:schemeClr val="dk1"/>
          </a:fontRef>
        </p:style>
        <p:txBody>
          <a:bodyPr lIns="101496" tIns="50748" rIns="101496" bIns="50748"/>
          <a:lstStyle>
            <a:lvl1pPr marL="457200" indent="-4572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914400" indent="-45720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503972" indent="-503972" defTabSz="503972" rtl="0" fontAlgn="auto" hangingPunct="1">
              <a:lnSpc>
                <a:spcPct val="100000"/>
              </a:lnSpc>
              <a:spcBef>
                <a:spcPct val="0"/>
              </a:spcBef>
              <a:spcAft>
                <a:spcPts val="0"/>
              </a:spcAft>
              <a:buClrTx/>
              <a:buSzTx/>
              <a:buNone/>
            </a:pPr>
            <a:r>
              <a:rPr lang="en-US" altLang="zh-CN" sz="2646" dirty="0">
                <a:solidFill>
                  <a:prstClr val="black"/>
                </a:solidFill>
                <a:latin typeface="微软雅黑" panose="020B0503020204020204" pitchFamily="34" charset="-122"/>
              </a:rPr>
              <a:t>(1) T</a:t>
            </a:r>
            <a:r>
              <a:rPr lang="en-US" altLang="zh-CN" sz="2646" baseline="-25000" dirty="0">
                <a:solidFill>
                  <a:prstClr val="black"/>
                </a:solidFill>
                <a:latin typeface="微软雅黑" panose="020B0503020204020204" pitchFamily="34" charset="-122"/>
              </a:rPr>
              <a:t>2</a:t>
            </a:r>
            <a:r>
              <a:rPr lang="en-US" altLang="zh-CN" sz="2646" dirty="0">
                <a:solidFill>
                  <a:prstClr val="black"/>
                </a:solidFill>
                <a:latin typeface="微软雅黑" panose="020B0503020204020204" pitchFamily="34" charset="-122"/>
              </a:rPr>
              <a:t>:=</a:t>
            </a:r>
            <a:r>
              <a:rPr lang="en-US" altLang="zh-CN" sz="2646" dirty="0" err="1">
                <a:solidFill>
                  <a:prstClr val="black"/>
                </a:solidFill>
                <a:latin typeface="微软雅黑" panose="020B0503020204020204" pitchFamily="34" charset="-122"/>
              </a:rPr>
              <a:t>R+r</a:t>
            </a:r>
            <a:endParaRPr lang="en-US" altLang="zh-CN" sz="2646" dirty="0">
              <a:solidFill>
                <a:prstClr val="black"/>
              </a:solidFill>
              <a:latin typeface="微软雅黑" panose="020B0503020204020204" pitchFamily="34" charset="-122"/>
            </a:endParaRPr>
          </a:p>
          <a:p>
            <a:pPr marL="503972" indent="-503972" defTabSz="503972" rtl="0" fontAlgn="auto" hangingPunct="1">
              <a:lnSpc>
                <a:spcPct val="100000"/>
              </a:lnSpc>
              <a:spcBef>
                <a:spcPct val="0"/>
              </a:spcBef>
              <a:spcAft>
                <a:spcPts val="0"/>
              </a:spcAft>
              <a:buClrTx/>
              <a:buSzTx/>
              <a:buNone/>
            </a:pPr>
            <a:r>
              <a:rPr lang="en-US" altLang="zh-CN" sz="2646" dirty="0">
                <a:solidFill>
                  <a:prstClr val="black"/>
                </a:solidFill>
                <a:latin typeface="微软雅黑" panose="020B0503020204020204" pitchFamily="34" charset="-122"/>
              </a:rPr>
              <a:t>(2) A:=6.28*T</a:t>
            </a:r>
            <a:r>
              <a:rPr lang="en-US" altLang="zh-CN" sz="2646" baseline="-25000" dirty="0">
                <a:solidFill>
                  <a:prstClr val="black"/>
                </a:solidFill>
                <a:latin typeface="微软雅黑" panose="020B0503020204020204" pitchFamily="34" charset="-122"/>
              </a:rPr>
              <a:t>2</a:t>
            </a:r>
            <a:endParaRPr lang="en-US" altLang="zh-CN" sz="2646" dirty="0">
              <a:solidFill>
                <a:prstClr val="black"/>
              </a:solidFill>
              <a:latin typeface="微软雅黑" panose="020B0503020204020204" pitchFamily="34" charset="-122"/>
            </a:endParaRPr>
          </a:p>
          <a:p>
            <a:pPr marL="503972" indent="-503972" defTabSz="503972" rtl="0" fontAlgn="auto" hangingPunct="1">
              <a:lnSpc>
                <a:spcPct val="100000"/>
              </a:lnSpc>
              <a:spcBef>
                <a:spcPct val="0"/>
              </a:spcBef>
              <a:spcAft>
                <a:spcPts val="0"/>
              </a:spcAft>
              <a:buClrTx/>
              <a:buSzTx/>
              <a:buNone/>
            </a:pPr>
            <a:r>
              <a:rPr lang="en-US" altLang="zh-CN" sz="2646" dirty="0">
                <a:solidFill>
                  <a:prstClr val="black"/>
                </a:solidFill>
                <a:latin typeface="微软雅黑" panose="020B0503020204020204" pitchFamily="34" charset="-122"/>
              </a:rPr>
              <a:t>(3) T</a:t>
            </a:r>
            <a:r>
              <a:rPr lang="en-US" altLang="zh-CN" sz="2646" baseline="-25000" dirty="0">
                <a:solidFill>
                  <a:prstClr val="black"/>
                </a:solidFill>
                <a:latin typeface="微软雅黑" panose="020B0503020204020204" pitchFamily="34" charset="-122"/>
              </a:rPr>
              <a:t>6</a:t>
            </a:r>
            <a:r>
              <a:rPr lang="en-US" altLang="zh-CN" sz="2646" dirty="0">
                <a:solidFill>
                  <a:prstClr val="black"/>
                </a:solidFill>
                <a:latin typeface="微软雅黑" panose="020B0503020204020204" pitchFamily="34" charset="-122"/>
              </a:rPr>
              <a:t>:=R-r</a:t>
            </a:r>
          </a:p>
          <a:p>
            <a:pPr marL="503972" indent="-503972" defTabSz="503972" rtl="0" fontAlgn="auto" hangingPunct="1">
              <a:lnSpc>
                <a:spcPct val="100000"/>
              </a:lnSpc>
              <a:spcBef>
                <a:spcPct val="0"/>
              </a:spcBef>
              <a:spcAft>
                <a:spcPts val="0"/>
              </a:spcAft>
              <a:buClrTx/>
              <a:buSzTx/>
              <a:buNone/>
            </a:pPr>
            <a:r>
              <a:rPr lang="en-US" altLang="zh-CN" sz="2646" dirty="0">
                <a:solidFill>
                  <a:prstClr val="black"/>
                </a:solidFill>
                <a:latin typeface="微软雅黑" panose="020B0503020204020204" pitchFamily="34" charset="-122"/>
              </a:rPr>
              <a:t>(4) B:=A*T</a:t>
            </a:r>
            <a:r>
              <a:rPr lang="en-US" altLang="zh-CN" sz="2646" baseline="-25000" dirty="0">
                <a:solidFill>
                  <a:prstClr val="black"/>
                </a:solidFill>
                <a:latin typeface="微软雅黑" panose="020B0503020204020204" pitchFamily="34" charset="-122"/>
              </a:rPr>
              <a:t>6</a:t>
            </a:r>
          </a:p>
        </p:txBody>
      </p:sp>
      <p:sp>
        <p:nvSpPr>
          <p:cNvPr id="91" name="文本框 90"/>
          <p:cNvSpPr txBox="1"/>
          <p:nvPr/>
        </p:nvSpPr>
        <p:spPr>
          <a:xfrm>
            <a:off x="3399491" y="2687696"/>
            <a:ext cx="3695719" cy="906658"/>
          </a:xfrm>
          <a:prstGeom prst="rect">
            <a:avLst/>
          </a:prstGeom>
          <a:noFill/>
        </p:spPr>
        <p:txBody>
          <a:bodyPr wrap="square" rtlCol="0">
            <a:spAutoFit/>
          </a:bodyPr>
          <a:lstStyle/>
          <a:p>
            <a:pPr defTabSz="503972" rtl="0" fontAlgn="auto" hangingPunct="1">
              <a:lnSpc>
                <a:spcPct val="100000"/>
              </a:lnSpc>
              <a:spcBef>
                <a:spcPts val="0"/>
              </a:spcBef>
              <a:spcAft>
                <a:spcPts val="0"/>
              </a:spcAft>
              <a:buSzTx/>
            </a:pPr>
            <a:r>
              <a:rPr lang="zh-CN" altLang="en-US" sz="2646" dirty="0">
                <a:solidFill>
                  <a:prstClr val="black"/>
                </a:solidFill>
                <a:latin typeface="微软雅黑" panose="020B0503020204020204" pitchFamily="34" charset="-122"/>
                <a:ea typeface="微软雅黑" panose="020B0503020204020204" pitchFamily="34" charset="-122"/>
              </a:rPr>
              <a:t>若只有</a:t>
            </a:r>
            <a:r>
              <a:rPr lang="en-US" altLang="zh-CN" sz="2646" dirty="0">
                <a:solidFill>
                  <a:prstClr val="black"/>
                </a:solidFill>
                <a:latin typeface="微软雅黑" panose="020B0503020204020204" pitchFamily="34" charset="-122"/>
                <a:ea typeface="微软雅黑" panose="020B0503020204020204" pitchFamily="34" charset="-122"/>
              </a:rPr>
              <a:t>A</a:t>
            </a:r>
            <a:r>
              <a:rPr lang="zh-CN" altLang="en-US" sz="2646" dirty="0">
                <a:solidFill>
                  <a:prstClr val="black"/>
                </a:solidFill>
                <a:latin typeface="微软雅黑" panose="020B0503020204020204" pitchFamily="34" charset="-122"/>
                <a:ea typeface="微软雅黑" panose="020B0503020204020204" pitchFamily="34" charset="-122"/>
              </a:rPr>
              <a:t>和</a:t>
            </a:r>
            <a:r>
              <a:rPr lang="en-US" altLang="zh-CN" sz="2646" dirty="0">
                <a:solidFill>
                  <a:prstClr val="black"/>
                </a:solidFill>
                <a:latin typeface="微软雅黑" panose="020B0503020204020204" pitchFamily="34" charset="-122"/>
                <a:ea typeface="微软雅黑" panose="020B0503020204020204" pitchFamily="34" charset="-122"/>
              </a:rPr>
              <a:t>B</a:t>
            </a:r>
            <a:r>
              <a:rPr lang="zh-CN" altLang="en-US" sz="2646" dirty="0">
                <a:solidFill>
                  <a:prstClr val="black"/>
                </a:solidFill>
                <a:latin typeface="微软雅黑" panose="020B0503020204020204" pitchFamily="34" charset="-122"/>
                <a:ea typeface="微软雅黑" panose="020B0503020204020204" pitchFamily="34" charset="-122"/>
              </a:rPr>
              <a:t>是出基本块之后活跃的</a:t>
            </a:r>
            <a:endParaRPr lang="en-US" altLang="zh-CN" sz="2646"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14380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lef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0">
                                            <p:bg/>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0">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0">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build="p" animBg="1"/>
      <p:bldP spid="91" grpId="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构造基本块的</a:t>
            </a:r>
            <a:r>
              <a:rPr lang="en-US" altLang="zh-CN" dirty="0"/>
              <a:t>DAG</a:t>
            </a:r>
            <a:r>
              <a:rPr lang="zh-CN" altLang="en-US" dirty="0"/>
              <a:t>的算法</a:t>
            </a:r>
          </a:p>
        </p:txBody>
      </p:sp>
      <p:sp>
        <p:nvSpPr>
          <p:cNvPr id="17411" name="Rectangle 3"/>
          <p:cNvSpPr>
            <a:spLocks noGrp="1" noChangeArrowheads="1"/>
          </p:cNvSpPr>
          <p:nvPr>
            <p:ph idx="1"/>
          </p:nvPr>
        </p:nvSpPr>
        <p:spPr/>
        <p:txBody>
          <a:bodyPr/>
          <a:lstStyle/>
          <a:p>
            <a:pPr>
              <a:spcBef>
                <a:spcPts val="1488"/>
              </a:spcBef>
            </a:pPr>
            <a:r>
              <a:rPr lang="zh-CN" altLang="en-US" dirty="0"/>
              <a:t>引入了一个函数</a:t>
            </a:r>
            <a:r>
              <a:rPr lang="en-US" altLang="zh-CN" dirty="0"/>
              <a:t>Node</a:t>
            </a:r>
            <a:r>
              <a:rPr lang="zh-CN" altLang="en-US" dirty="0"/>
              <a:t>，保存和计算</a:t>
            </a:r>
            <a:r>
              <a:rPr lang="en-US" altLang="zh-CN" dirty="0"/>
              <a:t>DAG</a:t>
            </a:r>
            <a:r>
              <a:rPr lang="zh-CN" altLang="en-US" dirty="0"/>
              <a:t>中标识符与结点的对应关系</a:t>
            </a:r>
            <a:endParaRPr lang="zh-CN" altLang="en-US" dirty="0">
              <a:latin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333343" y="3269850"/>
            <a:ext cx="9417906" cy="2277624"/>
          </a:xfrm>
          <a:prstGeom prst="rect">
            <a:avLst/>
          </a:prstGeom>
        </p:spPr>
      </p:pic>
    </p:spTree>
    <p:extLst>
      <p:ext uri="{BB962C8B-B14F-4D97-AF65-F5344CB8AC3E}">
        <p14:creationId xmlns:p14="http://schemas.microsoft.com/office/powerpoint/2010/main" val="11358362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wipe(left)">
                                      <p:cBhvr>
                                        <p:cTn id="7" dur="500"/>
                                        <p:tgtEl>
                                          <p:spTgt spid="174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0</a:t>
            </a:r>
            <a:r>
              <a:rPr lang="en-US" altLang="zh-CN" dirty="0"/>
              <a:t>,</a:t>
            </a:r>
            <a:r>
              <a:rPr lang="zh-CN" altLang="en-US" dirty="0"/>
              <a:t>1</a:t>
            </a:r>
            <a:r>
              <a:rPr lang="en-US" altLang="zh-CN" dirty="0"/>
              <a:t>,</a:t>
            </a:r>
            <a:r>
              <a:rPr lang="zh-CN" altLang="en-US" dirty="0"/>
              <a:t>2型四元式的基本块的</a:t>
            </a:r>
            <a:r>
              <a:rPr lang="en-US" altLang="zh-CN" dirty="0"/>
              <a:t>DAG</a:t>
            </a:r>
            <a:r>
              <a:rPr lang="zh-CN" altLang="en-US" dirty="0"/>
              <a:t>构造算法</a:t>
            </a:r>
          </a:p>
        </p:txBody>
      </p:sp>
      <p:sp>
        <p:nvSpPr>
          <p:cNvPr id="18435" name="Rectangle 3"/>
          <p:cNvSpPr>
            <a:spLocks noGrp="1" noChangeArrowheads="1"/>
          </p:cNvSpPr>
          <p:nvPr>
            <p:ph idx="1"/>
          </p:nvPr>
        </p:nvSpPr>
        <p:spPr/>
        <p:txBody>
          <a:bodyPr/>
          <a:lstStyle/>
          <a:p>
            <a:pPr eaLnBrk="1" hangingPunct="1">
              <a:buFont typeface="Wingdings" panose="05000000000000000000" pitchFamily="2" charset="2"/>
              <a:buNone/>
            </a:pPr>
            <a:r>
              <a:rPr lang="zh-CN" altLang="en-US" dirty="0">
                <a:latin typeface="微软雅黑" panose="020B0503020204020204" pitchFamily="34" charset="-122"/>
              </a:rPr>
              <a:t>对基本块中每一四元式，依次执行以下步骤:</a:t>
            </a:r>
          </a:p>
        </p:txBody>
      </p:sp>
      <p:sp>
        <p:nvSpPr>
          <p:cNvPr id="6" name="文本框 5"/>
          <p:cNvSpPr txBox="1"/>
          <p:nvPr/>
        </p:nvSpPr>
        <p:spPr>
          <a:xfrm>
            <a:off x="7056225" y="944959"/>
            <a:ext cx="3023870" cy="5669756"/>
          </a:xfrm>
          <a:prstGeom prst="rect">
            <a:avLst/>
          </a:prstGeom>
          <a:noFill/>
        </p:spPr>
        <p:txBody>
          <a:bodyPr wrap="square" rtlCol="0">
            <a:noAutofit/>
          </a:bodyPr>
          <a:lstStyle/>
          <a:p>
            <a:pPr defTabSz="755957" rtl="0" fontAlgn="auto" hangingPunct="1">
              <a:lnSpc>
                <a:spcPct val="100000"/>
              </a:lnSpc>
              <a:spcBef>
                <a:spcPts val="0"/>
              </a:spcBef>
              <a:spcAft>
                <a:spcPts val="0"/>
              </a:spcAft>
              <a:buSzTx/>
              <a:defRPr/>
            </a:pPr>
            <a:endParaRPr lang="en-US" altLang="zh-CN" sz="2646" dirty="0">
              <a:solidFill>
                <a:prstClr val="black"/>
              </a:solidFill>
              <a:latin typeface="微软雅黑" panose="020B0503020204020204" pitchFamily="34" charset="-122"/>
              <a:ea typeface="微软雅黑" panose="020B0503020204020204" pitchFamily="34" charset="-122"/>
            </a:endParaRPr>
          </a:p>
        </p:txBody>
      </p:sp>
      <p:sp>
        <p:nvSpPr>
          <p:cNvPr id="7" name="Text Box 3"/>
          <p:cNvSpPr txBox="1">
            <a:spLocks noChangeArrowheads="1"/>
          </p:cNvSpPr>
          <p:nvPr/>
        </p:nvSpPr>
        <p:spPr bwMode="auto">
          <a:xfrm>
            <a:off x="2590417" y="2918954"/>
            <a:ext cx="4087824" cy="1991827"/>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a:spAutoFit/>
          </a:bodyPr>
          <a:lstStyle/>
          <a:p>
            <a:pPr defTabSz="503972" rtl="0" fontAlgn="auto" hangingPunct="1">
              <a:lnSpc>
                <a:spcPct val="100000"/>
              </a:lnSpc>
              <a:spcBef>
                <a:spcPts val="0"/>
              </a:spcBef>
              <a:spcAft>
                <a:spcPts val="0"/>
              </a:spcAft>
              <a:buSzTx/>
              <a:defRPr/>
            </a:pPr>
            <a:r>
              <a:rPr lang="zh-CN" altLang="en-US" sz="3086" dirty="0">
                <a:solidFill>
                  <a:srgbClr val="0070C0"/>
                </a:solidFill>
                <a:latin typeface="微软雅黑" pitchFamily="34" charset="-122"/>
                <a:ea typeface="微软雅黑" pitchFamily="34" charset="-122"/>
              </a:rPr>
              <a:t>1. 准备操作数的结点 </a:t>
            </a:r>
          </a:p>
          <a:p>
            <a:pPr defTabSz="503972" rtl="0" fontAlgn="auto" hangingPunct="1">
              <a:lnSpc>
                <a:spcPct val="100000"/>
              </a:lnSpc>
              <a:spcBef>
                <a:spcPts val="0"/>
              </a:spcBef>
              <a:spcAft>
                <a:spcPts val="0"/>
              </a:spcAft>
              <a:buSzTx/>
              <a:defRPr/>
            </a:pPr>
            <a:r>
              <a:rPr lang="zh-CN" altLang="en-US" sz="3086" dirty="0">
                <a:solidFill>
                  <a:srgbClr val="0070C0"/>
                </a:solidFill>
                <a:latin typeface="微软雅黑" pitchFamily="34" charset="-122"/>
                <a:ea typeface="微软雅黑" pitchFamily="34" charset="-122"/>
              </a:rPr>
              <a:t>2. 合并已知量</a:t>
            </a:r>
          </a:p>
          <a:p>
            <a:pPr defTabSz="503972" rtl="0" fontAlgn="auto" hangingPunct="1">
              <a:lnSpc>
                <a:spcPct val="100000"/>
              </a:lnSpc>
              <a:spcBef>
                <a:spcPts val="0"/>
              </a:spcBef>
              <a:spcAft>
                <a:spcPts val="0"/>
              </a:spcAft>
              <a:buSzTx/>
              <a:defRPr/>
            </a:pPr>
            <a:r>
              <a:rPr lang="zh-CN" altLang="en-US" sz="3086" dirty="0">
                <a:solidFill>
                  <a:srgbClr val="0070C0"/>
                </a:solidFill>
                <a:latin typeface="微软雅黑" pitchFamily="34" charset="-122"/>
                <a:ea typeface="微软雅黑" pitchFamily="34" charset="-122"/>
              </a:rPr>
              <a:t>3. 删除公共子表达式</a:t>
            </a:r>
          </a:p>
          <a:p>
            <a:pPr defTabSz="503972" rtl="0" fontAlgn="auto" hangingPunct="1">
              <a:lnSpc>
                <a:spcPct val="100000"/>
              </a:lnSpc>
              <a:spcBef>
                <a:spcPts val="0"/>
              </a:spcBef>
              <a:spcAft>
                <a:spcPts val="0"/>
              </a:spcAft>
              <a:buSzTx/>
              <a:defRPr/>
            </a:pPr>
            <a:r>
              <a:rPr lang="zh-CN" altLang="en-US" sz="3086" dirty="0">
                <a:solidFill>
                  <a:srgbClr val="0070C0"/>
                </a:solidFill>
                <a:latin typeface="微软雅黑" pitchFamily="34" charset="-122"/>
                <a:ea typeface="微软雅黑" pitchFamily="34" charset="-122"/>
              </a:rPr>
              <a:t>4. 删除无用赋值</a:t>
            </a:r>
            <a:endParaRPr lang="en-GB" sz="3086" dirty="0">
              <a:solidFill>
                <a:srgbClr val="0070C0"/>
              </a:solidFill>
              <a:latin typeface="微软雅黑" pitchFamily="34" charset="-122"/>
              <a:ea typeface="微软雅黑" pitchFamily="34" charset="-122"/>
            </a:endParaRPr>
          </a:p>
        </p:txBody>
      </p:sp>
    </p:spTree>
    <p:extLst>
      <p:ext uri="{BB962C8B-B14F-4D97-AF65-F5344CB8AC3E}">
        <p14:creationId xmlns:p14="http://schemas.microsoft.com/office/powerpoint/2010/main" val="26619697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P spid="7"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a:xfrm>
            <a:off x="694987" y="400801"/>
            <a:ext cx="9127167" cy="1460347"/>
          </a:xfrm>
        </p:spPr>
        <p:txBody>
          <a:bodyPr>
            <a:normAutofit/>
          </a:bodyPr>
          <a:lstStyle/>
          <a:p>
            <a:r>
              <a:rPr lang="zh-CN" altLang="en-US" dirty="0"/>
              <a:t>0</a:t>
            </a:r>
            <a:r>
              <a:rPr lang="en-US" altLang="zh-CN" dirty="0"/>
              <a:t>,</a:t>
            </a:r>
            <a:r>
              <a:rPr lang="zh-CN" altLang="en-US" dirty="0"/>
              <a:t>1</a:t>
            </a:r>
            <a:r>
              <a:rPr lang="en-US" altLang="zh-CN" dirty="0"/>
              <a:t>,</a:t>
            </a:r>
            <a:r>
              <a:rPr lang="zh-CN" altLang="en-US" dirty="0"/>
              <a:t>2型四元式的基本块的</a:t>
            </a:r>
            <a:r>
              <a:rPr lang="en-US" altLang="zh-CN" dirty="0"/>
              <a:t>DAG</a:t>
            </a:r>
            <a:r>
              <a:rPr lang="zh-CN" altLang="en-US" dirty="0"/>
              <a:t>构造算法</a:t>
            </a:r>
          </a:p>
        </p:txBody>
      </p:sp>
      <p:sp>
        <p:nvSpPr>
          <p:cNvPr id="108546" name="Rectangle 2"/>
          <p:cNvSpPr>
            <a:spLocks noGrp="1" noChangeArrowheads="1"/>
          </p:cNvSpPr>
          <p:nvPr>
            <p:ph idx="1"/>
          </p:nvPr>
        </p:nvSpPr>
        <p:spPr>
          <a:xfrm>
            <a:off x="450006" y="1906631"/>
            <a:ext cx="8695531" cy="4797715"/>
          </a:xfrm>
        </p:spPr>
        <p:txBody>
          <a:bodyPr/>
          <a:lstStyle/>
          <a:p>
            <a:pPr eaLnBrk="1" hangingPunct="1">
              <a:buFont typeface="Wingdings" panose="05000000000000000000" pitchFamily="2" charset="2"/>
              <a:buNone/>
            </a:pPr>
            <a:r>
              <a:rPr lang="zh-CN" altLang="en-US" sz="3527" dirty="0">
                <a:solidFill>
                  <a:srgbClr val="C00000"/>
                </a:solidFill>
              </a:rPr>
              <a:t>1.准备操作数的结点 </a:t>
            </a:r>
          </a:p>
          <a:p>
            <a:pPr eaLnBrk="1" hangingPunct="1"/>
            <a:r>
              <a:rPr lang="zh-CN" altLang="en-US" dirty="0">
                <a:latin typeface="微软雅黑" panose="020B0503020204020204" pitchFamily="34" charset="-122"/>
              </a:rPr>
              <a:t>如果</a:t>
            </a:r>
            <a:r>
              <a:rPr lang="en-US" altLang="zh-CN" dirty="0">
                <a:latin typeface="微软雅黑" panose="020B0503020204020204" pitchFamily="34" charset="-122"/>
              </a:rPr>
              <a:t>NODE(B)</a:t>
            </a:r>
            <a:r>
              <a:rPr lang="zh-CN" altLang="en-US" dirty="0">
                <a:latin typeface="微软雅黑" panose="020B0503020204020204" pitchFamily="34" charset="-122"/>
              </a:rPr>
              <a:t>无定义，则构造一标记为</a:t>
            </a:r>
            <a:r>
              <a:rPr lang="en-US" altLang="zh-CN" dirty="0">
                <a:latin typeface="微软雅黑" panose="020B0503020204020204" pitchFamily="34" charset="-122"/>
              </a:rPr>
              <a:t>B</a:t>
            </a:r>
            <a:r>
              <a:rPr lang="zh-CN" altLang="en-US" dirty="0">
                <a:latin typeface="微软雅黑" panose="020B0503020204020204" pitchFamily="34" charset="-122"/>
              </a:rPr>
              <a:t>的叶结点并定义</a:t>
            </a:r>
            <a:r>
              <a:rPr lang="en-US" altLang="zh-CN" dirty="0">
                <a:latin typeface="微软雅黑" panose="020B0503020204020204" pitchFamily="34" charset="-122"/>
              </a:rPr>
              <a:t>NODE(B)</a:t>
            </a:r>
            <a:r>
              <a:rPr lang="zh-CN" altLang="en-US" dirty="0">
                <a:latin typeface="微软雅黑" panose="020B0503020204020204" pitchFamily="34" charset="-122"/>
              </a:rPr>
              <a:t>为这个结点;</a:t>
            </a:r>
          </a:p>
          <a:p>
            <a:pPr marL="503972" lvl="1" indent="-62996"/>
            <a:r>
              <a:rPr lang="zh-CN" altLang="en-US" dirty="0">
                <a:latin typeface="微软雅黑" panose="020B0503020204020204" pitchFamily="34" charset="-122"/>
              </a:rPr>
              <a:t>如果当前四元式是0型，则记</a:t>
            </a:r>
            <a:r>
              <a:rPr lang="en-US" altLang="zh-CN" dirty="0">
                <a:latin typeface="微软雅黑" panose="020B0503020204020204" pitchFamily="34" charset="-122"/>
              </a:rPr>
              <a:t>NODE(B)</a:t>
            </a:r>
            <a:r>
              <a:rPr lang="zh-CN" altLang="en-US" dirty="0">
                <a:latin typeface="微软雅黑" panose="020B0503020204020204" pitchFamily="34" charset="-122"/>
              </a:rPr>
              <a:t>的值为</a:t>
            </a:r>
            <a:r>
              <a:rPr lang="en-US" altLang="zh-CN" dirty="0">
                <a:latin typeface="微软雅黑" panose="020B0503020204020204" pitchFamily="34" charset="-122"/>
              </a:rPr>
              <a:t>n，</a:t>
            </a:r>
            <a:r>
              <a:rPr lang="zh-CN" altLang="en-US" dirty="0">
                <a:latin typeface="微软雅黑" panose="020B0503020204020204" pitchFamily="34" charset="-122"/>
              </a:rPr>
              <a:t>转4  </a:t>
            </a:r>
            <a:r>
              <a:rPr lang="en-US" altLang="zh-CN" dirty="0">
                <a:latin typeface="微软雅黑" panose="020B0503020204020204" pitchFamily="34" charset="-122"/>
              </a:rPr>
              <a:t>[</a:t>
            </a:r>
            <a:r>
              <a:rPr lang="zh-CN" altLang="en-US" dirty="0">
                <a:solidFill>
                  <a:srgbClr val="7030A0"/>
                </a:solidFill>
                <a:latin typeface="微软雅黑" panose="020B0503020204020204" pitchFamily="34" charset="-122"/>
              </a:rPr>
              <a:t>删除无用赋值</a:t>
            </a:r>
            <a:r>
              <a:rPr lang="en-US" altLang="zh-CN" dirty="0">
                <a:latin typeface="微软雅黑" panose="020B0503020204020204" pitchFamily="34" charset="-122"/>
              </a:rPr>
              <a:t>]</a:t>
            </a:r>
            <a:endParaRPr lang="zh-CN" altLang="en-US" dirty="0">
              <a:latin typeface="微软雅黑" panose="020B0503020204020204" pitchFamily="34" charset="-122"/>
            </a:endParaRPr>
          </a:p>
          <a:p>
            <a:pPr marL="503972" lvl="1" indent="-62996"/>
            <a:r>
              <a:rPr lang="zh-CN" altLang="en-US" dirty="0">
                <a:latin typeface="微软雅黑" panose="020B0503020204020204" pitchFamily="34" charset="-122"/>
              </a:rPr>
              <a:t>如果当前四元式是1型，则转2(1)  </a:t>
            </a:r>
            <a:r>
              <a:rPr lang="en-US" altLang="zh-CN" dirty="0"/>
              <a:t>[</a:t>
            </a:r>
            <a:r>
              <a:rPr lang="zh-CN" altLang="en-US" dirty="0">
                <a:solidFill>
                  <a:srgbClr val="7030A0"/>
                </a:solidFill>
              </a:rPr>
              <a:t>合并已知量</a:t>
            </a:r>
            <a:r>
              <a:rPr lang="en-US" altLang="zh-CN" dirty="0"/>
              <a:t>]</a:t>
            </a:r>
            <a:endParaRPr lang="zh-CN" altLang="en-US" dirty="0">
              <a:latin typeface="微软雅黑" panose="020B0503020204020204" pitchFamily="34" charset="-122"/>
            </a:endParaRPr>
          </a:p>
          <a:p>
            <a:pPr marL="503972" lvl="1" indent="-62996"/>
            <a:r>
              <a:rPr lang="zh-CN" altLang="en-US" dirty="0">
                <a:latin typeface="微软雅黑" panose="020B0503020204020204" pitchFamily="34" charset="-122"/>
              </a:rPr>
              <a:t>如果当前四元式是2型，则(</a:t>
            </a:r>
            <a:r>
              <a:rPr lang="en-US" altLang="zh-CN" dirty="0" err="1">
                <a:latin typeface="微软雅黑" panose="020B0503020204020204" pitchFamily="34" charset="-122"/>
              </a:rPr>
              <a:t>i</a:t>
            </a:r>
            <a:r>
              <a:rPr lang="en-US" altLang="zh-CN" dirty="0">
                <a:latin typeface="微软雅黑" panose="020B0503020204020204" pitchFamily="34" charset="-122"/>
              </a:rPr>
              <a:t>)</a:t>
            </a:r>
            <a:r>
              <a:rPr lang="zh-CN" altLang="en-US" dirty="0">
                <a:latin typeface="微软雅黑" panose="020B0503020204020204" pitchFamily="34" charset="-122"/>
              </a:rPr>
              <a:t>如果</a:t>
            </a:r>
            <a:r>
              <a:rPr lang="en-US" altLang="zh-CN" dirty="0">
                <a:latin typeface="微软雅黑" panose="020B0503020204020204" pitchFamily="34" charset="-122"/>
              </a:rPr>
              <a:t>NODE(C)</a:t>
            </a:r>
            <a:r>
              <a:rPr lang="zh-CN" altLang="en-US" dirty="0">
                <a:latin typeface="微软雅黑" panose="020B0503020204020204" pitchFamily="34" charset="-122"/>
              </a:rPr>
              <a:t>无定义，则构造一标记为</a:t>
            </a:r>
            <a:r>
              <a:rPr lang="en-US" altLang="zh-CN" dirty="0">
                <a:latin typeface="微软雅黑" panose="020B0503020204020204" pitchFamily="34" charset="-122"/>
              </a:rPr>
              <a:t>C</a:t>
            </a:r>
            <a:r>
              <a:rPr lang="zh-CN" altLang="en-US" dirty="0">
                <a:latin typeface="微软雅黑" panose="020B0503020204020204" pitchFamily="34" charset="-122"/>
              </a:rPr>
              <a:t>的叶结点并定义</a:t>
            </a:r>
            <a:r>
              <a:rPr lang="en-US" altLang="zh-CN" dirty="0">
                <a:latin typeface="微软雅黑" panose="020B0503020204020204" pitchFamily="34" charset="-122"/>
              </a:rPr>
              <a:t>NODE(C)</a:t>
            </a:r>
            <a:r>
              <a:rPr lang="zh-CN" altLang="en-US" dirty="0">
                <a:latin typeface="微软雅黑" panose="020B0503020204020204" pitchFamily="34" charset="-122"/>
              </a:rPr>
              <a:t>为这个结点；(</a:t>
            </a:r>
            <a:r>
              <a:rPr lang="en-US" altLang="zh-CN" dirty="0">
                <a:latin typeface="微软雅黑" panose="020B0503020204020204" pitchFamily="34" charset="-122"/>
              </a:rPr>
              <a:t>ii)</a:t>
            </a:r>
            <a:r>
              <a:rPr lang="zh-CN" altLang="en-US" dirty="0">
                <a:latin typeface="微软雅黑" panose="020B0503020204020204" pitchFamily="34" charset="-122"/>
              </a:rPr>
              <a:t>转2(2) </a:t>
            </a:r>
            <a:r>
              <a:rPr lang="en-US" altLang="zh-CN" dirty="0"/>
              <a:t>[</a:t>
            </a:r>
            <a:r>
              <a:rPr lang="zh-CN" altLang="en-US" dirty="0">
                <a:solidFill>
                  <a:srgbClr val="7030A0"/>
                </a:solidFill>
              </a:rPr>
              <a:t>合并已知量</a:t>
            </a:r>
            <a:r>
              <a:rPr lang="en-US" altLang="zh-CN" dirty="0"/>
              <a:t>]</a:t>
            </a:r>
            <a:endParaRPr lang="zh-CN" altLang="en-US" dirty="0">
              <a:latin typeface="微软雅黑" panose="020B0503020204020204" pitchFamily="34" charset="-122"/>
            </a:endParaRPr>
          </a:p>
        </p:txBody>
      </p:sp>
      <p:sp>
        <p:nvSpPr>
          <p:cNvPr id="106500" name="Text Box 3"/>
          <p:cNvSpPr txBox="1">
            <a:spLocks noChangeArrowheads="1"/>
          </p:cNvSpPr>
          <p:nvPr/>
        </p:nvSpPr>
        <p:spPr bwMode="auto">
          <a:xfrm>
            <a:off x="6542978" y="6008336"/>
            <a:ext cx="3607423" cy="1569660"/>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2400" dirty="0">
                <a:solidFill>
                  <a:srgbClr val="C00000"/>
                </a:solidFill>
                <a:latin typeface="微软雅黑" panose="020B0503020204020204" pitchFamily="34" charset="-122"/>
              </a:rPr>
              <a:t>1. 准备操作数的结点 </a:t>
            </a:r>
          </a:p>
          <a:p>
            <a:pPr defTabSz="503972" rtl="0" fontAlgn="auto" hangingPunct="1">
              <a:lnSpc>
                <a:spcPct val="100000"/>
              </a:lnSpc>
              <a:spcBef>
                <a:spcPct val="0"/>
              </a:spcBef>
              <a:spcAft>
                <a:spcPts val="0"/>
              </a:spcAft>
              <a:buClrTx/>
              <a:buSzTx/>
              <a:buNone/>
            </a:pPr>
            <a:r>
              <a:rPr lang="zh-CN" altLang="en-US" sz="2400" dirty="0">
                <a:solidFill>
                  <a:srgbClr val="0070C0"/>
                </a:solidFill>
                <a:latin typeface="微软雅黑" panose="020B0503020204020204" pitchFamily="34" charset="-122"/>
              </a:rPr>
              <a:t>2. 合并已知量</a:t>
            </a:r>
          </a:p>
          <a:p>
            <a:pPr defTabSz="503972" rtl="0" fontAlgn="auto" hangingPunct="1">
              <a:lnSpc>
                <a:spcPct val="100000"/>
              </a:lnSpc>
              <a:spcBef>
                <a:spcPct val="0"/>
              </a:spcBef>
              <a:spcAft>
                <a:spcPts val="0"/>
              </a:spcAft>
              <a:buClrTx/>
              <a:buSzTx/>
              <a:buNone/>
            </a:pPr>
            <a:r>
              <a:rPr lang="zh-CN" altLang="en-US" sz="2400" dirty="0">
                <a:solidFill>
                  <a:srgbClr val="0070C0"/>
                </a:solidFill>
                <a:latin typeface="微软雅黑" panose="020B0503020204020204" pitchFamily="34" charset="-122"/>
              </a:rPr>
              <a:t>3. 删除公共子表达式</a:t>
            </a:r>
          </a:p>
          <a:p>
            <a:pPr defTabSz="503972" rtl="0" fontAlgn="auto" hangingPunct="1">
              <a:lnSpc>
                <a:spcPct val="100000"/>
              </a:lnSpc>
              <a:spcBef>
                <a:spcPct val="0"/>
              </a:spcBef>
              <a:spcAft>
                <a:spcPts val="0"/>
              </a:spcAft>
              <a:buClrTx/>
              <a:buSzTx/>
              <a:buNone/>
            </a:pPr>
            <a:r>
              <a:rPr lang="zh-CN" altLang="en-US" sz="2400" dirty="0">
                <a:solidFill>
                  <a:srgbClr val="0070C0"/>
                </a:solidFill>
                <a:latin typeface="微软雅黑" panose="020B0503020204020204" pitchFamily="34" charset="-122"/>
              </a:rPr>
              <a:t>4. 删除无用赋值</a:t>
            </a:r>
            <a:endParaRPr lang="en-GB" altLang="zh-CN" sz="2400" dirty="0">
              <a:solidFill>
                <a:srgbClr val="0070C0"/>
              </a:solidFill>
              <a:latin typeface="微软雅黑" panose="020B0503020204020204" pitchFamily="34" charset="-122"/>
            </a:endParaRPr>
          </a:p>
        </p:txBody>
      </p:sp>
      <p:sp>
        <p:nvSpPr>
          <p:cNvPr id="3" name="矩形 2"/>
          <p:cNvSpPr/>
          <p:nvPr/>
        </p:nvSpPr>
        <p:spPr>
          <a:xfrm>
            <a:off x="3375201" y="4094858"/>
            <a:ext cx="1080072" cy="480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rPr>
              <a:t>A:=B</a:t>
            </a:r>
            <a:endParaRPr lang="zh-CN" altLang="en-US" sz="2800" b="1" dirty="0">
              <a:solidFill>
                <a:srgbClr val="C00000"/>
              </a:solidFill>
            </a:endParaRPr>
          </a:p>
        </p:txBody>
      </p:sp>
      <p:sp>
        <p:nvSpPr>
          <p:cNvPr id="6" name="矩形 5"/>
          <p:cNvSpPr/>
          <p:nvPr/>
        </p:nvSpPr>
        <p:spPr>
          <a:xfrm>
            <a:off x="8346688" y="4613794"/>
            <a:ext cx="1733937" cy="480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rPr>
              <a:t>A:=op B</a:t>
            </a:r>
            <a:endParaRPr lang="zh-CN" altLang="en-US" sz="2800" b="1" dirty="0">
              <a:solidFill>
                <a:srgbClr val="C00000"/>
              </a:solidFill>
            </a:endParaRPr>
          </a:p>
        </p:txBody>
      </p:sp>
      <p:sp>
        <p:nvSpPr>
          <p:cNvPr id="7" name="矩形 6"/>
          <p:cNvSpPr/>
          <p:nvPr/>
        </p:nvSpPr>
        <p:spPr>
          <a:xfrm>
            <a:off x="1125051" y="6464022"/>
            <a:ext cx="2070138" cy="480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rPr>
              <a:t>A:= B op C</a:t>
            </a:r>
            <a:endParaRPr lang="zh-CN" altLang="en-US" sz="2800" b="1" dirty="0">
              <a:solidFill>
                <a:srgbClr val="C00000"/>
              </a:solidFill>
            </a:endParaRPr>
          </a:p>
        </p:txBody>
      </p:sp>
    </p:spTree>
    <p:extLst>
      <p:ext uri="{BB962C8B-B14F-4D97-AF65-F5344CB8AC3E}">
        <p14:creationId xmlns:p14="http://schemas.microsoft.com/office/powerpoint/2010/main" val="1301487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a:xfrm>
            <a:off x="631326" y="-1"/>
            <a:ext cx="9127167" cy="1460347"/>
          </a:xfrm>
        </p:spPr>
        <p:txBody>
          <a:bodyPr>
            <a:normAutofit/>
          </a:bodyPr>
          <a:lstStyle/>
          <a:p>
            <a:r>
              <a:rPr lang="zh-CN" altLang="en-US" dirty="0"/>
              <a:t>0</a:t>
            </a:r>
            <a:r>
              <a:rPr lang="en-US" altLang="zh-CN" dirty="0"/>
              <a:t>,</a:t>
            </a:r>
            <a:r>
              <a:rPr lang="zh-CN" altLang="en-US" dirty="0"/>
              <a:t>1</a:t>
            </a:r>
            <a:r>
              <a:rPr lang="en-US" altLang="zh-CN" dirty="0"/>
              <a:t>,</a:t>
            </a:r>
            <a:r>
              <a:rPr lang="zh-CN" altLang="en-US" dirty="0"/>
              <a:t>2型四元式的基本块的</a:t>
            </a:r>
            <a:r>
              <a:rPr lang="en-US" altLang="zh-CN" dirty="0"/>
              <a:t>DAG</a:t>
            </a:r>
            <a:r>
              <a:rPr lang="zh-CN" altLang="en-US" dirty="0"/>
              <a:t>构造算法</a:t>
            </a:r>
          </a:p>
        </p:txBody>
      </p:sp>
      <p:sp>
        <p:nvSpPr>
          <p:cNvPr id="19458" name="Rectangle 2"/>
          <p:cNvSpPr>
            <a:spLocks noGrp="1" noChangeArrowheads="1"/>
          </p:cNvSpPr>
          <p:nvPr>
            <p:ph idx="1"/>
          </p:nvPr>
        </p:nvSpPr>
        <p:spPr>
          <a:xfrm>
            <a:off x="265781" y="944648"/>
            <a:ext cx="9814314" cy="4797715"/>
          </a:xfrm>
        </p:spPr>
        <p:txBody>
          <a:bodyPr>
            <a:noAutofit/>
          </a:bodyPr>
          <a:lstStyle/>
          <a:p>
            <a:pPr marL="0" indent="0">
              <a:lnSpc>
                <a:spcPct val="120000"/>
              </a:lnSpc>
              <a:spcBef>
                <a:spcPts val="0"/>
              </a:spcBef>
              <a:buNone/>
            </a:pPr>
            <a:r>
              <a:rPr lang="zh-CN" altLang="en-US" sz="2866" dirty="0">
                <a:solidFill>
                  <a:srgbClr val="C00000"/>
                </a:solidFill>
              </a:rPr>
              <a:t>2.合并已知量</a:t>
            </a:r>
          </a:p>
          <a:p>
            <a:pPr marL="708711" lvl="1" indent="-551219">
              <a:lnSpc>
                <a:spcPct val="120000"/>
              </a:lnSpc>
              <a:spcBef>
                <a:spcPts val="0"/>
              </a:spcBef>
              <a:buNone/>
            </a:pPr>
            <a:r>
              <a:rPr lang="zh-CN" altLang="en-US" sz="2425" dirty="0">
                <a:solidFill>
                  <a:srgbClr val="7030A0"/>
                </a:solidFill>
              </a:rPr>
              <a:t>(1) 如果</a:t>
            </a:r>
            <a:r>
              <a:rPr lang="en-US" altLang="zh-CN" sz="2425" dirty="0">
                <a:solidFill>
                  <a:srgbClr val="7030A0"/>
                </a:solidFill>
              </a:rPr>
              <a:t>NODE(B)</a:t>
            </a:r>
            <a:r>
              <a:rPr lang="zh-CN" altLang="en-US" sz="2425" dirty="0">
                <a:solidFill>
                  <a:srgbClr val="7030A0"/>
                </a:solidFill>
              </a:rPr>
              <a:t>是标记为常数的叶结点，则转2(3)；否则，转3(1) </a:t>
            </a:r>
            <a:r>
              <a:rPr lang="en-US" altLang="zh-CN" sz="2425" dirty="0">
                <a:solidFill>
                  <a:srgbClr val="7030A0"/>
                </a:solidFill>
              </a:rPr>
              <a:t>[</a:t>
            </a:r>
            <a:r>
              <a:rPr lang="zh-CN" altLang="en-US" sz="2425" dirty="0">
                <a:solidFill>
                  <a:srgbClr val="7030A0"/>
                </a:solidFill>
              </a:rPr>
              <a:t>删除公共子表达式</a:t>
            </a:r>
            <a:r>
              <a:rPr lang="en-US" altLang="zh-CN" sz="2425" dirty="0">
                <a:solidFill>
                  <a:srgbClr val="7030A0"/>
                </a:solidFill>
              </a:rPr>
              <a:t>]</a:t>
            </a:r>
            <a:endParaRPr lang="zh-CN" altLang="en-US" sz="2425" dirty="0">
              <a:solidFill>
                <a:srgbClr val="7030A0"/>
              </a:solidFill>
            </a:endParaRPr>
          </a:p>
          <a:p>
            <a:pPr marL="708711" lvl="1" indent="-551219">
              <a:lnSpc>
                <a:spcPct val="120000"/>
              </a:lnSpc>
              <a:spcBef>
                <a:spcPts val="0"/>
              </a:spcBef>
              <a:buNone/>
            </a:pPr>
            <a:r>
              <a:rPr lang="zh-CN" altLang="en-US" sz="2425" dirty="0">
                <a:solidFill>
                  <a:schemeClr val="accent3">
                    <a:lumMod val="50000"/>
                  </a:schemeClr>
                </a:solidFill>
              </a:rPr>
              <a:t>(2) 如果</a:t>
            </a:r>
            <a:r>
              <a:rPr lang="en-US" altLang="zh-CN" sz="2425" dirty="0">
                <a:solidFill>
                  <a:schemeClr val="accent3">
                    <a:lumMod val="50000"/>
                  </a:schemeClr>
                </a:solidFill>
              </a:rPr>
              <a:t>NODE(B)</a:t>
            </a:r>
            <a:r>
              <a:rPr lang="zh-CN" altLang="en-US" sz="2425" dirty="0">
                <a:solidFill>
                  <a:schemeClr val="accent3">
                    <a:lumMod val="50000"/>
                  </a:schemeClr>
                </a:solidFill>
              </a:rPr>
              <a:t>和</a:t>
            </a:r>
            <a:r>
              <a:rPr lang="en-US" altLang="zh-CN" sz="2425" dirty="0">
                <a:solidFill>
                  <a:schemeClr val="accent3">
                    <a:lumMod val="50000"/>
                  </a:schemeClr>
                </a:solidFill>
              </a:rPr>
              <a:t>NODE(C)</a:t>
            </a:r>
            <a:r>
              <a:rPr lang="zh-CN" altLang="en-US" sz="2425" dirty="0">
                <a:solidFill>
                  <a:schemeClr val="accent3">
                    <a:lumMod val="50000"/>
                  </a:schemeClr>
                </a:solidFill>
              </a:rPr>
              <a:t>都是标记为常数的叶结点，则转2(4)；否则，转3(2) </a:t>
            </a:r>
            <a:r>
              <a:rPr lang="en-US" altLang="zh-CN" sz="2425" dirty="0">
                <a:solidFill>
                  <a:schemeClr val="accent3">
                    <a:lumMod val="50000"/>
                  </a:schemeClr>
                </a:solidFill>
              </a:rPr>
              <a:t>[</a:t>
            </a:r>
            <a:r>
              <a:rPr lang="zh-CN" altLang="en-US" sz="2425" dirty="0">
                <a:solidFill>
                  <a:schemeClr val="accent3">
                    <a:lumMod val="50000"/>
                  </a:schemeClr>
                </a:solidFill>
              </a:rPr>
              <a:t>删除公共子表达式</a:t>
            </a:r>
            <a:r>
              <a:rPr lang="en-US" altLang="zh-CN" sz="2425" dirty="0">
                <a:solidFill>
                  <a:schemeClr val="accent3">
                    <a:lumMod val="50000"/>
                  </a:schemeClr>
                </a:solidFill>
              </a:rPr>
              <a:t>]</a:t>
            </a:r>
            <a:endParaRPr lang="zh-CN" altLang="en-US" sz="2425" dirty="0">
              <a:solidFill>
                <a:schemeClr val="accent3">
                  <a:lumMod val="50000"/>
                </a:schemeClr>
              </a:solidFill>
            </a:endParaRPr>
          </a:p>
          <a:p>
            <a:pPr marL="708711" lvl="1" indent="-551219">
              <a:lnSpc>
                <a:spcPct val="120000"/>
              </a:lnSpc>
              <a:spcBef>
                <a:spcPts val="0"/>
              </a:spcBef>
              <a:buNone/>
            </a:pPr>
            <a:r>
              <a:rPr lang="zh-CN" altLang="en-US" sz="2425" dirty="0">
                <a:solidFill>
                  <a:srgbClr val="7030A0"/>
                </a:solidFill>
              </a:rPr>
              <a:t>(3) 执行</a:t>
            </a:r>
            <a:r>
              <a:rPr lang="en-US" altLang="zh-CN" sz="2425" dirty="0">
                <a:solidFill>
                  <a:srgbClr val="7030A0"/>
                </a:solidFill>
              </a:rPr>
              <a:t>op B (</a:t>
            </a:r>
            <a:r>
              <a:rPr lang="zh-CN" altLang="en-US" sz="2425" dirty="0">
                <a:solidFill>
                  <a:srgbClr val="7030A0"/>
                </a:solidFill>
              </a:rPr>
              <a:t>即合并已知量)。令得到的新常数为</a:t>
            </a:r>
            <a:r>
              <a:rPr lang="en-US" altLang="zh-CN" sz="2425" dirty="0">
                <a:solidFill>
                  <a:srgbClr val="7030A0"/>
                </a:solidFill>
              </a:rPr>
              <a:t>P。</a:t>
            </a:r>
            <a:r>
              <a:rPr lang="zh-CN" altLang="en-US" sz="2425" dirty="0">
                <a:solidFill>
                  <a:srgbClr val="7030A0"/>
                </a:solidFill>
              </a:rPr>
              <a:t>如果</a:t>
            </a:r>
            <a:r>
              <a:rPr lang="en-US" altLang="zh-CN" sz="2425" dirty="0">
                <a:solidFill>
                  <a:srgbClr val="7030A0"/>
                </a:solidFill>
              </a:rPr>
              <a:t>NODE(B)</a:t>
            </a:r>
            <a:r>
              <a:rPr lang="zh-CN" altLang="en-US" sz="2425" dirty="0">
                <a:solidFill>
                  <a:srgbClr val="7030A0"/>
                </a:solidFill>
              </a:rPr>
              <a:t>是处理当前四元式时新构造出来的结点，则删除它。如果</a:t>
            </a:r>
            <a:r>
              <a:rPr lang="en-US" altLang="zh-CN" sz="2425" dirty="0">
                <a:solidFill>
                  <a:srgbClr val="7030A0"/>
                </a:solidFill>
              </a:rPr>
              <a:t>NODE(P)</a:t>
            </a:r>
            <a:r>
              <a:rPr lang="zh-CN" altLang="en-US" sz="2425" dirty="0">
                <a:solidFill>
                  <a:srgbClr val="7030A0"/>
                </a:solidFill>
              </a:rPr>
              <a:t>已定义，则使用；如果</a:t>
            </a:r>
            <a:r>
              <a:rPr lang="en-US" altLang="zh-CN" sz="2425" dirty="0">
                <a:solidFill>
                  <a:srgbClr val="7030A0"/>
                </a:solidFill>
              </a:rPr>
              <a:t>NODE(P)</a:t>
            </a:r>
            <a:r>
              <a:rPr lang="zh-CN" altLang="en-US" sz="2425" dirty="0">
                <a:solidFill>
                  <a:srgbClr val="7030A0"/>
                </a:solidFill>
              </a:rPr>
              <a:t>无定义，则构造一用</a:t>
            </a:r>
            <a:r>
              <a:rPr lang="en-US" altLang="zh-CN" sz="2425" dirty="0">
                <a:solidFill>
                  <a:srgbClr val="7030A0"/>
                </a:solidFill>
              </a:rPr>
              <a:t>P</a:t>
            </a:r>
            <a:r>
              <a:rPr lang="zh-CN" altLang="en-US" sz="2425" dirty="0">
                <a:solidFill>
                  <a:srgbClr val="7030A0"/>
                </a:solidFill>
              </a:rPr>
              <a:t>作标记的叶结点</a:t>
            </a:r>
            <a:r>
              <a:rPr lang="en-US" altLang="zh-CN" sz="2425" dirty="0">
                <a:solidFill>
                  <a:srgbClr val="7030A0"/>
                </a:solidFill>
              </a:rPr>
              <a:t>n。</a:t>
            </a:r>
            <a:r>
              <a:rPr lang="zh-CN" altLang="en-US" sz="2425" dirty="0">
                <a:solidFill>
                  <a:srgbClr val="7030A0"/>
                </a:solidFill>
              </a:rPr>
              <a:t>置</a:t>
            </a:r>
            <a:r>
              <a:rPr lang="en-US" altLang="zh-CN" sz="2425" dirty="0">
                <a:solidFill>
                  <a:srgbClr val="7030A0"/>
                </a:solidFill>
              </a:rPr>
              <a:t>NODE(P)=n，</a:t>
            </a:r>
            <a:r>
              <a:rPr lang="zh-CN" altLang="en-US" sz="2425" dirty="0">
                <a:solidFill>
                  <a:srgbClr val="7030A0"/>
                </a:solidFill>
              </a:rPr>
              <a:t>转4 </a:t>
            </a:r>
            <a:r>
              <a:rPr lang="en-US" altLang="zh-CN" sz="2425" dirty="0">
                <a:solidFill>
                  <a:srgbClr val="7030A0"/>
                </a:solidFill>
              </a:rPr>
              <a:t>[</a:t>
            </a:r>
            <a:r>
              <a:rPr lang="zh-CN" altLang="en-US" sz="2425" dirty="0">
                <a:solidFill>
                  <a:srgbClr val="7030A0"/>
                </a:solidFill>
              </a:rPr>
              <a:t>删除无用赋值</a:t>
            </a:r>
            <a:r>
              <a:rPr lang="en-US" altLang="zh-CN" sz="2425" dirty="0">
                <a:solidFill>
                  <a:srgbClr val="7030A0"/>
                </a:solidFill>
              </a:rPr>
              <a:t>]</a:t>
            </a:r>
            <a:endParaRPr lang="zh-CN" altLang="en-US" sz="2425" dirty="0">
              <a:solidFill>
                <a:srgbClr val="7030A0"/>
              </a:solidFill>
            </a:endParaRPr>
          </a:p>
          <a:p>
            <a:pPr marL="708711" lvl="1" indent="-551219">
              <a:lnSpc>
                <a:spcPct val="120000"/>
              </a:lnSpc>
              <a:spcBef>
                <a:spcPts val="0"/>
              </a:spcBef>
              <a:buNone/>
            </a:pPr>
            <a:r>
              <a:rPr lang="zh-CN" altLang="en-US" sz="2425" dirty="0">
                <a:solidFill>
                  <a:schemeClr val="accent3">
                    <a:lumMod val="50000"/>
                  </a:schemeClr>
                </a:solidFill>
              </a:rPr>
              <a:t>(4)执行</a:t>
            </a:r>
            <a:r>
              <a:rPr lang="en-US" altLang="zh-CN" sz="2425" dirty="0">
                <a:solidFill>
                  <a:schemeClr val="accent3">
                    <a:lumMod val="50000"/>
                  </a:schemeClr>
                </a:solidFill>
              </a:rPr>
              <a:t>B op C (</a:t>
            </a:r>
            <a:r>
              <a:rPr lang="zh-CN" altLang="en-US" sz="2425" dirty="0">
                <a:solidFill>
                  <a:schemeClr val="accent3">
                    <a:lumMod val="50000"/>
                  </a:schemeClr>
                </a:solidFill>
              </a:rPr>
              <a:t>即合并已知量)。令得到的新常数为</a:t>
            </a:r>
            <a:r>
              <a:rPr lang="en-US" altLang="zh-CN" sz="2425" dirty="0">
                <a:solidFill>
                  <a:schemeClr val="accent3">
                    <a:lumMod val="50000"/>
                  </a:schemeClr>
                </a:solidFill>
              </a:rPr>
              <a:t>P。</a:t>
            </a:r>
            <a:r>
              <a:rPr lang="zh-CN" altLang="en-US" sz="2425" dirty="0">
                <a:solidFill>
                  <a:schemeClr val="accent3">
                    <a:lumMod val="50000"/>
                  </a:schemeClr>
                </a:solidFill>
              </a:rPr>
              <a:t>如果</a:t>
            </a:r>
            <a:r>
              <a:rPr lang="en-US" altLang="zh-CN" sz="2425" dirty="0">
                <a:solidFill>
                  <a:schemeClr val="accent3">
                    <a:lumMod val="50000"/>
                  </a:schemeClr>
                </a:solidFill>
              </a:rPr>
              <a:t>NODE(B)</a:t>
            </a:r>
            <a:r>
              <a:rPr lang="zh-CN" altLang="en-US" sz="2425" dirty="0">
                <a:solidFill>
                  <a:schemeClr val="accent3">
                    <a:lumMod val="50000"/>
                  </a:schemeClr>
                </a:solidFill>
              </a:rPr>
              <a:t>或</a:t>
            </a:r>
            <a:r>
              <a:rPr lang="en-US" altLang="zh-CN" sz="2425" dirty="0">
                <a:solidFill>
                  <a:schemeClr val="accent3">
                    <a:lumMod val="50000"/>
                  </a:schemeClr>
                </a:solidFill>
              </a:rPr>
              <a:t>NODE(C)</a:t>
            </a:r>
            <a:r>
              <a:rPr lang="zh-CN" altLang="en-US" sz="2425" dirty="0">
                <a:solidFill>
                  <a:schemeClr val="accent3">
                    <a:lumMod val="50000"/>
                  </a:schemeClr>
                </a:solidFill>
              </a:rPr>
              <a:t>是处理当前四元式时新构造出来的结点，则删除它。如果</a:t>
            </a:r>
            <a:r>
              <a:rPr lang="en-US" altLang="zh-CN" sz="2425" dirty="0">
                <a:solidFill>
                  <a:schemeClr val="accent3">
                    <a:lumMod val="50000"/>
                  </a:schemeClr>
                </a:solidFill>
              </a:rPr>
              <a:t>NODE(P)</a:t>
            </a:r>
            <a:r>
              <a:rPr lang="zh-CN" altLang="en-US" sz="2425" dirty="0">
                <a:solidFill>
                  <a:schemeClr val="accent3">
                    <a:lumMod val="50000"/>
                  </a:schemeClr>
                </a:solidFill>
              </a:rPr>
              <a:t>已定义，则使用；如果</a:t>
            </a:r>
            <a:r>
              <a:rPr lang="en-US" altLang="zh-CN" sz="2425" dirty="0">
                <a:solidFill>
                  <a:schemeClr val="accent3">
                    <a:lumMod val="50000"/>
                  </a:schemeClr>
                </a:solidFill>
              </a:rPr>
              <a:t>NODE(P)</a:t>
            </a:r>
            <a:r>
              <a:rPr lang="zh-CN" altLang="en-US" sz="2425" dirty="0">
                <a:solidFill>
                  <a:schemeClr val="accent3">
                    <a:lumMod val="50000"/>
                  </a:schemeClr>
                </a:solidFill>
              </a:rPr>
              <a:t>无定义，则构造一用</a:t>
            </a:r>
            <a:r>
              <a:rPr lang="en-US" altLang="zh-CN" sz="2425" dirty="0">
                <a:solidFill>
                  <a:schemeClr val="accent3">
                    <a:lumMod val="50000"/>
                  </a:schemeClr>
                </a:solidFill>
              </a:rPr>
              <a:t>P</a:t>
            </a:r>
            <a:r>
              <a:rPr lang="zh-CN" altLang="en-US" sz="2425" dirty="0">
                <a:solidFill>
                  <a:schemeClr val="accent3">
                    <a:lumMod val="50000"/>
                  </a:schemeClr>
                </a:solidFill>
              </a:rPr>
              <a:t>作标记的叶结点</a:t>
            </a:r>
            <a:r>
              <a:rPr lang="en-US" altLang="zh-CN" sz="2425" dirty="0">
                <a:solidFill>
                  <a:schemeClr val="accent3">
                    <a:lumMod val="50000"/>
                  </a:schemeClr>
                </a:solidFill>
              </a:rPr>
              <a:t>n。</a:t>
            </a:r>
            <a:r>
              <a:rPr lang="zh-CN" altLang="en-US" sz="2425" dirty="0">
                <a:solidFill>
                  <a:schemeClr val="accent3">
                    <a:lumMod val="50000"/>
                  </a:schemeClr>
                </a:solidFill>
              </a:rPr>
              <a:t>置</a:t>
            </a:r>
            <a:r>
              <a:rPr lang="en-US" altLang="zh-CN" sz="2425" dirty="0">
                <a:solidFill>
                  <a:schemeClr val="accent3">
                    <a:lumMod val="50000"/>
                  </a:schemeClr>
                </a:solidFill>
              </a:rPr>
              <a:t>NODE(P)=n，</a:t>
            </a:r>
            <a:r>
              <a:rPr lang="zh-CN" altLang="en-US" sz="2425" dirty="0">
                <a:solidFill>
                  <a:schemeClr val="accent3">
                    <a:lumMod val="50000"/>
                  </a:schemeClr>
                </a:solidFill>
              </a:rPr>
              <a:t>转4 </a:t>
            </a:r>
            <a:r>
              <a:rPr lang="en-US" altLang="zh-CN" sz="2425" dirty="0">
                <a:solidFill>
                  <a:schemeClr val="accent3">
                    <a:lumMod val="50000"/>
                  </a:schemeClr>
                </a:solidFill>
              </a:rPr>
              <a:t>[</a:t>
            </a:r>
            <a:r>
              <a:rPr lang="zh-CN" altLang="en-US" sz="2425" dirty="0">
                <a:solidFill>
                  <a:schemeClr val="accent3">
                    <a:lumMod val="50000"/>
                  </a:schemeClr>
                </a:solidFill>
              </a:rPr>
              <a:t>删除无用赋值</a:t>
            </a:r>
            <a:r>
              <a:rPr lang="en-US" altLang="zh-CN" sz="2425" dirty="0">
                <a:solidFill>
                  <a:schemeClr val="accent3">
                    <a:lumMod val="50000"/>
                  </a:schemeClr>
                </a:solidFill>
              </a:rPr>
              <a:t>]</a:t>
            </a:r>
          </a:p>
        </p:txBody>
      </p:sp>
      <p:sp>
        <p:nvSpPr>
          <p:cNvPr id="5" name="Text Box 3"/>
          <p:cNvSpPr txBox="1">
            <a:spLocks noChangeArrowheads="1"/>
          </p:cNvSpPr>
          <p:nvPr/>
        </p:nvSpPr>
        <p:spPr bwMode="auto">
          <a:xfrm>
            <a:off x="5613311" y="6783561"/>
            <a:ext cx="4387373" cy="646331"/>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342900" indent="-342900" defTabSz="503972" rtl="0" fontAlgn="auto" hangingPunct="1">
              <a:lnSpc>
                <a:spcPct val="100000"/>
              </a:lnSpc>
              <a:spcBef>
                <a:spcPct val="0"/>
              </a:spcBef>
              <a:spcAft>
                <a:spcPts val="0"/>
              </a:spcAft>
              <a:buClrTx/>
              <a:buSzTx/>
              <a:buAutoNum type="arabicPeriod"/>
            </a:pPr>
            <a:r>
              <a:rPr lang="zh-CN" altLang="en-US" sz="1800" dirty="0" smtClean="0">
                <a:solidFill>
                  <a:srgbClr val="0070C0"/>
                </a:solidFill>
                <a:latin typeface="微软雅黑" panose="020B0503020204020204" pitchFamily="34" charset="-122"/>
              </a:rPr>
              <a:t>准备</a:t>
            </a:r>
            <a:r>
              <a:rPr lang="zh-CN" altLang="en-US" sz="1800" dirty="0">
                <a:solidFill>
                  <a:srgbClr val="0070C0"/>
                </a:solidFill>
                <a:latin typeface="微软雅黑" panose="020B0503020204020204" pitchFamily="34" charset="-122"/>
              </a:rPr>
              <a:t>操作数的</a:t>
            </a:r>
            <a:r>
              <a:rPr lang="zh-CN" altLang="en-US" sz="1800" dirty="0" smtClean="0">
                <a:solidFill>
                  <a:srgbClr val="0070C0"/>
                </a:solidFill>
                <a:latin typeface="微软雅黑" panose="020B0503020204020204" pitchFamily="34" charset="-122"/>
              </a:rPr>
              <a:t>结点 </a:t>
            </a:r>
            <a:r>
              <a:rPr lang="zh-CN" altLang="en-US" sz="1800" dirty="0" smtClean="0">
                <a:solidFill>
                  <a:srgbClr val="C00000"/>
                </a:solidFill>
                <a:latin typeface="微软雅黑" panose="020B0503020204020204" pitchFamily="34" charset="-122"/>
              </a:rPr>
              <a:t>2</a:t>
            </a:r>
            <a:r>
              <a:rPr lang="zh-CN" altLang="en-US" sz="1800" dirty="0">
                <a:solidFill>
                  <a:srgbClr val="C00000"/>
                </a:solidFill>
                <a:latin typeface="微软雅黑" panose="020B0503020204020204" pitchFamily="34" charset="-122"/>
              </a:rPr>
              <a:t>. 合并已知</a:t>
            </a:r>
            <a:r>
              <a:rPr lang="zh-CN" altLang="en-US" sz="1800" dirty="0" smtClean="0">
                <a:solidFill>
                  <a:srgbClr val="C00000"/>
                </a:solidFill>
                <a:latin typeface="微软雅黑" panose="020B0503020204020204" pitchFamily="34" charset="-122"/>
              </a:rPr>
              <a:t>量</a:t>
            </a:r>
            <a:r>
              <a:rPr lang="en-US" altLang="zh-CN" sz="1800" dirty="0">
                <a:solidFill>
                  <a:srgbClr val="C00000"/>
                </a:solidFill>
                <a:latin typeface="微软雅黑" panose="020B0503020204020204" pitchFamily="34" charset="-122"/>
              </a:rPr>
              <a:t> </a:t>
            </a:r>
            <a:endParaRPr lang="en-US" altLang="zh-CN" sz="1800" dirty="0" smtClean="0">
              <a:solidFill>
                <a:srgbClr val="C00000"/>
              </a:solidFill>
              <a:latin typeface="微软雅黑" panose="020B0503020204020204" pitchFamily="34" charset="-122"/>
            </a:endParaRPr>
          </a:p>
          <a:p>
            <a:pPr defTabSz="503972" rtl="0" fontAlgn="auto" hangingPunct="1">
              <a:lnSpc>
                <a:spcPct val="100000"/>
              </a:lnSpc>
              <a:spcBef>
                <a:spcPct val="0"/>
              </a:spcBef>
              <a:spcAft>
                <a:spcPts val="0"/>
              </a:spcAft>
              <a:buClrTx/>
              <a:buSzTx/>
              <a:buNone/>
            </a:pPr>
            <a:r>
              <a:rPr lang="zh-CN" altLang="en-US" sz="1800" dirty="0" smtClean="0">
                <a:solidFill>
                  <a:srgbClr val="0070C0"/>
                </a:solidFill>
                <a:latin typeface="微软雅黑" panose="020B0503020204020204" pitchFamily="34" charset="-122"/>
              </a:rPr>
              <a:t>3</a:t>
            </a:r>
            <a:r>
              <a:rPr lang="zh-CN" altLang="en-US" sz="1800" dirty="0">
                <a:solidFill>
                  <a:srgbClr val="0070C0"/>
                </a:solidFill>
                <a:latin typeface="微软雅黑" panose="020B0503020204020204" pitchFamily="34" charset="-122"/>
              </a:rPr>
              <a:t>. 删除公共子</a:t>
            </a:r>
            <a:r>
              <a:rPr lang="zh-CN" altLang="en-US" sz="1800" dirty="0" smtClean="0">
                <a:solidFill>
                  <a:srgbClr val="0070C0"/>
                </a:solidFill>
                <a:latin typeface="微软雅黑" panose="020B0503020204020204" pitchFamily="34" charset="-122"/>
              </a:rPr>
              <a:t>表达式  4</a:t>
            </a:r>
            <a:r>
              <a:rPr lang="zh-CN" altLang="en-US" sz="1800" dirty="0">
                <a:solidFill>
                  <a:srgbClr val="0070C0"/>
                </a:solidFill>
                <a:latin typeface="微软雅黑" panose="020B0503020204020204" pitchFamily="34" charset="-122"/>
              </a:rPr>
              <a:t>. 删除无用赋值</a:t>
            </a:r>
            <a:endParaRPr lang="en-GB" altLang="zh-CN" sz="1800" dirty="0">
              <a:solidFill>
                <a:srgbClr val="0070C0"/>
              </a:solidFill>
              <a:latin typeface="微软雅黑" panose="020B0503020204020204" pitchFamily="34" charset="-122"/>
            </a:endParaRPr>
          </a:p>
        </p:txBody>
      </p:sp>
      <p:sp>
        <p:nvSpPr>
          <p:cNvPr id="6" name="矩形 5"/>
          <p:cNvSpPr/>
          <p:nvPr/>
        </p:nvSpPr>
        <p:spPr>
          <a:xfrm>
            <a:off x="3870234" y="1924347"/>
            <a:ext cx="1733937" cy="480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rPr>
              <a:t>A:=op B</a:t>
            </a:r>
            <a:endParaRPr lang="zh-CN" altLang="en-US" sz="2800" b="1" dirty="0">
              <a:solidFill>
                <a:srgbClr val="C00000"/>
              </a:solidFill>
            </a:endParaRPr>
          </a:p>
        </p:txBody>
      </p:sp>
      <p:sp>
        <p:nvSpPr>
          <p:cNvPr id="7" name="矩形 6"/>
          <p:cNvSpPr/>
          <p:nvPr/>
        </p:nvSpPr>
        <p:spPr>
          <a:xfrm>
            <a:off x="7155453" y="4589891"/>
            <a:ext cx="1733937" cy="480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rPr>
              <a:t>A:=op B</a:t>
            </a:r>
            <a:endParaRPr lang="zh-CN" altLang="en-US" sz="2800" b="1" dirty="0">
              <a:solidFill>
                <a:srgbClr val="C00000"/>
              </a:solidFill>
            </a:endParaRPr>
          </a:p>
        </p:txBody>
      </p:sp>
      <p:sp>
        <p:nvSpPr>
          <p:cNvPr id="8" name="矩形 7"/>
          <p:cNvSpPr/>
          <p:nvPr/>
        </p:nvSpPr>
        <p:spPr>
          <a:xfrm>
            <a:off x="5760360" y="2790481"/>
            <a:ext cx="2070138" cy="480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rPr>
              <a:t>A:= B op C</a:t>
            </a:r>
            <a:endParaRPr lang="zh-CN" altLang="en-US" sz="2800" b="1" dirty="0">
              <a:solidFill>
                <a:srgbClr val="C00000"/>
              </a:solidFill>
            </a:endParaRPr>
          </a:p>
        </p:txBody>
      </p:sp>
      <p:sp>
        <p:nvSpPr>
          <p:cNvPr id="9" name="矩形 8"/>
          <p:cNvSpPr/>
          <p:nvPr/>
        </p:nvSpPr>
        <p:spPr>
          <a:xfrm>
            <a:off x="990042" y="6866403"/>
            <a:ext cx="2070138" cy="480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rPr>
              <a:t>A:= B op C</a:t>
            </a:r>
            <a:endParaRPr lang="zh-CN" altLang="en-US" sz="2800" b="1" dirty="0">
              <a:solidFill>
                <a:srgbClr val="C00000"/>
              </a:solidFill>
            </a:endParaRPr>
          </a:p>
        </p:txBody>
      </p:sp>
    </p:spTree>
    <p:extLst>
      <p:ext uri="{BB962C8B-B14F-4D97-AF65-F5344CB8AC3E}">
        <p14:creationId xmlns:p14="http://schemas.microsoft.com/office/powerpoint/2010/main" val="34748809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a:xfrm>
            <a:off x="694987" y="400801"/>
            <a:ext cx="9127167" cy="1460347"/>
          </a:xfrm>
        </p:spPr>
        <p:txBody>
          <a:bodyPr>
            <a:normAutofit/>
          </a:bodyPr>
          <a:lstStyle/>
          <a:p>
            <a:r>
              <a:rPr lang="zh-CN" altLang="en-US" dirty="0"/>
              <a:t>0</a:t>
            </a:r>
            <a:r>
              <a:rPr lang="en-US" altLang="zh-CN" dirty="0"/>
              <a:t>,</a:t>
            </a:r>
            <a:r>
              <a:rPr lang="zh-CN" altLang="en-US" dirty="0"/>
              <a:t>1</a:t>
            </a:r>
            <a:r>
              <a:rPr lang="en-US" altLang="zh-CN" dirty="0"/>
              <a:t>,</a:t>
            </a:r>
            <a:r>
              <a:rPr lang="zh-CN" altLang="en-US" dirty="0"/>
              <a:t>2型四元式的基本块的</a:t>
            </a:r>
            <a:r>
              <a:rPr lang="en-US" altLang="zh-CN" dirty="0"/>
              <a:t>DAG</a:t>
            </a:r>
            <a:r>
              <a:rPr lang="zh-CN" altLang="en-US" dirty="0"/>
              <a:t>构造算法</a:t>
            </a:r>
          </a:p>
        </p:txBody>
      </p:sp>
      <p:sp>
        <p:nvSpPr>
          <p:cNvPr id="21506" name="Rectangle 2"/>
          <p:cNvSpPr>
            <a:spLocks noGrp="1" noChangeArrowheads="1"/>
          </p:cNvSpPr>
          <p:nvPr>
            <p:ph idx="1"/>
          </p:nvPr>
        </p:nvSpPr>
        <p:spPr>
          <a:xfrm>
            <a:off x="694987" y="1769480"/>
            <a:ext cx="8695531" cy="4797715"/>
          </a:xfrm>
        </p:spPr>
        <p:txBody>
          <a:bodyPr/>
          <a:lstStyle/>
          <a:p>
            <a:pPr marL="0" indent="0">
              <a:lnSpc>
                <a:spcPct val="90000"/>
              </a:lnSpc>
              <a:spcBef>
                <a:spcPts val="992"/>
              </a:spcBef>
              <a:buNone/>
            </a:pPr>
            <a:r>
              <a:rPr lang="zh-CN" altLang="en-US" dirty="0">
                <a:solidFill>
                  <a:srgbClr val="C00000"/>
                </a:solidFill>
              </a:rPr>
              <a:t>3. 删除公共子表达式</a:t>
            </a:r>
          </a:p>
          <a:p>
            <a:pPr marL="708711" lvl="1" indent="-551219">
              <a:lnSpc>
                <a:spcPct val="90000"/>
              </a:lnSpc>
              <a:spcBef>
                <a:spcPts val="992"/>
              </a:spcBef>
              <a:buNone/>
            </a:pPr>
            <a:r>
              <a:rPr lang="zh-CN" altLang="en-US" dirty="0" smtClean="0">
                <a:solidFill>
                  <a:srgbClr val="7030A0"/>
                </a:solidFill>
                <a:latin typeface="微软雅黑" panose="020B0503020204020204" pitchFamily="34" charset="-122"/>
              </a:rPr>
              <a:t>(1) 检查</a:t>
            </a:r>
            <a:r>
              <a:rPr lang="en-US" altLang="zh-CN" dirty="0">
                <a:solidFill>
                  <a:srgbClr val="7030A0"/>
                </a:solidFill>
                <a:latin typeface="微软雅黑" panose="020B0503020204020204" pitchFamily="34" charset="-122"/>
              </a:rPr>
              <a:t>DAG</a:t>
            </a:r>
            <a:r>
              <a:rPr lang="zh-CN" altLang="en-US" dirty="0">
                <a:solidFill>
                  <a:srgbClr val="7030A0"/>
                </a:solidFill>
                <a:latin typeface="微软雅黑" panose="020B0503020204020204" pitchFamily="34" charset="-122"/>
              </a:rPr>
              <a:t>中是否已有一结点，其唯一后继为</a:t>
            </a:r>
            <a:r>
              <a:rPr lang="en-US" altLang="zh-CN" dirty="0">
                <a:solidFill>
                  <a:srgbClr val="7030A0"/>
                </a:solidFill>
                <a:latin typeface="微软雅黑" panose="020B0503020204020204" pitchFamily="34" charset="-122"/>
              </a:rPr>
              <a:t>NODE(B)</a:t>
            </a:r>
            <a:r>
              <a:rPr lang="zh-CN" altLang="en-US" dirty="0">
                <a:solidFill>
                  <a:srgbClr val="7030A0"/>
                </a:solidFill>
                <a:latin typeface="微软雅黑" panose="020B0503020204020204" pitchFamily="34" charset="-122"/>
              </a:rPr>
              <a:t>且标记为</a:t>
            </a:r>
            <a:r>
              <a:rPr lang="en-US" altLang="zh-CN" dirty="0">
                <a:solidFill>
                  <a:srgbClr val="7030A0"/>
                </a:solidFill>
                <a:latin typeface="微软雅黑" panose="020B0503020204020204" pitchFamily="34" charset="-122"/>
              </a:rPr>
              <a:t>op(</a:t>
            </a:r>
            <a:r>
              <a:rPr lang="zh-CN" altLang="en-US" dirty="0">
                <a:solidFill>
                  <a:srgbClr val="7030A0"/>
                </a:solidFill>
                <a:latin typeface="微软雅黑" panose="020B0503020204020204" pitchFamily="34" charset="-122"/>
              </a:rPr>
              <a:t>即公共子表达式)。如果没有，则构造该结点</a:t>
            </a:r>
            <a:r>
              <a:rPr lang="en-US" altLang="zh-CN" dirty="0" smtClean="0">
                <a:solidFill>
                  <a:srgbClr val="7030A0"/>
                </a:solidFill>
                <a:latin typeface="微软雅黑" panose="020B0503020204020204" pitchFamily="34" charset="-122"/>
              </a:rPr>
              <a:t>n</a:t>
            </a:r>
            <a:r>
              <a:rPr lang="zh-CN" altLang="en-US" dirty="0" smtClean="0">
                <a:solidFill>
                  <a:srgbClr val="7030A0"/>
                </a:solidFill>
                <a:latin typeface="微软雅黑" panose="020B0503020204020204" pitchFamily="34" charset="-122"/>
              </a:rPr>
              <a:t>；否则</a:t>
            </a:r>
            <a:r>
              <a:rPr lang="zh-CN" altLang="en-US" dirty="0">
                <a:solidFill>
                  <a:srgbClr val="7030A0"/>
                </a:solidFill>
                <a:latin typeface="微软雅黑" panose="020B0503020204020204" pitchFamily="34" charset="-122"/>
              </a:rPr>
              <a:t>，把已有的结点作为它的结点并设该结点为</a:t>
            </a:r>
            <a:r>
              <a:rPr lang="en-US" altLang="zh-CN" dirty="0">
                <a:solidFill>
                  <a:srgbClr val="7030A0"/>
                </a:solidFill>
              </a:rPr>
              <a:t>n </a:t>
            </a:r>
            <a:r>
              <a:rPr lang="en-US" altLang="zh-CN" dirty="0" smtClean="0">
                <a:solidFill>
                  <a:srgbClr val="7030A0"/>
                </a:solidFill>
                <a:latin typeface="微软雅黑" panose="020B0503020204020204" pitchFamily="34" charset="-122"/>
              </a:rPr>
              <a:t>。</a:t>
            </a:r>
            <a:r>
              <a:rPr lang="zh-CN" altLang="en-US" dirty="0">
                <a:solidFill>
                  <a:srgbClr val="7030A0"/>
                </a:solidFill>
                <a:latin typeface="微软雅黑" panose="020B0503020204020204" pitchFamily="34" charset="-122"/>
              </a:rPr>
              <a:t>转</a:t>
            </a:r>
            <a:r>
              <a:rPr lang="zh-CN" altLang="en-US" dirty="0" smtClean="0">
                <a:solidFill>
                  <a:srgbClr val="7030A0"/>
                </a:solidFill>
                <a:latin typeface="微软雅黑" panose="020B0503020204020204" pitchFamily="34" charset="-122"/>
              </a:rPr>
              <a:t>4</a:t>
            </a:r>
            <a:r>
              <a:rPr lang="en-US" altLang="zh-CN" dirty="0">
                <a:solidFill>
                  <a:srgbClr val="7030A0"/>
                </a:solidFill>
              </a:rPr>
              <a:t>[</a:t>
            </a:r>
            <a:r>
              <a:rPr lang="zh-CN" altLang="en-US" dirty="0">
                <a:solidFill>
                  <a:srgbClr val="7030A0"/>
                </a:solidFill>
              </a:rPr>
              <a:t>删除无用赋值</a:t>
            </a:r>
            <a:r>
              <a:rPr lang="en-US" altLang="zh-CN" dirty="0" smtClean="0">
                <a:solidFill>
                  <a:srgbClr val="7030A0"/>
                </a:solidFill>
              </a:rPr>
              <a:t>]</a:t>
            </a:r>
            <a:r>
              <a:rPr lang="zh-CN" altLang="en-US" dirty="0" smtClean="0">
                <a:solidFill>
                  <a:srgbClr val="7030A0"/>
                </a:solidFill>
                <a:latin typeface="微软雅黑" panose="020B0503020204020204" pitchFamily="34" charset="-122"/>
              </a:rPr>
              <a:t>。</a:t>
            </a:r>
            <a:endParaRPr lang="en-US" altLang="zh-CN" dirty="0" smtClean="0">
              <a:solidFill>
                <a:srgbClr val="7030A0"/>
              </a:solidFill>
              <a:latin typeface="微软雅黑" panose="020B0503020204020204" pitchFamily="34" charset="-122"/>
            </a:endParaRPr>
          </a:p>
          <a:p>
            <a:pPr marL="708711" lvl="1" indent="-551219">
              <a:lnSpc>
                <a:spcPct val="90000"/>
              </a:lnSpc>
              <a:buNone/>
            </a:pPr>
            <a:r>
              <a:rPr lang="zh-CN" altLang="en-US" dirty="0" smtClean="0">
                <a:solidFill>
                  <a:schemeClr val="accent3">
                    <a:lumMod val="50000"/>
                  </a:schemeClr>
                </a:solidFill>
                <a:latin typeface="微软雅黑" panose="020B0503020204020204" pitchFamily="34" charset="-122"/>
              </a:rPr>
              <a:t>(</a:t>
            </a:r>
            <a:r>
              <a:rPr lang="zh-CN" altLang="en-US" dirty="0">
                <a:solidFill>
                  <a:schemeClr val="accent3">
                    <a:lumMod val="50000"/>
                  </a:schemeClr>
                </a:solidFill>
                <a:latin typeface="微软雅黑" panose="020B0503020204020204" pitchFamily="34" charset="-122"/>
              </a:rPr>
              <a:t>2)  检查</a:t>
            </a:r>
            <a:r>
              <a:rPr lang="en-US" altLang="zh-CN" dirty="0">
                <a:solidFill>
                  <a:schemeClr val="accent3">
                    <a:lumMod val="50000"/>
                  </a:schemeClr>
                </a:solidFill>
                <a:latin typeface="微软雅黑" panose="020B0503020204020204" pitchFamily="34" charset="-122"/>
              </a:rPr>
              <a:t>DAG</a:t>
            </a:r>
            <a:r>
              <a:rPr lang="zh-CN" altLang="en-US" dirty="0">
                <a:solidFill>
                  <a:schemeClr val="accent3">
                    <a:lumMod val="50000"/>
                  </a:schemeClr>
                </a:solidFill>
                <a:latin typeface="微软雅黑" panose="020B0503020204020204" pitchFamily="34" charset="-122"/>
              </a:rPr>
              <a:t>中是否已有一结点，其左后继为</a:t>
            </a:r>
            <a:r>
              <a:rPr lang="en-US" altLang="zh-CN" dirty="0">
                <a:solidFill>
                  <a:schemeClr val="accent3">
                    <a:lumMod val="50000"/>
                  </a:schemeClr>
                </a:solidFill>
                <a:latin typeface="微软雅黑" panose="020B0503020204020204" pitchFamily="34" charset="-122"/>
              </a:rPr>
              <a:t>NODE(B)，</a:t>
            </a:r>
            <a:r>
              <a:rPr lang="zh-CN" altLang="en-US" dirty="0">
                <a:solidFill>
                  <a:schemeClr val="accent3">
                    <a:lumMod val="50000"/>
                  </a:schemeClr>
                </a:solidFill>
                <a:latin typeface="微软雅黑" panose="020B0503020204020204" pitchFamily="34" charset="-122"/>
              </a:rPr>
              <a:t>右后继为</a:t>
            </a:r>
            <a:r>
              <a:rPr lang="en-US" altLang="zh-CN" dirty="0">
                <a:solidFill>
                  <a:schemeClr val="accent3">
                    <a:lumMod val="50000"/>
                  </a:schemeClr>
                </a:solidFill>
                <a:latin typeface="微软雅黑" panose="020B0503020204020204" pitchFamily="34" charset="-122"/>
              </a:rPr>
              <a:t>NODE(C)，</a:t>
            </a:r>
            <a:r>
              <a:rPr lang="zh-CN" altLang="en-US" dirty="0">
                <a:solidFill>
                  <a:schemeClr val="accent3">
                    <a:lumMod val="50000"/>
                  </a:schemeClr>
                </a:solidFill>
                <a:latin typeface="微软雅黑" panose="020B0503020204020204" pitchFamily="34" charset="-122"/>
              </a:rPr>
              <a:t>且标记为</a:t>
            </a:r>
            <a:r>
              <a:rPr lang="en-US" altLang="zh-CN" dirty="0">
                <a:solidFill>
                  <a:schemeClr val="accent3">
                    <a:lumMod val="50000"/>
                  </a:schemeClr>
                </a:solidFill>
                <a:latin typeface="微软雅黑" panose="020B0503020204020204" pitchFamily="34" charset="-122"/>
              </a:rPr>
              <a:t>op(</a:t>
            </a:r>
            <a:r>
              <a:rPr lang="zh-CN" altLang="en-US" dirty="0">
                <a:solidFill>
                  <a:schemeClr val="accent3">
                    <a:lumMod val="50000"/>
                  </a:schemeClr>
                </a:solidFill>
                <a:latin typeface="微软雅黑" panose="020B0503020204020204" pitchFamily="34" charset="-122"/>
              </a:rPr>
              <a:t>即公共子表达式)。如果没有，则构造该结点</a:t>
            </a:r>
            <a:r>
              <a:rPr lang="en-US" altLang="zh-CN" dirty="0" smtClean="0">
                <a:solidFill>
                  <a:schemeClr val="accent3">
                    <a:lumMod val="50000"/>
                  </a:schemeClr>
                </a:solidFill>
              </a:rPr>
              <a:t>n</a:t>
            </a:r>
            <a:r>
              <a:rPr lang="zh-CN" altLang="en-US" dirty="0" smtClean="0">
                <a:solidFill>
                  <a:schemeClr val="accent3">
                    <a:lumMod val="50000"/>
                  </a:schemeClr>
                </a:solidFill>
              </a:rPr>
              <a:t>；否则</a:t>
            </a:r>
            <a:r>
              <a:rPr lang="zh-CN" altLang="en-US" dirty="0">
                <a:solidFill>
                  <a:schemeClr val="accent3">
                    <a:lumMod val="50000"/>
                  </a:schemeClr>
                </a:solidFill>
                <a:latin typeface="微软雅黑" panose="020B0503020204020204" pitchFamily="34" charset="-122"/>
              </a:rPr>
              <a:t>，把已有的结点作为它的结点并设该结点为</a:t>
            </a:r>
            <a:r>
              <a:rPr lang="en-US" altLang="zh-CN" dirty="0" smtClean="0">
                <a:solidFill>
                  <a:schemeClr val="accent3">
                    <a:lumMod val="50000"/>
                  </a:schemeClr>
                </a:solidFill>
                <a:latin typeface="微软雅黑" panose="020B0503020204020204" pitchFamily="34" charset="-122"/>
              </a:rPr>
              <a:t>n。</a:t>
            </a:r>
            <a:r>
              <a:rPr lang="zh-CN" altLang="en-US" dirty="0">
                <a:solidFill>
                  <a:schemeClr val="accent3">
                    <a:lumMod val="50000"/>
                  </a:schemeClr>
                </a:solidFill>
                <a:latin typeface="微软雅黑" panose="020B0503020204020204" pitchFamily="34" charset="-122"/>
              </a:rPr>
              <a:t>转</a:t>
            </a:r>
            <a:r>
              <a:rPr lang="zh-CN" altLang="en-US" dirty="0" smtClean="0">
                <a:solidFill>
                  <a:schemeClr val="accent3">
                    <a:lumMod val="50000"/>
                  </a:schemeClr>
                </a:solidFill>
                <a:latin typeface="微软雅黑" panose="020B0503020204020204" pitchFamily="34" charset="-122"/>
              </a:rPr>
              <a:t>4</a:t>
            </a:r>
            <a:r>
              <a:rPr lang="en-US" altLang="zh-CN" dirty="0">
                <a:solidFill>
                  <a:schemeClr val="accent3">
                    <a:lumMod val="50000"/>
                  </a:schemeClr>
                </a:solidFill>
              </a:rPr>
              <a:t>[</a:t>
            </a:r>
            <a:r>
              <a:rPr lang="zh-CN" altLang="en-US" dirty="0">
                <a:solidFill>
                  <a:schemeClr val="accent3">
                    <a:lumMod val="50000"/>
                  </a:schemeClr>
                </a:solidFill>
              </a:rPr>
              <a:t>删除无用赋值</a:t>
            </a:r>
            <a:r>
              <a:rPr lang="en-US" altLang="zh-CN" dirty="0" smtClean="0">
                <a:solidFill>
                  <a:schemeClr val="accent3">
                    <a:lumMod val="50000"/>
                  </a:schemeClr>
                </a:solidFill>
              </a:rPr>
              <a:t>]</a:t>
            </a:r>
            <a:r>
              <a:rPr lang="zh-CN" altLang="en-US" dirty="0" smtClean="0">
                <a:solidFill>
                  <a:schemeClr val="accent3">
                    <a:lumMod val="50000"/>
                  </a:schemeClr>
                </a:solidFill>
                <a:latin typeface="微软雅黑" panose="020B0503020204020204" pitchFamily="34" charset="-122"/>
              </a:rPr>
              <a:t>。</a:t>
            </a:r>
            <a:endParaRPr lang="zh-CN" altLang="en-US" dirty="0">
              <a:solidFill>
                <a:schemeClr val="accent3">
                  <a:lumMod val="50000"/>
                </a:schemeClr>
              </a:solidFill>
              <a:latin typeface="微软雅黑" panose="020B0503020204020204" pitchFamily="34" charset="-122"/>
            </a:endParaRPr>
          </a:p>
        </p:txBody>
      </p:sp>
      <p:sp>
        <p:nvSpPr>
          <p:cNvPr id="6" name="矩形 5"/>
          <p:cNvSpPr/>
          <p:nvPr/>
        </p:nvSpPr>
        <p:spPr>
          <a:xfrm>
            <a:off x="1440072" y="5579957"/>
            <a:ext cx="2070138" cy="480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rPr>
              <a:t>A:= B op C</a:t>
            </a:r>
            <a:endParaRPr lang="zh-CN" altLang="en-US" sz="2800" b="1" dirty="0">
              <a:solidFill>
                <a:srgbClr val="C00000"/>
              </a:solidFill>
            </a:endParaRPr>
          </a:p>
        </p:txBody>
      </p:sp>
      <p:sp>
        <p:nvSpPr>
          <p:cNvPr id="7" name="矩形 6"/>
          <p:cNvSpPr/>
          <p:nvPr/>
        </p:nvSpPr>
        <p:spPr>
          <a:xfrm>
            <a:off x="5940372" y="3442508"/>
            <a:ext cx="1733937" cy="43433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rPr>
              <a:t>A:=op B</a:t>
            </a:r>
            <a:endParaRPr lang="zh-CN" altLang="en-US" sz="2800" b="1" dirty="0">
              <a:solidFill>
                <a:srgbClr val="C00000"/>
              </a:solidFill>
            </a:endParaRPr>
          </a:p>
        </p:txBody>
      </p:sp>
      <p:sp>
        <p:nvSpPr>
          <p:cNvPr id="8" name="Text Box 3"/>
          <p:cNvSpPr txBox="1">
            <a:spLocks noChangeArrowheads="1"/>
          </p:cNvSpPr>
          <p:nvPr/>
        </p:nvSpPr>
        <p:spPr bwMode="auto">
          <a:xfrm>
            <a:off x="6237023" y="5762389"/>
            <a:ext cx="3582743" cy="1569660"/>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342900" indent="-342900" defTabSz="503972" rtl="0" fontAlgn="auto" hangingPunct="1">
              <a:lnSpc>
                <a:spcPct val="100000"/>
              </a:lnSpc>
              <a:spcBef>
                <a:spcPct val="0"/>
              </a:spcBef>
              <a:spcAft>
                <a:spcPts val="0"/>
              </a:spcAft>
              <a:buClrTx/>
              <a:buSzTx/>
              <a:buAutoNum type="arabicPeriod"/>
            </a:pPr>
            <a:r>
              <a:rPr lang="zh-CN" altLang="en-US" sz="2400" dirty="0" smtClean="0">
                <a:solidFill>
                  <a:srgbClr val="0070C0"/>
                </a:solidFill>
                <a:latin typeface="微软雅黑" panose="020B0503020204020204" pitchFamily="34" charset="-122"/>
              </a:rPr>
              <a:t>准备</a:t>
            </a:r>
            <a:r>
              <a:rPr lang="zh-CN" altLang="en-US" sz="2400" dirty="0">
                <a:solidFill>
                  <a:srgbClr val="0070C0"/>
                </a:solidFill>
                <a:latin typeface="微软雅黑" panose="020B0503020204020204" pitchFamily="34" charset="-122"/>
              </a:rPr>
              <a:t>操作数的</a:t>
            </a:r>
            <a:r>
              <a:rPr lang="zh-CN" altLang="en-US" sz="2400" dirty="0" smtClean="0">
                <a:solidFill>
                  <a:srgbClr val="0070C0"/>
                </a:solidFill>
                <a:latin typeface="微软雅黑" panose="020B0503020204020204" pitchFamily="34" charset="-122"/>
              </a:rPr>
              <a:t>结点</a:t>
            </a:r>
            <a:endParaRPr lang="en-US" altLang="zh-CN" sz="2400" dirty="0" smtClean="0">
              <a:solidFill>
                <a:srgbClr val="0070C0"/>
              </a:solidFill>
              <a:latin typeface="微软雅黑" panose="020B0503020204020204" pitchFamily="34" charset="-122"/>
            </a:endParaRPr>
          </a:p>
          <a:p>
            <a:pPr defTabSz="503972" rtl="0" fontAlgn="auto" hangingPunct="1">
              <a:lnSpc>
                <a:spcPct val="100000"/>
              </a:lnSpc>
              <a:spcBef>
                <a:spcPct val="0"/>
              </a:spcBef>
              <a:spcAft>
                <a:spcPts val="0"/>
              </a:spcAft>
              <a:buClrTx/>
              <a:buSzTx/>
              <a:buNone/>
            </a:pPr>
            <a:r>
              <a:rPr lang="zh-CN" altLang="en-US" sz="2400" dirty="0">
                <a:solidFill>
                  <a:srgbClr val="0070C0"/>
                </a:solidFill>
                <a:latin typeface="微软雅黑" panose="020B0503020204020204" pitchFamily="34" charset="-122"/>
              </a:rPr>
              <a:t>2. 合并已知量</a:t>
            </a:r>
            <a:r>
              <a:rPr lang="en-US" altLang="zh-CN" sz="2400" dirty="0">
                <a:solidFill>
                  <a:srgbClr val="0070C0"/>
                </a:solidFill>
                <a:latin typeface="微软雅黑" panose="020B0503020204020204" pitchFamily="34" charset="-122"/>
              </a:rPr>
              <a:t> </a:t>
            </a:r>
          </a:p>
          <a:p>
            <a:pPr defTabSz="503972" rtl="0" fontAlgn="auto" hangingPunct="1">
              <a:lnSpc>
                <a:spcPct val="100000"/>
              </a:lnSpc>
              <a:spcBef>
                <a:spcPct val="0"/>
              </a:spcBef>
              <a:spcAft>
                <a:spcPts val="0"/>
              </a:spcAft>
              <a:buClrTx/>
              <a:buSzTx/>
              <a:buNone/>
            </a:pPr>
            <a:r>
              <a:rPr lang="zh-CN" altLang="en-US" sz="2400" dirty="0">
                <a:solidFill>
                  <a:srgbClr val="C00000"/>
                </a:solidFill>
                <a:latin typeface="微软雅黑" panose="020B0503020204020204" pitchFamily="34" charset="-122"/>
              </a:rPr>
              <a:t>3. 删除公共子表达式  </a:t>
            </a:r>
            <a:endParaRPr lang="en-US" altLang="zh-CN" sz="2400" dirty="0">
              <a:solidFill>
                <a:srgbClr val="C00000"/>
              </a:solidFill>
              <a:latin typeface="微软雅黑" panose="020B0503020204020204" pitchFamily="34" charset="-122"/>
            </a:endParaRPr>
          </a:p>
          <a:p>
            <a:pPr defTabSz="503972" rtl="0" fontAlgn="auto" hangingPunct="1">
              <a:lnSpc>
                <a:spcPct val="100000"/>
              </a:lnSpc>
              <a:spcBef>
                <a:spcPct val="0"/>
              </a:spcBef>
              <a:spcAft>
                <a:spcPts val="0"/>
              </a:spcAft>
              <a:buClrTx/>
              <a:buSzTx/>
              <a:buNone/>
            </a:pPr>
            <a:r>
              <a:rPr lang="zh-CN" altLang="en-US" sz="2400" dirty="0" smtClean="0">
                <a:solidFill>
                  <a:srgbClr val="0070C0"/>
                </a:solidFill>
                <a:latin typeface="微软雅黑" panose="020B0503020204020204" pitchFamily="34" charset="-122"/>
              </a:rPr>
              <a:t>4</a:t>
            </a:r>
            <a:r>
              <a:rPr lang="zh-CN" altLang="en-US" sz="2400" dirty="0">
                <a:solidFill>
                  <a:srgbClr val="0070C0"/>
                </a:solidFill>
                <a:latin typeface="微软雅黑" panose="020B0503020204020204" pitchFamily="34" charset="-122"/>
              </a:rPr>
              <a:t>. 删除无用赋值</a:t>
            </a:r>
            <a:endParaRPr lang="en-GB" altLang="zh-CN" sz="2400" dirty="0">
              <a:solidFill>
                <a:srgbClr val="0070C0"/>
              </a:solidFill>
              <a:latin typeface="微软雅黑" panose="020B0503020204020204" pitchFamily="34" charset="-122"/>
            </a:endParaRPr>
          </a:p>
        </p:txBody>
      </p:sp>
    </p:spTree>
    <p:extLst>
      <p:ext uri="{BB962C8B-B14F-4D97-AF65-F5344CB8AC3E}">
        <p14:creationId xmlns:p14="http://schemas.microsoft.com/office/powerpoint/2010/main" val="13336728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a:xfrm>
            <a:off x="694987" y="400801"/>
            <a:ext cx="9127167" cy="1460347"/>
          </a:xfrm>
        </p:spPr>
        <p:txBody>
          <a:bodyPr>
            <a:normAutofit/>
          </a:bodyPr>
          <a:lstStyle/>
          <a:p>
            <a:r>
              <a:rPr lang="zh-CN" altLang="en-US" dirty="0"/>
              <a:t>0</a:t>
            </a:r>
            <a:r>
              <a:rPr lang="en-US" altLang="zh-CN" dirty="0"/>
              <a:t>,</a:t>
            </a:r>
            <a:r>
              <a:rPr lang="zh-CN" altLang="en-US" dirty="0"/>
              <a:t>1</a:t>
            </a:r>
            <a:r>
              <a:rPr lang="en-US" altLang="zh-CN" dirty="0"/>
              <a:t>,</a:t>
            </a:r>
            <a:r>
              <a:rPr lang="zh-CN" altLang="en-US" dirty="0"/>
              <a:t>2型四元式的基本块的</a:t>
            </a:r>
            <a:r>
              <a:rPr lang="en-US" altLang="zh-CN" dirty="0"/>
              <a:t>DAG</a:t>
            </a:r>
            <a:r>
              <a:rPr lang="zh-CN" altLang="en-US" dirty="0"/>
              <a:t>构造算法</a:t>
            </a:r>
          </a:p>
        </p:txBody>
      </p:sp>
      <p:sp>
        <p:nvSpPr>
          <p:cNvPr id="22530" name="Rectangle 2"/>
          <p:cNvSpPr>
            <a:spLocks noGrp="1" noChangeArrowheads="1"/>
          </p:cNvSpPr>
          <p:nvPr>
            <p:ph idx="1"/>
          </p:nvPr>
        </p:nvSpPr>
        <p:spPr/>
        <p:txBody>
          <a:bodyPr/>
          <a:lstStyle/>
          <a:p>
            <a:pPr marL="551219" indent="-551219">
              <a:buNone/>
            </a:pPr>
            <a:r>
              <a:rPr lang="zh-CN" altLang="en-US" sz="3527" dirty="0">
                <a:solidFill>
                  <a:srgbClr val="C00000"/>
                </a:solidFill>
              </a:rPr>
              <a:t>4. 删除无用赋值</a:t>
            </a:r>
          </a:p>
          <a:p>
            <a:pPr marL="551219" indent="-551219">
              <a:buNone/>
            </a:pPr>
            <a:r>
              <a:rPr lang="zh-CN" altLang="en-US" dirty="0">
                <a:latin typeface="微软雅黑" panose="020B0503020204020204" pitchFamily="34" charset="-122"/>
              </a:rPr>
              <a:t>   如果</a:t>
            </a:r>
            <a:r>
              <a:rPr lang="en-US" altLang="zh-CN" dirty="0">
                <a:latin typeface="微软雅黑" panose="020B0503020204020204" pitchFamily="34" charset="-122"/>
              </a:rPr>
              <a:t>NODE(A)</a:t>
            </a:r>
            <a:r>
              <a:rPr lang="zh-CN" altLang="en-US" dirty="0">
                <a:latin typeface="微软雅黑" panose="020B0503020204020204" pitchFamily="34" charset="-122"/>
              </a:rPr>
              <a:t>无定义，则把</a:t>
            </a:r>
            <a:r>
              <a:rPr lang="en-US" altLang="zh-CN" dirty="0">
                <a:latin typeface="微软雅黑" panose="020B0503020204020204" pitchFamily="34" charset="-122"/>
              </a:rPr>
              <a:t>A</a:t>
            </a:r>
            <a:r>
              <a:rPr lang="zh-CN" altLang="en-US" dirty="0">
                <a:latin typeface="微软雅黑" panose="020B0503020204020204" pitchFamily="34" charset="-122"/>
              </a:rPr>
              <a:t>附加在结点</a:t>
            </a:r>
            <a:r>
              <a:rPr lang="en-US" altLang="zh-CN" dirty="0">
                <a:latin typeface="微软雅黑" panose="020B0503020204020204" pitchFamily="34" charset="-122"/>
              </a:rPr>
              <a:t>n</a:t>
            </a:r>
            <a:r>
              <a:rPr lang="zh-CN" altLang="en-US" dirty="0">
                <a:latin typeface="微软雅黑" panose="020B0503020204020204" pitchFamily="34" charset="-122"/>
              </a:rPr>
              <a:t>上并令</a:t>
            </a:r>
            <a:r>
              <a:rPr lang="en-US" altLang="zh-CN" dirty="0">
                <a:latin typeface="微软雅黑" panose="020B0503020204020204" pitchFamily="34" charset="-122"/>
              </a:rPr>
              <a:t>NODE(A)=n;</a:t>
            </a:r>
            <a:r>
              <a:rPr lang="zh-CN" altLang="en-US" dirty="0">
                <a:latin typeface="微软雅黑" panose="020B0503020204020204" pitchFamily="34" charset="-122"/>
              </a:rPr>
              <a:t>否则，先把</a:t>
            </a:r>
            <a:r>
              <a:rPr lang="en-US" altLang="zh-CN" dirty="0">
                <a:latin typeface="微软雅黑" panose="020B0503020204020204" pitchFamily="34" charset="-122"/>
              </a:rPr>
              <a:t>A</a:t>
            </a:r>
            <a:r>
              <a:rPr lang="zh-CN" altLang="en-US" dirty="0">
                <a:latin typeface="微软雅黑" panose="020B0503020204020204" pitchFamily="34" charset="-122"/>
              </a:rPr>
              <a:t>从</a:t>
            </a:r>
            <a:r>
              <a:rPr lang="en-US" altLang="zh-CN" dirty="0">
                <a:latin typeface="微软雅黑" panose="020B0503020204020204" pitchFamily="34" charset="-122"/>
              </a:rPr>
              <a:t>NODE(A)</a:t>
            </a:r>
            <a:r>
              <a:rPr lang="zh-CN" altLang="en-US" dirty="0">
                <a:latin typeface="微软雅黑" panose="020B0503020204020204" pitchFamily="34" charset="-122"/>
              </a:rPr>
              <a:t>结点上的附加标识符集中删除(注意，如果</a:t>
            </a:r>
            <a:r>
              <a:rPr lang="en-US" altLang="zh-CN" dirty="0">
                <a:latin typeface="微软雅黑" panose="020B0503020204020204" pitchFamily="34" charset="-122"/>
              </a:rPr>
              <a:t>NODE(A)</a:t>
            </a:r>
            <a:r>
              <a:rPr lang="zh-CN" altLang="en-US" dirty="0">
                <a:latin typeface="微软雅黑" panose="020B0503020204020204" pitchFamily="34" charset="-122"/>
              </a:rPr>
              <a:t>是叶结点，即</a:t>
            </a:r>
            <a:r>
              <a:rPr lang="zh-CN" altLang="en-US" dirty="0">
                <a:solidFill>
                  <a:srgbClr val="C00000"/>
                </a:solidFill>
                <a:latin typeface="微软雅黑" panose="020B0503020204020204" pitchFamily="34" charset="-122"/>
              </a:rPr>
              <a:t>原节点的标记</a:t>
            </a:r>
            <a:r>
              <a:rPr lang="zh-CN" altLang="en-US" dirty="0">
                <a:latin typeface="微软雅黑" panose="020B0503020204020204" pitchFamily="34" charset="-122"/>
              </a:rPr>
              <a:t>，则其</a:t>
            </a:r>
            <a:r>
              <a:rPr lang="en-US" altLang="zh-CN" dirty="0">
                <a:latin typeface="微软雅黑" panose="020B0503020204020204" pitchFamily="34" charset="-122"/>
              </a:rPr>
              <a:t>A</a:t>
            </a:r>
            <a:r>
              <a:rPr lang="zh-CN" altLang="en-US" dirty="0">
                <a:latin typeface="微软雅黑" panose="020B0503020204020204" pitchFamily="34" charset="-122"/>
              </a:rPr>
              <a:t>标记不删除)。把</a:t>
            </a:r>
            <a:r>
              <a:rPr lang="en-US" altLang="zh-CN" dirty="0">
                <a:latin typeface="微软雅黑" panose="020B0503020204020204" pitchFamily="34" charset="-122"/>
              </a:rPr>
              <a:t>A</a:t>
            </a:r>
            <a:r>
              <a:rPr lang="zh-CN" altLang="en-US" dirty="0">
                <a:latin typeface="微软雅黑" panose="020B0503020204020204" pitchFamily="34" charset="-122"/>
              </a:rPr>
              <a:t>附加到新结点</a:t>
            </a:r>
            <a:r>
              <a:rPr lang="en-US" altLang="zh-CN" dirty="0">
                <a:latin typeface="微软雅黑" panose="020B0503020204020204" pitchFamily="34" charset="-122"/>
              </a:rPr>
              <a:t>n</a:t>
            </a:r>
            <a:r>
              <a:rPr lang="zh-CN" altLang="en-US" dirty="0">
                <a:latin typeface="微软雅黑" panose="020B0503020204020204" pitchFamily="34" charset="-122"/>
              </a:rPr>
              <a:t>上并置</a:t>
            </a:r>
            <a:r>
              <a:rPr lang="en-US" altLang="zh-CN" dirty="0">
                <a:latin typeface="微软雅黑" panose="020B0503020204020204" pitchFamily="34" charset="-122"/>
              </a:rPr>
              <a:t>NODE(A)=n。</a:t>
            </a:r>
            <a:r>
              <a:rPr lang="zh-CN" altLang="en-US" dirty="0">
                <a:latin typeface="微软雅黑" panose="020B0503020204020204" pitchFamily="34" charset="-122"/>
              </a:rPr>
              <a:t>转处理下一四元式。</a:t>
            </a:r>
          </a:p>
        </p:txBody>
      </p:sp>
      <p:sp>
        <p:nvSpPr>
          <p:cNvPr id="5" name="Text Box 3"/>
          <p:cNvSpPr txBox="1">
            <a:spLocks noChangeArrowheads="1"/>
          </p:cNvSpPr>
          <p:nvPr/>
        </p:nvSpPr>
        <p:spPr bwMode="auto">
          <a:xfrm>
            <a:off x="6387792" y="5829415"/>
            <a:ext cx="3607423" cy="1720984"/>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zh-CN" altLang="en-US" sz="2646" dirty="0">
                <a:solidFill>
                  <a:srgbClr val="0070C0"/>
                </a:solidFill>
                <a:latin typeface="微软雅黑" panose="020B0503020204020204" pitchFamily="34" charset="-122"/>
              </a:rPr>
              <a:t>1. 准备操作数的结点 </a:t>
            </a:r>
          </a:p>
          <a:p>
            <a:pPr defTabSz="503972" rtl="0" fontAlgn="auto" hangingPunct="1">
              <a:lnSpc>
                <a:spcPct val="100000"/>
              </a:lnSpc>
              <a:spcBef>
                <a:spcPct val="0"/>
              </a:spcBef>
              <a:spcAft>
                <a:spcPts val="0"/>
              </a:spcAft>
              <a:buClrTx/>
              <a:buSzTx/>
              <a:buNone/>
            </a:pPr>
            <a:r>
              <a:rPr lang="zh-CN" altLang="en-US" sz="2646" dirty="0">
                <a:solidFill>
                  <a:srgbClr val="0070C0"/>
                </a:solidFill>
                <a:latin typeface="微软雅黑" panose="020B0503020204020204" pitchFamily="34" charset="-122"/>
              </a:rPr>
              <a:t>2. 合并已知量</a:t>
            </a:r>
          </a:p>
          <a:p>
            <a:pPr defTabSz="503972" rtl="0" fontAlgn="auto" hangingPunct="1">
              <a:lnSpc>
                <a:spcPct val="100000"/>
              </a:lnSpc>
              <a:spcBef>
                <a:spcPct val="0"/>
              </a:spcBef>
              <a:spcAft>
                <a:spcPts val="0"/>
              </a:spcAft>
              <a:buClrTx/>
              <a:buSzTx/>
              <a:buNone/>
            </a:pPr>
            <a:r>
              <a:rPr lang="zh-CN" altLang="en-US" sz="2646" dirty="0">
                <a:solidFill>
                  <a:srgbClr val="0070C0"/>
                </a:solidFill>
                <a:latin typeface="微软雅黑" panose="020B0503020204020204" pitchFamily="34" charset="-122"/>
              </a:rPr>
              <a:t>3. 删除公共子表达式</a:t>
            </a:r>
          </a:p>
          <a:p>
            <a:pPr defTabSz="503972" rtl="0" fontAlgn="auto" hangingPunct="1">
              <a:lnSpc>
                <a:spcPct val="100000"/>
              </a:lnSpc>
              <a:spcBef>
                <a:spcPct val="0"/>
              </a:spcBef>
              <a:spcAft>
                <a:spcPts val="0"/>
              </a:spcAft>
              <a:buClrTx/>
              <a:buSzTx/>
              <a:buNone/>
            </a:pPr>
            <a:r>
              <a:rPr lang="zh-CN" altLang="en-US" sz="2646" dirty="0">
                <a:solidFill>
                  <a:srgbClr val="C00000"/>
                </a:solidFill>
                <a:latin typeface="微软雅黑" panose="020B0503020204020204" pitchFamily="34" charset="-122"/>
              </a:rPr>
              <a:t>4. 删除无用赋值</a:t>
            </a:r>
            <a:endParaRPr lang="en-GB" altLang="zh-CN" sz="2646" dirty="0">
              <a:solidFill>
                <a:srgbClr val="C00000"/>
              </a:solidFill>
              <a:latin typeface="微软雅黑" panose="020B0503020204020204" pitchFamily="34" charset="-122"/>
            </a:endParaRPr>
          </a:p>
        </p:txBody>
      </p:sp>
    </p:spTree>
    <p:extLst>
      <p:ext uri="{BB962C8B-B14F-4D97-AF65-F5344CB8AC3E}">
        <p14:creationId xmlns:p14="http://schemas.microsoft.com/office/powerpoint/2010/main" val="34097770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构造基本块的</a:t>
            </a:r>
            <a:r>
              <a:rPr lang="en-US" altLang="zh-CN" dirty="0"/>
              <a:t>DAG</a:t>
            </a:r>
            <a:r>
              <a:rPr lang="zh-CN" altLang="en-US" dirty="0"/>
              <a:t>示例</a:t>
            </a:r>
          </a:p>
        </p:txBody>
      </p:sp>
      <p:sp>
        <p:nvSpPr>
          <p:cNvPr id="90" name="Oval 3"/>
          <p:cNvSpPr>
            <a:spLocks noChangeArrowheads="1"/>
          </p:cNvSpPr>
          <p:nvPr/>
        </p:nvSpPr>
        <p:spPr bwMode="auto">
          <a:xfrm>
            <a:off x="4154343" y="6321962"/>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1" name="Rectangle 4"/>
          <p:cNvSpPr>
            <a:spLocks noChangeArrowheads="1"/>
          </p:cNvSpPr>
          <p:nvPr/>
        </p:nvSpPr>
        <p:spPr bwMode="auto">
          <a:xfrm>
            <a:off x="4084936" y="6897338"/>
            <a:ext cx="719220"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3.14</a:t>
            </a:r>
          </a:p>
        </p:txBody>
      </p:sp>
      <p:sp>
        <p:nvSpPr>
          <p:cNvPr id="92" name="Rectangle 5"/>
          <p:cNvSpPr>
            <a:spLocks noChangeArrowheads="1"/>
          </p:cNvSpPr>
          <p:nvPr/>
        </p:nvSpPr>
        <p:spPr bwMode="auto">
          <a:xfrm>
            <a:off x="4624350" y="6441832"/>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3" name="Oval 6"/>
          <p:cNvSpPr>
            <a:spLocks noChangeArrowheads="1"/>
          </p:cNvSpPr>
          <p:nvPr/>
        </p:nvSpPr>
        <p:spPr bwMode="auto">
          <a:xfrm>
            <a:off x="5247674" y="6321962"/>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4" name="Rectangle 7"/>
          <p:cNvSpPr>
            <a:spLocks noChangeArrowheads="1"/>
          </p:cNvSpPr>
          <p:nvPr/>
        </p:nvSpPr>
        <p:spPr bwMode="auto">
          <a:xfrm>
            <a:off x="5175752" y="6897338"/>
            <a:ext cx="719220"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6.28</a:t>
            </a:r>
          </a:p>
        </p:txBody>
      </p:sp>
      <p:sp>
        <p:nvSpPr>
          <p:cNvPr id="95" name="Rectangle 8"/>
          <p:cNvSpPr>
            <a:spLocks noChangeArrowheads="1"/>
          </p:cNvSpPr>
          <p:nvPr/>
        </p:nvSpPr>
        <p:spPr bwMode="auto">
          <a:xfrm>
            <a:off x="5667218" y="6441832"/>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6" name="Oval 9"/>
          <p:cNvSpPr>
            <a:spLocks noChangeArrowheads="1"/>
          </p:cNvSpPr>
          <p:nvPr/>
        </p:nvSpPr>
        <p:spPr bwMode="auto">
          <a:xfrm>
            <a:off x="6686112" y="6321962"/>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7" name="Oval 10"/>
          <p:cNvSpPr>
            <a:spLocks noChangeArrowheads="1"/>
          </p:cNvSpPr>
          <p:nvPr/>
        </p:nvSpPr>
        <p:spPr bwMode="auto">
          <a:xfrm>
            <a:off x="8196473" y="6321962"/>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8" name="Rectangle 11"/>
          <p:cNvSpPr>
            <a:spLocks noChangeArrowheads="1"/>
          </p:cNvSpPr>
          <p:nvPr/>
        </p:nvSpPr>
        <p:spPr bwMode="auto">
          <a:xfrm>
            <a:off x="6542269" y="6897338"/>
            <a:ext cx="719220"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R</a:t>
            </a:r>
          </a:p>
        </p:txBody>
      </p:sp>
      <p:sp>
        <p:nvSpPr>
          <p:cNvPr id="99" name="Rectangle 12"/>
          <p:cNvSpPr>
            <a:spLocks noChangeArrowheads="1"/>
          </p:cNvSpPr>
          <p:nvPr/>
        </p:nvSpPr>
        <p:spPr bwMode="auto">
          <a:xfrm>
            <a:off x="8124550" y="6897338"/>
            <a:ext cx="719220"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a:t>
            </a:r>
          </a:p>
        </p:txBody>
      </p:sp>
      <p:sp>
        <p:nvSpPr>
          <p:cNvPr id="100" name="Oval 13"/>
          <p:cNvSpPr>
            <a:spLocks noChangeArrowheads="1"/>
          </p:cNvSpPr>
          <p:nvPr/>
        </p:nvSpPr>
        <p:spPr bwMode="auto">
          <a:xfrm>
            <a:off x="7189566" y="5027367"/>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5</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01" name="Group 47"/>
          <p:cNvGrpSpPr>
            <a:grpSpLocks/>
          </p:cNvGrpSpPr>
          <p:nvPr/>
        </p:nvGrpSpPr>
        <p:grpSpPr bwMode="auto">
          <a:xfrm>
            <a:off x="7045723" y="5530822"/>
            <a:ext cx="1222672" cy="791140"/>
            <a:chOff x="3936" y="2544"/>
            <a:chExt cx="816" cy="528"/>
          </a:xfrm>
        </p:grpSpPr>
        <p:sp>
          <p:nvSpPr>
            <p:cNvPr id="102" name="Line 14"/>
            <p:cNvSpPr>
              <a:spLocks noChangeShapeType="1"/>
            </p:cNvSpPr>
            <p:nvPr/>
          </p:nvSpPr>
          <p:spPr bwMode="auto">
            <a:xfrm flipH="1">
              <a:off x="3936" y="2544"/>
              <a:ext cx="192"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3" name="Line 15"/>
            <p:cNvSpPr>
              <a:spLocks noChangeShapeType="1"/>
            </p:cNvSpPr>
            <p:nvPr/>
          </p:nvSpPr>
          <p:spPr bwMode="auto">
            <a:xfrm>
              <a:off x="4272" y="2544"/>
              <a:ext cx="48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04" name="Rectangle 16"/>
          <p:cNvSpPr>
            <a:spLocks noChangeArrowheads="1"/>
          </p:cNvSpPr>
          <p:nvPr/>
        </p:nvSpPr>
        <p:spPr bwMode="auto">
          <a:xfrm>
            <a:off x="7261489" y="5530821"/>
            <a:ext cx="359609"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05" name="Rectangle 17"/>
          <p:cNvSpPr>
            <a:spLocks noChangeArrowheads="1"/>
          </p:cNvSpPr>
          <p:nvPr/>
        </p:nvSpPr>
        <p:spPr bwMode="auto">
          <a:xfrm>
            <a:off x="7621096" y="5099289"/>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6" name="Oval 18"/>
          <p:cNvSpPr>
            <a:spLocks noChangeArrowheads="1"/>
          </p:cNvSpPr>
          <p:nvPr/>
        </p:nvSpPr>
        <p:spPr bwMode="auto">
          <a:xfrm>
            <a:off x="6542268" y="4164304"/>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07" name="Group 48"/>
          <p:cNvGrpSpPr>
            <a:grpSpLocks/>
          </p:cNvGrpSpPr>
          <p:nvPr/>
        </p:nvGrpSpPr>
        <p:grpSpPr bwMode="auto">
          <a:xfrm>
            <a:off x="5607285" y="4595837"/>
            <a:ext cx="1798046" cy="1714138"/>
            <a:chOff x="2976" y="1920"/>
            <a:chExt cx="1200" cy="1144"/>
          </a:xfrm>
        </p:grpSpPr>
        <p:sp>
          <p:nvSpPr>
            <p:cNvPr id="108" name="Line 19"/>
            <p:cNvSpPr>
              <a:spLocks noChangeShapeType="1"/>
            </p:cNvSpPr>
            <p:nvPr/>
          </p:nvSpPr>
          <p:spPr bwMode="auto">
            <a:xfrm flipH="1">
              <a:off x="2976" y="1976"/>
              <a:ext cx="720" cy="10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9" name="Line 20"/>
            <p:cNvSpPr>
              <a:spLocks noChangeShapeType="1"/>
            </p:cNvSpPr>
            <p:nvPr/>
          </p:nvSpPr>
          <p:spPr bwMode="auto">
            <a:xfrm>
              <a:off x="3888" y="1920"/>
              <a:ext cx="288" cy="2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10" name="Rectangle 21"/>
          <p:cNvSpPr>
            <a:spLocks noChangeArrowheads="1"/>
          </p:cNvSpPr>
          <p:nvPr/>
        </p:nvSpPr>
        <p:spPr bwMode="auto">
          <a:xfrm>
            <a:off x="6686113" y="4739681"/>
            <a:ext cx="359609"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11" name="Rectangle 22"/>
          <p:cNvSpPr>
            <a:spLocks noChangeArrowheads="1"/>
          </p:cNvSpPr>
          <p:nvPr/>
        </p:nvSpPr>
        <p:spPr bwMode="auto">
          <a:xfrm>
            <a:off x="6973800" y="4236228"/>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a:t>
            </a:r>
          </a:p>
        </p:txBody>
      </p:sp>
      <p:sp>
        <p:nvSpPr>
          <p:cNvPr id="112" name="Rectangle 23"/>
          <p:cNvSpPr>
            <a:spLocks noChangeArrowheads="1"/>
          </p:cNvSpPr>
          <p:nvPr/>
        </p:nvSpPr>
        <p:spPr bwMode="auto">
          <a:xfrm>
            <a:off x="7333409" y="4236228"/>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a:t>
            </a:r>
          </a:p>
        </p:txBody>
      </p:sp>
      <p:sp>
        <p:nvSpPr>
          <p:cNvPr id="113" name="Rectangle 24"/>
          <p:cNvSpPr>
            <a:spLocks noChangeArrowheads="1"/>
          </p:cNvSpPr>
          <p:nvPr/>
        </p:nvSpPr>
        <p:spPr bwMode="auto">
          <a:xfrm>
            <a:off x="6026827" y="6441832"/>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4" name="Rectangle 25"/>
          <p:cNvSpPr>
            <a:spLocks noChangeArrowheads="1"/>
          </p:cNvSpPr>
          <p:nvPr/>
        </p:nvSpPr>
        <p:spPr bwMode="auto">
          <a:xfrm>
            <a:off x="8052627" y="5099289"/>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5" name="Rectangle 26"/>
          <p:cNvSpPr>
            <a:spLocks noChangeArrowheads="1"/>
          </p:cNvSpPr>
          <p:nvPr/>
        </p:nvSpPr>
        <p:spPr bwMode="auto">
          <a:xfrm>
            <a:off x="7764940" y="4236228"/>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5</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6" name="Oval 27"/>
          <p:cNvSpPr>
            <a:spLocks noChangeArrowheads="1"/>
          </p:cNvSpPr>
          <p:nvPr/>
        </p:nvSpPr>
        <p:spPr bwMode="auto">
          <a:xfrm>
            <a:off x="8771847" y="5099289"/>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7</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7" name="Group 49"/>
          <p:cNvGrpSpPr>
            <a:grpSpLocks/>
          </p:cNvGrpSpPr>
          <p:nvPr/>
        </p:nvGrpSpPr>
        <p:grpSpPr bwMode="auto">
          <a:xfrm>
            <a:off x="7045722" y="5530822"/>
            <a:ext cx="2013813" cy="863063"/>
            <a:chOff x="3936" y="2544"/>
            <a:chExt cx="1344" cy="576"/>
          </a:xfrm>
        </p:grpSpPr>
        <p:sp>
          <p:nvSpPr>
            <p:cNvPr id="118" name="Line 28"/>
            <p:cNvSpPr>
              <a:spLocks noChangeShapeType="1"/>
            </p:cNvSpPr>
            <p:nvPr/>
          </p:nvSpPr>
          <p:spPr bwMode="auto">
            <a:xfrm flipV="1">
              <a:off x="3936" y="2544"/>
              <a:ext cx="120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9" name="Line 29"/>
            <p:cNvSpPr>
              <a:spLocks noChangeShapeType="1"/>
            </p:cNvSpPr>
            <p:nvPr/>
          </p:nvSpPr>
          <p:spPr bwMode="auto">
            <a:xfrm flipV="1">
              <a:off x="4992" y="2592"/>
              <a:ext cx="288"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0" name="Rectangle 30"/>
          <p:cNvSpPr>
            <a:spLocks noChangeArrowheads="1"/>
          </p:cNvSpPr>
          <p:nvPr/>
        </p:nvSpPr>
        <p:spPr bwMode="auto">
          <a:xfrm>
            <a:off x="9275300" y="5243135"/>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1" name="Rectangle 31"/>
          <p:cNvSpPr>
            <a:spLocks noChangeArrowheads="1"/>
          </p:cNvSpPr>
          <p:nvPr/>
        </p:nvSpPr>
        <p:spPr bwMode="auto">
          <a:xfrm>
            <a:off x="8628005" y="5530821"/>
            <a:ext cx="359609"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22" name="Oval 32"/>
          <p:cNvSpPr>
            <a:spLocks noChangeArrowheads="1"/>
          </p:cNvSpPr>
          <p:nvPr/>
        </p:nvSpPr>
        <p:spPr bwMode="auto">
          <a:xfrm>
            <a:off x="7836862" y="2869711"/>
            <a:ext cx="503454" cy="50345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8</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23" name="Group 50"/>
          <p:cNvGrpSpPr>
            <a:grpSpLocks/>
          </p:cNvGrpSpPr>
          <p:nvPr/>
        </p:nvGrpSpPr>
        <p:grpSpPr bwMode="auto">
          <a:xfrm>
            <a:off x="6973799" y="3361177"/>
            <a:ext cx="2001827" cy="1726126"/>
            <a:chOff x="3888" y="1096"/>
            <a:chExt cx="1336" cy="1152"/>
          </a:xfrm>
        </p:grpSpPr>
        <p:sp>
          <p:nvSpPr>
            <p:cNvPr id="124" name="Line 33"/>
            <p:cNvSpPr>
              <a:spLocks noChangeShapeType="1"/>
            </p:cNvSpPr>
            <p:nvPr/>
          </p:nvSpPr>
          <p:spPr bwMode="auto">
            <a:xfrm flipH="1">
              <a:off x="3888" y="1104"/>
              <a:ext cx="672" cy="57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5" name="Line 34"/>
            <p:cNvSpPr>
              <a:spLocks noChangeShapeType="1"/>
            </p:cNvSpPr>
            <p:nvPr/>
          </p:nvSpPr>
          <p:spPr bwMode="auto">
            <a:xfrm>
              <a:off x="4720" y="1096"/>
              <a:ext cx="504" cy="115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6" name="Rectangle 35"/>
          <p:cNvSpPr>
            <a:spLocks noChangeArrowheads="1"/>
          </p:cNvSpPr>
          <p:nvPr/>
        </p:nvSpPr>
        <p:spPr bwMode="auto">
          <a:xfrm>
            <a:off x="7908785" y="3445086"/>
            <a:ext cx="359609"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27" name="Rectangle 36"/>
          <p:cNvSpPr>
            <a:spLocks noChangeArrowheads="1"/>
          </p:cNvSpPr>
          <p:nvPr/>
        </p:nvSpPr>
        <p:spPr bwMode="auto">
          <a:xfrm>
            <a:off x="8340315" y="2941633"/>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a:t>
            </a:r>
          </a:p>
        </p:txBody>
      </p:sp>
      <p:sp>
        <p:nvSpPr>
          <p:cNvPr id="128" name="Line 37"/>
          <p:cNvSpPr>
            <a:spLocks noChangeShapeType="1"/>
          </p:cNvSpPr>
          <p:nvPr/>
        </p:nvSpPr>
        <p:spPr bwMode="auto">
          <a:xfrm flipH="1">
            <a:off x="7477254" y="4164304"/>
            <a:ext cx="359609" cy="50345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9" name="Rectangle 51"/>
          <p:cNvSpPr>
            <a:spLocks noChangeArrowheads="1"/>
          </p:cNvSpPr>
          <p:nvPr/>
        </p:nvSpPr>
        <p:spPr bwMode="auto">
          <a:xfrm>
            <a:off x="9275300" y="5243135"/>
            <a:ext cx="503454" cy="2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0" name="Text Box 3"/>
          <p:cNvSpPr txBox="1">
            <a:spLocks noChangeArrowheads="1"/>
          </p:cNvSpPr>
          <p:nvPr/>
        </p:nvSpPr>
        <p:spPr bwMode="auto">
          <a:xfrm>
            <a:off x="3177830" y="2159333"/>
            <a:ext cx="3500200" cy="1720984"/>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a:spAutoFit/>
          </a:bodyP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r>
              <a:rPr kumimoji="0" lang="zh-CN" altLang="en-US" sz="2646" b="0" i="0" u="none" strike="noStrike" kern="1200" cap="none" spc="0" normalizeH="0" baseline="0" noProof="0" dirty="0">
                <a:ln>
                  <a:noFill/>
                </a:ln>
                <a:solidFill>
                  <a:srgbClr val="0070C0"/>
                </a:solidFill>
                <a:effectLst/>
                <a:uLnTx/>
                <a:uFillTx/>
                <a:latin typeface="微软雅黑" pitchFamily="34" charset="-122"/>
                <a:ea typeface="微软雅黑" pitchFamily="34" charset="-122"/>
                <a:cs typeface="+mn-cs"/>
              </a:rPr>
              <a:t>1. 准备操作数的结点 </a:t>
            </a:r>
          </a:p>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r>
              <a:rPr kumimoji="0" lang="zh-CN" altLang="en-US" sz="2646" b="0" i="0" u="none" strike="noStrike" kern="1200" cap="none" spc="0" normalizeH="0" baseline="0" noProof="0" dirty="0">
                <a:ln>
                  <a:noFill/>
                </a:ln>
                <a:solidFill>
                  <a:srgbClr val="0070C0"/>
                </a:solidFill>
                <a:effectLst/>
                <a:uLnTx/>
                <a:uFillTx/>
                <a:latin typeface="微软雅黑" pitchFamily="34" charset="-122"/>
                <a:ea typeface="微软雅黑" pitchFamily="34" charset="-122"/>
                <a:cs typeface="+mn-cs"/>
              </a:rPr>
              <a:t>2. 合并已知量</a:t>
            </a:r>
          </a:p>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r>
              <a:rPr kumimoji="0" lang="zh-CN" altLang="en-US" sz="2646" b="0" i="0" u="none" strike="noStrike" kern="1200" cap="none" spc="0" normalizeH="0" baseline="0" noProof="0" dirty="0">
                <a:ln>
                  <a:noFill/>
                </a:ln>
                <a:solidFill>
                  <a:srgbClr val="0070C0"/>
                </a:solidFill>
                <a:effectLst/>
                <a:uLnTx/>
                <a:uFillTx/>
                <a:latin typeface="微软雅黑" pitchFamily="34" charset="-122"/>
                <a:ea typeface="微软雅黑" pitchFamily="34" charset="-122"/>
                <a:cs typeface="+mn-cs"/>
              </a:rPr>
              <a:t>3. 删除公共子表达式</a:t>
            </a:r>
          </a:p>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r>
              <a:rPr kumimoji="0" lang="zh-CN" altLang="en-US" sz="2646" b="0" i="0" u="none" strike="noStrike" kern="1200" cap="none" spc="0" normalizeH="0" baseline="0" noProof="0" dirty="0">
                <a:ln>
                  <a:noFill/>
                </a:ln>
                <a:solidFill>
                  <a:srgbClr val="0070C0"/>
                </a:solidFill>
                <a:effectLst/>
                <a:uLnTx/>
                <a:uFillTx/>
                <a:latin typeface="微软雅黑" pitchFamily="34" charset="-122"/>
                <a:ea typeface="微软雅黑" pitchFamily="34" charset="-122"/>
                <a:cs typeface="+mn-cs"/>
              </a:rPr>
              <a:t>4. 删除无用赋值</a:t>
            </a:r>
            <a:endParaRPr kumimoji="0" lang="en-GB" sz="2646" b="0" i="0" u="none" strike="noStrike" kern="1200" cap="none" spc="0" normalizeH="0" baseline="0" noProof="0" dirty="0">
              <a:ln>
                <a:noFill/>
              </a:ln>
              <a:solidFill>
                <a:srgbClr val="0070C0"/>
              </a:solidFill>
              <a:effectLst/>
              <a:uLnTx/>
              <a:uFillTx/>
              <a:latin typeface="微软雅黑" pitchFamily="34" charset="-122"/>
              <a:ea typeface="微软雅黑" pitchFamily="34" charset="-122"/>
              <a:cs typeface="+mn-cs"/>
            </a:endParaRPr>
          </a:p>
        </p:txBody>
      </p:sp>
      <p:sp>
        <p:nvSpPr>
          <p:cNvPr id="131" name="文本框 130"/>
          <p:cNvSpPr txBox="1"/>
          <p:nvPr/>
        </p:nvSpPr>
        <p:spPr>
          <a:xfrm>
            <a:off x="484038" y="2159334"/>
            <a:ext cx="2525050" cy="416396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pPr marL="0" marR="0" lvl="0" indent="0" algn="l" defTabSz="431545" rtl="0" eaLnBrk="1" fontAlgn="auto" latinLnBrk="0" hangingPunct="1">
              <a:lnSpc>
                <a:spcPct val="100000"/>
              </a:lnSpc>
              <a:spcBef>
                <a:spcPct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(1) 	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0</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:=3.14</a:t>
            </a:r>
          </a:p>
          <a:p>
            <a:pPr marL="0" marR="0" lvl="0" indent="0" algn="l" defTabSz="431545" rtl="0" eaLnBrk="1" fontAlgn="auto" latinLnBrk="0" hangingPunct="1">
              <a:lnSpc>
                <a:spcPct val="100000"/>
              </a:lnSpc>
              <a:spcBef>
                <a:spcPct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(2) 	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1</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:=2*T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0</a:t>
            </a:r>
            <a:endPar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endParaRPr>
          </a:p>
          <a:p>
            <a:pPr marL="0" marR="0" lvl="0" indent="0" algn="l" defTabSz="431545" rtl="0" eaLnBrk="1" fontAlgn="auto" latinLnBrk="0" hangingPunct="1">
              <a:lnSpc>
                <a:spcPct val="100000"/>
              </a:lnSpc>
              <a:spcBef>
                <a:spcPct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(3) 	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2</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a:t>
            </a:r>
            <a:r>
              <a:rPr kumimoji="0" lang="en-US" altLang="zh-CN" sz="2646" b="0" i="0" u="none" strike="noStrike" kern="1200" cap="none" spc="0" normalizeH="0" baseline="0" noProof="0" dirty="0" err="1">
                <a:ln>
                  <a:noFill/>
                </a:ln>
                <a:solidFill>
                  <a:prstClr val="black"/>
                </a:solidFill>
                <a:effectLst/>
                <a:uLnTx/>
                <a:uFillTx/>
                <a:latin typeface="微软雅黑" panose="020B0503020204020204" pitchFamily="34" charset="-122"/>
                <a:ea typeface="黑体" panose="02010609060101010101" pitchFamily="49" charset="-122"/>
                <a:cs typeface="+mn-cs"/>
              </a:rPr>
              <a:t>R+r</a:t>
            </a:r>
            <a:endPar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endParaRPr>
          </a:p>
          <a:p>
            <a:pPr marL="0" marR="0" lvl="0" indent="0" algn="l" defTabSz="431545" rtl="0" eaLnBrk="1" fontAlgn="auto" latinLnBrk="0" hangingPunct="1">
              <a:lnSpc>
                <a:spcPct val="100000"/>
              </a:lnSpc>
              <a:spcBef>
                <a:spcPct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(4) 	A:=T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1</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2</a:t>
            </a:r>
            <a:endPar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endParaRPr>
          </a:p>
          <a:p>
            <a:pPr marL="0" marR="0" lvl="0" indent="0" algn="l" defTabSz="431545" rtl="0" eaLnBrk="1" fontAlgn="auto" latinLnBrk="0" hangingPunct="1">
              <a:lnSpc>
                <a:spcPct val="100000"/>
              </a:lnSpc>
              <a:spcBef>
                <a:spcPct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(5) 	B:=A</a:t>
            </a:r>
          </a:p>
          <a:p>
            <a:pPr marL="0" marR="0" lvl="0" indent="0" algn="l" defTabSz="431545" rtl="0" eaLnBrk="1" fontAlgn="auto" latinLnBrk="0" hangingPunct="1">
              <a:lnSpc>
                <a:spcPct val="100000"/>
              </a:lnSpc>
              <a:spcBef>
                <a:spcPct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(6) 	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3</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:=2*T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0</a:t>
            </a:r>
            <a:endPar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endParaRPr>
          </a:p>
          <a:p>
            <a:pPr marL="0" marR="0" lvl="0" indent="0" algn="l" defTabSz="431545" rtl="0" eaLnBrk="1" fontAlgn="auto" latinLnBrk="0" hangingPunct="1">
              <a:lnSpc>
                <a:spcPct val="100000"/>
              </a:lnSpc>
              <a:spcBef>
                <a:spcPct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(7) 	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4</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a:t>
            </a:r>
            <a:r>
              <a:rPr kumimoji="0" lang="en-US" altLang="zh-CN" sz="2646" b="0" i="0" u="none" strike="noStrike" kern="1200" cap="none" spc="0" normalizeH="0" baseline="0" noProof="0" dirty="0" err="1">
                <a:ln>
                  <a:noFill/>
                </a:ln>
                <a:solidFill>
                  <a:prstClr val="black"/>
                </a:solidFill>
                <a:effectLst/>
                <a:uLnTx/>
                <a:uFillTx/>
                <a:latin typeface="微软雅黑" panose="020B0503020204020204" pitchFamily="34" charset="-122"/>
                <a:ea typeface="黑体" panose="02010609060101010101" pitchFamily="49" charset="-122"/>
                <a:cs typeface="+mn-cs"/>
              </a:rPr>
              <a:t>R+r</a:t>
            </a:r>
            <a:endPar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endParaRPr>
          </a:p>
          <a:p>
            <a:pPr marL="0" marR="0" lvl="0" indent="0" algn="l" defTabSz="431545" rtl="0" eaLnBrk="1" fontAlgn="auto" latinLnBrk="0" hangingPunct="1">
              <a:lnSpc>
                <a:spcPct val="100000"/>
              </a:lnSpc>
              <a:spcBef>
                <a:spcPct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(8) 	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5</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3</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4</a:t>
            </a:r>
            <a:endPar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endParaRPr>
          </a:p>
          <a:p>
            <a:pPr marL="0" marR="0" lvl="0" indent="0" algn="l" defTabSz="431545" rtl="0" eaLnBrk="1" fontAlgn="auto" latinLnBrk="0" hangingPunct="1">
              <a:lnSpc>
                <a:spcPct val="100000"/>
              </a:lnSpc>
              <a:spcBef>
                <a:spcPct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(9) 	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6</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:=R-r</a:t>
            </a:r>
          </a:p>
          <a:p>
            <a:pPr marL="0" marR="0" lvl="0" indent="0" algn="l" defTabSz="431545" rtl="0" eaLnBrk="1" fontAlgn="auto" latinLnBrk="0" hangingPunct="1">
              <a:lnSpc>
                <a:spcPct val="100000"/>
              </a:lnSpc>
              <a:spcBef>
                <a:spcPct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(10)	 B:=T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5</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rPr>
              <a:t>*T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黑体" panose="02010609060101010101" pitchFamily="49" charset="-122"/>
                <a:cs typeface="+mn-cs"/>
              </a:rPr>
              <a:t>6</a:t>
            </a:r>
            <a:endParaRPr kumimoji="0"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黑体" panose="02010609060101010101" pitchFamily="49" charset="-122"/>
              <a:cs typeface="+mn-cs"/>
            </a:endParaRPr>
          </a:p>
        </p:txBody>
      </p:sp>
    </p:spTree>
    <p:extLst>
      <p:ext uri="{BB962C8B-B14F-4D97-AF65-F5344CB8AC3E}">
        <p14:creationId xmlns:p14="http://schemas.microsoft.com/office/powerpoint/2010/main" val="3654104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31">
                                            <p:txEl>
                                              <p:pRg st="0" end="0"/>
                                            </p:txEl>
                                          </p:spTgt>
                                        </p:tgtEl>
                                        <p:attrNameLst>
                                          <p:attrName>style.color</p:attrName>
                                        </p:attrNameLst>
                                      </p:cBhvr>
                                      <p:to>
                                        <p:clrVal>
                                          <a:schemeClr val="accent2"/>
                                        </p:clrVal>
                                      </p:to>
                                    </p:set>
                                    <p:set>
                                      <p:cBhvr>
                                        <p:cTn id="7" dur="500" fill="hold"/>
                                        <p:tgtEl>
                                          <p:spTgt spid="131">
                                            <p:txEl>
                                              <p:pRg st="0" end="0"/>
                                            </p:txEl>
                                          </p:spTgt>
                                        </p:tgtEl>
                                        <p:attrNameLst>
                                          <p:attrName>fillcolor</p:attrName>
                                        </p:attrNameLst>
                                      </p:cBhvr>
                                      <p:to>
                                        <p:clrVal>
                                          <a:schemeClr val="accent2"/>
                                        </p:clrVal>
                                      </p:to>
                                    </p:set>
                                    <p:set>
                                      <p:cBhvr>
                                        <p:cTn id="8" dur="500" fill="hold"/>
                                        <p:tgtEl>
                                          <p:spTgt spid="131">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90"/>
                                        </p:tgtEl>
                                        <p:attrNameLst>
                                          <p:attrName>style.visibility</p:attrName>
                                        </p:attrNameLst>
                                      </p:cBhvr>
                                      <p:to>
                                        <p:strVal val="visible"/>
                                      </p:to>
                                    </p:set>
                                    <p:animEffect transition="in" filter="wipe(up)">
                                      <p:cBhvr>
                                        <p:cTn id="13" dur="500"/>
                                        <p:tgtEl>
                                          <p:spTgt spid="9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91"/>
                                        </p:tgtEl>
                                        <p:attrNameLst>
                                          <p:attrName>style.visibility</p:attrName>
                                        </p:attrNameLst>
                                      </p:cBhvr>
                                      <p:to>
                                        <p:strVal val="visible"/>
                                      </p:to>
                                    </p:set>
                                    <p:animEffect transition="in" filter="wipe(up)">
                                      <p:cBhvr>
                                        <p:cTn id="18" dur="500"/>
                                        <p:tgtEl>
                                          <p:spTgt spid="9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wipe(up)">
                                      <p:cBhvr>
                                        <p:cTn id="23" dur="500"/>
                                        <p:tgtEl>
                                          <p:spTgt spid="92"/>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mph" presetSubtype="0" fill="hold" nodeType="clickEffect">
                                  <p:stCondLst>
                                    <p:cond delay="0"/>
                                  </p:stCondLst>
                                  <p:iterate type="lt">
                                    <p:tmPct val="4000"/>
                                  </p:iterate>
                                  <p:childTnLst>
                                    <p:set>
                                      <p:cBhvr override="childStyle">
                                        <p:cTn id="27" dur="500" fill="hold"/>
                                        <p:tgtEl>
                                          <p:spTgt spid="131">
                                            <p:txEl>
                                              <p:pRg st="1" end="1"/>
                                            </p:txEl>
                                          </p:spTgt>
                                        </p:tgtEl>
                                        <p:attrNameLst>
                                          <p:attrName>style.color</p:attrName>
                                        </p:attrNameLst>
                                      </p:cBhvr>
                                      <p:to>
                                        <p:clrVal>
                                          <a:schemeClr val="accent2"/>
                                        </p:clrVal>
                                      </p:to>
                                    </p:set>
                                    <p:set>
                                      <p:cBhvr>
                                        <p:cTn id="28" dur="500" fill="hold"/>
                                        <p:tgtEl>
                                          <p:spTgt spid="131">
                                            <p:txEl>
                                              <p:pRg st="1" end="1"/>
                                            </p:txEl>
                                          </p:spTgt>
                                        </p:tgtEl>
                                        <p:attrNameLst>
                                          <p:attrName>fillcolor</p:attrName>
                                        </p:attrNameLst>
                                      </p:cBhvr>
                                      <p:to>
                                        <p:clrVal>
                                          <a:schemeClr val="accent2"/>
                                        </p:clrVal>
                                      </p:to>
                                    </p:set>
                                    <p:set>
                                      <p:cBhvr>
                                        <p:cTn id="29" dur="500" fill="hold"/>
                                        <p:tgtEl>
                                          <p:spTgt spid="131">
                                            <p:txEl>
                                              <p:pRg st="1" end="1"/>
                                            </p:txEl>
                                          </p:spTgt>
                                        </p:tgtEl>
                                        <p:attrNameLst>
                                          <p:attrName>fill.type</p:attrName>
                                        </p:attrNameLst>
                                      </p:cBhvr>
                                      <p:to>
                                        <p:strVal val="solid"/>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93"/>
                                        </p:tgtEl>
                                        <p:attrNameLst>
                                          <p:attrName>style.visibility</p:attrName>
                                        </p:attrNameLst>
                                      </p:cBhvr>
                                      <p:to>
                                        <p:strVal val="visible"/>
                                      </p:to>
                                    </p:set>
                                    <p:animEffect transition="in" filter="wipe(up)">
                                      <p:cBhvr>
                                        <p:cTn id="34" dur="500"/>
                                        <p:tgtEl>
                                          <p:spTgt spid="9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94"/>
                                        </p:tgtEl>
                                        <p:attrNameLst>
                                          <p:attrName>style.visibility</p:attrName>
                                        </p:attrNameLst>
                                      </p:cBhvr>
                                      <p:to>
                                        <p:strVal val="visible"/>
                                      </p:to>
                                    </p:set>
                                    <p:animEffect transition="in" filter="wipe(up)">
                                      <p:cBhvr>
                                        <p:cTn id="39" dur="500"/>
                                        <p:tgtEl>
                                          <p:spTgt spid="9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95"/>
                                        </p:tgtEl>
                                        <p:attrNameLst>
                                          <p:attrName>style.visibility</p:attrName>
                                        </p:attrNameLst>
                                      </p:cBhvr>
                                      <p:to>
                                        <p:strVal val="visible"/>
                                      </p:to>
                                    </p:set>
                                    <p:animEffect transition="in" filter="wipe(up)">
                                      <p:cBhvr>
                                        <p:cTn id="44" dur="500"/>
                                        <p:tgtEl>
                                          <p:spTgt spid="95"/>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mph" presetSubtype="0" fill="hold" nodeType="clickEffect">
                                  <p:stCondLst>
                                    <p:cond delay="0"/>
                                  </p:stCondLst>
                                  <p:iterate type="lt">
                                    <p:tmPct val="4000"/>
                                  </p:iterate>
                                  <p:childTnLst>
                                    <p:set>
                                      <p:cBhvr override="childStyle">
                                        <p:cTn id="48" dur="500" fill="hold"/>
                                        <p:tgtEl>
                                          <p:spTgt spid="131">
                                            <p:txEl>
                                              <p:pRg st="2" end="2"/>
                                            </p:txEl>
                                          </p:spTgt>
                                        </p:tgtEl>
                                        <p:attrNameLst>
                                          <p:attrName>style.color</p:attrName>
                                        </p:attrNameLst>
                                      </p:cBhvr>
                                      <p:to>
                                        <p:clrVal>
                                          <a:schemeClr val="accent2"/>
                                        </p:clrVal>
                                      </p:to>
                                    </p:set>
                                    <p:set>
                                      <p:cBhvr>
                                        <p:cTn id="49" dur="500" fill="hold"/>
                                        <p:tgtEl>
                                          <p:spTgt spid="131">
                                            <p:txEl>
                                              <p:pRg st="2" end="2"/>
                                            </p:txEl>
                                          </p:spTgt>
                                        </p:tgtEl>
                                        <p:attrNameLst>
                                          <p:attrName>fillcolor</p:attrName>
                                        </p:attrNameLst>
                                      </p:cBhvr>
                                      <p:to>
                                        <p:clrVal>
                                          <a:schemeClr val="accent2"/>
                                        </p:clrVal>
                                      </p:to>
                                    </p:set>
                                    <p:set>
                                      <p:cBhvr>
                                        <p:cTn id="50" dur="500" fill="hold"/>
                                        <p:tgtEl>
                                          <p:spTgt spid="131">
                                            <p:txEl>
                                              <p:pRg st="2" end="2"/>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96"/>
                                        </p:tgtEl>
                                        <p:attrNameLst>
                                          <p:attrName>style.visibility</p:attrName>
                                        </p:attrNameLst>
                                      </p:cBhvr>
                                      <p:to>
                                        <p:strVal val="visible"/>
                                      </p:to>
                                    </p:set>
                                    <p:animEffect transition="in" filter="wipe(up)">
                                      <p:cBhvr>
                                        <p:cTn id="55" dur="500"/>
                                        <p:tgtEl>
                                          <p:spTgt spid="9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98"/>
                                        </p:tgtEl>
                                        <p:attrNameLst>
                                          <p:attrName>style.visibility</p:attrName>
                                        </p:attrNameLst>
                                      </p:cBhvr>
                                      <p:to>
                                        <p:strVal val="visible"/>
                                      </p:to>
                                    </p:set>
                                    <p:animEffect transition="in" filter="wipe(up)">
                                      <p:cBhvr>
                                        <p:cTn id="60" dur="500"/>
                                        <p:tgtEl>
                                          <p:spTgt spid="9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97"/>
                                        </p:tgtEl>
                                        <p:attrNameLst>
                                          <p:attrName>style.visibility</p:attrName>
                                        </p:attrNameLst>
                                      </p:cBhvr>
                                      <p:to>
                                        <p:strVal val="visible"/>
                                      </p:to>
                                    </p:set>
                                    <p:animEffect transition="in" filter="wipe(up)">
                                      <p:cBhvr>
                                        <p:cTn id="65" dur="500"/>
                                        <p:tgtEl>
                                          <p:spTgt spid="9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99"/>
                                        </p:tgtEl>
                                        <p:attrNameLst>
                                          <p:attrName>style.visibility</p:attrName>
                                        </p:attrNameLst>
                                      </p:cBhvr>
                                      <p:to>
                                        <p:strVal val="visible"/>
                                      </p:to>
                                    </p:set>
                                    <p:animEffect transition="in" filter="wipe(up)">
                                      <p:cBhvr>
                                        <p:cTn id="70" dur="500"/>
                                        <p:tgtEl>
                                          <p:spTgt spid="9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101"/>
                                        </p:tgtEl>
                                        <p:attrNameLst>
                                          <p:attrName>style.visibility</p:attrName>
                                        </p:attrNameLst>
                                      </p:cBhvr>
                                      <p:to>
                                        <p:strVal val="visible"/>
                                      </p:to>
                                    </p:set>
                                    <p:animEffect transition="in" filter="wipe(down)">
                                      <p:cBhvr>
                                        <p:cTn id="75" dur="500"/>
                                        <p:tgtEl>
                                          <p:spTgt spid="10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100"/>
                                        </p:tgtEl>
                                        <p:attrNameLst>
                                          <p:attrName>style.visibility</p:attrName>
                                        </p:attrNameLst>
                                      </p:cBhvr>
                                      <p:to>
                                        <p:strVal val="visible"/>
                                      </p:to>
                                    </p:set>
                                    <p:animEffect transition="in" filter="wipe(up)">
                                      <p:cBhvr>
                                        <p:cTn id="80" dur="500"/>
                                        <p:tgtEl>
                                          <p:spTgt spid="10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104"/>
                                        </p:tgtEl>
                                        <p:attrNameLst>
                                          <p:attrName>style.visibility</p:attrName>
                                        </p:attrNameLst>
                                      </p:cBhvr>
                                      <p:to>
                                        <p:strVal val="visible"/>
                                      </p:to>
                                    </p:set>
                                    <p:animEffect transition="in" filter="wipe(up)">
                                      <p:cBhvr>
                                        <p:cTn id="85" dur="500"/>
                                        <p:tgtEl>
                                          <p:spTgt spid="104"/>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105"/>
                                        </p:tgtEl>
                                        <p:attrNameLst>
                                          <p:attrName>style.visibility</p:attrName>
                                        </p:attrNameLst>
                                      </p:cBhvr>
                                      <p:to>
                                        <p:strVal val="visible"/>
                                      </p:to>
                                    </p:set>
                                    <p:animEffect transition="in" filter="wipe(up)">
                                      <p:cBhvr>
                                        <p:cTn id="90" dur="500"/>
                                        <p:tgtEl>
                                          <p:spTgt spid="105"/>
                                        </p:tgtEl>
                                      </p:cBhvr>
                                    </p:animEffect>
                                  </p:childTnLst>
                                </p:cTn>
                              </p:par>
                            </p:childTnLst>
                          </p:cTn>
                        </p:par>
                      </p:childTnLst>
                    </p:cTn>
                  </p:par>
                  <p:par>
                    <p:cTn id="91" fill="hold">
                      <p:stCondLst>
                        <p:cond delay="indefinite"/>
                      </p:stCondLst>
                      <p:childTnLst>
                        <p:par>
                          <p:cTn id="92" fill="hold">
                            <p:stCondLst>
                              <p:cond delay="0"/>
                            </p:stCondLst>
                            <p:childTnLst>
                              <p:par>
                                <p:cTn id="93" presetID="16" presetClass="emph" presetSubtype="0" fill="hold" nodeType="clickEffect">
                                  <p:stCondLst>
                                    <p:cond delay="0"/>
                                  </p:stCondLst>
                                  <p:iterate type="lt">
                                    <p:tmPct val="4000"/>
                                  </p:iterate>
                                  <p:childTnLst>
                                    <p:set>
                                      <p:cBhvr override="childStyle">
                                        <p:cTn id="94" dur="500" fill="hold"/>
                                        <p:tgtEl>
                                          <p:spTgt spid="131">
                                            <p:txEl>
                                              <p:pRg st="3" end="3"/>
                                            </p:txEl>
                                          </p:spTgt>
                                        </p:tgtEl>
                                        <p:attrNameLst>
                                          <p:attrName>style.color</p:attrName>
                                        </p:attrNameLst>
                                      </p:cBhvr>
                                      <p:to>
                                        <p:clrVal>
                                          <a:schemeClr val="accent2"/>
                                        </p:clrVal>
                                      </p:to>
                                    </p:set>
                                    <p:set>
                                      <p:cBhvr>
                                        <p:cTn id="95" dur="500" fill="hold"/>
                                        <p:tgtEl>
                                          <p:spTgt spid="131">
                                            <p:txEl>
                                              <p:pRg st="3" end="3"/>
                                            </p:txEl>
                                          </p:spTgt>
                                        </p:tgtEl>
                                        <p:attrNameLst>
                                          <p:attrName>fillcolor</p:attrName>
                                        </p:attrNameLst>
                                      </p:cBhvr>
                                      <p:to>
                                        <p:clrVal>
                                          <a:schemeClr val="accent2"/>
                                        </p:clrVal>
                                      </p:to>
                                    </p:set>
                                    <p:set>
                                      <p:cBhvr>
                                        <p:cTn id="96" dur="500" fill="hold"/>
                                        <p:tgtEl>
                                          <p:spTgt spid="131">
                                            <p:txEl>
                                              <p:pRg st="3" end="3"/>
                                            </p:txEl>
                                          </p:spTgt>
                                        </p:tgtEl>
                                        <p:attrNameLst>
                                          <p:attrName>fill.type</p:attrName>
                                        </p:attrNameLst>
                                      </p:cBhvr>
                                      <p:to>
                                        <p:strVal val="solid"/>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nodeType="clickEffect">
                                  <p:stCondLst>
                                    <p:cond delay="0"/>
                                  </p:stCondLst>
                                  <p:childTnLst>
                                    <p:set>
                                      <p:cBhvr>
                                        <p:cTn id="100" dur="1" fill="hold">
                                          <p:stCondLst>
                                            <p:cond delay="0"/>
                                          </p:stCondLst>
                                        </p:cTn>
                                        <p:tgtEl>
                                          <p:spTgt spid="107"/>
                                        </p:tgtEl>
                                        <p:attrNameLst>
                                          <p:attrName>style.visibility</p:attrName>
                                        </p:attrNameLst>
                                      </p:cBhvr>
                                      <p:to>
                                        <p:strVal val="visible"/>
                                      </p:to>
                                    </p:set>
                                    <p:animEffect transition="in" filter="wipe(down)">
                                      <p:cBhvr>
                                        <p:cTn id="101" dur="500"/>
                                        <p:tgtEl>
                                          <p:spTgt spid="107"/>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106"/>
                                        </p:tgtEl>
                                        <p:attrNameLst>
                                          <p:attrName>style.visibility</p:attrName>
                                        </p:attrNameLst>
                                      </p:cBhvr>
                                      <p:to>
                                        <p:strVal val="visible"/>
                                      </p:to>
                                    </p:set>
                                    <p:animEffect transition="in" filter="wipe(up)">
                                      <p:cBhvr>
                                        <p:cTn id="106" dur="500"/>
                                        <p:tgtEl>
                                          <p:spTgt spid="106"/>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grpId="0" nodeType="clickEffect">
                                  <p:stCondLst>
                                    <p:cond delay="0"/>
                                  </p:stCondLst>
                                  <p:childTnLst>
                                    <p:set>
                                      <p:cBhvr>
                                        <p:cTn id="110" dur="1" fill="hold">
                                          <p:stCondLst>
                                            <p:cond delay="0"/>
                                          </p:stCondLst>
                                        </p:cTn>
                                        <p:tgtEl>
                                          <p:spTgt spid="110"/>
                                        </p:tgtEl>
                                        <p:attrNameLst>
                                          <p:attrName>style.visibility</p:attrName>
                                        </p:attrNameLst>
                                      </p:cBhvr>
                                      <p:to>
                                        <p:strVal val="visible"/>
                                      </p:to>
                                    </p:set>
                                    <p:animEffect transition="in" filter="wipe(up)">
                                      <p:cBhvr>
                                        <p:cTn id="111" dur="500"/>
                                        <p:tgtEl>
                                          <p:spTgt spid="110"/>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1" fill="hold" grpId="0" nodeType="clickEffect">
                                  <p:stCondLst>
                                    <p:cond delay="0"/>
                                  </p:stCondLst>
                                  <p:childTnLst>
                                    <p:set>
                                      <p:cBhvr>
                                        <p:cTn id="115" dur="1" fill="hold">
                                          <p:stCondLst>
                                            <p:cond delay="0"/>
                                          </p:stCondLst>
                                        </p:cTn>
                                        <p:tgtEl>
                                          <p:spTgt spid="111"/>
                                        </p:tgtEl>
                                        <p:attrNameLst>
                                          <p:attrName>style.visibility</p:attrName>
                                        </p:attrNameLst>
                                      </p:cBhvr>
                                      <p:to>
                                        <p:strVal val="visible"/>
                                      </p:to>
                                    </p:set>
                                    <p:animEffect transition="in" filter="wipe(up)">
                                      <p:cBhvr>
                                        <p:cTn id="116" dur="500"/>
                                        <p:tgtEl>
                                          <p:spTgt spid="111"/>
                                        </p:tgtEl>
                                      </p:cBhvr>
                                    </p:animEffect>
                                  </p:childTnLst>
                                </p:cTn>
                              </p:par>
                            </p:childTnLst>
                          </p:cTn>
                        </p:par>
                      </p:childTnLst>
                    </p:cTn>
                  </p:par>
                  <p:par>
                    <p:cTn id="117" fill="hold">
                      <p:stCondLst>
                        <p:cond delay="indefinite"/>
                      </p:stCondLst>
                      <p:childTnLst>
                        <p:par>
                          <p:cTn id="118" fill="hold">
                            <p:stCondLst>
                              <p:cond delay="0"/>
                            </p:stCondLst>
                            <p:childTnLst>
                              <p:par>
                                <p:cTn id="119" presetID="16" presetClass="emph" presetSubtype="0" fill="hold" nodeType="clickEffect">
                                  <p:stCondLst>
                                    <p:cond delay="0"/>
                                  </p:stCondLst>
                                  <p:iterate type="lt">
                                    <p:tmPct val="4000"/>
                                  </p:iterate>
                                  <p:childTnLst>
                                    <p:set>
                                      <p:cBhvr override="childStyle">
                                        <p:cTn id="120" dur="500" fill="hold"/>
                                        <p:tgtEl>
                                          <p:spTgt spid="131">
                                            <p:txEl>
                                              <p:pRg st="4" end="4"/>
                                            </p:txEl>
                                          </p:spTgt>
                                        </p:tgtEl>
                                        <p:attrNameLst>
                                          <p:attrName>style.color</p:attrName>
                                        </p:attrNameLst>
                                      </p:cBhvr>
                                      <p:to>
                                        <p:clrVal>
                                          <a:schemeClr val="accent2"/>
                                        </p:clrVal>
                                      </p:to>
                                    </p:set>
                                    <p:set>
                                      <p:cBhvr>
                                        <p:cTn id="121" dur="500" fill="hold"/>
                                        <p:tgtEl>
                                          <p:spTgt spid="131">
                                            <p:txEl>
                                              <p:pRg st="4" end="4"/>
                                            </p:txEl>
                                          </p:spTgt>
                                        </p:tgtEl>
                                        <p:attrNameLst>
                                          <p:attrName>fillcolor</p:attrName>
                                        </p:attrNameLst>
                                      </p:cBhvr>
                                      <p:to>
                                        <p:clrVal>
                                          <a:schemeClr val="accent2"/>
                                        </p:clrVal>
                                      </p:to>
                                    </p:set>
                                    <p:set>
                                      <p:cBhvr>
                                        <p:cTn id="122" dur="500" fill="hold"/>
                                        <p:tgtEl>
                                          <p:spTgt spid="131">
                                            <p:txEl>
                                              <p:pRg st="4" end="4"/>
                                            </p:txEl>
                                          </p:spTgt>
                                        </p:tgtEl>
                                        <p:attrNameLst>
                                          <p:attrName>fill.type</p:attrName>
                                        </p:attrNameLst>
                                      </p:cBhvr>
                                      <p:to>
                                        <p:strVal val="solid"/>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12"/>
                                        </p:tgtEl>
                                        <p:attrNameLst>
                                          <p:attrName>style.visibility</p:attrName>
                                        </p:attrNameLst>
                                      </p:cBhvr>
                                      <p:to>
                                        <p:strVal val="visible"/>
                                      </p:to>
                                    </p:set>
                                    <p:animEffect transition="in" filter="wipe(left)">
                                      <p:cBhvr>
                                        <p:cTn id="127" dur="500"/>
                                        <p:tgtEl>
                                          <p:spTgt spid="112"/>
                                        </p:tgtEl>
                                      </p:cBhvr>
                                    </p:animEffect>
                                  </p:childTnLst>
                                </p:cTn>
                              </p:par>
                            </p:childTnLst>
                          </p:cTn>
                        </p:par>
                      </p:childTnLst>
                    </p:cTn>
                  </p:par>
                  <p:par>
                    <p:cTn id="128" fill="hold">
                      <p:stCondLst>
                        <p:cond delay="indefinite"/>
                      </p:stCondLst>
                      <p:childTnLst>
                        <p:par>
                          <p:cTn id="129" fill="hold">
                            <p:stCondLst>
                              <p:cond delay="0"/>
                            </p:stCondLst>
                            <p:childTnLst>
                              <p:par>
                                <p:cTn id="130" presetID="16" presetClass="emph" presetSubtype="0" fill="hold" nodeType="clickEffect">
                                  <p:stCondLst>
                                    <p:cond delay="0"/>
                                  </p:stCondLst>
                                  <p:iterate type="lt">
                                    <p:tmPct val="4000"/>
                                  </p:iterate>
                                  <p:childTnLst>
                                    <p:set>
                                      <p:cBhvr override="childStyle">
                                        <p:cTn id="131" dur="500" fill="hold"/>
                                        <p:tgtEl>
                                          <p:spTgt spid="131">
                                            <p:txEl>
                                              <p:pRg st="5" end="5"/>
                                            </p:txEl>
                                          </p:spTgt>
                                        </p:tgtEl>
                                        <p:attrNameLst>
                                          <p:attrName>style.color</p:attrName>
                                        </p:attrNameLst>
                                      </p:cBhvr>
                                      <p:to>
                                        <p:clrVal>
                                          <a:schemeClr val="accent2"/>
                                        </p:clrVal>
                                      </p:to>
                                    </p:set>
                                    <p:set>
                                      <p:cBhvr>
                                        <p:cTn id="132" dur="500" fill="hold"/>
                                        <p:tgtEl>
                                          <p:spTgt spid="131">
                                            <p:txEl>
                                              <p:pRg st="5" end="5"/>
                                            </p:txEl>
                                          </p:spTgt>
                                        </p:tgtEl>
                                        <p:attrNameLst>
                                          <p:attrName>fillcolor</p:attrName>
                                        </p:attrNameLst>
                                      </p:cBhvr>
                                      <p:to>
                                        <p:clrVal>
                                          <a:schemeClr val="accent2"/>
                                        </p:clrVal>
                                      </p:to>
                                    </p:set>
                                    <p:set>
                                      <p:cBhvr>
                                        <p:cTn id="133" dur="500" fill="hold"/>
                                        <p:tgtEl>
                                          <p:spTgt spid="131">
                                            <p:txEl>
                                              <p:pRg st="5" end="5"/>
                                            </p:txEl>
                                          </p:spTgt>
                                        </p:tgtEl>
                                        <p:attrNameLst>
                                          <p:attrName>fill.type</p:attrName>
                                        </p:attrNameLst>
                                      </p:cBhvr>
                                      <p:to>
                                        <p:strVal val="solid"/>
                                      </p:to>
                                    </p:se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13"/>
                                        </p:tgtEl>
                                        <p:attrNameLst>
                                          <p:attrName>style.visibility</p:attrName>
                                        </p:attrNameLst>
                                      </p:cBhvr>
                                      <p:to>
                                        <p:strVal val="visible"/>
                                      </p:to>
                                    </p:set>
                                    <p:animEffect transition="in" filter="wipe(left)">
                                      <p:cBhvr>
                                        <p:cTn id="138" dur="500"/>
                                        <p:tgtEl>
                                          <p:spTgt spid="113"/>
                                        </p:tgtEl>
                                      </p:cBhvr>
                                    </p:animEffect>
                                  </p:childTnLst>
                                </p:cTn>
                              </p:par>
                            </p:childTnLst>
                          </p:cTn>
                        </p:par>
                      </p:childTnLst>
                    </p:cTn>
                  </p:par>
                  <p:par>
                    <p:cTn id="139" fill="hold">
                      <p:stCondLst>
                        <p:cond delay="indefinite"/>
                      </p:stCondLst>
                      <p:childTnLst>
                        <p:par>
                          <p:cTn id="140" fill="hold">
                            <p:stCondLst>
                              <p:cond delay="0"/>
                            </p:stCondLst>
                            <p:childTnLst>
                              <p:par>
                                <p:cTn id="141" presetID="16" presetClass="emph" presetSubtype="0" fill="hold" nodeType="clickEffect">
                                  <p:stCondLst>
                                    <p:cond delay="0"/>
                                  </p:stCondLst>
                                  <p:iterate type="lt">
                                    <p:tmPct val="4000"/>
                                  </p:iterate>
                                  <p:childTnLst>
                                    <p:set>
                                      <p:cBhvr override="childStyle">
                                        <p:cTn id="142" dur="500" fill="hold"/>
                                        <p:tgtEl>
                                          <p:spTgt spid="131">
                                            <p:txEl>
                                              <p:pRg st="6" end="6"/>
                                            </p:txEl>
                                          </p:spTgt>
                                        </p:tgtEl>
                                        <p:attrNameLst>
                                          <p:attrName>style.color</p:attrName>
                                        </p:attrNameLst>
                                      </p:cBhvr>
                                      <p:to>
                                        <p:clrVal>
                                          <a:schemeClr val="accent2"/>
                                        </p:clrVal>
                                      </p:to>
                                    </p:set>
                                    <p:set>
                                      <p:cBhvr>
                                        <p:cTn id="143" dur="500" fill="hold"/>
                                        <p:tgtEl>
                                          <p:spTgt spid="131">
                                            <p:txEl>
                                              <p:pRg st="6" end="6"/>
                                            </p:txEl>
                                          </p:spTgt>
                                        </p:tgtEl>
                                        <p:attrNameLst>
                                          <p:attrName>fillcolor</p:attrName>
                                        </p:attrNameLst>
                                      </p:cBhvr>
                                      <p:to>
                                        <p:clrVal>
                                          <a:schemeClr val="accent2"/>
                                        </p:clrVal>
                                      </p:to>
                                    </p:set>
                                    <p:set>
                                      <p:cBhvr>
                                        <p:cTn id="144" dur="500" fill="hold"/>
                                        <p:tgtEl>
                                          <p:spTgt spid="131">
                                            <p:txEl>
                                              <p:pRg st="6" end="6"/>
                                            </p:txEl>
                                          </p:spTgt>
                                        </p:tgtEl>
                                        <p:attrNameLst>
                                          <p:attrName>fill.type</p:attrName>
                                        </p:attrNameLst>
                                      </p:cBhvr>
                                      <p:to>
                                        <p:strVal val="solid"/>
                                      </p:to>
                                    </p:se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114"/>
                                        </p:tgtEl>
                                        <p:attrNameLst>
                                          <p:attrName>style.visibility</p:attrName>
                                        </p:attrNameLst>
                                      </p:cBhvr>
                                      <p:to>
                                        <p:strVal val="visible"/>
                                      </p:to>
                                    </p:set>
                                    <p:animEffect transition="in" filter="wipe(left)">
                                      <p:cBhvr>
                                        <p:cTn id="149" dur="500"/>
                                        <p:tgtEl>
                                          <p:spTgt spid="114"/>
                                        </p:tgtEl>
                                      </p:cBhvr>
                                    </p:animEffect>
                                  </p:childTnLst>
                                </p:cTn>
                              </p:par>
                            </p:childTnLst>
                          </p:cTn>
                        </p:par>
                      </p:childTnLst>
                    </p:cTn>
                  </p:par>
                  <p:par>
                    <p:cTn id="150" fill="hold">
                      <p:stCondLst>
                        <p:cond delay="indefinite"/>
                      </p:stCondLst>
                      <p:childTnLst>
                        <p:par>
                          <p:cTn id="151" fill="hold">
                            <p:stCondLst>
                              <p:cond delay="0"/>
                            </p:stCondLst>
                            <p:childTnLst>
                              <p:par>
                                <p:cTn id="152" presetID="16" presetClass="emph" presetSubtype="0" fill="hold" nodeType="clickEffect">
                                  <p:stCondLst>
                                    <p:cond delay="0"/>
                                  </p:stCondLst>
                                  <p:iterate type="lt">
                                    <p:tmPct val="4000"/>
                                  </p:iterate>
                                  <p:childTnLst>
                                    <p:set>
                                      <p:cBhvr override="childStyle">
                                        <p:cTn id="153" dur="500" fill="hold"/>
                                        <p:tgtEl>
                                          <p:spTgt spid="131">
                                            <p:txEl>
                                              <p:pRg st="7" end="7"/>
                                            </p:txEl>
                                          </p:spTgt>
                                        </p:tgtEl>
                                        <p:attrNameLst>
                                          <p:attrName>style.color</p:attrName>
                                        </p:attrNameLst>
                                      </p:cBhvr>
                                      <p:to>
                                        <p:clrVal>
                                          <a:schemeClr val="accent2"/>
                                        </p:clrVal>
                                      </p:to>
                                    </p:set>
                                    <p:set>
                                      <p:cBhvr>
                                        <p:cTn id="154" dur="500" fill="hold"/>
                                        <p:tgtEl>
                                          <p:spTgt spid="131">
                                            <p:txEl>
                                              <p:pRg st="7" end="7"/>
                                            </p:txEl>
                                          </p:spTgt>
                                        </p:tgtEl>
                                        <p:attrNameLst>
                                          <p:attrName>fillcolor</p:attrName>
                                        </p:attrNameLst>
                                      </p:cBhvr>
                                      <p:to>
                                        <p:clrVal>
                                          <a:schemeClr val="accent2"/>
                                        </p:clrVal>
                                      </p:to>
                                    </p:set>
                                    <p:set>
                                      <p:cBhvr>
                                        <p:cTn id="155" dur="500" fill="hold"/>
                                        <p:tgtEl>
                                          <p:spTgt spid="131">
                                            <p:txEl>
                                              <p:pRg st="7" end="7"/>
                                            </p:txEl>
                                          </p:spTgt>
                                        </p:tgtEl>
                                        <p:attrNameLst>
                                          <p:attrName>fill.type</p:attrName>
                                        </p:attrNameLst>
                                      </p:cBhvr>
                                      <p:to>
                                        <p:strVal val="solid"/>
                                      </p:to>
                                    </p:set>
                                  </p:childTnLst>
                                </p:cTn>
                              </p:par>
                            </p:childTnLst>
                          </p:cTn>
                        </p:par>
                      </p:childTnLst>
                    </p:cTn>
                  </p:par>
                  <p:par>
                    <p:cTn id="156" fill="hold">
                      <p:stCondLst>
                        <p:cond delay="indefinite"/>
                      </p:stCondLst>
                      <p:childTnLst>
                        <p:par>
                          <p:cTn id="157" fill="hold">
                            <p:stCondLst>
                              <p:cond delay="0"/>
                            </p:stCondLst>
                            <p:childTnLst>
                              <p:par>
                                <p:cTn id="158" presetID="22" presetClass="entr" presetSubtype="8" fill="hold" grpId="0" nodeType="clickEffect">
                                  <p:stCondLst>
                                    <p:cond delay="0"/>
                                  </p:stCondLst>
                                  <p:childTnLst>
                                    <p:set>
                                      <p:cBhvr>
                                        <p:cTn id="159" dur="1" fill="hold">
                                          <p:stCondLst>
                                            <p:cond delay="0"/>
                                          </p:stCondLst>
                                        </p:cTn>
                                        <p:tgtEl>
                                          <p:spTgt spid="115"/>
                                        </p:tgtEl>
                                        <p:attrNameLst>
                                          <p:attrName>style.visibility</p:attrName>
                                        </p:attrNameLst>
                                      </p:cBhvr>
                                      <p:to>
                                        <p:strVal val="visible"/>
                                      </p:to>
                                    </p:set>
                                    <p:animEffect transition="in" filter="wipe(left)">
                                      <p:cBhvr>
                                        <p:cTn id="160" dur="500"/>
                                        <p:tgtEl>
                                          <p:spTgt spid="115"/>
                                        </p:tgtEl>
                                      </p:cBhvr>
                                    </p:animEffect>
                                  </p:childTnLst>
                                </p:cTn>
                              </p:par>
                            </p:childTnLst>
                          </p:cTn>
                        </p:par>
                      </p:childTnLst>
                    </p:cTn>
                  </p:par>
                  <p:par>
                    <p:cTn id="161" fill="hold">
                      <p:stCondLst>
                        <p:cond delay="indefinite"/>
                      </p:stCondLst>
                      <p:childTnLst>
                        <p:par>
                          <p:cTn id="162" fill="hold">
                            <p:stCondLst>
                              <p:cond delay="0"/>
                            </p:stCondLst>
                            <p:childTnLst>
                              <p:par>
                                <p:cTn id="163" presetID="16" presetClass="emph" presetSubtype="0" fill="hold" nodeType="clickEffect">
                                  <p:stCondLst>
                                    <p:cond delay="0"/>
                                  </p:stCondLst>
                                  <p:iterate type="lt">
                                    <p:tmPct val="4000"/>
                                  </p:iterate>
                                  <p:childTnLst>
                                    <p:set>
                                      <p:cBhvr override="childStyle">
                                        <p:cTn id="164" dur="500" fill="hold"/>
                                        <p:tgtEl>
                                          <p:spTgt spid="131">
                                            <p:txEl>
                                              <p:pRg st="8" end="8"/>
                                            </p:txEl>
                                          </p:spTgt>
                                        </p:tgtEl>
                                        <p:attrNameLst>
                                          <p:attrName>style.color</p:attrName>
                                        </p:attrNameLst>
                                      </p:cBhvr>
                                      <p:to>
                                        <p:clrVal>
                                          <a:schemeClr val="accent2"/>
                                        </p:clrVal>
                                      </p:to>
                                    </p:set>
                                    <p:set>
                                      <p:cBhvr>
                                        <p:cTn id="165" dur="500" fill="hold"/>
                                        <p:tgtEl>
                                          <p:spTgt spid="131">
                                            <p:txEl>
                                              <p:pRg st="8" end="8"/>
                                            </p:txEl>
                                          </p:spTgt>
                                        </p:tgtEl>
                                        <p:attrNameLst>
                                          <p:attrName>fillcolor</p:attrName>
                                        </p:attrNameLst>
                                      </p:cBhvr>
                                      <p:to>
                                        <p:clrVal>
                                          <a:schemeClr val="accent2"/>
                                        </p:clrVal>
                                      </p:to>
                                    </p:set>
                                    <p:set>
                                      <p:cBhvr>
                                        <p:cTn id="166" dur="500" fill="hold"/>
                                        <p:tgtEl>
                                          <p:spTgt spid="131">
                                            <p:txEl>
                                              <p:pRg st="8" end="8"/>
                                            </p:txEl>
                                          </p:spTgt>
                                        </p:tgtEl>
                                        <p:attrNameLst>
                                          <p:attrName>fill.type</p:attrName>
                                        </p:attrNameLst>
                                      </p:cBhvr>
                                      <p:to>
                                        <p:strVal val="solid"/>
                                      </p:to>
                                    </p:set>
                                  </p:childTnLst>
                                </p:cTn>
                              </p:par>
                            </p:childTnLst>
                          </p:cTn>
                        </p:par>
                      </p:childTnLst>
                    </p:cTn>
                  </p:par>
                  <p:par>
                    <p:cTn id="167" fill="hold">
                      <p:stCondLst>
                        <p:cond delay="indefinite"/>
                      </p:stCondLst>
                      <p:childTnLst>
                        <p:par>
                          <p:cTn id="168" fill="hold">
                            <p:stCondLst>
                              <p:cond delay="0"/>
                            </p:stCondLst>
                            <p:childTnLst>
                              <p:par>
                                <p:cTn id="169" presetID="22" presetClass="entr" presetSubtype="4" fill="hold" nodeType="clickEffect">
                                  <p:stCondLst>
                                    <p:cond delay="0"/>
                                  </p:stCondLst>
                                  <p:childTnLst>
                                    <p:set>
                                      <p:cBhvr>
                                        <p:cTn id="170" dur="1" fill="hold">
                                          <p:stCondLst>
                                            <p:cond delay="0"/>
                                          </p:stCondLst>
                                        </p:cTn>
                                        <p:tgtEl>
                                          <p:spTgt spid="117"/>
                                        </p:tgtEl>
                                        <p:attrNameLst>
                                          <p:attrName>style.visibility</p:attrName>
                                        </p:attrNameLst>
                                      </p:cBhvr>
                                      <p:to>
                                        <p:strVal val="visible"/>
                                      </p:to>
                                    </p:set>
                                    <p:animEffect transition="in" filter="wipe(down)">
                                      <p:cBhvr>
                                        <p:cTn id="171" dur="500"/>
                                        <p:tgtEl>
                                          <p:spTgt spid="117"/>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1" fill="hold" grpId="0" nodeType="clickEffect">
                                  <p:stCondLst>
                                    <p:cond delay="0"/>
                                  </p:stCondLst>
                                  <p:childTnLst>
                                    <p:set>
                                      <p:cBhvr>
                                        <p:cTn id="175" dur="1" fill="hold">
                                          <p:stCondLst>
                                            <p:cond delay="0"/>
                                          </p:stCondLst>
                                        </p:cTn>
                                        <p:tgtEl>
                                          <p:spTgt spid="116"/>
                                        </p:tgtEl>
                                        <p:attrNameLst>
                                          <p:attrName>style.visibility</p:attrName>
                                        </p:attrNameLst>
                                      </p:cBhvr>
                                      <p:to>
                                        <p:strVal val="visible"/>
                                      </p:to>
                                    </p:set>
                                    <p:animEffect transition="in" filter="wipe(up)">
                                      <p:cBhvr>
                                        <p:cTn id="176" dur="500"/>
                                        <p:tgtEl>
                                          <p:spTgt spid="116"/>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1" fill="hold" grpId="0" nodeType="clickEffect">
                                  <p:stCondLst>
                                    <p:cond delay="0"/>
                                  </p:stCondLst>
                                  <p:childTnLst>
                                    <p:set>
                                      <p:cBhvr>
                                        <p:cTn id="180" dur="1" fill="hold">
                                          <p:stCondLst>
                                            <p:cond delay="0"/>
                                          </p:stCondLst>
                                        </p:cTn>
                                        <p:tgtEl>
                                          <p:spTgt spid="121"/>
                                        </p:tgtEl>
                                        <p:attrNameLst>
                                          <p:attrName>style.visibility</p:attrName>
                                        </p:attrNameLst>
                                      </p:cBhvr>
                                      <p:to>
                                        <p:strVal val="visible"/>
                                      </p:to>
                                    </p:set>
                                    <p:animEffect transition="in" filter="wipe(up)">
                                      <p:cBhvr>
                                        <p:cTn id="181" dur="500"/>
                                        <p:tgtEl>
                                          <p:spTgt spid="121"/>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1" fill="hold" grpId="0" nodeType="clickEffect">
                                  <p:stCondLst>
                                    <p:cond delay="0"/>
                                  </p:stCondLst>
                                  <p:childTnLst>
                                    <p:set>
                                      <p:cBhvr>
                                        <p:cTn id="185" dur="1" fill="hold">
                                          <p:stCondLst>
                                            <p:cond delay="0"/>
                                          </p:stCondLst>
                                        </p:cTn>
                                        <p:tgtEl>
                                          <p:spTgt spid="120"/>
                                        </p:tgtEl>
                                        <p:attrNameLst>
                                          <p:attrName>style.visibility</p:attrName>
                                        </p:attrNameLst>
                                      </p:cBhvr>
                                      <p:to>
                                        <p:strVal val="visible"/>
                                      </p:to>
                                    </p:set>
                                    <p:animEffect transition="in" filter="wipe(up)">
                                      <p:cBhvr>
                                        <p:cTn id="186" dur="500"/>
                                        <p:tgtEl>
                                          <p:spTgt spid="120"/>
                                        </p:tgtEl>
                                      </p:cBhvr>
                                    </p:animEffect>
                                  </p:childTnLst>
                                </p:cTn>
                              </p:par>
                            </p:childTnLst>
                          </p:cTn>
                        </p:par>
                      </p:childTnLst>
                    </p:cTn>
                  </p:par>
                  <p:par>
                    <p:cTn id="187" fill="hold">
                      <p:stCondLst>
                        <p:cond delay="indefinite"/>
                      </p:stCondLst>
                      <p:childTnLst>
                        <p:par>
                          <p:cTn id="188" fill="hold">
                            <p:stCondLst>
                              <p:cond delay="0"/>
                            </p:stCondLst>
                            <p:childTnLst>
                              <p:par>
                                <p:cTn id="189" presetID="22" presetClass="entr" presetSubtype="1" fill="hold" grpId="0" nodeType="clickEffect">
                                  <p:stCondLst>
                                    <p:cond delay="0"/>
                                  </p:stCondLst>
                                  <p:childTnLst>
                                    <p:set>
                                      <p:cBhvr>
                                        <p:cTn id="190" dur="1" fill="hold">
                                          <p:stCondLst>
                                            <p:cond delay="0"/>
                                          </p:stCondLst>
                                        </p:cTn>
                                        <p:tgtEl>
                                          <p:spTgt spid="129"/>
                                        </p:tgtEl>
                                        <p:attrNameLst>
                                          <p:attrName>style.visibility</p:attrName>
                                        </p:attrNameLst>
                                      </p:cBhvr>
                                      <p:to>
                                        <p:strVal val="visible"/>
                                      </p:to>
                                    </p:set>
                                    <p:animEffect transition="in" filter="wipe(up)">
                                      <p:cBhvr>
                                        <p:cTn id="191" dur="500"/>
                                        <p:tgtEl>
                                          <p:spTgt spid="129"/>
                                        </p:tgtEl>
                                      </p:cBhvr>
                                    </p:animEffect>
                                  </p:childTnLst>
                                </p:cTn>
                              </p:par>
                            </p:childTnLst>
                          </p:cTn>
                        </p:par>
                      </p:childTnLst>
                    </p:cTn>
                  </p:par>
                  <p:par>
                    <p:cTn id="192" fill="hold">
                      <p:stCondLst>
                        <p:cond delay="indefinite"/>
                      </p:stCondLst>
                      <p:childTnLst>
                        <p:par>
                          <p:cTn id="193" fill="hold">
                            <p:stCondLst>
                              <p:cond delay="0"/>
                            </p:stCondLst>
                            <p:childTnLst>
                              <p:par>
                                <p:cTn id="194" presetID="16" presetClass="emph" presetSubtype="0" fill="hold" nodeType="clickEffect">
                                  <p:stCondLst>
                                    <p:cond delay="0"/>
                                  </p:stCondLst>
                                  <p:iterate type="lt">
                                    <p:tmPct val="4000"/>
                                  </p:iterate>
                                  <p:childTnLst>
                                    <p:set>
                                      <p:cBhvr override="childStyle">
                                        <p:cTn id="195" dur="500" fill="hold"/>
                                        <p:tgtEl>
                                          <p:spTgt spid="131">
                                            <p:txEl>
                                              <p:pRg st="9" end="9"/>
                                            </p:txEl>
                                          </p:spTgt>
                                        </p:tgtEl>
                                        <p:attrNameLst>
                                          <p:attrName>style.color</p:attrName>
                                        </p:attrNameLst>
                                      </p:cBhvr>
                                      <p:to>
                                        <p:clrVal>
                                          <a:schemeClr val="accent2"/>
                                        </p:clrVal>
                                      </p:to>
                                    </p:set>
                                    <p:set>
                                      <p:cBhvr>
                                        <p:cTn id="196" dur="500" fill="hold"/>
                                        <p:tgtEl>
                                          <p:spTgt spid="131">
                                            <p:txEl>
                                              <p:pRg st="9" end="9"/>
                                            </p:txEl>
                                          </p:spTgt>
                                        </p:tgtEl>
                                        <p:attrNameLst>
                                          <p:attrName>fillcolor</p:attrName>
                                        </p:attrNameLst>
                                      </p:cBhvr>
                                      <p:to>
                                        <p:clrVal>
                                          <a:schemeClr val="accent2"/>
                                        </p:clrVal>
                                      </p:to>
                                    </p:set>
                                    <p:set>
                                      <p:cBhvr>
                                        <p:cTn id="197" dur="500" fill="hold"/>
                                        <p:tgtEl>
                                          <p:spTgt spid="131">
                                            <p:txEl>
                                              <p:pRg st="9" end="9"/>
                                            </p:txEl>
                                          </p:spTgt>
                                        </p:tgtEl>
                                        <p:attrNameLst>
                                          <p:attrName>fill.type</p:attrName>
                                        </p:attrNameLst>
                                      </p:cBhvr>
                                      <p:to>
                                        <p:strVal val="solid"/>
                                      </p:to>
                                    </p:set>
                                  </p:childTnLst>
                                </p:cTn>
                              </p:par>
                            </p:childTnLst>
                          </p:cTn>
                        </p:par>
                      </p:childTnLst>
                    </p:cTn>
                  </p:par>
                  <p:par>
                    <p:cTn id="198" fill="hold">
                      <p:stCondLst>
                        <p:cond delay="indefinite"/>
                      </p:stCondLst>
                      <p:childTnLst>
                        <p:par>
                          <p:cTn id="199" fill="hold">
                            <p:stCondLst>
                              <p:cond delay="0"/>
                            </p:stCondLst>
                            <p:childTnLst>
                              <p:par>
                                <p:cTn id="200" presetID="22" presetClass="entr" presetSubtype="4" fill="hold" nodeType="clickEffect">
                                  <p:stCondLst>
                                    <p:cond delay="0"/>
                                  </p:stCondLst>
                                  <p:childTnLst>
                                    <p:set>
                                      <p:cBhvr>
                                        <p:cTn id="201" dur="1" fill="hold">
                                          <p:stCondLst>
                                            <p:cond delay="0"/>
                                          </p:stCondLst>
                                        </p:cTn>
                                        <p:tgtEl>
                                          <p:spTgt spid="123"/>
                                        </p:tgtEl>
                                        <p:attrNameLst>
                                          <p:attrName>style.visibility</p:attrName>
                                        </p:attrNameLst>
                                      </p:cBhvr>
                                      <p:to>
                                        <p:strVal val="visible"/>
                                      </p:to>
                                    </p:set>
                                    <p:animEffect transition="in" filter="wipe(down)">
                                      <p:cBhvr>
                                        <p:cTn id="202" dur="500"/>
                                        <p:tgtEl>
                                          <p:spTgt spid="123"/>
                                        </p:tgtEl>
                                      </p:cBhvr>
                                    </p:animEffect>
                                  </p:childTnLst>
                                </p:cTn>
                              </p:par>
                            </p:childTnLst>
                          </p:cTn>
                        </p:par>
                      </p:childTnLst>
                    </p:cTn>
                  </p:par>
                  <p:par>
                    <p:cTn id="203" fill="hold">
                      <p:stCondLst>
                        <p:cond delay="indefinite"/>
                      </p:stCondLst>
                      <p:childTnLst>
                        <p:par>
                          <p:cTn id="204" fill="hold">
                            <p:stCondLst>
                              <p:cond delay="0"/>
                            </p:stCondLst>
                            <p:childTnLst>
                              <p:par>
                                <p:cTn id="205" presetID="22" presetClass="entr" presetSubtype="1" fill="hold" grpId="0" nodeType="clickEffect">
                                  <p:stCondLst>
                                    <p:cond delay="0"/>
                                  </p:stCondLst>
                                  <p:childTnLst>
                                    <p:set>
                                      <p:cBhvr>
                                        <p:cTn id="206" dur="1" fill="hold">
                                          <p:stCondLst>
                                            <p:cond delay="0"/>
                                          </p:stCondLst>
                                        </p:cTn>
                                        <p:tgtEl>
                                          <p:spTgt spid="122"/>
                                        </p:tgtEl>
                                        <p:attrNameLst>
                                          <p:attrName>style.visibility</p:attrName>
                                        </p:attrNameLst>
                                      </p:cBhvr>
                                      <p:to>
                                        <p:strVal val="visible"/>
                                      </p:to>
                                    </p:set>
                                    <p:animEffect transition="in" filter="wipe(up)">
                                      <p:cBhvr>
                                        <p:cTn id="207" dur="500"/>
                                        <p:tgtEl>
                                          <p:spTgt spid="122"/>
                                        </p:tgtEl>
                                      </p:cBhvr>
                                    </p:animEffect>
                                  </p:childTnLst>
                                </p:cTn>
                              </p:par>
                            </p:childTnLst>
                          </p:cTn>
                        </p:par>
                      </p:childTnLst>
                    </p:cTn>
                  </p:par>
                  <p:par>
                    <p:cTn id="208" fill="hold">
                      <p:stCondLst>
                        <p:cond delay="indefinite"/>
                      </p:stCondLst>
                      <p:childTnLst>
                        <p:par>
                          <p:cTn id="209" fill="hold">
                            <p:stCondLst>
                              <p:cond delay="0"/>
                            </p:stCondLst>
                            <p:childTnLst>
                              <p:par>
                                <p:cTn id="210" presetID="22" presetClass="entr" presetSubtype="1" fill="hold" grpId="0" nodeType="clickEffect">
                                  <p:stCondLst>
                                    <p:cond delay="0"/>
                                  </p:stCondLst>
                                  <p:childTnLst>
                                    <p:set>
                                      <p:cBhvr>
                                        <p:cTn id="211" dur="1" fill="hold">
                                          <p:stCondLst>
                                            <p:cond delay="0"/>
                                          </p:stCondLst>
                                        </p:cTn>
                                        <p:tgtEl>
                                          <p:spTgt spid="126"/>
                                        </p:tgtEl>
                                        <p:attrNameLst>
                                          <p:attrName>style.visibility</p:attrName>
                                        </p:attrNameLst>
                                      </p:cBhvr>
                                      <p:to>
                                        <p:strVal val="visible"/>
                                      </p:to>
                                    </p:set>
                                    <p:animEffect transition="in" filter="wipe(up)">
                                      <p:cBhvr>
                                        <p:cTn id="212" dur="500"/>
                                        <p:tgtEl>
                                          <p:spTgt spid="126"/>
                                        </p:tgtEl>
                                      </p:cBhvr>
                                    </p:animEffect>
                                  </p:childTnLst>
                                </p:cTn>
                              </p:par>
                            </p:childTnLst>
                          </p:cTn>
                        </p:par>
                      </p:childTnLst>
                    </p:cTn>
                  </p:par>
                  <p:par>
                    <p:cTn id="213" fill="hold">
                      <p:stCondLst>
                        <p:cond delay="indefinite"/>
                      </p:stCondLst>
                      <p:childTnLst>
                        <p:par>
                          <p:cTn id="214" fill="hold">
                            <p:stCondLst>
                              <p:cond delay="0"/>
                            </p:stCondLst>
                            <p:childTnLst>
                              <p:par>
                                <p:cTn id="215" presetID="22" presetClass="entr" presetSubtype="1" fill="hold" grpId="0" nodeType="clickEffect">
                                  <p:stCondLst>
                                    <p:cond delay="0"/>
                                  </p:stCondLst>
                                  <p:childTnLst>
                                    <p:set>
                                      <p:cBhvr>
                                        <p:cTn id="216" dur="1" fill="hold">
                                          <p:stCondLst>
                                            <p:cond delay="0"/>
                                          </p:stCondLst>
                                        </p:cTn>
                                        <p:tgtEl>
                                          <p:spTgt spid="128"/>
                                        </p:tgtEl>
                                        <p:attrNameLst>
                                          <p:attrName>style.visibility</p:attrName>
                                        </p:attrNameLst>
                                      </p:cBhvr>
                                      <p:to>
                                        <p:strVal val="visible"/>
                                      </p:to>
                                    </p:set>
                                    <p:animEffect transition="in" filter="wipe(up)">
                                      <p:cBhvr>
                                        <p:cTn id="217" dur="500"/>
                                        <p:tgtEl>
                                          <p:spTgt spid="128"/>
                                        </p:tgtEl>
                                      </p:cBhvr>
                                    </p:animEffect>
                                  </p:childTnLst>
                                </p:cTn>
                              </p:par>
                            </p:childTnLst>
                          </p:cTn>
                        </p:par>
                      </p:childTnLst>
                    </p:cTn>
                  </p:par>
                  <p:par>
                    <p:cTn id="218" fill="hold">
                      <p:stCondLst>
                        <p:cond delay="indefinite"/>
                      </p:stCondLst>
                      <p:childTnLst>
                        <p:par>
                          <p:cTn id="219" fill="hold">
                            <p:stCondLst>
                              <p:cond delay="0"/>
                            </p:stCondLst>
                            <p:childTnLst>
                              <p:par>
                                <p:cTn id="220" presetID="22" presetClass="entr" presetSubtype="1" fill="hold" grpId="0" nodeType="clickEffect">
                                  <p:stCondLst>
                                    <p:cond delay="0"/>
                                  </p:stCondLst>
                                  <p:childTnLst>
                                    <p:set>
                                      <p:cBhvr>
                                        <p:cTn id="221" dur="1" fill="hold">
                                          <p:stCondLst>
                                            <p:cond delay="0"/>
                                          </p:stCondLst>
                                        </p:cTn>
                                        <p:tgtEl>
                                          <p:spTgt spid="127"/>
                                        </p:tgtEl>
                                        <p:attrNameLst>
                                          <p:attrName>style.visibility</p:attrName>
                                        </p:attrNameLst>
                                      </p:cBhvr>
                                      <p:to>
                                        <p:strVal val="visible"/>
                                      </p:to>
                                    </p:set>
                                    <p:animEffect transition="in" filter="wipe(up)">
                                      <p:cBhvr>
                                        <p:cTn id="222"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autoUpdateAnimBg="0"/>
      <p:bldP spid="91" grpId="0" autoUpdateAnimBg="0"/>
      <p:bldP spid="92" grpId="0" autoUpdateAnimBg="0"/>
      <p:bldP spid="93" grpId="0" animBg="1" autoUpdateAnimBg="0"/>
      <p:bldP spid="94" grpId="0" autoUpdateAnimBg="0"/>
      <p:bldP spid="95" grpId="0" autoUpdateAnimBg="0"/>
      <p:bldP spid="96" grpId="0" animBg="1" autoUpdateAnimBg="0"/>
      <p:bldP spid="97" grpId="0" animBg="1" autoUpdateAnimBg="0"/>
      <p:bldP spid="98" grpId="0" autoUpdateAnimBg="0"/>
      <p:bldP spid="99" grpId="0" autoUpdateAnimBg="0"/>
      <p:bldP spid="100" grpId="0" animBg="1" autoUpdateAnimBg="0"/>
      <p:bldP spid="104" grpId="0" autoUpdateAnimBg="0"/>
      <p:bldP spid="105" grpId="0" autoUpdateAnimBg="0"/>
      <p:bldP spid="106" grpId="0" animBg="1" autoUpdateAnimBg="0"/>
      <p:bldP spid="110" grpId="0" autoUpdateAnimBg="0"/>
      <p:bldP spid="111" grpId="0" autoUpdateAnimBg="0"/>
      <p:bldP spid="112" grpId="0" autoUpdateAnimBg="0"/>
      <p:bldP spid="113" grpId="0" autoUpdateAnimBg="0"/>
      <p:bldP spid="114" grpId="0" autoUpdateAnimBg="0"/>
      <p:bldP spid="115" grpId="0" autoUpdateAnimBg="0"/>
      <p:bldP spid="116" grpId="0" animBg="1" autoUpdateAnimBg="0"/>
      <p:bldP spid="120" grpId="0" autoUpdateAnimBg="0"/>
      <p:bldP spid="121" grpId="0" autoUpdateAnimBg="0"/>
      <p:bldP spid="122" grpId="0" animBg="1" autoUpdateAnimBg="0"/>
      <p:bldP spid="126" grpId="0" autoUpdateAnimBg="0"/>
      <p:bldP spid="127" grpId="0" autoUpdateAnimBg="0"/>
      <p:bldP spid="128" grpId="0" animBg="1"/>
      <p:bldP spid="129"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构造基本块的</a:t>
            </a:r>
            <a:r>
              <a:rPr lang="en-US" altLang="zh-CN" dirty="0"/>
              <a:t>DAG</a:t>
            </a:r>
            <a:r>
              <a:rPr lang="zh-CN" altLang="en-US" dirty="0"/>
              <a:t>示例</a:t>
            </a:r>
          </a:p>
        </p:txBody>
      </p:sp>
      <p:sp>
        <p:nvSpPr>
          <p:cNvPr id="3" name="内容占位符 2"/>
          <p:cNvSpPr>
            <a:spLocks noGrp="1"/>
          </p:cNvSpPr>
          <p:nvPr>
            <p:ph idx="1"/>
          </p:nvPr>
        </p:nvSpPr>
        <p:spPr/>
        <p:txBody>
          <a:bodyPr/>
          <a:lstStyle/>
          <a:p>
            <a:r>
              <a:rPr lang="zh-CN" altLang="en-US" dirty="0">
                <a:latin typeface="Times New Roman" panose="02020603050405020304" pitchFamily="18" charset="0"/>
              </a:rPr>
              <a:t>优化后的四元式</a:t>
            </a:r>
          </a:p>
          <a:p>
            <a:endParaRPr lang="zh-CN" altLang="en-US" dirty="0"/>
          </a:p>
        </p:txBody>
      </p:sp>
      <p:grpSp>
        <p:nvGrpSpPr>
          <p:cNvPr id="4" name="组合 3"/>
          <p:cNvGrpSpPr/>
          <p:nvPr/>
        </p:nvGrpSpPr>
        <p:grpSpPr>
          <a:xfrm>
            <a:off x="4084936" y="2869712"/>
            <a:ext cx="5693818" cy="4315314"/>
            <a:chOff x="3705300" y="2603350"/>
            <a:chExt cx="5165328" cy="3914775"/>
          </a:xfrm>
        </p:grpSpPr>
        <p:sp>
          <p:nvSpPr>
            <p:cNvPr id="47" name="Oval 3"/>
            <p:cNvSpPr>
              <a:spLocks noChangeArrowheads="1"/>
            </p:cNvSpPr>
            <p:nvPr/>
          </p:nvSpPr>
          <p:spPr bwMode="auto">
            <a:xfrm>
              <a:off x="3768265"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8" name="Rectangle 4"/>
            <p:cNvSpPr>
              <a:spLocks noChangeArrowheads="1"/>
            </p:cNvSpPr>
            <p:nvPr/>
          </p:nvSpPr>
          <p:spPr bwMode="auto">
            <a:xfrm>
              <a:off x="3705300"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3.14</a:t>
              </a:r>
            </a:p>
          </p:txBody>
        </p:sp>
        <p:sp>
          <p:nvSpPr>
            <p:cNvPr id="49" name="Rectangle 5"/>
            <p:cNvSpPr>
              <a:spLocks noChangeArrowheads="1"/>
            </p:cNvSpPr>
            <p:nvPr/>
          </p:nvSpPr>
          <p:spPr bwMode="auto">
            <a:xfrm>
              <a:off x="4194647"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0" name="Oval 6"/>
            <p:cNvSpPr>
              <a:spLocks noChangeArrowheads="1"/>
            </p:cNvSpPr>
            <p:nvPr/>
          </p:nvSpPr>
          <p:spPr bwMode="auto">
            <a:xfrm>
              <a:off x="4760115"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1" name="Rectangle 7"/>
            <p:cNvSpPr>
              <a:spLocks noChangeArrowheads="1"/>
            </p:cNvSpPr>
            <p:nvPr/>
          </p:nvSpPr>
          <p:spPr bwMode="auto">
            <a:xfrm>
              <a:off x="4694868"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6.28</a:t>
              </a:r>
            </a:p>
          </p:txBody>
        </p:sp>
        <p:sp>
          <p:nvSpPr>
            <p:cNvPr id="52" name="Rectangle 8"/>
            <p:cNvSpPr>
              <a:spLocks noChangeArrowheads="1"/>
            </p:cNvSpPr>
            <p:nvPr/>
          </p:nvSpPr>
          <p:spPr bwMode="auto">
            <a:xfrm>
              <a:off x="5140718"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3" name="Oval 9"/>
            <p:cNvSpPr>
              <a:spLocks noChangeArrowheads="1"/>
            </p:cNvSpPr>
            <p:nvPr/>
          </p:nvSpPr>
          <p:spPr bwMode="auto">
            <a:xfrm>
              <a:off x="6065040"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4" name="Oval 10"/>
            <p:cNvSpPr>
              <a:spLocks noChangeArrowheads="1"/>
            </p:cNvSpPr>
            <p:nvPr/>
          </p:nvSpPr>
          <p:spPr bwMode="auto">
            <a:xfrm>
              <a:off x="7435212"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5" name="Rectangle 11"/>
            <p:cNvSpPr>
              <a:spLocks noChangeArrowheads="1"/>
            </p:cNvSpPr>
            <p:nvPr/>
          </p:nvSpPr>
          <p:spPr bwMode="auto">
            <a:xfrm>
              <a:off x="5934548"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R</a:t>
              </a:r>
            </a:p>
          </p:txBody>
        </p:sp>
        <p:sp>
          <p:nvSpPr>
            <p:cNvPr id="56" name="Rectangle 12"/>
            <p:cNvSpPr>
              <a:spLocks noChangeArrowheads="1"/>
            </p:cNvSpPr>
            <p:nvPr/>
          </p:nvSpPr>
          <p:spPr bwMode="auto">
            <a:xfrm>
              <a:off x="7369964"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a:t>
              </a:r>
            </a:p>
          </p:txBody>
        </p:sp>
        <p:sp>
          <p:nvSpPr>
            <p:cNvPr id="57" name="Oval 13"/>
            <p:cNvSpPr>
              <a:spLocks noChangeArrowheads="1"/>
            </p:cNvSpPr>
            <p:nvPr/>
          </p:nvSpPr>
          <p:spPr bwMode="auto">
            <a:xfrm>
              <a:off x="6521764" y="4560737"/>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5</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58" name="Group 47"/>
            <p:cNvGrpSpPr>
              <a:grpSpLocks/>
            </p:cNvGrpSpPr>
            <p:nvPr/>
          </p:nvGrpSpPr>
          <p:grpSpPr bwMode="auto">
            <a:xfrm>
              <a:off x="6391272" y="5017462"/>
              <a:ext cx="1109186" cy="717708"/>
              <a:chOff x="3936" y="2544"/>
              <a:chExt cx="816" cy="528"/>
            </a:xfrm>
          </p:grpSpPr>
          <p:sp>
            <p:nvSpPr>
              <p:cNvPr id="59" name="Line 14"/>
              <p:cNvSpPr>
                <a:spLocks noChangeShapeType="1"/>
              </p:cNvSpPr>
              <p:nvPr/>
            </p:nvSpPr>
            <p:spPr bwMode="auto">
              <a:xfrm flipH="1">
                <a:off x="3936" y="2544"/>
                <a:ext cx="192"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0" name="Line 15"/>
              <p:cNvSpPr>
                <a:spLocks noChangeShapeType="1"/>
              </p:cNvSpPr>
              <p:nvPr/>
            </p:nvSpPr>
            <p:spPr bwMode="auto">
              <a:xfrm>
                <a:off x="4272" y="2544"/>
                <a:ext cx="48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61" name="Rectangle 16"/>
            <p:cNvSpPr>
              <a:spLocks noChangeArrowheads="1"/>
            </p:cNvSpPr>
            <p:nvPr/>
          </p:nvSpPr>
          <p:spPr bwMode="auto">
            <a:xfrm>
              <a:off x="6587011" y="5017461"/>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62" name="Rectangle 17"/>
            <p:cNvSpPr>
              <a:spLocks noChangeArrowheads="1"/>
            </p:cNvSpPr>
            <p:nvPr/>
          </p:nvSpPr>
          <p:spPr bwMode="auto">
            <a:xfrm>
              <a:off x="6913241" y="462598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3" name="Oval 18"/>
            <p:cNvSpPr>
              <a:spLocks noChangeArrowheads="1"/>
            </p:cNvSpPr>
            <p:nvPr/>
          </p:nvSpPr>
          <p:spPr bwMode="auto">
            <a:xfrm>
              <a:off x="5934547" y="3777782"/>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64" name="Group 48"/>
            <p:cNvGrpSpPr>
              <a:grpSpLocks/>
            </p:cNvGrpSpPr>
            <p:nvPr/>
          </p:nvGrpSpPr>
          <p:grpSpPr bwMode="auto">
            <a:xfrm>
              <a:off x="5086347" y="4169260"/>
              <a:ext cx="1631155" cy="1555035"/>
              <a:chOff x="2976" y="1920"/>
              <a:chExt cx="1200" cy="1144"/>
            </a:xfrm>
          </p:grpSpPr>
          <p:sp>
            <p:nvSpPr>
              <p:cNvPr id="65" name="Line 19"/>
              <p:cNvSpPr>
                <a:spLocks noChangeShapeType="1"/>
              </p:cNvSpPr>
              <p:nvPr/>
            </p:nvSpPr>
            <p:spPr bwMode="auto">
              <a:xfrm flipH="1">
                <a:off x="2976" y="1976"/>
                <a:ext cx="720" cy="10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6" name="Line 20"/>
              <p:cNvSpPr>
                <a:spLocks noChangeShapeType="1"/>
              </p:cNvSpPr>
              <p:nvPr/>
            </p:nvSpPr>
            <p:spPr bwMode="auto">
              <a:xfrm>
                <a:off x="3888" y="1920"/>
                <a:ext cx="288" cy="2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67" name="Rectangle 21"/>
            <p:cNvSpPr>
              <a:spLocks noChangeArrowheads="1"/>
            </p:cNvSpPr>
            <p:nvPr/>
          </p:nvSpPr>
          <p:spPr bwMode="auto">
            <a:xfrm>
              <a:off x="6065040" y="4299753"/>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68" name="Rectangle 22"/>
            <p:cNvSpPr>
              <a:spLocks noChangeArrowheads="1"/>
            </p:cNvSpPr>
            <p:nvPr/>
          </p:nvSpPr>
          <p:spPr bwMode="auto">
            <a:xfrm>
              <a:off x="6326025"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a:t>
              </a:r>
            </a:p>
          </p:txBody>
        </p:sp>
        <p:sp>
          <p:nvSpPr>
            <p:cNvPr id="69" name="Rectangle 23"/>
            <p:cNvSpPr>
              <a:spLocks noChangeArrowheads="1"/>
            </p:cNvSpPr>
            <p:nvPr/>
          </p:nvSpPr>
          <p:spPr bwMode="auto">
            <a:xfrm>
              <a:off x="6652256"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a:t>
              </a:r>
            </a:p>
          </p:txBody>
        </p:sp>
        <p:sp>
          <p:nvSpPr>
            <p:cNvPr id="70" name="Rectangle 24"/>
            <p:cNvSpPr>
              <a:spLocks noChangeArrowheads="1"/>
            </p:cNvSpPr>
            <p:nvPr/>
          </p:nvSpPr>
          <p:spPr bwMode="auto">
            <a:xfrm>
              <a:off x="5466949"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1" name="Rectangle 25"/>
            <p:cNvSpPr>
              <a:spLocks noChangeArrowheads="1"/>
            </p:cNvSpPr>
            <p:nvPr/>
          </p:nvSpPr>
          <p:spPr bwMode="auto">
            <a:xfrm>
              <a:off x="7304718" y="462598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2" name="Rectangle 26"/>
            <p:cNvSpPr>
              <a:spLocks noChangeArrowheads="1"/>
            </p:cNvSpPr>
            <p:nvPr/>
          </p:nvSpPr>
          <p:spPr bwMode="auto">
            <a:xfrm>
              <a:off x="7043733"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5</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3" name="Oval 27"/>
            <p:cNvSpPr>
              <a:spLocks noChangeArrowheads="1"/>
            </p:cNvSpPr>
            <p:nvPr/>
          </p:nvSpPr>
          <p:spPr bwMode="auto">
            <a:xfrm>
              <a:off x="7957181" y="4625983"/>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7</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74" name="Group 49"/>
            <p:cNvGrpSpPr>
              <a:grpSpLocks/>
            </p:cNvGrpSpPr>
            <p:nvPr/>
          </p:nvGrpSpPr>
          <p:grpSpPr bwMode="auto">
            <a:xfrm>
              <a:off x="6391271" y="5017461"/>
              <a:ext cx="1826895" cy="782955"/>
              <a:chOff x="3936" y="2544"/>
              <a:chExt cx="1344" cy="576"/>
            </a:xfrm>
          </p:grpSpPr>
          <p:sp>
            <p:nvSpPr>
              <p:cNvPr id="75" name="Line 28"/>
              <p:cNvSpPr>
                <a:spLocks noChangeShapeType="1"/>
              </p:cNvSpPr>
              <p:nvPr/>
            </p:nvSpPr>
            <p:spPr bwMode="auto">
              <a:xfrm flipV="1">
                <a:off x="3936" y="2544"/>
                <a:ext cx="120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6" name="Line 29"/>
              <p:cNvSpPr>
                <a:spLocks noChangeShapeType="1"/>
              </p:cNvSpPr>
              <p:nvPr/>
            </p:nvSpPr>
            <p:spPr bwMode="auto">
              <a:xfrm flipV="1">
                <a:off x="4992" y="2592"/>
                <a:ext cx="288"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77" name="Rectangle 30"/>
            <p:cNvSpPr>
              <a:spLocks noChangeArrowheads="1"/>
            </p:cNvSpPr>
            <p:nvPr/>
          </p:nvSpPr>
          <p:spPr bwMode="auto">
            <a:xfrm>
              <a:off x="8413904" y="4756477"/>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8" name="Rectangle 31"/>
            <p:cNvSpPr>
              <a:spLocks noChangeArrowheads="1"/>
            </p:cNvSpPr>
            <p:nvPr/>
          </p:nvSpPr>
          <p:spPr bwMode="auto">
            <a:xfrm>
              <a:off x="7826689" y="5017461"/>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79" name="Oval 32"/>
            <p:cNvSpPr>
              <a:spLocks noChangeArrowheads="1"/>
            </p:cNvSpPr>
            <p:nvPr/>
          </p:nvSpPr>
          <p:spPr bwMode="auto">
            <a:xfrm>
              <a:off x="7108980" y="260335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8</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80" name="Group 50"/>
            <p:cNvGrpSpPr>
              <a:grpSpLocks/>
            </p:cNvGrpSpPr>
            <p:nvPr/>
          </p:nvGrpSpPr>
          <p:grpSpPr bwMode="auto">
            <a:xfrm>
              <a:off x="6326024" y="3049199"/>
              <a:ext cx="1816021" cy="1565910"/>
              <a:chOff x="3888" y="1096"/>
              <a:chExt cx="1336" cy="1152"/>
            </a:xfrm>
          </p:grpSpPr>
          <p:sp>
            <p:nvSpPr>
              <p:cNvPr id="81" name="Line 33"/>
              <p:cNvSpPr>
                <a:spLocks noChangeShapeType="1"/>
              </p:cNvSpPr>
              <p:nvPr/>
            </p:nvSpPr>
            <p:spPr bwMode="auto">
              <a:xfrm flipH="1">
                <a:off x="3888" y="1104"/>
                <a:ext cx="672" cy="57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2" name="Line 34"/>
              <p:cNvSpPr>
                <a:spLocks noChangeShapeType="1"/>
              </p:cNvSpPr>
              <p:nvPr/>
            </p:nvSpPr>
            <p:spPr bwMode="auto">
              <a:xfrm>
                <a:off x="4720" y="1096"/>
                <a:ext cx="504" cy="115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83" name="Rectangle 35"/>
            <p:cNvSpPr>
              <a:spLocks noChangeArrowheads="1"/>
            </p:cNvSpPr>
            <p:nvPr/>
          </p:nvSpPr>
          <p:spPr bwMode="auto">
            <a:xfrm>
              <a:off x="7174226" y="3125320"/>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84" name="Rectangle 36"/>
            <p:cNvSpPr>
              <a:spLocks noChangeArrowheads="1"/>
            </p:cNvSpPr>
            <p:nvPr/>
          </p:nvSpPr>
          <p:spPr bwMode="auto">
            <a:xfrm>
              <a:off x="7565703" y="2668596"/>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a:t>
              </a:r>
            </a:p>
          </p:txBody>
        </p:sp>
        <p:sp>
          <p:nvSpPr>
            <p:cNvPr id="85" name="Line 37"/>
            <p:cNvSpPr>
              <a:spLocks noChangeShapeType="1"/>
            </p:cNvSpPr>
            <p:nvPr/>
          </p:nvSpPr>
          <p:spPr bwMode="auto">
            <a:xfrm flipH="1">
              <a:off x="6782749" y="3777782"/>
              <a:ext cx="326231" cy="4567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6" name="Rectangle 51"/>
            <p:cNvSpPr>
              <a:spLocks noChangeArrowheads="1"/>
            </p:cNvSpPr>
            <p:nvPr/>
          </p:nvSpPr>
          <p:spPr bwMode="auto">
            <a:xfrm>
              <a:off x="8413904" y="4756477"/>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88" name="Rectangle 51"/>
          <p:cNvSpPr>
            <a:spLocks noChangeArrowheads="1"/>
          </p:cNvSpPr>
          <p:nvPr/>
        </p:nvSpPr>
        <p:spPr bwMode="auto">
          <a:xfrm>
            <a:off x="565520" y="2803339"/>
            <a:ext cx="2737853" cy="3872679"/>
          </a:xfrm>
          <a:prstGeom prst="rect">
            <a:avLst/>
          </a:prstGeom>
          <a:ln/>
        </p:spPr>
        <p:style>
          <a:lnRef idx="3">
            <a:schemeClr val="lt1"/>
          </a:lnRef>
          <a:fillRef idx="1">
            <a:schemeClr val="accent1"/>
          </a:fillRef>
          <a:effectRef idx="1">
            <a:schemeClr val="accent1"/>
          </a:effectRef>
          <a:fontRef idx="minor">
            <a:schemeClr val="lt1"/>
          </a:fontRef>
        </p:style>
        <p:txBody>
          <a:bodyPr lIns="86905" tIns="43453" rIns="86905" bIns="43453"/>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zh-CN"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:=3.14</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:=6.28</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:=6.28</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2646"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R+r</a:t>
            </a:r>
            <a:endPar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(5)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    A:=6.28*T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endPar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(7)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5</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(8)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:=R-r</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(9)		B:=A*T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a:t>
            </a:r>
            <a:endParaRPr kumimoji="0" lang="zh-CN" altLang="en-US"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9" name="Rectangle 93"/>
          <p:cNvSpPr>
            <a:spLocks noChangeArrowheads="1"/>
          </p:cNvSpPr>
          <p:nvPr/>
        </p:nvSpPr>
        <p:spPr bwMode="auto">
          <a:xfrm>
            <a:off x="3763034" y="221794"/>
            <a:ext cx="2575456" cy="4158277"/>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377979" marR="0" lvl="0" indent="-377979" algn="l" defTabSz="431545" rtl="0" eaLnBrk="1" fontAlgn="auto" latinLnBrk="0" hangingPunct="1">
              <a:lnSpc>
                <a:spcPct val="100000"/>
              </a:lnSpc>
              <a:spcBef>
                <a:spcPct val="0"/>
              </a:spcBef>
              <a:spcAft>
                <a:spcPts val="0"/>
              </a:spcAft>
              <a:buClr>
                <a:srgbClr val="EEECE1"/>
              </a:buClr>
              <a:buSzPct val="75000"/>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(1) 	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0</a:t>
            </a: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:=3.14</a:t>
            </a:r>
          </a:p>
          <a:p>
            <a:pPr marL="377979" marR="0" lvl="0" indent="-377979" algn="l" defTabSz="431545" rtl="0" eaLnBrk="1" fontAlgn="auto" latinLnBrk="0" hangingPunct="1">
              <a:lnSpc>
                <a:spcPct val="100000"/>
              </a:lnSpc>
              <a:spcBef>
                <a:spcPct val="0"/>
              </a:spcBef>
              <a:spcAft>
                <a:spcPts val="0"/>
              </a:spcAft>
              <a:buClr>
                <a:srgbClr val="EEECE1"/>
              </a:buClr>
              <a:buSzPct val="75000"/>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(2) 	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1</a:t>
            </a: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:=2*T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0</a:t>
            </a:r>
            <a:endPar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377979" marR="0" lvl="0" indent="-377979" algn="l" defTabSz="431545" rtl="0" eaLnBrk="1" fontAlgn="auto" latinLnBrk="0" hangingPunct="1">
              <a:lnSpc>
                <a:spcPct val="100000"/>
              </a:lnSpc>
              <a:spcBef>
                <a:spcPct val="0"/>
              </a:spcBef>
              <a:spcAft>
                <a:spcPts val="0"/>
              </a:spcAft>
              <a:buClr>
                <a:srgbClr val="EEECE1"/>
              </a:buClr>
              <a:buSzPct val="75000"/>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(3) 	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2</a:t>
            </a: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a:t>
            </a:r>
            <a:r>
              <a:rPr kumimoji="0" lang="en-US" altLang="zh-CN" sz="2646" b="0" i="0" u="none" strike="noStrike" kern="1200" cap="none" spc="0" normalizeH="0" baseline="0" noProof="0" dirty="0" err="1">
                <a:ln>
                  <a:noFill/>
                </a:ln>
                <a:solidFill>
                  <a:prstClr val="black"/>
                </a:solidFill>
                <a:effectLst/>
                <a:uLnTx/>
                <a:uFillTx/>
                <a:latin typeface="Arial" panose="020B0604020202020204" pitchFamily="34" charset="0"/>
                <a:ea typeface="微软雅黑" panose="020B0503020204020204" pitchFamily="34" charset="-122"/>
                <a:cs typeface="+mn-cs"/>
              </a:rPr>
              <a:t>R+r</a:t>
            </a:r>
            <a:endPar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377979" marR="0" lvl="0" indent="-377979" algn="l" defTabSz="431545" rtl="0" eaLnBrk="1" fontAlgn="auto" latinLnBrk="0" hangingPunct="1">
              <a:lnSpc>
                <a:spcPct val="100000"/>
              </a:lnSpc>
              <a:spcBef>
                <a:spcPct val="0"/>
              </a:spcBef>
              <a:spcAft>
                <a:spcPts val="0"/>
              </a:spcAft>
              <a:buClr>
                <a:srgbClr val="EEECE1"/>
              </a:buClr>
              <a:buSzPct val="75000"/>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(4) 	A:=T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1</a:t>
            </a: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2</a:t>
            </a:r>
            <a:endPar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377979" marR="0" lvl="0" indent="-377979" algn="l" defTabSz="431545" rtl="0" eaLnBrk="1" fontAlgn="auto" latinLnBrk="0" hangingPunct="1">
              <a:lnSpc>
                <a:spcPct val="100000"/>
              </a:lnSpc>
              <a:spcBef>
                <a:spcPct val="0"/>
              </a:spcBef>
              <a:spcAft>
                <a:spcPts val="0"/>
              </a:spcAft>
              <a:buClr>
                <a:srgbClr val="EEECE1"/>
              </a:buClr>
              <a:buSzPct val="75000"/>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(5) 	B:=A</a:t>
            </a:r>
          </a:p>
          <a:p>
            <a:pPr marL="377979" marR="0" lvl="0" indent="-377979" algn="l" defTabSz="431545" rtl="0" eaLnBrk="1" fontAlgn="auto" latinLnBrk="0" hangingPunct="1">
              <a:lnSpc>
                <a:spcPct val="100000"/>
              </a:lnSpc>
              <a:spcBef>
                <a:spcPct val="0"/>
              </a:spcBef>
              <a:spcAft>
                <a:spcPts val="0"/>
              </a:spcAft>
              <a:buClr>
                <a:srgbClr val="EEECE1"/>
              </a:buClr>
              <a:buSzPct val="75000"/>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(6) 	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3</a:t>
            </a: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:=2*T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0</a:t>
            </a:r>
            <a:endPar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377979" marR="0" lvl="0" indent="-377979" algn="l" defTabSz="431545" rtl="0" eaLnBrk="1" fontAlgn="auto" latinLnBrk="0" hangingPunct="1">
              <a:lnSpc>
                <a:spcPct val="100000"/>
              </a:lnSpc>
              <a:spcBef>
                <a:spcPct val="0"/>
              </a:spcBef>
              <a:spcAft>
                <a:spcPts val="0"/>
              </a:spcAft>
              <a:buClr>
                <a:srgbClr val="EEECE1"/>
              </a:buClr>
              <a:buSzPct val="75000"/>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(7) 	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4</a:t>
            </a: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a:t>
            </a:r>
            <a:r>
              <a:rPr kumimoji="0" lang="en-US" altLang="zh-CN" sz="2646" b="0" i="0" u="none" strike="noStrike" kern="1200" cap="none" spc="0" normalizeH="0" baseline="0" noProof="0" dirty="0" err="1">
                <a:ln>
                  <a:noFill/>
                </a:ln>
                <a:solidFill>
                  <a:prstClr val="black"/>
                </a:solidFill>
                <a:effectLst/>
                <a:uLnTx/>
                <a:uFillTx/>
                <a:latin typeface="Arial" panose="020B0604020202020204" pitchFamily="34" charset="0"/>
                <a:ea typeface="微软雅黑" panose="020B0503020204020204" pitchFamily="34" charset="-122"/>
                <a:cs typeface="+mn-cs"/>
              </a:rPr>
              <a:t>R+r</a:t>
            </a:r>
            <a:endPar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377979" marR="0" lvl="0" indent="-377979" algn="l" defTabSz="431545" rtl="0" eaLnBrk="1" fontAlgn="auto" latinLnBrk="0" hangingPunct="1">
              <a:lnSpc>
                <a:spcPct val="100000"/>
              </a:lnSpc>
              <a:spcBef>
                <a:spcPct val="0"/>
              </a:spcBef>
              <a:spcAft>
                <a:spcPts val="0"/>
              </a:spcAft>
              <a:buClr>
                <a:srgbClr val="EEECE1"/>
              </a:buClr>
              <a:buSzPct val="75000"/>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(8) 	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5</a:t>
            </a: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3</a:t>
            </a: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4</a:t>
            </a:r>
            <a:endPar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377979" marR="0" lvl="0" indent="-377979" algn="l" defTabSz="431545" rtl="0" eaLnBrk="1" fontAlgn="auto" latinLnBrk="0" hangingPunct="1">
              <a:lnSpc>
                <a:spcPct val="100000"/>
              </a:lnSpc>
              <a:spcBef>
                <a:spcPct val="0"/>
              </a:spcBef>
              <a:spcAft>
                <a:spcPts val="0"/>
              </a:spcAft>
              <a:buClr>
                <a:srgbClr val="EEECE1"/>
              </a:buClr>
              <a:buSzPct val="75000"/>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(9) 	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6</a:t>
            </a: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:=R-r</a:t>
            </a:r>
          </a:p>
          <a:p>
            <a:pPr marL="377979" marR="0" lvl="0" indent="-377979" algn="l" defTabSz="431545" rtl="0" eaLnBrk="1" fontAlgn="auto" latinLnBrk="0" hangingPunct="1">
              <a:lnSpc>
                <a:spcPct val="100000"/>
              </a:lnSpc>
              <a:spcBef>
                <a:spcPct val="0"/>
              </a:spcBef>
              <a:spcAft>
                <a:spcPts val="0"/>
              </a:spcAft>
              <a:buClr>
                <a:srgbClr val="EEECE1"/>
              </a:buClr>
              <a:buSzPct val="75000"/>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(10)	 B:=T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5</a:t>
            </a: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*T</a:t>
            </a:r>
            <a:r>
              <a:rPr kumimoji="0" lang="en-US" altLang="zh-CN" sz="2646" b="0" i="0" u="none" strike="noStrike" kern="1200" cap="none" spc="0" normalizeH="0" baseline="-25000" noProof="0" dirty="0">
                <a:ln>
                  <a:noFill/>
                </a:ln>
                <a:solidFill>
                  <a:prstClr val="black"/>
                </a:solidFill>
                <a:effectLst/>
                <a:uLnTx/>
                <a:uFillTx/>
                <a:latin typeface="Arial" panose="020B0604020202020204" pitchFamily="34" charset="0"/>
                <a:ea typeface="微软雅黑" panose="020B0503020204020204" pitchFamily="34" charset="-122"/>
                <a:cs typeface="+mn-cs"/>
              </a:rPr>
              <a:t>6</a:t>
            </a:r>
            <a:endParaRPr kumimoji="0" lang="zh-CN" altLang="en-US" sz="2646" b="0" i="0" u="none" strike="noStrike" kern="1200" cap="none" spc="0" normalizeH="0" baseline="0" noProof="0" dirty="0">
              <a:ln>
                <a:noFill/>
              </a:ln>
              <a:solidFill>
                <a:prstClr val="black"/>
              </a:solidFill>
              <a:effectLst/>
              <a:uLnTx/>
              <a:uFillTx/>
              <a:latin typeface="宋体" panose="02010600030101010101" pitchFamily="2" charset="-122"/>
              <a:ea typeface="微软雅黑" panose="020B0503020204020204" pitchFamily="34" charset="-122"/>
              <a:cs typeface="+mn-cs"/>
            </a:endParaRPr>
          </a:p>
        </p:txBody>
      </p:sp>
    </p:spTree>
    <p:extLst>
      <p:ext uri="{BB962C8B-B14F-4D97-AF65-F5344CB8AC3E}">
        <p14:creationId xmlns:p14="http://schemas.microsoft.com/office/powerpoint/2010/main" val="71155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8">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xit" presetSubtype="4" fill="hold" grpId="1" nodeType="clickEffect">
                                  <p:stCondLst>
                                    <p:cond delay="0"/>
                                  </p:stCondLst>
                                  <p:childTnLst>
                                    <p:animEffect transition="out" filter="wipe(down)">
                                      <p:cBhvr>
                                        <p:cTn id="50" dur="500"/>
                                        <p:tgtEl>
                                          <p:spTgt spid="89"/>
                                        </p:tgtEl>
                                      </p:cBhvr>
                                    </p:animEffect>
                                    <p:set>
                                      <p:cBhvr>
                                        <p:cTn id="51" dur="1" fill="hold">
                                          <p:stCondLst>
                                            <p:cond delay="499"/>
                                          </p:stCondLst>
                                        </p:cTn>
                                        <p:tgtEl>
                                          <p:spTgt spid="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build="p" animBg="1"/>
      <p:bldP spid="89" grpId="0" animBg="1"/>
      <p:bldP spid="89" grpId="1"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构造基本块的</a:t>
            </a:r>
            <a:r>
              <a:rPr lang="en-US" altLang="zh-CN" dirty="0"/>
              <a:t>DAG</a:t>
            </a:r>
            <a:r>
              <a:rPr lang="zh-CN" altLang="en-US" dirty="0"/>
              <a:t>示例</a:t>
            </a:r>
          </a:p>
        </p:txBody>
      </p:sp>
      <p:sp>
        <p:nvSpPr>
          <p:cNvPr id="3" name="内容占位符 2"/>
          <p:cNvSpPr>
            <a:spLocks noGrp="1"/>
          </p:cNvSpPr>
          <p:nvPr>
            <p:ph idx="1"/>
          </p:nvPr>
        </p:nvSpPr>
        <p:spPr/>
        <p:txBody>
          <a:bodyPr/>
          <a:lstStyle/>
          <a:p>
            <a:r>
              <a:rPr lang="zh-CN" altLang="en-US" dirty="0">
                <a:latin typeface="Times New Roman" panose="02020603050405020304" pitchFamily="18" charset="0"/>
              </a:rPr>
              <a:t>优化后的四元式</a:t>
            </a:r>
          </a:p>
          <a:p>
            <a:endParaRPr lang="zh-CN" altLang="en-US" dirty="0"/>
          </a:p>
        </p:txBody>
      </p:sp>
      <p:grpSp>
        <p:nvGrpSpPr>
          <p:cNvPr id="48" name="组合 47"/>
          <p:cNvGrpSpPr/>
          <p:nvPr/>
        </p:nvGrpSpPr>
        <p:grpSpPr>
          <a:xfrm>
            <a:off x="4084936" y="2869712"/>
            <a:ext cx="5693818" cy="4315314"/>
            <a:chOff x="3705300" y="2603350"/>
            <a:chExt cx="5165328" cy="3914775"/>
          </a:xfrm>
        </p:grpSpPr>
        <p:sp>
          <p:nvSpPr>
            <p:cNvPr id="49" name="Oval 3"/>
            <p:cNvSpPr>
              <a:spLocks noChangeArrowheads="1"/>
            </p:cNvSpPr>
            <p:nvPr/>
          </p:nvSpPr>
          <p:spPr bwMode="auto">
            <a:xfrm>
              <a:off x="3768265"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0" name="Rectangle 4"/>
            <p:cNvSpPr>
              <a:spLocks noChangeArrowheads="1"/>
            </p:cNvSpPr>
            <p:nvPr/>
          </p:nvSpPr>
          <p:spPr bwMode="auto">
            <a:xfrm>
              <a:off x="3705300"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3.14</a:t>
              </a:r>
            </a:p>
          </p:txBody>
        </p:sp>
        <p:sp>
          <p:nvSpPr>
            <p:cNvPr id="51" name="Rectangle 5"/>
            <p:cNvSpPr>
              <a:spLocks noChangeArrowheads="1"/>
            </p:cNvSpPr>
            <p:nvPr/>
          </p:nvSpPr>
          <p:spPr bwMode="auto">
            <a:xfrm>
              <a:off x="4194647"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2" name="Oval 6"/>
            <p:cNvSpPr>
              <a:spLocks noChangeArrowheads="1"/>
            </p:cNvSpPr>
            <p:nvPr/>
          </p:nvSpPr>
          <p:spPr bwMode="auto">
            <a:xfrm>
              <a:off x="4760115"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3" name="Rectangle 7"/>
            <p:cNvSpPr>
              <a:spLocks noChangeArrowheads="1"/>
            </p:cNvSpPr>
            <p:nvPr/>
          </p:nvSpPr>
          <p:spPr bwMode="auto">
            <a:xfrm>
              <a:off x="4694868"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6.28</a:t>
              </a:r>
            </a:p>
          </p:txBody>
        </p:sp>
        <p:sp>
          <p:nvSpPr>
            <p:cNvPr id="54" name="Rectangle 8"/>
            <p:cNvSpPr>
              <a:spLocks noChangeArrowheads="1"/>
            </p:cNvSpPr>
            <p:nvPr/>
          </p:nvSpPr>
          <p:spPr bwMode="auto">
            <a:xfrm>
              <a:off x="5140718"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5" name="Oval 9"/>
            <p:cNvSpPr>
              <a:spLocks noChangeArrowheads="1"/>
            </p:cNvSpPr>
            <p:nvPr/>
          </p:nvSpPr>
          <p:spPr bwMode="auto">
            <a:xfrm>
              <a:off x="6065040"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6" name="Oval 10"/>
            <p:cNvSpPr>
              <a:spLocks noChangeArrowheads="1"/>
            </p:cNvSpPr>
            <p:nvPr/>
          </p:nvSpPr>
          <p:spPr bwMode="auto">
            <a:xfrm>
              <a:off x="7435212" y="573517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7" name="Rectangle 11"/>
            <p:cNvSpPr>
              <a:spLocks noChangeArrowheads="1"/>
            </p:cNvSpPr>
            <p:nvPr/>
          </p:nvSpPr>
          <p:spPr bwMode="auto">
            <a:xfrm>
              <a:off x="5934548"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R</a:t>
              </a:r>
            </a:p>
          </p:txBody>
        </p:sp>
        <p:sp>
          <p:nvSpPr>
            <p:cNvPr id="58" name="Rectangle 12"/>
            <p:cNvSpPr>
              <a:spLocks noChangeArrowheads="1"/>
            </p:cNvSpPr>
            <p:nvPr/>
          </p:nvSpPr>
          <p:spPr bwMode="auto">
            <a:xfrm>
              <a:off x="7369964" y="6257140"/>
              <a:ext cx="652463"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a:t>
              </a:r>
            </a:p>
          </p:txBody>
        </p:sp>
        <p:sp>
          <p:nvSpPr>
            <p:cNvPr id="59" name="Oval 13"/>
            <p:cNvSpPr>
              <a:spLocks noChangeArrowheads="1"/>
            </p:cNvSpPr>
            <p:nvPr/>
          </p:nvSpPr>
          <p:spPr bwMode="auto">
            <a:xfrm>
              <a:off x="6521764" y="4560737"/>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5</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60" name="Group 47"/>
            <p:cNvGrpSpPr>
              <a:grpSpLocks/>
            </p:cNvGrpSpPr>
            <p:nvPr/>
          </p:nvGrpSpPr>
          <p:grpSpPr bwMode="auto">
            <a:xfrm>
              <a:off x="6391272" y="5017462"/>
              <a:ext cx="1109186" cy="717708"/>
              <a:chOff x="3936" y="2544"/>
              <a:chExt cx="816" cy="528"/>
            </a:xfrm>
          </p:grpSpPr>
          <p:sp>
            <p:nvSpPr>
              <p:cNvPr id="87" name="Line 14"/>
              <p:cNvSpPr>
                <a:spLocks noChangeShapeType="1"/>
              </p:cNvSpPr>
              <p:nvPr/>
            </p:nvSpPr>
            <p:spPr bwMode="auto">
              <a:xfrm flipH="1">
                <a:off x="3936" y="2544"/>
                <a:ext cx="192"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8" name="Line 15"/>
              <p:cNvSpPr>
                <a:spLocks noChangeShapeType="1"/>
              </p:cNvSpPr>
              <p:nvPr/>
            </p:nvSpPr>
            <p:spPr bwMode="auto">
              <a:xfrm>
                <a:off x="4272" y="2544"/>
                <a:ext cx="48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61" name="Rectangle 16"/>
            <p:cNvSpPr>
              <a:spLocks noChangeArrowheads="1"/>
            </p:cNvSpPr>
            <p:nvPr/>
          </p:nvSpPr>
          <p:spPr bwMode="auto">
            <a:xfrm>
              <a:off x="6587011" y="5017461"/>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62" name="Rectangle 17"/>
            <p:cNvSpPr>
              <a:spLocks noChangeArrowheads="1"/>
            </p:cNvSpPr>
            <p:nvPr/>
          </p:nvSpPr>
          <p:spPr bwMode="auto">
            <a:xfrm>
              <a:off x="6913241" y="462598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3" name="Oval 18"/>
            <p:cNvSpPr>
              <a:spLocks noChangeArrowheads="1"/>
            </p:cNvSpPr>
            <p:nvPr/>
          </p:nvSpPr>
          <p:spPr bwMode="auto">
            <a:xfrm>
              <a:off x="5934547" y="3777782"/>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64" name="Group 48"/>
            <p:cNvGrpSpPr>
              <a:grpSpLocks/>
            </p:cNvGrpSpPr>
            <p:nvPr/>
          </p:nvGrpSpPr>
          <p:grpSpPr bwMode="auto">
            <a:xfrm>
              <a:off x="5086347" y="4169260"/>
              <a:ext cx="1631155" cy="1555035"/>
              <a:chOff x="2976" y="1920"/>
              <a:chExt cx="1200" cy="1144"/>
            </a:xfrm>
          </p:grpSpPr>
          <p:sp>
            <p:nvSpPr>
              <p:cNvPr id="85" name="Line 19"/>
              <p:cNvSpPr>
                <a:spLocks noChangeShapeType="1"/>
              </p:cNvSpPr>
              <p:nvPr/>
            </p:nvSpPr>
            <p:spPr bwMode="auto">
              <a:xfrm flipH="1">
                <a:off x="2976" y="1976"/>
                <a:ext cx="720" cy="10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6" name="Line 20"/>
              <p:cNvSpPr>
                <a:spLocks noChangeShapeType="1"/>
              </p:cNvSpPr>
              <p:nvPr/>
            </p:nvSpPr>
            <p:spPr bwMode="auto">
              <a:xfrm>
                <a:off x="3888" y="1920"/>
                <a:ext cx="288" cy="28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65" name="Rectangle 21"/>
            <p:cNvSpPr>
              <a:spLocks noChangeArrowheads="1"/>
            </p:cNvSpPr>
            <p:nvPr/>
          </p:nvSpPr>
          <p:spPr bwMode="auto">
            <a:xfrm>
              <a:off x="6065040" y="4299753"/>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66" name="Rectangle 22"/>
            <p:cNvSpPr>
              <a:spLocks noChangeArrowheads="1"/>
            </p:cNvSpPr>
            <p:nvPr/>
          </p:nvSpPr>
          <p:spPr bwMode="auto">
            <a:xfrm>
              <a:off x="6326025"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a:t>
              </a:r>
            </a:p>
          </p:txBody>
        </p:sp>
        <p:sp>
          <p:nvSpPr>
            <p:cNvPr id="67" name="Rectangle 23"/>
            <p:cNvSpPr>
              <a:spLocks noChangeArrowheads="1"/>
            </p:cNvSpPr>
            <p:nvPr/>
          </p:nvSpPr>
          <p:spPr bwMode="auto">
            <a:xfrm>
              <a:off x="6652256"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a:t>
              </a:r>
            </a:p>
          </p:txBody>
        </p:sp>
        <p:sp>
          <p:nvSpPr>
            <p:cNvPr id="68" name="Rectangle 24"/>
            <p:cNvSpPr>
              <a:spLocks noChangeArrowheads="1"/>
            </p:cNvSpPr>
            <p:nvPr/>
          </p:nvSpPr>
          <p:spPr bwMode="auto">
            <a:xfrm>
              <a:off x="5466949" y="584391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endParaRPr kumimoji="1"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9" name="Rectangle 25"/>
            <p:cNvSpPr>
              <a:spLocks noChangeArrowheads="1"/>
            </p:cNvSpPr>
            <p:nvPr/>
          </p:nvSpPr>
          <p:spPr bwMode="auto">
            <a:xfrm>
              <a:off x="7304718" y="4625983"/>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4</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0" name="Rectangle 26"/>
            <p:cNvSpPr>
              <a:spLocks noChangeArrowheads="1"/>
            </p:cNvSpPr>
            <p:nvPr/>
          </p:nvSpPr>
          <p:spPr bwMode="auto">
            <a:xfrm>
              <a:off x="7043733" y="3843029"/>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5</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1" name="Oval 27"/>
            <p:cNvSpPr>
              <a:spLocks noChangeArrowheads="1"/>
            </p:cNvSpPr>
            <p:nvPr/>
          </p:nvSpPr>
          <p:spPr bwMode="auto">
            <a:xfrm>
              <a:off x="7957181" y="4625983"/>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7</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72" name="Group 49"/>
            <p:cNvGrpSpPr>
              <a:grpSpLocks/>
            </p:cNvGrpSpPr>
            <p:nvPr/>
          </p:nvGrpSpPr>
          <p:grpSpPr bwMode="auto">
            <a:xfrm>
              <a:off x="6391271" y="5017461"/>
              <a:ext cx="1826895" cy="782955"/>
              <a:chOff x="3936" y="2544"/>
              <a:chExt cx="1344" cy="576"/>
            </a:xfrm>
          </p:grpSpPr>
          <p:sp>
            <p:nvSpPr>
              <p:cNvPr id="83" name="Line 28"/>
              <p:cNvSpPr>
                <a:spLocks noChangeShapeType="1"/>
              </p:cNvSpPr>
              <p:nvPr/>
            </p:nvSpPr>
            <p:spPr bwMode="auto">
              <a:xfrm flipV="1">
                <a:off x="3936" y="2544"/>
                <a:ext cx="1200"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 name="Line 29"/>
              <p:cNvSpPr>
                <a:spLocks noChangeShapeType="1"/>
              </p:cNvSpPr>
              <p:nvPr/>
            </p:nvSpPr>
            <p:spPr bwMode="auto">
              <a:xfrm flipV="1">
                <a:off x="4992" y="2592"/>
                <a:ext cx="288" cy="528"/>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73" name="Rectangle 30"/>
            <p:cNvSpPr>
              <a:spLocks noChangeArrowheads="1"/>
            </p:cNvSpPr>
            <p:nvPr/>
          </p:nvSpPr>
          <p:spPr bwMode="auto">
            <a:xfrm>
              <a:off x="8413904" y="4756477"/>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4" name="Rectangle 31"/>
            <p:cNvSpPr>
              <a:spLocks noChangeArrowheads="1"/>
            </p:cNvSpPr>
            <p:nvPr/>
          </p:nvSpPr>
          <p:spPr bwMode="auto">
            <a:xfrm>
              <a:off x="7826689" y="5017461"/>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75" name="Oval 32"/>
            <p:cNvSpPr>
              <a:spLocks noChangeArrowheads="1"/>
            </p:cNvSpPr>
            <p:nvPr/>
          </p:nvSpPr>
          <p:spPr bwMode="auto">
            <a:xfrm>
              <a:off x="7108980" y="2603350"/>
              <a:ext cx="456724" cy="456724"/>
            </a:xfrm>
            <a:prstGeom prst="ellipse">
              <a:avLst/>
            </a:prstGeom>
            <a:noFill/>
            <a:ln w="1905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8</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76" name="Group 50"/>
            <p:cNvGrpSpPr>
              <a:grpSpLocks/>
            </p:cNvGrpSpPr>
            <p:nvPr/>
          </p:nvGrpSpPr>
          <p:grpSpPr bwMode="auto">
            <a:xfrm>
              <a:off x="6326024" y="3049199"/>
              <a:ext cx="1816021" cy="1565910"/>
              <a:chOff x="3888" y="1096"/>
              <a:chExt cx="1336" cy="1152"/>
            </a:xfrm>
          </p:grpSpPr>
          <p:sp>
            <p:nvSpPr>
              <p:cNvPr id="81" name="Line 33"/>
              <p:cNvSpPr>
                <a:spLocks noChangeShapeType="1"/>
              </p:cNvSpPr>
              <p:nvPr/>
            </p:nvSpPr>
            <p:spPr bwMode="auto">
              <a:xfrm flipH="1">
                <a:off x="3888" y="1104"/>
                <a:ext cx="672" cy="576"/>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2" name="Line 34"/>
              <p:cNvSpPr>
                <a:spLocks noChangeShapeType="1"/>
              </p:cNvSpPr>
              <p:nvPr/>
            </p:nvSpPr>
            <p:spPr bwMode="auto">
              <a:xfrm>
                <a:off x="4720" y="1096"/>
                <a:ext cx="504" cy="115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77" name="Rectangle 35"/>
            <p:cNvSpPr>
              <a:spLocks noChangeArrowheads="1"/>
            </p:cNvSpPr>
            <p:nvPr/>
          </p:nvSpPr>
          <p:spPr bwMode="auto">
            <a:xfrm>
              <a:off x="7174226" y="3125320"/>
              <a:ext cx="326231"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zh-CN"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78" name="Rectangle 36"/>
            <p:cNvSpPr>
              <a:spLocks noChangeArrowheads="1"/>
            </p:cNvSpPr>
            <p:nvPr/>
          </p:nvSpPr>
          <p:spPr bwMode="auto">
            <a:xfrm>
              <a:off x="7565703" y="2668596"/>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a:t>
              </a:r>
            </a:p>
          </p:txBody>
        </p:sp>
        <p:sp>
          <p:nvSpPr>
            <p:cNvPr id="79" name="Line 37"/>
            <p:cNvSpPr>
              <a:spLocks noChangeShapeType="1"/>
            </p:cNvSpPr>
            <p:nvPr/>
          </p:nvSpPr>
          <p:spPr bwMode="auto">
            <a:xfrm flipH="1">
              <a:off x="6782749" y="3777782"/>
              <a:ext cx="326231" cy="456724"/>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431545"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0" name="Rectangle 51"/>
            <p:cNvSpPr>
              <a:spLocks noChangeArrowheads="1"/>
            </p:cNvSpPr>
            <p:nvPr/>
          </p:nvSpPr>
          <p:spPr bwMode="auto">
            <a:xfrm>
              <a:off x="8413904" y="4756477"/>
              <a:ext cx="456724" cy="26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T</a:t>
              </a:r>
              <a:r>
                <a:rPr kumimoji="1" lang="en-US" altLang="zh-CN" sz="2646" b="0" i="0" u="none" strike="noStrike" kern="1200" cap="none" spc="0" normalizeH="0" baseline="-25000" noProof="0">
                  <a:ln>
                    <a:noFill/>
                  </a:ln>
                  <a:solidFill>
                    <a:prstClr val="black"/>
                  </a:solidFill>
                  <a:effectLst/>
                  <a:uLnTx/>
                  <a:uFillTx/>
                  <a:latin typeface="微软雅黑" panose="020B0503020204020204" pitchFamily="34" charset="-122"/>
                  <a:ea typeface="微软雅黑" panose="020B0503020204020204" pitchFamily="34" charset="-122"/>
                  <a:cs typeface="+mn-cs"/>
                </a:rPr>
                <a:t>6</a:t>
              </a:r>
              <a:endParaRPr kumimoji="1" lang="en-US" altLang="zh-CN" sz="2646"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89" name="Rectangle 51"/>
          <p:cNvSpPr>
            <a:spLocks noChangeArrowheads="1"/>
          </p:cNvSpPr>
          <p:nvPr/>
        </p:nvSpPr>
        <p:spPr bwMode="auto">
          <a:xfrm>
            <a:off x="565520" y="2803339"/>
            <a:ext cx="2737853" cy="3872679"/>
          </a:xfrm>
          <a:prstGeom prst="rect">
            <a:avLst/>
          </a:prstGeom>
          <a:ln/>
        </p:spPr>
        <p:style>
          <a:lnRef idx="3">
            <a:schemeClr val="lt1"/>
          </a:lnRef>
          <a:fillRef idx="1">
            <a:schemeClr val="accent1"/>
          </a:fillRef>
          <a:effectRef idx="1">
            <a:schemeClr val="accent1"/>
          </a:effectRef>
          <a:fontRef idx="minor">
            <a:schemeClr val="lt1"/>
          </a:fontRef>
        </p:style>
        <p:txBody>
          <a:bodyPr lIns="86905" tIns="43453" rIns="86905" bIns="43453"/>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zh-CN"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 	</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:=3.14</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:=6.28</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:=6.28</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2646"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R+r</a:t>
            </a:r>
            <a:endPar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(5)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    A:=6.28*T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endPar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(7)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5</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(8) 	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a:t>
            </a: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:=R-r</a:t>
            </a:r>
          </a:p>
          <a:p>
            <a:pPr marL="0" marR="0" lvl="0" indent="0" algn="l" defTabSz="431545"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(9)		B:=A*T</a:t>
            </a:r>
            <a:r>
              <a:rPr kumimoji="0" lang="en-US" altLang="zh-CN"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a:t>
            </a:r>
            <a:endParaRPr kumimoji="0" lang="zh-CN" altLang="en-US" sz="2646" b="0" i="0" u="none" strike="noStrike" kern="1200" cap="none" spc="0" normalizeH="0" baseline="-2500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0" name="Rectangle 2"/>
          <p:cNvSpPr>
            <a:spLocks noChangeArrowheads="1"/>
          </p:cNvSpPr>
          <p:nvPr/>
        </p:nvSpPr>
        <p:spPr bwMode="auto">
          <a:xfrm>
            <a:off x="3455750" y="3797878"/>
            <a:ext cx="2571078" cy="1732943"/>
          </a:xfrm>
          <a:prstGeom prst="rect">
            <a:avLst/>
          </a:prstGeom>
          <a:ln/>
        </p:spPr>
        <p:style>
          <a:lnRef idx="2">
            <a:schemeClr val="accent1"/>
          </a:lnRef>
          <a:fillRef idx="1">
            <a:schemeClr val="lt1"/>
          </a:fillRef>
          <a:effectRef idx="0">
            <a:schemeClr val="accent1"/>
          </a:effectRef>
          <a:fontRef idx="minor">
            <a:schemeClr val="dk1"/>
          </a:fontRef>
        </p:style>
        <p:txBody>
          <a:bodyPr lIns="101496" tIns="50748" rIns="101496" bIns="50748"/>
          <a:lstStyle>
            <a:lvl1pPr marL="457200" indent="-4572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914400" indent="-45720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503972" marR="0" lvl="0" indent="-503972"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2646"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R+r</a:t>
            </a:r>
            <a:endPar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503972" marR="0" lvl="0" indent="-503972"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 A:=6.28*T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endPar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503972" marR="0" lvl="0" indent="-503972"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 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:=R-r</a:t>
            </a:r>
          </a:p>
          <a:p>
            <a:pPr marL="503972" marR="0" lvl="0" indent="-503972"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 B:=A*T</a:t>
            </a:r>
            <a:r>
              <a:rPr kumimoji="0" lang="en-US" altLang="zh-CN" sz="2646" b="0"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p>
        </p:txBody>
      </p:sp>
      <p:sp>
        <p:nvSpPr>
          <p:cNvPr id="91" name="文本框 90"/>
          <p:cNvSpPr txBox="1"/>
          <p:nvPr/>
        </p:nvSpPr>
        <p:spPr>
          <a:xfrm>
            <a:off x="3399491" y="2687696"/>
            <a:ext cx="3695719" cy="906658"/>
          </a:xfrm>
          <a:prstGeom prst="rect">
            <a:avLst/>
          </a:prstGeom>
          <a:noFill/>
        </p:spPr>
        <p:txBody>
          <a:bodyPr wrap="square" rtlCol="0">
            <a:spAutoFit/>
          </a:bodyPr>
          <a:lstStyle/>
          <a:p>
            <a:pPr marL="0" marR="0" lvl="0" indent="0" algn="l" defTabSz="503972" rtl="0" eaLnBrk="1" fontAlgn="auto" latinLnBrk="0" hangingPunct="1">
              <a:lnSpc>
                <a:spcPct val="100000"/>
              </a:lnSpc>
              <a:spcBef>
                <a:spcPts val="0"/>
              </a:spcBef>
              <a:spcAft>
                <a:spcPts val="0"/>
              </a:spcAft>
              <a:buClrTx/>
              <a:buSzTx/>
              <a:buFont typeface="Times New Roman" panose="02020603050405020304" pitchFamily="2" charset="0"/>
              <a:buNone/>
              <a:tabLst/>
              <a:defRPr/>
            </a:pPr>
            <a:r>
              <a:rPr kumimoji="0"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若只有</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a:t>
            </a:r>
            <a:r>
              <a:rPr kumimoji="0"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和</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a:t>
            </a:r>
            <a:r>
              <a:rPr kumimoji="0" lang="zh-CN" altLang="en-US"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是出基本块之后活跃的</a:t>
            </a:r>
            <a:endPar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49840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lef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0">
                                            <p:bg/>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0">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0">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build="p" animBg="1"/>
      <p:bldP spid="91" grpId="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40" name="Rectangle 4"/>
          <p:cNvSpPr>
            <a:spLocks noGrp="1" noChangeArrowheads="1"/>
          </p:cNvSpPr>
          <p:nvPr>
            <p:ph type="title"/>
          </p:nvPr>
        </p:nvSpPr>
        <p:spPr/>
        <p:txBody>
          <a:bodyPr/>
          <a:lstStyle/>
          <a:p>
            <a:pPr eaLnBrk="1" hangingPunct="1"/>
            <a:r>
              <a:rPr lang="zh-CN" altLang="en-US" dirty="0">
                <a:latin typeface="微软雅黑" panose="020B0503020204020204" pitchFamily="34" charset="-122"/>
              </a:rPr>
              <a:t>从</a:t>
            </a:r>
            <a:r>
              <a:rPr lang="en-US" altLang="zh-CN" dirty="0">
                <a:latin typeface="微软雅黑" panose="020B0503020204020204" pitchFamily="34" charset="-122"/>
              </a:rPr>
              <a:t>DAG</a:t>
            </a:r>
            <a:r>
              <a:rPr lang="zh-CN" altLang="en-US" dirty="0">
                <a:latin typeface="微软雅黑" panose="020B0503020204020204" pitchFamily="34" charset="-122"/>
              </a:rPr>
              <a:t>中得到的优化信息</a:t>
            </a:r>
            <a:endParaRPr lang="en-GB" altLang="zh-CN" dirty="0">
              <a:latin typeface="微软雅黑" panose="020B0503020204020204" pitchFamily="34" charset="-122"/>
            </a:endParaRPr>
          </a:p>
        </p:txBody>
      </p:sp>
      <p:sp>
        <p:nvSpPr>
          <p:cNvPr id="26627" name="Rectangle 3"/>
          <p:cNvSpPr>
            <a:spLocks noGrp="1" noChangeArrowheads="1"/>
          </p:cNvSpPr>
          <p:nvPr>
            <p:ph idx="1"/>
          </p:nvPr>
        </p:nvSpPr>
        <p:spPr/>
        <p:txBody>
          <a:bodyPr/>
          <a:lstStyle/>
          <a:p>
            <a:pPr eaLnBrk="1" hangingPunct="1"/>
            <a:r>
              <a:rPr lang="zh-CN" altLang="en-US" dirty="0">
                <a:latin typeface="微软雅黑" panose="020B0503020204020204" pitchFamily="34" charset="-122"/>
              </a:rPr>
              <a:t>在基本块外被定值并在基本块内被引用的所有标识符，就是作为叶子结点上标记的那些标识符</a:t>
            </a:r>
          </a:p>
          <a:p>
            <a:pPr eaLnBrk="1" hangingPunct="1"/>
            <a:r>
              <a:rPr lang="zh-CN" altLang="en-US" dirty="0">
                <a:latin typeface="微软雅黑" panose="020B0503020204020204" pitchFamily="34" charset="-122"/>
              </a:rPr>
              <a:t>在基本块内被定值并且该值在基本块后面可以被引用的所有标识符，就是</a:t>
            </a:r>
            <a:r>
              <a:rPr lang="en-US" altLang="zh-CN" dirty="0">
                <a:latin typeface="微软雅黑" panose="020B0503020204020204" pitchFamily="34" charset="-122"/>
              </a:rPr>
              <a:t>DAG</a:t>
            </a:r>
            <a:r>
              <a:rPr lang="zh-CN" altLang="en-US" dirty="0">
                <a:latin typeface="微软雅黑" panose="020B0503020204020204" pitchFamily="34" charset="-122"/>
              </a:rPr>
              <a:t>各结点上的那些标记或者附加标识符</a:t>
            </a:r>
          </a:p>
          <a:p>
            <a:pPr eaLnBrk="1" hangingPunct="1"/>
            <a:endParaRPr lang="zh-CN" altLang="en-US" dirty="0">
              <a:latin typeface="微软雅黑" panose="020B0503020204020204" pitchFamily="34" charset="-122"/>
            </a:endParaRPr>
          </a:p>
        </p:txBody>
      </p:sp>
    </p:spTree>
    <p:extLst>
      <p:ext uri="{BB962C8B-B14F-4D97-AF65-F5344CB8AC3E}">
        <p14:creationId xmlns:p14="http://schemas.microsoft.com/office/powerpoint/2010/main" val="38889474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wipe(left)">
                                      <p:cBhvr>
                                        <p:cTn id="7" dur="500"/>
                                        <p:tgtEl>
                                          <p:spTgt spid="266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wipe(left)">
                                      <p:cBhvr>
                                        <p:cTn id="12" dur="500"/>
                                        <p:tgtEl>
                                          <p:spTgt spid="266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extLst>
      <p:ext uri="{BB962C8B-B14F-4D97-AF65-F5344CB8AC3E}">
        <p14:creationId xmlns:p14="http://schemas.microsoft.com/office/powerpoint/2010/main" val="17376210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a:t>优化的级别</a:t>
            </a:r>
            <a:endParaRPr lang="zh-CN" altLang="en-US" dirty="0"/>
          </a:p>
        </p:txBody>
      </p:sp>
      <p:sp>
        <p:nvSpPr>
          <p:cNvPr id="74755" name="Rectangle 3"/>
          <p:cNvSpPr>
            <a:spLocks noGrp="1" noChangeArrowheads="1"/>
          </p:cNvSpPr>
          <p:nvPr>
            <p:ph idx="1"/>
          </p:nvPr>
        </p:nvSpPr>
        <p:spPr/>
        <p:txBody>
          <a:bodyPr/>
          <a:lstStyle/>
          <a:p>
            <a:r>
              <a:rPr lang="zh-CN" altLang="en-US" dirty="0"/>
              <a:t>局部优化</a:t>
            </a:r>
            <a:endParaRPr lang="en-US" altLang="zh-CN" dirty="0"/>
          </a:p>
          <a:p>
            <a:r>
              <a:rPr lang="zh-CN" altLang="en-US" dirty="0">
                <a:solidFill>
                  <a:srgbClr val="C00000"/>
                </a:solidFill>
              </a:rPr>
              <a:t>循环优化</a:t>
            </a:r>
            <a:endParaRPr lang="en-US" altLang="zh-CN" dirty="0">
              <a:solidFill>
                <a:srgbClr val="C00000"/>
              </a:solidFill>
            </a:endParaRPr>
          </a:p>
          <a:p>
            <a:pPr lvl="1"/>
            <a:r>
              <a:rPr lang="zh-CN" altLang="en-US" dirty="0"/>
              <a:t>可能反复执行的代码序列</a:t>
            </a:r>
            <a:endParaRPr lang="en-US" altLang="zh-CN" dirty="0"/>
          </a:p>
          <a:p>
            <a:r>
              <a:rPr lang="zh-CN" altLang="en-US" dirty="0"/>
              <a:t>全局优化</a:t>
            </a:r>
          </a:p>
        </p:txBody>
      </p:sp>
    </p:spTree>
    <p:extLst>
      <p:ext uri="{BB962C8B-B14F-4D97-AF65-F5344CB8AC3E}">
        <p14:creationId xmlns:p14="http://schemas.microsoft.com/office/powerpoint/2010/main" val="27872728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7" name="Rectangle 2"/>
          <p:cNvSpPr>
            <a:spLocks noGrp="1" noChangeArrowheads="1"/>
          </p:cNvSpPr>
          <p:nvPr>
            <p:ph type="title"/>
          </p:nvPr>
        </p:nvSpPr>
        <p:spPr/>
        <p:txBody>
          <a:bodyPr/>
          <a:lstStyle/>
          <a:p>
            <a:r>
              <a:rPr lang="zh-CN" altLang="en-US" dirty="0"/>
              <a:t>循环优化的措施</a:t>
            </a:r>
          </a:p>
        </p:txBody>
      </p:sp>
      <p:sp>
        <p:nvSpPr>
          <p:cNvPr id="27651" name="Rectangle 3"/>
          <p:cNvSpPr>
            <a:spLocks noGrp="1" noChangeArrowheads="1"/>
          </p:cNvSpPr>
          <p:nvPr>
            <p:ph idx="1"/>
          </p:nvPr>
        </p:nvSpPr>
        <p:spPr/>
        <p:txBody>
          <a:bodyPr/>
          <a:lstStyle/>
          <a:p>
            <a:r>
              <a:rPr lang="zh-CN" altLang="en-US" dirty="0"/>
              <a:t>对循环中的代码，可以实行</a:t>
            </a:r>
          </a:p>
          <a:p>
            <a:pPr lvl="1"/>
            <a:r>
              <a:rPr lang="zh-CN" altLang="en-US" dirty="0"/>
              <a:t>代码外提</a:t>
            </a:r>
          </a:p>
          <a:p>
            <a:pPr lvl="1"/>
            <a:r>
              <a:rPr lang="zh-CN" altLang="en-US" dirty="0"/>
              <a:t>强度消弱</a:t>
            </a:r>
          </a:p>
          <a:p>
            <a:pPr lvl="1"/>
            <a:r>
              <a:rPr lang="zh-CN" altLang="en-US" dirty="0"/>
              <a:t>删除归纳变量(变换循环控制条件)</a:t>
            </a:r>
          </a:p>
          <a:p>
            <a:pPr lvl="1"/>
            <a:r>
              <a:rPr lang="zh-CN" altLang="en-US" dirty="0"/>
              <a:t>循环展开</a:t>
            </a:r>
          </a:p>
          <a:p>
            <a:pPr lvl="1"/>
            <a:r>
              <a:rPr lang="zh-CN" altLang="en-US" dirty="0"/>
              <a:t>循环合并 </a:t>
            </a:r>
          </a:p>
        </p:txBody>
      </p:sp>
      <p:sp>
        <p:nvSpPr>
          <p:cNvPr id="7" name="文本框 6"/>
          <p:cNvSpPr txBox="1"/>
          <p:nvPr/>
        </p:nvSpPr>
        <p:spPr>
          <a:xfrm>
            <a:off x="7056225" y="944959"/>
            <a:ext cx="3023870" cy="5669756"/>
          </a:xfrm>
          <a:prstGeom prst="rect">
            <a:avLst/>
          </a:prstGeom>
          <a:noFill/>
        </p:spPr>
        <p:txBody>
          <a:bodyPr wrap="square" rtlCol="0">
            <a:noAutofit/>
          </a:bodyPr>
          <a:lstStyle/>
          <a:p>
            <a:pPr defTabSz="503972" rtl="0" fontAlgn="auto" hangingPunct="1">
              <a:lnSpc>
                <a:spcPct val="100000"/>
              </a:lnSpc>
              <a:spcBef>
                <a:spcPts val="0"/>
              </a:spcBef>
              <a:spcAft>
                <a:spcPts val="0"/>
              </a:spcAft>
              <a:buSzTx/>
            </a:pPr>
            <a:endParaRPr lang="zh-CN" altLang="en-US" sz="2646" dirty="0">
              <a:solidFill>
                <a:srgbClr val="0070C0"/>
              </a:solidFill>
              <a:latin typeface="Arial" panose="020B0604020202020204"/>
              <a:ea typeface="黑体" panose="02010609060101010101" pitchFamily="49" charset="-122"/>
            </a:endParaRPr>
          </a:p>
        </p:txBody>
      </p:sp>
    </p:spTree>
    <p:extLst>
      <p:ext uri="{BB962C8B-B14F-4D97-AF65-F5344CB8AC3E}">
        <p14:creationId xmlns:p14="http://schemas.microsoft.com/office/powerpoint/2010/main" val="27906963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wipe(left)">
                                      <p:cBhvr>
                                        <p:cTn id="7" dur="500"/>
                                        <p:tgtEl>
                                          <p:spTgt spid="27651">
                                            <p:txEl>
                                              <p:pRg st="0" end="0"/>
                                            </p:txEl>
                                          </p:spTgt>
                                        </p:tgtEl>
                                      </p:cBhvr>
                                    </p:animEffect>
                                  </p:childTnLst>
                                </p:cTn>
                              </p:par>
                              <p:par>
                                <p:cTn id="8" presetID="22" presetClass="entr" presetSubtype="8" fill="hold" grpId="0" nodeType="withEffect">
                                  <p:stCondLst>
                                    <p:cond delay="0"/>
                                  </p:stCondLst>
                                  <p:iterate type="lt">
                                    <p:tmPct val="0"/>
                                  </p:iterate>
                                  <p:childTnLst>
                                    <p:set>
                                      <p:cBhvr>
                                        <p:cTn id="9" dur="1" fill="hold">
                                          <p:stCondLst>
                                            <p:cond delay="0"/>
                                          </p:stCondLst>
                                        </p:cTn>
                                        <p:tgtEl>
                                          <p:spTgt spid="27651">
                                            <p:txEl>
                                              <p:pRg st="1" end="1"/>
                                            </p:txEl>
                                          </p:spTgt>
                                        </p:tgtEl>
                                        <p:attrNameLst>
                                          <p:attrName>style.visibility</p:attrName>
                                        </p:attrNameLst>
                                      </p:cBhvr>
                                      <p:to>
                                        <p:strVal val="visible"/>
                                      </p:to>
                                    </p:set>
                                    <p:animEffect transition="in" filter="wipe(left)">
                                      <p:cBhvr>
                                        <p:cTn id="10" dur="500"/>
                                        <p:tgtEl>
                                          <p:spTgt spid="27651">
                                            <p:txEl>
                                              <p:pRg st="1" end="1"/>
                                            </p:txEl>
                                          </p:spTgt>
                                        </p:tgtEl>
                                      </p:cBhvr>
                                    </p:animEffect>
                                  </p:childTnLst>
                                </p:cTn>
                              </p:par>
                              <p:par>
                                <p:cTn id="11" presetID="22" presetClass="entr" presetSubtype="8" fill="hold" grpId="0" nodeType="withEffect">
                                  <p:stCondLst>
                                    <p:cond delay="0"/>
                                  </p:stCondLst>
                                  <p:iterate type="lt">
                                    <p:tmPct val="0"/>
                                  </p:iterate>
                                  <p:childTnLst>
                                    <p:set>
                                      <p:cBhvr>
                                        <p:cTn id="12" dur="1" fill="hold">
                                          <p:stCondLst>
                                            <p:cond delay="0"/>
                                          </p:stCondLst>
                                        </p:cTn>
                                        <p:tgtEl>
                                          <p:spTgt spid="27651">
                                            <p:txEl>
                                              <p:pRg st="2" end="2"/>
                                            </p:txEl>
                                          </p:spTgt>
                                        </p:tgtEl>
                                        <p:attrNameLst>
                                          <p:attrName>style.visibility</p:attrName>
                                        </p:attrNameLst>
                                      </p:cBhvr>
                                      <p:to>
                                        <p:strVal val="visible"/>
                                      </p:to>
                                    </p:set>
                                    <p:animEffect transition="in" filter="wipe(left)">
                                      <p:cBhvr>
                                        <p:cTn id="13" dur="500"/>
                                        <p:tgtEl>
                                          <p:spTgt spid="27651">
                                            <p:txEl>
                                              <p:pRg st="2" end="2"/>
                                            </p:txEl>
                                          </p:spTgt>
                                        </p:tgtEl>
                                      </p:cBhvr>
                                    </p:animEffect>
                                  </p:childTnLst>
                                </p:cTn>
                              </p:par>
                              <p:par>
                                <p:cTn id="14" presetID="22" presetClass="entr" presetSubtype="8" fill="hold" grpId="0" nodeType="withEffect">
                                  <p:stCondLst>
                                    <p:cond delay="0"/>
                                  </p:stCondLst>
                                  <p:iterate type="lt">
                                    <p:tmPct val="0"/>
                                  </p:iterate>
                                  <p:childTnLst>
                                    <p:set>
                                      <p:cBhvr>
                                        <p:cTn id="15" dur="1" fill="hold">
                                          <p:stCondLst>
                                            <p:cond delay="0"/>
                                          </p:stCondLst>
                                        </p:cTn>
                                        <p:tgtEl>
                                          <p:spTgt spid="27651">
                                            <p:txEl>
                                              <p:pRg st="3" end="3"/>
                                            </p:txEl>
                                          </p:spTgt>
                                        </p:tgtEl>
                                        <p:attrNameLst>
                                          <p:attrName>style.visibility</p:attrName>
                                        </p:attrNameLst>
                                      </p:cBhvr>
                                      <p:to>
                                        <p:strVal val="visible"/>
                                      </p:to>
                                    </p:set>
                                    <p:animEffect transition="in" filter="wipe(left)">
                                      <p:cBhvr>
                                        <p:cTn id="16" dur="500"/>
                                        <p:tgtEl>
                                          <p:spTgt spid="27651">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7651">
                                            <p:txEl>
                                              <p:pRg st="4" end="4"/>
                                            </p:txEl>
                                          </p:spTgt>
                                        </p:tgtEl>
                                        <p:attrNameLst>
                                          <p:attrName>style.visibility</p:attrName>
                                        </p:attrNameLst>
                                      </p:cBhvr>
                                      <p:to>
                                        <p:strVal val="visible"/>
                                      </p:to>
                                    </p:set>
                                    <p:animEffect transition="in" filter="wipe(left)">
                                      <p:cBhvr>
                                        <p:cTn id="19" dur="500"/>
                                        <p:tgtEl>
                                          <p:spTgt spid="27651">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7651">
                                            <p:txEl>
                                              <p:pRg st="5" end="5"/>
                                            </p:txEl>
                                          </p:spTgt>
                                        </p:tgtEl>
                                        <p:attrNameLst>
                                          <p:attrName>style.visibility</p:attrName>
                                        </p:attrNameLst>
                                      </p:cBhvr>
                                      <p:to>
                                        <p:strVal val="visible"/>
                                      </p:to>
                                    </p:set>
                                    <p:animEffect transition="in" filter="wipe(left)">
                                      <p:cBhvr>
                                        <p:cTn id="22" dur="500"/>
                                        <p:tgtEl>
                                          <p:spTgt spid="2765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mph" presetSubtype="0" fill="hold" nodeType="clickEffect">
                                  <p:stCondLst>
                                    <p:cond delay="0"/>
                                  </p:stCondLst>
                                  <p:iterate type="lt">
                                    <p:tmPct val="4000"/>
                                  </p:iterate>
                                  <p:childTnLst>
                                    <p:set>
                                      <p:cBhvr override="childStyle">
                                        <p:cTn id="26" dur="500" fill="hold"/>
                                        <p:tgtEl>
                                          <p:spTgt spid="27651">
                                            <p:txEl>
                                              <p:pRg st="1" end="1"/>
                                            </p:txEl>
                                          </p:spTgt>
                                        </p:tgtEl>
                                        <p:attrNameLst>
                                          <p:attrName>style.color</p:attrName>
                                        </p:attrNameLst>
                                      </p:cBhvr>
                                      <p:to>
                                        <p:clrVal>
                                          <a:schemeClr val="accent2"/>
                                        </p:clrVal>
                                      </p:to>
                                    </p:set>
                                    <p:set>
                                      <p:cBhvr>
                                        <p:cTn id="27" dur="500" fill="hold"/>
                                        <p:tgtEl>
                                          <p:spTgt spid="27651">
                                            <p:txEl>
                                              <p:pRg st="1" end="1"/>
                                            </p:txEl>
                                          </p:spTgt>
                                        </p:tgtEl>
                                        <p:attrNameLst>
                                          <p:attrName>fillcolor</p:attrName>
                                        </p:attrNameLst>
                                      </p:cBhvr>
                                      <p:to>
                                        <p:clrVal>
                                          <a:schemeClr val="accent2"/>
                                        </p:clrVal>
                                      </p:to>
                                    </p:set>
                                    <p:set>
                                      <p:cBhvr>
                                        <p:cTn id="28" dur="500" fill="hold"/>
                                        <p:tgtEl>
                                          <p:spTgt spid="27651">
                                            <p:txEl>
                                              <p:pRg st="1" end="1"/>
                                            </p:txEl>
                                          </p:spTgt>
                                        </p:tgtEl>
                                        <p:attrNameLst>
                                          <p:attrName>fill.type</p:attrName>
                                        </p:attrNameLst>
                                      </p:cBhvr>
                                      <p:to>
                                        <p:strVal val="solid"/>
                                      </p:to>
                                    </p:set>
                                  </p:childTnLst>
                                </p:cTn>
                              </p:par>
                              <p:par>
                                <p:cTn id="29" presetID="16" presetClass="emph" presetSubtype="0" fill="hold" nodeType="withEffect">
                                  <p:stCondLst>
                                    <p:cond delay="0"/>
                                  </p:stCondLst>
                                  <p:iterate type="lt">
                                    <p:tmPct val="4000"/>
                                  </p:iterate>
                                  <p:childTnLst>
                                    <p:set>
                                      <p:cBhvr override="childStyle">
                                        <p:cTn id="30" dur="500" fill="hold"/>
                                        <p:tgtEl>
                                          <p:spTgt spid="27651">
                                            <p:txEl>
                                              <p:pRg st="2" end="2"/>
                                            </p:txEl>
                                          </p:spTgt>
                                        </p:tgtEl>
                                        <p:attrNameLst>
                                          <p:attrName>style.color</p:attrName>
                                        </p:attrNameLst>
                                      </p:cBhvr>
                                      <p:to>
                                        <p:clrVal>
                                          <a:schemeClr val="accent2"/>
                                        </p:clrVal>
                                      </p:to>
                                    </p:set>
                                    <p:set>
                                      <p:cBhvr>
                                        <p:cTn id="31" dur="500" fill="hold"/>
                                        <p:tgtEl>
                                          <p:spTgt spid="27651">
                                            <p:txEl>
                                              <p:pRg st="2" end="2"/>
                                            </p:txEl>
                                          </p:spTgt>
                                        </p:tgtEl>
                                        <p:attrNameLst>
                                          <p:attrName>fillcolor</p:attrName>
                                        </p:attrNameLst>
                                      </p:cBhvr>
                                      <p:to>
                                        <p:clrVal>
                                          <a:schemeClr val="accent2"/>
                                        </p:clrVal>
                                      </p:to>
                                    </p:set>
                                    <p:set>
                                      <p:cBhvr>
                                        <p:cTn id="32" dur="500" fill="hold"/>
                                        <p:tgtEl>
                                          <p:spTgt spid="27651">
                                            <p:txEl>
                                              <p:pRg st="2" end="2"/>
                                            </p:txEl>
                                          </p:spTgt>
                                        </p:tgtEl>
                                        <p:attrNameLst>
                                          <p:attrName>fill.type</p:attrName>
                                        </p:attrNameLst>
                                      </p:cBhvr>
                                      <p:to>
                                        <p:strVal val="solid"/>
                                      </p:to>
                                    </p:set>
                                  </p:childTnLst>
                                </p:cTn>
                              </p:par>
                              <p:par>
                                <p:cTn id="33" presetID="16" presetClass="emph" presetSubtype="0" fill="hold" nodeType="withEffect">
                                  <p:stCondLst>
                                    <p:cond delay="0"/>
                                  </p:stCondLst>
                                  <p:iterate type="lt">
                                    <p:tmPct val="4000"/>
                                  </p:iterate>
                                  <p:childTnLst>
                                    <p:set>
                                      <p:cBhvr override="childStyle">
                                        <p:cTn id="34" dur="500" fill="hold"/>
                                        <p:tgtEl>
                                          <p:spTgt spid="27651">
                                            <p:txEl>
                                              <p:pRg st="3" end="3"/>
                                            </p:txEl>
                                          </p:spTgt>
                                        </p:tgtEl>
                                        <p:attrNameLst>
                                          <p:attrName>style.color</p:attrName>
                                        </p:attrNameLst>
                                      </p:cBhvr>
                                      <p:to>
                                        <p:clrVal>
                                          <a:schemeClr val="accent2"/>
                                        </p:clrVal>
                                      </p:to>
                                    </p:set>
                                    <p:set>
                                      <p:cBhvr>
                                        <p:cTn id="35" dur="500" fill="hold"/>
                                        <p:tgtEl>
                                          <p:spTgt spid="27651">
                                            <p:txEl>
                                              <p:pRg st="3" end="3"/>
                                            </p:txEl>
                                          </p:spTgt>
                                        </p:tgtEl>
                                        <p:attrNameLst>
                                          <p:attrName>fillcolor</p:attrName>
                                        </p:attrNameLst>
                                      </p:cBhvr>
                                      <p:to>
                                        <p:clrVal>
                                          <a:schemeClr val="accent2"/>
                                        </p:clrVal>
                                      </p:to>
                                    </p:set>
                                    <p:set>
                                      <p:cBhvr>
                                        <p:cTn id="36" dur="500" fill="hold"/>
                                        <p:tgtEl>
                                          <p:spTgt spid="27651">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2"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rPr>
              <a:t>代码外提</a:t>
            </a:r>
          </a:p>
        </p:txBody>
      </p:sp>
      <p:sp>
        <p:nvSpPr>
          <p:cNvPr id="14" name="矩形 13"/>
          <p:cNvSpPr>
            <a:spLocks noChangeArrowheads="1"/>
          </p:cNvSpPr>
          <p:nvPr/>
        </p:nvSpPr>
        <p:spPr bwMode="auto">
          <a:xfrm>
            <a:off x="6506960" y="4043672"/>
            <a:ext cx="2740382" cy="2143658"/>
          </a:xfrm>
          <a:prstGeom prst="rect">
            <a:avLst/>
          </a:prstGeom>
          <a:solidFill>
            <a:schemeClr val="accent1">
              <a:alpha val="47842"/>
            </a:schemeClr>
          </a:solidFill>
          <a:ln w="19050" algn="ctr">
            <a:solidFill>
              <a:schemeClr val="tx1"/>
            </a:solidFill>
            <a:round/>
            <a:headEnd/>
            <a:tailEnd type="stealth"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endParaRPr lang="zh-CN" altLang="en-US" sz="1984">
              <a:solidFill>
                <a:prstClr val="black"/>
              </a:solidFill>
              <a:ea typeface="宋体" panose="02010600030101010101" pitchFamily="2" charset="-122"/>
            </a:endParaRPr>
          </a:p>
        </p:txBody>
      </p:sp>
      <p:sp>
        <p:nvSpPr>
          <p:cNvPr id="15" name="Rectangle 3"/>
          <p:cNvSpPr>
            <a:spLocks noGrp="1" noChangeArrowheads="1"/>
          </p:cNvSpPr>
          <p:nvPr>
            <p:ph idx="1"/>
          </p:nvPr>
        </p:nvSpPr>
        <p:spPr>
          <a:xfrm>
            <a:off x="747164" y="2009805"/>
            <a:ext cx="5533710" cy="4649679"/>
          </a:xfrm>
        </p:spPr>
        <p:txBody>
          <a:bodyPr>
            <a:normAutofit/>
          </a:bodyPr>
          <a:lstStyle/>
          <a:p>
            <a:pPr>
              <a:spcBef>
                <a:spcPts val="661"/>
              </a:spcBef>
            </a:pPr>
            <a:r>
              <a:rPr lang="zh-CN" altLang="en-US" sz="2866" dirty="0"/>
              <a:t>所谓变量</a:t>
            </a:r>
            <a:r>
              <a:rPr lang="en-US" altLang="zh-CN" sz="2866" dirty="0"/>
              <a:t>A</a:t>
            </a:r>
            <a:r>
              <a:rPr lang="zh-CN" altLang="en-US" sz="2866" dirty="0"/>
              <a:t>在某点</a:t>
            </a:r>
            <a:r>
              <a:rPr lang="en-US" altLang="zh-CN" sz="2866" dirty="0"/>
              <a:t>d</a:t>
            </a:r>
            <a:r>
              <a:rPr lang="zh-CN" altLang="en-US" sz="2866" dirty="0"/>
              <a:t>的</a:t>
            </a:r>
            <a:r>
              <a:rPr lang="zh-CN" altLang="en-US" sz="2866" dirty="0">
                <a:solidFill>
                  <a:srgbClr val="CC0000"/>
                </a:solidFill>
              </a:rPr>
              <a:t>定值到达</a:t>
            </a:r>
            <a:r>
              <a:rPr lang="zh-CN" altLang="en-US" sz="2866" dirty="0"/>
              <a:t>另一点</a:t>
            </a:r>
            <a:r>
              <a:rPr lang="en-US" altLang="zh-CN" sz="2866" dirty="0"/>
              <a:t>u（</a:t>
            </a:r>
            <a:r>
              <a:rPr lang="zh-CN" altLang="en-US" sz="2866" dirty="0"/>
              <a:t>或称变量</a:t>
            </a:r>
            <a:r>
              <a:rPr lang="en-US" altLang="zh-CN" sz="2866" dirty="0"/>
              <a:t>A</a:t>
            </a:r>
            <a:r>
              <a:rPr lang="zh-CN" altLang="en-US" sz="2866" dirty="0"/>
              <a:t>的定值点</a:t>
            </a:r>
            <a:r>
              <a:rPr lang="en-US" altLang="zh-CN" sz="2866" dirty="0"/>
              <a:t>d</a:t>
            </a:r>
            <a:r>
              <a:rPr lang="zh-CN" altLang="en-US" sz="2866" dirty="0"/>
              <a:t>到达另一点</a:t>
            </a:r>
            <a:r>
              <a:rPr lang="en-US" altLang="zh-CN" sz="2866" dirty="0"/>
              <a:t>u），</a:t>
            </a:r>
            <a:r>
              <a:rPr lang="zh-CN" altLang="en-US" sz="2866" dirty="0"/>
              <a:t>是指流图中从</a:t>
            </a:r>
            <a:r>
              <a:rPr lang="en-US" altLang="zh-CN" sz="2866" dirty="0"/>
              <a:t>d</a:t>
            </a:r>
            <a:r>
              <a:rPr lang="zh-CN" altLang="en-US" sz="2866" dirty="0">
                <a:solidFill>
                  <a:srgbClr val="0070C0"/>
                </a:solidFill>
              </a:rPr>
              <a:t>有一通路</a:t>
            </a:r>
            <a:r>
              <a:rPr lang="zh-CN" altLang="en-US" sz="2866" dirty="0"/>
              <a:t>到达</a:t>
            </a:r>
            <a:r>
              <a:rPr lang="en-US" altLang="zh-CN" sz="2866" dirty="0"/>
              <a:t>u</a:t>
            </a:r>
            <a:r>
              <a:rPr lang="zh-CN" altLang="en-US" sz="2866" dirty="0"/>
              <a:t>且该通路上没有</a:t>
            </a:r>
            <a:r>
              <a:rPr lang="en-US" altLang="zh-CN" sz="2866" dirty="0"/>
              <a:t>A</a:t>
            </a:r>
            <a:r>
              <a:rPr lang="zh-CN" altLang="en-US" sz="2866" dirty="0"/>
              <a:t>的其它定值</a:t>
            </a:r>
          </a:p>
          <a:p>
            <a:pPr>
              <a:spcBef>
                <a:spcPts val="661"/>
              </a:spcBef>
            </a:pPr>
            <a:r>
              <a:rPr lang="zh-CN" altLang="en-US" sz="2866" dirty="0">
                <a:solidFill>
                  <a:srgbClr val="CC0000"/>
                </a:solidFill>
              </a:rPr>
              <a:t>循环不变运算</a:t>
            </a:r>
            <a:r>
              <a:rPr lang="zh-CN" altLang="en-US" sz="2866" dirty="0"/>
              <a:t>: 对四元式</a:t>
            </a:r>
            <a:r>
              <a:rPr lang="en-US" altLang="zh-CN" sz="2866" dirty="0">
                <a:solidFill>
                  <a:srgbClr val="0070C0"/>
                </a:solidFill>
              </a:rPr>
              <a:t>A:=B op C,</a:t>
            </a:r>
            <a:r>
              <a:rPr lang="zh-CN" altLang="en-US" sz="2866" dirty="0"/>
              <a:t>若</a:t>
            </a:r>
            <a:r>
              <a:rPr lang="en-US" altLang="zh-CN" sz="2866" dirty="0"/>
              <a:t>B</a:t>
            </a:r>
            <a:r>
              <a:rPr lang="zh-CN" altLang="en-US" sz="2866" dirty="0"/>
              <a:t>和</a:t>
            </a:r>
            <a:r>
              <a:rPr lang="en-US" altLang="zh-CN" sz="2866" dirty="0"/>
              <a:t>C</a:t>
            </a:r>
            <a:r>
              <a:rPr lang="zh-CN" altLang="en-US" sz="2866" dirty="0"/>
              <a:t>是常数，或者到达它们的</a:t>
            </a:r>
            <a:r>
              <a:rPr lang="en-US" altLang="zh-CN" sz="2866" dirty="0"/>
              <a:t>B</a:t>
            </a:r>
            <a:r>
              <a:rPr lang="zh-CN" altLang="en-US" sz="2866" dirty="0"/>
              <a:t>和</a:t>
            </a:r>
            <a:r>
              <a:rPr lang="en-US" altLang="zh-CN" sz="2866" dirty="0"/>
              <a:t>C</a:t>
            </a:r>
            <a:r>
              <a:rPr lang="zh-CN" altLang="en-US" sz="2866" dirty="0"/>
              <a:t>的定值点都在循环外</a:t>
            </a:r>
          </a:p>
        </p:txBody>
      </p:sp>
      <p:sp>
        <p:nvSpPr>
          <p:cNvPr id="16" name="Rectangle 5"/>
          <p:cNvSpPr>
            <a:spLocks noChangeArrowheads="1"/>
          </p:cNvSpPr>
          <p:nvPr/>
        </p:nvSpPr>
        <p:spPr bwMode="auto">
          <a:xfrm>
            <a:off x="6681953" y="2535238"/>
            <a:ext cx="2381647" cy="635223"/>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lang="en-US" altLang="zh-CN" sz="2646" dirty="0">
                <a:solidFill>
                  <a:prstClr val="black"/>
                </a:solidFill>
                <a:latin typeface="微软雅黑" panose="020B0503020204020204" pitchFamily="34" charset="-122"/>
              </a:rPr>
              <a:t>d :  </a:t>
            </a:r>
            <a:r>
              <a:rPr lang="en-US" altLang="zh-CN" sz="2646" dirty="0">
                <a:solidFill>
                  <a:srgbClr val="0070C0"/>
                </a:solidFill>
                <a:latin typeface="微软雅黑" panose="020B0503020204020204" pitchFamily="34" charset="-122"/>
              </a:rPr>
              <a:t>A</a:t>
            </a:r>
            <a:r>
              <a:rPr lang="en-US" altLang="zh-CN" sz="2646" dirty="0">
                <a:solidFill>
                  <a:prstClr val="black"/>
                </a:solidFill>
                <a:latin typeface="微软雅黑" panose="020B0503020204020204" pitchFamily="34" charset="-122"/>
              </a:rPr>
              <a:t>:=B op C</a:t>
            </a:r>
            <a:endParaRPr lang="en-GB" altLang="zh-CN" sz="2646" dirty="0">
              <a:solidFill>
                <a:prstClr val="black"/>
              </a:solidFill>
              <a:latin typeface="微软雅黑" panose="020B0503020204020204" pitchFamily="34" charset="-122"/>
            </a:endParaRPr>
          </a:p>
        </p:txBody>
      </p:sp>
      <p:sp>
        <p:nvSpPr>
          <p:cNvPr id="17" name="Rectangle 6"/>
          <p:cNvSpPr>
            <a:spLocks noChangeArrowheads="1"/>
          </p:cNvSpPr>
          <p:nvPr/>
        </p:nvSpPr>
        <p:spPr bwMode="auto">
          <a:xfrm>
            <a:off x="6681953" y="4600149"/>
            <a:ext cx="2381647" cy="635223"/>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lang="en-US" altLang="zh-CN" sz="2646" dirty="0">
                <a:solidFill>
                  <a:prstClr val="black"/>
                </a:solidFill>
                <a:latin typeface="微软雅黑" panose="020B0503020204020204" pitchFamily="34" charset="-122"/>
              </a:rPr>
              <a:t>u :  D:=</a:t>
            </a:r>
            <a:r>
              <a:rPr lang="en-US" altLang="zh-CN" sz="2646" dirty="0">
                <a:solidFill>
                  <a:srgbClr val="0070C0"/>
                </a:solidFill>
                <a:latin typeface="微软雅黑" panose="020B0503020204020204" pitchFamily="34" charset="-122"/>
              </a:rPr>
              <a:t>A</a:t>
            </a:r>
            <a:r>
              <a:rPr lang="en-US" altLang="zh-CN" sz="2646" dirty="0">
                <a:solidFill>
                  <a:prstClr val="black"/>
                </a:solidFill>
                <a:latin typeface="微软雅黑" panose="020B0503020204020204" pitchFamily="34" charset="-122"/>
              </a:rPr>
              <a:t> op E</a:t>
            </a:r>
            <a:endParaRPr lang="en-GB" altLang="zh-CN" sz="2646" dirty="0">
              <a:solidFill>
                <a:prstClr val="black"/>
              </a:solidFill>
              <a:latin typeface="微软雅黑" panose="020B0503020204020204" pitchFamily="34" charset="-122"/>
            </a:endParaRPr>
          </a:p>
        </p:txBody>
      </p:sp>
      <p:sp>
        <p:nvSpPr>
          <p:cNvPr id="18" name="Line 7"/>
          <p:cNvSpPr>
            <a:spLocks noChangeShapeType="1"/>
          </p:cNvSpPr>
          <p:nvPr/>
        </p:nvSpPr>
        <p:spPr bwMode="auto">
          <a:xfrm>
            <a:off x="7840401" y="1980512"/>
            <a:ext cx="0" cy="55472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19" name="Line 8"/>
          <p:cNvSpPr>
            <a:spLocks noChangeShapeType="1"/>
          </p:cNvSpPr>
          <p:nvPr/>
        </p:nvSpPr>
        <p:spPr bwMode="auto">
          <a:xfrm>
            <a:off x="7873649" y="3170460"/>
            <a:ext cx="0" cy="39723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20" name="Line 11"/>
          <p:cNvSpPr>
            <a:spLocks noChangeShapeType="1"/>
          </p:cNvSpPr>
          <p:nvPr/>
        </p:nvSpPr>
        <p:spPr bwMode="auto">
          <a:xfrm>
            <a:off x="7873649" y="4202916"/>
            <a:ext cx="0" cy="39723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21" name="Line 12"/>
          <p:cNvSpPr>
            <a:spLocks noChangeShapeType="1"/>
          </p:cNvSpPr>
          <p:nvPr/>
        </p:nvSpPr>
        <p:spPr bwMode="auto">
          <a:xfrm>
            <a:off x="7873649" y="3726937"/>
            <a:ext cx="0" cy="395483"/>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22" name="Line 13"/>
          <p:cNvSpPr>
            <a:spLocks noChangeShapeType="1"/>
          </p:cNvSpPr>
          <p:nvPr/>
        </p:nvSpPr>
        <p:spPr bwMode="auto">
          <a:xfrm>
            <a:off x="7873649" y="5249371"/>
            <a:ext cx="0" cy="39723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Tree>
    <p:extLst>
      <p:ext uri="{BB962C8B-B14F-4D97-AF65-F5344CB8AC3E}">
        <p14:creationId xmlns:p14="http://schemas.microsoft.com/office/powerpoint/2010/main" val="408986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500"/>
                                        <p:tgtEl>
                                          <p:spTgt spid="15">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up)">
                                      <p:cBhvr>
                                        <p:cTn id="11" dur="500"/>
                                        <p:tgtEl>
                                          <p:spTgt spid="18"/>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up)">
                                      <p:cBhvr>
                                        <p:cTn id="15" dur="500"/>
                                        <p:tgtEl>
                                          <p:spTgt spid="16"/>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up)">
                                      <p:cBhvr>
                                        <p:cTn id="23" dur="500"/>
                                        <p:tgtEl>
                                          <p:spTgt spid="21"/>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up)">
                                      <p:cBhvr>
                                        <p:cTn id="27" dur="500"/>
                                        <p:tgtEl>
                                          <p:spTgt spid="20"/>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up)">
                                      <p:cBhvr>
                                        <p:cTn id="31" dur="500"/>
                                        <p:tgtEl>
                                          <p:spTgt spid="17"/>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up)">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5">
                                            <p:txEl>
                                              <p:pRg st="1" end="1"/>
                                            </p:txEl>
                                          </p:spTgt>
                                        </p:tgtEl>
                                        <p:attrNameLst>
                                          <p:attrName>style.visibility</p:attrName>
                                        </p:attrNameLst>
                                      </p:cBhvr>
                                      <p:to>
                                        <p:strVal val="visible"/>
                                      </p:to>
                                    </p:set>
                                    <p:animEffect transition="in" filter="wipe(left)">
                                      <p:cBhvr>
                                        <p:cTn id="40" dur="500"/>
                                        <p:tgtEl>
                                          <p:spTgt spid="15">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build="p"/>
      <p:bldP spid="16" grpId="0" animBg="1"/>
      <p:bldP spid="17" grpId="0" animBg="1"/>
      <p:bldP spid="18" grpId="0" animBg="1"/>
      <p:bldP spid="19" grpId="0" animBg="1"/>
      <p:bldP spid="20" grpId="0" animBg="1"/>
      <p:bldP spid="21" grpId="0" animBg="1"/>
      <p:bldP spid="22" grpId="0" animBg="1"/>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2"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rPr>
              <a:t>代码外提</a:t>
            </a:r>
          </a:p>
        </p:txBody>
      </p:sp>
      <p:sp>
        <p:nvSpPr>
          <p:cNvPr id="14" name="矩形 13"/>
          <p:cNvSpPr>
            <a:spLocks noChangeArrowheads="1"/>
          </p:cNvSpPr>
          <p:nvPr/>
        </p:nvSpPr>
        <p:spPr bwMode="auto">
          <a:xfrm>
            <a:off x="6506960" y="4043672"/>
            <a:ext cx="2740382" cy="2143658"/>
          </a:xfrm>
          <a:prstGeom prst="rect">
            <a:avLst/>
          </a:prstGeom>
          <a:solidFill>
            <a:schemeClr val="accent1">
              <a:alpha val="47842"/>
            </a:schemeClr>
          </a:solidFill>
          <a:ln w="19050" algn="ctr">
            <a:solidFill>
              <a:schemeClr val="tx1"/>
            </a:solidFill>
            <a:round/>
            <a:headEnd/>
            <a:tailEnd type="stealth"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endParaRPr kumimoji="0" lang="zh-CN" altLang="en-US" sz="1984"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5" name="Rectangle 3"/>
          <p:cNvSpPr>
            <a:spLocks noGrp="1" noChangeArrowheads="1"/>
          </p:cNvSpPr>
          <p:nvPr>
            <p:ph idx="1"/>
          </p:nvPr>
        </p:nvSpPr>
        <p:spPr>
          <a:xfrm>
            <a:off x="747164" y="2009805"/>
            <a:ext cx="5533710" cy="4649679"/>
          </a:xfrm>
        </p:spPr>
        <p:txBody>
          <a:bodyPr>
            <a:normAutofit/>
          </a:bodyPr>
          <a:lstStyle/>
          <a:p>
            <a:pPr>
              <a:spcBef>
                <a:spcPts val="661"/>
              </a:spcBef>
            </a:pPr>
            <a:r>
              <a:rPr lang="zh-CN" altLang="en-US" sz="2866" dirty="0"/>
              <a:t>所谓变量</a:t>
            </a:r>
            <a:r>
              <a:rPr lang="en-US" altLang="zh-CN" sz="2866" dirty="0"/>
              <a:t>A</a:t>
            </a:r>
            <a:r>
              <a:rPr lang="zh-CN" altLang="en-US" sz="2866" dirty="0"/>
              <a:t>在某点</a:t>
            </a:r>
            <a:r>
              <a:rPr lang="en-US" altLang="zh-CN" sz="2866" dirty="0"/>
              <a:t>d</a:t>
            </a:r>
            <a:r>
              <a:rPr lang="zh-CN" altLang="en-US" sz="2866" dirty="0"/>
              <a:t>的</a:t>
            </a:r>
            <a:r>
              <a:rPr lang="zh-CN" altLang="en-US" sz="2866" dirty="0">
                <a:solidFill>
                  <a:srgbClr val="CC0000"/>
                </a:solidFill>
              </a:rPr>
              <a:t>定值到达</a:t>
            </a:r>
            <a:r>
              <a:rPr lang="zh-CN" altLang="en-US" sz="2866" dirty="0"/>
              <a:t>另一点</a:t>
            </a:r>
            <a:r>
              <a:rPr lang="en-US" altLang="zh-CN" sz="2866" dirty="0"/>
              <a:t>u（</a:t>
            </a:r>
            <a:r>
              <a:rPr lang="zh-CN" altLang="en-US" sz="2866" dirty="0"/>
              <a:t>或称变量</a:t>
            </a:r>
            <a:r>
              <a:rPr lang="en-US" altLang="zh-CN" sz="2866" dirty="0"/>
              <a:t>A</a:t>
            </a:r>
            <a:r>
              <a:rPr lang="zh-CN" altLang="en-US" sz="2866" dirty="0"/>
              <a:t>的定值点</a:t>
            </a:r>
            <a:r>
              <a:rPr lang="en-US" altLang="zh-CN" sz="2866" dirty="0"/>
              <a:t>d</a:t>
            </a:r>
            <a:r>
              <a:rPr lang="zh-CN" altLang="en-US" sz="2866" dirty="0"/>
              <a:t>到达另一点</a:t>
            </a:r>
            <a:r>
              <a:rPr lang="en-US" altLang="zh-CN" sz="2866" dirty="0"/>
              <a:t>u），</a:t>
            </a:r>
            <a:r>
              <a:rPr lang="zh-CN" altLang="en-US" sz="2866" dirty="0"/>
              <a:t>是指流图中从</a:t>
            </a:r>
            <a:r>
              <a:rPr lang="en-US" altLang="zh-CN" sz="2866" dirty="0"/>
              <a:t>d</a:t>
            </a:r>
            <a:r>
              <a:rPr lang="zh-CN" altLang="en-US" sz="2866" dirty="0">
                <a:solidFill>
                  <a:srgbClr val="0070C0"/>
                </a:solidFill>
              </a:rPr>
              <a:t>有一通路</a:t>
            </a:r>
            <a:r>
              <a:rPr lang="zh-CN" altLang="en-US" sz="2866" dirty="0"/>
              <a:t>到达</a:t>
            </a:r>
            <a:r>
              <a:rPr lang="en-US" altLang="zh-CN" sz="2866" dirty="0"/>
              <a:t>u</a:t>
            </a:r>
            <a:r>
              <a:rPr lang="zh-CN" altLang="en-US" sz="2866" dirty="0"/>
              <a:t>且该通路上没有</a:t>
            </a:r>
            <a:r>
              <a:rPr lang="en-US" altLang="zh-CN" sz="2866" dirty="0"/>
              <a:t>A</a:t>
            </a:r>
            <a:r>
              <a:rPr lang="zh-CN" altLang="en-US" sz="2866" dirty="0"/>
              <a:t>的其它定值</a:t>
            </a:r>
          </a:p>
          <a:p>
            <a:pPr>
              <a:spcBef>
                <a:spcPts val="661"/>
              </a:spcBef>
            </a:pPr>
            <a:r>
              <a:rPr lang="zh-CN" altLang="en-US" sz="2866" dirty="0">
                <a:solidFill>
                  <a:srgbClr val="CC0000"/>
                </a:solidFill>
              </a:rPr>
              <a:t>循环不变运算</a:t>
            </a:r>
            <a:r>
              <a:rPr lang="zh-CN" altLang="en-US" sz="2866" dirty="0"/>
              <a:t>: 对四元式</a:t>
            </a:r>
            <a:r>
              <a:rPr lang="en-US" altLang="zh-CN" sz="2866" dirty="0">
                <a:solidFill>
                  <a:srgbClr val="0070C0"/>
                </a:solidFill>
              </a:rPr>
              <a:t>A:=B op C,</a:t>
            </a:r>
            <a:r>
              <a:rPr lang="zh-CN" altLang="en-US" sz="2866" dirty="0"/>
              <a:t>若</a:t>
            </a:r>
            <a:r>
              <a:rPr lang="en-US" altLang="zh-CN" sz="2866" dirty="0"/>
              <a:t>B</a:t>
            </a:r>
            <a:r>
              <a:rPr lang="zh-CN" altLang="en-US" sz="2866" dirty="0"/>
              <a:t>和</a:t>
            </a:r>
            <a:r>
              <a:rPr lang="en-US" altLang="zh-CN" sz="2866" dirty="0"/>
              <a:t>C</a:t>
            </a:r>
            <a:r>
              <a:rPr lang="zh-CN" altLang="en-US" sz="2866" dirty="0"/>
              <a:t>是常数，或者到达它们的</a:t>
            </a:r>
            <a:r>
              <a:rPr lang="en-US" altLang="zh-CN" sz="2866" dirty="0"/>
              <a:t>B</a:t>
            </a:r>
            <a:r>
              <a:rPr lang="zh-CN" altLang="en-US" sz="2866" dirty="0"/>
              <a:t>和</a:t>
            </a:r>
            <a:r>
              <a:rPr lang="en-US" altLang="zh-CN" sz="2866" dirty="0"/>
              <a:t>C</a:t>
            </a:r>
            <a:r>
              <a:rPr lang="zh-CN" altLang="en-US" sz="2866" dirty="0"/>
              <a:t>的定值点都在循环外</a:t>
            </a:r>
            <a:endParaRPr lang="en-US" altLang="zh-CN" sz="2866" dirty="0"/>
          </a:p>
          <a:p>
            <a:pPr>
              <a:spcBef>
                <a:spcPts val="661"/>
              </a:spcBef>
            </a:pPr>
            <a:r>
              <a:rPr lang="zh-CN" altLang="en-US" sz="2646" dirty="0"/>
              <a:t>把循环不变运算提到循环体外</a:t>
            </a:r>
          </a:p>
        </p:txBody>
      </p:sp>
      <p:sp>
        <p:nvSpPr>
          <p:cNvPr id="16" name="Rectangle 5"/>
          <p:cNvSpPr>
            <a:spLocks noChangeArrowheads="1"/>
          </p:cNvSpPr>
          <p:nvPr/>
        </p:nvSpPr>
        <p:spPr bwMode="auto">
          <a:xfrm>
            <a:off x="6681953" y="2535238"/>
            <a:ext cx="2381647" cy="635223"/>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 :  </a:t>
            </a:r>
            <a:r>
              <a:rPr kumimoji="0" lang="en-US" altLang="zh-CN" sz="2646"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A</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 op C</a:t>
            </a:r>
            <a:endParaRPr kumimoji="0" lang="en-GB"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Rectangle 6"/>
          <p:cNvSpPr>
            <a:spLocks noChangeArrowheads="1"/>
          </p:cNvSpPr>
          <p:nvPr/>
        </p:nvSpPr>
        <p:spPr bwMode="auto">
          <a:xfrm>
            <a:off x="6681953" y="4600149"/>
            <a:ext cx="2381647" cy="635223"/>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ctr"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u :  D:=</a:t>
            </a:r>
            <a:r>
              <a:rPr kumimoji="0" lang="en-US" altLang="zh-CN" sz="2646"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A</a:t>
            </a:r>
            <a:r>
              <a:rPr kumimoji="0" lang="en-US"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op E</a:t>
            </a:r>
            <a:endParaRPr kumimoji="0" lang="en-GB" altLang="zh-CN" sz="2646"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Line 7"/>
          <p:cNvSpPr>
            <a:spLocks noChangeShapeType="1"/>
          </p:cNvSpPr>
          <p:nvPr/>
        </p:nvSpPr>
        <p:spPr bwMode="auto">
          <a:xfrm>
            <a:off x="7840401" y="1980512"/>
            <a:ext cx="0" cy="554726"/>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marL="0" marR="0" lvl="0" indent="0" algn="l" defTabSz="503972"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1984"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19" name="Line 8"/>
          <p:cNvSpPr>
            <a:spLocks noChangeShapeType="1"/>
          </p:cNvSpPr>
          <p:nvPr/>
        </p:nvSpPr>
        <p:spPr bwMode="auto">
          <a:xfrm>
            <a:off x="7873649" y="3170460"/>
            <a:ext cx="0" cy="39723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marL="0" marR="0" lvl="0" indent="0" algn="l" defTabSz="503972"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1984"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0" name="Line 11"/>
          <p:cNvSpPr>
            <a:spLocks noChangeShapeType="1"/>
          </p:cNvSpPr>
          <p:nvPr/>
        </p:nvSpPr>
        <p:spPr bwMode="auto">
          <a:xfrm>
            <a:off x="7873649" y="4202916"/>
            <a:ext cx="0" cy="39723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marL="0" marR="0" lvl="0" indent="0" algn="l" defTabSz="503972"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1984"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1" name="Line 12"/>
          <p:cNvSpPr>
            <a:spLocks noChangeShapeType="1"/>
          </p:cNvSpPr>
          <p:nvPr/>
        </p:nvSpPr>
        <p:spPr bwMode="auto">
          <a:xfrm>
            <a:off x="7873649" y="3726937"/>
            <a:ext cx="0" cy="395483"/>
          </a:xfrm>
          <a:prstGeom prst="line">
            <a:avLst/>
          </a:prstGeom>
          <a:noFill/>
          <a:ln w="1905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pPr marL="0" marR="0" lvl="0" indent="0" algn="l" defTabSz="503972"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1984"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
        <p:nvSpPr>
          <p:cNvPr id="22" name="Line 13"/>
          <p:cNvSpPr>
            <a:spLocks noChangeShapeType="1"/>
          </p:cNvSpPr>
          <p:nvPr/>
        </p:nvSpPr>
        <p:spPr bwMode="auto">
          <a:xfrm>
            <a:off x="7873649" y="5249371"/>
            <a:ext cx="0" cy="39723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marL="0" marR="0" lvl="0" indent="0" algn="l" defTabSz="503972" rtl="0" eaLnBrk="1" fontAlgn="auto" latinLnBrk="0" hangingPunct="1">
              <a:lnSpc>
                <a:spcPct val="100000"/>
              </a:lnSpc>
              <a:spcBef>
                <a:spcPts val="0"/>
              </a:spcBef>
              <a:spcAft>
                <a:spcPts val="0"/>
              </a:spcAft>
              <a:buClrTx/>
              <a:buSzTx/>
              <a:buFont typeface="Times New Roman" panose="02020603050405020304" pitchFamily="2" charset="0"/>
              <a:buNone/>
              <a:tabLst/>
              <a:defRPr/>
            </a:pPr>
            <a:endParaRPr kumimoji="0" lang="zh-CN" altLang="en-US" sz="1984" b="0" i="0" u="none" strike="noStrike" kern="1200" cap="none" spc="0" normalizeH="0" baseline="0" noProof="0">
              <a:ln>
                <a:noFill/>
              </a:ln>
              <a:solidFill>
                <a:prstClr val="black"/>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1518798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wipe(left)">
                                      <p:cBhvr>
                                        <p:cTn id="7"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外提的位置</a:t>
            </a:r>
          </a:p>
        </p:txBody>
      </p:sp>
      <p:sp>
        <p:nvSpPr>
          <p:cNvPr id="25" name="文本框 24"/>
          <p:cNvSpPr txBox="1"/>
          <p:nvPr/>
        </p:nvSpPr>
        <p:spPr>
          <a:xfrm>
            <a:off x="7056225" y="944959"/>
            <a:ext cx="3023870" cy="5669756"/>
          </a:xfrm>
          <a:prstGeom prst="rect">
            <a:avLst/>
          </a:prstGeom>
          <a:noFill/>
        </p:spPr>
        <p:txBody>
          <a:bodyPr wrap="square" rtlCol="0">
            <a:noAutofit/>
          </a:bodyPr>
          <a:lstStyle/>
          <a:p>
            <a:pPr defTabSz="503972" rtl="0" fontAlgn="auto" hangingPunct="1">
              <a:lnSpc>
                <a:spcPct val="100000"/>
              </a:lnSpc>
              <a:spcBef>
                <a:spcPts val="0"/>
              </a:spcBef>
              <a:spcAft>
                <a:spcPts val="0"/>
              </a:spcAft>
              <a:buSzTx/>
            </a:pPr>
            <a:endParaRPr lang="en-GB" altLang="zh-CN" sz="2646" dirty="0">
              <a:solidFill>
                <a:srgbClr val="FF0000"/>
              </a:solidFill>
              <a:latin typeface="Arial" panose="020B0604020202020204"/>
              <a:ea typeface="黑体" panose="02010609060101010101" pitchFamily="49" charset="-122"/>
            </a:endParaRPr>
          </a:p>
        </p:txBody>
      </p:sp>
      <p:grpSp>
        <p:nvGrpSpPr>
          <p:cNvPr id="24" name="Group 25"/>
          <p:cNvGrpSpPr>
            <a:grpSpLocks noChangeAspect="1"/>
          </p:cNvGrpSpPr>
          <p:nvPr/>
        </p:nvGrpSpPr>
        <p:grpSpPr bwMode="auto">
          <a:xfrm>
            <a:off x="976988" y="3194375"/>
            <a:ext cx="3174667" cy="2995083"/>
            <a:chOff x="528" y="1296"/>
            <a:chExt cx="2064" cy="1968"/>
          </a:xfrm>
        </p:grpSpPr>
        <p:sp>
          <p:nvSpPr>
            <p:cNvPr id="26" name="Rectangle 5"/>
            <p:cNvSpPr>
              <a:spLocks noChangeArrowheads="1"/>
            </p:cNvSpPr>
            <p:nvPr/>
          </p:nvSpPr>
          <p:spPr bwMode="auto">
            <a:xfrm>
              <a:off x="816" y="1872"/>
              <a:ext cx="1536" cy="336"/>
            </a:xfrm>
            <a:prstGeom prst="rect">
              <a:avLst/>
            </a:prstGeom>
            <a:noFill/>
            <a:ln w="254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3086">
                  <a:solidFill>
                    <a:prstClr val="black"/>
                  </a:solidFill>
                  <a:latin typeface="微软雅黑" panose="020B0503020204020204" pitchFamily="34" charset="-122"/>
                </a:rPr>
                <a:t>入口结点</a:t>
              </a:r>
              <a:endParaRPr kumimoji="1" lang="zh-CN" altLang="zh-CN" sz="3086">
                <a:solidFill>
                  <a:prstClr val="black"/>
                </a:solidFill>
                <a:latin typeface="微软雅黑" panose="020B0503020204020204" pitchFamily="34" charset="-122"/>
              </a:endParaRPr>
            </a:p>
          </p:txBody>
        </p:sp>
        <p:sp>
          <p:nvSpPr>
            <p:cNvPr id="27" name="Rectangle 6"/>
            <p:cNvSpPr>
              <a:spLocks noChangeArrowheads="1"/>
            </p:cNvSpPr>
            <p:nvPr/>
          </p:nvSpPr>
          <p:spPr bwMode="auto">
            <a:xfrm>
              <a:off x="816" y="2592"/>
              <a:ext cx="15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3086">
                  <a:solidFill>
                    <a:prstClr val="black"/>
                  </a:solidFill>
                  <a:latin typeface="微软雅黑" panose="020B0503020204020204" pitchFamily="34" charset="-122"/>
                </a:rPr>
                <a:t>循环</a:t>
              </a:r>
              <a:r>
                <a:rPr kumimoji="1" lang="en-US" altLang="zh-CN" sz="3086">
                  <a:solidFill>
                    <a:prstClr val="black"/>
                  </a:solidFill>
                  <a:latin typeface="微软雅黑" panose="020B0503020204020204" pitchFamily="34" charset="-122"/>
                </a:rPr>
                <a:t>L</a:t>
              </a:r>
            </a:p>
          </p:txBody>
        </p:sp>
        <p:sp>
          <p:nvSpPr>
            <p:cNvPr id="28" name="Line 8"/>
            <p:cNvSpPr>
              <a:spLocks noChangeShapeType="1"/>
            </p:cNvSpPr>
            <p:nvPr/>
          </p:nvSpPr>
          <p:spPr bwMode="auto">
            <a:xfrm>
              <a:off x="1824" y="1296"/>
              <a:ext cx="0" cy="576"/>
            </a:xfrm>
            <a:prstGeom prst="line">
              <a:avLst/>
            </a:prstGeom>
            <a:noFill/>
            <a:ln w="254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29" name="Line 9"/>
            <p:cNvSpPr>
              <a:spLocks noChangeShapeType="1"/>
            </p:cNvSpPr>
            <p:nvPr/>
          </p:nvSpPr>
          <p:spPr bwMode="auto">
            <a:xfrm>
              <a:off x="1392" y="1296"/>
              <a:ext cx="0" cy="576"/>
            </a:xfrm>
            <a:prstGeom prst="line">
              <a:avLst/>
            </a:prstGeom>
            <a:noFill/>
            <a:ln w="254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0" name="Freeform 11"/>
            <p:cNvSpPr>
              <a:spLocks/>
            </p:cNvSpPr>
            <p:nvPr/>
          </p:nvSpPr>
          <p:spPr bwMode="auto">
            <a:xfrm>
              <a:off x="528" y="1488"/>
              <a:ext cx="816" cy="1776"/>
            </a:xfrm>
            <a:custGeom>
              <a:avLst/>
              <a:gdLst>
                <a:gd name="T0" fmla="*/ 816 w 816"/>
                <a:gd name="T1" fmla="*/ 1440 h 1776"/>
                <a:gd name="T2" fmla="*/ 816 w 816"/>
                <a:gd name="T3" fmla="*/ 1776 h 1776"/>
                <a:gd name="T4" fmla="*/ 0 w 816"/>
                <a:gd name="T5" fmla="*/ 1776 h 1776"/>
                <a:gd name="T6" fmla="*/ 0 w 816"/>
                <a:gd name="T7" fmla="*/ 0 h 1776"/>
                <a:gd name="T8" fmla="*/ 576 w 816"/>
                <a:gd name="T9" fmla="*/ 0 h 1776"/>
                <a:gd name="T10" fmla="*/ 576 w 816"/>
                <a:gd name="T11" fmla="*/ 384 h 1776"/>
                <a:gd name="T12" fmla="*/ 0 60000 65536"/>
                <a:gd name="T13" fmla="*/ 0 60000 65536"/>
                <a:gd name="T14" fmla="*/ 0 60000 65536"/>
                <a:gd name="T15" fmla="*/ 0 60000 65536"/>
                <a:gd name="T16" fmla="*/ 0 60000 65536"/>
                <a:gd name="T17" fmla="*/ 0 60000 65536"/>
                <a:gd name="T18" fmla="*/ 0 w 816"/>
                <a:gd name="T19" fmla="*/ 0 h 1776"/>
                <a:gd name="T20" fmla="*/ 816 w 816"/>
                <a:gd name="T21" fmla="*/ 1776 h 1776"/>
              </a:gdLst>
              <a:ahLst/>
              <a:cxnLst>
                <a:cxn ang="T12">
                  <a:pos x="T0" y="T1"/>
                </a:cxn>
                <a:cxn ang="T13">
                  <a:pos x="T2" y="T3"/>
                </a:cxn>
                <a:cxn ang="T14">
                  <a:pos x="T4" y="T5"/>
                </a:cxn>
                <a:cxn ang="T15">
                  <a:pos x="T6" y="T7"/>
                </a:cxn>
                <a:cxn ang="T16">
                  <a:pos x="T8" y="T9"/>
                </a:cxn>
                <a:cxn ang="T17">
                  <a:pos x="T10" y="T11"/>
                </a:cxn>
              </a:cxnLst>
              <a:rect l="T18" t="T19" r="T20" b="T21"/>
              <a:pathLst>
                <a:path w="816" h="1776">
                  <a:moveTo>
                    <a:pt x="816" y="1440"/>
                  </a:moveTo>
                  <a:lnTo>
                    <a:pt x="816" y="1776"/>
                  </a:lnTo>
                  <a:lnTo>
                    <a:pt x="0" y="1776"/>
                  </a:lnTo>
                  <a:lnTo>
                    <a:pt x="0" y="0"/>
                  </a:lnTo>
                  <a:lnTo>
                    <a:pt x="576" y="0"/>
                  </a:lnTo>
                  <a:lnTo>
                    <a:pt x="576" y="384"/>
                  </a:lnTo>
                </a:path>
              </a:pathLst>
            </a:custGeom>
            <a:noFill/>
            <a:ln w="25400"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1" name="Freeform 12"/>
            <p:cNvSpPr>
              <a:spLocks/>
            </p:cNvSpPr>
            <p:nvPr/>
          </p:nvSpPr>
          <p:spPr bwMode="auto">
            <a:xfrm>
              <a:off x="1824" y="1488"/>
              <a:ext cx="768" cy="1776"/>
            </a:xfrm>
            <a:custGeom>
              <a:avLst/>
              <a:gdLst>
                <a:gd name="T0" fmla="*/ 0 w 768"/>
                <a:gd name="T1" fmla="*/ 1440 h 1776"/>
                <a:gd name="T2" fmla="*/ 0 w 768"/>
                <a:gd name="T3" fmla="*/ 1776 h 1776"/>
                <a:gd name="T4" fmla="*/ 768 w 768"/>
                <a:gd name="T5" fmla="*/ 1776 h 1776"/>
                <a:gd name="T6" fmla="*/ 768 w 768"/>
                <a:gd name="T7" fmla="*/ 0 h 1776"/>
                <a:gd name="T8" fmla="*/ 288 w 768"/>
                <a:gd name="T9" fmla="*/ 0 h 1776"/>
                <a:gd name="T10" fmla="*/ 288 w 768"/>
                <a:gd name="T11" fmla="*/ 384 h 1776"/>
                <a:gd name="T12" fmla="*/ 0 60000 65536"/>
                <a:gd name="T13" fmla="*/ 0 60000 65536"/>
                <a:gd name="T14" fmla="*/ 0 60000 65536"/>
                <a:gd name="T15" fmla="*/ 0 60000 65536"/>
                <a:gd name="T16" fmla="*/ 0 60000 65536"/>
                <a:gd name="T17" fmla="*/ 0 60000 65536"/>
                <a:gd name="T18" fmla="*/ 0 w 768"/>
                <a:gd name="T19" fmla="*/ 0 h 1776"/>
                <a:gd name="T20" fmla="*/ 768 w 768"/>
                <a:gd name="T21" fmla="*/ 1776 h 1776"/>
              </a:gdLst>
              <a:ahLst/>
              <a:cxnLst>
                <a:cxn ang="T12">
                  <a:pos x="T0" y="T1"/>
                </a:cxn>
                <a:cxn ang="T13">
                  <a:pos x="T2" y="T3"/>
                </a:cxn>
                <a:cxn ang="T14">
                  <a:pos x="T4" y="T5"/>
                </a:cxn>
                <a:cxn ang="T15">
                  <a:pos x="T6" y="T7"/>
                </a:cxn>
                <a:cxn ang="T16">
                  <a:pos x="T8" y="T9"/>
                </a:cxn>
                <a:cxn ang="T17">
                  <a:pos x="T10" y="T11"/>
                </a:cxn>
              </a:cxnLst>
              <a:rect l="T18" t="T19" r="T20" b="T21"/>
              <a:pathLst>
                <a:path w="768" h="1776">
                  <a:moveTo>
                    <a:pt x="0" y="1440"/>
                  </a:moveTo>
                  <a:lnTo>
                    <a:pt x="0" y="1776"/>
                  </a:lnTo>
                  <a:lnTo>
                    <a:pt x="768" y="1776"/>
                  </a:lnTo>
                  <a:lnTo>
                    <a:pt x="768" y="0"/>
                  </a:lnTo>
                  <a:lnTo>
                    <a:pt x="288" y="0"/>
                  </a:lnTo>
                  <a:lnTo>
                    <a:pt x="288" y="384"/>
                  </a:lnTo>
                </a:path>
              </a:pathLst>
            </a:custGeom>
            <a:noFill/>
            <a:ln w="25400"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2" name="Line 13"/>
            <p:cNvSpPr>
              <a:spLocks noChangeShapeType="1"/>
            </p:cNvSpPr>
            <p:nvPr/>
          </p:nvSpPr>
          <p:spPr bwMode="auto">
            <a:xfrm>
              <a:off x="1584" y="2256"/>
              <a:ext cx="0" cy="336"/>
            </a:xfrm>
            <a:prstGeom prst="line">
              <a:avLst/>
            </a:prstGeom>
            <a:noFill/>
            <a:ln w="25400">
              <a:solidFill>
                <a:schemeClr val="tx1"/>
              </a:solidFill>
              <a:prstDash val="dash"/>
              <a:round/>
              <a:headEnd type="none" w="sm" len="sm"/>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3" name="Line 14"/>
            <p:cNvSpPr>
              <a:spLocks noChangeShapeType="1"/>
            </p:cNvSpPr>
            <p:nvPr/>
          </p:nvSpPr>
          <p:spPr bwMode="auto">
            <a:xfrm>
              <a:off x="1584" y="2928"/>
              <a:ext cx="0" cy="336"/>
            </a:xfrm>
            <a:prstGeom prst="line">
              <a:avLst/>
            </a:prstGeom>
            <a:noFill/>
            <a:ln w="25400">
              <a:solidFill>
                <a:schemeClr val="tx1"/>
              </a:solidFill>
              <a:prstDash val="dash"/>
              <a:round/>
              <a:headEnd type="none" w="sm" len="sm"/>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grpSp>
        <p:nvGrpSpPr>
          <p:cNvPr id="34" name="Group 26"/>
          <p:cNvGrpSpPr>
            <a:grpSpLocks noChangeAspect="1"/>
          </p:cNvGrpSpPr>
          <p:nvPr/>
        </p:nvGrpSpPr>
        <p:grpSpPr bwMode="auto">
          <a:xfrm>
            <a:off x="4543245" y="2097153"/>
            <a:ext cx="3175802" cy="4092304"/>
            <a:chOff x="3216" y="624"/>
            <a:chExt cx="2064" cy="2688"/>
          </a:xfrm>
        </p:grpSpPr>
        <p:sp>
          <p:nvSpPr>
            <p:cNvPr id="35" name="Rectangle 15"/>
            <p:cNvSpPr>
              <a:spLocks noChangeArrowheads="1"/>
            </p:cNvSpPr>
            <p:nvPr/>
          </p:nvSpPr>
          <p:spPr bwMode="auto">
            <a:xfrm>
              <a:off x="3504" y="1920"/>
              <a:ext cx="1536" cy="336"/>
            </a:xfrm>
            <a:prstGeom prst="rect">
              <a:avLst/>
            </a:prstGeom>
            <a:noFill/>
            <a:ln w="254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3086">
                  <a:solidFill>
                    <a:prstClr val="black"/>
                  </a:solidFill>
                  <a:latin typeface="微软雅黑" panose="020B0503020204020204" pitchFamily="34" charset="-122"/>
                </a:rPr>
                <a:t>入口结点</a:t>
              </a:r>
              <a:endParaRPr kumimoji="1" lang="zh-CN" altLang="zh-CN" sz="3086">
                <a:solidFill>
                  <a:prstClr val="black"/>
                </a:solidFill>
                <a:latin typeface="微软雅黑" panose="020B0503020204020204" pitchFamily="34" charset="-122"/>
              </a:endParaRPr>
            </a:p>
          </p:txBody>
        </p:sp>
        <p:sp>
          <p:nvSpPr>
            <p:cNvPr id="36" name="Rectangle 16"/>
            <p:cNvSpPr>
              <a:spLocks noChangeArrowheads="1"/>
            </p:cNvSpPr>
            <p:nvPr/>
          </p:nvSpPr>
          <p:spPr bwMode="auto">
            <a:xfrm>
              <a:off x="3504" y="2640"/>
              <a:ext cx="15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3086">
                  <a:solidFill>
                    <a:prstClr val="black"/>
                  </a:solidFill>
                  <a:latin typeface="微软雅黑" panose="020B0503020204020204" pitchFamily="34" charset="-122"/>
                </a:rPr>
                <a:t>循环</a:t>
              </a:r>
              <a:r>
                <a:rPr kumimoji="1" lang="en-US" altLang="zh-CN" sz="3086">
                  <a:solidFill>
                    <a:prstClr val="black"/>
                  </a:solidFill>
                  <a:latin typeface="微软雅黑" panose="020B0503020204020204" pitchFamily="34" charset="-122"/>
                </a:rPr>
                <a:t>L</a:t>
              </a:r>
            </a:p>
          </p:txBody>
        </p:sp>
        <p:sp>
          <p:nvSpPr>
            <p:cNvPr id="37" name="Line 17"/>
            <p:cNvSpPr>
              <a:spLocks noChangeShapeType="1"/>
            </p:cNvSpPr>
            <p:nvPr/>
          </p:nvSpPr>
          <p:spPr bwMode="auto">
            <a:xfrm>
              <a:off x="4512" y="624"/>
              <a:ext cx="0" cy="384"/>
            </a:xfrm>
            <a:prstGeom prst="line">
              <a:avLst/>
            </a:prstGeom>
            <a:noFill/>
            <a:ln w="254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8" name="Line 18"/>
            <p:cNvSpPr>
              <a:spLocks noChangeShapeType="1"/>
            </p:cNvSpPr>
            <p:nvPr/>
          </p:nvSpPr>
          <p:spPr bwMode="auto">
            <a:xfrm>
              <a:off x="4080" y="624"/>
              <a:ext cx="0" cy="384"/>
            </a:xfrm>
            <a:prstGeom prst="line">
              <a:avLst/>
            </a:prstGeom>
            <a:noFill/>
            <a:ln w="254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9" name="Freeform 19"/>
            <p:cNvSpPr>
              <a:spLocks/>
            </p:cNvSpPr>
            <p:nvPr/>
          </p:nvSpPr>
          <p:spPr bwMode="auto">
            <a:xfrm>
              <a:off x="3216" y="1536"/>
              <a:ext cx="816" cy="1776"/>
            </a:xfrm>
            <a:custGeom>
              <a:avLst/>
              <a:gdLst>
                <a:gd name="T0" fmla="*/ 816 w 816"/>
                <a:gd name="T1" fmla="*/ 1440 h 1776"/>
                <a:gd name="T2" fmla="*/ 816 w 816"/>
                <a:gd name="T3" fmla="*/ 1776 h 1776"/>
                <a:gd name="T4" fmla="*/ 0 w 816"/>
                <a:gd name="T5" fmla="*/ 1776 h 1776"/>
                <a:gd name="T6" fmla="*/ 0 w 816"/>
                <a:gd name="T7" fmla="*/ 0 h 1776"/>
                <a:gd name="T8" fmla="*/ 576 w 816"/>
                <a:gd name="T9" fmla="*/ 0 h 1776"/>
                <a:gd name="T10" fmla="*/ 576 w 816"/>
                <a:gd name="T11" fmla="*/ 384 h 1776"/>
                <a:gd name="T12" fmla="*/ 0 60000 65536"/>
                <a:gd name="T13" fmla="*/ 0 60000 65536"/>
                <a:gd name="T14" fmla="*/ 0 60000 65536"/>
                <a:gd name="T15" fmla="*/ 0 60000 65536"/>
                <a:gd name="T16" fmla="*/ 0 60000 65536"/>
                <a:gd name="T17" fmla="*/ 0 60000 65536"/>
                <a:gd name="T18" fmla="*/ 0 w 816"/>
                <a:gd name="T19" fmla="*/ 0 h 1776"/>
                <a:gd name="T20" fmla="*/ 816 w 816"/>
                <a:gd name="T21" fmla="*/ 1776 h 1776"/>
              </a:gdLst>
              <a:ahLst/>
              <a:cxnLst>
                <a:cxn ang="T12">
                  <a:pos x="T0" y="T1"/>
                </a:cxn>
                <a:cxn ang="T13">
                  <a:pos x="T2" y="T3"/>
                </a:cxn>
                <a:cxn ang="T14">
                  <a:pos x="T4" y="T5"/>
                </a:cxn>
                <a:cxn ang="T15">
                  <a:pos x="T6" y="T7"/>
                </a:cxn>
                <a:cxn ang="T16">
                  <a:pos x="T8" y="T9"/>
                </a:cxn>
                <a:cxn ang="T17">
                  <a:pos x="T10" y="T11"/>
                </a:cxn>
              </a:cxnLst>
              <a:rect l="T18" t="T19" r="T20" b="T21"/>
              <a:pathLst>
                <a:path w="816" h="1776">
                  <a:moveTo>
                    <a:pt x="816" y="1440"/>
                  </a:moveTo>
                  <a:lnTo>
                    <a:pt x="816" y="1776"/>
                  </a:lnTo>
                  <a:lnTo>
                    <a:pt x="0" y="1776"/>
                  </a:lnTo>
                  <a:lnTo>
                    <a:pt x="0" y="0"/>
                  </a:lnTo>
                  <a:lnTo>
                    <a:pt x="576" y="0"/>
                  </a:lnTo>
                  <a:lnTo>
                    <a:pt x="576" y="384"/>
                  </a:lnTo>
                </a:path>
              </a:pathLst>
            </a:custGeom>
            <a:noFill/>
            <a:ln w="25400"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0" name="Freeform 20"/>
            <p:cNvSpPr>
              <a:spLocks/>
            </p:cNvSpPr>
            <p:nvPr/>
          </p:nvSpPr>
          <p:spPr bwMode="auto">
            <a:xfrm>
              <a:off x="4512" y="1536"/>
              <a:ext cx="768" cy="1776"/>
            </a:xfrm>
            <a:custGeom>
              <a:avLst/>
              <a:gdLst>
                <a:gd name="T0" fmla="*/ 0 w 768"/>
                <a:gd name="T1" fmla="*/ 1440 h 1776"/>
                <a:gd name="T2" fmla="*/ 0 w 768"/>
                <a:gd name="T3" fmla="*/ 1776 h 1776"/>
                <a:gd name="T4" fmla="*/ 768 w 768"/>
                <a:gd name="T5" fmla="*/ 1776 h 1776"/>
                <a:gd name="T6" fmla="*/ 768 w 768"/>
                <a:gd name="T7" fmla="*/ 0 h 1776"/>
                <a:gd name="T8" fmla="*/ 288 w 768"/>
                <a:gd name="T9" fmla="*/ 0 h 1776"/>
                <a:gd name="T10" fmla="*/ 288 w 768"/>
                <a:gd name="T11" fmla="*/ 384 h 1776"/>
                <a:gd name="T12" fmla="*/ 0 60000 65536"/>
                <a:gd name="T13" fmla="*/ 0 60000 65536"/>
                <a:gd name="T14" fmla="*/ 0 60000 65536"/>
                <a:gd name="T15" fmla="*/ 0 60000 65536"/>
                <a:gd name="T16" fmla="*/ 0 60000 65536"/>
                <a:gd name="T17" fmla="*/ 0 60000 65536"/>
                <a:gd name="T18" fmla="*/ 0 w 768"/>
                <a:gd name="T19" fmla="*/ 0 h 1776"/>
                <a:gd name="T20" fmla="*/ 768 w 768"/>
                <a:gd name="T21" fmla="*/ 1776 h 1776"/>
              </a:gdLst>
              <a:ahLst/>
              <a:cxnLst>
                <a:cxn ang="T12">
                  <a:pos x="T0" y="T1"/>
                </a:cxn>
                <a:cxn ang="T13">
                  <a:pos x="T2" y="T3"/>
                </a:cxn>
                <a:cxn ang="T14">
                  <a:pos x="T4" y="T5"/>
                </a:cxn>
                <a:cxn ang="T15">
                  <a:pos x="T6" y="T7"/>
                </a:cxn>
                <a:cxn ang="T16">
                  <a:pos x="T8" y="T9"/>
                </a:cxn>
                <a:cxn ang="T17">
                  <a:pos x="T10" y="T11"/>
                </a:cxn>
              </a:cxnLst>
              <a:rect l="T18" t="T19" r="T20" b="T21"/>
              <a:pathLst>
                <a:path w="768" h="1776">
                  <a:moveTo>
                    <a:pt x="0" y="1440"/>
                  </a:moveTo>
                  <a:lnTo>
                    <a:pt x="0" y="1776"/>
                  </a:lnTo>
                  <a:lnTo>
                    <a:pt x="768" y="1776"/>
                  </a:lnTo>
                  <a:lnTo>
                    <a:pt x="768" y="0"/>
                  </a:lnTo>
                  <a:lnTo>
                    <a:pt x="288" y="0"/>
                  </a:lnTo>
                  <a:lnTo>
                    <a:pt x="288" y="384"/>
                  </a:lnTo>
                </a:path>
              </a:pathLst>
            </a:custGeom>
            <a:noFill/>
            <a:ln w="25400"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1" name="Line 21"/>
            <p:cNvSpPr>
              <a:spLocks noChangeShapeType="1"/>
            </p:cNvSpPr>
            <p:nvPr/>
          </p:nvSpPr>
          <p:spPr bwMode="auto">
            <a:xfrm>
              <a:off x="4272" y="2304"/>
              <a:ext cx="0" cy="336"/>
            </a:xfrm>
            <a:prstGeom prst="line">
              <a:avLst/>
            </a:prstGeom>
            <a:noFill/>
            <a:ln w="25400">
              <a:solidFill>
                <a:schemeClr val="tx1"/>
              </a:solidFill>
              <a:prstDash val="dash"/>
              <a:round/>
              <a:headEnd type="none" w="sm" len="sm"/>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2" name="Line 22"/>
            <p:cNvSpPr>
              <a:spLocks noChangeShapeType="1"/>
            </p:cNvSpPr>
            <p:nvPr/>
          </p:nvSpPr>
          <p:spPr bwMode="auto">
            <a:xfrm>
              <a:off x="4272" y="2976"/>
              <a:ext cx="0" cy="336"/>
            </a:xfrm>
            <a:prstGeom prst="line">
              <a:avLst/>
            </a:prstGeom>
            <a:noFill/>
            <a:ln w="25400">
              <a:solidFill>
                <a:schemeClr val="tx1"/>
              </a:solidFill>
              <a:prstDash val="dash"/>
              <a:round/>
              <a:headEnd type="none" w="sm" len="sm"/>
              <a:tailEnd type="none"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3" name="Rectangle 23"/>
            <p:cNvSpPr>
              <a:spLocks noChangeArrowheads="1"/>
            </p:cNvSpPr>
            <p:nvPr/>
          </p:nvSpPr>
          <p:spPr bwMode="auto">
            <a:xfrm>
              <a:off x="3492" y="1008"/>
              <a:ext cx="1536" cy="336"/>
            </a:xfrm>
            <a:prstGeom prst="rect">
              <a:avLst/>
            </a:prstGeom>
            <a:ln w="25400">
              <a:headEnd type="none" w="sm" len="sm"/>
              <a:tailEnd type="none" w="lg" len="lg"/>
            </a:ln>
          </p:spPr>
          <p:style>
            <a:lnRef idx="2">
              <a:schemeClr val="accent2"/>
            </a:lnRef>
            <a:fillRef idx="1">
              <a:schemeClr val="lt1"/>
            </a:fillRef>
            <a:effectRef idx="0">
              <a:schemeClr val="accent2"/>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zh-CN" altLang="en-US" sz="3086" dirty="0">
                  <a:solidFill>
                    <a:srgbClr val="C00000"/>
                  </a:solidFill>
                  <a:latin typeface="微软雅黑" panose="020B0503020204020204" pitchFamily="34" charset="-122"/>
                </a:rPr>
                <a:t>前置结点</a:t>
              </a:r>
              <a:endParaRPr kumimoji="1" lang="zh-CN" altLang="zh-CN" sz="3086" dirty="0">
                <a:solidFill>
                  <a:srgbClr val="C00000"/>
                </a:solidFill>
                <a:latin typeface="微软雅黑" panose="020B0503020204020204" pitchFamily="34" charset="-122"/>
              </a:endParaRPr>
            </a:p>
          </p:txBody>
        </p:sp>
        <p:sp>
          <p:nvSpPr>
            <p:cNvPr id="44" name="Line 24"/>
            <p:cNvSpPr>
              <a:spLocks noChangeShapeType="1"/>
            </p:cNvSpPr>
            <p:nvPr/>
          </p:nvSpPr>
          <p:spPr bwMode="auto">
            <a:xfrm>
              <a:off x="4272" y="1344"/>
              <a:ext cx="0" cy="576"/>
            </a:xfrm>
            <a:prstGeom prst="line">
              <a:avLst/>
            </a:prstGeom>
            <a:noFill/>
            <a:ln w="254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Tree>
    <p:extLst>
      <p:ext uri="{BB962C8B-B14F-4D97-AF65-F5344CB8AC3E}">
        <p14:creationId xmlns:p14="http://schemas.microsoft.com/office/powerpoint/2010/main" val="1580001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up)">
                                      <p:cBhvr>
                                        <p:cTn id="1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循环优化示例</a:t>
            </a:r>
          </a:p>
        </p:txBody>
      </p:sp>
      <p:grpSp>
        <p:nvGrpSpPr>
          <p:cNvPr id="18" name="Group 38"/>
          <p:cNvGrpSpPr>
            <a:grpSpLocks/>
          </p:cNvGrpSpPr>
          <p:nvPr/>
        </p:nvGrpSpPr>
        <p:grpSpPr bwMode="auto">
          <a:xfrm>
            <a:off x="5131889" y="-1"/>
            <a:ext cx="4115823" cy="7475679"/>
            <a:chOff x="288" y="0"/>
            <a:chExt cx="3024" cy="4272"/>
          </a:xfrm>
        </p:grpSpPr>
        <p:sp>
          <p:nvSpPr>
            <p:cNvPr id="19" name="Rectangle 4"/>
            <p:cNvSpPr>
              <a:spLocks noChangeArrowheads="1"/>
            </p:cNvSpPr>
            <p:nvPr/>
          </p:nvSpPr>
          <p:spPr bwMode="auto">
            <a:xfrm>
              <a:off x="528" y="19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(1)	</a:t>
              </a:r>
              <a:r>
                <a:rPr kumimoji="1" lang="en-US" altLang="zh-CN" sz="2646" dirty="0">
                  <a:solidFill>
                    <a:prstClr val="black"/>
                  </a:solidFill>
                  <a:latin typeface="Arial" panose="020B0604020202020204"/>
                  <a:ea typeface="宋体" panose="02010600030101010101" pitchFamily="2" charset="-122"/>
                </a:rPr>
                <a:t>    I:=1</a:t>
              </a:r>
            </a:p>
          </p:txBody>
        </p:sp>
        <p:sp>
          <p:nvSpPr>
            <p:cNvPr id="20" name="Rectangle 23"/>
            <p:cNvSpPr>
              <a:spLocks noChangeArrowheads="1"/>
            </p:cNvSpPr>
            <p:nvPr/>
          </p:nvSpPr>
          <p:spPr bwMode="auto">
            <a:xfrm>
              <a:off x="528" y="67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I&gt;10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(15)</a:t>
              </a:r>
            </a:p>
          </p:txBody>
        </p:sp>
        <p:sp>
          <p:nvSpPr>
            <p:cNvPr id="35" name="Rectangle 24"/>
            <p:cNvSpPr>
              <a:spLocks noChangeArrowheads="1"/>
            </p:cNvSpPr>
            <p:nvPr/>
          </p:nvSpPr>
          <p:spPr bwMode="auto">
            <a:xfrm>
              <a:off x="528" y="1056"/>
              <a:ext cx="2352" cy="2736"/>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1</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T</a:t>
              </a:r>
              <a:r>
                <a:rPr kumimoji="1" lang="en-US" altLang="zh-CN" sz="2646" baseline="-25000"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5</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(10)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(11)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(13)   I:=I+1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36" name="Rectangle 26"/>
            <p:cNvSpPr>
              <a:spLocks noChangeArrowheads="1"/>
            </p:cNvSpPr>
            <p:nvPr/>
          </p:nvSpPr>
          <p:spPr bwMode="auto">
            <a:xfrm>
              <a:off x="2928" y="168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37" name="Rectangle 28"/>
            <p:cNvSpPr>
              <a:spLocks noChangeArrowheads="1"/>
            </p:cNvSpPr>
            <p:nvPr/>
          </p:nvSpPr>
          <p:spPr bwMode="auto">
            <a:xfrm>
              <a:off x="2880" y="62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38" name="Rectangle 29"/>
            <p:cNvSpPr>
              <a:spLocks noChangeArrowheads="1"/>
            </p:cNvSpPr>
            <p:nvPr/>
          </p:nvSpPr>
          <p:spPr bwMode="auto">
            <a:xfrm>
              <a:off x="2880" y="14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39" name="Line 30"/>
            <p:cNvSpPr>
              <a:spLocks noChangeShapeType="1"/>
            </p:cNvSpPr>
            <p:nvPr/>
          </p:nvSpPr>
          <p:spPr bwMode="auto">
            <a:xfrm>
              <a:off x="1680" y="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0" name="Line 31"/>
            <p:cNvSpPr>
              <a:spLocks noChangeShapeType="1"/>
            </p:cNvSpPr>
            <p:nvPr/>
          </p:nvSpPr>
          <p:spPr bwMode="auto">
            <a:xfrm>
              <a:off x="1680" y="432"/>
              <a:ext cx="0" cy="240"/>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1" name="Line 32"/>
            <p:cNvSpPr>
              <a:spLocks noChangeShapeType="1"/>
            </p:cNvSpPr>
            <p:nvPr/>
          </p:nvSpPr>
          <p:spPr bwMode="auto">
            <a:xfrm>
              <a:off x="1680" y="91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2" name="Freeform 33"/>
            <p:cNvSpPr>
              <a:spLocks/>
            </p:cNvSpPr>
            <p:nvPr/>
          </p:nvSpPr>
          <p:spPr bwMode="auto">
            <a:xfrm>
              <a:off x="288" y="480"/>
              <a:ext cx="816" cy="3456"/>
            </a:xfrm>
            <a:custGeom>
              <a:avLst/>
              <a:gdLst>
                <a:gd name="T0" fmla="*/ 768 w 816"/>
                <a:gd name="T1" fmla="*/ 3312 h 3456"/>
                <a:gd name="T2" fmla="*/ 768 w 816"/>
                <a:gd name="T3" fmla="*/ 3456 h 3456"/>
                <a:gd name="T4" fmla="*/ 0 w 816"/>
                <a:gd name="T5" fmla="*/ 3456 h 3456"/>
                <a:gd name="T6" fmla="*/ 0 w 816"/>
                <a:gd name="T7" fmla="*/ 0 h 3456"/>
                <a:gd name="T8" fmla="*/ 816 w 816"/>
                <a:gd name="T9" fmla="*/ 0 h 3456"/>
                <a:gd name="T10" fmla="*/ 816 w 816"/>
                <a:gd name="T11" fmla="*/ 192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3" name="Freeform 35"/>
            <p:cNvSpPr>
              <a:spLocks/>
            </p:cNvSpPr>
            <p:nvPr/>
          </p:nvSpPr>
          <p:spPr bwMode="auto">
            <a:xfrm>
              <a:off x="1632" y="768"/>
              <a:ext cx="1680" cy="3264"/>
            </a:xfrm>
            <a:custGeom>
              <a:avLst/>
              <a:gdLst>
                <a:gd name="T0" fmla="*/ 1536 w 1680"/>
                <a:gd name="T1" fmla="*/ 0 h 3264"/>
                <a:gd name="T2" fmla="*/ 1680 w 1680"/>
                <a:gd name="T3" fmla="*/ 0 h 3264"/>
                <a:gd name="T4" fmla="*/ 1680 w 1680"/>
                <a:gd name="T5" fmla="*/ 3120 h 3264"/>
                <a:gd name="T6" fmla="*/ 0 w 1680"/>
                <a:gd name="T7" fmla="*/ 3120 h 3264"/>
                <a:gd name="T8" fmla="*/ 0 w 1680"/>
                <a:gd name="T9" fmla="*/ 3264 h 3264"/>
                <a:gd name="T10" fmla="*/ 0 60000 65536"/>
                <a:gd name="T11" fmla="*/ 0 60000 65536"/>
                <a:gd name="T12" fmla="*/ 0 60000 65536"/>
                <a:gd name="T13" fmla="*/ 0 60000 65536"/>
                <a:gd name="T14" fmla="*/ 0 60000 65536"/>
                <a:gd name="T15" fmla="*/ 0 w 1680"/>
                <a:gd name="T16" fmla="*/ 0 h 3264"/>
                <a:gd name="T17" fmla="*/ 1680 w 1680"/>
                <a:gd name="T18" fmla="*/ 3264 h 3264"/>
              </a:gdLst>
              <a:ahLst/>
              <a:cxnLst>
                <a:cxn ang="T10">
                  <a:pos x="T0" y="T1"/>
                </a:cxn>
                <a:cxn ang="T11">
                  <a:pos x="T2" y="T3"/>
                </a:cxn>
                <a:cxn ang="T12">
                  <a:pos x="T4" y="T5"/>
                </a:cxn>
                <a:cxn ang="T13">
                  <a:pos x="T6" y="T7"/>
                </a:cxn>
                <a:cxn ang="T14">
                  <a:pos x="T8" y="T9"/>
                </a:cxn>
              </a:cxnLst>
              <a:rect l="T15" t="T16" r="T17" b="T18"/>
              <a:pathLst>
                <a:path w="1680" h="3264">
                  <a:moveTo>
                    <a:pt x="1536" y="0"/>
                  </a:moveTo>
                  <a:lnTo>
                    <a:pt x="1680" y="0"/>
                  </a:lnTo>
                  <a:lnTo>
                    <a:pt x="1680" y="3120"/>
                  </a:lnTo>
                  <a:lnTo>
                    <a:pt x="0" y="3120"/>
                  </a:lnTo>
                  <a:lnTo>
                    <a:pt x="0" y="326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4" name="Rectangle 36"/>
            <p:cNvSpPr>
              <a:spLocks noChangeArrowheads="1"/>
            </p:cNvSpPr>
            <p:nvPr/>
          </p:nvSpPr>
          <p:spPr bwMode="auto">
            <a:xfrm>
              <a:off x="528" y="403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grpSp>
      <p:sp>
        <p:nvSpPr>
          <p:cNvPr id="45" name="文本框 44"/>
          <p:cNvSpPr txBox="1"/>
          <p:nvPr/>
        </p:nvSpPr>
        <p:spPr>
          <a:xfrm>
            <a:off x="218421" y="2392125"/>
            <a:ext cx="4732386" cy="104208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pPr defTabSz="503972" rtl="0" fontAlgn="auto" hangingPunct="1">
              <a:lnSpc>
                <a:spcPct val="100000"/>
              </a:lnSpc>
              <a:spcBef>
                <a:spcPts val="0"/>
              </a:spcBef>
              <a:spcAft>
                <a:spcPts val="0"/>
              </a:spcAft>
              <a:buSzTx/>
            </a:pPr>
            <a:r>
              <a:rPr lang="en-US" altLang="en-US" sz="3086" dirty="0">
                <a:solidFill>
                  <a:prstClr val="white"/>
                </a:solidFill>
                <a:latin typeface="微软雅黑" panose="020B0503020204020204" pitchFamily="34" charset="-122"/>
              </a:rPr>
              <a:t>for I:=1 to 10 do</a:t>
            </a:r>
          </a:p>
          <a:p>
            <a:pPr defTabSz="503972" rtl="0" fontAlgn="auto" hangingPunct="1">
              <a:lnSpc>
                <a:spcPct val="100000"/>
              </a:lnSpc>
              <a:spcBef>
                <a:spcPts val="0"/>
              </a:spcBef>
              <a:spcAft>
                <a:spcPts val="0"/>
              </a:spcAft>
              <a:buSzTx/>
            </a:pPr>
            <a:r>
              <a:rPr lang="en-US" altLang="zh-CN" sz="3086" dirty="0">
                <a:solidFill>
                  <a:prstClr val="white"/>
                </a:solidFill>
                <a:latin typeface="微软雅黑" panose="020B0503020204020204" pitchFamily="34" charset="-122"/>
                <a:ea typeface="黑体" panose="02010609060101010101" pitchFamily="49" charset="-122"/>
              </a:rPr>
              <a:t>   </a:t>
            </a:r>
            <a:r>
              <a:rPr lang="en-US" altLang="en-US" sz="3086" dirty="0">
                <a:solidFill>
                  <a:prstClr val="white"/>
                </a:solidFill>
                <a:latin typeface="微软雅黑" panose="020B0503020204020204" pitchFamily="34" charset="-122"/>
              </a:rPr>
              <a:t>A[I, 2*J] := A[I, 2*J] + 1</a:t>
            </a:r>
            <a:endParaRPr lang="en-US" altLang="zh-CN" sz="3086" dirty="0">
              <a:solidFill>
                <a:prstClr val="white"/>
              </a:solidFill>
              <a:latin typeface="微软雅黑" panose="020B0503020204020204" pitchFamily="34" charset="-122"/>
              <a:ea typeface="黑体" panose="02010609060101010101" pitchFamily="49" charset="-122"/>
            </a:endParaRPr>
          </a:p>
        </p:txBody>
      </p:sp>
    </p:spTree>
    <p:extLst>
      <p:ext uri="{BB962C8B-B14F-4D97-AF65-F5344CB8AC3E}">
        <p14:creationId xmlns:p14="http://schemas.microsoft.com/office/powerpoint/2010/main" val="1549346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2" name="Group 38"/>
          <p:cNvGrpSpPr>
            <a:grpSpLocks/>
          </p:cNvGrpSpPr>
          <p:nvPr/>
        </p:nvGrpSpPr>
        <p:grpSpPr bwMode="auto">
          <a:xfrm>
            <a:off x="320295" y="-1"/>
            <a:ext cx="4115823" cy="7475679"/>
            <a:chOff x="288" y="0"/>
            <a:chExt cx="3024" cy="4272"/>
          </a:xfrm>
        </p:grpSpPr>
        <p:sp>
          <p:nvSpPr>
            <p:cNvPr id="33" name="Rectangle 4"/>
            <p:cNvSpPr>
              <a:spLocks noChangeArrowheads="1"/>
            </p:cNvSpPr>
            <p:nvPr/>
          </p:nvSpPr>
          <p:spPr bwMode="auto">
            <a:xfrm>
              <a:off x="528" y="19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(1)	    </a:t>
              </a:r>
              <a:r>
                <a:rPr kumimoji="1" lang="en-US" altLang="zh-CN" sz="2646" dirty="0">
                  <a:solidFill>
                    <a:prstClr val="black"/>
                  </a:solidFill>
                  <a:latin typeface="Arial" panose="020B0604020202020204"/>
                  <a:ea typeface="宋体" panose="02010600030101010101" pitchFamily="2" charset="-122"/>
                </a:rPr>
                <a:t>I:=1</a:t>
              </a:r>
            </a:p>
          </p:txBody>
        </p:sp>
        <p:sp>
          <p:nvSpPr>
            <p:cNvPr id="34" name="Rectangle 23"/>
            <p:cNvSpPr>
              <a:spLocks noChangeArrowheads="1"/>
            </p:cNvSpPr>
            <p:nvPr/>
          </p:nvSpPr>
          <p:spPr bwMode="auto">
            <a:xfrm>
              <a:off x="528" y="67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I&gt;10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(15)</a:t>
              </a:r>
            </a:p>
          </p:txBody>
        </p:sp>
        <p:sp>
          <p:nvSpPr>
            <p:cNvPr id="36" name="Rectangle 24"/>
            <p:cNvSpPr>
              <a:spLocks noChangeArrowheads="1"/>
            </p:cNvSpPr>
            <p:nvPr/>
          </p:nvSpPr>
          <p:spPr bwMode="auto">
            <a:xfrm>
              <a:off x="528" y="1056"/>
              <a:ext cx="2352" cy="2736"/>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(3)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1</a:t>
              </a:r>
              <a:r>
                <a:rPr kumimoji="1" lang="en-US" altLang="zh-CN" sz="2646" dirty="0">
                  <a:solidFill>
                    <a:srgbClr val="C00000"/>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(6)     T</a:t>
              </a:r>
              <a:r>
                <a:rPr kumimoji="1" lang="en-US" altLang="zh-CN" sz="2646" baseline="-25000" dirty="0">
                  <a:solidFill>
                    <a:srgbClr val="C00000"/>
                  </a:solidFill>
                  <a:latin typeface="Arial" panose="020B0604020202020204"/>
                  <a:ea typeface="宋体" panose="02010600030101010101" pitchFamily="2" charset="-122"/>
                </a:rPr>
                <a:t>4</a:t>
              </a:r>
              <a:r>
                <a:rPr kumimoji="1" lang="en-US" altLang="zh-CN" sz="2646" dirty="0">
                  <a:solidFill>
                    <a:srgbClr val="C00000"/>
                  </a:solidFill>
                  <a:latin typeface="Arial" panose="020B0604020202020204"/>
                  <a:ea typeface="宋体" panose="02010600030101010101" pitchFamily="2" charset="-122"/>
                </a:rPr>
                <a:t>=</a:t>
              </a:r>
              <a:r>
                <a:rPr kumimoji="1" lang="en-US" altLang="zh-CN" sz="2646" dirty="0" err="1">
                  <a:solidFill>
                    <a:srgbClr val="C00000"/>
                  </a:solidFill>
                  <a:latin typeface="Arial" panose="020B0604020202020204"/>
                  <a:ea typeface="宋体" panose="02010600030101010101" pitchFamily="2" charset="-122"/>
                </a:rPr>
                <a:t>addr</a:t>
              </a:r>
              <a:r>
                <a:rPr kumimoji="1" lang="en-US" altLang="zh-CN" sz="2646" dirty="0">
                  <a:solidFill>
                    <a:srgbClr val="C00000"/>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(7)     T</a:t>
              </a:r>
              <a:r>
                <a:rPr kumimoji="1" lang="en-US" altLang="zh-CN" sz="2646" baseline="-25000" dirty="0">
                  <a:solidFill>
                    <a:srgbClr val="C00000"/>
                  </a:solidFill>
                  <a:latin typeface="Arial" panose="020B0604020202020204"/>
                  <a:ea typeface="宋体" panose="02010600030101010101" pitchFamily="2" charset="-122"/>
                </a:rPr>
                <a:t>5</a:t>
              </a:r>
              <a:r>
                <a:rPr kumimoji="1" lang="en-US" altLang="zh-CN" sz="2646" dirty="0">
                  <a:solidFill>
                    <a:srgbClr val="C00000"/>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5</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(10)   T</a:t>
              </a:r>
              <a:r>
                <a:rPr kumimoji="1" lang="en-US" altLang="zh-CN" sz="2646" baseline="-25000" dirty="0">
                  <a:solidFill>
                    <a:srgbClr val="C00000"/>
                  </a:solidFill>
                  <a:latin typeface="Arial" panose="020B0604020202020204"/>
                  <a:ea typeface="宋体" panose="02010600030101010101" pitchFamily="2" charset="-122"/>
                </a:rPr>
                <a:t>8</a:t>
              </a:r>
              <a:r>
                <a:rPr kumimoji="1" lang="en-US" altLang="zh-CN" sz="2646" dirty="0">
                  <a:solidFill>
                    <a:srgbClr val="C00000"/>
                  </a:solidFill>
                  <a:latin typeface="Arial" panose="020B0604020202020204"/>
                  <a:ea typeface="宋体" panose="02010600030101010101" pitchFamily="2" charset="-122"/>
                </a:rPr>
                <a:t>=</a:t>
              </a:r>
              <a:r>
                <a:rPr kumimoji="1" lang="en-US" altLang="zh-CN" sz="2646" dirty="0" err="1">
                  <a:solidFill>
                    <a:srgbClr val="C00000"/>
                  </a:solidFill>
                  <a:latin typeface="Arial" panose="020B0604020202020204"/>
                  <a:ea typeface="宋体" panose="02010600030101010101" pitchFamily="2" charset="-122"/>
                </a:rPr>
                <a:t>addr</a:t>
              </a:r>
              <a:r>
                <a:rPr kumimoji="1" lang="en-US" altLang="zh-CN" sz="2646" dirty="0">
                  <a:solidFill>
                    <a:srgbClr val="C00000"/>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(11)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(13)   I:=I+1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37" name="Rectangle 26"/>
            <p:cNvSpPr>
              <a:spLocks noChangeArrowheads="1"/>
            </p:cNvSpPr>
            <p:nvPr/>
          </p:nvSpPr>
          <p:spPr bwMode="auto">
            <a:xfrm>
              <a:off x="2928" y="168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38" name="Rectangle 28"/>
            <p:cNvSpPr>
              <a:spLocks noChangeArrowheads="1"/>
            </p:cNvSpPr>
            <p:nvPr/>
          </p:nvSpPr>
          <p:spPr bwMode="auto">
            <a:xfrm>
              <a:off x="2880" y="62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39" name="Rectangle 29"/>
            <p:cNvSpPr>
              <a:spLocks noChangeArrowheads="1"/>
            </p:cNvSpPr>
            <p:nvPr/>
          </p:nvSpPr>
          <p:spPr bwMode="auto">
            <a:xfrm>
              <a:off x="2880" y="14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40" name="Line 30"/>
            <p:cNvSpPr>
              <a:spLocks noChangeShapeType="1"/>
            </p:cNvSpPr>
            <p:nvPr/>
          </p:nvSpPr>
          <p:spPr bwMode="auto">
            <a:xfrm>
              <a:off x="1680" y="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1" name="Line 31"/>
            <p:cNvSpPr>
              <a:spLocks noChangeShapeType="1"/>
            </p:cNvSpPr>
            <p:nvPr/>
          </p:nvSpPr>
          <p:spPr bwMode="auto">
            <a:xfrm>
              <a:off x="1680" y="432"/>
              <a:ext cx="0" cy="240"/>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2" name="Line 32"/>
            <p:cNvSpPr>
              <a:spLocks noChangeShapeType="1"/>
            </p:cNvSpPr>
            <p:nvPr/>
          </p:nvSpPr>
          <p:spPr bwMode="auto">
            <a:xfrm>
              <a:off x="1680" y="91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3" name="Freeform 33"/>
            <p:cNvSpPr>
              <a:spLocks/>
            </p:cNvSpPr>
            <p:nvPr/>
          </p:nvSpPr>
          <p:spPr bwMode="auto">
            <a:xfrm>
              <a:off x="288" y="480"/>
              <a:ext cx="816" cy="3456"/>
            </a:xfrm>
            <a:custGeom>
              <a:avLst/>
              <a:gdLst>
                <a:gd name="T0" fmla="*/ 768 w 816"/>
                <a:gd name="T1" fmla="*/ 3312 h 3456"/>
                <a:gd name="T2" fmla="*/ 768 w 816"/>
                <a:gd name="T3" fmla="*/ 3456 h 3456"/>
                <a:gd name="T4" fmla="*/ 0 w 816"/>
                <a:gd name="T5" fmla="*/ 3456 h 3456"/>
                <a:gd name="T6" fmla="*/ 0 w 816"/>
                <a:gd name="T7" fmla="*/ 0 h 3456"/>
                <a:gd name="T8" fmla="*/ 816 w 816"/>
                <a:gd name="T9" fmla="*/ 0 h 3456"/>
                <a:gd name="T10" fmla="*/ 816 w 816"/>
                <a:gd name="T11" fmla="*/ 192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4" name="Freeform 35"/>
            <p:cNvSpPr>
              <a:spLocks/>
            </p:cNvSpPr>
            <p:nvPr/>
          </p:nvSpPr>
          <p:spPr bwMode="auto">
            <a:xfrm>
              <a:off x="1632" y="768"/>
              <a:ext cx="1680" cy="3264"/>
            </a:xfrm>
            <a:custGeom>
              <a:avLst/>
              <a:gdLst>
                <a:gd name="T0" fmla="*/ 1536 w 1680"/>
                <a:gd name="T1" fmla="*/ 0 h 3264"/>
                <a:gd name="T2" fmla="*/ 1680 w 1680"/>
                <a:gd name="T3" fmla="*/ 0 h 3264"/>
                <a:gd name="T4" fmla="*/ 1680 w 1680"/>
                <a:gd name="T5" fmla="*/ 3120 h 3264"/>
                <a:gd name="T6" fmla="*/ 0 w 1680"/>
                <a:gd name="T7" fmla="*/ 3120 h 3264"/>
                <a:gd name="T8" fmla="*/ 0 w 1680"/>
                <a:gd name="T9" fmla="*/ 3264 h 3264"/>
                <a:gd name="T10" fmla="*/ 0 60000 65536"/>
                <a:gd name="T11" fmla="*/ 0 60000 65536"/>
                <a:gd name="T12" fmla="*/ 0 60000 65536"/>
                <a:gd name="T13" fmla="*/ 0 60000 65536"/>
                <a:gd name="T14" fmla="*/ 0 60000 65536"/>
                <a:gd name="T15" fmla="*/ 0 w 1680"/>
                <a:gd name="T16" fmla="*/ 0 h 3264"/>
                <a:gd name="T17" fmla="*/ 1680 w 1680"/>
                <a:gd name="T18" fmla="*/ 3264 h 3264"/>
              </a:gdLst>
              <a:ahLst/>
              <a:cxnLst>
                <a:cxn ang="T10">
                  <a:pos x="T0" y="T1"/>
                </a:cxn>
                <a:cxn ang="T11">
                  <a:pos x="T2" y="T3"/>
                </a:cxn>
                <a:cxn ang="T12">
                  <a:pos x="T4" y="T5"/>
                </a:cxn>
                <a:cxn ang="T13">
                  <a:pos x="T6" y="T7"/>
                </a:cxn>
                <a:cxn ang="T14">
                  <a:pos x="T8" y="T9"/>
                </a:cxn>
              </a:cxnLst>
              <a:rect l="T15" t="T16" r="T17" b="T18"/>
              <a:pathLst>
                <a:path w="1680" h="3264">
                  <a:moveTo>
                    <a:pt x="1536" y="0"/>
                  </a:moveTo>
                  <a:lnTo>
                    <a:pt x="1680" y="0"/>
                  </a:lnTo>
                  <a:lnTo>
                    <a:pt x="1680" y="3120"/>
                  </a:lnTo>
                  <a:lnTo>
                    <a:pt x="0" y="3120"/>
                  </a:lnTo>
                  <a:lnTo>
                    <a:pt x="0" y="326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5" name="Rectangle 36"/>
            <p:cNvSpPr>
              <a:spLocks noChangeArrowheads="1"/>
            </p:cNvSpPr>
            <p:nvPr/>
          </p:nvSpPr>
          <p:spPr bwMode="auto">
            <a:xfrm>
              <a:off x="528" y="403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grpSp>
      <p:grpSp>
        <p:nvGrpSpPr>
          <p:cNvPr id="46" name="Group 71"/>
          <p:cNvGrpSpPr>
            <a:grpSpLocks/>
          </p:cNvGrpSpPr>
          <p:nvPr/>
        </p:nvGrpSpPr>
        <p:grpSpPr bwMode="auto">
          <a:xfrm>
            <a:off x="4795436" y="-1"/>
            <a:ext cx="4115823" cy="7475679"/>
            <a:chOff x="3168" y="0"/>
            <a:chExt cx="2352" cy="4272"/>
          </a:xfrm>
        </p:grpSpPr>
        <p:sp>
          <p:nvSpPr>
            <p:cNvPr id="47" name="Rectangle 53"/>
            <p:cNvSpPr>
              <a:spLocks noChangeArrowheads="1"/>
            </p:cNvSpPr>
            <p:nvPr/>
          </p:nvSpPr>
          <p:spPr bwMode="auto">
            <a:xfrm>
              <a:off x="3355" y="19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(1)	    </a:t>
              </a:r>
              <a:r>
                <a:rPr kumimoji="1" lang="en-US" altLang="zh-CN" sz="2646" dirty="0">
                  <a:solidFill>
                    <a:prstClr val="black"/>
                  </a:solidFill>
                  <a:latin typeface="Arial" panose="020B0604020202020204"/>
                  <a:ea typeface="宋体" panose="02010600030101010101" pitchFamily="2" charset="-122"/>
                </a:rPr>
                <a:t>I:=1</a:t>
              </a:r>
            </a:p>
          </p:txBody>
        </p:sp>
        <p:sp>
          <p:nvSpPr>
            <p:cNvPr id="48" name="Rectangle 54"/>
            <p:cNvSpPr>
              <a:spLocks noChangeArrowheads="1"/>
            </p:cNvSpPr>
            <p:nvPr/>
          </p:nvSpPr>
          <p:spPr bwMode="auto">
            <a:xfrm>
              <a:off x="3360" y="163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I&gt;10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(15)</a:t>
              </a:r>
            </a:p>
          </p:txBody>
        </p:sp>
        <p:sp>
          <p:nvSpPr>
            <p:cNvPr id="49" name="Rectangle 55"/>
            <p:cNvSpPr>
              <a:spLocks noChangeArrowheads="1"/>
            </p:cNvSpPr>
            <p:nvPr/>
          </p:nvSpPr>
          <p:spPr bwMode="auto">
            <a:xfrm>
              <a:off x="3360" y="2016"/>
              <a:ext cx="1829" cy="182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(4)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2</a:t>
              </a:r>
              <a:r>
                <a:rPr kumimoji="1" lang="en-US" altLang="zh-CN" sz="2646">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(5)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3</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2</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(8)     T</a:t>
              </a:r>
              <a:r>
                <a:rPr kumimoji="1" lang="en-US" altLang="zh-CN" sz="2646" baseline="-25000">
                  <a:solidFill>
                    <a:prstClr val="black"/>
                  </a:solidFill>
                  <a:latin typeface="Arial" panose="020B0604020202020204"/>
                  <a:ea typeface="宋体" panose="02010600030101010101" pitchFamily="2" charset="-122"/>
                </a:rPr>
                <a:t>6</a:t>
              </a:r>
              <a:r>
                <a:rPr kumimoji="1" lang="en-US" altLang="zh-CN" sz="2646">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(9)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7</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6</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5</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(11)   T</a:t>
              </a:r>
              <a:r>
                <a:rPr kumimoji="1" lang="en-US" altLang="zh-CN" sz="2646" baseline="-25000">
                  <a:solidFill>
                    <a:prstClr val="black"/>
                  </a:solidFill>
                  <a:latin typeface="Arial" panose="020B0604020202020204"/>
                  <a:ea typeface="宋体" panose="02010600030101010101" pitchFamily="2" charset="-122"/>
                </a:rPr>
                <a:t>9</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8</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7</a:t>
              </a:r>
              <a:r>
                <a:rPr kumimoji="1" lang="en-US" altLang="zh-CN" sz="2646">
                  <a:solidFill>
                    <a:prstClr val="black"/>
                  </a:solidFill>
                  <a:latin typeface="Arial" panose="020B0604020202020204"/>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(12)   T</a:t>
              </a:r>
              <a:r>
                <a:rPr kumimoji="1" lang="en-US" altLang="zh-CN" sz="2646" baseline="-25000">
                  <a:solidFill>
                    <a:prstClr val="black"/>
                  </a:solidFill>
                  <a:latin typeface="Arial" panose="020B0604020202020204"/>
                  <a:ea typeface="宋体" panose="02010600030101010101" pitchFamily="2" charset="-122"/>
                </a:rPr>
                <a:t>4</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3</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9</a:t>
              </a:r>
              <a:r>
                <a:rPr kumimoji="1" lang="en-US" altLang="zh-CN" sz="2646">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(13)   I:=I+1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(14)   goto B</a:t>
              </a:r>
              <a:r>
                <a:rPr kumimoji="1" lang="en-US" altLang="zh-CN" sz="2646" baseline="-25000">
                  <a:solidFill>
                    <a:prstClr val="black"/>
                  </a:solidFill>
                  <a:latin typeface="Arial" panose="020B0604020202020204"/>
                  <a:ea typeface="宋体" panose="02010600030101010101" pitchFamily="2" charset="-122"/>
                </a:rPr>
                <a:t>2</a:t>
              </a:r>
            </a:p>
          </p:txBody>
        </p:sp>
        <p:sp>
          <p:nvSpPr>
            <p:cNvPr id="50" name="Rectangle 56"/>
            <p:cNvSpPr>
              <a:spLocks noChangeArrowheads="1"/>
            </p:cNvSpPr>
            <p:nvPr/>
          </p:nvSpPr>
          <p:spPr bwMode="auto">
            <a:xfrm>
              <a:off x="5184" y="2208"/>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51" name="Rectangle 57"/>
            <p:cNvSpPr>
              <a:spLocks noChangeArrowheads="1"/>
            </p:cNvSpPr>
            <p:nvPr/>
          </p:nvSpPr>
          <p:spPr bwMode="auto">
            <a:xfrm>
              <a:off x="5184" y="163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52" name="Rectangle 58"/>
            <p:cNvSpPr>
              <a:spLocks noChangeArrowheads="1"/>
            </p:cNvSpPr>
            <p:nvPr/>
          </p:nvSpPr>
          <p:spPr bwMode="auto">
            <a:xfrm>
              <a:off x="5184" y="14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53" name="Line 59"/>
            <p:cNvSpPr>
              <a:spLocks noChangeShapeType="1"/>
            </p:cNvSpPr>
            <p:nvPr/>
          </p:nvSpPr>
          <p:spPr bwMode="auto">
            <a:xfrm>
              <a:off x="4272" y="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4" name="Line 61"/>
            <p:cNvSpPr>
              <a:spLocks noChangeShapeType="1"/>
            </p:cNvSpPr>
            <p:nvPr/>
          </p:nvSpPr>
          <p:spPr bwMode="auto">
            <a:xfrm>
              <a:off x="4272" y="187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5" name="Freeform 62"/>
            <p:cNvSpPr>
              <a:spLocks/>
            </p:cNvSpPr>
            <p:nvPr/>
          </p:nvSpPr>
          <p:spPr bwMode="auto">
            <a:xfrm>
              <a:off x="3168" y="1488"/>
              <a:ext cx="635" cy="2448"/>
            </a:xfrm>
            <a:custGeom>
              <a:avLst/>
              <a:gdLst>
                <a:gd name="T0" fmla="*/ 170 w 816"/>
                <a:gd name="T1" fmla="*/ 419 h 3456"/>
                <a:gd name="T2" fmla="*/ 170 w 816"/>
                <a:gd name="T3" fmla="*/ 436 h 3456"/>
                <a:gd name="T4" fmla="*/ 0 w 816"/>
                <a:gd name="T5" fmla="*/ 436 h 3456"/>
                <a:gd name="T6" fmla="*/ 0 w 816"/>
                <a:gd name="T7" fmla="*/ 0 h 3456"/>
                <a:gd name="T8" fmla="*/ 181 w 816"/>
                <a:gd name="T9" fmla="*/ 0 h 3456"/>
                <a:gd name="T10" fmla="*/ 181 w 816"/>
                <a:gd name="T11" fmla="*/ 24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6" name="Rectangle 64"/>
            <p:cNvSpPr>
              <a:spLocks noChangeArrowheads="1"/>
            </p:cNvSpPr>
            <p:nvPr/>
          </p:nvSpPr>
          <p:spPr bwMode="auto">
            <a:xfrm>
              <a:off x="3355" y="403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57" name="Rectangle 65"/>
            <p:cNvSpPr>
              <a:spLocks noChangeArrowheads="1"/>
            </p:cNvSpPr>
            <p:nvPr/>
          </p:nvSpPr>
          <p:spPr bwMode="auto">
            <a:xfrm>
              <a:off x="3360" y="576"/>
              <a:ext cx="1829" cy="86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(3)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1</a:t>
              </a:r>
              <a:r>
                <a:rPr kumimoji="1" lang="en-US" altLang="zh-CN" sz="2646" dirty="0">
                  <a:solidFill>
                    <a:srgbClr val="C00000"/>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(6)     T</a:t>
              </a:r>
              <a:r>
                <a:rPr kumimoji="1" lang="en-US" altLang="zh-CN" sz="2646" baseline="-25000" dirty="0">
                  <a:solidFill>
                    <a:srgbClr val="C00000"/>
                  </a:solidFill>
                  <a:latin typeface="Arial" panose="020B0604020202020204"/>
                  <a:ea typeface="宋体" panose="02010600030101010101" pitchFamily="2" charset="-122"/>
                </a:rPr>
                <a:t>4</a:t>
              </a:r>
              <a:r>
                <a:rPr kumimoji="1" lang="en-US" altLang="zh-CN" sz="2646" dirty="0">
                  <a:solidFill>
                    <a:srgbClr val="C00000"/>
                  </a:solidFill>
                  <a:latin typeface="Arial" panose="020B0604020202020204"/>
                  <a:ea typeface="宋体" panose="02010600030101010101" pitchFamily="2" charset="-122"/>
                </a:rPr>
                <a:t>=</a:t>
              </a:r>
              <a:r>
                <a:rPr kumimoji="1" lang="en-US" altLang="zh-CN" sz="2646" dirty="0" err="1">
                  <a:solidFill>
                    <a:srgbClr val="C00000"/>
                  </a:solidFill>
                  <a:latin typeface="Arial" panose="020B0604020202020204"/>
                  <a:ea typeface="宋体" panose="02010600030101010101" pitchFamily="2" charset="-122"/>
                </a:rPr>
                <a:t>addr</a:t>
              </a:r>
              <a:r>
                <a:rPr kumimoji="1" lang="en-US" altLang="zh-CN" sz="2646" dirty="0">
                  <a:solidFill>
                    <a:srgbClr val="C00000"/>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(7)     T</a:t>
              </a:r>
              <a:r>
                <a:rPr kumimoji="1" lang="en-US" altLang="zh-CN" sz="2646" baseline="-25000" dirty="0">
                  <a:solidFill>
                    <a:srgbClr val="C00000"/>
                  </a:solidFill>
                  <a:latin typeface="Arial" panose="020B0604020202020204"/>
                  <a:ea typeface="宋体" panose="02010600030101010101" pitchFamily="2" charset="-122"/>
                </a:rPr>
                <a:t>5</a:t>
              </a:r>
              <a:r>
                <a:rPr kumimoji="1" lang="en-US" altLang="zh-CN" sz="2646" dirty="0">
                  <a:solidFill>
                    <a:srgbClr val="C00000"/>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(10)   T</a:t>
              </a:r>
              <a:r>
                <a:rPr kumimoji="1" lang="en-US" altLang="zh-CN" sz="2646" baseline="-25000" dirty="0">
                  <a:solidFill>
                    <a:srgbClr val="C00000"/>
                  </a:solidFill>
                  <a:latin typeface="Arial" panose="020B0604020202020204"/>
                  <a:ea typeface="宋体" panose="02010600030101010101" pitchFamily="2" charset="-122"/>
                </a:rPr>
                <a:t>8</a:t>
              </a:r>
              <a:r>
                <a:rPr kumimoji="1" lang="en-US" altLang="zh-CN" sz="2646" dirty="0">
                  <a:solidFill>
                    <a:srgbClr val="C00000"/>
                  </a:solidFill>
                  <a:latin typeface="Arial" panose="020B0604020202020204"/>
                  <a:ea typeface="宋体" panose="02010600030101010101" pitchFamily="2" charset="-122"/>
                </a:rPr>
                <a:t>=</a:t>
              </a:r>
              <a:r>
                <a:rPr kumimoji="1" lang="en-US" altLang="zh-CN" sz="2646" dirty="0" err="1">
                  <a:solidFill>
                    <a:srgbClr val="C00000"/>
                  </a:solidFill>
                  <a:latin typeface="Arial" panose="020B0604020202020204"/>
                  <a:ea typeface="宋体" panose="02010600030101010101" pitchFamily="2" charset="-122"/>
                </a:rPr>
                <a:t>addr</a:t>
              </a:r>
              <a:r>
                <a:rPr kumimoji="1" lang="en-US" altLang="zh-CN" sz="2646" dirty="0">
                  <a:solidFill>
                    <a:srgbClr val="C00000"/>
                  </a:solidFill>
                  <a:latin typeface="Arial" panose="020B0604020202020204"/>
                  <a:ea typeface="宋体" panose="02010600030101010101" pitchFamily="2" charset="-122"/>
                </a:rPr>
                <a:t>(A)-11</a:t>
              </a:r>
            </a:p>
          </p:txBody>
        </p:sp>
        <p:sp>
          <p:nvSpPr>
            <p:cNvPr id="58" name="Line 66"/>
            <p:cNvSpPr>
              <a:spLocks noChangeShapeType="1"/>
            </p:cNvSpPr>
            <p:nvPr/>
          </p:nvSpPr>
          <p:spPr bwMode="auto">
            <a:xfrm>
              <a:off x="4272" y="43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9" name="Rectangle 67"/>
            <p:cNvSpPr>
              <a:spLocks noChangeArrowheads="1"/>
            </p:cNvSpPr>
            <p:nvPr/>
          </p:nvSpPr>
          <p:spPr bwMode="auto">
            <a:xfrm>
              <a:off x="5232" y="91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rPr>
                <a:t>B</a:t>
              </a:r>
              <a:r>
                <a:rPr kumimoji="1" lang="en-US" altLang="zh-CN" sz="3086" baseline="-25000" dirty="0">
                  <a:solidFill>
                    <a:prstClr val="black"/>
                  </a:solidFill>
                  <a:latin typeface="Arial" panose="020B0604020202020204"/>
                </a:rPr>
                <a:t>2</a:t>
              </a:r>
              <a:r>
                <a:rPr kumimoji="1" lang="en-US" altLang="zh-CN" sz="3086" b="1" baseline="30000" dirty="0">
                  <a:solidFill>
                    <a:prstClr val="black"/>
                  </a:solidFill>
                  <a:latin typeface="Arial" panose="020B0604020202020204"/>
                </a:rPr>
                <a:t>’</a:t>
              </a:r>
              <a:endParaRPr kumimoji="1" lang="en-US" altLang="zh-CN" sz="3086" b="1" dirty="0">
                <a:solidFill>
                  <a:prstClr val="black"/>
                </a:solidFill>
                <a:latin typeface="Arial" panose="020B0604020202020204"/>
              </a:endParaRPr>
            </a:p>
          </p:txBody>
        </p:sp>
        <p:sp>
          <p:nvSpPr>
            <p:cNvPr id="60" name="Freeform 68"/>
            <p:cNvSpPr>
              <a:spLocks/>
            </p:cNvSpPr>
            <p:nvPr/>
          </p:nvSpPr>
          <p:spPr bwMode="auto">
            <a:xfrm>
              <a:off x="4416" y="1776"/>
              <a:ext cx="1104" cy="2256"/>
            </a:xfrm>
            <a:custGeom>
              <a:avLst/>
              <a:gdLst>
                <a:gd name="T0" fmla="*/ 1008 w 1104"/>
                <a:gd name="T1" fmla="*/ 0 h 2256"/>
                <a:gd name="T2" fmla="*/ 1104 w 1104"/>
                <a:gd name="T3" fmla="*/ 0 h 2256"/>
                <a:gd name="T4" fmla="*/ 1104 w 1104"/>
                <a:gd name="T5" fmla="*/ 2112 h 2256"/>
                <a:gd name="T6" fmla="*/ 0 w 1104"/>
                <a:gd name="T7" fmla="*/ 2112 h 2256"/>
                <a:gd name="T8" fmla="*/ 0 w 1104"/>
                <a:gd name="T9" fmla="*/ 2256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1" name="Line 70"/>
            <p:cNvSpPr>
              <a:spLocks noChangeShapeType="1"/>
            </p:cNvSpPr>
            <p:nvPr/>
          </p:nvSpPr>
          <p:spPr bwMode="auto">
            <a:xfrm>
              <a:off x="4272" y="144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Tree>
    <p:extLst>
      <p:ext uri="{BB962C8B-B14F-4D97-AF65-F5344CB8AC3E}">
        <p14:creationId xmlns:p14="http://schemas.microsoft.com/office/powerpoint/2010/main" val="548726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up)">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外提的条件</a:t>
            </a:r>
          </a:p>
        </p:txBody>
      </p:sp>
      <p:grpSp>
        <p:nvGrpSpPr>
          <p:cNvPr id="24" name="Group 87"/>
          <p:cNvGrpSpPr>
            <a:grpSpLocks/>
          </p:cNvGrpSpPr>
          <p:nvPr/>
        </p:nvGrpSpPr>
        <p:grpSpPr bwMode="auto">
          <a:xfrm>
            <a:off x="1412317" y="1722689"/>
            <a:ext cx="7232910" cy="4357313"/>
            <a:chOff x="106" y="0"/>
            <a:chExt cx="3684" cy="2064"/>
          </a:xfrm>
        </p:grpSpPr>
        <p:sp>
          <p:nvSpPr>
            <p:cNvPr id="25" name="Rectangle 32"/>
            <p:cNvSpPr>
              <a:spLocks noChangeArrowheads="1"/>
            </p:cNvSpPr>
            <p:nvPr/>
          </p:nvSpPr>
          <p:spPr bwMode="auto">
            <a:xfrm>
              <a:off x="816" y="14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26" name="Rectangle 33"/>
            <p:cNvSpPr>
              <a:spLocks noChangeArrowheads="1"/>
            </p:cNvSpPr>
            <p:nvPr/>
          </p:nvSpPr>
          <p:spPr bwMode="auto">
            <a:xfrm>
              <a:off x="816" y="576"/>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(2)   </a:t>
              </a:r>
              <a:r>
                <a:rPr kumimoji="1" lang="en-US" altLang="zh-CN" sz="2646">
                  <a:solidFill>
                    <a:prstClr val="black"/>
                  </a:solidFill>
                  <a:latin typeface="Arial" panose="020B0604020202020204"/>
                  <a:ea typeface="宋体" panose="02010600030101010101" pitchFamily="2" charset="-122"/>
                </a:rPr>
                <a:t>if X&gt;=Y  goto B</a:t>
              </a:r>
              <a:r>
                <a:rPr kumimoji="1" lang="en-US" altLang="zh-CN" sz="2646" baseline="-25000">
                  <a:solidFill>
                    <a:prstClr val="black"/>
                  </a:solidFill>
                  <a:latin typeface="Arial" panose="020B0604020202020204"/>
                  <a:ea typeface="宋体" panose="02010600030101010101" pitchFamily="2" charset="-122"/>
                </a:rPr>
                <a:t>4</a:t>
              </a:r>
              <a:endParaRPr kumimoji="1" lang="en-US" altLang="zh-CN" sz="2646">
                <a:solidFill>
                  <a:prstClr val="black"/>
                </a:solidFill>
                <a:latin typeface="Arial" panose="020B0604020202020204"/>
                <a:ea typeface="宋体" panose="02010600030101010101" pitchFamily="2" charset="-122"/>
              </a:endParaRPr>
            </a:p>
          </p:txBody>
        </p:sp>
        <p:sp>
          <p:nvSpPr>
            <p:cNvPr id="28" name="Rectangle 37"/>
            <p:cNvSpPr>
              <a:spLocks noChangeArrowheads="1"/>
            </p:cNvSpPr>
            <p:nvPr/>
          </p:nvSpPr>
          <p:spPr bwMode="auto">
            <a:xfrm>
              <a:off x="2664" y="9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1</a:t>
              </a:r>
              <a:endParaRPr kumimoji="1" lang="en-US" altLang="zh-CN" sz="3086" dirty="0">
                <a:solidFill>
                  <a:prstClr val="black"/>
                </a:solidFill>
                <a:latin typeface="Arial" panose="020B0604020202020204"/>
                <a:ea typeface="宋体" panose="02010600030101010101" pitchFamily="2" charset="-122"/>
              </a:endParaRPr>
            </a:p>
          </p:txBody>
        </p:sp>
        <p:sp>
          <p:nvSpPr>
            <p:cNvPr id="29" name="Rectangle 44"/>
            <p:cNvSpPr>
              <a:spLocks noChangeArrowheads="1"/>
            </p:cNvSpPr>
            <p:nvPr/>
          </p:nvSpPr>
          <p:spPr bwMode="auto">
            <a:xfrm>
              <a:off x="2667" y="408"/>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2</a:t>
              </a:r>
              <a:endParaRPr kumimoji="1" lang="en-US" altLang="zh-CN" sz="3086" dirty="0">
                <a:solidFill>
                  <a:prstClr val="black"/>
                </a:solidFill>
                <a:latin typeface="Arial" panose="020B0604020202020204"/>
                <a:ea typeface="宋体" panose="02010600030101010101" pitchFamily="2" charset="-122"/>
              </a:endParaRPr>
            </a:p>
          </p:txBody>
        </p:sp>
        <p:sp>
          <p:nvSpPr>
            <p:cNvPr id="30" name="Rectangle 45"/>
            <p:cNvSpPr>
              <a:spLocks noChangeArrowheads="1"/>
            </p:cNvSpPr>
            <p:nvPr/>
          </p:nvSpPr>
          <p:spPr bwMode="auto">
            <a:xfrm>
              <a:off x="384" y="960"/>
              <a:ext cx="1152" cy="43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(3)   </a:t>
              </a:r>
              <a:r>
                <a:rPr kumimoji="1" lang="en-US" altLang="zh-CN" sz="2646" dirty="0">
                  <a:solidFill>
                    <a:srgbClr val="C00000"/>
                  </a:solidFill>
                  <a:latin typeface="Arial" panose="020B0604020202020204"/>
                  <a:ea typeface="宋体" panose="02010600030101010101" pitchFamily="2" charset="-122"/>
                </a:rPr>
                <a:t>I:=2</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(4)   X:=X+1</a:t>
              </a:r>
            </a:p>
          </p:txBody>
        </p:sp>
        <p:sp>
          <p:nvSpPr>
            <p:cNvPr id="31" name="Rectangle 46"/>
            <p:cNvSpPr>
              <a:spLocks noChangeArrowheads="1"/>
            </p:cNvSpPr>
            <p:nvPr/>
          </p:nvSpPr>
          <p:spPr bwMode="auto">
            <a:xfrm>
              <a:off x="1776" y="1008"/>
              <a:ext cx="1678" cy="43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Y:=Y-1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if  Y&gt;20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endParaRPr kumimoji="1" lang="en-US" altLang="zh-CN" sz="2646" dirty="0">
                <a:solidFill>
                  <a:prstClr val="black"/>
                </a:solidFill>
                <a:latin typeface="Arial" panose="020B0604020202020204"/>
                <a:ea typeface="宋体" panose="02010600030101010101" pitchFamily="2" charset="-122"/>
              </a:endParaRPr>
            </a:p>
          </p:txBody>
        </p:sp>
        <p:sp>
          <p:nvSpPr>
            <p:cNvPr id="32" name="Rectangle 47"/>
            <p:cNvSpPr>
              <a:spLocks noChangeArrowheads="1"/>
            </p:cNvSpPr>
            <p:nvPr/>
          </p:nvSpPr>
          <p:spPr bwMode="auto">
            <a:xfrm>
              <a:off x="1776" y="1632"/>
              <a:ext cx="1678"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zh-CN" sz="2646">
                  <a:solidFill>
                    <a:prstClr val="black"/>
                  </a:solidFill>
                  <a:latin typeface="Arial" panose="020B0604020202020204"/>
                  <a:ea typeface="宋体" panose="02010600030101010101" pitchFamily="2" charset="-122"/>
                </a:rPr>
                <a:t>(7)   </a:t>
              </a:r>
              <a:r>
                <a:rPr kumimoji="1" lang="en-US" altLang="zh-CN" sz="2646">
                  <a:solidFill>
                    <a:prstClr val="black"/>
                  </a:solidFill>
                  <a:latin typeface="Arial" panose="020B0604020202020204"/>
                  <a:ea typeface="宋体" panose="02010600030101010101" pitchFamily="2" charset="-122"/>
                </a:rPr>
                <a:t>J:=I</a:t>
              </a:r>
            </a:p>
          </p:txBody>
        </p:sp>
        <p:sp>
          <p:nvSpPr>
            <p:cNvPr id="33" name="Line 48"/>
            <p:cNvSpPr>
              <a:spLocks noChangeShapeType="1"/>
            </p:cNvSpPr>
            <p:nvPr/>
          </p:nvSpPr>
          <p:spPr bwMode="auto">
            <a:xfrm>
              <a:off x="1728" y="0"/>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4" name="Line 49"/>
            <p:cNvSpPr>
              <a:spLocks noChangeShapeType="1"/>
            </p:cNvSpPr>
            <p:nvPr/>
          </p:nvSpPr>
          <p:spPr bwMode="auto">
            <a:xfrm>
              <a:off x="1728" y="384"/>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5" name="Freeform 50"/>
            <p:cNvSpPr>
              <a:spLocks/>
            </p:cNvSpPr>
            <p:nvPr/>
          </p:nvSpPr>
          <p:spPr bwMode="auto">
            <a:xfrm>
              <a:off x="576" y="672"/>
              <a:ext cx="240" cy="288"/>
            </a:xfrm>
            <a:custGeom>
              <a:avLst/>
              <a:gdLst>
                <a:gd name="T0" fmla="*/ 240 w 240"/>
                <a:gd name="T1" fmla="*/ 0 h 384"/>
                <a:gd name="T2" fmla="*/ 0 w 240"/>
                <a:gd name="T3" fmla="*/ 0 h 384"/>
                <a:gd name="T4" fmla="*/ 0 w 240"/>
                <a:gd name="T5" fmla="*/ 69 h 384"/>
                <a:gd name="T6" fmla="*/ 0 60000 65536"/>
                <a:gd name="T7" fmla="*/ 0 60000 65536"/>
                <a:gd name="T8" fmla="*/ 0 60000 65536"/>
                <a:gd name="T9" fmla="*/ 0 w 240"/>
                <a:gd name="T10" fmla="*/ 0 h 384"/>
                <a:gd name="T11" fmla="*/ 240 w 240"/>
                <a:gd name="T12" fmla="*/ 384 h 384"/>
              </a:gdLst>
              <a:ahLst/>
              <a:cxnLst>
                <a:cxn ang="T6">
                  <a:pos x="T0" y="T1"/>
                </a:cxn>
                <a:cxn ang="T7">
                  <a:pos x="T2" y="T3"/>
                </a:cxn>
                <a:cxn ang="T8">
                  <a:pos x="T4" y="T5"/>
                </a:cxn>
              </a:cxnLst>
              <a:rect l="T9" t="T10" r="T11" b="T12"/>
              <a:pathLst>
                <a:path w="240" h="384">
                  <a:moveTo>
                    <a:pt x="240" y="0"/>
                  </a:moveTo>
                  <a:lnTo>
                    <a:pt x="0" y="0"/>
                  </a:lnTo>
                  <a:lnTo>
                    <a:pt x="0"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6" name="Freeform 53"/>
            <p:cNvSpPr>
              <a:spLocks/>
            </p:cNvSpPr>
            <p:nvPr/>
          </p:nvSpPr>
          <p:spPr bwMode="auto">
            <a:xfrm>
              <a:off x="2654" y="672"/>
              <a:ext cx="288" cy="336"/>
            </a:xfrm>
            <a:custGeom>
              <a:avLst/>
              <a:gdLst>
                <a:gd name="T0" fmla="*/ 0 w 288"/>
                <a:gd name="T1" fmla="*/ 0 h 384"/>
                <a:gd name="T2" fmla="*/ 288 w 288"/>
                <a:gd name="T3" fmla="*/ 0 h 384"/>
                <a:gd name="T4" fmla="*/ 288 w 288"/>
                <a:gd name="T5" fmla="*/ 172 h 384"/>
                <a:gd name="T6" fmla="*/ 0 60000 65536"/>
                <a:gd name="T7" fmla="*/ 0 60000 65536"/>
                <a:gd name="T8" fmla="*/ 0 60000 65536"/>
                <a:gd name="T9" fmla="*/ 0 w 288"/>
                <a:gd name="T10" fmla="*/ 0 h 384"/>
                <a:gd name="T11" fmla="*/ 288 w 288"/>
                <a:gd name="T12" fmla="*/ 384 h 384"/>
              </a:gdLst>
              <a:ahLst/>
              <a:cxnLst>
                <a:cxn ang="T6">
                  <a:pos x="T0" y="T1"/>
                </a:cxn>
                <a:cxn ang="T7">
                  <a:pos x="T2" y="T3"/>
                </a:cxn>
                <a:cxn ang="T8">
                  <a:pos x="T4" y="T5"/>
                </a:cxn>
              </a:cxnLst>
              <a:rect l="T9" t="T10" r="T11" b="T12"/>
              <a:pathLst>
                <a:path w="288" h="384">
                  <a:moveTo>
                    <a:pt x="0" y="0"/>
                  </a:moveTo>
                  <a:lnTo>
                    <a:pt x="288" y="0"/>
                  </a:lnTo>
                  <a:lnTo>
                    <a:pt x="288"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7" name="Rectangle 57"/>
            <p:cNvSpPr>
              <a:spLocks noChangeArrowheads="1"/>
            </p:cNvSpPr>
            <p:nvPr/>
          </p:nvSpPr>
          <p:spPr bwMode="auto">
            <a:xfrm>
              <a:off x="106" y="103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3</a:t>
              </a:r>
              <a:endParaRPr kumimoji="1" lang="en-US" altLang="zh-CN" sz="3086" dirty="0">
                <a:solidFill>
                  <a:prstClr val="black"/>
                </a:solidFill>
                <a:latin typeface="Arial" panose="020B0604020202020204"/>
                <a:ea typeface="宋体" panose="02010600030101010101" pitchFamily="2" charset="-122"/>
              </a:endParaRPr>
            </a:p>
          </p:txBody>
        </p:sp>
        <p:sp>
          <p:nvSpPr>
            <p:cNvPr id="38" name="Rectangle 58"/>
            <p:cNvSpPr>
              <a:spLocks noChangeArrowheads="1"/>
            </p:cNvSpPr>
            <p:nvPr/>
          </p:nvSpPr>
          <p:spPr bwMode="auto">
            <a:xfrm>
              <a:off x="3465" y="1080"/>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4</a:t>
              </a:r>
              <a:endParaRPr kumimoji="1" lang="en-US" altLang="zh-CN" sz="3086" dirty="0">
                <a:solidFill>
                  <a:prstClr val="black"/>
                </a:solidFill>
                <a:latin typeface="Arial" panose="020B0604020202020204"/>
                <a:ea typeface="宋体" panose="02010600030101010101" pitchFamily="2" charset="-122"/>
              </a:endParaRPr>
            </a:p>
          </p:txBody>
        </p:sp>
        <p:sp>
          <p:nvSpPr>
            <p:cNvPr id="39" name="Rectangle 59"/>
            <p:cNvSpPr>
              <a:spLocks noChangeArrowheads="1"/>
            </p:cNvSpPr>
            <p:nvPr/>
          </p:nvSpPr>
          <p:spPr bwMode="auto">
            <a:xfrm>
              <a:off x="3464" y="161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5</a:t>
              </a:r>
              <a:endParaRPr kumimoji="1" lang="en-US" altLang="zh-CN" sz="3086" dirty="0">
                <a:solidFill>
                  <a:prstClr val="black"/>
                </a:solidFill>
                <a:latin typeface="Arial" panose="020B0604020202020204"/>
                <a:ea typeface="宋体" panose="02010600030101010101" pitchFamily="2" charset="-122"/>
              </a:endParaRPr>
            </a:p>
          </p:txBody>
        </p:sp>
        <p:sp>
          <p:nvSpPr>
            <p:cNvPr id="40" name="Line 61"/>
            <p:cNvSpPr>
              <a:spLocks noChangeShapeType="1"/>
            </p:cNvSpPr>
            <p:nvPr/>
          </p:nvSpPr>
          <p:spPr bwMode="auto">
            <a:xfrm>
              <a:off x="2688" y="1872"/>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1" name="Line 64"/>
            <p:cNvSpPr>
              <a:spLocks noChangeShapeType="1"/>
            </p:cNvSpPr>
            <p:nvPr/>
          </p:nvSpPr>
          <p:spPr bwMode="auto">
            <a:xfrm>
              <a:off x="2688" y="144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2" name="Freeform 65"/>
            <p:cNvSpPr>
              <a:spLocks/>
            </p:cNvSpPr>
            <p:nvPr/>
          </p:nvSpPr>
          <p:spPr bwMode="auto">
            <a:xfrm>
              <a:off x="2112" y="432"/>
              <a:ext cx="1678" cy="1152"/>
            </a:xfrm>
            <a:custGeom>
              <a:avLst/>
              <a:gdLst>
                <a:gd name="T0" fmla="*/ 864 w 1872"/>
                <a:gd name="T1" fmla="*/ 476 h 1344"/>
                <a:gd name="T2" fmla="*/ 864 w 1872"/>
                <a:gd name="T3" fmla="*/ 532 h 1344"/>
                <a:gd name="T4" fmla="*/ 1872 w 1872"/>
                <a:gd name="T5" fmla="*/ 532 h 1344"/>
                <a:gd name="T6" fmla="*/ 1872 w 1872"/>
                <a:gd name="T7" fmla="*/ 0 h 1344"/>
                <a:gd name="T8" fmla="*/ 0 w 1872"/>
                <a:gd name="T9" fmla="*/ 0 h 1344"/>
                <a:gd name="T10" fmla="*/ 0 w 1872"/>
                <a:gd name="T11" fmla="*/ 57 h 1344"/>
                <a:gd name="T12" fmla="*/ 0 60000 65536"/>
                <a:gd name="T13" fmla="*/ 0 60000 65536"/>
                <a:gd name="T14" fmla="*/ 0 60000 65536"/>
                <a:gd name="T15" fmla="*/ 0 60000 65536"/>
                <a:gd name="T16" fmla="*/ 0 60000 65536"/>
                <a:gd name="T17" fmla="*/ 0 60000 65536"/>
                <a:gd name="T18" fmla="*/ 0 w 1872"/>
                <a:gd name="T19" fmla="*/ 0 h 1344"/>
                <a:gd name="T20" fmla="*/ 1872 w 1872"/>
                <a:gd name="T21" fmla="*/ 1344 h 1344"/>
              </a:gdLst>
              <a:ahLst/>
              <a:cxnLst>
                <a:cxn ang="T12">
                  <a:pos x="T0" y="T1"/>
                </a:cxn>
                <a:cxn ang="T13">
                  <a:pos x="T2" y="T3"/>
                </a:cxn>
                <a:cxn ang="T14">
                  <a:pos x="T4" y="T5"/>
                </a:cxn>
                <a:cxn ang="T15">
                  <a:pos x="T6" y="T7"/>
                </a:cxn>
                <a:cxn ang="T16">
                  <a:pos x="T8" y="T9"/>
                </a:cxn>
                <a:cxn ang="T17">
                  <a:pos x="T10" y="T11"/>
                </a:cxn>
              </a:cxnLst>
              <a:rect l="T18" t="T19" r="T20" b="T21"/>
              <a:pathLst>
                <a:path w="1872" h="1344">
                  <a:moveTo>
                    <a:pt x="864" y="1200"/>
                  </a:moveTo>
                  <a:lnTo>
                    <a:pt x="864" y="1344"/>
                  </a:lnTo>
                  <a:lnTo>
                    <a:pt x="1872" y="1344"/>
                  </a:lnTo>
                  <a:lnTo>
                    <a:pt x="1872" y="0"/>
                  </a:lnTo>
                  <a:lnTo>
                    <a:pt x="0" y="0"/>
                  </a:lnTo>
                  <a:lnTo>
                    <a:pt x="0"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3" name="Freeform 86"/>
            <p:cNvSpPr>
              <a:spLocks/>
            </p:cNvSpPr>
            <p:nvPr/>
          </p:nvSpPr>
          <p:spPr bwMode="auto">
            <a:xfrm>
              <a:off x="1008" y="864"/>
              <a:ext cx="1248" cy="672"/>
            </a:xfrm>
            <a:custGeom>
              <a:avLst/>
              <a:gdLst>
                <a:gd name="T0" fmla="*/ 0 w 1248"/>
                <a:gd name="T1" fmla="*/ 528 h 672"/>
                <a:gd name="T2" fmla="*/ 0 w 1248"/>
                <a:gd name="T3" fmla="*/ 672 h 672"/>
                <a:gd name="T4" fmla="*/ 624 w 1248"/>
                <a:gd name="T5" fmla="*/ 672 h 672"/>
                <a:gd name="T6" fmla="*/ 624 w 1248"/>
                <a:gd name="T7" fmla="*/ 0 h 672"/>
                <a:gd name="T8" fmla="*/ 1248 w 1248"/>
                <a:gd name="T9" fmla="*/ 0 h 672"/>
                <a:gd name="T10" fmla="*/ 1248 w 1248"/>
                <a:gd name="T11" fmla="*/ 144 h 672"/>
                <a:gd name="T12" fmla="*/ 0 60000 65536"/>
                <a:gd name="T13" fmla="*/ 0 60000 65536"/>
                <a:gd name="T14" fmla="*/ 0 60000 65536"/>
                <a:gd name="T15" fmla="*/ 0 60000 65536"/>
                <a:gd name="T16" fmla="*/ 0 60000 65536"/>
                <a:gd name="T17" fmla="*/ 0 60000 65536"/>
                <a:gd name="T18" fmla="*/ 0 w 1248"/>
                <a:gd name="T19" fmla="*/ 0 h 672"/>
                <a:gd name="T20" fmla="*/ 1248 w 1248"/>
                <a:gd name="T21" fmla="*/ 672 h 672"/>
              </a:gdLst>
              <a:ahLst/>
              <a:cxnLst>
                <a:cxn ang="T12">
                  <a:pos x="T0" y="T1"/>
                </a:cxn>
                <a:cxn ang="T13">
                  <a:pos x="T2" y="T3"/>
                </a:cxn>
                <a:cxn ang="T14">
                  <a:pos x="T4" y="T5"/>
                </a:cxn>
                <a:cxn ang="T15">
                  <a:pos x="T6" y="T7"/>
                </a:cxn>
                <a:cxn ang="T16">
                  <a:pos x="T8" y="T9"/>
                </a:cxn>
                <a:cxn ang="T17">
                  <a:pos x="T10" y="T11"/>
                </a:cxn>
              </a:cxnLst>
              <a:rect l="T18" t="T19" r="T20" b="T21"/>
              <a:pathLst>
                <a:path w="1248" h="672">
                  <a:moveTo>
                    <a:pt x="0" y="528"/>
                  </a:moveTo>
                  <a:lnTo>
                    <a:pt x="0" y="672"/>
                  </a:lnTo>
                  <a:lnTo>
                    <a:pt x="624" y="672"/>
                  </a:lnTo>
                  <a:lnTo>
                    <a:pt x="624" y="0"/>
                  </a:lnTo>
                  <a:lnTo>
                    <a:pt x="1248" y="0"/>
                  </a:lnTo>
                  <a:lnTo>
                    <a:pt x="1248"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
        <p:nvSpPr>
          <p:cNvPr id="44" name="文本框 43"/>
          <p:cNvSpPr txBox="1"/>
          <p:nvPr/>
        </p:nvSpPr>
        <p:spPr>
          <a:xfrm>
            <a:off x="452925" y="6071448"/>
            <a:ext cx="8695529" cy="1313821"/>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defTabSz="503972" rtl="0" fontAlgn="auto" hangingPunct="1">
              <a:lnSpc>
                <a:spcPct val="100000"/>
              </a:lnSpc>
              <a:spcBef>
                <a:spcPts val="0"/>
              </a:spcBef>
              <a:spcAft>
                <a:spcPts val="0"/>
              </a:spcAft>
              <a:buSzTx/>
            </a:pPr>
            <a:r>
              <a:rPr lang="en-US" altLang="zh-CN" sz="2646" dirty="0">
                <a:solidFill>
                  <a:prstClr val="black"/>
                </a:solidFill>
                <a:latin typeface="Arial" panose="020B0604020202020204"/>
                <a:ea typeface="黑体" panose="02010609060101010101" pitchFamily="49" charset="-122"/>
              </a:rPr>
              <a:t>X=30,  Y=25</a:t>
            </a:r>
          </a:p>
          <a:p>
            <a:pPr defTabSz="503972" rtl="0" fontAlgn="auto" hangingPunct="1">
              <a:lnSpc>
                <a:spcPct val="100000"/>
              </a:lnSpc>
              <a:spcBef>
                <a:spcPts val="0"/>
              </a:spcBef>
              <a:spcAft>
                <a:spcPts val="0"/>
              </a:spcAft>
              <a:buSzTx/>
            </a:pPr>
            <a:r>
              <a:rPr lang="en-US" altLang="zh-CN" sz="2646" dirty="0">
                <a:solidFill>
                  <a:prstClr val="black"/>
                </a:solidFill>
                <a:latin typeface="Arial" panose="020B0604020202020204"/>
                <a:ea typeface="黑体" panose="02010609060101010101" pitchFamily="49" charset="-122"/>
              </a:rPr>
              <a:t>B</a:t>
            </a:r>
            <a:r>
              <a:rPr lang="en-US" altLang="zh-CN" sz="2646" baseline="-25000" dirty="0">
                <a:solidFill>
                  <a:prstClr val="black"/>
                </a:solidFill>
                <a:latin typeface="Arial" panose="020B0604020202020204"/>
                <a:ea typeface="黑体" panose="02010609060101010101" pitchFamily="49" charset="-122"/>
              </a:rPr>
              <a:t>1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dirty="0">
                <a:solidFill>
                  <a:prstClr val="black"/>
                </a:solidFill>
                <a:latin typeface="Arial" panose="020B0604020202020204"/>
                <a:ea typeface="黑体" panose="02010609060101010101" pitchFamily="49" charset="-122"/>
              </a:rPr>
              <a:t> B</a:t>
            </a:r>
            <a:r>
              <a:rPr lang="en-US" altLang="zh-CN" sz="2646" baseline="-25000" dirty="0">
                <a:solidFill>
                  <a:prstClr val="black"/>
                </a:solidFill>
                <a:latin typeface="Arial" panose="020B0604020202020204"/>
                <a:ea typeface="黑体" panose="02010609060101010101" pitchFamily="49" charset="-122"/>
              </a:rPr>
              <a:t>2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B</a:t>
            </a:r>
            <a:r>
              <a:rPr lang="en-US" altLang="zh-CN" sz="2646" baseline="-25000" dirty="0">
                <a:solidFill>
                  <a:prstClr val="black"/>
                </a:solidFill>
                <a:latin typeface="Arial" panose="020B0604020202020204"/>
                <a:ea typeface="黑体" panose="02010609060101010101" pitchFamily="49" charset="-122"/>
              </a:rPr>
              <a:t>4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rPr>
              <a:t>B</a:t>
            </a:r>
            <a:r>
              <a:rPr lang="en-US" altLang="zh-CN" sz="2646" baseline="-25000" dirty="0">
                <a:solidFill>
                  <a:prstClr val="black"/>
                </a:solidFill>
              </a:rPr>
              <a:t>2  </a:t>
            </a:r>
            <a:r>
              <a:rPr lang="en-US" altLang="zh-CN" sz="2646" dirty="0">
                <a:solidFill>
                  <a:prstClr val="black"/>
                </a:solidFill>
                <a:sym typeface="Symbol" panose="05050102010706020507" pitchFamily="18" charset="2"/>
              </a:rPr>
              <a:t></a:t>
            </a:r>
            <a:r>
              <a:rPr lang="en-US" altLang="zh-CN" sz="2646" baseline="-25000" dirty="0">
                <a:solidFill>
                  <a:prstClr val="black"/>
                </a:solidFill>
              </a:rPr>
              <a:t> </a:t>
            </a:r>
            <a:r>
              <a:rPr lang="en-US" altLang="zh-CN" sz="2646" dirty="0">
                <a:solidFill>
                  <a:prstClr val="black"/>
                </a:solidFill>
              </a:rPr>
              <a:t>B</a:t>
            </a:r>
            <a:r>
              <a:rPr lang="en-US" altLang="zh-CN" sz="2646" baseline="-25000" dirty="0">
                <a:solidFill>
                  <a:prstClr val="black"/>
                </a:solidFill>
              </a:rPr>
              <a:t>4 </a:t>
            </a:r>
            <a:r>
              <a:rPr lang="en-US" altLang="zh-CN" sz="2646" dirty="0">
                <a:solidFill>
                  <a:prstClr val="black"/>
                </a:solidFill>
                <a:sym typeface="Symbol" panose="05050102010706020507" pitchFamily="18" charset="2"/>
              </a:rPr>
              <a:t></a:t>
            </a:r>
            <a:r>
              <a:rPr lang="en-US" altLang="zh-CN" sz="2646" baseline="-25000" dirty="0">
                <a:solidFill>
                  <a:prstClr val="black"/>
                </a:solidFill>
              </a:rPr>
              <a:t> </a:t>
            </a:r>
            <a:r>
              <a:rPr lang="en-US" altLang="zh-CN" sz="2646" dirty="0">
                <a:solidFill>
                  <a:prstClr val="black"/>
                </a:solidFill>
                <a:latin typeface="Arial" panose="020B0604020202020204"/>
                <a:ea typeface="黑体" panose="02010609060101010101" pitchFamily="49" charset="-122"/>
              </a:rPr>
              <a:t>…</a:t>
            </a:r>
            <a:r>
              <a:rPr lang="zh-CN" altLang="en-US" sz="2646" baseline="-25000" dirty="0">
                <a:solidFill>
                  <a:prstClr val="black"/>
                </a:solidFill>
                <a:latin typeface="Arial" panose="020B0604020202020204"/>
                <a:ea typeface="黑体" panose="02010609060101010101" pitchFamily="49" charset="-122"/>
              </a:rPr>
              <a:t>  </a:t>
            </a:r>
            <a:r>
              <a:rPr lang="zh-CN" altLang="en-US" sz="2646" dirty="0">
                <a:solidFill>
                  <a:prstClr val="black"/>
                </a:solidFill>
                <a:latin typeface="Arial" panose="020B0604020202020204"/>
                <a:ea typeface="黑体" panose="02010609060101010101" pitchFamily="49" charset="-122"/>
                <a:sym typeface="Symbol" panose="05050102010706020507" pitchFamily="18" charset="2"/>
              </a:rPr>
              <a:t></a:t>
            </a:r>
            <a:r>
              <a:rPr lang="zh-CN" altLang="en-US"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B</a:t>
            </a:r>
            <a:r>
              <a:rPr lang="en-US" altLang="zh-CN" sz="2646" baseline="-25000" dirty="0">
                <a:solidFill>
                  <a:prstClr val="black"/>
                </a:solidFill>
                <a:latin typeface="Arial" panose="020B0604020202020204"/>
                <a:ea typeface="黑体" panose="02010609060101010101" pitchFamily="49" charset="-122"/>
              </a:rPr>
              <a:t>2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B</a:t>
            </a:r>
            <a:r>
              <a:rPr lang="en-US" altLang="zh-CN" sz="2646" baseline="-25000" dirty="0">
                <a:solidFill>
                  <a:prstClr val="black"/>
                </a:solidFill>
                <a:latin typeface="Arial" panose="020B0604020202020204"/>
                <a:ea typeface="黑体" panose="02010609060101010101" pitchFamily="49" charset="-122"/>
              </a:rPr>
              <a:t>4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B</a:t>
            </a:r>
            <a:r>
              <a:rPr lang="en-US" altLang="zh-CN" sz="2646" baseline="-25000" dirty="0">
                <a:solidFill>
                  <a:prstClr val="black"/>
                </a:solidFill>
                <a:latin typeface="Arial" panose="020B0604020202020204"/>
                <a:ea typeface="黑体" panose="02010609060101010101" pitchFamily="49" charset="-122"/>
              </a:rPr>
              <a:t>5</a:t>
            </a:r>
            <a:endParaRPr lang="en-US" altLang="zh-CN" sz="2646" dirty="0">
              <a:solidFill>
                <a:prstClr val="black"/>
              </a:solidFill>
              <a:latin typeface="Arial" panose="020B0604020202020204"/>
              <a:ea typeface="黑体" panose="02010609060101010101" pitchFamily="49" charset="-122"/>
            </a:endParaRPr>
          </a:p>
          <a:p>
            <a:pPr defTabSz="503972" rtl="0" fontAlgn="auto" hangingPunct="1">
              <a:lnSpc>
                <a:spcPct val="100000"/>
              </a:lnSpc>
              <a:spcBef>
                <a:spcPts val="0"/>
              </a:spcBef>
              <a:spcAft>
                <a:spcPts val="0"/>
              </a:spcAft>
              <a:buSzTx/>
            </a:pPr>
            <a:r>
              <a:rPr lang="en-US" altLang="zh-CN" sz="2646" dirty="0">
                <a:solidFill>
                  <a:prstClr val="black"/>
                </a:solidFill>
                <a:latin typeface="Arial" panose="020B0604020202020204"/>
                <a:ea typeface="黑体" panose="02010609060101010101" pitchFamily="49" charset="-122"/>
              </a:rPr>
              <a:t>I=1, J=1</a:t>
            </a:r>
          </a:p>
        </p:txBody>
      </p:sp>
    </p:spTree>
    <p:extLst>
      <p:ext uri="{BB962C8B-B14F-4D97-AF65-F5344CB8AC3E}">
        <p14:creationId xmlns:p14="http://schemas.microsoft.com/office/powerpoint/2010/main" val="25400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wipe(left)">
                                      <p:cBhvr>
                                        <p:cTn id="7" dur="500"/>
                                        <p:tgtEl>
                                          <p:spTgt spid="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
                                            <p:txEl>
                                              <p:pRg st="1" end="1"/>
                                            </p:txEl>
                                          </p:spTgt>
                                        </p:tgtEl>
                                        <p:attrNameLst>
                                          <p:attrName>style.visibility</p:attrName>
                                        </p:attrNameLst>
                                      </p:cBhvr>
                                      <p:to>
                                        <p:strVal val="visible"/>
                                      </p:to>
                                    </p:set>
                                    <p:animEffect transition="in" filter="wipe(left)">
                                      <p:cBhvr>
                                        <p:cTn id="12" dur="500"/>
                                        <p:tgtEl>
                                          <p:spTgt spid="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4">
                                            <p:txEl>
                                              <p:pRg st="2" end="2"/>
                                            </p:txEl>
                                          </p:spTgt>
                                        </p:tgtEl>
                                        <p:attrNameLst>
                                          <p:attrName>style.visibility</p:attrName>
                                        </p:attrNameLst>
                                      </p:cBhvr>
                                      <p:to>
                                        <p:strVal val="visible"/>
                                      </p:to>
                                    </p:set>
                                    <p:animEffect transition="in" filter="wipe(left)">
                                      <p:cBhvr>
                                        <p:cTn id="17" dur="500"/>
                                        <p:tgtEl>
                                          <p:spTgt spid="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uild="p"/>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外提的条件</a:t>
            </a:r>
          </a:p>
        </p:txBody>
      </p:sp>
      <p:grpSp>
        <p:nvGrpSpPr>
          <p:cNvPr id="29" name="Group 2"/>
          <p:cNvGrpSpPr>
            <a:grpSpLocks noChangeAspect="1"/>
          </p:cNvGrpSpPr>
          <p:nvPr/>
        </p:nvGrpSpPr>
        <p:grpSpPr bwMode="auto">
          <a:xfrm>
            <a:off x="2102268" y="1453480"/>
            <a:ext cx="7034324" cy="5002622"/>
            <a:chOff x="845" y="1920"/>
            <a:chExt cx="3612" cy="2448"/>
          </a:xfrm>
        </p:grpSpPr>
        <p:sp>
          <p:nvSpPr>
            <p:cNvPr id="30" name="Rectangle 3"/>
            <p:cNvSpPr>
              <a:spLocks noChangeArrowheads="1"/>
            </p:cNvSpPr>
            <p:nvPr/>
          </p:nvSpPr>
          <p:spPr bwMode="auto">
            <a:xfrm>
              <a:off x="1536" y="2448"/>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(3)	</a:t>
              </a:r>
              <a:r>
                <a:rPr kumimoji="1" lang="en-US" altLang="zh-CN" sz="2646" dirty="0">
                  <a:solidFill>
                    <a:srgbClr val="C00000"/>
                  </a:solidFill>
                  <a:latin typeface="Arial" panose="020B0604020202020204"/>
                  <a:ea typeface="宋体" panose="02010600030101010101" pitchFamily="2" charset="-122"/>
                </a:rPr>
                <a:t>I:=2</a:t>
              </a:r>
            </a:p>
          </p:txBody>
        </p:sp>
        <p:sp>
          <p:nvSpPr>
            <p:cNvPr id="31" name="Rectangle 4"/>
            <p:cNvSpPr>
              <a:spLocks noChangeArrowheads="1"/>
            </p:cNvSpPr>
            <p:nvPr/>
          </p:nvSpPr>
          <p:spPr bwMode="auto">
            <a:xfrm>
              <a:off x="1536" y="2880"/>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(2)   </a:t>
              </a:r>
              <a:r>
                <a:rPr kumimoji="1" lang="en-US" altLang="zh-CN" sz="2646">
                  <a:solidFill>
                    <a:prstClr val="black"/>
                  </a:solidFill>
                  <a:latin typeface="Arial" panose="020B0604020202020204"/>
                  <a:ea typeface="宋体" panose="02010600030101010101" pitchFamily="2" charset="-122"/>
                </a:rPr>
                <a:t>if X&gt;=Y  goto B</a:t>
              </a:r>
              <a:r>
                <a:rPr kumimoji="1" lang="en-US" altLang="zh-CN" sz="2646" baseline="-25000">
                  <a:solidFill>
                    <a:prstClr val="black"/>
                  </a:solidFill>
                  <a:latin typeface="Arial" panose="020B0604020202020204"/>
                  <a:ea typeface="宋体" panose="02010600030101010101" pitchFamily="2" charset="-122"/>
                </a:rPr>
                <a:t>4</a:t>
              </a:r>
            </a:p>
          </p:txBody>
        </p:sp>
        <p:sp>
          <p:nvSpPr>
            <p:cNvPr id="32" name="Rectangle 5"/>
            <p:cNvSpPr>
              <a:spLocks noChangeArrowheads="1"/>
            </p:cNvSpPr>
            <p:nvPr/>
          </p:nvSpPr>
          <p:spPr bwMode="auto">
            <a:xfrm>
              <a:off x="3370" y="2050"/>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1</a:t>
              </a:r>
              <a:endParaRPr kumimoji="1" lang="en-US" altLang="zh-CN" sz="3086" dirty="0">
                <a:solidFill>
                  <a:prstClr val="black"/>
                </a:solidFill>
                <a:latin typeface="Arial" panose="020B0604020202020204"/>
                <a:ea typeface="宋体" panose="02010600030101010101" pitchFamily="2" charset="-122"/>
              </a:endParaRPr>
            </a:p>
          </p:txBody>
        </p:sp>
        <p:sp>
          <p:nvSpPr>
            <p:cNvPr id="33" name="Rectangle 6"/>
            <p:cNvSpPr>
              <a:spLocks noChangeArrowheads="1"/>
            </p:cNvSpPr>
            <p:nvPr/>
          </p:nvSpPr>
          <p:spPr bwMode="auto">
            <a:xfrm>
              <a:off x="3356" y="272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2</a:t>
              </a:r>
              <a:endParaRPr kumimoji="1" lang="en-US" altLang="zh-CN" sz="3086" dirty="0">
                <a:solidFill>
                  <a:prstClr val="black"/>
                </a:solidFill>
                <a:latin typeface="Arial" panose="020B0604020202020204"/>
                <a:ea typeface="宋体" panose="02010600030101010101" pitchFamily="2" charset="-122"/>
              </a:endParaRPr>
            </a:p>
          </p:txBody>
        </p:sp>
        <p:sp>
          <p:nvSpPr>
            <p:cNvPr id="34" name="Rectangle 7"/>
            <p:cNvSpPr>
              <a:spLocks noChangeArrowheads="1"/>
            </p:cNvSpPr>
            <p:nvPr/>
          </p:nvSpPr>
          <p:spPr bwMode="auto">
            <a:xfrm>
              <a:off x="1104" y="3264"/>
              <a:ext cx="1152" cy="43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zh-CN" sz="2646">
                  <a:solidFill>
                    <a:prstClr val="black"/>
                  </a:solidFill>
                  <a:latin typeface="Arial" panose="020B0604020202020204"/>
                  <a:ea typeface="宋体" panose="02010600030101010101" pitchFamily="2" charset="-122"/>
                </a:rPr>
                <a:t>(4)   </a:t>
              </a:r>
              <a:r>
                <a:rPr kumimoji="1" lang="en-US" altLang="zh-CN" sz="2646">
                  <a:solidFill>
                    <a:prstClr val="black"/>
                  </a:solidFill>
                  <a:latin typeface="Arial" panose="020B0604020202020204"/>
                  <a:ea typeface="宋体" panose="02010600030101010101" pitchFamily="2" charset="-122"/>
                </a:rPr>
                <a:t>X:=X+1</a:t>
              </a:r>
            </a:p>
          </p:txBody>
        </p:sp>
        <p:sp>
          <p:nvSpPr>
            <p:cNvPr id="35" name="Rectangle 8"/>
            <p:cNvSpPr>
              <a:spLocks noChangeArrowheads="1"/>
            </p:cNvSpPr>
            <p:nvPr/>
          </p:nvSpPr>
          <p:spPr bwMode="auto">
            <a:xfrm>
              <a:off x="2496" y="3312"/>
              <a:ext cx="1625" cy="43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(5)   </a:t>
              </a:r>
              <a:r>
                <a:rPr kumimoji="1" lang="en-US" altLang="zh-CN" sz="2646">
                  <a:solidFill>
                    <a:prstClr val="black"/>
                  </a:solidFill>
                  <a:latin typeface="Arial" panose="020B0604020202020204"/>
                  <a:ea typeface="宋体" panose="02010600030101010101" pitchFamily="2" charset="-122"/>
                </a:rPr>
                <a:t>Y:=Y-1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(6)   if  Y&gt;20 goto B</a:t>
              </a:r>
              <a:r>
                <a:rPr kumimoji="1" lang="en-US" altLang="zh-CN" sz="2646" baseline="-25000">
                  <a:solidFill>
                    <a:prstClr val="black"/>
                  </a:solidFill>
                  <a:latin typeface="Arial" panose="020B0604020202020204"/>
                  <a:ea typeface="宋体" panose="02010600030101010101" pitchFamily="2" charset="-122"/>
                </a:rPr>
                <a:t>2</a:t>
              </a:r>
              <a:endParaRPr kumimoji="1" lang="en-US" altLang="zh-CN" sz="2646">
                <a:solidFill>
                  <a:prstClr val="black"/>
                </a:solidFill>
                <a:latin typeface="Arial" panose="020B0604020202020204"/>
                <a:ea typeface="宋体" panose="02010600030101010101" pitchFamily="2" charset="-122"/>
              </a:endParaRPr>
            </a:p>
          </p:txBody>
        </p:sp>
        <p:sp>
          <p:nvSpPr>
            <p:cNvPr id="36" name="Rectangle 9"/>
            <p:cNvSpPr>
              <a:spLocks noChangeArrowheads="1"/>
            </p:cNvSpPr>
            <p:nvPr/>
          </p:nvSpPr>
          <p:spPr bwMode="auto">
            <a:xfrm>
              <a:off x="2496" y="3936"/>
              <a:ext cx="1625"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zh-CN" sz="2646">
                  <a:solidFill>
                    <a:prstClr val="black"/>
                  </a:solidFill>
                  <a:latin typeface="Arial" panose="020B0604020202020204"/>
                  <a:ea typeface="宋体" panose="02010600030101010101" pitchFamily="2" charset="-122"/>
                </a:rPr>
                <a:t>(7)   </a:t>
              </a:r>
              <a:r>
                <a:rPr kumimoji="1" lang="en-US" altLang="zh-CN" sz="2646">
                  <a:solidFill>
                    <a:prstClr val="black"/>
                  </a:solidFill>
                  <a:latin typeface="Arial" panose="020B0604020202020204"/>
                  <a:ea typeface="宋体" panose="02010600030101010101" pitchFamily="2" charset="-122"/>
                </a:rPr>
                <a:t>J:=I</a:t>
              </a:r>
            </a:p>
          </p:txBody>
        </p:sp>
        <p:sp>
          <p:nvSpPr>
            <p:cNvPr id="37" name="Line 10"/>
            <p:cNvSpPr>
              <a:spLocks noChangeShapeType="1"/>
            </p:cNvSpPr>
            <p:nvPr/>
          </p:nvSpPr>
          <p:spPr bwMode="auto">
            <a:xfrm>
              <a:off x="2448" y="230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8" name="Line 11"/>
            <p:cNvSpPr>
              <a:spLocks noChangeShapeType="1"/>
            </p:cNvSpPr>
            <p:nvPr/>
          </p:nvSpPr>
          <p:spPr bwMode="auto">
            <a:xfrm>
              <a:off x="2448" y="2688"/>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9" name="Freeform 12"/>
            <p:cNvSpPr>
              <a:spLocks/>
            </p:cNvSpPr>
            <p:nvPr/>
          </p:nvSpPr>
          <p:spPr bwMode="auto">
            <a:xfrm>
              <a:off x="1296" y="2976"/>
              <a:ext cx="240" cy="288"/>
            </a:xfrm>
            <a:custGeom>
              <a:avLst/>
              <a:gdLst>
                <a:gd name="T0" fmla="*/ 240 w 240"/>
                <a:gd name="T1" fmla="*/ 0 h 384"/>
                <a:gd name="T2" fmla="*/ 0 w 240"/>
                <a:gd name="T3" fmla="*/ 0 h 384"/>
                <a:gd name="T4" fmla="*/ 0 w 240"/>
                <a:gd name="T5" fmla="*/ 69 h 384"/>
                <a:gd name="T6" fmla="*/ 0 60000 65536"/>
                <a:gd name="T7" fmla="*/ 0 60000 65536"/>
                <a:gd name="T8" fmla="*/ 0 60000 65536"/>
                <a:gd name="T9" fmla="*/ 0 w 240"/>
                <a:gd name="T10" fmla="*/ 0 h 384"/>
                <a:gd name="T11" fmla="*/ 240 w 240"/>
                <a:gd name="T12" fmla="*/ 384 h 384"/>
              </a:gdLst>
              <a:ahLst/>
              <a:cxnLst>
                <a:cxn ang="T6">
                  <a:pos x="T0" y="T1"/>
                </a:cxn>
                <a:cxn ang="T7">
                  <a:pos x="T2" y="T3"/>
                </a:cxn>
                <a:cxn ang="T8">
                  <a:pos x="T4" y="T5"/>
                </a:cxn>
              </a:cxnLst>
              <a:rect l="T9" t="T10" r="T11" b="T12"/>
              <a:pathLst>
                <a:path w="240" h="384">
                  <a:moveTo>
                    <a:pt x="240" y="0"/>
                  </a:moveTo>
                  <a:lnTo>
                    <a:pt x="0" y="0"/>
                  </a:lnTo>
                  <a:lnTo>
                    <a:pt x="0"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0" name="Freeform 13"/>
            <p:cNvSpPr>
              <a:spLocks/>
            </p:cNvSpPr>
            <p:nvPr/>
          </p:nvSpPr>
          <p:spPr bwMode="auto">
            <a:xfrm>
              <a:off x="3366" y="2976"/>
              <a:ext cx="288" cy="336"/>
            </a:xfrm>
            <a:custGeom>
              <a:avLst/>
              <a:gdLst>
                <a:gd name="T0" fmla="*/ 0 w 288"/>
                <a:gd name="T1" fmla="*/ 0 h 384"/>
                <a:gd name="T2" fmla="*/ 288 w 288"/>
                <a:gd name="T3" fmla="*/ 0 h 384"/>
                <a:gd name="T4" fmla="*/ 288 w 288"/>
                <a:gd name="T5" fmla="*/ 172 h 384"/>
                <a:gd name="T6" fmla="*/ 0 60000 65536"/>
                <a:gd name="T7" fmla="*/ 0 60000 65536"/>
                <a:gd name="T8" fmla="*/ 0 60000 65536"/>
                <a:gd name="T9" fmla="*/ 0 w 288"/>
                <a:gd name="T10" fmla="*/ 0 h 384"/>
                <a:gd name="T11" fmla="*/ 288 w 288"/>
                <a:gd name="T12" fmla="*/ 384 h 384"/>
              </a:gdLst>
              <a:ahLst/>
              <a:cxnLst>
                <a:cxn ang="T6">
                  <a:pos x="T0" y="T1"/>
                </a:cxn>
                <a:cxn ang="T7">
                  <a:pos x="T2" y="T3"/>
                </a:cxn>
                <a:cxn ang="T8">
                  <a:pos x="T4" y="T5"/>
                </a:cxn>
              </a:cxnLst>
              <a:rect l="T9" t="T10" r="T11" b="T12"/>
              <a:pathLst>
                <a:path w="288" h="384">
                  <a:moveTo>
                    <a:pt x="0" y="0"/>
                  </a:moveTo>
                  <a:lnTo>
                    <a:pt x="288" y="0"/>
                  </a:lnTo>
                  <a:lnTo>
                    <a:pt x="288"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1" name="Rectangle 14"/>
            <p:cNvSpPr>
              <a:spLocks noChangeArrowheads="1"/>
            </p:cNvSpPr>
            <p:nvPr/>
          </p:nvSpPr>
          <p:spPr bwMode="auto">
            <a:xfrm>
              <a:off x="845" y="333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3</a:t>
              </a:r>
              <a:endParaRPr kumimoji="1" lang="en-US" altLang="zh-CN" sz="3086" dirty="0">
                <a:solidFill>
                  <a:prstClr val="black"/>
                </a:solidFill>
                <a:latin typeface="Arial" panose="020B0604020202020204"/>
                <a:ea typeface="宋体" panose="02010600030101010101" pitchFamily="2" charset="-122"/>
              </a:endParaRPr>
            </a:p>
          </p:txBody>
        </p:sp>
        <p:sp>
          <p:nvSpPr>
            <p:cNvPr id="42" name="Rectangle 15"/>
            <p:cNvSpPr>
              <a:spLocks noChangeArrowheads="1"/>
            </p:cNvSpPr>
            <p:nvPr/>
          </p:nvSpPr>
          <p:spPr bwMode="auto">
            <a:xfrm>
              <a:off x="4114" y="336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4</a:t>
              </a:r>
              <a:endParaRPr kumimoji="1" lang="en-US" altLang="zh-CN" sz="3086" dirty="0">
                <a:solidFill>
                  <a:prstClr val="black"/>
                </a:solidFill>
                <a:latin typeface="Arial" panose="020B0604020202020204"/>
                <a:ea typeface="宋体" panose="02010600030101010101" pitchFamily="2" charset="-122"/>
              </a:endParaRPr>
            </a:p>
          </p:txBody>
        </p:sp>
        <p:sp>
          <p:nvSpPr>
            <p:cNvPr id="43" name="Rectangle 16"/>
            <p:cNvSpPr>
              <a:spLocks noChangeArrowheads="1"/>
            </p:cNvSpPr>
            <p:nvPr/>
          </p:nvSpPr>
          <p:spPr bwMode="auto">
            <a:xfrm>
              <a:off x="4121" y="391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5</a:t>
              </a:r>
              <a:endParaRPr kumimoji="1" lang="en-US" altLang="zh-CN" sz="3086" dirty="0">
                <a:solidFill>
                  <a:prstClr val="black"/>
                </a:solidFill>
                <a:latin typeface="Arial" panose="020B0604020202020204"/>
                <a:ea typeface="宋体" panose="02010600030101010101" pitchFamily="2" charset="-122"/>
              </a:endParaRPr>
            </a:p>
          </p:txBody>
        </p:sp>
        <p:sp>
          <p:nvSpPr>
            <p:cNvPr id="44" name="Line 17"/>
            <p:cNvSpPr>
              <a:spLocks noChangeShapeType="1"/>
            </p:cNvSpPr>
            <p:nvPr/>
          </p:nvSpPr>
          <p:spPr bwMode="auto">
            <a:xfrm>
              <a:off x="3408" y="4176"/>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5" name="Line 18"/>
            <p:cNvSpPr>
              <a:spLocks noChangeShapeType="1"/>
            </p:cNvSpPr>
            <p:nvPr/>
          </p:nvSpPr>
          <p:spPr bwMode="auto">
            <a:xfrm>
              <a:off x="3408" y="3744"/>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6" name="Freeform 19"/>
            <p:cNvSpPr>
              <a:spLocks/>
            </p:cNvSpPr>
            <p:nvPr/>
          </p:nvSpPr>
          <p:spPr bwMode="auto">
            <a:xfrm>
              <a:off x="2832" y="2736"/>
              <a:ext cx="1625" cy="1152"/>
            </a:xfrm>
            <a:custGeom>
              <a:avLst/>
              <a:gdLst>
                <a:gd name="T0" fmla="*/ 864 w 1872"/>
                <a:gd name="T1" fmla="*/ 476 h 1344"/>
                <a:gd name="T2" fmla="*/ 864 w 1872"/>
                <a:gd name="T3" fmla="*/ 532 h 1344"/>
                <a:gd name="T4" fmla="*/ 1872 w 1872"/>
                <a:gd name="T5" fmla="*/ 532 h 1344"/>
                <a:gd name="T6" fmla="*/ 1872 w 1872"/>
                <a:gd name="T7" fmla="*/ 0 h 1344"/>
                <a:gd name="T8" fmla="*/ 0 w 1872"/>
                <a:gd name="T9" fmla="*/ 0 h 1344"/>
                <a:gd name="T10" fmla="*/ 0 w 1872"/>
                <a:gd name="T11" fmla="*/ 57 h 1344"/>
                <a:gd name="T12" fmla="*/ 0 60000 65536"/>
                <a:gd name="T13" fmla="*/ 0 60000 65536"/>
                <a:gd name="T14" fmla="*/ 0 60000 65536"/>
                <a:gd name="T15" fmla="*/ 0 60000 65536"/>
                <a:gd name="T16" fmla="*/ 0 60000 65536"/>
                <a:gd name="T17" fmla="*/ 0 60000 65536"/>
                <a:gd name="T18" fmla="*/ 0 w 1872"/>
                <a:gd name="T19" fmla="*/ 0 h 1344"/>
                <a:gd name="T20" fmla="*/ 1872 w 1872"/>
                <a:gd name="T21" fmla="*/ 1344 h 1344"/>
              </a:gdLst>
              <a:ahLst/>
              <a:cxnLst>
                <a:cxn ang="T12">
                  <a:pos x="T0" y="T1"/>
                </a:cxn>
                <a:cxn ang="T13">
                  <a:pos x="T2" y="T3"/>
                </a:cxn>
                <a:cxn ang="T14">
                  <a:pos x="T4" y="T5"/>
                </a:cxn>
                <a:cxn ang="T15">
                  <a:pos x="T6" y="T7"/>
                </a:cxn>
                <a:cxn ang="T16">
                  <a:pos x="T8" y="T9"/>
                </a:cxn>
                <a:cxn ang="T17">
                  <a:pos x="T10" y="T11"/>
                </a:cxn>
              </a:cxnLst>
              <a:rect l="T18" t="T19" r="T20" b="T21"/>
              <a:pathLst>
                <a:path w="1872" h="1344">
                  <a:moveTo>
                    <a:pt x="864" y="1200"/>
                  </a:moveTo>
                  <a:lnTo>
                    <a:pt x="864" y="1344"/>
                  </a:lnTo>
                  <a:lnTo>
                    <a:pt x="1872" y="1344"/>
                  </a:lnTo>
                  <a:lnTo>
                    <a:pt x="1872" y="0"/>
                  </a:lnTo>
                  <a:lnTo>
                    <a:pt x="0" y="0"/>
                  </a:lnTo>
                  <a:lnTo>
                    <a:pt x="0"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7" name="Freeform 20"/>
            <p:cNvSpPr>
              <a:spLocks/>
            </p:cNvSpPr>
            <p:nvPr/>
          </p:nvSpPr>
          <p:spPr bwMode="auto">
            <a:xfrm>
              <a:off x="1728" y="3168"/>
              <a:ext cx="1248" cy="672"/>
            </a:xfrm>
            <a:custGeom>
              <a:avLst/>
              <a:gdLst>
                <a:gd name="T0" fmla="*/ 0 w 1248"/>
                <a:gd name="T1" fmla="*/ 528 h 672"/>
                <a:gd name="T2" fmla="*/ 0 w 1248"/>
                <a:gd name="T3" fmla="*/ 672 h 672"/>
                <a:gd name="T4" fmla="*/ 624 w 1248"/>
                <a:gd name="T5" fmla="*/ 672 h 672"/>
                <a:gd name="T6" fmla="*/ 624 w 1248"/>
                <a:gd name="T7" fmla="*/ 0 h 672"/>
                <a:gd name="T8" fmla="*/ 1248 w 1248"/>
                <a:gd name="T9" fmla="*/ 0 h 672"/>
                <a:gd name="T10" fmla="*/ 1248 w 1248"/>
                <a:gd name="T11" fmla="*/ 144 h 672"/>
                <a:gd name="T12" fmla="*/ 0 60000 65536"/>
                <a:gd name="T13" fmla="*/ 0 60000 65536"/>
                <a:gd name="T14" fmla="*/ 0 60000 65536"/>
                <a:gd name="T15" fmla="*/ 0 60000 65536"/>
                <a:gd name="T16" fmla="*/ 0 60000 65536"/>
                <a:gd name="T17" fmla="*/ 0 60000 65536"/>
                <a:gd name="T18" fmla="*/ 0 w 1248"/>
                <a:gd name="T19" fmla="*/ 0 h 672"/>
                <a:gd name="T20" fmla="*/ 1248 w 1248"/>
                <a:gd name="T21" fmla="*/ 672 h 672"/>
              </a:gdLst>
              <a:ahLst/>
              <a:cxnLst>
                <a:cxn ang="T12">
                  <a:pos x="T0" y="T1"/>
                </a:cxn>
                <a:cxn ang="T13">
                  <a:pos x="T2" y="T3"/>
                </a:cxn>
                <a:cxn ang="T14">
                  <a:pos x="T4" y="T5"/>
                </a:cxn>
                <a:cxn ang="T15">
                  <a:pos x="T6" y="T7"/>
                </a:cxn>
                <a:cxn ang="T16">
                  <a:pos x="T8" y="T9"/>
                </a:cxn>
                <a:cxn ang="T17">
                  <a:pos x="T10" y="T11"/>
                </a:cxn>
              </a:cxnLst>
              <a:rect l="T18" t="T19" r="T20" b="T21"/>
              <a:pathLst>
                <a:path w="1248" h="672">
                  <a:moveTo>
                    <a:pt x="0" y="528"/>
                  </a:moveTo>
                  <a:lnTo>
                    <a:pt x="0" y="672"/>
                  </a:lnTo>
                  <a:lnTo>
                    <a:pt x="624" y="672"/>
                  </a:lnTo>
                  <a:lnTo>
                    <a:pt x="624" y="0"/>
                  </a:lnTo>
                  <a:lnTo>
                    <a:pt x="1248" y="0"/>
                  </a:lnTo>
                  <a:lnTo>
                    <a:pt x="1248"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8" name="Rectangle 21"/>
            <p:cNvSpPr>
              <a:spLocks noChangeArrowheads="1"/>
            </p:cNvSpPr>
            <p:nvPr/>
          </p:nvSpPr>
          <p:spPr bwMode="auto">
            <a:xfrm>
              <a:off x="1536" y="206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49" name="Line 22"/>
            <p:cNvSpPr>
              <a:spLocks noChangeShapeType="1"/>
            </p:cNvSpPr>
            <p:nvPr/>
          </p:nvSpPr>
          <p:spPr bwMode="auto">
            <a:xfrm>
              <a:off x="2448" y="1920"/>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0" name="Rectangle 23"/>
            <p:cNvSpPr>
              <a:spLocks noChangeArrowheads="1"/>
            </p:cNvSpPr>
            <p:nvPr/>
          </p:nvSpPr>
          <p:spPr bwMode="auto">
            <a:xfrm>
              <a:off x="3384" y="242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2</a:t>
              </a:r>
              <a:r>
                <a:rPr kumimoji="1" lang="en-US" altLang="zh-CN" sz="3086" baseline="30000" dirty="0">
                  <a:solidFill>
                    <a:prstClr val="black"/>
                  </a:solidFill>
                  <a:latin typeface="Arial" panose="020B0604020202020204"/>
                  <a:ea typeface="宋体" panose="02010600030101010101" pitchFamily="2" charset="-122"/>
                </a:rPr>
                <a:t>’</a:t>
              </a:r>
              <a:endParaRPr kumimoji="1" lang="en-US" altLang="zh-CN" sz="3086" dirty="0">
                <a:solidFill>
                  <a:prstClr val="black"/>
                </a:solidFill>
                <a:latin typeface="Arial" panose="020B0604020202020204"/>
                <a:ea typeface="宋体" panose="02010600030101010101" pitchFamily="2" charset="-122"/>
              </a:endParaRPr>
            </a:p>
          </p:txBody>
        </p:sp>
      </p:grpSp>
      <p:sp>
        <p:nvSpPr>
          <p:cNvPr id="51" name="文本框 50"/>
          <p:cNvSpPr txBox="1"/>
          <p:nvPr/>
        </p:nvSpPr>
        <p:spPr>
          <a:xfrm>
            <a:off x="243599" y="6186895"/>
            <a:ext cx="8531962" cy="1313821"/>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defTabSz="503972" rtl="0" fontAlgn="auto" hangingPunct="1">
              <a:lnSpc>
                <a:spcPct val="100000"/>
              </a:lnSpc>
              <a:spcBef>
                <a:spcPts val="0"/>
              </a:spcBef>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X=30,  Y=25</a:t>
            </a:r>
          </a:p>
          <a:p>
            <a:pPr defTabSz="503972" rtl="0" fontAlgn="auto" hangingPunct="1">
              <a:lnSpc>
                <a:spcPct val="100000"/>
              </a:lnSpc>
              <a:spcBef>
                <a:spcPts val="0"/>
              </a:spcBef>
              <a:spcAft>
                <a:spcPts val="0"/>
              </a:spcAft>
              <a:buSzTx/>
            </a:pPr>
            <a:r>
              <a:rPr lang="en-US" altLang="zh-CN" sz="2646" dirty="0">
                <a:solidFill>
                  <a:prstClr val="black"/>
                </a:solidFill>
                <a:latin typeface="Arial" panose="020B0604020202020204"/>
                <a:ea typeface="黑体" panose="02010609060101010101" pitchFamily="49" charset="-122"/>
              </a:rPr>
              <a:t>B</a:t>
            </a:r>
            <a:r>
              <a:rPr lang="en-US" altLang="zh-CN" sz="2646" baseline="-25000" dirty="0">
                <a:solidFill>
                  <a:prstClr val="black"/>
                </a:solidFill>
                <a:latin typeface="Arial" panose="020B0604020202020204"/>
                <a:ea typeface="黑体" panose="02010609060101010101" pitchFamily="49" charset="-122"/>
              </a:rPr>
              <a:t>1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dirty="0">
                <a:solidFill>
                  <a:prstClr val="black"/>
                </a:solidFill>
                <a:latin typeface="Arial" panose="020B0604020202020204"/>
                <a:ea typeface="黑体" panose="02010609060101010101" pitchFamily="49" charset="-122"/>
              </a:rPr>
              <a:t> B</a:t>
            </a:r>
            <a:r>
              <a:rPr lang="en-US" altLang="zh-CN" sz="2646" baseline="-25000" dirty="0">
                <a:solidFill>
                  <a:prstClr val="black"/>
                </a:solidFill>
                <a:latin typeface="Arial" panose="020B0604020202020204"/>
                <a:ea typeface="黑体" panose="02010609060101010101" pitchFamily="49" charset="-122"/>
              </a:rPr>
              <a:t>2</a:t>
            </a:r>
            <a:r>
              <a:rPr lang="en-US" altLang="zh-CN" sz="2646" dirty="0">
                <a:solidFill>
                  <a:prstClr val="black"/>
                </a:solidFill>
                <a:latin typeface="Arial" panose="020B0604020202020204"/>
                <a:ea typeface="黑体" panose="02010609060101010101" pitchFamily="49" charset="-122"/>
              </a:rPr>
              <a:t>'</a:t>
            </a:r>
            <a:r>
              <a:rPr lang="en-US" altLang="zh-CN"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dirty="0">
                <a:solidFill>
                  <a:prstClr val="black"/>
                </a:solidFill>
                <a:latin typeface="Arial" panose="020B0604020202020204"/>
                <a:ea typeface="黑体" panose="02010609060101010101" pitchFamily="49" charset="-122"/>
              </a:rPr>
              <a:t> B</a:t>
            </a:r>
            <a:r>
              <a:rPr lang="en-US" altLang="zh-CN" sz="2646" baseline="-25000" dirty="0">
                <a:solidFill>
                  <a:prstClr val="black"/>
                </a:solidFill>
                <a:latin typeface="Arial" panose="020B0604020202020204"/>
                <a:ea typeface="黑体" panose="02010609060101010101" pitchFamily="49" charset="-122"/>
              </a:rPr>
              <a:t>2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B</a:t>
            </a:r>
            <a:r>
              <a:rPr lang="en-US" altLang="zh-CN" sz="2646" baseline="-25000" dirty="0">
                <a:solidFill>
                  <a:prstClr val="black"/>
                </a:solidFill>
                <a:latin typeface="Arial" panose="020B0604020202020204"/>
                <a:ea typeface="黑体" panose="02010609060101010101" pitchFamily="49" charset="-122"/>
              </a:rPr>
              <a:t>4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dirty="0">
                <a:solidFill>
                  <a:prstClr val="black"/>
                </a:solidFill>
              </a:rPr>
              <a:t> B</a:t>
            </a:r>
            <a:r>
              <a:rPr lang="en-US" altLang="zh-CN" sz="2646" baseline="-25000" dirty="0">
                <a:solidFill>
                  <a:prstClr val="black"/>
                </a:solidFill>
              </a:rPr>
              <a:t>2 </a:t>
            </a:r>
            <a:r>
              <a:rPr lang="en-US" altLang="zh-CN" sz="2646" dirty="0">
                <a:solidFill>
                  <a:prstClr val="black"/>
                </a:solidFill>
                <a:sym typeface="Symbol" panose="05050102010706020507" pitchFamily="18" charset="2"/>
              </a:rPr>
              <a:t></a:t>
            </a:r>
            <a:r>
              <a:rPr lang="en-US" altLang="zh-CN" sz="2646" baseline="-25000" dirty="0">
                <a:solidFill>
                  <a:prstClr val="black"/>
                </a:solidFill>
              </a:rPr>
              <a:t> </a:t>
            </a:r>
            <a:r>
              <a:rPr lang="en-US" altLang="zh-CN" sz="2646" dirty="0">
                <a:solidFill>
                  <a:prstClr val="black"/>
                </a:solidFill>
              </a:rPr>
              <a:t>B</a:t>
            </a:r>
            <a:r>
              <a:rPr lang="en-US" altLang="zh-CN" sz="2646" baseline="-25000" dirty="0">
                <a:solidFill>
                  <a:prstClr val="black"/>
                </a:solidFill>
              </a:rPr>
              <a:t>4 </a:t>
            </a:r>
            <a:r>
              <a:rPr lang="en-US" altLang="zh-CN" sz="2646" dirty="0">
                <a:solidFill>
                  <a:prstClr val="black"/>
                </a:solidFill>
                <a:sym typeface="Symbol" panose="05050102010706020507" pitchFamily="18" charset="2"/>
              </a:rPr>
              <a:t></a:t>
            </a:r>
            <a:r>
              <a:rPr lang="en-US" altLang="zh-CN"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a:t>
            </a:r>
            <a:r>
              <a:rPr lang="zh-CN" altLang="en-US" sz="2646" baseline="-25000" dirty="0">
                <a:solidFill>
                  <a:prstClr val="black"/>
                </a:solidFill>
                <a:latin typeface="Arial" panose="020B0604020202020204"/>
                <a:ea typeface="黑体" panose="02010609060101010101" pitchFamily="49" charset="-122"/>
              </a:rPr>
              <a:t>  </a:t>
            </a:r>
            <a:r>
              <a:rPr lang="zh-CN" altLang="en-US" sz="2646" dirty="0">
                <a:solidFill>
                  <a:prstClr val="black"/>
                </a:solidFill>
                <a:latin typeface="Arial" panose="020B0604020202020204"/>
                <a:ea typeface="黑体" panose="02010609060101010101" pitchFamily="49" charset="-122"/>
                <a:sym typeface="Symbol" panose="05050102010706020507" pitchFamily="18" charset="2"/>
              </a:rPr>
              <a:t></a:t>
            </a:r>
            <a:r>
              <a:rPr lang="zh-CN" altLang="en-US"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B</a:t>
            </a:r>
            <a:r>
              <a:rPr lang="en-US" altLang="zh-CN" sz="2646" baseline="-25000" dirty="0">
                <a:solidFill>
                  <a:prstClr val="black"/>
                </a:solidFill>
                <a:latin typeface="Arial" panose="020B0604020202020204"/>
                <a:ea typeface="黑体" panose="02010609060101010101" pitchFamily="49" charset="-122"/>
              </a:rPr>
              <a:t>2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B</a:t>
            </a:r>
            <a:r>
              <a:rPr lang="en-US" altLang="zh-CN" sz="2646" baseline="-25000" dirty="0">
                <a:solidFill>
                  <a:prstClr val="black"/>
                </a:solidFill>
                <a:latin typeface="Arial" panose="020B0604020202020204"/>
                <a:ea typeface="黑体" panose="02010609060101010101" pitchFamily="49" charset="-122"/>
              </a:rPr>
              <a:t>4 </a:t>
            </a:r>
            <a:r>
              <a:rPr lang="en-US" altLang="zh-CN" sz="2646" dirty="0">
                <a:solidFill>
                  <a:prstClr val="black"/>
                </a:solidFill>
                <a:latin typeface="Arial" panose="020B0604020202020204"/>
                <a:ea typeface="黑体" panose="02010609060101010101" pitchFamily="49" charset="-122"/>
                <a:sym typeface="Symbol" panose="05050102010706020507" pitchFamily="18" charset="2"/>
              </a:rPr>
              <a:t></a:t>
            </a:r>
            <a:r>
              <a:rPr lang="en-US" altLang="zh-CN" sz="2646" baseline="-25000" dirty="0">
                <a:solidFill>
                  <a:prstClr val="black"/>
                </a:solidFill>
                <a:latin typeface="Arial" panose="020B0604020202020204"/>
                <a:ea typeface="黑体" panose="02010609060101010101" pitchFamily="49" charset="-122"/>
              </a:rPr>
              <a:t> </a:t>
            </a:r>
            <a:r>
              <a:rPr lang="en-US" altLang="zh-CN" sz="2646" dirty="0">
                <a:solidFill>
                  <a:prstClr val="black"/>
                </a:solidFill>
                <a:latin typeface="Arial" panose="020B0604020202020204"/>
                <a:ea typeface="黑体" panose="02010609060101010101" pitchFamily="49" charset="-122"/>
              </a:rPr>
              <a:t>B</a:t>
            </a:r>
            <a:r>
              <a:rPr lang="en-US" altLang="zh-CN" sz="2646" baseline="-25000" dirty="0">
                <a:solidFill>
                  <a:prstClr val="black"/>
                </a:solidFill>
                <a:latin typeface="Arial" panose="020B0604020202020204"/>
                <a:ea typeface="黑体" panose="02010609060101010101" pitchFamily="49" charset="-122"/>
              </a:rPr>
              <a:t>5</a:t>
            </a:r>
            <a:endParaRPr lang="en-US" altLang="zh-CN" sz="2646" dirty="0">
              <a:solidFill>
                <a:prstClr val="black"/>
              </a:solidFill>
              <a:latin typeface="Arial" panose="020B0604020202020204"/>
              <a:ea typeface="黑体" panose="02010609060101010101" pitchFamily="49" charset="-122"/>
            </a:endParaRPr>
          </a:p>
          <a:p>
            <a:pPr defTabSz="503972" rtl="0" fontAlgn="auto" hangingPunct="1">
              <a:lnSpc>
                <a:spcPct val="100000"/>
              </a:lnSpc>
              <a:spcBef>
                <a:spcPts val="0"/>
              </a:spcBef>
              <a:spcAft>
                <a:spcPts val="0"/>
              </a:spcAft>
              <a:buSzTx/>
            </a:pPr>
            <a:r>
              <a:rPr lang="en-US" altLang="zh-CN" sz="2646" dirty="0">
                <a:solidFill>
                  <a:prstClr val="black"/>
                </a:solidFill>
                <a:latin typeface="微软雅黑" panose="020B0503020204020204" pitchFamily="34" charset="-122"/>
                <a:ea typeface="黑体" panose="02010609060101010101" pitchFamily="49" charset="-122"/>
              </a:rPr>
              <a:t>I=2, J=2</a:t>
            </a:r>
          </a:p>
        </p:txBody>
      </p:sp>
    </p:spTree>
    <p:extLst>
      <p:ext uri="{BB962C8B-B14F-4D97-AF65-F5344CB8AC3E}">
        <p14:creationId xmlns:p14="http://schemas.microsoft.com/office/powerpoint/2010/main" val="3226602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animEffect transition="in" filter="wipe(left)">
                                      <p:cBhvr>
                                        <p:cTn id="7" dur="500"/>
                                        <p:tgtEl>
                                          <p:spTgt spid="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
                                            <p:txEl>
                                              <p:pRg st="1" end="1"/>
                                            </p:txEl>
                                          </p:spTgt>
                                        </p:tgtEl>
                                        <p:attrNameLst>
                                          <p:attrName>style.visibility</p:attrName>
                                        </p:attrNameLst>
                                      </p:cBhvr>
                                      <p:to>
                                        <p:strVal val="visible"/>
                                      </p:to>
                                    </p:set>
                                    <p:animEffect transition="in" filter="wipe(left)">
                                      <p:cBhvr>
                                        <p:cTn id="12" dur="500"/>
                                        <p:tgtEl>
                                          <p:spTgt spid="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
                                            <p:txEl>
                                              <p:pRg st="2" end="2"/>
                                            </p:txEl>
                                          </p:spTgt>
                                        </p:tgtEl>
                                        <p:attrNameLst>
                                          <p:attrName>style.visibility</p:attrName>
                                        </p:attrNameLst>
                                      </p:cBhvr>
                                      <p:to>
                                        <p:strVal val="visible"/>
                                      </p:to>
                                    </p:set>
                                    <p:animEffect transition="in" filter="wipe(left)">
                                      <p:cBhvr>
                                        <p:cTn id="17" dur="500"/>
                                        <p:tgtEl>
                                          <p:spTgt spid="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外提的条件</a:t>
            </a:r>
          </a:p>
        </p:txBody>
      </p:sp>
      <p:sp>
        <p:nvSpPr>
          <p:cNvPr id="62507" name="Rectangle 43"/>
          <p:cNvSpPr>
            <a:spLocks noGrp="1" noChangeArrowheads="1"/>
          </p:cNvSpPr>
          <p:nvPr>
            <p:ph idx="1"/>
          </p:nvPr>
        </p:nvSpPr>
        <p:spPr/>
        <p:txBody>
          <a:bodyPr/>
          <a:lstStyle/>
          <a:p>
            <a:r>
              <a:rPr lang="zh-CN" altLang="en-US" dirty="0"/>
              <a:t>不变运算所在的结点是</a:t>
            </a:r>
            <a:r>
              <a:rPr lang="en-US" altLang="zh-CN" dirty="0"/>
              <a:t>L</a:t>
            </a:r>
            <a:r>
              <a:rPr lang="zh-CN" altLang="en-US" dirty="0"/>
              <a:t>所有出口结点的必经结点</a:t>
            </a:r>
          </a:p>
        </p:txBody>
      </p:sp>
      <p:sp>
        <p:nvSpPr>
          <p:cNvPr id="62548" name="Text Box 84"/>
          <p:cNvSpPr txBox="1">
            <a:spLocks noChangeArrowheads="1"/>
          </p:cNvSpPr>
          <p:nvPr/>
        </p:nvSpPr>
        <p:spPr bwMode="auto">
          <a:xfrm>
            <a:off x="1691257" y="6685296"/>
            <a:ext cx="1585973" cy="499496"/>
          </a:xfrm>
          <a:prstGeom prst="rect">
            <a:avLst/>
          </a:prstGeom>
          <a:ln>
            <a:headEnd/>
            <a:tailEnd type="none" w="lg" len="lg"/>
          </a:ln>
        </p:spPr>
        <p:style>
          <a:lnRef idx="3">
            <a:schemeClr val="lt1"/>
          </a:lnRef>
          <a:fillRef idx="1">
            <a:schemeClr val="accent1"/>
          </a:fillRef>
          <a:effectRef idx="1">
            <a:schemeClr val="accent1"/>
          </a:effectRef>
          <a:fontRef idx="minor">
            <a:schemeClr val="lt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GB" altLang="zh-CN" sz="2646">
                <a:solidFill>
                  <a:prstClr val="white"/>
                </a:solidFill>
                <a:latin typeface="Arial" panose="020B0604020202020204"/>
                <a:ea typeface="宋体" panose="02010600030101010101" pitchFamily="2" charset="-122"/>
              </a:rPr>
              <a:t>I=1, J=1</a:t>
            </a:r>
          </a:p>
        </p:txBody>
      </p:sp>
      <p:sp>
        <p:nvSpPr>
          <p:cNvPr id="62549" name="Text Box 85"/>
          <p:cNvSpPr txBox="1">
            <a:spLocks noChangeArrowheads="1"/>
          </p:cNvSpPr>
          <p:nvPr/>
        </p:nvSpPr>
        <p:spPr bwMode="auto">
          <a:xfrm>
            <a:off x="7043418" y="6685296"/>
            <a:ext cx="1585973" cy="499496"/>
          </a:xfrm>
          <a:prstGeom prst="rect">
            <a:avLst/>
          </a:prstGeom>
          <a:ln>
            <a:headEnd/>
            <a:tailEnd type="none" w="lg" len="lg"/>
          </a:ln>
        </p:spPr>
        <p:style>
          <a:lnRef idx="3">
            <a:schemeClr val="lt1"/>
          </a:lnRef>
          <a:fillRef idx="1">
            <a:schemeClr val="accent1"/>
          </a:fillRef>
          <a:effectRef idx="1">
            <a:schemeClr val="accent1"/>
          </a:effectRef>
          <a:fontRef idx="minor">
            <a:schemeClr val="lt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GB" altLang="zh-CN" sz="2646" dirty="0">
                <a:solidFill>
                  <a:prstClr val="white"/>
                </a:solidFill>
                <a:latin typeface="Arial" panose="020B0604020202020204"/>
                <a:ea typeface="宋体" panose="02010600030101010101" pitchFamily="2" charset="-122"/>
              </a:rPr>
              <a:t>I=2, J=2</a:t>
            </a:r>
          </a:p>
        </p:txBody>
      </p:sp>
      <p:pic>
        <p:nvPicPr>
          <p:cNvPr id="5" name="图片 4"/>
          <p:cNvPicPr>
            <a:picLocks noChangeAspect="1"/>
          </p:cNvPicPr>
          <p:nvPr/>
        </p:nvPicPr>
        <p:blipFill>
          <a:blip r:embed="rId3"/>
          <a:stretch>
            <a:fillRect/>
          </a:stretch>
        </p:blipFill>
        <p:spPr>
          <a:xfrm>
            <a:off x="-24175" y="3354979"/>
            <a:ext cx="4831219" cy="2939793"/>
          </a:xfrm>
          <a:prstGeom prst="rect">
            <a:avLst/>
          </a:prstGeom>
        </p:spPr>
      </p:pic>
      <p:pic>
        <p:nvPicPr>
          <p:cNvPr id="6" name="图片 5"/>
          <p:cNvPicPr>
            <a:picLocks noChangeAspect="1"/>
          </p:cNvPicPr>
          <p:nvPr/>
        </p:nvPicPr>
        <p:blipFill>
          <a:blip r:embed="rId4"/>
          <a:stretch>
            <a:fillRect/>
          </a:stretch>
        </p:blipFill>
        <p:spPr>
          <a:xfrm>
            <a:off x="4956845" y="3104124"/>
            <a:ext cx="4883637" cy="3490184"/>
          </a:xfrm>
          <a:prstGeom prst="rect">
            <a:avLst/>
          </a:prstGeom>
        </p:spPr>
      </p:pic>
    </p:spTree>
    <p:extLst>
      <p:ext uri="{BB962C8B-B14F-4D97-AF65-F5344CB8AC3E}">
        <p14:creationId xmlns:p14="http://schemas.microsoft.com/office/powerpoint/2010/main" val="1704891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5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5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2507">
                                            <p:txEl>
                                              <p:pRg st="0" end="0"/>
                                            </p:txEl>
                                          </p:spTgt>
                                        </p:tgtEl>
                                        <p:attrNameLst>
                                          <p:attrName>style.visibility</p:attrName>
                                        </p:attrNameLst>
                                      </p:cBhvr>
                                      <p:to>
                                        <p:strVal val="visible"/>
                                      </p:to>
                                    </p:set>
                                    <p:animEffect transition="in" filter="wipe(left)">
                                      <p:cBhvr>
                                        <p:cTn id="15" dur="500"/>
                                        <p:tgtEl>
                                          <p:spTgt spid="625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07" grpId="0" build="p"/>
      <p:bldP spid="62548" grpId="0" animBg="1"/>
      <p:bldP spid="62549" grpId="0" animBg="1"/>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外提的条件</a:t>
            </a:r>
          </a:p>
        </p:txBody>
      </p:sp>
      <p:grpSp>
        <p:nvGrpSpPr>
          <p:cNvPr id="24" name="Group 21"/>
          <p:cNvGrpSpPr>
            <a:grpSpLocks/>
          </p:cNvGrpSpPr>
          <p:nvPr/>
        </p:nvGrpSpPr>
        <p:grpSpPr bwMode="auto">
          <a:xfrm>
            <a:off x="2001544" y="1141060"/>
            <a:ext cx="7129194" cy="5200776"/>
            <a:chOff x="584" y="196"/>
            <a:chExt cx="4074" cy="2972"/>
          </a:xfrm>
        </p:grpSpPr>
        <p:sp>
          <p:nvSpPr>
            <p:cNvPr id="25" name="Rectangle 3"/>
            <p:cNvSpPr>
              <a:spLocks noChangeArrowheads="1"/>
            </p:cNvSpPr>
            <p:nvPr/>
          </p:nvSpPr>
          <p:spPr bwMode="auto">
            <a:xfrm>
              <a:off x="1392" y="384"/>
              <a:ext cx="2052" cy="31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(1)	</a:t>
              </a:r>
              <a:r>
                <a:rPr kumimoji="1" lang="en-US" altLang="zh-CN" sz="2646" dirty="0">
                  <a:solidFill>
                    <a:prstClr val="black"/>
                  </a:solidFill>
                  <a:latin typeface="Arial" panose="020B0604020202020204"/>
                  <a:ea typeface="宋体" panose="02010600030101010101" pitchFamily="2" charset="-122"/>
                </a:rPr>
                <a:t>I:=1</a:t>
              </a:r>
            </a:p>
          </p:txBody>
        </p:sp>
        <p:sp>
          <p:nvSpPr>
            <p:cNvPr id="26" name="Rectangle 4"/>
            <p:cNvSpPr>
              <a:spLocks noChangeArrowheads="1"/>
            </p:cNvSpPr>
            <p:nvPr/>
          </p:nvSpPr>
          <p:spPr bwMode="auto">
            <a:xfrm>
              <a:off x="1390" y="960"/>
              <a:ext cx="2052" cy="583"/>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FF3300"/>
                  </a:solidFill>
                  <a:latin typeface="Arial" panose="020B0604020202020204"/>
                  <a:ea typeface="宋体" panose="02010600030101010101" pitchFamily="2" charset="-122"/>
                </a:rPr>
                <a:t>(2</a:t>
              </a:r>
              <a:r>
                <a:rPr kumimoji="1" lang="en-US" altLang="zh-CN" sz="2646" dirty="0">
                  <a:solidFill>
                    <a:srgbClr val="FF3300"/>
                  </a:solidFill>
                  <a:latin typeface="Arial" panose="020B0604020202020204"/>
                  <a:ea typeface="宋体" panose="02010600030101010101" pitchFamily="2" charset="-122"/>
                </a:rPr>
                <a:t>’)  I:=3</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X&gt;=Y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4</a:t>
              </a:r>
            </a:p>
          </p:txBody>
        </p:sp>
        <p:sp>
          <p:nvSpPr>
            <p:cNvPr id="27" name="Rectangle 5"/>
            <p:cNvSpPr>
              <a:spLocks noChangeArrowheads="1"/>
            </p:cNvSpPr>
            <p:nvPr/>
          </p:nvSpPr>
          <p:spPr bwMode="auto">
            <a:xfrm>
              <a:off x="3452" y="339"/>
              <a:ext cx="293"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1</a:t>
              </a:r>
              <a:endParaRPr kumimoji="1" lang="en-US" altLang="zh-CN" sz="3086" dirty="0">
                <a:solidFill>
                  <a:prstClr val="black"/>
                </a:solidFill>
                <a:latin typeface="Arial" panose="020B0604020202020204"/>
                <a:ea typeface="宋体" panose="02010600030101010101" pitchFamily="2" charset="-122"/>
              </a:endParaRPr>
            </a:p>
          </p:txBody>
        </p:sp>
        <p:sp>
          <p:nvSpPr>
            <p:cNvPr id="28" name="Rectangle 6"/>
            <p:cNvSpPr>
              <a:spLocks noChangeArrowheads="1"/>
            </p:cNvSpPr>
            <p:nvPr/>
          </p:nvSpPr>
          <p:spPr bwMode="auto">
            <a:xfrm>
              <a:off x="3466" y="944"/>
              <a:ext cx="293"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2</a:t>
              </a:r>
              <a:endParaRPr kumimoji="1" lang="en-US" altLang="zh-CN" sz="3086" dirty="0">
                <a:solidFill>
                  <a:prstClr val="black"/>
                </a:solidFill>
                <a:latin typeface="Arial" panose="020B0604020202020204"/>
                <a:ea typeface="宋体" panose="02010600030101010101" pitchFamily="2" charset="-122"/>
              </a:endParaRPr>
            </a:p>
          </p:txBody>
        </p:sp>
        <p:sp>
          <p:nvSpPr>
            <p:cNvPr id="29" name="Rectangle 7"/>
            <p:cNvSpPr>
              <a:spLocks noChangeArrowheads="1"/>
            </p:cNvSpPr>
            <p:nvPr/>
          </p:nvSpPr>
          <p:spPr bwMode="auto">
            <a:xfrm>
              <a:off x="905" y="1730"/>
              <a:ext cx="1292" cy="563"/>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I:=2</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(4)   X:=X+1</a:t>
              </a:r>
            </a:p>
          </p:txBody>
        </p:sp>
        <p:sp>
          <p:nvSpPr>
            <p:cNvPr id="30" name="Rectangle 8"/>
            <p:cNvSpPr>
              <a:spLocks noChangeArrowheads="1"/>
            </p:cNvSpPr>
            <p:nvPr/>
          </p:nvSpPr>
          <p:spPr bwMode="auto">
            <a:xfrm>
              <a:off x="2467" y="1793"/>
              <a:ext cx="1860" cy="56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(5)   </a:t>
              </a:r>
              <a:r>
                <a:rPr kumimoji="1" lang="en-US" altLang="zh-CN" sz="2646">
                  <a:solidFill>
                    <a:prstClr val="black"/>
                  </a:solidFill>
                  <a:latin typeface="Arial" panose="020B0604020202020204"/>
                  <a:ea typeface="宋体" panose="02010600030101010101" pitchFamily="2" charset="-122"/>
                </a:rPr>
                <a:t>Y:=Y-1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(6)   if  Y&gt;20 goto B</a:t>
              </a:r>
              <a:r>
                <a:rPr kumimoji="1" lang="en-US" altLang="zh-CN" sz="2646" baseline="-25000">
                  <a:solidFill>
                    <a:prstClr val="black"/>
                  </a:solidFill>
                  <a:latin typeface="Arial" panose="020B0604020202020204"/>
                  <a:ea typeface="宋体" panose="02010600030101010101" pitchFamily="2" charset="-122"/>
                </a:rPr>
                <a:t>2</a:t>
              </a:r>
              <a:endParaRPr kumimoji="1" lang="en-US" altLang="zh-CN" sz="2646">
                <a:solidFill>
                  <a:prstClr val="black"/>
                </a:solidFill>
                <a:latin typeface="Arial" panose="020B0604020202020204"/>
                <a:ea typeface="宋体" panose="02010600030101010101" pitchFamily="2" charset="-122"/>
              </a:endParaRPr>
            </a:p>
          </p:txBody>
        </p:sp>
        <p:sp>
          <p:nvSpPr>
            <p:cNvPr id="31" name="Rectangle 9"/>
            <p:cNvSpPr>
              <a:spLocks noChangeArrowheads="1"/>
            </p:cNvSpPr>
            <p:nvPr/>
          </p:nvSpPr>
          <p:spPr bwMode="auto">
            <a:xfrm>
              <a:off x="2467" y="2605"/>
              <a:ext cx="1860" cy="313"/>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zh-CN" sz="2646">
                  <a:solidFill>
                    <a:prstClr val="black"/>
                  </a:solidFill>
                  <a:latin typeface="Arial" panose="020B0604020202020204"/>
                  <a:ea typeface="宋体" panose="02010600030101010101" pitchFamily="2" charset="-122"/>
                </a:rPr>
                <a:t>(7)   </a:t>
              </a:r>
              <a:r>
                <a:rPr kumimoji="1" lang="en-US" altLang="zh-CN" sz="2646">
                  <a:solidFill>
                    <a:prstClr val="black"/>
                  </a:solidFill>
                  <a:latin typeface="Arial" panose="020B0604020202020204"/>
                  <a:ea typeface="宋体" panose="02010600030101010101" pitchFamily="2" charset="-122"/>
                </a:rPr>
                <a:t>J:=I</a:t>
              </a:r>
            </a:p>
          </p:txBody>
        </p:sp>
        <p:sp>
          <p:nvSpPr>
            <p:cNvPr id="32" name="Line 10"/>
            <p:cNvSpPr>
              <a:spLocks noChangeShapeType="1"/>
            </p:cNvSpPr>
            <p:nvPr/>
          </p:nvSpPr>
          <p:spPr bwMode="auto">
            <a:xfrm>
              <a:off x="2402" y="196"/>
              <a:ext cx="0" cy="188"/>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3" name="Line 11"/>
            <p:cNvSpPr>
              <a:spLocks noChangeShapeType="1"/>
            </p:cNvSpPr>
            <p:nvPr/>
          </p:nvSpPr>
          <p:spPr bwMode="auto">
            <a:xfrm>
              <a:off x="2400" y="720"/>
              <a:ext cx="0" cy="250"/>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4" name="Freeform 12"/>
            <p:cNvSpPr>
              <a:spLocks/>
            </p:cNvSpPr>
            <p:nvPr/>
          </p:nvSpPr>
          <p:spPr bwMode="auto">
            <a:xfrm>
              <a:off x="1120" y="1355"/>
              <a:ext cx="270" cy="375"/>
            </a:xfrm>
            <a:custGeom>
              <a:avLst/>
              <a:gdLst>
                <a:gd name="T0" fmla="*/ 487 w 240"/>
                <a:gd name="T1" fmla="*/ 0 h 384"/>
                <a:gd name="T2" fmla="*/ 0 w 240"/>
                <a:gd name="T3" fmla="*/ 0 h 384"/>
                <a:gd name="T4" fmla="*/ 0 w 240"/>
                <a:gd name="T5" fmla="*/ 333 h 384"/>
                <a:gd name="T6" fmla="*/ 0 60000 65536"/>
                <a:gd name="T7" fmla="*/ 0 60000 65536"/>
                <a:gd name="T8" fmla="*/ 0 60000 65536"/>
                <a:gd name="T9" fmla="*/ 0 w 240"/>
                <a:gd name="T10" fmla="*/ 0 h 384"/>
                <a:gd name="T11" fmla="*/ 240 w 240"/>
                <a:gd name="T12" fmla="*/ 384 h 384"/>
              </a:gdLst>
              <a:ahLst/>
              <a:cxnLst>
                <a:cxn ang="T6">
                  <a:pos x="T0" y="T1"/>
                </a:cxn>
                <a:cxn ang="T7">
                  <a:pos x="T2" y="T3"/>
                </a:cxn>
                <a:cxn ang="T8">
                  <a:pos x="T4" y="T5"/>
                </a:cxn>
              </a:cxnLst>
              <a:rect l="T9" t="T10" r="T11" b="T12"/>
              <a:pathLst>
                <a:path w="240" h="384">
                  <a:moveTo>
                    <a:pt x="240" y="0"/>
                  </a:moveTo>
                  <a:lnTo>
                    <a:pt x="0" y="0"/>
                  </a:lnTo>
                  <a:lnTo>
                    <a:pt x="0"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5" name="Freeform 13"/>
            <p:cNvSpPr>
              <a:spLocks/>
            </p:cNvSpPr>
            <p:nvPr/>
          </p:nvSpPr>
          <p:spPr bwMode="auto">
            <a:xfrm>
              <a:off x="3436" y="1355"/>
              <a:ext cx="323" cy="438"/>
            </a:xfrm>
            <a:custGeom>
              <a:avLst/>
              <a:gdLst>
                <a:gd name="T0" fmla="*/ 0 w 288"/>
                <a:gd name="T1" fmla="*/ 0 h 384"/>
                <a:gd name="T2" fmla="*/ 572 w 288"/>
                <a:gd name="T3" fmla="*/ 0 h 384"/>
                <a:gd name="T4" fmla="*/ 572 w 288"/>
                <a:gd name="T5" fmla="*/ 845 h 384"/>
                <a:gd name="T6" fmla="*/ 0 60000 65536"/>
                <a:gd name="T7" fmla="*/ 0 60000 65536"/>
                <a:gd name="T8" fmla="*/ 0 60000 65536"/>
                <a:gd name="T9" fmla="*/ 0 w 288"/>
                <a:gd name="T10" fmla="*/ 0 h 384"/>
                <a:gd name="T11" fmla="*/ 288 w 288"/>
                <a:gd name="T12" fmla="*/ 384 h 384"/>
              </a:gdLst>
              <a:ahLst/>
              <a:cxnLst>
                <a:cxn ang="T6">
                  <a:pos x="T0" y="T1"/>
                </a:cxn>
                <a:cxn ang="T7">
                  <a:pos x="T2" y="T3"/>
                </a:cxn>
                <a:cxn ang="T8">
                  <a:pos x="T4" y="T5"/>
                </a:cxn>
              </a:cxnLst>
              <a:rect l="T9" t="T10" r="T11" b="T12"/>
              <a:pathLst>
                <a:path w="288" h="384">
                  <a:moveTo>
                    <a:pt x="0" y="0"/>
                  </a:moveTo>
                  <a:lnTo>
                    <a:pt x="288" y="0"/>
                  </a:lnTo>
                  <a:lnTo>
                    <a:pt x="288"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6" name="Rectangle 14"/>
            <p:cNvSpPr>
              <a:spLocks noChangeArrowheads="1"/>
            </p:cNvSpPr>
            <p:nvPr/>
          </p:nvSpPr>
          <p:spPr bwMode="auto">
            <a:xfrm>
              <a:off x="584" y="1824"/>
              <a:ext cx="293"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3</a:t>
              </a:r>
              <a:endParaRPr kumimoji="1" lang="en-US" altLang="zh-CN" sz="3086" dirty="0">
                <a:solidFill>
                  <a:prstClr val="black"/>
                </a:solidFill>
                <a:latin typeface="Arial" panose="020B0604020202020204"/>
                <a:ea typeface="宋体" panose="02010600030101010101" pitchFamily="2" charset="-122"/>
              </a:endParaRPr>
            </a:p>
          </p:txBody>
        </p:sp>
        <p:sp>
          <p:nvSpPr>
            <p:cNvPr id="37" name="Rectangle 15"/>
            <p:cNvSpPr>
              <a:spLocks noChangeArrowheads="1"/>
            </p:cNvSpPr>
            <p:nvPr/>
          </p:nvSpPr>
          <p:spPr bwMode="auto">
            <a:xfrm>
              <a:off x="4328" y="1889"/>
              <a:ext cx="293"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4</a:t>
              </a:r>
              <a:endParaRPr kumimoji="1" lang="en-US" altLang="zh-CN" sz="3086" dirty="0">
                <a:solidFill>
                  <a:prstClr val="black"/>
                </a:solidFill>
                <a:latin typeface="Arial" panose="020B0604020202020204"/>
                <a:ea typeface="宋体" panose="02010600030101010101" pitchFamily="2" charset="-122"/>
              </a:endParaRPr>
            </a:p>
          </p:txBody>
        </p:sp>
        <p:sp>
          <p:nvSpPr>
            <p:cNvPr id="38" name="Rectangle 16"/>
            <p:cNvSpPr>
              <a:spLocks noChangeArrowheads="1"/>
            </p:cNvSpPr>
            <p:nvPr/>
          </p:nvSpPr>
          <p:spPr bwMode="auto">
            <a:xfrm>
              <a:off x="4335" y="2574"/>
              <a:ext cx="293"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5</a:t>
              </a:r>
              <a:endParaRPr kumimoji="1" lang="en-US" altLang="zh-CN" sz="3086" dirty="0">
                <a:solidFill>
                  <a:prstClr val="black"/>
                </a:solidFill>
                <a:latin typeface="Arial" panose="020B0604020202020204"/>
                <a:ea typeface="宋体" panose="02010600030101010101" pitchFamily="2" charset="-122"/>
              </a:endParaRPr>
            </a:p>
          </p:txBody>
        </p:sp>
        <p:sp>
          <p:nvSpPr>
            <p:cNvPr id="39" name="Line 17"/>
            <p:cNvSpPr>
              <a:spLocks noChangeShapeType="1"/>
            </p:cNvSpPr>
            <p:nvPr/>
          </p:nvSpPr>
          <p:spPr bwMode="auto">
            <a:xfrm>
              <a:off x="3490" y="2918"/>
              <a:ext cx="0" cy="250"/>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0" name="Line 18"/>
            <p:cNvSpPr>
              <a:spLocks noChangeShapeType="1"/>
            </p:cNvSpPr>
            <p:nvPr/>
          </p:nvSpPr>
          <p:spPr bwMode="auto">
            <a:xfrm>
              <a:off x="3490" y="2355"/>
              <a:ext cx="0" cy="250"/>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1" name="Freeform 19"/>
            <p:cNvSpPr>
              <a:spLocks/>
            </p:cNvSpPr>
            <p:nvPr/>
          </p:nvSpPr>
          <p:spPr bwMode="auto">
            <a:xfrm>
              <a:off x="2844" y="768"/>
              <a:ext cx="1814" cy="1775"/>
            </a:xfrm>
            <a:custGeom>
              <a:avLst/>
              <a:gdLst>
                <a:gd name="T0" fmla="*/ 1720 w 1872"/>
                <a:gd name="T1" fmla="*/ 6366 h 1344"/>
                <a:gd name="T2" fmla="*/ 1720 w 1872"/>
                <a:gd name="T3" fmla="*/ 7132 h 1344"/>
                <a:gd name="T4" fmla="*/ 3731 w 1872"/>
                <a:gd name="T5" fmla="*/ 7132 h 1344"/>
                <a:gd name="T6" fmla="*/ 3731 w 1872"/>
                <a:gd name="T7" fmla="*/ 0 h 1344"/>
                <a:gd name="T8" fmla="*/ 0 w 1872"/>
                <a:gd name="T9" fmla="*/ 0 h 1344"/>
                <a:gd name="T10" fmla="*/ 0 w 1872"/>
                <a:gd name="T11" fmla="*/ 762 h 1344"/>
                <a:gd name="T12" fmla="*/ 0 60000 65536"/>
                <a:gd name="T13" fmla="*/ 0 60000 65536"/>
                <a:gd name="T14" fmla="*/ 0 60000 65536"/>
                <a:gd name="T15" fmla="*/ 0 60000 65536"/>
                <a:gd name="T16" fmla="*/ 0 60000 65536"/>
                <a:gd name="T17" fmla="*/ 0 60000 65536"/>
                <a:gd name="T18" fmla="*/ 0 w 1872"/>
                <a:gd name="T19" fmla="*/ 0 h 1344"/>
                <a:gd name="T20" fmla="*/ 1872 w 1872"/>
                <a:gd name="T21" fmla="*/ 1344 h 1344"/>
              </a:gdLst>
              <a:ahLst/>
              <a:cxnLst>
                <a:cxn ang="T12">
                  <a:pos x="T0" y="T1"/>
                </a:cxn>
                <a:cxn ang="T13">
                  <a:pos x="T2" y="T3"/>
                </a:cxn>
                <a:cxn ang="T14">
                  <a:pos x="T4" y="T5"/>
                </a:cxn>
                <a:cxn ang="T15">
                  <a:pos x="T6" y="T7"/>
                </a:cxn>
                <a:cxn ang="T16">
                  <a:pos x="T8" y="T9"/>
                </a:cxn>
                <a:cxn ang="T17">
                  <a:pos x="T10" y="T11"/>
                </a:cxn>
              </a:cxnLst>
              <a:rect l="T18" t="T19" r="T20" b="T21"/>
              <a:pathLst>
                <a:path w="1872" h="1344">
                  <a:moveTo>
                    <a:pt x="864" y="1200"/>
                  </a:moveTo>
                  <a:lnTo>
                    <a:pt x="864" y="1344"/>
                  </a:lnTo>
                  <a:lnTo>
                    <a:pt x="1872" y="1344"/>
                  </a:lnTo>
                  <a:lnTo>
                    <a:pt x="1872" y="0"/>
                  </a:lnTo>
                  <a:lnTo>
                    <a:pt x="0" y="0"/>
                  </a:lnTo>
                  <a:lnTo>
                    <a:pt x="0"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2" name="Freeform 20"/>
            <p:cNvSpPr>
              <a:spLocks/>
            </p:cNvSpPr>
            <p:nvPr/>
          </p:nvSpPr>
          <p:spPr bwMode="auto">
            <a:xfrm>
              <a:off x="1605" y="1605"/>
              <a:ext cx="1400" cy="875"/>
            </a:xfrm>
            <a:custGeom>
              <a:avLst/>
              <a:gdLst>
                <a:gd name="T0" fmla="*/ 0 w 1248"/>
                <a:gd name="T1" fmla="*/ 2577 h 672"/>
                <a:gd name="T2" fmla="*/ 0 w 1248"/>
                <a:gd name="T3" fmla="*/ 3273 h 672"/>
                <a:gd name="T4" fmla="*/ 1243 w 1248"/>
                <a:gd name="T5" fmla="*/ 3273 h 672"/>
                <a:gd name="T6" fmla="*/ 1243 w 1248"/>
                <a:gd name="T7" fmla="*/ 0 h 672"/>
                <a:gd name="T8" fmla="*/ 2488 w 1248"/>
                <a:gd name="T9" fmla="*/ 0 h 672"/>
                <a:gd name="T10" fmla="*/ 2488 w 1248"/>
                <a:gd name="T11" fmla="*/ 703 h 672"/>
                <a:gd name="T12" fmla="*/ 0 60000 65536"/>
                <a:gd name="T13" fmla="*/ 0 60000 65536"/>
                <a:gd name="T14" fmla="*/ 0 60000 65536"/>
                <a:gd name="T15" fmla="*/ 0 60000 65536"/>
                <a:gd name="T16" fmla="*/ 0 60000 65536"/>
                <a:gd name="T17" fmla="*/ 0 60000 65536"/>
                <a:gd name="T18" fmla="*/ 0 w 1248"/>
                <a:gd name="T19" fmla="*/ 0 h 672"/>
                <a:gd name="T20" fmla="*/ 1248 w 1248"/>
                <a:gd name="T21" fmla="*/ 672 h 672"/>
              </a:gdLst>
              <a:ahLst/>
              <a:cxnLst>
                <a:cxn ang="T12">
                  <a:pos x="T0" y="T1"/>
                </a:cxn>
                <a:cxn ang="T13">
                  <a:pos x="T2" y="T3"/>
                </a:cxn>
                <a:cxn ang="T14">
                  <a:pos x="T4" y="T5"/>
                </a:cxn>
                <a:cxn ang="T15">
                  <a:pos x="T6" y="T7"/>
                </a:cxn>
                <a:cxn ang="T16">
                  <a:pos x="T8" y="T9"/>
                </a:cxn>
                <a:cxn ang="T17">
                  <a:pos x="T10" y="T11"/>
                </a:cxn>
              </a:cxnLst>
              <a:rect l="T18" t="T19" r="T20" b="T21"/>
              <a:pathLst>
                <a:path w="1248" h="672">
                  <a:moveTo>
                    <a:pt x="0" y="528"/>
                  </a:moveTo>
                  <a:lnTo>
                    <a:pt x="0" y="672"/>
                  </a:lnTo>
                  <a:lnTo>
                    <a:pt x="624" y="672"/>
                  </a:lnTo>
                  <a:lnTo>
                    <a:pt x="624" y="0"/>
                  </a:lnTo>
                  <a:lnTo>
                    <a:pt x="1248" y="0"/>
                  </a:lnTo>
                  <a:lnTo>
                    <a:pt x="1248"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
        <p:nvSpPr>
          <p:cNvPr id="43" name="文本框 42"/>
          <p:cNvSpPr txBox="1"/>
          <p:nvPr/>
        </p:nvSpPr>
        <p:spPr>
          <a:xfrm>
            <a:off x="59505" y="6199888"/>
            <a:ext cx="5506636" cy="1313821"/>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pPr defTabSz="503972" rtl="0" fontAlgn="auto" hangingPunct="1">
              <a:lnSpc>
                <a:spcPct val="100000"/>
              </a:lnSpc>
              <a:spcBef>
                <a:spcPts val="0"/>
              </a:spcBef>
              <a:spcAft>
                <a:spcPts val="0"/>
              </a:spcAft>
              <a:buSzTx/>
            </a:pPr>
            <a:r>
              <a:rPr lang="en-US" altLang="zh-CN" sz="2646" dirty="0" smtClean="0">
                <a:solidFill>
                  <a:prstClr val="black"/>
                </a:solidFill>
                <a:latin typeface="微软雅黑" panose="020B0503020204020204" pitchFamily="34" charset="-122"/>
              </a:rPr>
              <a:t>X=21,  Y=22</a:t>
            </a:r>
            <a:endParaRPr lang="en-US" altLang="zh-CN" sz="2646" dirty="0">
              <a:solidFill>
                <a:prstClr val="black"/>
              </a:solidFill>
              <a:latin typeface="微软雅黑" panose="020B0503020204020204" pitchFamily="34" charset="-122"/>
            </a:endParaRPr>
          </a:p>
          <a:p>
            <a:pPr defTabSz="503972" rtl="0" fontAlgn="auto" hangingPunct="1">
              <a:lnSpc>
                <a:spcPct val="100000"/>
              </a:lnSpc>
              <a:spcBef>
                <a:spcPts val="0"/>
              </a:spcBef>
              <a:spcAft>
                <a:spcPts val="0"/>
              </a:spcAft>
              <a:buSzTx/>
            </a:pPr>
            <a:r>
              <a:rPr lang="zh-CN" altLang="en-US" sz="2646" dirty="0" smtClean="0">
                <a:solidFill>
                  <a:prstClr val="black"/>
                </a:solidFill>
                <a:latin typeface="微软雅黑" panose="020B0503020204020204" pitchFamily="34" charset="-122"/>
                <a:ea typeface="微软雅黑" panose="020B0503020204020204" pitchFamily="34" charset="-122"/>
              </a:rPr>
              <a:t>考虑</a:t>
            </a:r>
            <a:r>
              <a:rPr lang="zh-CN" altLang="en-US" sz="2646" dirty="0">
                <a:solidFill>
                  <a:prstClr val="black"/>
                </a:solidFill>
                <a:latin typeface="微软雅黑" panose="020B0503020204020204" pitchFamily="34" charset="-122"/>
                <a:ea typeface="微软雅黑" panose="020B0503020204020204" pitchFamily="34" charset="-122"/>
              </a:rPr>
              <a:t>:</a:t>
            </a:r>
            <a:r>
              <a:rPr lang="zh-CN" altLang="zh-CN" sz="2646"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2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3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4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2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4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5</a:t>
            </a:r>
          </a:p>
          <a:p>
            <a:pPr defTabSz="503972" rtl="0" fontAlgn="auto" hangingPunct="1">
              <a:lnSpc>
                <a:spcPct val="100000"/>
              </a:lnSpc>
              <a:spcBef>
                <a:spcPts val="0"/>
              </a:spcBef>
              <a:spcAft>
                <a:spcPts val="0"/>
              </a:spcAft>
              <a:buSzTx/>
            </a:pPr>
            <a:r>
              <a:rPr lang="en-US" altLang="zh-CN" sz="2646" dirty="0">
                <a:solidFill>
                  <a:prstClr val="black"/>
                </a:solidFill>
                <a:latin typeface="微软雅黑" panose="020B0503020204020204" pitchFamily="34" charset="-122"/>
                <a:ea typeface="微软雅黑" panose="020B0503020204020204" pitchFamily="34" charset="-122"/>
              </a:rPr>
              <a:t>I=3,  J=3</a:t>
            </a:r>
          </a:p>
        </p:txBody>
      </p:sp>
    </p:spTree>
    <p:extLst>
      <p:ext uri="{BB962C8B-B14F-4D97-AF65-F5344CB8AC3E}">
        <p14:creationId xmlns:p14="http://schemas.microsoft.com/office/powerpoint/2010/main" val="364724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wipe(left)">
                                      <p:cBhvr>
                                        <p:cTn id="7" dur="500"/>
                                        <p:tgtEl>
                                          <p:spTgt spid="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
                                            <p:txEl>
                                              <p:pRg st="1" end="1"/>
                                            </p:txEl>
                                          </p:spTgt>
                                        </p:tgtEl>
                                        <p:attrNameLst>
                                          <p:attrName>style.visibility</p:attrName>
                                        </p:attrNameLst>
                                      </p:cBhvr>
                                      <p:to>
                                        <p:strVal val="visible"/>
                                      </p:to>
                                    </p:set>
                                    <p:animEffect transition="in" filter="wipe(left)">
                                      <p:cBhvr>
                                        <p:cTn id="12" dur="500"/>
                                        <p:tgtEl>
                                          <p:spTgt spid="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
                                            <p:txEl>
                                              <p:pRg st="2" end="2"/>
                                            </p:txEl>
                                          </p:spTgt>
                                        </p:tgtEl>
                                        <p:attrNameLst>
                                          <p:attrName>style.visibility</p:attrName>
                                        </p:attrNameLst>
                                      </p:cBhvr>
                                      <p:to>
                                        <p:strVal val="visible"/>
                                      </p:to>
                                    </p:set>
                                    <p:animEffect transition="in" filter="wipe(left)">
                                      <p:cBhvr>
                                        <p:cTn id="17" dur="500"/>
                                        <p:tgtEl>
                                          <p:spTgt spid="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uild="p"/>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外提的条件</a:t>
            </a:r>
          </a:p>
        </p:txBody>
      </p:sp>
      <p:grpSp>
        <p:nvGrpSpPr>
          <p:cNvPr id="29" name="Group 2"/>
          <p:cNvGrpSpPr>
            <a:grpSpLocks/>
          </p:cNvGrpSpPr>
          <p:nvPr/>
        </p:nvGrpSpPr>
        <p:grpSpPr bwMode="auto">
          <a:xfrm>
            <a:off x="1151081" y="1723830"/>
            <a:ext cx="7781317" cy="4787794"/>
            <a:chOff x="825" y="1920"/>
            <a:chExt cx="3879" cy="2448"/>
          </a:xfrm>
        </p:grpSpPr>
        <p:sp>
          <p:nvSpPr>
            <p:cNvPr id="30" name="Rectangle 3"/>
            <p:cNvSpPr>
              <a:spLocks noChangeArrowheads="1"/>
            </p:cNvSpPr>
            <p:nvPr/>
          </p:nvSpPr>
          <p:spPr bwMode="auto">
            <a:xfrm>
              <a:off x="1536" y="2448"/>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FF3300"/>
                  </a:solidFill>
                  <a:latin typeface="Arial" panose="020B0604020202020204"/>
                  <a:ea typeface="宋体" panose="02010600030101010101" pitchFamily="2" charset="-122"/>
                </a:rPr>
                <a:t>(2</a:t>
              </a:r>
              <a:r>
                <a:rPr kumimoji="1" lang="en-US" altLang="zh-CN" sz="2646" dirty="0">
                  <a:solidFill>
                    <a:srgbClr val="FF3300"/>
                  </a:solidFill>
                  <a:latin typeface="Arial" panose="020B0604020202020204"/>
                  <a:ea typeface="宋体" panose="02010600030101010101" pitchFamily="2" charset="-122"/>
                </a:rPr>
                <a:t>’)  I:=3</a:t>
              </a:r>
            </a:p>
          </p:txBody>
        </p:sp>
        <p:sp>
          <p:nvSpPr>
            <p:cNvPr id="31" name="Rectangle 4"/>
            <p:cNvSpPr>
              <a:spLocks noChangeArrowheads="1"/>
            </p:cNvSpPr>
            <p:nvPr/>
          </p:nvSpPr>
          <p:spPr bwMode="auto">
            <a:xfrm>
              <a:off x="1536" y="2880"/>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X&gt;=Y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4</a:t>
              </a:r>
            </a:p>
          </p:txBody>
        </p:sp>
        <p:sp>
          <p:nvSpPr>
            <p:cNvPr id="32" name="Rectangle 5"/>
            <p:cNvSpPr>
              <a:spLocks noChangeArrowheads="1"/>
            </p:cNvSpPr>
            <p:nvPr/>
          </p:nvSpPr>
          <p:spPr bwMode="auto">
            <a:xfrm>
              <a:off x="3360" y="2013"/>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1</a:t>
              </a:r>
              <a:endParaRPr kumimoji="1" lang="en-US" altLang="zh-CN" sz="3086" dirty="0">
                <a:solidFill>
                  <a:prstClr val="black"/>
                </a:solidFill>
                <a:latin typeface="Arial" panose="020B0604020202020204"/>
                <a:ea typeface="宋体" panose="02010600030101010101" pitchFamily="2" charset="-122"/>
              </a:endParaRPr>
            </a:p>
          </p:txBody>
        </p:sp>
        <p:sp>
          <p:nvSpPr>
            <p:cNvPr id="33" name="Rectangle 6"/>
            <p:cNvSpPr>
              <a:spLocks noChangeArrowheads="1"/>
            </p:cNvSpPr>
            <p:nvPr/>
          </p:nvSpPr>
          <p:spPr bwMode="auto">
            <a:xfrm>
              <a:off x="3374" y="271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2</a:t>
              </a:r>
              <a:endParaRPr kumimoji="1" lang="en-US" altLang="zh-CN" sz="3086" dirty="0">
                <a:solidFill>
                  <a:prstClr val="black"/>
                </a:solidFill>
                <a:latin typeface="Arial" panose="020B0604020202020204"/>
                <a:ea typeface="宋体" panose="02010600030101010101" pitchFamily="2" charset="-122"/>
              </a:endParaRPr>
            </a:p>
          </p:txBody>
        </p:sp>
        <p:sp>
          <p:nvSpPr>
            <p:cNvPr id="34" name="Rectangle 7"/>
            <p:cNvSpPr>
              <a:spLocks noChangeArrowheads="1"/>
            </p:cNvSpPr>
            <p:nvPr/>
          </p:nvSpPr>
          <p:spPr bwMode="auto">
            <a:xfrm>
              <a:off x="1104" y="3264"/>
              <a:ext cx="1152" cy="43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(3)   </a:t>
              </a:r>
              <a:r>
                <a:rPr kumimoji="1" lang="en-US" altLang="zh-CN" sz="2646">
                  <a:solidFill>
                    <a:prstClr val="black"/>
                  </a:solidFill>
                  <a:latin typeface="Arial" panose="020B0604020202020204"/>
                  <a:ea typeface="宋体" panose="02010600030101010101" pitchFamily="2" charset="-122"/>
                </a:rPr>
                <a:t>I:=2</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(4)   X:=X+1</a:t>
              </a:r>
            </a:p>
          </p:txBody>
        </p:sp>
        <p:sp>
          <p:nvSpPr>
            <p:cNvPr id="35" name="Rectangle 8"/>
            <p:cNvSpPr>
              <a:spLocks noChangeArrowheads="1"/>
            </p:cNvSpPr>
            <p:nvPr/>
          </p:nvSpPr>
          <p:spPr bwMode="auto">
            <a:xfrm>
              <a:off x="2496" y="3312"/>
              <a:ext cx="1872" cy="43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(5)   </a:t>
              </a:r>
              <a:r>
                <a:rPr kumimoji="1" lang="en-US" altLang="zh-CN" sz="2646">
                  <a:solidFill>
                    <a:prstClr val="black"/>
                  </a:solidFill>
                  <a:latin typeface="Arial" panose="020B0604020202020204"/>
                  <a:ea typeface="宋体" panose="02010600030101010101" pitchFamily="2" charset="-122"/>
                </a:rPr>
                <a:t>Y:=Y-1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(6)   if  Y&gt;20 goto B</a:t>
              </a:r>
              <a:r>
                <a:rPr kumimoji="1" lang="en-US" altLang="zh-CN" sz="2646" baseline="-25000">
                  <a:solidFill>
                    <a:prstClr val="black"/>
                  </a:solidFill>
                  <a:latin typeface="Arial" panose="020B0604020202020204"/>
                  <a:ea typeface="宋体" panose="02010600030101010101" pitchFamily="2" charset="-122"/>
                </a:rPr>
                <a:t>2</a:t>
              </a:r>
              <a:endParaRPr kumimoji="1" lang="en-US" altLang="zh-CN" sz="2646">
                <a:solidFill>
                  <a:prstClr val="black"/>
                </a:solidFill>
                <a:latin typeface="Arial" panose="020B0604020202020204"/>
                <a:ea typeface="宋体" panose="02010600030101010101" pitchFamily="2" charset="-122"/>
              </a:endParaRPr>
            </a:p>
          </p:txBody>
        </p:sp>
        <p:sp>
          <p:nvSpPr>
            <p:cNvPr id="36" name="Rectangle 9"/>
            <p:cNvSpPr>
              <a:spLocks noChangeArrowheads="1"/>
            </p:cNvSpPr>
            <p:nvPr/>
          </p:nvSpPr>
          <p:spPr bwMode="auto">
            <a:xfrm>
              <a:off x="2496" y="3936"/>
              <a:ext cx="187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zh-CN" sz="2646">
                  <a:solidFill>
                    <a:prstClr val="black"/>
                  </a:solidFill>
                  <a:latin typeface="Arial" panose="020B0604020202020204"/>
                  <a:ea typeface="宋体" panose="02010600030101010101" pitchFamily="2" charset="-122"/>
                </a:rPr>
                <a:t>(7)   </a:t>
              </a:r>
              <a:r>
                <a:rPr kumimoji="1" lang="en-US" altLang="zh-CN" sz="2646">
                  <a:solidFill>
                    <a:prstClr val="black"/>
                  </a:solidFill>
                  <a:latin typeface="Arial" panose="020B0604020202020204"/>
                  <a:ea typeface="宋体" panose="02010600030101010101" pitchFamily="2" charset="-122"/>
                </a:rPr>
                <a:t>J:=I</a:t>
              </a:r>
            </a:p>
          </p:txBody>
        </p:sp>
        <p:sp>
          <p:nvSpPr>
            <p:cNvPr id="37" name="Line 10"/>
            <p:cNvSpPr>
              <a:spLocks noChangeShapeType="1"/>
            </p:cNvSpPr>
            <p:nvPr/>
          </p:nvSpPr>
          <p:spPr bwMode="auto">
            <a:xfrm>
              <a:off x="2448" y="230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8" name="Line 11"/>
            <p:cNvSpPr>
              <a:spLocks noChangeShapeType="1"/>
            </p:cNvSpPr>
            <p:nvPr/>
          </p:nvSpPr>
          <p:spPr bwMode="auto">
            <a:xfrm>
              <a:off x="2448" y="2688"/>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9" name="Freeform 12"/>
            <p:cNvSpPr>
              <a:spLocks/>
            </p:cNvSpPr>
            <p:nvPr/>
          </p:nvSpPr>
          <p:spPr bwMode="auto">
            <a:xfrm>
              <a:off x="1296" y="2976"/>
              <a:ext cx="240" cy="288"/>
            </a:xfrm>
            <a:custGeom>
              <a:avLst/>
              <a:gdLst>
                <a:gd name="T0" fmla="*/ 240 w 240"/>
                <a:gd name="T1" fmla="*/ 0 h 384"/>
                <a:gd name="T2" fmla="*/ 0 w 240"/>
                <a:gd name="T3" fmla="*/ 0 h 384"/>
                <a:gd name="T4" fmla="*/ 0 w 240"/>
                <a:gd name="T5" fmla="*/ 69 h 384"/>
                <a:gd name="T6" fmla="*/ 0 60000 65536"/>
                <a:gd name="T7" fmla="*/ 0 60000 65536"/>
                <a:gd name="T8" fmla="*/ 0 60000 65536"/>
                <a:gd name="T9" fmla="*/ 0 w 240"/>
                <a:gd name="T10" fmla="*/ 0 h 384"/>
                <a:gd name="T11" fmla="*/ 240 w 240"/>
                <a:gd name="T12" fmla="*/ 384 h 384"/>
              </a:gdLst>
              <a:ahLst/>
              <a:cxnLst>
                <a:cxn ang="T6">
                  <a:pos x="T0" y="T1"/>
                </a:cxn>
                <a:cxn ang="T7">
                  <a:pos x="T2" y="T3"/>
                </a:cxn>
                <a:cxn ang="T8">
                  <a:pos x="T4" y="T5"/>
                </a:cxn>
              </a:cxnLst>
              <a:rect l="T9" t="T10" r="T11" b="T12"/>
              <a:pathLst>
                <a:path w="240" h="384">
                  <a:moveTo>
                    <a:pt x="240" y="0"/>
                  </a:moveTo>
                  <a:lnTo>
                    <a:pt x="0" y="0"/>
                  </a:lnTo>
                  <a:lnTo>
                    <a:pt x="0"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0" name="Freeform 13"/>
            <p:cNvSpPr>
              <a:spLocks/>
            </p:cNvSpPr>
            <p:nvPr/>
          </p:nvSpPr>
          <p:spPr bwMode="auto">
            <a:xfrm>
              <a:off x="3360" y="2976"/>
              <a:ext cx="288" cy="336"/>
            </a:xfrm>
            <a:custGeom>
              <a:avLst/>
              <a:gdLst>
                <a:gd name="T0" fmla="*/ 0 w 288"/>
                <a:gd name="T1" fmla="*/ 0 h 384"/>
                <a:gd name="T2" fmla="*/ 288 w 288"/>
                <a:gd name="T3" fmla="*/ 0 h 384"/>
                <a:gd name="T4" fmla="*/ 288 w 288"/>
                <a:gd name="T5" fmla="*/ 172 h 384"/>
                <a:gd name="T6" fmla="*/ 0 60000 65536"/>
                <a:gd name="T7" fmla="*/ 0 60000 65536"/>
                <a:gd name="T8" fmla="*/ 0 60000 65536"/>
                <a:gd name="T9" fmla="*/ 0 w 288"/>
                <a:gd name="T10" fmla="*/ 0 h 384"/>
                <a:gd name="T11" fmla="*/ 288 w 288"/>
                <a:gd name="T12" fmla="*/ 384 h 384"/>
              </a:gdLst>
              <a:ahLst/>
              <a:cxnLst>
                <a:cxn ang="T6">
                  <a:pos x="T0" y="T1"/>
                </a:cxn>
                <a:cxn ang="T7">
                  <a:pos x="T2" y="T3"/>
                </a:cxn>
                <a:cxn ang="T8">
                  <a:pos x="T4" y="T5"/>
                </a:cxn>
              </a:cxnLst>
              <a:rect l="T9" t="T10" r="T11" b="T12"/>
              <a:pathLst>
                <a:path w="288" h="384">
                  <a:moveTo>
                    <a:pt x="0" y="0"/>
                  </a:moveTo>
                  <a:lnTo>
                    <a:pt x="288" y="0"/>
                  </a:lnTo>
                  <a:lnTo>
                    <a:pt x="288"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1" name="Rectangle 14"/>
            <p:cNvSpPr>
              <a:spLocks noChangeArrowheads="1"/>
            </p:cNvSpPr>
            <p:nvPr/>
          </p:nvSpPr>
          <p:spPr bwMode="auto">
            <a:xfrm>
              <a:off x="825" y="333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3</a:t>
              </a:r>
              <a:endParaRPr kumimoji="1" lang="en-US" altLang="zh-CN" sz="3086" dirty="0">
                <a:solidFill>
                  <a:prstClr val="black"/>
                </a:solidFill>
                <a:latin typeface="Arial" panose="020B0604020202020204"/>
                <a:ea typeface="宋体" panose="02010600030101010101" pitchFamily="2" charset="-122"/>
              </a:endParaRPr>
            </a:p>
          </p:txBody>
        </p:sp>
        <p:sp>
          <p:nvSpPr>
            <p:cNvPr id="42" name="Rectangle 15"/>
            <p:cNvSpPr>
              <a:spLocks noChangeArrowheads="1"/>
            </p:cNvSpPr>
            <p:nvPr/>
          </p:nvSpPr>
          <p:spPr bwMode="auto">
            <a:xfrm>
              <a:off x="4368" y="338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4</a:t>
              </a:r>
              <a:endParaRPr kumimoji="1" lang="en-US" altLang="zh-CN" sz="3086" dirty="0">
                <a:solidFill>
                  <a:prstClr val="black"/>
                </a:solidFill>
                <a:latin typeface="Arial" panose="020B0604020202020204"/>
                <a:ea typeface="宋体" panose="02010600030101010101" pitchFamily="2" charset="-122"/>
              </a:endParaRPr>
            </a:p>
          </p:txBody>
        </p:sp>
        <p:sp>
          <p:nvSpPr>
            <p:cNvPr id="43" name="Rectangle 16"/>
            <p:cNvSpPr>
              <a:spLocks noChangeArrowheads="1"/>
            </p:cNvSpPr>
            <p:nvPr/>
          </p:nvSpPr>
          <p:spPr bwMode="auto">
            <a:xfrm>
              <a:off x="4368" y="390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5</a:t>
              </a:r>
              <a:endParaRPr kumimoji="1" lang="en-US" altLang="zh-CN" sz="3086" dirty="0">
                <a:solidFill>
                  <a:prstClr val="black"/>
                </a:solidFill>
                <a:latin typeface="Arial" panose="020B0604020202020204"/>
                <a:ea typeface="宋体" panose="02010600030101010101" pitchFamily="2" charset="-122"/>
              </a:endParaRPr>
            </a:p>
          </p:txBody>
        </p:sp>
        <p:sp>
          <p:nvSpPr>
            <p:cNvPr id="44" name="Line 17"/>
            <p:cNvSpPr>
              <a:spLocks noChangeShapeType="1"/>
            </p:cNvSpPr>
            <p:nvPr/>
          </p:nvSpPr>
          <p:spPr bwMode="auto">
            <a:xfrm>
              <a:off x="3408" y="4176"/>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5" name="Line 18"/>
            <p:cNvSpPr>
              <a:spLocks noChangeShapeType="1"/>
            </p:cNvSpPr>
            <p:nvPr/>
          </p:nvSpPr>
          <p:spPr bwMode="auto">
            <a:xfrm>
              <a:off x="3408" y="3744"/>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6" name="Freeform 19"/>
            <p:cNvSpPr>
              <a:spLocks/>
            </p:cNvSpPr>
            <p:nvPr/>
          </p:nvSpPr>
          <p:spPr bwMode="auto">
            <a:xfrm>
              <a:off x="2832" y="2736"/>
              <a:ext cx="1872" cy="1152"/>
            </a:xfrm>
            <a:custGeom>
              <a:avLst/>
              <a:gdLst>
                <a:gd name="T0" fmla="*/ 864 w 1872"/>
                <a:gd name="T1" fmla="*/ 476 h 1344"/>
                <a:gd name="T2" fmla="*/ 864 w 1872"/>
                <a:gd name="T3" fmla="*/ 532 h 1344"/>
                <a:gd name="T4" fmla="*/ 1872 w 1872"/>
                <a:gd name="T5" fmla="*/ 532 h 1344"/>
                <a:gd name="T6" fmla="*/ 1872 w 1872"/>
                <a:gd name="T7" fmla="*/ 0 h 1344"/>
                <a:gd name="T8" fmla="*/ 0 w 1872"/>
                <a:gd name="T9" fmla="*/ 0 h 1344"/>
                <a:gd name="T10" fmla="*/ 0 w 1872"/>
                <a:gd name="T11" fmla="*/ 57 h 1344"/>
                <a:gd name="T12" fmla="*/ 0 60000 65536"/>
                <a:gd name="T13" fmla="*/ 0 60000 65536"/>
                <a:gd name="T14" fmla="*/ 0 60000 65536"/>
                <a:gd name="T15" fmla="*/ 0 60000 65536"/>
                <a:gd name="T16" fmla="*/ 0 60000 65536"/>
                <a:gd name="T17" fmla="*/ 0 60000 65536"/>
                <a:gd name="T18" fmla="*/ 0 w 1872"/>
                <a:gd name="T19" fmla="*/ 0 h 1344"/>
                <a:gd name="T20" fmla="*/ 1872 w 1872"/>
                <a:gd name="T21" fmla="*/ 1344 h 1344"/>
              </a:gdLst>
              <a:ahLst/>
              <a:cxnLst>
                <a:cxn ang="T12">
                  <a:pos x="T0" y="T1"/>
                </a:cxn>
                <a:cxn ang="T13">
                  <a:pos x="T2" y="T3"/>
                </a:cxn>
                <a:cxn ang="T14">
                  <a:pos x="T4" y="T5"/>
                </a:cxn>
                <a:cxn ang="T15">
                  <a:pos x="T6" y="T7"/>
                </a:cxn>
                <a:cxn ang="T16">
                  <a:pos x="T8" y="T9"/>
                </a:cxn>
                <a:cxn ang="T17">
                  <a:pos x="T10" y="T11"/>
                </a:cxn>
              </a:cxnLst>
              <a:rect l="T18" t="T19" r="T20" b="T21"/>
              <a:pathLst>
                <a:path w="1872" h="1344">
                  <a:moveTo>
                    <a:pt x="864" y="1200"/>
                  </a:moveTo>
                  <a:lnTo>
                    <a:pt x="864" y="1344"/>
                  </a:lnTo>
                  <a:lnTo>
                    <a:pt x="1872" y="1344"/>
                  </a:lnTo>
                  <a:lnTo>
                    <a:pt x="1872" y="0"/>
                  </a:lnTo>
                  <a:lnTo>
                    <a:pt x="0" y="0"/>
                  </a:lnTo>
                  <a:lnTo>
                    <a:pt x="0"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7" name="Freeform 20"/>
            <p:cNvSpPr>
              <a:spLocks/>
            </p:cNvSpPr>
            <p:nvPr/>
          </p:nvSpPr>
          <p:spPr bwMode="auto">
            <a:xfrm>
              <a:off x="1728" y="3168"/>
              <a:ext cx="1248" cy="672"/>
            </a:xfrm>
            <a:custGeom>
              <a:avLst/>
              <a:gdLst>
                <a:gd name="T0" fmla="*/ 0 w 1248"/>
                <a:gd name="T1" fmla="*/ 528 h 672"/>
                <a:gd name="T2" fmla="*/ 0 w 1248"/>
                <a:gd name="T3" fmla="*/ 672 h 672"/>
                <a:gd name="T4" fmla="*/ 624 w 1248"/>
                <a:gd name="T5" fmla="*/ 672 h 672"/>
                <a:gd name="T6" fmla="*/ 624 w 1248"/>
                <a:gd name="T7" fmla="*/ 0 h 672"/>
                <a:gd name="T8" fmla="*/ 1248 w 1248"/>
                <a:gd name="T9" fmla="*/ 0 h 672"/>
                <a:gd name="T10" fmla="*/ 1248 w 1248"/>
                <a:gd name="T11" fmla="*/ 144 h 672"/>
                <a:gd name="T12" fmla="*/ 0 60000 65536"/>
                <a:gd name="T13" fmla="*/ 0 60000 65536"/>
                <a:gd name="T14" fmla="*/ 0 60000 65536"/>
                <a:gd name="T15" fmla="*/ 0 60000 65536"/>
                <a:gd name="T16" fmla="*/ 0 60000 65536"/>
                <a:gd name="T17" fmla="*/ 0 60000 65536"/>
                <a:gd name="T18" fmla="*/ 0 w 1248"/>
                <a:gd name="T19" fmla="*/ 0 h 672"/>
                <a:gd name="T20" fmla="*/ 1248 w 1248"/>
                <a:gd name="T21" fmla="*/ 672 h 672"/>
              </a:gdLst>
              <a:ahLst/>
              <a:cxnLst>
                <a:cxn ang="T12">
                  <a:pos x="T0" y="T1"/>
                </a:cxn>
                <a:cxn ang="T13">
                  <a:pos x="T2" y="T3"/>
                </a:cxn>
                <a:cxn ang="T14">
                  <a:pos x="T4" y="T5"/>
                </a:cxn>
                <a:cxn ang="T15">
                  <a:pos x="T6" y="T7"/>
                </a:cxn>
                <a:cxn ang="T16">
                  <a:pos x="T8" y="T9"/>
                </a:cxn>
                <a:cxn ang="T17">
                  <a:pos x="T10" y="T11"/>
                </a:cxn>
              </a:cxnLst>
              <a:rect l="T18" t="T19" r="T20" b="T21"/>
              <a:pathLst>
                <a:path w="1248" h="672">
                  <a:moveTo>
                    <a:pt x="0" y="528"/>
                  </a:moveTo>
                  <a:lnTo>
                    <a:pt x="0" y="672"/>
                  </a:lnTo>
                  <a:lnTo>
                    <a:pt x="624" y="672"/>
                  </a:lnTo>
                  <a:lnTo>
                    <a:pt x="624" y="0"/>
                  </a:lnTo>
                  <a:lnTo>
                    <a:pt x="1248" y="0"/>
                  </a:lnTo>
                  <a:lnTo>
                    <a:pt x="1248"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8" name="Rectangle 21"/>
            <p:cNvSpPr>
              <a:spLocks noChangeArrowheads="1"/>
            </p:cNvSpPr>
            <p:nvPr/>
          </p:nvSpPr>
          <p:spPr bwMode="auto">
            <a:xfrm>
              <a:off x="1536" y="206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(1) </a:t>
              </a:r>
              <a:r>
                <a:rPr kumimoji="1" lang="en-US" altLang="zh-CN" sz="2646" dirty="0">
                  <a:solidFill>
                    <a:prstClr val="black"/>
                  </a:solidFill>
                  <a:latin typeface="Arial" panose="020B0604020202020204"/>
                  <a:ea typeface="宋体" panose="02010600030101010101" pitchFamily="2" charset="-122"/>
                </a:rPr>
                <a:t>I:=1</a:t>
              </a:r>
            </a:p>
          </p:txBody>
        </p:sp>
        <p:sp>
          <p:nvSpPr>
            <p:cNvPr id="49" name="Line 22"/>
            <p:cNvSpPr>
              <a:spLocks noChangeShapeType="1"/>
            </p:cNvSpPr>
            <p:nvPr/>
          </p:nvSpPr>
          <p:spPr bwMode="auto">
            <a:xfrm>
              <a:off x="2448" y="1920"/>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0" name="Rectangle 23"/>
            <p:cNvSpPr>
              <a:spLocks noChangeArrowheads="1"/>
            </p:cNvSpPr>
            <p:nvPr/>
          </p:nvSpPr>
          <p:spPr bwMode="auto">
            <a:xfrm>
              <a:off x="3379" y="240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2</a:t>
              </a:r>
              <a:r>
                <a:rPr kumimoji="1" lang="en-US" altLang="zh-CN" sz="3086" baseline="30000" dirty="0">
                  <a:solidFill>
                    <a:prstClr val="black"/>
                  </a:solidFill>
                  <a:latin typeface="Arial" panose="020B0604020202020204"/>
                  <a:ea typeface="宋体" panose="02010600030101010101" pitchFamily="2" charset="-122"/>
                </a:rPr>
                <a:t>’</a:t>
              </a:r>
              <a:endParaRPr kumimoji="1" lang="en-US" altLang="zh-CN" sz="3086" dirty="0">
                <a:solidFill>
                  <a:prstClr val="black"/>
                </a:solidFill>
                <a:latin typeface="Arial" panose="020B0604020202020204"/>
                <a:ea typeface="宋体" panose="02010600030101010101" pitchFamily="2" charset="-122"/>
              </a:endParaRPr>
            </a:p>
          </p:txBody>
        </p:sp>
      </p:grpSp>
      <p:sp>
        <p:nvSpPr>
          <p:cNvPr id="51" name="文本框 50"/>
          <p:cNvSpPr txBox="1"/>
          <p:nvPr/>
        </p:nvSpPr>
        <p:spPr>
          <a:xfrm>
            <a:off x="209191" y="6220558"/>
            <a:ext cx="5506636" cy="1313821"/>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pPr defTabSz="503972" rtl="0" fontAlgn="auto" hangingPunct="1">
              <a:lnSpc>
                <a:spcPct val="100000"/>
              </a:lnSpc>
              <a:spcBef>
                <a:spcPts val="0"/>
              </a:spcBef>
              <a:spcAft>
                <a:spcPts val="0"/>
              </a:spcAft>
              <a:buSzTx/>
            </a:pPr>
            <a:r>
              <a:rPr lang="en-US" altLang="zh-CN" sz="2646" dirty="0">
                <a:solidFill>
                  <a:prstClr val="black"/>
                </a:solidFill>
                <a:latin typeface="微软雅黑" panose="020B0503020204020204" pitchFamily="34" charset="-122"/>
                <a:ea typeface="微软雅黑" panose="020B0503020204020204" pitchFamily="34" charset="-122"/>
              </a:rPr>
              <a:t>X=21,  </a:t>
            </a:r>
            <a:r>
              <a:rPr lang="en-US" altLang="zh-CN" sz="2646" dirty="0" smtClean="0">
                <a:solidFill>
                  <a:prstClr val="black"/>
                </a:solidFill>
                <a:latin typeface="微软雅黑" panose="020B0503020204020204" pitchFamily="34" charset="-122"/>
                <a:ea typeface="微软雅黑" panose="020B0503020204020204" pitchFamily="34" charset="-122"/>
              </a:rPr>
              <a:t>Y=22</a:t>
            </a:r>
            <a:endParaRPr lang="en-US" altLang="zh-CN" sz="2646" dirty="0" smtClean="0">
              <a:solidFill>
                <a:prstClr val="black"/>
              </a:solidFill>
              <a:latin typeface="微软雅黑" panose="020B0503020204020204" pitchFamily="34" charset="-122"/>
              <a:ea typeface="微软雅黑" panose="020B0503020204020204" pitchFamily="34" charset="-122"/>
            </a:endParaRPr>
          </a:p>
          <a:p>
            <a:pPr defTabSz="503972" rtl="0" fontAlgn="auto" hangingPunct="1">
              <a:lnSpc>
                <a:spcPct val="100000"/>
              </a:lnSpc>
              <a:spcBef>
                <a:spcPts val="0"/>
              </a:spcBef>
              <a:spcAft>
                <a:spcPts val="0"/>
              </a:spcAft>
              <a:buSzTx/>
            </a:pPr>
            <a:r>
              <a:rPr lang="zh-CN" altLang="en-US" sz="2646" dirty="0" smtClean="0">
                <a:solidFill>
                  <a:prstClr val="black"/>
                </a:solidFill>
                <a:latin typeface="微软雅黑" panose="020B0503020204020204" pitchFamily="34" charset="-122"/>
                <a:ea typeface="微软雅黑" panose="020B0503020204020204" pitchFamily="34" charset="-122"/>
              </a:rPr>
              <a:t>考虑</a:t>
            </a:r>
            <a:r>
              <a:rPr lang="zh-CN" altLang="en-US" sz="2646" dirty="0">
                <a:solidFill>
                  <a:prstClr val="black"/>
                </a:solidFill>
                <a:latin typeface="微软雅黑" panose="020B0503020204020204" pitchFamily="34" charset="-122"/>
                <a:ea typeface="微软雅黑" panose="020B0503020204020204" pitchFamily="34" charset="-122"/>
              </a:rPr>
              <a:t>:</a:t>
            </a:r>
            <a:r>
              <a:rPr lang="zh-CN" altLang="zh-CN" sz="2646"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2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3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4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2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4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5</a:t>
            </a:r>
          </a:p>
          <a:p>
            <a:pPr defTabSz="503972" rtl="0" fontAlgn="auto" hangingPunct="1">
              <a:lnSpc>
                <a:spcPct val="100000"/>
              </a:lnSpc>
              <a:spcBef>
                <a:spcPts val="0"/>
              </a:spcBef>
              <a:spcAft>
                <a:spcPts val="0"/>
              </a:spcAft>
              <a:buSzTx/>
            </a:pPr>
            <a:r>
              <a:rPr lang="en-US" altLang="zh-CN" sz="2646" dirty="0">
                <a:solidFill>
                  <a:prstClr val="black"/>
                </a:solidFill>
                <a:latin typeface="微软雅黑" panose="020B0503020204020204" pitchFamily="34" charset="-122"/>
                <a:ea typeface="微软雅黑" panose="020B0503020204020204" pitchFamily="34" charset="-122"/>
              </a:rPr>
              <a:t>I=2,  </a:t>
            </a:r>
            <a:r>
              <a:rPr lang="en-US" altLang="zh-CN" sz="2646" dirty="0" smtClean="0">
                <a:solidFill>
                  <a:prstClr val="black"/>
                </a:solidFill>
                <a:latin typeface="微软雅黑" panose="020B0503020204020204" pitchFamily="34" charset="-122"/>
                <a:ea typeface="微软雅黑" panose="020B0503020204020204" pitchFamily="34" charset="-122"/>
              </a:rPr>
              <a:t>J=2 </a:t>
            </a:r>
            <a:endParaRPr lang="zh-CN" altLang="zh-CN" sz="2646"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97700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animEffect transition="in" filter="wipe(down)">
                                      <p:cBhvr>
                                        <p:cTn id="7" dur="500"/>
                                        <p:tgtEl>
                                          <p:spTgt spid="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1">
                                            <p:txEl>
                                              <p:pRg st="1" end="1"/>
                                            </p:txEl>
                                          </p:spTgt>
                                        </p:tgtEl>
                                        <p:attrNameLst>
                                          <p:attrName>style.visibility</p:attrName>
                                        </p:attrNameLst>
                                      </p:cBhvr>
                                      <p:to>
                                        <p:strVal val="visible"/>
                                      </p:to>
                                    </p:set>
                                    <p:animEffect transition="in" filter="wipe(down)">
                                      <p:cBhvr>
                                        <p:cTn id="12" dur="500"/>
                                        <p:tgtEl>
                                          <p:spTgt spid="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1">
                                            <p:txEl>
                                              <p:pRg st="2" end="2"/>
                                            </p:txEl>
                                          </p:spTgt>
                                        </p:tgtEl>
                                        <p:attrNameLst>
                                          <p:attrName>style.visibility</p:attrName>
                                        </p:attrNameLst>
                                      </p:cBhvr>
                                      <p:to>
                                        <p:strVal val="visible"/>
                                      </p:to>
                                    </p:set>
                                    <p:animEffect transition="in" filter="wipe(down)">
                                      <p:cBhvr>
                                        <p:cTn id="17" dur="500"/>
                                        <p:tgtEl>
                                          <p:spTgt spid="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外提的条件</a:t>
            </a:r>
            <a:endParaRPr lang="zh-CN" altLang="en-US" dirty="0"/>
          </a:p>
        </p:txBody>
      </p:sp>
      <p:sp>
        <p:nvSpPr>
          <p:cNvPr id="142360" name="Rectangle 24"/>
          <p:cNvSpPr>
            <a:spLocks noGrp="1" noChangeArrowheads="1"/>
          </p:cNvSpPr>
          <p:nvPr>
            <p:ph idx="1"/>
          </p:nvPr>
        </p:nvSpPr>
        <p:spPr/>
        <p:txBody>
          <a:bodyPr/>
          <a:lstStyle/>
          <a:p>
            <a:r>
              <a:rPr lang="en-US" altLang="zh-CN" dirty="0"/>
              <a:t>A</a:t>
            </a:r>
            <a:r>
              <a:rPr lang="zh-CN" altLang="en-US" dirty="0"/>
              <a:t>在循环中其他地方未再定值,才能把循环不变运算</a:t>
            </a:r>
            <a:r>
              <a:rPr lang="en-US" altLang="zh-CN" dirty="0"/>
              <a:t>A:=B op C</a:t>
            </a:r>
            <a:r>
              <a:rPr lang="zh-CN" altLang="en-US" dirty="0"/>
              <a:t>外提</a:t>
            </a:r>
            <a:endParaRPr lang="zh-CN" altLang="zh-CN" dirty="0"/>
          </a:p>
        </p:txBody>
      </p:sp>
      <p:sp>
        <p:nvSpPr>
          <p:cNvPr id="142380" name="Text Box 44"/>
          <p:cNvSpPr txBox="1">
            <a:spLocks noChangeArrowheads="1"/>
          </p:cNvSpPr>
          <p:nvPr/>
        </p:nvSpPr>
        <p:spPr bwMode="auto">
          <a:xfrm>
            <a:off x="993310" y="6301628"/>
            <a:ext cx="1577386" cy="499496"/>
          </a:xfrm>
          <a:prstGeom prst="rect">
            <a:avLst/>
          </a:prstGeom>
          <a:ln>
            <a:headEnd/>
            <a:tailEnd type="none" w="lg" len="lg"/>
          </a:ln>
        </p:spPr>
        <p:style>
          <a:lnRef idx="3">
            <a:schemeClr val="lt1"/>
          </a:lnRef>
          <a:fillRef idx="1">
            <a:schemeClr val="accent1"/>
          </a:fillRef>
          <a:effectRef idx="1">
            <a:schemeClr val="accent1"/>
          </a:effectRef>
          <a:fontRef idx="minor">
            <a:schemeClr val="lt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GB" altLang="zh-CN" sz="2646">
                <a:solidFill>
                  <a:prstClr val="white"/>
                </a:solidFill>
                <a:latin typeface="Arial" panose="020B0604020202020204"/>
                <a:ea typeface="宋体" panose="02010600030101010101" pitchFamily="2" charset="-122"/>
              </a:rPr>
              <a:t>I=3,  J=3</a:t>
            </a:r>
          </a:p>
        </p:txBody>
      </p:sp>
      <p:sp>
        <p:nvSpPr>
          <p:cNvPr id="142381" name="Text Box 45"/>
          <p:cNvSpPr txBox="1">
            <a:spLocks noChangeArrowheads="1"/>
          </p:cNvSpPr>
          <p:nvPr/>
        </p:nvSpPr>
        <p:spPr bwMode="auto">
          <a:xfrm>
            <a:off x="5535361" y="6301628"/>
            <a:ext cx="1577386" cy="499496"/>
          </a:xfrm>
          <a:prstGeom prst="rect">
            <a:avLst/>
          </a:prstGeom>
          <a:ln>
            <a:headEnd/>
            <a:tailEnd type="none" w="lg" len="lg"/>
          </a:ln>
        </p:spPr>
        <p:style>
          <a:lnRef idx="3">
            <a:schemeClr val="lt1"/>
          </a:lnRef>
          <a:fillRef idx="1">
            <a:schemeClr val="accent1"/>
          </a:fillRef>
          <a:effectRef idx="1">
            <a:schemeClr val="accent1"/>
          </a:effectRef>
          <a:fontRef idx="minor">
            <a:schemeClr val="lt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GB" altLang="zh-CN" sz="2646" dirty="0">
                <a:solidFill>
                  <a:prstClr val="white"/>
                </a:solidFill>
                <a:latin typeface="Arial" panose="020B0604020202020204"/>
                <a:ea typeface="宋体" panose="02010600030101010101" pitchFamily="2" charset="-122"/>
              </a:rPr>
              <a:t>I=2,  J=2</a:t>
            </a:r>
          </a:p>
        </p:txBody>
      </p:sp>
      <p:pic>
        <p:nvPicPr>
          <p:cNvPr id="5" name="图片 4"/>
          <p:cNvPicPr>
            <a:picLocks noChangeAspect="1"/>
          </p:cNvPicPr>
          <p:nvPr/>
        </p:nvPicPr>
        <p:blipFill>
          <a:blip r:embed="rId3"/>
          <a:stretch>
            <a:fillRect/>
          </a:stretch>
        </p:blipFill>
        <p:spPr>
          <a:xfrm>
            <a:off x="-34869" y="3106628"/>
            <a:ext cx="4791906" cy="3485817"/>
          </a:xfrm>
          <a:prstGeom prst="rect">
            <a:avLst/>
          </a:prstGeom>
        </p:spPr>
      </p:pic>
      <p:pic>
        <p:nvPicPr>
          <p:cNvPr id="2" name="图片 1"/>
          <p:cNvPicPr>
            <a:picLocks noChangeAspect="1"/>
          </p:cNvPicPr>
          <p:nvPr/>
        </p:nvPicPr>
        <p:blipFill>
          <a:blip r:embed="rId4"/>
          <a:stretch>
            <a:fillRect/>
          </a:stretch>
        </p:blipFill>
        <p:spPr>
          <a:xfrm>
            <a:off x="4826306" y="3080021"/>
            <a:ext cx="5180675" cy="3214988"/>
          </a:xfrm>
          <a:prstGeom prst="rect">
            <a:avLst/>
          </a:prstGeom>
        </p:spPr>
      </p:pic>
    </p:spTree>
    <p:extLst>
      <p:ext uri="{BB962C8B-B14F-4D97-AF65-F5344CB8AC3E}">
        <p14:creationId xmlns:p14="http://schemas.microsoft.com/office/powerpoint/2010/main" val="409235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2360">
                                            <p:txEl>
                                              <p:pRg st="0" end="0"/>
                                            </p:txEl>
                                          </p:spTgt>
                                        </p:tgtEl>
                                        <p:attrNameLst>
                                          <p:attrName>style.visibility</p:attrName>
                                        </p:attrNameLst>
                                      </p:cBhvr>
                                      <p:to>
                                        <p:strVal val="visible"/>
                                      </p:to>
                                    </p:set>
                                    <p:animEffect transition="in" filter="wipe(left)">
                                      <p:cBhvr>
                                        <p:cTn id="15" dur="500"/>
                                        <p:tgtEl>
                                          <p:spTgt spid="14236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60" grpId="0" build="p"/>
      <p:bldP spid="142380" grpId="0" animBg="1"/>
      <p:bldP spid="142381" grpId="0" animBg="1"/>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外提的条件</a:t>
            </a:r>
          </a:p>
        </p:txBody>
      </p:sp>
      <p:grpSp>
        <p:nvGrpSpPr>
          <p:cNvPr id="27" name="Group 45"/>
          <p:cNvGrpSpPr>
            <a:grpSpLocks/>
          </p:cNvGrpSpPr>
          <p:nvPr/>
        </p:nvGrpSpPr>
        <p:grpSpPr bwMode="auto">
          <a:xfrm>
            <a:off x="1950199" y="1660071"/>
            <a:ext cx="7080196" cy="5207776"/>
            <a:chOff x="612" y="144"/>
            <a:chExt cx="4046" cy="2976"/>
          </a:xfrm>
        </p:grpSpPr>
        <p:sp>
          <p:nvSpPr>
            <p:cNvPr id="28" name="Line 41"/>
            <p:cNvSpPr>
              <a:spLocks noChangeShapeType="1"/>
            </p:cNvSpPr>
            <p:nvPr/>
          </p:nvSpPr>
          <p:spPr bwMode="auto">
            <a:xfrm>
              <a:off x="3456" y="2256"/>
              <a:ext cx="0" cy="240"/>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nvGrpSpPr>
            <p:cNvPr id="29" name="Group 44"/>
            <p:cNvGrpSpPr>
              <a:grpSpLocks/>
            </p:cNvGrpSpPr>
            <p:nvPr/>
          </p:nvGrpSpPr>
          <p:grpSpPr bwMode="auto">
            <a:xfrm>
              <a:off x="612" y="144"/>
              <a:ext cx="4046" cy="2976"/>
              <a:chOff x="612" y="144"/>
              <a:chExt cx="4046" cy="2976"/>
            </a:xfrm>
          </p:grpSpPr>
          <p:grpSp>
            <p:nvGrpSpPr>
              <p:cNvPr id="30" name="Group 43"/>
              <p:cNvGrpSpPr>
                <a:grpSpLocks/>
              </p:cNvGrpSpPr>
              <p:nvPr/>
            </p:nvGrpSpPr>
            <p:grpSpPr bwMode="auto">
              <a:xfrm>
                <a:off x="612" y="144"/>
                <a:ext cx="4046" cy="2976"/>
                <a:chOff x="612" y="336"/>
                <a:chExt cx="4046" cy="2976"/>
              </a:xfrm>
            </p:grpSpPr>
            <p:sp>
              <p:nvSpPr>
                <p:cNvPr id="32" name="Rectangle 23"/>
                <p:cNvSpPr>
                  <a:spLocks noChangeArrowheads="1"/>
                </p:cNvSpPr>
                <p:nvPr/>
              </p:nvSpPr>
              <p:spPr bwMode="auto">
                <a:xfrm>
                  <a:off x="1390" y="544"/>
                  <a:ext cx="2052" cy="346"/>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33" name="Rectangle 24"/>
                <p:cNvSpPr>
                  <a:spLocks noChangeArrowheads="1"/>
                </p:cNvSpPr>
                <p:nvPr/>
              </p:nvSpPr>
              <p:spPr bwMode="auto">
                <a:xfrm>
                  <a:off x="1390" y="1167"/>
                  <a:ext cx="2052" cy="273"/>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(2)   </a:t>
                  </a:r>
                  <a:r>
                    <a:rPr kumimoji="1" lang="en-US" altLang="zh-CN" sz="2646">
                      <a:solidFill>
                        <a:prstClr val="black"/>
                      </a:solidFill>
                      <a:latin typeface="Arial" panose="020B0604020202020204"/>
                      <a:ea typeface="宋体" panose="02010600030101010101" pitchFamily="2" charset="-122"/>
                    </a:rPr>
                    <a:t>if  X&gt;=Y  goto B</a:t>
                  </a:r>
                  <a:r>
                    <a:rPr kumimoji="1" lang="en-US" altLang="zh-CN" sz="2646" baseline="-25000">
                      <a:solidFill>
                        <a:prstClr val="black"/>
                      </a:solidFill>
                      <a:latin typeface="Arial" panose="020B0604020202020204"/>
                      <a:ea typeface="宋体" panose="02010600030101010101" pitchFamily="2" charset="-122"/>
                    </a:rPr>
                    <a:t>4</a:t>
                  </a:r>
                  <a:endParaRPr kumimoji="1" lang="en-US" altLang="zh-CN" sz="2646">
                    <a:solidFill>
                      <a:prstClr val="black"/>
                    </a:solidFill>
                    <a:latin typeface="Arial" panose="020B0604020202020204"/>
                    <a:ea typeface="宋体" panose="02010600030101010101" pitchFamily="2" charset="-122"/>
                  </a:endParaRPr>
                </a:p>
              </p:txBody>
            </p:sp>
            <p:sp>
              <p:nvSpPr>
                <p:cNvPr id="34" name="Rectangle 25"/>
                <p:cNvSpPr>
                  <a:spLocks noChangeArrowheads="1"/>
                </p:cNvSpPr>
                <p:nvPr/>
              </p:nvSpPr>
              <p:spPr bwMode="auto">
                <a:xfrm>
                  <a:off x="3471" y="504"/>
                  <a:ext cx="293"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1</a:t>
                  </a:r>
                  <a:endParaRPr kumimoji="1" lang="en-US" altLang="zh-CN" sz="3086" dirty="0">
                    <a:solidFill>
                      <a:prstClr val="black"/>
                    </a:solidFill>
                    <a:latin typeface="Arial" panose="020B0604020202020204"/>
                    <a:ea typeface="宋体" panose="02010600030101010101" pitchFamily="2" charset="-122"/>
                  </a:endParaRPr>
                </a:p>
              </p:txBody>
            </p:sp>
            <p:sp>
              <p:nvSpPr>
                <p:cNvPr id="35" name="Rectangle 26"/>
                <p:cNvSpPr>
                  <a:spLocks noChangeArrowheads="1"/>
                </p:cNvSpPr>
                <p:nvPr/>
              </p:nvSpPr>
              <p:spPr bwMode="auto">
                <a:xfrm>
                  <a:off x="3479" y="969"/>
                  <a:ext cx="293"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2</a:t>
                  </a:r>
                  <a:endParaRPr kumimoji="1" lang="en-US" altLang="zh-CN" sz="3086" dirty="0">
                    <a:solidFill>
                      <a:prstClr val="black"/>
                    </a:solidFill>
                    <a:latin typeface="Arial" panose="020B0604020202020204"/>
                    <a:ea typeface="宋体" panose="02010600030101010101" pitchFamily="2" charset="-122"/>
                  </a:endParaRPr>
                </a:p>
              </p:txBody>
            </p:sp>
            <p:sp>
              <p:nvSpPr>
                <p:cNvPr id="36" name="Rectangle 27"/>
                <p:cNvSpPr>
                  <a:spLocks noChangeArrowheads="1"/>
                </p:cNvSpPr>
                <p:nvPr/>
              </p:nvSpPr>
              <p:spPr bwMode="auto">
                <a:xfrm>
                  <a:off x="905" y="1720"/>
                  <a:ext cx="1292" cy="623"/>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A:=I+1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(4)  X:=X+1</a:t>
                  </a:r>
                </a:p>
              </p:txBody>
            </p:sp>
            <p:sp>
              <p:nvSpPr>
                <p:cNvPr id="37" name="Rectangle 28"/>
                <p:cNvSpPr>
                  <a:spLocks noChangeArrowheads="1"/>
                </p:cNvSpPr>
                <p:nvPr/>
              </p:nvSpPr>
              <p:spPr bwMode="auto">
                <a:xfrm>
                  <a:off x="2467" y="1680"/>
                  <a:ext cx="1814" cy="768"/>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FF3300"/>
                      </a:solidFill>
                      <a:latin typeface="Arial" panose="020B0604020202020204"/>
                      <a:ea typeface="宋体" panose="02010600030101010101" pitchFamily="2" charset="-122"/>
                    </a:rPr>
                    <a:t>(5)  </a:t>
                  </a:r>
                  <a:r>
                    <a:rPr kumimoji="1" lang="en-US" altLang="zh-CN" sz="2646" dirty="0">
                      <a:solidFill>
                        <a:srgbClr val="FF3300"/>
                      </a:solidFill>
                      <a:latin typeface="Arial" panose="020B0604020202020204"/>
                      <a:ea typeface="宋体" panose="02010600030101010101" pitchFamily="2" charset="-122"/>
                    </a:rPr>
                    <a:t>I:=2</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(6)  </a:t>
                  </a:r>
                  <a:r>
                    <a:rPr kumimoji="1" lang="en-US" altLang="zh-CN" sz="2646" dirty="0">
                      <a:solidFill>
                        <a:prstClr val="black"/>
                      </a:solidFill>
                      <a:latin typeface="Arial" panose="020B0604020202020204"/>
                      <a:ea typeface="宋体" panose="02010600030101010101" pitchFamily="2" charset="-122"/>
                    </a:rPr>
                    <a:t>Y:=Y-1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if  Y&gt;0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endParaRPr kumimoji="1" lang="en-US" altLang="zh-CN" sz="2646" dirty="0">
                    <a:solidFill>
                      <a:prstClr val="black"/>
                    </a:solidFill>
                    <a:latin typeface="Arial" panose="020B0604020202020204"/>
                    <a:ea typeface="宋体" panose="02010600030101010101" pitchFamily="2" charset="-122"/>
                  </a:endParaRPr>
                </a:p>
              </p:txBody>
            </p:sp>
            <p:sp>
              <p:nvSpPr>
                <p:cNvPr id="38" name="Rectangle 29"/>
                <p:cNvSpPr>
                  <a:spLocks noChangeArrowheads="1"/>
                </p:cNvSpPr>
                <p:nvPr/>
              </p:nvSpPr>
              <p:spPr bwMode="auto">
                <a:xfrm>
                  <a:off x="2467" y="2689"/>
                  <a:ext cx="1814" cy="346"/>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zh-CN" sz="2646">
                      <a:solidFill>
                        <a:prstClr val="black"/>
                      </a:solidFill>
                      <a:latin typeface="Arial" panose="020B0604020202020204"/>
                      <a:ea typeface="宋体" panose="02010600030101010101" pitchFamily="2" charset="-122"/>
                    </a:rPr>
                    <a:t>(8)   </a:t>
                  </a:r>
                  <a:r>
                    <a:rPr kumimoji="1" lang="en-US" altLang="zh-CN" sz="2646">
                      <a:solidFill>
                        <a:prstClr val="black"/>
                      </a:solidFill>
                      <a:latin typeface="Arial" panose="020B0604020202020204"/>
                      <a:ea typeface="宋体" panose="02010600030101010101" pitchFamily="2" charset="-122"/>
                    </a:rPr>
                    <a:t>J:=A</a:t>
                  </a:r>
                </a:p>
              </p:txBody>
            </p:sp>
            <p:sp>
              <p:nvSpPr>
                <p:cNvPr id="39" name="Line 30"/>
                <p:cNvSpPr>
                  <a:spLocks noChangeShapeType="1"/>
                </p:cNvSpPr>
                <p:nvPr/>
              </p:nvSpPr>
              <p:spPr bwMode="auto">
                <a:xfrm>
                  <a:off x="2413" y="336"/>
                  <a:ext cx="0" cy="208"/>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0" name="Line 31"/>
                <p:cNvSpPr>
                  <a:spLocks noChangeShapeType="1"/>
                </p:cNvSpPr>
                <p:nvPr/>
              </p:nvSpPr>
              <p:spPr bwMode="auto">
                <a:xfrm>
                  <a:off x="2413" y="890"/>
                  <a:ext cx="0" cy="277"/>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1" name="Freeform 32"/>
                <p:cNvSpPr>
                  <a:spLocks/>
                </p:cNvSpPr>
                <p:nvPr/>
              </p:nvSpPr>
              <p:spPr bwMode="auto">
                <a:xfrm>
                  <a:off x="1120" y="1305"/>
                  <a:ext cx="270" cy="415"/>
                </a:xfrm>
                <a:custGeom>
                  <a:avLst/>
                  <a:gdLst>
                    <a:gd name="T0" fmla="*/ 487 w 240"/>
                    <a:gd name="T1" fmla="*/ 0 h 384"/>
                    <a:gd name="T2" fmla="*/ 0 w 240"/>
                    <a:gd name="T3" fmla="*/ 0 h 384"/>
                    <a:gd name="T4" fmla="*/ 0 w 240"/>
                    <a:gd name="T5" fmla="*/ 612 h 384"/>
                    <a:gd name="T6" fmla="*/ 0 60000 65536"/>
                    <a:gd name="T7" fmla="*/ 0 60000 65536"/>
                    <a:gd name="T8" fmla="*/ 0 60000 65536"/>
                    <a:gd name="T9" fmla="*/ 0 w 240"/>
                    <a:gd name="T10" fmla="*/ 0 h 384"/>
                    <a:gd name="T11" fmla="*/ 240 w 240"/>
                    <a:gd name="T12" fmla="*/ 384 h 384"/>
                  </a:gdLst>
                  <a:ahLst/>
                  <a:cxnLst>
                    <a:cxn ang="T6">
                      <a:pos x="T0" y="T1"/>
                    </a:cxn>
                    <a:cxn ang="T7">
                      <a:pos x="T2" y="T3"/>
                    </a:cxn>
                    <a:cxn ang="T8">
                      <a:pos x="T4" y="T5"/>
                    </a:cxn>
                  </a:cxnLst>
                  <a:rect l="T9" t="T10" r="T11" b="T12"/>
                  <a:pathLst>
                    <a:path w="240" h="384">
                      <a:moveTo>
                        <a:pt x="240" y="0"/>
                      </a:moveTo>
                      <a:lnTo>
                        <a:pt x="0" y="0"/>
                      </a:lnTo>
                      <a:lnTo>
                        <a:pt x="0"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2" name="Freeform 33"/>
                <p:cNvSpPr>
                  <a:spLocks/>
                </p:cNvSpPr>
                <p:nvPr/>
              </p:nvSpPr>
              <p:spPr bwMode="auto">
                <a:xfrm>
                  <a:off x="3436" y="1305"/>
                  <a:ext cx="323" cy="375"/>
                </a:xfrm>
                <a:custGeom>
                  <a:avLst/>
                  <a:gdLst>
                    <a:gd name="T0" fmla="*/ 0 w 288"/>
                    <a:gd name="T1" fmla="*/ 0 h 384"/>
                    <a:gd name="T2" fmla="*/ 572 w 288"/>
                    <a:gd name="T3" fmla="*/ 0 h 384"/>
                    <a:gd name="T4" fmla="*/ 572 w 288"/>
                    <a:gd name="T5" fmla="*/ 333 h 384"/>
                    <a:gd name="T6" fmla="*/ 0 60000 65536"/>
                    <a:gd name="T7" fmla="*/ 0 60000 65536"/>
                    <a:gd name="T8" fmla="*/ 0 60000 65536"/>
                    <a:gd name="T9" fmla="*/ 0 w 288"/>
                    <a:gd name="T10" fmla="*/ 0 h 384"/>
                    <a:gd name="T11" fmla="*/ 288 w 288"/>
                    <a:gd name="T12" fmla="*/ 384 h 384"/>
                  </a:gdLst>
                  <a:ahLst/>
                  <a:cxnLst>
                    <a:cxn ang="T6">
                      <a:pos x="T0" y="T1"/>
                    </a:cxn>
                    <a:cxn ang="T7">
                      <a:pos x="T2" y="T3"/>
                    </a:cxn>
                    <a:cxn ang="T8">
                      <a:pos x="T4" y="T5"/>
                    </a:cxn>
                  </a:cxnLst>
                  <a:rect l="T9" t="T10" r="T11" b="T12"/>
                  <a:pathLst>
                    <a:path w="288" h="384">
                      <a:moveTo>
                        <a:pt x="0" y="0"/>
                      </a:moveTo>
                      <a:lnTo>
                        <a:pt x="288" y="0"/>
                      </a:lnTo>
                      <a:lnTo>
                        <a:pt x="288"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3" name="Rectangle 34"/>
                <p:cNvSpPr>
                  <a:spLocks noChangeArrowheads="1"/>
                </p:cNvSpPr>
                <p:nvPr/>
              </p:nvSpPr>
              <p:spPr bwMode="auto">
                <a:xfrm>
                  <a:off x="612" y="1824"/>
                  <a:ext cx="293"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3</a:t>
                  </a:r>
                  <a:endParaRPr kumimoji="1" lang="en-US" altLang="zh-CN" sz="3086" dirty="0">
                    <a:solidFill>
                      <a:prstClr val="black"/>
                    </a:solidFill>
                    <a:latin typeface="Arial" panose="020B0604020202020204"/>
                    <a:ea typeface="宋体" panose="02010600030101010101" pitchFamily="2" charset="-122"/>
                  </a:endParaRPr>
                </a:p>
              </p:txBody>
            </p:sp>
            <p:sp>
              <p:nvSpPr>
                <p:cNvPr id="44" name="Rectangle 35"/>
                <p:cNvSpPr>
                  <a:spLocks noChangeArrowheads="1"/>
                </p:cNvSpPr>
                <p:nvPr/>
              </p:nvSpPr>
              <p:spPr bwMode="auto">
                <a:xfrm>
                  <a:off x="4281" y="1856"/>
                  <a:ext cx="293"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4</a:t>
                  </a:r>
                  <a:endParaRPr kumimoji="1" lang="en-US" altLang="zh-CN" sz="3086" dirty="0">
                    <a:solidFill>
                      <a:prstClr val="black"/>
                    </a:solidFill>
                    <a:latin typeface="Arial" panose="020B0604020202020204"/>
                    <a:ea typeface="宋体" panose="02010600030101010101" pitchFamily="2" charset="-122"/>
                  </a:endParaRPr>
                </a:p>
              </p:txBody>
            </p:sp>
            <p:sp>
              <p:nvSpPr>
                <p:cNvPr id="45" name="Rectangle 36"/>
                <p:cNvSpPr>
                  <a:spLocks noChangeArrowheads="1"/>
                </p:cNvSpPr>
                <p:nvPr/>
              </p:nvSpPr>
              <p:spPr bwMode="auto">
                <a:xfrm>
                  <a:off x="4281" y="2632"/>
                  <a:ext cx="293"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5</a:t>
                  </a:r>
                  <a:endParaRPr kumimoji="1" lang="en-US" altLang="zh-CN" sz="3086" dirty="0">
                    <a:solidFill>
                      <a:prstClr val="black"/>
                    </a:solidFill>
                    <a:latin typeface="Arial" panose="020B0604020202020204"/>
                    <a:ea typeface="宋体" panose="02010600030101010101" pitchFamily="2" charset="-122"/>
                  </a:endParaRPr>
                </a:p>
              </p:txBody>
            </p:sp>
            <p:sp>
              <p:nvSpPr>
                <p:cNvPr id="46" name="Line 37"/>
                <p:cNvSpPr>
                  <a:spLocks noChangeShapeType="1"/>
                </p:cNvSpPr>
                <p:nvPr/>
              </p:nvSpPr>
              <p:spPr bwMode="auto">
                <a:xfrm>
                  <a:off x="3490" y="3035"/>
                  <a:ext cx="0" cy="277"/>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7" name="Freeform 39"/>
                <p:cNvSpPr>
                  <a:spLocks/>
                </p:cNvSpPr>
                <p:nvPr/>
              </p:nvSpPr>
              <p:spPr bwMode="auto">
                <a:xfrm>
                  <a:off x="2844" y="959"/>
                  <a:ext cx="1814" cy="1681"/>
                </a:xfrm>
                <a:custGeom>
                  <a:avLst/>
                  <a:gdLst>
                    <a:gd name="T0" fmla="*/ 1720 w 1872"/>
                    <a:gd name="T1" fmla="*/ 4594 h 1344"/>
                    <a:gd name="T2" fmla="*/ 1720 w 1872"/>
                    <a:gd name="T3" fmla="*/ 5146 h 1344"/>
                    <a:gd name="T4" fmla="*/ 3731 w 1872"/>
                    <a:gd name="T5" fmla="*/ 5146 h 1344"/>
                    <a:gd name="T6" fmla="*/ 3731 w 1872"/>
                    <a:gd name="T7" fmla="*/ 0 h 1344"/>
                    <a:gd name="T8" fmla="*/ 0 w 1872"/>
                    <a:gd name="T9" fmla="*/ 0 h 1344"/>
                    <a:gd name="T10" fmla="*/ 0 w 1872"/>
                    <a:gd name="T11" fmla="*/ 549 h 1344"/>
                    <a:gd name="T12" fmla="*/ 0 60000 65536"/>
                    <a:gd name="T13" fmla="*/ 0 60000 65536"/>
                    <a:gd name="T14" fmla="*/ 0 60000 65536"/>
                    <a:gd name="T15" fmla="*/ 0 60000 65536"/>
                    <a:gd name="T16" fmla="*/ 0 60000 65536"/>
                    <a:gd name="T17" fmla="*/ 0 60000 65536"/>
                    <a:gd name="T18" fmla="*/ 0 w 1872"/>
                    <a:gd name="T19" fmla="*/ 0 h 1344"/>
                    <a:gd name="T20" fmla="*/ 1872 w 1872"/>
                    <a:gd name="T21" fmla="*/ 1344 h 1344"/>
                  </a:gdLst>
                  <a:ahLst/>
                  <a:cxnLst>
                    <a:cxn ang="T12">
                      <a:pos x="T0" y="T1"/>
                    </a:cxn>
                    <a:cxn ang="T13">
                      <a:pos x="T2" y="T3"/>
                    </a:cxn>
                    <a:cxn ang="T14">
                      <a:pos x="T4" y="T5"/>
                    </a:cxn>
                    <a:cxn ang="T15">
                      <a:pos x="T6" y="T7"/>
                    </a:cxn>
                    <a:cxn ang="T16">
                      <a:pos x="T8" y="T9"/>
                    </a:cxn>
                    <a:cxn ang="T17">
                      <a:pos x="T10" y="T11"/>
                    </a:cxn>
                  </a:cxnLst>
                  <a:rect l="T18" t="T19" r="T20" b="T21"/>
                  <a:pathLst>
                    <a:path w="1872" h="1344">
                      <a:moveTo>
                        <a:pt x="864" y="1200"/>
                      </a:moveTo>
                      <a:lnTo>
                        <a:pt x="864" y="1344"/>
                      </a:lnTo>
                      <a:lnTo>
                        <a:pt x="1872" y="1344"/>
                      </a:lnTo>
                      <a:lnTo>
                        <a:pt x="1872" y="0"/>
                      </a:lnTo>
                      <a:lnTo>
                        <a:pt x="0" y="0"/>
                      </a:lnTo>
                      <a:lnTo>
                        <a:pt x="0"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
            <p:nvSpPr>
              <p:cNvPr id="31" name="Freeform 42"/>
              <p:cNvSpPr>
                <a:spLocks/>
              </p:cNvSpPr>
              <p:nvPr/>
            </p:nvSpPr>
            <p:spPr bwMode="auto">
              <a:xfrm>
                <a:off x="1632" y="1344"/>
                <a:ext cx="1296" cy="1056"/>
              </a:xfrm>
              <a:custGeom>
                <a:avLst/>
                <a:gdLst>
                  <a:gd name="T0" fmla="*/ 0 w 1296"/>
                  <a:gd name="T1" fmla="*/ 816 h 1056"/>
                  <a:gd name="T2" fmla="*/ 0 w 1296"/>
                  <a:gd name="T3" fmla="*/ 1056 h 1056"/>
                  <a:gd name="T4" fmla="*/ 720 w 1296"/>
                  <a:gd name="T5" fmla="*/ 1056 h 1056"/>
                  <a:gd name="T6" fmla="*/ 720 w 1296"/>
                  <a:gd name="T7" fmla="*/ 0 h 1056"/>
                  <a:gd name="T8" fmla="*/ 1296 w 1296"/>
                  <a:gd name="T9" fmla="*/ 0 h 1056"/>
                  <a:gd name="T10" fmla="*/ 1296 w 1296"/>
                  <a:gd name="T11" fmla="*/ 144 h 1056"/>
                  <a:gd name="T12" fmla="*/ 0 60000 65536"/>
                  <a:gd name="T13" fmla="*/ 0 60000 65536"/>
                  <a:gd name="T14" fmla="*/ 0 60000 65536"/>
                  <a:gd name="T15" fmla="*/ 0 60000 65536"/>
                  <a:gd name="T16" fmla="*/ 0 60000 65536"/>
                  <a:gd name="T17" fmla="*/ 0 60000 65536"/>
                  <a:gd name="T18" fmla="*/ 0 w 1296"/>
                  <a:gd name="T19" fmla="*/ 0 h 1056"/>
                  <a:gd name="T20" fmla="*/ 1296 w 1296"/>
                  <a:gd name="T21" fmla="*/ 1056 h 1056"/>
                </a:gdLst>
                <a:ahLst/>
                <a:cxnLst>
                  <a:cxn ang="T12">
                    <a:pos x="T0" y="T1"/>
                  </a:cxn>
                  <a:cxn ang="T13">
                    <a:pos x="T2" y="T3"/>
                  </a:cxn>
                  <a:cxn ang="T14">
                    <a:pos x="T4" y="T5"/>
                  </a:cxn>
                  <a:cxn ang="T15">
                    <a:pos x="T6" y="T7"/>
                  </a:cxn>
                  <a:cxn ang="T16">
                    <a:pos x="T8" y="T9"/>
                  </a:cxn>
                  <a:cxn ang="T17">
                    <a:pos x="T10" y="T11"/>
                  </a:cxn>
                </a:cxnLst>
                <a:rect l="T18" t="T19" r="T20" b="T21"/>
                <a:pathLst>
                  <a:path w="1296" h="1056">
                    <a:moveTo>
                      <a:pt x="0" y="816"/>
                    </a:moveTo>
                    <a:lnTo>
                      <a:pt x="0" y="1056"/>
                    </a:lnTo>
                    <a:lnTo>
                      <a:pt x="720" y="1056"/>
                    </a:lnTo>
                    <a:lnTo>
                      <a:pt x="720" y="0"/>
                    </a:lnTo>
                    <a:lnTo>
                      <a:pt x="1296" y="0"/>
                    </a:lnTo>
                    <a:lnTo>
                      <a:pt x="1296"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grpSp>
      <p:sp>
        <p:nvSpPr>
          <p:cNvPr id="48" name="文本框 47"/>
          <p:cNvSpPr txBox="1"/>
          <p:nvPr/>
        </p:nvSpPr>
        <p:spPr>
          <a:xfrm>
            <a:off x="500957" y="6133261"/>
            <a:ext cx="4543231" cy="1191673"/>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pPr defTabSz="503972" rtl="0" fontAlgn="auto" hangingPunct="1">
              <a:lnSpc>
                <a:spcPct val="90000"/>
              </a:lnSpc>
              <a:spcAft>
                <a:spcPts val="0"/>
              </a:spcAft>
              <a:buSzTx/>
            </a:pPr>
            <a:r>
              <a:rPr lang="zh-CN" altLang="en-US" sz="2646" dirty="0">
                <a:solidFill>
                  <a:prstClr val="black"/>
                </a:solidFill>
                <a:latin typeface="微软雅黑" panose="020B0503020204020204" pitchFamily="34" charset="-122"/>
                <a:ea typeface="微软雅黑" panose="020B0503020204020204" pitchFamily="34" charset="-122"/>
              </a:rPr>
              <a:t>考虑:</a:t>
            </a:r>
            <a:r>
              <a:rPr lang="zh-CN" altLang="zh-CN" sz="2646"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X=0, Y=2 </a:t>
            </a:r>
          </a:p>
          <a:p>
            <a:pPr defTabSz="503972" rtl="0" fontAlgn="auto" hangingPunct="1">
              <a:lnSpc>
                <a:spcPct val="90000"/>
              </a:lnSpc>
              <a:spcAft>
                <a:spcPts val="0"/>
              </a:spcAft>
              <a:buSzTx/>
            </a:pP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2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3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4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2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4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5</a:t>
            </a:r>
          </a:p>
          <a:p>
            <a:pPr defTabSz="503972" rtl="0" fontAlgn="auto" hangingPunct="1">
              <a:lnSpc>
                <a:spcPct val="90000"/>
              </a:lnSpc>
              <a:spcAft>
                <a:spcPts val="0"/>
              </a:spcAft>
              <a:buSzTx/>
            </a:pPr>
            <a:r>
              <a:rPr lang="en-US" altLang="zh-CN" sz="2646" dirty="0">
                <a:solidFill>
                  <a:prstClr val="black"/>
                </a:solidFill>
                <a:latin typeface="微软雅黑" panose="020B0503020204020204" pitchFamily="34" charset="-122"/>
                <a:ea typeface="微软雅黑" panose="020B0503020204020204" pitchFamily="34" charset="-122"/>
              </a:rPr>
              <a:t>A=2,  J=2</a:t>
            </a:r>
          </a:p>
        </p:txBody>
      </p:sp>
    </p:spTree>
    <p:extLst>
      <p:ext uri="{BB962C8B-B14F-4D97-AF65-F5344CB8AC3E}">
        <p14:creationId xmlns:p14="http://schemas.microsoft.com/office/powerpoint/2010/main" val="2587058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animEffect transition="in" filter="wipe(left)">
                                      <p:cBhvr>
                                        <p:cTn id="7" dur="500"/>
                                        <p:tgtEl>
                                          <p:spTgt spid="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
                                            <p:txEl>
                                              <p:pRg st="1" end="1"/>
                                            </p:txEl>
                                          </p:spTgt>
                                        </p:tgtEl>
                                        <p:attrNameLst>
                                          <p:attrName>style.visibility</p:attrName>
                                        </p:attrNameLst>
                                      </p:cBhvr>
                                      <p:to>
                                        <p:strVal val="visible"/>
                                      </p:to>
                                    </p:set>
                                    <p:animEffect transition="in" filter="wipe(left)">
                                      <p:cBhvr>
                                        <p:cTn id="12" dur="500"/>
                                        <p:tgtEl>
                                          <p:spTgt spid="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8">
                                            <p:txEl>
                                              <p:pRg st="2" end="2"/>
                                            </p:txEl>
                                          </p:spTgt>
                                        </p:tgtEl>
                                        <p:attrNameLst>
                                          <p:attrName>style.visibility</p:attrName>
                                        </p:attrNameLst>
                                      </p:cBhvr>
                                      <p:to>
                                        <p:strVal val="visible"/>
                                      </p:to>
                                    </p:set>
                                    <p:animEffect transition="in" filter="wipe(left)">
                                      <p:cBhvr>
                                        <p:cTn id="17" dur="500"/>
                                        <p:tgtEl>
                                          <p:spTgt spid="4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外提的条件</a:t>
            </a:r>
          </a:p>
        </p:txBody>
      </p:sp>
      <p:grpSp>
        <p:nvGrpSpPr>
          <p:cNvPr id="27" name="Group 2"/>
          <p:cNvGrpSpPr>
            <a:grpSpLocks/>
          </p:cNvGrpSpPr>
          <p:nvPr/>
        </p:nvGrpSpPr>
        <p:grpSpPr bwMode="auto">
          <a:xfrm>
            <a:off x="1787885" y="1686927"/>
            <a:ext cx="7173499" cy="4787794"/>
            <a:chOff x="839" y="1920"/>
            <a:chExt cx="3576" cy="2448"/>
          </a:xfrm>
        </p:grpSpPr>
        <p:sp>
          <p:nvSpPr>
            <p:cNvPr id="29" name="Rectangle 3"/>
            <p:cNvSpPr>
              <a:spLocks noChangeArrowheads="1"/>
            </p:cNvSpPr>
            <p:nvPr/>
          </p:nvSpPr>
          <p:spPr bwMode="auto">
            <a:xfrm>
              <a:off x="1536" y="2448"/>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FF3300"/>
                  </a:solidFill>
                  <a:latin typeface="Arial" panose="020B0604020202020204"/>
                  <a:ea typeface="宋体" panose="02010600030101010101" pitchFamily="2" charset="-122"/>
                </a:rPr>
                <a:t>(5)	</a:t>
              </a:r>
              <a:r>
                <a:rPr kumimoji="1" lang="en-US" altLang="zh-CN" sz="2646" dirty="0">
                  <a:solidFill>
                    <a:srgbClr val="FF3300"/>
                  </a:solidFill>
                  <a:latin typeface="Arial" panose="020B0604020202020204"/>
                  <a:ea typeface="宋体" panose="02010600030101010101" pitchFamily="2" charset="-122"/>
                </a:rPr>
                <a:t>I:=2</a:t>
              </a:r>
            </a:p>
          </p:txBody>
        </p:sp>
        <p:sp>
          <p:nvSpPr>
            <p:cNvPr id="30" name="Rectangle 4"/>
            <p:cNvSpPr>
              <a:spLocks noChangeArrowheads="1"/>
            </p:cNvSpPr>
            <p:nvPr/>
          </p:nvSpPr>
          <p:spPr bwMode="auto">
            <a:xfrm>
              <a:off x="1536" y="2880"/>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(2)    </a:t>
              </a:r>
              <a:r>
                <a:rPr kumimoji="1" lang="en-US" altLang="zh-CN" sz="2646">
                  <a:solidFill>
                    <a:prstClr val="black"/>
                  </a:solidFill>
                  <a:latin typeface="Arial" panose="020B0604020202020204"/>
                  <a:ea typeface="宋体" panose="02010600030101010101" pitchFamily="2" charset="-122"/>
                </a:rPr>
                <a:t>if   X&gt;=Y  goto B</a:t>
              </a:r>
              <a:r>
                <a:rPr kumimoji="1" lang="en-US" altLang="zh-CN" sz="2646" baseline="-25000">
                  <a:solidFill>
                    <a:prstClr val="black"/>
                  </a:solidFill>
                  <a:latin typeface="Arial" panose="020B0604020202020204"/>
                  <a:ea typeface="宋体" panose="02010600030101010101" pitchFamily="2" charset="-122"/>
                </a:rPr>
                <a:t>4</a:t>
              </a:r>
            </a:p>
          </p:txBody>
        </p:sp>
        <p:sp>
          <p:nvSpPr>
            <p:cNvPr id="31" name="Rectangle 5"/>
            <p:cNvSpPr>
              <a:spLocks noChangeArrowheads="1"/>
            </p:cNvSpPr>
            <p:nvPr/>
          </p:nvSpPr>
          <p:spPr bwMode="auto">
            <a:xfrm>
              <a:off x="3380" y="201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1</a:t>
              </a:r>
              <a:endParaRPr kumimoji="1" lang="en-US" altLang="zh-CN" sz="3086" dirty="0">
                <a:solidFill>
                  <a:prstClr val="black"/>
                </a:solidFill>
                <a:latin typeface="Arial" panose="020B0604020202020204"/>
                <a:ea typeface="宋体" panose="02010600030101010101" pitchFamily="2" charset="-122"/>
              </a:endParaRPr>
            </a:p>
          </p:txBody>
        </p:sp>
        <p:sp>
          <p:nvSpPr>
            <p:cNvPr id="32" name="Rectangle 6"/>
            <p:cNvSpPr>
              <a:spLocks noChangeArrowheads="1"/>
            </p:cNvSpPr>
            <p:nvPr/>
          </p:nvSpPr>
          <p:spPr bwMode="auto">
            <a:xfrm>
              <a:off x="3380" y="2728"/>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33" name="Rectangle 7"/>
            <p:cNvSpPr>
              <a:spLocks noChangeArrowheads="1"/>
            </p:cNvSpPr>
            <p:nvPr/>
          </p:nvSpPr>
          <p:spPr bwMode="auto">
            <a:xfrm>
              <a:off x="1104" y="3264"/>
              <a:ext cx="1152" cy="43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(3)   </a:t>
              </a:r>
              <a:r>
                <a:rPr kumimoji="1" lang="en-US" altLang="zh-CN" sz="2646">
                  <a:solidFill>
                    <a:prstClr val="black"/>
                  </a:solidFill>
                  <a:latin typeface="Arial" panose="020B0604020202020204"/>
                  <a:ea typeface="宋体" panose="02010600030101010101" pitchFamily="2" charset="-122"/>
                </a:rPr>
                <a:t>A:=I+1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(4)   X:=X+1</a:t>
              </a:r>
            </a:p>
          </p:txBody>
        </p:sp>
        <p:sp>
          <p:nvSpPr>
            <p:cNvPr id="34" name="Rectangle 8"/>
            <p:cNvSpPr>
              <a:spLocks noChangeArrowheads="1"/>
            </p:cNvSpPr>
            <p:nvPr/>
          </p:nvSpPr>
          <p:spPr bwMode="auto">
            <a:xfrm>
              <a:off x="2496" y="3312"/>
              <a:ext cx="1583" cy="43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(6)   </a:t>
              </a:r>
              <a:r>
                <a:rPr kumimoji="1" lang="en-US" altLang="zh-CN" sz="2646">
                  <a:solidFill>
                    <a:prstClr val="black"/>
                  </a:solidFill>
                  <a:latin typeface="Arial" panose="020B0604020202020204"/>
                  <a:ea typeface="宋体" panose="02010600030101010101" pitchFamily="2" charset="-122"/>
                </a:rPr>
                <a:t>Y:=Y-1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(7)   if  Y&gt;0 goto B</a:t>
              </a:r>
              <a:r>
                <a:rPr kumimoji="1" lang="en-US" altLang="zh-CN" sz="2646" baseline="-25000">
                  <a:solidFill>
                    <a:prstClr val="black"/>
                  </a:solidFill>
                  <a:latin typeface="Arial" panose="020B0604020202020204"/>
                  <a:ea typeface="宋体" panose="02010600030101010101" pitchFamily="2" charset="-122"/>
                </a:rPr>
                <a:t>2</a:t>
              </a:r>
              <a:endParaRPr kumimoji="1" lang="en-US" altLang="zh-CN" sz="2646">
                <a:solidFill>
                  <a:prstClr val="black"/>
                </a:solidFill>
                <a:latin typeface="Arial" panose="020B0604020202020204"/>
                <a:ea typeface="宋体" panose="02010600030101010101" pitchFamily="2" charset="-122"/>
              </a:endParaRPr>
            </a:p>
          </p:txBody>
        </p:sp>
        <p:sp>
          <p:nvSpPr>
            <p:cNvPr id="35" name="Rectangle 9"/>
            <p:cNvSpPr>
              <a:spLocks noChangeArrowheads="1"/>
            </p:cNvSpPr>
            <p:nvPr/>
          </p:nvSpPr>
          <p:spPr bwMode="auto">
            <a:xfrm>
              <a:off x="2496" y="3936"/>
              <a:ext cx="1583"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zh-CN" sz="2646">
                  <a:solidFill>
                    <a:prstClr val="black"/>
                  </a:solidFill>
                  <a:latin typeface="Arial" panose="020B0604020202020204"/>
                  <a:ea typeface="宋体" panose="02010600030101010101" pitchFamily="2" charset="-122"/>
                </a:rPr>
                <a:t>(8)   </a:t>
              </a:r>
              <a:r>
                <a:rPr kumimoji="1" lang="en-US" altLang="zh-CN" sz="2646">
                  <a:solidFill>
                    <a:prstClr val="black"/>
                  </a:solidFill>
                  <a:latin typeface="Arial" panose="020B0604020202020204"/>
                  <a:ea typeface="宋体" panose="02010600030101010101" pitchFamily="2" charset="-122"/>
                </a:rPr>
                <a:t>J:=A</a:t>
              </a:r>
            </a:p>
          </p:txBody>
        </p:sp>
        <p:sp>
          <p:nvSpPr>
            <p:cNvPr id="36" name="Line 10"/>
            <p:cNvSpPr>
              <a:spLocks noChangeShapeType="1"/>
            </p:cNvSpPr>
            <p:nvPr/>
          </p:nvSpPr>
          <p:spPr bwMode="auto">
            <a:xfrm>
              <a:off x="2448" y="230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7" name="Line 11"/>
            <p:cNvSpPr>
              <a:spLocks noChangeShapeType="1"/>
            </p:cNvSpPr>
            <p:nvPr/>
          </p:nvSpPr>
          <p:spPr bwMode="auto">
            <a:xfrm>
              <a:off x="2448" y="2688"/>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8" name="Freeform 12"/>
            <p:cNvSpPr>
              <a:spLocks/>
            </p:cNvSpPr>
            <p:nvPr/>
          </p:nvSpPr>
          <p:spPr bwMode="auto">
            <a:xfrm>
              <a:off x="1296" y="2976"/>
              <a:ext cx="240" cy="288"/>
            </a:xfrm>
            <a:custGeom>
              <a:avLst/>
              <a:gdLst>
                <a:gd name="T0" fmla="*/ 240 w 240"/>
                <a:gd name="T1" fmla="*/ 0 h 384"/>
                <a:gd name="T2" fmla="*/ 0 w 240"/>
                <a:gd name="T3" fmla="*/ 0 h 384"/>
                <a:gd name="T4" fmla="*/ 0 w 240"/>
                <a:gd name="T5" fmla="*/ 69 h 384"/>
                <a:gd name="T6" fmla="*/ 0 60000 65536"/>
                <a:gd name="T7" fmla="*/ 0 60000 65536"/>
                <a:gd name="T8" fmla="*/ 0 60000 65536"/>
                <a:gd name="T9" fmla="*/ 0 w 240"/>
                <a:gd name="T10" fmla="*/ 0 h 384"/>
                <a:gd name="T11" fmla="*/ 240 w 240"/>
                <a:gd name="T12" fmla="*/ 384 h 384"/>
              </a:gdLst>
              <a:ahLst/>
              <a:cxnLst>
                <a:cxn ang="T6">
                  <a:pos x="T0" y="T1"/>
                </a:cxn>
                <a:cxn ang="T7">
                  <a:pos x="T2" y="T3"/>
                </a:cxn>
                <a:cxn ang="T8">
                  <a:pos x="T4" y="T5"/>
                </a:cxn>
              </a:cxnLst>
              <a:rect l="T9" t="T10" r="T11" b="T12"/>
              <a:pathLst>
                <a:path w="240" h="384">
                  <a:moveTo>
                    <a:pt x="240" y="0"/>
                  </a:moveTo>
                  <a:lnTo>
                    <a:pt x="0" y="0"/>
                  </a:lnTo>
                  <a:lnTo>
                    <a:pt x="0"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39" name="Freeform 13"/>
            <p:cNvSpPr>
              <a:spLocks/>
            </p:cNvSpPr>
            <p:nvPr/>
          </p:nvSpPr>
          <p:spPr bwMode="auto">
            <a:xfrm>
              <a:off x="3374" y="2976"/>
              <a:ext cx="288" cy="336"/>
            </a:xfrm>
            <a:custGeom>
              <a:avLst/>
              <a:gdLst>
                <a:gd name="T0" fmla="*/ 0 w 288"/>
                <a:gd name="T1" fmla="*/ 0 h 384"/>
                <a:gd name="T2" fmla="*/ 288 w 288"/>
                <a:gd name="T3" fmla="*/ 0 h 384"/>
                <a:gd name="T4" fmla="*/ 288 w 288"/>
                <a:gd name="T5" fmla="*/ 172 h 384"/>
                <a:gd name="T6" fmla="*/ 0 60000 65536"/>
                <a:gd name="T7" fmla="*/ 0 60000 65536"/>
                <a:gd name="T8" fmla="*/ 0 60000 65536"/>
                <a:gd name="T9" fmla="*/ 0 w 288"/>
                <a:gd name="T10" fmla="*/ 0 h 384"/>
                <a:gd name="T11" fmla="*/ 288 w 288"/>
                <a:gd name="T12" fmla="*/ 384 h 384"/>
              </a:gdLst>
              <a:ahLst/>
              <a:cxnLst>
                <a:cxn ang="T6">
                  <a:pos x="T0" y="T1"/>
                </a:cxn>
                <a:cxn ang="T7">
                  <a:pos x="T2" y="T3"/>
                </a:cxn>
                <a:cxn ang="T8">
                  <a:pos x="T4" y="T5"/>
                </a:cxn>
              </a:cxnLst>
              <a:rect l="T9" t="T10" r="T11" b="T12"/>
              <a:pathLst>
                <a:path w="288" h="384">
                  <a:moveTo>
                    <a:pt x="0" y="0"/>
                  </a:moveTo>
                  <a:lnTo>
                    <a:pt x="288" y="0"/>
                  </a:lnTo>
                  <a:lnTo>
                    <a:pt x="288" y="38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0" name="Rectangle 14"/>
            <p:cNvSpPr>
              <a:spLocks noChangeArrowheads="1"/>
            </p:cNvSpPr>
            <p:nvPr/>
          </p:nvSpPr>
          <p:spPr bwMode="auto">
            <a:xfrm>
              <a:off x="839" y="333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3</a:t>
              </a:r>
              <a:endParaRPr kumimoji="1" lang="en-US" altLang="zh-CN" sz="3086" dirty="0">
                <a:solidFill>
                  <a:prstClr val="black"/>
                </a:solidFill>
                <a:latin typeface="Arial" panose="020B0604020202020204"/>
                <a:ea typeface="宋体" panose="02010600030101010101" pitchFamily="2" charset="-122"/>
              </a:endParaRPr>
            </a:p>
          </p:txBody>
        </p:sp>
        <p:sp>
          <p:nvSpPr>
            <p:cNvPr id="41" name="Rectangle 15"/>
            <p:cNvSpPr>
              <a:spLocks noChangeArrowheads="1"/>
            </p:cNvSpPr>
            <p:nvPr/>
          </p:nvSpPr>
          <p:spPr bwMode="auto">
            <a:xfrm>
              <a:off x="4079" y="338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4</a:t>
              </a:r>
              <a:endParaRPr kumimoji="1" lang="en-US" altLang="zh-CN" sz="3086" dirty="0">
                <a:solidFill>
                  <a:prstClr val="black"/>
                </a:solidFill>
                <a:latin typeface="Arial" panose="020B0604020202020204"/>
                <a:ea typeface="宋体" panose="02010600030101010101" pitchFamily="2" charset="-122"/>
              </a:endParaRPr>
            </a:p>
          </p:txBody>
        </p:sp>
        <p:sp>
          <p:nvSpPr>
            <p:cNvPr id="42" name="Rectangle 16"/>
            <p:cNvSpPr>
              <a:spLocks noChangeArrowheads="1"/>
            </p:cNvSpPr>
            <p:nvPr/>
          </p:nvSpPr>
          <p:spPr bwMode="auto">
            <a:xfrm>
              <a:off x="4079" y="391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5</a:t>
              </a:r>
              <a:endParaRPr kumimoji="1" lang="en-US" altLang="zh-CN" sz="3086" dirty="0">
                <a:solidFill>
                  <a:prstClr val="black"/>
                </a:solidFill>
                <a:latin typeface="Arial" panose="020B0604020202020204"/>
                <a:ea typeface="宋体" panose="02010600030101010101" pitchFamily="2" charset="-122"/>
              </a:endParaRPr>
            </a:p>
          </p:txBody>
        </p:sp>
        <p:sp>
          <p:nvSpPr>
            <p:cNvPr id="43" name="Line 17"/>
            <p:cNvSpPr>
              <a:spLocks noChangeShapeType="1"/>
            </p:cNvSpPr>
            <p:nvPr/>
          </p:nvSpPr>
          <p:spPr bwMode="auto">
            <a:xfrm>
              <a:off x="3408" y="4176"/>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4" name="Line 18"/>
            <p:cNvSpPr>
              <a:spLocks noChangeShapeType="1"/>
            </p:cNvSpPr>
            <p:nvPr/>
          </p:nvSpPr>
          <p:spPr bwMode="auto">
            <a:xfrm>
              <a:off x="3408" y="3744"/>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5" name="Freeform 19"/>
            <p:cNvSpPr>
              <a:spLocks/>
            </p:cNvSpPr>
            <p:nvPr/>
          </p:nvSpPr>
          <p:spPr bwMode="auto">
            <a:xfrm>
              <a:off x="2832" y="2736"/>
              <a:ext cx="1583" cy="1152"/>
            </a:xfrm>
            <a:custGeom>
              <a:avLst/>
              <a:gdLst>
                <a:gd name="T0" fmla="*/ 864 w 1872"/>
                <a:gd name="T1" fmla="*/ 476 h 1344"/>
                <a:gd name="T2" fmla="*/ 864 w 1872"/>
                <a:gd name="T3" fmla="*/ 532 h 1344"/>
                <a:gd name="T4" fmla="*/ 1872 w 1872"/>
                <a:gd name="T5" fmla="*/ 532 h 1344"/>
                <a:gd name="T6" fmla="*/ 1872 w 1872"/>
                <a:gd name="T7" fmla="*/ 0 h 1344"/>
                <a:gd name="T8" fmla="*/ 0 w 1872"/>
                <a:gd name="T9" fmla="*/ 0 h 1344"/>
                <a:gd name="T10" fmla="*/ 0 w 1872"/>
                <a:gd name="T11" fmla="*/ 57 h 1344"/>
                <a:gd name="T12" fmla="*/ 0 60000 65536"/>
                <a:gd name="T13" fmla="*/ 0 60000 65536"/>
                <a:gd name="T14" fmla="*/ 0 60000 65536"/>
                <a:gd name="T15" fmla="*/ 0 60000 65536"/>
                <a:gd name="T16" fmla="*/ 0 60000 65536"/>
                <a:gd name="T17" fmla="*/ 0 60000 65536"/>
                <a:gd name="T18" fmla="*/ 0 w 1872"/>
                <a:gd name="T19" fmla="*/ 0 h 1344"/>
                <a:gd name="T20" fmla="*/ 1872 w 1872"/>
                <a:gd name="T21" fmla="*/ 1344 h 1344"/>
              </a:gdLst>
              <a:ahLst/>
              <a:cxnLst>
                <a:cxn ang="T12">
                  <a:pos x="T0" y="T1"/>
                </a:cxn>
                <a:cxn ang="T13">
                  <a:pos x="T2" y="T3"/>
                </a:cxn>
                <a:cxn ang="T14">
                  <a:pos x="T4" y="T5"/>
                </a:cxn>
                <a:cxn ang="T15">
                  <a:pos x="T6" y="T7"/>
                </a:cxn>
                <a:cxn ang="T16">
                  <a:pos x="T8" y="T9"/>
                </a:cxn>
                <a:cxn ang="T17">
                  <a:pos x="T10" y="T11"/>
                </a:cxn>
              </a:cxnLst>
              <a:rect l="T18" t="T19" r="T20" b="T21"/>
              <a:pathLst>
                <a:path w="1872" h="1344">
                  <a:moveTo>
                    <a:pt x="864" y="1200"/>
                  </a:moveTo>
                  <a:lnTo>
                    <a:pt x="864" y="1344"/>
                  </a:lnTo>
                  <a:lnTo>
                    <a:pt x="1872" y="1344"/>
                  </a:lnTo>
                  <a:lnTo>
                    <a:pt x="1872" y="0"/>
                  </a:lnTo>
                  <a:lnTo>
                    <a:pt x="0" y="0"/>
                  </a:lnTo>
                  <a:lnTo>
                    <a:pt x="0"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6" name="Freeform 20"/>
            <p:cNvSpPr>
              <a:spLocks/>
            </p:cNvSpPr>
            <p:nvPr/>
          </p:nvSpPr>
          <p:spPr bwMode="auto">
            <a:xfrm>
              <a:off x="1728" y="3168"/>
              <a:ext cx="1248" cy="672"/>
            </a:xfrm>
            <a:custGeom>
              <a:avLst/>
              <a:gdLst>
                <a:gd name="T0" fmla="*/ 0 w 1248"/>
                <a:gd name="T1" fmla="*/ 528 h 672"/>
                <a:gd name="T2" fmla="*/ 0 w 1248"/>
                <a:gd name="T3" fmla="*/ 672 h 672"/>
                <a:gd name="T4" fmla="*/ 624 w 1248"/>
                <a:gd name="T5" fmla="*/ 672 h 672"/>
                <a:gd name="T6" fmla="*/ 624 w 1248"/>
                <a:gd name="T7" fmla="*/ 0 h 672"/>
                <a:gd name="T8" fmla="*/ 1248 w 1248"/>
                <a:gd name="T9" fmla="*/ 0 h 672"/>
                <a:gd name="T10" fmla="*/ 1248 w 1248"/>
                <a:gd name="T11" fmla="*/ 144 h 672"/>
                <a:gd name="T12" fmla="*/ 0 60000 65536"/>
                <a:gd name="T13" fmla="*/ 0 60000 65536"/>
                <a:gd name="T14" fmla="*/ 0 60000 65536"/>
                <a:gd name="T15" fmla="*/ 0 60000 65536"/>
                <a:gd name="T16" fmla="*/ 0 60000 65536"/>
                <a:gd name="T17" fmla="*/ 0 60000 65536"/>
                <a:gd name="T18" fmla="*/ 0 w 1248"/>
                <a:gd name="T19" fmla="*/ 0 h 672"/>
                <a:gd name="T20" fmla="*/ 1248 w 1248"/>
                <a:gd name="T21" fmla="*/ 672 h 672"/>
              </a:gdLst>
              <a:ahLst/>
              <a:cxnLst>
                <a:cxn ang="T12">
                  <a:pos x="T0" y="T1"/>
                </a:cxn>
                <a:cxn ang="T13">
                  <a:pos x="T2" y="T3"/>
                </a:cxn>
                <a:cxn ang="T14">
                  <a:pos x="T4" y="T5"/>
                </a:cxn>
                <a:cxn ang="T15">
                  <a:pos x="T6" y="T7"/>
                </a:cxn>
                <a:cxn ang="T16">
                  <a:pos x="T8" y="T9"/>
                </a:cxn>
                <a:cxn ang="T17">
                  <a:pos x="T10" y="T11"/>
                </a:cxn>
              </a:cxnLst>
              <a:rect l="T18" t="T19" r="T20" b="T21"/>
              <a:pathLst>
                <a:path w="1248" h="672">
                  <a:moveTo>
                    <a:pt x="0" y="528"/>
                  </a:moveTo>
                  <a:lnTo>
                    <a:pt x="0" y="672"/>
                  </a:lnTo>
                  <a:lnTo>
                    <a:pt x="624" y="672"/>
                  </a:lnTo>
                  <a:lnTo>
                    <a:pt x="624" y="0"/>
                  </a:lnTo>
                  <a:lnTo>
                    <a:pt x="1248" y="0"/>
                  </a:lnTo>
                  <a:lnTo>
                    <a:pt x="1248" y="14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7" name="Rectangle 21"/>
            <p:cNvSpPr>
              <a:spLocks noChangeArrowheads="1"/>
            </p:cNvSpPr>
            <p:nvPr/>
          </p:nvSpPr>
          <p:spPr bwMode="auto">
            <a:xfrm>
              <a:off x="1536" y="206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48" name="Line 22"/>
            <p:cNvSpPr>
              <a:spLocks noChangeShapeType="1"/>
            </p:cNvSpPr>
            <p:nvPr/>
          </p:nvSpPr>
          <p:spPr bwMode="auto">
            <a:xfrm>
              <a:off x="2448" y="1920"/>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9" name="Rectangle 23"/>
            <p:cNvSpPr>
              <a:spLocks noChangeArrowheads="1"/>
            </p:cNvSpPr>
            <p:nvPr/>
          </p:nvSpPr>
          <p:spPr bwMode="auto">
            <a:xfrm>
              <a:off x="3393" y="2390"/>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dirty="0">
                  <a:solidFill>
                    <a:prstClr val="black"/>
                  </a:solidFill>
                  <a:latin typeface="Arial" panose="020B0604020202020204"/>
                  <a:ea typeface="宋体" panose="02010600030101010101" pitchFamily="2" charset="-122"/>
                </a:rPr>
                <a:t>B</a:t>
              </a:r>
              <a:r>
                <a:rPr kumimoji="1" lang="en-US" altLang="zh-CN" sz="3086" baseline="-25000" dirty="0">
                  <a:solidFill>
                    <a:prstClr val="black"/>
                  </a:solidFill>
                  <a:latin typeface="Arial" panose="020B0604020202020204"/>
                  <a:ea typeface="宋体" panose="02010600030101010101" pitchFamily="2" charset="-122"/>
                </a:rPr>
                <a:t>2</a:t>
              </a:r>
              <a:r>
                <a:rPr kumimoji="1" lang="en-US" altLang="zh-CN" sz="3086" baseline="30000" dirty="0">
                  <a:solidFill>
                    <a:prstClr val="black"/>
                  </a:solidFill>
                  <a:latin typeface="Arial" panose="020B0604020202020204"/>
                  <a:ea typeface="宋体" panose="02010600030101010101" pitchFamily="2" charset="-122"/>
                </a:rPr>
                <a:t>’</a:t>
              </a:r>
              <a:endParaRPr kumimoji="1" lang="en-US" altLang="zh-CN" sz="3086" dirty="0">
                <a:solidFill>
                  <a:prstClr val="black"/>
                </a:solidFill>
                <a:latin typeface="Arial" panose="020B0604020202020204"/>
                <a:ea typeface="宋体" panose="02010600030101010101" pitchFamily="2" charset="-122"/>
              </a:endParaRPr>
            </a:p>
          </p:txBody>
        </p:sp>
      </p:grpSp>
      <p:sp>
        <p:nvSpPr>
          <p:cNvPr id="50" name="文本框 49"/>
          <p:cNvSpPr txBox="1"/>
          <p:nvPr/>
        </p:nvSpPr>
        <p:spPr>
          <a:xfrm>
            <a:off x="432075" y="5874219"/>
            <a:ext cx="4543231" cy="1191673"/>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pPr defTabSz="503972" rtl="0" fontAlgn="auto" hangingPunct="1">
              <a:lnSpc>
                <a:spcPct val="90000"/>
              </a:lnSpc>
              <a:spcAft>
                <a:spcPts val="0"/>
              </a:spcAft>
              <a:buSzTx/>
            </a:pPr>
            <a:r>
              <a:rPr lang="zh-CN" altLang="en-US" sz="2646" dirty="0">
                <a:solidFill>
                  <a:prstClr val="black"/>
                </a:solidFill>
                <a:latin typeface="微软雅黑" panose="020B0503020204020204" pitchFamily="34" charset="-122"/>
                <a:ea typeface="微软雅黑" panose="020B0503020204020204" pitchFamily="34" charset="-122"/>
              </a:rPr>
              <a:t>考虑:</a:t>
            </a:r>
            <a:r>
              <a:rPr lang="zh-CN" altLang="zh-CN" sz="2646"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X=0, Y=2 </a:t>
            </a:r>
          </a:p>
          <a:p>
            <a:pPr defTabSz="503972" rtl="0" fontAlgn="auto" hangingPunct="1">
              <a:lnSpc>
                <a:spcPct val="90000"/>
              </a:lnSpc>
              <a:spcAft>
                <a:spcPts val="0"/>
              </a:spcAft>
              <a:buSzTx/>
            </a:pP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2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3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4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2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4 </a:t>
            </a:r>
            <a:r>
              <a:rPr lang="en-US" altLang="zh-CN" sz="2646"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646" baseline="-25000" dirty="0">
                <a:solidFill>
                  <a:prstClr val="black"/>
                </a:solidFill>
                <a:latin typeface="微软雅黑" panose="020B0503020204020204" pitchFamily="34" charset="-122"/>
                <a:ea typeface="微软雅黑" panose="020B0503020204020204" pitchFamily="34" charset="-122"/>
              </a:rPr>
              <a:t> </a:t>
            </a:r>
            <a:r>
              <a:rPr lang="en-US" altLang="zh-CN" sz="2646" dirty="0">
                <a:solidFill>
                  <a:prstClr val="black"/>
                </a:solidFill>
                <a:latin typeface="微软雅黑" panose="020B0503020204020204" pitchFamily="34" charset="-122"/>
                <a:ea typeface="微软雅黑" panose="020B0503020204020204" pitchFamily="34" charset="-122"/>
              </a:rPr>
              <a:t>B</a:t>
            </a:r>
            <a:r>
              <a:rPr lang="en-US" altLang="zh-CN" sz="2646" baseline="-25000" dirty="0">
                <a:solidFill>
                  <a:prstClr val="black"/>
                </a:solidFill>
                <a:latin typeface="微软雅黑" panose="020B0503020204020204" pitchFamily="34" charset="-122"/>
                <a:ea typeface="微软雅黑" panose="020B0503020204020204" pitchFamily="34" charset="-122"/>
              </a:rPr>
              <a:t>5</a:t>
            </a:r>
          </a:p>
          <a:p>
            <a:pPr defTabSz="503972" rtl="0" fontAlgn="auto" hangingPunct="1">
              <a:lnSpc>
                <a:spcPct val="90000"/>
              </a:lnSpc>
              <a:spcAft>
                <a:spcPts val="0"/>
              </a:spcAft>
              <a:buSzTx/>
            </a:pPr>
            <a:r>
              <a:rPr lang="en-US" altLang="zh-CN" sz="2646" dirty="0">
                <a:solidFill>
                  <a:prstClr val="black"/>
                </a:solidFill>
                <a:latin typeface="微软雅黑" panose="020B0503020204020204" pitchFamily="34" charset="-122"/>
                <a:ea typeface="微软雅黑" panose="020B0503020204020204" pitchFamily="34" charset="-122"/>
              </a:rPr>
              <a:t>A=3,  J=3</a:t>
            </a:r>
            <a:endParaRPr lang="zh-CN" altLang="zh-CN" sz="2646"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5121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Effect transition="in" filter="wipe(left)">
                                      <p:cBhvr>
                                        <p:cTn id="7" dur="500"/>
                                        <p:tgtEl>
                                          <p:spTgt spid="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
                                            <p:txEl>
                                              <p:pRg st="1" end="1"/>
                                            </p:txEl>
                                          </p:spTgt>
                                        </p:tgtEl>
                                        <p:attrNameLst>
                                          <p:attrName>style.visibility</p:attrName>
                                        </p:attrNameLst>
                                      </p:cBhvr>
                                      <p:to>
                                        <p:strVal val="visible"/>
                                      </p:to>
                                    </p:set>
                                    <p:animEffect transition="in" filter="wipe(left)">
                                      <p:cBhvr>
                                        <p:cTn id="12" dur="500"/>
                                        <p:tgtEl>
                                          <p:spTgt spid="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0">
                                            <p:txEl>
                                              <p:pRg st="2" end="2"/>
                                            </p:txEl>
                                          </p:spTgt>
                                        </p:tgtEl>
                                        <p:attrNameLst>
                                          <p:attrName>style.visibility</p:attrName>
                                        </p:attrNameLst>
                                      </p:cBhvr>
                                      <p:to>
                                        <p:strVal val="visible"/>
                                      </p:to>
                                    </p:set>
                                    <p:animEffect transition="in" filter="wipe(left)">
                                      <p:cBhvr>
                                        <p:cTn id="17" dur="500"/>
                                        <p:tgtEl>
                                          <p:spTgt spid="5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外提的条件</a:t>
            </a:r>
          </a:p>
        </p:txBody>
      </p:sp>
      <p:sp>
        <p:nvSpPr>
          <p:cNvPr id="144408" name="Rectangle 24"/>
          <p:cNvSpPr>
            <a:spLocks noGrp="1" noChangeArrowheads="1"/>
          </p:cNvSpPr>
          <p:nvPr>
            <p:ph idx="1"/>
          </p:nvPr>
        </p:nvSpPr>
        <p:spPr/>
        <p:txBody>
          <a:bodyPr/>
          <a:lstStyle/>
          <a:p>
            <a:r>
              <a:rPr lang="zh-CN" altLang="en-US" dirty="0"/>
              <a:t>循环中所有</a:t>
            </a:r>
            <a:r>
              <a:rPr lang="en-US" altLang="zh-CN" dirty="0"/>
              <a:t>A</a:t>
            </a:r>
            <a:r>
              <a:rPr lang="zh-CN" altLang="en-US" dirty="0"/>
              <a:t>的引用点只有</a:t>
            </a:r>
            <a:r>
              <a:rPr lang="en-US" altLang="zh-CN" dirty="0"/>
              <a:t>S</a:t>
            </a:r>
            <a:r>
              <a:rPr lang="zh-CN" altLang="en-US" dirty="0"/>
              <a:t>中的</a:t>
            </a:r>
            <a:r>
              <a:rPr lang="en-US" altLang="zh-CN" dirty="0"/>
              <a:t>A</a:t>
            </a:r>
            <a:r>
              <a:rPr lang="zh-CN" altLang="en-US" dirty="0"/>
              <a:t>的定值才能到达</a:t>
            </a:r>
            <a:endParaRPr lang="zh-CN" altLang="zh-CN" dirty="0"/>
          </a:p>
        </p:txBody>
      </p:sp>
      <p:sp>
        <p:nvSpPr>
          <p:cNvPr id="144431" name="Text Box 47"/>
          <p:cNvSpPr txBox="1">
            <a:spLocks noChangeArrowheads="1"/>
          </p:cNvSpPr>
          <p:nvPr/>
        </p:nvSpPr>
        <p:spPr bwMode="auto">
          <a:xfrm>
            <a:off x="1481673" y="6523237"/>
            <a:ext cx="1719916" cy="499496"/>
          </a:xfrm>
          <a:prstGeom prst="rect">
            <a:avLst/>
          </a:prstGeom>
          <a:ln>
            <a:headEnd/>
            <a:tailEnd type="none" w="lg" len="lg"/>
          </a:ln>
        </p:spPr>
        <p:style>
          <a:lnRef idx="3">
            <a:schemeClr val="lt1"/>
          </a:lnRef>
          <a:fillRef idx="1">
            <a:schemeClr val="accent1"/>
          </a:fillRef>
          <a:effectRef idx="1">
            <a:schemeClr val="accent1"/>
          </a:effectRef>
          <a:fontRef idx="minor">
            <a:schemeClr val="lt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GB" altLang="zh-CN" sz="2646">
                <a:solidFill>
                  <a:prstClr val="white"/>
                </a:solidFill>
                <a:latin typeface="Arial" panose="020B0604020202020204"/>
                <a:ea typeface="宋体" panose="02010600030101010101" pitchFamily="2" charset="-122"/>
              </a:rPr>
              <a:t>A=2,  J=2</a:t>
            </a:r>
          </a:p>
        </p:txBody>
      </p:sp>
      <p:sp>
        <p:nvSpPr>
          <p:cNvPr id="144432" name="Text Box 48"/>
          <p:cNvSpPr txBox="1">
            <a:spLocks noChangeArrowheads="1"/>
          </p:cNvSpPr>
          <p:nvPr/>
        </p:nvSpPr>
        <p:spPr bwMode="auto">
          <a:xfrm>
            <a:off x="6319874" y="6523237"/>
            <a:ext cx="1719916" cy="499496"/>
          </a:xfrm>
          <a:prstGeom prst="rect">
            <a:avLst/>
          </a:prstGeom>
          <a:ln>
            <a:headEnd/>
            <a:tailEnd type="none" w="lg" len="lg"/>
          </a:ln>
        </p:spPr>
        <p:style>
          <a:lnRef idx="3">
            <a:schemeClr val="lt1"/>
          </a:lnRef>
          <a:fillRef idx="1">
            <a:schemeClr val="accent1"/>
          </a:fillRef>
          <a:effectRef idx="1">
            <a:schemeClr val="accent1"/>
          </a:effectRef>
          <a:fontRef idx="minor">
            <a:schemeClr val="lt1"/>
          </a:fontRef>
        </p:style>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lang="en-GB" altLang="zh-CN" sz="2646" dirty="0">
                <a:solidFill>
                  <a:prstClr val="white"/>
                </a:solidFill>
                <a:latin typeface="Arial" panose="020B0604020202020204"/>
                <a:ea typeface="宋体" panose="02010600030101010101" pitchFamily="2" charset="-122"/>
              </a:rPr>
              <a:t>A=3,  J=3</a:t>
            </a:r>
          </a:p>
        </p:txBody>
      </p:sp>
      <p:pic>
        <p:nvPicPr>
          <p:cNvPr id="9" name="图片 8"/>
          <p:cNvPicPr>
            <a:picLocks noChangeAspect="1"/>
          </p:cNvPicPr>
          <p:nvPr/>
        </p:nvPicPr>
        <p:blipFill>
          <a:blip r:embed="rId3"/>
          <a:stretch>
            <a:fillRect/>
          </a:stretch>
        </p:blipFill>
        <p:spPr>
          <a:xfrm>
            <a:off x="5074347" y="3200109"/>
            <a:ext cx="4787537" cy="3214988"/>
          </a:xfrm>
          <a:prstGeom prst="rect">
            <a:avLst/>
          </a:prstGeom>
        </p:spPr>
      </p:pic>
      <p:pic>
        <p:nvPicPr>
          <p:cNvPr id="2" name="图片 1"/>
          <p:cNvPicPr>
            <a:picLocks noChangeAspect="1"/>
          </p:cNvPicPr>
          <p:nvPr/>
        </p:nvPicPr>
        <p:blipFill>
          <a:blip r:embed="rId4"/>
          <a:stretch>
            <a:fillRect/>
          </a:stretch>
        </p:blipFill>
        <p:spPr>
          <a:xfrm>
            <a:off x="379657" y="3200108"/>
            <a:ext cx="4730750" cy="3490184"/>
          </a:xfrm>
          <a:prstGeom prst="rect">
            <a:avLst/>
          </a:prstGeom>
        </p:spPr>
      </p:pic>
      <p:sp>
        <p:nvSpPr>
          <p:cNvPr id="3" name="矩形 2">
            <a:extLst>
              <a:ext uri="{FF2B5EF4-FFF2-40B4-BE49-F238E27FC236}">
                <a16:creationId xmlns:a16="http://schemas.microsoft.com/office/drawing/2014/main" id="{93943FB4-08F3-AC0B-0FBD-CFBB253E4F0A}"/>
              </a:ext>
            </a:extLst>
          </p:cNvPr>
          <p:cNvSpPr/>
          <p:nvPr/>
        </p:nvSpPr>
        <p:spPr>
          <a:xfrm>
            <a:off x="3375201" y="2570804"/>
            <a:ext cx="2070138" cy="48064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rPr>
              <a:t>A:= B op C</a:t>
            </a:r>
            <a:endParaRPr lang="zh-CN" altLang="en-US" sz="2800" b="1" dirty="0">
              <a:solidFill>
                <a:srgbClr val="C00000"/>
              </a:solidFill>
            </a:endParaRPr>
          </a:p>
        </p:txBody>
      </p:sp>
    </p:spTree>
    <p:extLst>
      <p:ext uri="{BB962C8B-B14F-4D97-AF65-F5344CB8AC3E}">
        <p14:creationId xmlns:p14="http://schemas.microsoft.com/office/powerpoint/2010/main" val="14767543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4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44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4408">
                                            <p:txEl>
                                              <p:pRg st="0" end="0"/>
                                            </p:txEl>
                                          </p:spTgt>
                                        </p:tgtEl>
                                        <p:attrNameLst>
                                          <p:attrName>style.visibility</p:attrName>
                                        </p:attrNameLst>
                                      </p:cBhvr>
                                      <p:to>
                                        <p:strVal val="visible"/>
                                      </p:to>
                                    </p:set>
                                    <p:animEffect transition="in" filter="wipe(left)">
                                      <p:cBhvr>
                                        <p:cTn id="15" dur="500"/>
                                        <p:tgtEl>
                                          <p:spTgt spid="14440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408" grpId="0" build="p"/>
      <p:bldP spid="144431" grpId="0" animBg="1"/>
      <p:bldP spid="144432" grpId="0" animBg="1"/>
      <p:bldP spid="3" grpId="0" animBg="1"/>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6" name="Rectangle 3"/>
          <p:cNvSpPr>
            <a:spLocks noGrp="1" noChangeArrowheads="1"/>
          </p:cNvSpPr>
          <p:nvPr>
            <p:ph type="title"/>
          </p:nvPr>
        </p:nvSpPr>
        <p:spPr/>
        <p:txBody>
          <a:bodyPr/>
          <a:lstStyle/>
          <a:p>
            <a:r>
              <a:rPr lang="zh-CN" altLang="en-US"/>
              <a:t>外提的条件</a:t>
            </a:r>
            <a:endParaRPr lang="en-GB" altLang="zh-CN" dirty="0"/>
          </a:p>
        </p:txBody>
      </p:sp>
      <p:sp>
        <p:nvSpPr>
          <p:cNvPr id="30722" name="Rectangle 2"/>
          <p:cNvSpPr>
            <a:spLocks noGrp="1" noChangeArrowheads="1"/>
          </p:cNvSpPr>
          <p:nvPr>
            <p:ph idx="1"/>
          </p:nvPr>
        </p:nvSpPr>
        <p:spPr/>
        <p:txBody>
          <a:bodyPr/>
          <a:lstStyle/>
          <a:p>
            <a:r>
              <a:rPr lang="zh-CN" altLang="en-US" dirty="0"/>
              <a:t>四元式</a:t>
            </a:r>
            <a:r>
              <a:rPr lang="en-US" altLang="zh-CN" dirty="0"/>
              <a:t>S(A:=B OP C</a:t>
            </a:r>
            <a:r>
              <a:rPr lang="zh-CN" altLang="en-US" dirty="0"/>
              <a:t>）外提的条件</a:t>
            </a:r>
          </a:p>
        </p:txBody>
      </p:sp>
      <p:sp>
        <p:nvSpPr>
          <p:cNvPr id="11" name="文本框 10"/>
          <p:cNvSpPr txBox="1"/>
          <p:nvPr/>
        </p:nvSpPr>
        <p:spPr>
          <a:xfrm>
            <a:off x="747164" y="2798867"/>
            <a:ext cx="8767144" cy="1313821"/>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err="1">
                <a:solidFill>
                  <a:prstClr val="white"/>
                </a:solidFill>
                <a:latin typeface="微软雅黑" panose="020B0503020204020204" pitchFamily="34" charset="-122"/>
                <a:ea typeface="微软雅黑" panose="020B0503020204020204" pitchFamily="34" charset="-122"/>
              </a:rPr>
              <a:t>i</a:t>
            </a:r>
            <a:r>
              <a:rPr lang="en-US" altLang="zh-CN" sz="2646" dirty="0">
                <a:solidFill>
                  <a:prstClr val="white"/>
                </a:solidFill>
                <a:latin typeface="微软雅黑" panose="020B0503020204020204" pitchFamily="34" charset="-122"/>
                <a:ea typeface="微软雅黑" panose="020B0503020204020204" pitchFamily="34" charset="-122"/>
              </a:rPr>
              <a:t>)   S</a:t>
            </a:r>
            <a:r>
              <a:rPr lang="zh-CN" altLang="en-US" sz="2646" dirty="0">
                <a:solidFill>
                  <a:prstClr val="white"/>
                </a:solidFill>
                <a:latin typeface="微软雅黑" panose="020B0503020204020204" pitchFamily="34" charset="-122"/>
                <a:ea typeface="微软雅黑" panose="020B0503020204020204" pitchFamily="34" charset="-122"/>
              </a:rPr>
              <a:t>所在的结点是循环</a:t>
            </a:r>
            <a:r>
              <a:rPr lang="en-US" altLang="zh-CN" sz="2646" dirty="0">
                <a:solidFill>
                  <a:prstClr val="white"/>
                </a:solidFill>
                <a:latin typeface="微软雅黑" panose="020B0503020204020204" pitchFamily="34" charset="-122"/>
                <a:ea typeface="微软雅黑" panose="020B0503020204020204" pitchFamily="34" charset="-122"/>
              </a:rPr>
              <a:t>L</a:t>
            </a:r>
            <a:r>
              <a:rPr lang="zh-CN" altLang="en-US" sz="2646" dirty="0">
                <a:solidFill>
                  <a:prstClr val="white"/>
                </a:solidFill>
                <a:latin typeface="微软雅黑" panose="020B0503020204020204" pitchFamily="34" charset="-122"/>
                <a:ea typeface="微软雅黑" panose="020B0503020204020204" pitchFamily="34" charset="-122"/>
              </a:rPr>
              <a:t>所有出口结点的必经结点;</a:t>
            </a:r>
          </a:p>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a:solidFill>
                  <a:prstClr val="white"/>
                </a:solidFill>
                <a:latin typeface="微软雅黑" panose="020B0503020204020204" pitchFamily="34" charset="-122"/>
                <a:ea typeface="微软雅黑" panose="020B0503020204020204" pitchFamily="34" charset="-122"/>
              </a:rPr>
              <a:t>ii)  A</a:t>
            </a:r>
            <a:r>
              <a:rPr lang="zh-CN" altLang="en-US" sz="2646" dirty="0">
                <a:solidFill>
                  <a:prstClr val="white"/>
                </a:solidFill>
                <a:latin typeface="微软雅黑" panose="020B0503020204020204" pitchFamily="34" charset="-122"/>
                <a:ea typeface="微软雅黑" panose="020B0503020204020204" pitchFamily="34" charset="-122"/>
              </a:rPr>
              <a:t>在循环</a:t>
            </a:r>
            <a:r>
              <a:rPr lang="en-US" altLang="zh-CN" sz="2646" dirty="0">
                <a:solidFill>
                  <a:prstClr val="white"/>
                </a:solidFill>
                <a:latin typeface="微软雅黑" panose="020B0503020204020204" pitchFamily="34" charset="-122"/>
                <a:ea typeface="微软雅黑" panose="020B0503020204020204" pitchFamily="34" charset="-122"/>
              </a:rPr>
              <a:t>L</a:t>
            </a:r>
            <a:r>
              <a:rPr lang="zh-CN" altLang="en-US" sz="2646" dirty="0">
                <a:solidFill>
                  <a:prstClr val="white"/>
                </a:solidFill>
                <a:latin typeface="微软雅黑" panose="020B0503020204020204" pitchFamily="34" charset="-122"/>
                <a:ea typeface="微软雅黑" panose="020B0503020204020204" pitchFamily="34" charset="-122"/>
              </a:rPr>
              <a:t>中其他地方未再定值; </a:t>
            </a:r>
          </a:p>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a:solidFill>
                  <a:prstClr val="white"/>
                </a:solidFill>
                <a:latin typeface="微软雅黑" panose="020B0503020204020204" pitchFamily="34" charset="-122"/>
                <a:ea typeface="微软雅黑" panose="020B0503020204020204" pitchFamily="34" charset="-122"/>
              </a:rPr>
              <a:t>iii) </a:t>
            </a:r>
            <a:r>
              <a:rPr lang="zh-CN" altLang="en-US" sz="2646" dirty="0">
                <a:solidFill>
                  <a:prstClr val="white"/>
                </a:solidFill>
                <a:latin typeface="微软雅黑" panose="020B0503020204020204" pitchFamily="34" charset="-122"/>
                <a:ea typeface="微软雅黑" panose="020B0503020204020204" pitchFamily="34" charset="-122"/>
              </a:rPr>
              <a:t>循环</a:t>
            </a:r>
            <a:r>
              <a:rPr lang="en-US" altLang="zh-CN" sz="2646" dirty="0">
                <a:solidFill>
                  <a:prstClr val="white"/>
                </a:solidFill>
                <a:latin typeface="微软雅黑" panose="020B0503020204020204" pitchFamily="34" charset="-122"/>
                <a:ea typeface="微软雅黑" panose="020B0503020204020204" pitchFamily="34" charset="-122"/>
              </a:rPr>
              <a:t>L</a:t>
            </a:r>
            <a:r>
              <a:rPr lang="zh-CN" altLang="en-US" sz="2646" dirty="0">
                <a:solidFill>
                  <a:prstClr val="white"/>
                </a:solidFill>
                <a:latin typeface="微软雅黑" panose="020B0503020204020204" pitchFamily="34" charset="-122"/>
                <a:ea typeface="微软雅黑" panose="020B0503020204020204" pitchFamily="34" charset="-122"/>
              </a:rPr>
              <a:t>中所有</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的引用点只有</a:t>
            </a:r>
            <a:r>
              <a:rPr lang="en-US" altLang="zh-CN" sz="2646" dirty="0">
                <a:solidFill>
                  <a:prstClr val="white"/>
                </a:solidFill>
                <a:latin typeface="微软雅黑" panose="020B0503020204020204" pitchFamily="34" charset="-122"/>
                <a:ea typeface="微软雅黑" panose="020B0503020204020204" pitchFamily="34" charset="-122"/>
              </a:rPr>
              <a:t>S</a:t>
            </a:r>
            <a:r>
              <a:rPr lang="zh-CN" altLang="en-US" sz="2646" dirty="0">
                <a:solidFill>
                  <a:prstClr val="white"/>
                </a:solidFill>
                <a:latin typeface="微软雅黑" panose="020B0503020204020204" pitchFamily="34" charset="-122"/>
                <a:ea typeface="微软雅黑" panose="020B0503020204020204" pitchFamily="34" charset="-122"/>
              </a:rPr>
              <a:t>中的</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的定值才能到达。</a:t>
            </a:r>
            <a:endParaRPr lang="en-GB" altLang="zh-CN" sz="2646" dirty="0">
              <a:solidFill>
                <a:prstClr val="white"/>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747163" y="4714224"/>
            <a:ext cx="8767144" cy="1313821"/>
          </a:xfrm>
          <a:prstGeom prst="rect">
            <a:avLst/>
          </a:prstGeom>
        </p:spPr>
        <p:style>
          <a:lnRef idx="3">
            <a:schemeClr val="lt1"/>
          </a:lnRef>
          <a:fillRef idx="1">
            <a:schemeClr val="accent4"/>
          </a:fillRef>
          <a:effectRef idx="1">
            <a:schemeClr val="accent4"/>
          </a:effectRef>
          <a:fontRef idx="minor">
            <a:schemeClr val="lt1"/>
          </a:fontRef>
        </p:style>
        <p:txBody>
          <a:bodyPr wrap="none" rtlCol="0">
            <a:spAutoFit/>
          </a:bodyPr>
          <a:lstStyle/>
          <a:p>
            <a:pPr defTabSz="1007943" rtl="0" fontAlgn="auto" hangingPunct="1">
              <a:lnSpc>
                <a:spcPct val="100000"/>
              </a:lnSpc>
              <a:spcAft>
                <a:spcPts val="0"/>
              </a:spcAft>
              <a:buSzTx/>
              <a:defRPr/>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err="1">
                <a:solidFill>
                  <a:prstClr val="white"/>
                </a:solidFill>
                <a:latin typeface="微软雅黑" panose="020B0503020204020204" pitchFamily="34" charset="-122"/>
                <a:ea typeface="微软雅黑" panose="020B0503020204020204" pitchFamily="34" charset="-122"/>
              </a:rPr>
              <a:t>i</a:t>
            </a:r>
            <a:r>
              <a:rPr lang="en-US" altLang="zh-CN" sz="2646" dirty="0">
                <a:solidFill>
                  <a:prstClr val="white"/>
                </a:solidFill>
                <a:latin typeface="微软雅黑" panose="020B0503020204020204" pitchFamily="34" charset="-122"/>
                <a:ea typeface="微软雅黑" panose="020B0503020204020204" pitchFamily="34" charset="-122"/>
              </a:rPr>
              <a:t>)   A</a:t>
            </a:r>
            <a:r>
              <a:rPr lang="zh-CN" altLang="en-US" sz="2646" dirty="0">
                <a:solidFill>
                  <a:prstClr val="white"/>
                </a:solidFill>
                <a:latin typeface="微软雅黑" panose="020B0503020204020204" pitchFamily="34" charset="-122"/>
                <a:ea typeface="微软雅黑" panose="020B0503020204020204" pitchFamily="34" charset="-122"/>
              </a:rPr>
              <a:t>在离开循环</a:t>
            </a:r>
            <a:r>
              <a:rPr lang="en-US" altLang="zh-CN" sz="2646" dirty="0">
                <a:solidFill>
                  <a:prstClr val="white"/>
                </a:solidFill>
                <a:latin typeface="微软雅黑" panose="020B0503020204020204" pitchFamily="34" charset="-122"/>
                <a:ea typeface="微软雅黑" panose="020B0503020204020204" pitchFamily="34" charset="-122"/>
              </a:rPr>
              <a:t>L</a:t>
            </a:r>
            <a:r>
              <a:rPr lang="zh-CN" altLang="en-US" sz="2646" dirty="0">
                <a:solidFill>
                  <a:prstClr val="white"/>
                </a:solidFill>
                <a:latin typeface="微软雅黑" panose="020B0503020204020204" pitchFamily="34" charset="-122"/>
                <a:ea typeface="微软雅黑" panose="020B0503020204020204" pitchFamily="34" charset="-122"/>
              </a:rPr>
              <a:t>后不再是活跃的;</a:t>
            </a:r>
          </a:p>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a:solidFill>
                  <a:prstClr val="white"/>
                </a:solidFill>
                <a:latin typeface="微软雅黑" panose="020B0503020204020204" pitchFamily="34" charset="-122"/>
                <a:ea typeface="微软雅黑" panose="020B0503020204020204" pitchFamily="34" charset="-122"/>
              </a:rPr>
              <a:t>ii)  A</a:t>
            </a:r>
            <a:r>
              <a:rPr lang="zh-CN" altLang="en-US" sz="2646" dirty="0">
                <a:solidFill>
                  <a:prstClr val="white"/>
                </a:solidFill>
                <a:latin typeface="微软雅黑" panose="020B0503020204020204" pitchFamily="34" charset="-122"/>
                <a:ea typeface="微软雅黑" panose="020B0503020204020204" pitchFamily="34" charset="-122"/>
              </a:rPr>
              <a:t>在循环</a:t>
            </a:r>
            <a:r>
              <a:rPr lang="en-US" altLang="zh-CN" sz="2646" dirty="0">
                <a:solidFill>
                  <a:prstClr val="white"/>
                </a:solidFill>
                <a:latin typeface="微软雅黑" panose="020B0503020204020204" pitchFamily="34" charset="-122"/>
                <a:ea typeface="微软雅黑" panose="020B0503020204020204" pitchFamily="34" charset="-122"/>
              </a:rPr>
              <a:t>L</a:t>
            </a:r>
            <a:r>
              <a:rPr lang="zh-CN" altLang="en-US" sz="2646" dirty="0">
                <a:solidFill>
                  <a:prstClr val="white"/>
                </a:solidFill>
                <a:latin typeface="微软雅黑" panose="020B0503020204020204" pitchFamily="34" charset="-122"/>
                <a:ea typeface="微软雅黑" panose="020B0503020204020204" pitchFamily="34" charset="-122"/>
              </a:rPr>
              <a:t>中其他地方未再定值; </a:t>
            </a:r>
          </a:p>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a:solidFill>
                  <a:prstClr val="white"/>
                </a:solidFill>
                <a:latin typeface="微软雅黑" panose="020B0503020204020204" pitchFamily="34" charset="-122"/>
                <a:ea typeface="微软雅黑" panose="020B0503020204020204" pitchFamily="34" charset="-122"/>
              </a:rPr>
              <a:t>iii) </a:t>
            </a:r>
            <a:r>
              <a:rPr lang="zh-CN" altLang="en-US" sz="2646" dirty="0">
                <a:solidFill>
                  <a:prstClr val="white"/>
                </a:solidFill>
                <a:latin typeface="微软雅黑" panose="020B0503020204020204" pitchFamily="34" charset="-122"/>
                <a:ea typeface="微软雅黑" panose="020B0503020204020204" pitchFamily="34" charset="-122"/>
              </a:rPr>
              <a:t>循环</a:t>
            </a:r>
            <a:r>
              <a:rPr lang="en-US" altLang="zh-CN" sz="2646" dirty="0">
                <a:solidFill>
                  <a:prstClr val="white"/>
                </a:solidFill>
                <a:latin typeface="微软雅黑" panose="020B0503020204020204" pitchFamily="34" charset="-122"/>
                <a:ea typeface="微软雅黑" panose="020B0503020204020204" pitchFamily="34" charset="-122"/>
              </a:rPr>
              <a:t>L</a:t>
            </a:r>
            <a:r>
              <a:rPr lang="zh-CN" altLang="en-US" sz="2646" dirty="0">
                <a:solidFill>
                  <a:prstClr val="white"/>
                </a:solidFill>
                <a:latin typeface="微软雅黑" panose="020B0503020204020204" pitchFamily="34" charset="-122"/>
                <a:ea typeface="微软雅黑" panose="020B0503020204020204" pitchFamily="34" charset="-122"/>
              </a:rPr>
              <a:t>中所有</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的引用点只有</a:t>
            </a:r>
            <a:r>
              <a:rPr lang="en-US" altLang="zh-CN" sz="2646" dirty="0">
                <a:solidFill>
                  <a:prstClr val="white"/>
                </a:solidFill>
                <a:latin typeface="微软雅黑" panose="020B0503020204020204" pitchFamily="34" charset="-122"/>
                <a:ea typeface="微软雅黑" panose="020B0503020204020204" pitchFamily="34" charset="-122"/>
              </a:rPr>
              <a:t>S</a:t>
            </a:r>
            <a:r>
              <a:rPr lang="zh-CN" altLang="en-US" sz="2646" dirty="0">
                <a:solidFill>
                  <a:prstClr val="white"/>
                </a:solidFill>
                <a:latin typeface="微软雅黑" panose="020B0503020204020204" pitchFamily="34" charset="-122"/>
                <a:ea typeface="微软雅黑" panose="020B0503020204020204" pitchFamily="34" charset="-122"/>
              </a:rPr>
              <a:t>中的</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的定值才能到达。</a:t>
            </a:r>
            <a:endParaRPr lang="en-GB" altLang="zh-CN" sz="2646" dirty="0">
              <a:solidFill>
                <a:prstClr val="white"/>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4082226" y="4129739"/>
            <a:ext cx="976549" cy="567207"/>
          </a:xfrm>
          <a:prstGeom prst="rect">
            <a:avLst/>
          </a:prstGeom>
          <a:noFill/>
        </p:spPr>
        <p:txBody>
          <a:bodyPr wrap="none" rtlCol="0">
            <a:spAutoFit/>
          </a:bodyPr>
          <a:lstStyle/>
          <a:p>
            <a:pPr defTabSz="503972" rtl="0" fontAlgn="auto" hangingPunct="1">
              <a:lnSpc>
                <a:spcPct val="100000"/>
              </a:lnSpc>
              <a:spcBef>
                <a:spcPts val="0"/>
              </a:spcBef>
              <a:spcAft>
                <a:spcPts val="0"/>
              </a:spcAft>
              <a:buSzTx/>
            </a:pPr>
            <a:r>
              <a:rPr lang="zh-CN" altLang="en-US" sz="3086" dirty="0">
                <a:solidFill>
                  <a:srgbClr val="C00000"/>
                </a:solidFill>
                <a:latin typeface="Arial" panose="020B0604020202020204"/>
                <a:ea typeface="黑体" panose="02010609060101010101" pitchFamily="49" charset="-122"/>
              </a:rPr>
              <a:t>或者</a:t>
            </a:r>
          </a:p>
        </p:txBody>
      </p:sp>
    </p:spTree>
    <p:extLst>
      <p:ext uri="{BB962C8B-B14F-4D97-AF65-F5344CB8AC3E}">
        <p14:creationId xmlns:p14="http://schemas.microsoft.com/office/powerpoint/2010/main" val="30334468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animEffect transition="in" filter="wipe(left)">
                                      <p:cBhvr>
                                        <p:cTn id="7" dur="500"/>
                                        <p:tgtEl>
                                          <p:spTgt spid="307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p:bldP spid="11" grpId="0" animBg="1"/>
      <p:bldP spid="12" grpId="0" animBg="1"/>
      <p:bldP spid="13" grpId="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查找循环中不变运算的算法</a:t>
            </a:r>
          </a:p>
        </p:txBody>
      </p:sp>
      <p:sp>
        <p:nvSpPr>
          <p:cNvPr id="29699" name="Rectangle 3"/>
          <p:cNvSpPr>
            <a:spLocks noGrp="1" noChangeArrowheads="1"/>
          </p:cNvSpPr>
          <p:nvPr>
            <p:ph idx="1"/>
          </p:nvPr>
        </p:nvSpPr>
        <p:spPr>
          <a:xfrm>
            <a:off x="226613" y="2009805"/>
            <a:ext cx="6989755" cy="4797715"/>
          </a:xfrm>
        </p:spPr>
        <p:txBody>
          <a:bodyPr>
            <a:noAutofit/>
          </a:bodyPr>
          <a:lstStyle/>
          <a:p>
            <a:pPr marL="488223" indent="-440975">
              <a:lnSpc>
                <a:spcPct val="110000"/>
              </a:lnSpc>
              <a:spcBef>
                <a:spcPts val="496"/>
              </a:spcBef>
              <a:buClr>
                <a:schemeClr val="tx2"/>
              </a:buClr>
              <a:buSzTx/>
              <a:buFont typeface="Wingdings" panose="05000000000000000000" pitchFamily="2" charset="2"/>
              <a:buAutoNum type="arabicPeriod"/>
            </a:pPr>
            <a:r>
              <a:rPr lang="zh-CN" altLang="en-US" sz="2646" dirty="0"/>
              <a:t>依次查看</a:t>
            </a:r>
            <a:r>
              <a:rPr lang="en-US" altLang="zh-CN" sz="2646" dirty="0"/>
              <a:t>L</a:t>
            </a:r>
            <a:r>
              <a:rPr lang="zh-CN" altLang="en-US" sz="2646" dirty="0"/>
              <a:t>中各基本块的每个四元式，如果</a:t>
            </a:r>
            <a:r>
              <a:rPr lang="zh-CN" altLang="en-US" sz="2646" dirty="0">
                <a:solidFill>
                  <a:srgbClr val="0070C0"/>
                </a:solidFill>
              </a:rPr>
              <a:t>它的每个运算对象或为常数</a:t>
            </a:r>
            <a:r>
              <a:rPr lang="zh-CN" altLang="en-US" sz="2646" dirty="0"/>
              <a:t>，或者</a:t>
            </a:r>
            <a:r>
              <a:rPr lang="zh-CN" altLang="en-US" sz="2646" dirty="0">
                <a:solidFill>
                  <a:srgbClr val="7030A0"/>
                </a:solidFill>
              </a:rPr>
              <a:t>定值点在 </a:t>
            </a:r>
            <a:r>
              <a:rPr lang="en-US" altLang="zh-CN" sz="2646" dirty="0">
                <a:solidFill>
                  <a:srgbClr val="7030A0"/>
                </a:solidFill>
              </a:rPr>
              <a:t>L</a:t>
            </a:r>
            <a:r>
              <a:rPr lang="zh-CN" altLang="en-US" sz="2646" dirty="0">
                <a:solidFill>
                  <a:srgbClr val="7030A0"/>
                </a:solidFill>
              </a:rPr>
              <a:t>外</a:t>
            </a:r>
            <a:r>
              <a:rPr lang="zh-CN" altLang="en-US" sz="2646" dirty="0"/>
              <a:t>，则将此四元式标记为"不变运算";</a:t>
            </a:r>
          </a:p>
          <a:p>
            <a:pPr marL="488223" indent="-440975">
              <a:lnSpc>
                <a:spcPct val="110000"/>
              </a:lnSpc>
              <a:spcBef>
                <a:spcPts val="496"/>
              </a:spcBef>
              <a:buClr>
                <a:schemeClr val="tx2"/>
              </a:buClr>
              <a:buSzTx/>
              <a:buFont typeface="Wingdings" panose="05000000000000000000" pitchFamily="2" charset="2"/>
              <a:buAutoNum type="arabicPeriod"/>
            </a:pPr>
            <a:r>
              <a:rPr lang="zh-CN" altLang="en-US" sz="2646" dirty="0"/>
              <a:t>重复第3步直至没有新的四元式被标记为"不变运算"为止;</a:t>
            </a:r>
          </a:p>
          <a:p>
            <a:pPr marL="488223" indent="-440975">
              <a:lnSpc>
                <a:spcPct val="110000"/>
              </a:lnSpc>
              <a:spcBef>
                <a:spcPts val="496"/>
              </a:spcBef>
              <a:buClr>
                <a:schemeClr val="tx2"/>
              </a:buClr>
              <a:buSzTx/>
              <a:buFont typeface="Wingdings" panose="05000000000000000000" pitchFamily="2" charset="2"/>
              <a:buAutoNum type="arabicPeriod"/>
            </a:pPr>
            <a:r>
              <a:rPr lang="zh-CN" altLang="en-US" sz="2646" dirty="0"/>
              <a:t>依次查看尚未被标记为"不变运算"的四元式，如果</a:t>
            </a:r>
            <a:r>
              <a:rPr lang="zh-CN" altLang="en-US" sz="2646" dirty="0">
                <a:solidFill>
                  <a:srgbClr val="0070C0"/>
                </a:solidFill>
              </a:rPr>
              <a:t>它的每个运算对象或为常数</a:t>
            </a:r>
            <a:r>
              <a:rPr lang="zh-CN" altLang="en-US" sz="2646" dirty="0"/>
              <a:t>，或</a:t>
            </a:r>
            <a:r>
              <a:rPr lang="zh-CN" altLang="en-US" sz="2646" dirty="0">
                <a:solidFill>
                  <a:srgbClr val="7030A0"/>
                </a:solidFill>
              </a:rPr>
              <a:t>定值点在</a:t>
            </a:r>
            <a:r>
              <a:rPr lang="en-US" altLang="zh-CN" sz="2646" dirty="0">
                <a:solidFill>
                  <a:srgbClr val="7030A0"/>
                </a:solidFill>
              </a:rPr>
              <a:t>L</a:t>
            </a:r>
            <a:r>
              <a:rPr lang="zh-CN" altLang="en-US" sz="2646" dirty="0">
                <a:solidFill>
                  <a:srgbClr val="7030A0"/>
                </a:solidFill>
              </a:rPr>
              <a:t>之外</a:t>
            </a:r>
            <a:r>
              <a:rPr lang="zh-CN" altLang="en-US" sz="2646" dirty="0"/>
              <a:t>，或</a:t>
            </a:r>
            <a:r>
              <a:rPr lang="zh-CN" altLang="en-US" sz="2646" dirty="0">
                <a:solidFill>
                  <a:srgbClr val="CC0000"/>
                </a:solidFill>
              </a:rPr>
              <a:t>只有一个到达-定值点且该点上的四元式已被标记为"不变运算"</a:t>
            </a:r>
            <a:r>
              <a:rPr lang="zh-CN" altLang="en-US" sz="2646" dirty="0"/>
              <a:t>，则把被查看的四元式标记为"不变运算"。</a:t>
            </a:r>
          </a:p>
        </p:txBody>
      </p:sp>
      <p:grpSp>
        <p:nvGrpSpPr>
          <p:cNvPr id="15" name="组合 14"/>
          <p:cNvGrpSpPr/>
          <p:nvPr/>
        </p:nvGrpSpPr>
        <p:grpSpPr>
          <a:xfrm>
            <a:off x="7566913" y="3221204"/>
            <a:ext cx="2370672" cy="2573176"/>
            <a:chOff x="9026769" y="2730501"/>
            <a:chExt cx="2352197" cy="2716397"/>
          </a:xfrm>
        </p:grpSpPr>
        <p:grpSp>
          <p:nvGrpSpPr>
            <p:cNvPr id="16" name="组合 15"/>
            <p:cNvGrpSpPr/>
            <p:nvPr/>
          </p:nvGrpSpPr>
          <p:grpSpPr>
            <a:xfrm>
              <a:off x="9026769" y="2730501"/>
              <a:ext cx="1923446" cy="2716397"/>
              <a:chOff x="9026769" y="2730501"/>
              <a:chExt cx="1923446" cy="2716397"/>
            </a:xfrm>
          </p:grpSpPr>
          <p:sp>
            <p:nvSpPr>
              <p:cNvPr id="21" name="矩形 20"/>
              <p:cNvSpPr>
                <a:spLocks noChangeArrowheads="1"/>
              </p:cNvSpPr>
              <p:nvPr/>
            </p:nvSpPr>
            <p:spPr bwMode="auto">
              <a:xfrm>
                <a:off x="9026769" y="2730501"/>
                <a:ext cx="1923446" cy="2709008"/>
              </a:xfrm>
              <a:prstGeom prst="rect">
                <a:avLst/>
              </a:prstGeom>
              <a:ln>
                <a:headEnd/>
                <a:tailEnd type="stealth" w="lg" len="lg"/>
              </a:ln>
            </p:spPr>
            <p:style>
              <a:lnRef idx="2">
                <a:schemeClr val="accent1"/>
              </a:lnRef>
              <a:fillRef idx="1">
                <a:schemeClr val="lt1"/>
              </a:fillRef>
              <a:effectRef idx="0">
                <a:schemeClr val="accent1"/>
              </a:effectRef>
              <a:fontRef idx="minor">
                <a:schemeClr val="dk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0" marR="0" lvl="0" indent="0"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 := 2</a:t>
                </a:r>
              </a:p>
              <a:p>
                <a:pPr marL="0" marR="0" lvl="0" indent="0"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B := 3 + X</a:t>
                </a:r>
              </a:p>
              <a:p>
                <a:pPr marL="0" marR="0" lvl="0" indent="0"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t>
                </a:r>
              </a:p>
              <a:p>
                <a:pPr marL="0" marR="0" lvl="0" indent="0"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T := A + B</a:t>
                </a:r>
              </a:p>
              <a:p>
                <a:pPr marL="0" marR="0" lvl="0" indent="0"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Y := T * A</a:t>
                </a:r>
              </a:p>
              <a:p>
                <a:pPr marL="0" marR="0" lvl="0" indent="0" algn="l" defTabSz="503972"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a:t>
                </a:r>
              </a:p>
            </p:txBody>
          </p:sp>
          <p:cxnSp>
            <p:nvCxnSpPr>
              <p:cNvPr id="22" name="肘形连接符 21"/>
              <p:cNvCxnSpPr>
                <a:stCxn id="21" idx="2"/>
                <a:endCxn id="21" idx="0"/>
              </p:cNvCxnSpPr>
              <p:nvPr/>
            </p:nvCxnSpPr>
            <p:spPr>
              <a:xfrm rot="5400000" flipH="1">
                <a:off x="8633989" y="4085449"/>
                <a:ext cx="2709008" cy="13890"/>
              </a:xfrm>
              <a:prstGeom prst="bentConnector5">
                <a:avLst>
                  <a:gd name="adj1" fmla="val -9820"/>
                  <a:gd name="adj2" fmla="val 8723701"/>
                  <a:gd name="adj3" fmla="val 109820"/>
                </a:avLst>
              </a:prstGeom>
              <a:ln>
                <a:tailEnd type="stealth" w="lg" len="lg"/>
              </a:ln>
            </p:spPr>
            <p:style>
              <a:lnRef idx="3">
                <a:schemeClr val="accent1"/>
              </a:lnRef>
              <a:fillRef idx="0">
                <a:schemeClr val="accent1"/>
              </a:fillRef>
              <a:effectRef idx="2">
                <a:schemeClr val="accent1"/>
              </a:effectRef>
              <a:fontRef idx="minor">
                <a:schemeClr val="tx1"/>
              </a:fontRef>
            </p:style>
          </p:cxnSp>
        </p:grpSp>
        <p:sp>
          <p:nvSpPr>
            <p:cNvPr id="20" name="文本框 19"/>
            <p:cNvSpPr txBox="1"/>
            <p:nvPr/>
          </p:nvSpPr>
          <p:spPr>
            <a:xfrm>
              <a:off x="11008059" y="3639923"/>
              <a:ext cx="370907" cy="527298"/>
            </a:xfrm>
            <a:prstGeom prst="rect">
              <a:avLst/>
            </a:prstGeom>
            <a:noFill/>
          </p:spPr>
          <p:txBody>
            <a:bodyPr wrap="none" rtlCol="0">
              <a:spAutoFit/>
            </a:bodyPr>
            <a:lstStyle/>
            <a:p>
              <a:pPr marL="0" marR="0" lvl="0" indent="0" algn="l" defTabSz="503972" rtl="0" eaLnBrk="1" fontAlgn="auto" latinLnBrk="0" hangingPunct="1">
                <a:lnSpc>
                  <a:spcPct val="100000"/>
                </a:lnSpc>
                <a:spcBef>
                  <a:spcPts val="0"/>
                </a:spcBef>
                <a:spcAft>
                  <a:spcPts val="0"/>
                </a:spcAft>
                <a:buClrTx/>
                <a:buSzTx/>
                <a:buFont typeface="Times New Roman" panose="02020603050405020304" pitchFamily="2" charset="0"/>
                <a:buNone/>
                <a:tabLst/>
                <a:defRPr/>
              </a:pPr>
              <a:r>
                <a:rPr kumimoji="0" lang="en-US" altLang="zh-CN" sz="2646"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rPr>
                <a:t>L</a:t>
              </a:r>
              <a:endParaRPr kumimoji="0" lang="zh-CN" altLang="en-US" sz="2646" b="0" i="0" u="none" strike="noStrike" kern="1200" cap="none" spc="0" normalizeH="0" baseline="0" noProof="0" dirty="0">
                <a:ln>
                  <a:noFill/>
                </a:ln>
                <a:solidFill>
                  <a:prstClr val="black"/>
                </a:solidFill>
                <a:effectLst/>
                <a:uLnTx/>
                <a:uFillTx/>
                <a:latin typeface="Arial" panose="020B0604020202020204"/>
                <a:ea typeface="黑体" panose="02010609060101010101" pitchFamily="49" charset="-122"/>
                <a:cs typeface="+mn-cs"/>
              </a:endParaRPr>
            </a:p>
          </p:txBody>
        </p:sp>
      </p:grpSp>
    </p:spTree>
    <p:extLst>
      <p:ext uri="{BB962C8B-B14F-4D97-AF65-F5344CB8AC3E}">
        <p14:creationId xmlns:p14="http://schemas.microsoft.com/office/powerpoint/2010/main" val="604848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wipe(left)">
                                      <p:cBhvr>
                                        <p:cTn id="7" dur="500"/>
                                        <p:tgtEl>
                                          <p:spTgt spid="29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wipe(left)">
                                      <p:cBhvr>
                                        <p:cTn id="12" dur="500"/>
                                        <p:tgtEl>
                                          <p:spTgt spid="296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wipe(left)">
                                      <p:cBhvr>
                                        <p:cTn id="17" dur="500"/>
                                        <p:tgtEl>
                                          <p:spTgt spid="296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6" name="Rectangle 3"/>
          <p:cNvSpPr>
            <a:spLocks noGrp="1" noChangeArrowheads="1"/>
          </p:cNvSpPr>
          <p:nvPr>
            <p:ph type="title"/>
          </p:nvPr>
        </p:nvSpPr>
        <p:spPr>
          <a:xfrm>
            <a:off x="694987" y="400802"/>
            <a:ext cx="8694618" cy="860342"/>
          </a:xfrm>
        </p:spPr>
        <p:txBody>
          <a:bodyPr/>
          <a:lstStyle/>
          <a:p>
            <a:pPr eaLnBrk="1" hangingPunct="1"/>
            <a:r>
              <a:rPr lang="zh-CN" altLang="en-US" dirty="0">
                <a:latin typeface="微软雅黑" panose="020B0503020204020204" pitchFamily="34" charset="-122"/>
              </a:rPr>
              <a:t>代码外提算法</a:t>
            </a:r>
            <a:endParaRPr lang="en-GB" altLang="zh-CN" dirty="0">
              <a:latin typeface="微软雅黑" panose="020B0503020204020204" pitchFamily="34" charset="-122"/>
            </a:endParaRPr>
          </a:p>
        </p:txBody>
      </p:sp>
      <p:sp>
        <p:nvSpPr>
          <p:cNvPr id="30722" name="Rectangle 2"/>
          <p:cNvSpPr>
            <a:spLocks noGrp="1" noChangeArrowheads="1"/>
          </p:cNvSpPr>
          <p:nvPr>
            <p:ph idx="1"/>
          </p:nvPr>
        </p:nvSpPr>
        <p:spPr>
          <a:xfrm>
            <a:off x="510934" y="1503673"/>
            <a:ext cx="9325583" cy="5303847"/>
          </a:xfrm>
        </p:spPr>
        <p:txBody>
          <a:bodyPr>
            <a:normAutofit/>
          </a:bodyPr>
          <a:lstStyle/>
          <a:p>
            <a:pPr>
              <a:spcBef>
                <a:spcPts val="496"/>
              </a:spcBef>
              <a:buNone/>
            </a:pPr>
            <a:r>
              <a:rPr lang="zh-CN" altLang="en-US" sz="2646" dirty="0"/>
              <a:t>1. 求出</a:t>
            </a:r>
            <a:r>
              <a:rPr lang="en-US" altLang="zh-CN" sz="2646" dirty="0"/>
              <a:t>L</a:t>
            </a:r>
            <a:r>
              <a:rPr lang="zh-CN" altLang="en-US" sz="2646" dirty="0"/>
              <a:t>的所有不变运算</a:t>
            </a:r>
          </a:p>
          <a:p>
            <a:pPr>
              <a:spcBef>
                <a:spcPts val="496"/>
              </a:spcBef>
              <a:buNone/>
            </a:pPr>
            <a:r>
              <a:rPr lang="zh-CN" altLang="en-US" sz="2646" dirty="0"/>
              <a:t>2. 对每个</a:t>
            </a:r>
            <a:r>
              <a:rPr lang="zh-CN" altLang="en-US" sz="2646" dirty="0">
                <a:solidFill>
                  <a:srgbClr val="C00000"/>
                </a:solidFill>
              </a:rPr>
              <a:t>不变运算</a:t>
            </a:r>
            <a:r>
              <a:rPr lang="en-US" altLang="zh-CN" sz="2646" dirty="0">
                <a:solidFill>
                  <a:srgbClr val="C00000"/>
                </a:solidFill>
              </a:rPr>
              <a:t>s:A:=B op C </a:t>
            </a:r>
            <a:r>
              <a:rPr lang="zh-CN" altLang="en-US" sz="2646" dirty="0"/>
              <a:t>或 </a:t>
            </a:r>
            <a:r>
              <a:rPr lang="en-US" altLang="zh-CN" sz="2646" dirty="0">
                <a:solidFill>
                  <a:srgbClr val="C00000"/>
                </a:solidFill>
              </a:rPr>
              <a:t>A:=op B </a:t>
            </a:r>
            <a:r>
              <a:rPr lang="zh-CN" altLang="en-US" sz="2646" dirty="0"/>
              <a:t>或 </a:t>
            </a:r>
            <a:r>
              <a:rPr lang="en-US" altLang="zh-CN" sz="2646" dirty="0">
                <a:solidFill>
                  <a:srgbClr val="C00000"/>
                </a:solidFill>
              </a:rPr>
              <a:t>A:=B</a:t>
            </a:r>
            <a:r>
              <a:rPr lang="zh-CN" altLang="en-US" sz="2646" dirty="0"/>
              <a:t>检查是否满足条件(1)或(2)</a:t>
            </a:r>
          </a:p>
        </p:txBody>
      </p:sp>
      <p:sp>
        <p:nvSpPr>
          <p:cNvPr id="4" name="文本框 3"/>
          <p:cNvSpPr txBox="1"/>
          <p:nvPr/>
        </p:nvSpPr>
        <p:spPr>
          <a:xfrm>
            <a:off x="438226" y="2865229"/>
            <a:ext cx="4715960" cy="253530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条件</a:t>
            </a:r>
            <a:r>
              <a:rPr lang="en-US" altLang="zh-CN" sz="2646" dirty="0">
                <a:solidFill>
                  <a:prstClr val="white"/>
                </a:solidFill>
                <a:latin typeface="微软雅黑" panose="020B0503020204020204" pitchFamily="34" charset="-122"/>
                <a:ea typeface="微软雅黑" panose="020B0503020204020204" pitchFamily="34" charset="-122"/>
              </a:rPr>
              <a:t>(1)</a:t>
            </a:r>
          </a:p>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err="1">
                <a:solidFill>
                  <a:prstClr val="white"/>
                </a:solidFill>
                <a:latin typeface="微软雅黑" panose="020B0503020204020204" pitchFamily="34" charset="-122"/>
                <a:ea typeface="微软雅黑" panose="020B0503020204020204" pitchFamily="34" charset="-122"/>
              </a:rPr>
              <a:t>i</a:t>
            </a:r>
            <a:r>
              <a:rPr lang="en-US" altLang="zh-CN" sz="2646" dirty="0">
                <a:solidFill>
                  <a:prstClr val="white"/>
                </a:solidFill>
                <a:latin typeface="微软雅黑" panose="020B0503020204020204" pitchFamily="34" charset="-122"/>
                <a:ea typeface="微软雅黑" panose="020B0503020204020204" pitchFamily="34" charset="-122"/>
              </a:rPr>
              <a:t>)   S</a:t>
            </a:r>
            <a:r>
              <a:rPr lang="zh-CN" altLang="en-US" sz="2646" dirty="0">
                <a:solidFill>
                  <a:prstClr val="white"/>
                </a:solidFill>
                <a:latin typeface="微软雅黑" panose="020B0503020204020204" pitchFamily="34" charset="-122"/>
                <a:ea typeface="微软雅黑" panose="020B0503020204020204" pitchFamily="34" charset="-122"/>
              </a:rPr>
              <a:t>所在的结点是</a:t>
            </a:r>
            <a:r>
              <a:rPr lang="en-US" altLang="zh-CN" sz="2646" dirty="0">
                <a:solidFill>
                  <a:prstClr val="white"/>
                </a:solidFill>
                <a:latin typeface="微软雅黑" panose="020B0503020204020204" pitchFamily="34" charset="-122"/>
                <a:ea typeface="微软雅黑" panose="020B0503020204020204" pitchFamily="34" charset="-122"/>
              </a:rPr>
              <a:t>L</a:t>
            </a:r>
            <a:r>
              <a:rPr lang="zh-CN" altLang="en-US" sz="2646" dirty="0">
                <a:solidFill>
                  <a:prstClr val="white"/>
                </a:solidFill>
                <a:latin typeface="微软雅黑" panose="020B0503020204020204" pitchFamily="34" charset="-122"/>
                <a:ea typeface="微软雅黑" panose="020B0503020204020204" pitchFamily="34" charset="-122"/>
              </a:rPr>
              <a:t>所有出口结点的必经结点;</a:t>
            </a:r>
          </a:p>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a:solidFill>
                  <a:prstClr val="white"/>
                </a:solidFill>
                <a:latin typeface="微软雅黑" panose="020B0503020204020204" pitchFamily="34" charset="-122"/>
                <a:ea typeface="微软雅黑" panose="020B0503020204020204" pitchFamily="34" charset="-122"/>
              </a:rPr>
              <a:t>ii)  A</a:t>
            </a:r>
            <a:r>
              <a:rPr lang="zh-CN" altLang="en-US" sz="2646" dirty="0">
                <a:solidFill>
                  <a:prstClr val="white"/>
                </a:solidFill>
                <a:latin typeface="微软雅黑" panose="020B0503020204020204" pitchFamily="34" charset="-122"/>
                <a:ea typeface="微软雅黑" panose="020B0503020204020204" pitchFamily="34" charset="-122"/>
              </a:rPr>
              <a:t>在</a:t>
            </a:r>
            <a:r>
              <a:rPr lang="en-US" altLang="zh-CN" sz="2646" dirty="0">
                <a:solidFill>
                  <a:prstClr val="white"/>
                </a:solidFill>
                <a:latin typeface="微软雅黑" panose="020B0503020204020204" pitchFamily="34" charset="-122"/>
                <a:ea typeface="微软雅黑" panose="020B0503020204020204" pitchFamily="34" charset="-122"/>
              </a:rPr>
              <a:t>L</a:t>
            </a:r>
            <a:r>
              <a:rPr lang="zh-CN" altLang="en-US" sz="2646" dirty="0">
                <a:solidFill>
                  <a:prstClr val="white"/>
                </a:solidFill>
                <a:latin typeface="微软雅黑" panose="020B0503020204020204" pitchFamily="34" charset="-122"/>
                <a:ea typeface="微软雅黑" panose="020B0503020204020204" pitchFamily="34" charset="-122"/>
              </a:rPr>
              <a:t>中其他地方未再定值; </a:t>
            </a:r>
          </a:p>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a:solidFill>
                  <a:prstClr val="white"/>
                </a:solidFill>
                <a:latin typeface="微软雅黑" panose="020B0503020204020204" pitchFamily="34" charset="-122"/>
                <a:ea typeface="微软雅黑" panose="020B0503020204020204" pitchFamily="34" charset="-122"/>
              </a:rPr>
              <a:t>iii) L</a:t>
            </a:r>
            <a:r>
              <a:rPr lang="zh-CN" altLang="en-US" sz="2646" dirty="0">
                <a:solidFill>
                  <a:prstClr val="white"/>
                </a:solidFill>
                <a:latin typeface="微软雅黑" panose="020B0503020204020204" pitchFamily="34" charset="-122"/>
                <a:ea typeface="微软雅黑" panose="020B0503020204020204" pitchFamily="34" charset="-122"/>
              </a:rPr>
              <a:t>中所有</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的引用点只有</a:t>
            </a:r>
            <a:r>
              <a:rPr lang="en-US" altLang="zh-CN" sz="2646" dirty="0">
                <a:solidFill>
                  <a:prstClr val="white"/>
                </a:solidFill>
                <a:latin typeface="微软雅黑" panose="020B0503020204020204" pitchFamily="34" charset="-122"/>
                <a:ea typeface="微软雅黑" panose="020B0503020204020204" pitchFamily="34" charset="-122"/>
              </a:rPr>
              <a:t>S</a:t>
            </a:r>
            <a:r>
              <a:rPr lang="zh-CN" altLang="en-US" sz="2646" dirty="0">
                <a:solidFill>
                  <a:prstClr val="white"/>
                </a:solidFill>
                <a:latin typeface="微软雅黑" panose="020B0503020204020204" pitchFamily="34" charset="-122"/>
                <a:ea typeface="微软雅黑" panose="020B0503020204020204" pitchFamily="34" charset="-122"/>
              </a:rPr>
              <a:t>中的</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的定值才能到达。</a:t>
            </a:r>
            <a:endParaRPr lang="en-GB" altLang="zh-CN" sz="2646" dirty="0">
              <a:solidFill>
                <a:prstClr val="white"/>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154186" y="2865229"/>
            <a:ext cx="4715960" cy="2535309"/>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defTabSz="755957" rtl="0" fontAlgn="auto" hangingPunct="1">
              <a:lnSpc>
                <a:spcPct val="100000"/>
              </a:lnSpc>
              <a:spcAft>
                <a:spcPts val="0"/>
              </a:spcAft>
              <a:buSzTx/>
              <a:defRPr/>
            </a:pPr>
            <a:r>
              <a:rPr lang="zh-CN" altLang="en-US" sz="2646" dirty="0">
                <a:solidFill>
                  <a:prstClr val="white"/>
                </a:solidFill>
                <a:latin typeface="微软雅黑" panose="020B0503020204020204" pitchFamily="34" charset="-122"/>
                <a:ea typeface="微软雅黑" panose="020B0503020204020204" pitchFamily="34" charset="-122"/>
              </a:rPr>
              <a:t>条件</a:t>
            </a:r>
            <a:r>
              <a:rPr lang="en-US" altLang="zh-CN" sz="2646" dirty="0">
                <a:solidFill>
                  <a:prstClr val="white"/>
                </a:solidFill>
                <a:latin typeface="微软雅黑" panose="020B0503020204020204" pitchFamily="34" charset="-122"/>
                <a:ea typeface="微软雅黑" panose="020B0503020204020204" pitchFamily="34" charset="-122"/>
              </a:rPr>
              <a:t>(2)</a:t>
            </a:r>
          </a:p>
          <a:p>
            <a:pPr defTabSz="755957" rtl="0" fontAlgn="auto" hangingPunct="1">
              <a:lnSpc>
                <a:spcPct val="100000"/>
              </a:lnSpc>
              <a:spcAft>
                <a:spcPts val="0"/>
              </a:spcAft>
              <a:buSzTx/>
              <a:defRPr/>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err="1">
                <a:solidFill>
                  <a:prstClr val="white"/>
                </a:solidFill>
                <a:latin typeface="微软雅黑" panose="020B0503020204020204" pitchFamily="34" charset="-122"/>
                <a:ea typeface="微软雅黑" panose="020B0503020204020204" pitchFamily="34" charset="-122"/>
              </a:rPr>
              <a:t>i</a:t>
            </a:r>
            <a:r>
              <a:rPr lang="en-US" altLang="zh-CN" sz="2646" dirty="0">
                <a:solidFill>
                  <a:prstClr val="white"/>
                </a:solidFill>
                <a:latin typeface="微软雅黑" panose="020B0503020204020204" pitchFamily="34" charset="-122"/>
                <a:ea typeface="微软雅黑" panose="020B0503020204020204" pitchFamily="34" charset="-122"/>
              </a:rPr>
              <a:t>)   A</a:t>
            </a:r>
            <a:r>
              <a:rPr lang="zh-CN" altLang="en-US" sz="2646" dirty="0">
                <a:solidFill>
                  <a:prstClr val="white"/>
                </a:solidFill>
                <a:latin typeface="微软雅黑" panose="020B0503020204020204" pitchFamily="34" charset="-122"/>
                <a:ea typeface="微软雅黑" panose="020B0503020204020204" pitchFamily="34" charset="-122"/>
              </a:rPr>
              <a:t>在离开</a:t>
            </a:r>
            <a:r>
              <a:rPr lang="en-US" altLang="zh-CN" sz="2646" dirty="0">
                <a:solidFill>
                  <a:prstClr val="white"/>
                </a:solidFill>
                <a:latin typeface="微软雅黑" panose="020B0503020204020204" pitchFamily="34" charset="-122"/>
                <a:ea typeface="微软雅黑" panose="020B0503020204020204" pitchFamily="34" charset="-122"/>
              </a:rPr>
              <a:t>L</a:t>
            </a:r>
            <a:r>
              <a:rPr lang="zh-CN" altLang="en-US" sz="2646" dirty="0">
                <a:solidFill>
                  <a:prstClr val="white"/>
                </a:solidFill>
                <a:latin typeface="微软雅黑" panose="020B0503020204020204" pitchFamily="34" charset="-122"/>
                <a:ea typeface="微软雅黑" panose="020B0503020204020204" pitchFamily="34" charset="-122"/>
              </a:rPr>
              <a:t>后不再是活跃的;</a:t>
            </a:r>
          </a:p>
          <a:p>
            <a:pPr defTabSz="503972" rtl="0" fontAlgn="auto" hangingPunct="1">
              <a:lnSpc>
                <a:spcPct val="100000"/>
              </a:lnSpc>
              <a:spcAft>
                <a:spcPts val="0"/>
              </a:spcAft>
              <a:buSzTx/>
            </a:pPr>
            <a:endParaRPr lang="en-US" altLang="zh-CN" sz="2646" dirty="0">
              <a:solidFill>
                <a:prstClr val="white"/>
              </a:solidFill>
              <a:latin typeface="微软雅黑" panose="020B0503020204020204" pitchFamily="34" charset="-122"/>
              <a:ea typeface="微软雅黑" panose="020B0503020204020204" pitchFamily="34" charset="-122"/>
            </a:endParaRPr>
          </a:p>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a:solidFill>
                  <a:prstClr val="white"/>
                </a:solidFill>
                <a:latin typeface="微软雅黑" panose="020B0503020204020204" pitchFamily="34" charset="-122"/>
                <a:ea typeface="微软雅黑" panose="020B0503020204020204" pitchFamily="34" charset="-122"/>
              </a:rPr>
              <a:t>ii)  A</a:t>
            </a:r>
            <a:r>
              <a:rPr lang="zh-CN" altLang="en-US" sz="2646" dirty="0">
                <a:solidFill>
                  <a:prstClr val="white"/>
                </a:solidFill>
                <a:latin typeface="微软雅黑" panose="020B0503020204020204" pitchFamily="34" charset="-122"/>
                <a:ea typeface="微软雅黑" panose="020B0503020204020204" pitchFamily="34" charset="-122"/>
              </a:rPr>
              <a:t>在</a:t>
            </a:r>
            <a:r>
              <a:rPr lang="en-US" altLang="zh-CN" sz="2646" dirty="0">
                <a:solidFill>
                  <a:prstClr val="white"/>
                </a:solidFill>
                <a:latin typeface="微软雅黑" panose="020B0503020204020204" pitchFamily="34" charset="-122"/>
                <a:ea typeface="微软雅黑" panose="020B0503020204020204" pitchFamily="34" charset="-122"/>
              </a:rPr>
              <a:t>L</a:t>
            </a:r>
            <a:r>
              <a:rPr lang="zh-CN" altLang="en-US" sz="2646" dirty="0">
                <a:solidFill>
                  <a:prstClr val="white"/>
                </a:solidFill>
                <a:latin typeface="微软雅黑" panose="020B0503020204020204" pitchFamily="34" charset="-122"/>
                <a:ea typeface="微软雅黑" panose="020B0503020204020204" pitchFamily="34" charset="-122"/>
              </a:rPr>
              <a:t>中其他地方未再定值; </a:t>
            </a:r>
          </a:p>
          <a:p>
            <a:pPr defTabSz="503972" rtl="0" fontAlgn="auto" hangingPunct="1">
              <a:lnSpc>
                <a:spcPct val="100000"/>
              </a:lnSpc>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a:t>
            </a:r>
            <a:r>
              <a:rPr lang="en-US" altLang="zh-CN" sz="2646" dirty="0">
                <a:solidFill>
                  <a:prstClr val="white"/>
                </a:solidFill>
                <a:latin typeface="微软雅黑" panose="020B0503020204020204" pitchFamily="34" charset="-122"/>
                <a:ea typeface="微软雅黑" panose="020B0503020204020204" pitchFamily="34" charset="-122"/>
              </a:rPr>
              <a:t>iii) L</a:t>
            </a:r>
            <a:r>
              <a:rPr lang="zh-CN" altLang="en-US" sz="2646" dirty="0">
                <a:solidFill>
                  <a:prstClr val="white"/>
                </a:solidFill>
                <a:latin typeface="微软雅黑" panose="020B0503020204020204" pitchFamily="34" charset="-122"/>
                <a:ea typeface="微软雅黑" panose="020B0503020204020204" pitchFamily="34" charset="-122"/>
              </a:rPr>
              <a:t>中所有</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的引用点只有</a:t>
            </a:r>
            <a:r>
              <a:rPr lang="en-US" altLang="zh-CN" sz="2646" dirty="0">
                <a:solidFill>
                  <a:prstClr val="white"/>
                </a:solidFill>
                <a:latin typeface="微软雅黑" panose="020B0503020204020204" pitchFamily="34" charset="-122"/>
                <a:ea typeface="微软雅黑" panose="020B0503020204020204" pitchFamily="34" charset="-122"/>
              </a:rPr>
              <a:t>S</a:t>
            </a:r>
            <a:r>
              <a:rPr lang="zh-CN" altLang="en-US" sz="2646" dirty="0">
                <a:solidFill>
                  <a:prstClr val="white"/>
                </a:solidFill>
                <a:latin typeface="微软雅黑" panose="020B0503020204020204" pitchFamily="34" charset="-122"/>
                <a:ea typeface="微软雅黑" panose="020B0503020204020204" pitchFamily="34" charset="-122"/>
              </a:rPr>
              <a:t>中的</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的定值才能到达。</a:t>
            </a:r>
            <a:endParaRPr lang="en-GB" altLang="zh-CN" sz="2646" dirty="0">
              <a:solidFill>
                <a:prstClr val="white"/>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10934" y="5394648"/>
            <a:ext cx="9325583" cy="1720984"/>
          </a:xfrm>
          <a:prstGeom prst="rect">
            <a:avLst/>
          </a:prstGeom>
          <a:noFill/>
        </p:spPr>
        <p:txBody>
          <a:bodyPr wrap="square" rtlCol="0">
            <a:spAutoFit/>
          </a:bodyPr>
          <a:lstStyle/>
          <a:p>
            <a:pPr defTabSz="503972" rtl="0" fontAlgn="auto" hangingPunct="1">
              <a:lnSpc>
                <a:spcPct val="100000"/>
              </a:lnSpc>
              <a:spcBef>
                <a:spcPts val="496"/>
              </a:spcBef>
              <a:spcAft>
                <a:spcPts val="0"/>
              </a:spcAft>
              <a:buSzTx/>
            </a:pPr>
            <a:r>
              <a:rPr lang="zh-CN" altLang="en-US" sz="2646" dirty="0">
                <a:solidFill>
                  <a:prstClr val="black"/>
                </a:solidFill>
                <a:latin typeface="微软雅黑" panose="020B0503020204020204" pitchFamily="34" charset="-122"/>
                <a:ea typeface="微软雅黑" panose="020B0503020204020204" pitchFamily="34" charset="-122"/>
              </a:rPr>
              <a:t>3.按步骤1所找出不变运算的</a:t>
            </a:r>
            <a:r>
              <a:rPr lang="zh-CN" altLang="en-US" sz="2646" dirty="0">
                <a:solidFill>
                  <a:srgbClr val="C00000"/>
                </a:solidFill>
                <a:latin typeface="微软雅黑" panose="020B0503020204020204" pitchFamily="34" charset="-122"/>
                <a:ea typeface="微软雅黑" panose="020B0503020204020204" pitchFamily="34" charset="-122"/>
              </a:rPr>
              <a:t>次序</a:t>
            </a:r>
            <a:r>
              <a:rPr lang="zh-CN" altLang="en-US" sz="2646" dirty="0">
                <a:solidFill>
                  <a:prstClr val="black"/>
                </a:solidFill>
                <a:latin typeface="微软雅黑" panose="020B0503020204020204" pitchFamily="34" charset="-122"/>
                <a:ea typeface="微软雅黑" panose="020B0503020204020204" pitchFamily="34" charset="-122"/>
              </a:rPr>
              <a:t>，依次把符合步骤2的条件(1)或(2)的</a:t>
            </a:r>
            <a:r>
              <a:rPr lang="zh-CN" altLang="en-US" sz="2646" dirty="0">
                <a:solidFill>
                  <a:srgbClr val="C00000"/>
                </a:solidFill>
                <a:latin typeface="微软雅黑" panose="020B0503020204020204" pitchFamily="34" charset="-122"/>
                <a:ea typeface="微软雅黑" panose="020B0503020204020204" pitchFamily="34" charset="-122"/>
              </a:rPr>
              <a:t>不变运算</a:t>
            </a:r>
            <a:r>
              <a:rPr lang="en-US" altLang="zh-CN" sz="2646" dirty="0">
                <a:solidFill>
                  <a:srgbClr val="C00000"/>
                </a:solidFill>
                <a:latin typeface="微软雅黑" panose="020B0503020204020204" pitchFamily="34" charset="-122"/>
                <a:ea typeface="微软雅黑" panose="020B0503020204020204" pitchFamily="34" charset="-122"/>
              </a:rPr>
              <a:t>s</a:t>
            </a:r>
            <a:r>
              <a:rPr lang="zh-CN" altLang="en-US" sz="2646" dirty="0">
                <a:solidFill>
                  <a:prstClr val="black"/>
                </a:solidFill>
                <a:latin typeface="微软雅黑" panose="020B0503020204020204" pitchFamily="34" charset="-122"/>
                <a:ea typeface="微软雅黑" panose="020B0503020204020204" pitchFamily="34" charset="-122"/>
              </a:rPr>
              <a:t>外提到</a:t>
            </a:r>
            <a:r>
              <a:rPr lang="en-US" altLang="zh-CN" sz="2646" dirty="0">
                <a:solidFill>
                  <a:prstClr val="black"/>
                </a:solidFill>
                <a:latin typeface="微软雅黑" panose="020B0503020204020204" pitchFamily="34" charset="-122"/>
                <a:ea typeface="微软雅黑" panose="020B0503020204020204" pitchFamily="34" charset="-122"/>
              </a:rPr>
              <a:t>L</a:t>
            </a:r>
            <a:r>
              <a:rPr lang="zh-CN" altLang="en-US" sz="2646" dirty="0">
                <a:solidFill>
                  <a:prstClr val="black"/>
                </a:solidFill>
                <a:latin typeface="微软雅黑" panose="020B0503020204020204" pitchFamily="34" charset="-122"/>
                <a:ea typeface="微软雅黑" panose="020B0503020204020204" pitchFamily="34" charset="-122"/>
              </a:rPr>
              <a:t>的前置结点中。但是，如果</a:t>
            </a:r>
            <a:r>
              <a:rPr lang="en-US" altLang="zh-CN" sz="2646" dirty="0">
                <a:solidFill>
                  <a:prstClr val="black"/>
                </a:solidFill>
                <a:latin typeface="微软雅黑" panose="020B0503020204020204" pitchFamily="34" charset="-122"/>
                <a:ea typeface="微软雅黑" panose="020B0503020204020204" pitchFamily="34" charset="-122"/>
              </a:rPr>
              <a:t>s</a:t>
            </a:r>
            <a:r>
              <a:rPr lang="zh-CN" altLang="en-US" sz="2646" dirty="0">
                <a:solidFill>
                  <a:prstClr val="black"/>
                </a:solidFill>
                <a:latin typeface="微软雅黑" panose="020B0503020204020204" pitchFamily="34" charset="-122"/>
                <a:ea typeface="微软雅黑" panose="020B0503020204020204" pitchFamily="34" charset="-122"/>
              </a:rPr>
              <a:t>的运算对象(</a:t>
            </a:r>
            <a:r>
              <a:rPr lang="en-US" altLang="zh-CN" sz="2646" dirty="0">
                <a:solidFill>
                  <a:prstClr val="black"/>
                </a:solidFill>
                <a:latin typeface="微软雅黑" panose="020B0503020204020204" pitchFamily="34" charset="-122"/>
                <a:ea typeface="微软雅黑" panose="020B0503020204020204" pitchFamily="34" charset="-122"/>
              </a:rPr>
              <a:t>B</a:t>
            </a:r>
            <a:r>
              <a:rPr lang="zh-CN" altLang="en-US" sz="2646" dirty="0">
                <a:solidFill>
                  <a:prstClr val="black"/>
                </a:solidFill>
                <a:latin typeface="微软雅黑" panose="020B0503020204020204" pitchFamily="34" charset="-122"/>
                <a:ea typeface="微软雅黑" panose="020B0503020204020204" pitchFamily="34" charset="-122"/>
              </a:rPr>
              <a:t>或</a:t>
            </a:r>
            <a:r>
              <a:rPr lang="en-US" altLang="zh-CN" sz="2646" dirty="0">
                <a:solidFill>
                  <a:prstClr val="black"/>
                </a:solidFill>
                <a:latin typeface="微软雅黑" panose="020B0503020204020204" pitchFamily="34" charset="-122"/>
                <a:ea typeface="微软雅黑" panose="020B0503020204020204" pitchFamily="34" charset="-122"/>
              </a:rPr>
              <a:t>C)</a:t>
            </a:r>
            <a:r>
              <a:rPr lang="zh-CN" altLang="en-US" sz="2646" dirty="0">
                <a:solidFill>
                  <a:prstClr val="black"/>
                </a:solidFill>
                <a:latin typeface="微软雅黑" panose="020B0503020204020204" pitchFamily="34" charset="-122"/>
                <a:ea typeface="微软雅黑" panose="020B0503020204020204" pitchFamily="34" charset="-122"/>
              </a:rPr>
              <a:t>是在</a:t>
            </a:r>
            <a:r>
              <a:rPr lang="en-US" altLang="zh-CN" sz="2646" dirty="0">
                <a:solidFill>
                  <a:prstClr val="black"/>
                </a:solidFill>
                <a:latin typeface="微软雅黑" panose="020B0503020204020204" pitchFamily="34" charset="-122"/>
                <a:ea typeface="微软雅黑" panose="020B0503020204020204" pitchFamily="34" charset="-122"/>
              </a:rPr>
              <a:t>L</a:t>
            </a:r>
            <a:r>
              <a:rPr lang="zh-CN" altLang="en-US" sz="2646" dirty="0">
                <a:solidFill>
                  <a:prstClr val="black"/>
                </a:solidFill>
                <a:latin typeface="微软雅黑" panose="020B0503020204020204" pitchFamily="34" charset="-122"/>
                <a:ea typeface="微软雅黑" panose="020B0503020204020204" pitchFamily="34" charset="-122"/>
              </a:rPr>
              <a:t>中定值的，那么，只有当这些定值四元式都已外提到前置结点中时，才能把</a:t>
            </a:r>
            <a:r>
              <a:rPr lang="en-US" altLang="zh-CN" sz="2646" dirty="0">
                <a:solidFill>
                  <a:prstClr val="black"/>
                </a:solidFill>
                <a:latin typeface="微软雅黑" panose="020B0503020204020204" pitchFamily="34" charset="-122"/>
                <a:ea typeface="微软雅黑" panose="020B0503020204020204" pitchFamily="34" charset="-122"/>
              </a:rPr>
              <a:t>s</a:t>
            </a:r>
            <a:r>
              <a:rPr lang="zh-CN" altLang="en-US" sz="2646" dirty="0">
                <a:solidFill>
                  <a:prstClr val="black"/>
                </a:solidFill>
                <a:latin typeface="微软雅黑" panose="020B0503020204020204" pitchFamily="34" charset="-122"/>
                <a:ea typeface="微软雅黑" panose="020B0503020204020204" pitchFamily="34" charset="-122"/>
              </a:rPr>
              <a:t>也外提到前置结点中。</a:t>
            </a:r>
          </a:p>
        </p:txBody>
      </p:sp>
    </p:spTree>
    <p:extLst>
      <p:ext uri="{BB962C8B-B14F-4D97-AF65-F5344CB8AC3E}">
        <p14:creationId xmlns:p14="http://schemas.microsoft.com/office/powerpoint/2010/main" val="35489664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animEffect transition="in" filter="wipe(left)">
                                      <p:cBhvr>
                                        <p:cTn id="7" dur="500"/>
                                        <p:tgtEl>
                                          <p:spTgt spid="307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2">
                                            <p:txEl>
                                              <p:pRg st="1" end="1"/>
                                            </p:txEl>
                                          </p:spTgt>
                                        </p:tgtEl>
                                        <p:attrNameLst>
                                          <p:attrName>style.visibility</p:attrName>
                                        </p:attrNameLst>
                                      </p:cBhvr>
                                      <p:to>
                                        <p:strVal val="visible"/>
                                      </p:to>
                                    </p:set>
                                    <p:animEffect transition="in" filter="wipe(left)">
                                      <p:cBhvr>
                                        <p:cTn id="12" dur="500"/>
                                        <p:tgtEl>
                                          <p:spTgt spid="307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p:bldP spid="4" grpId="0" animBg="1"/>
      <p:bldP spid="5" grpId="0" animBg="1"/>
      <p:bldP spid="2" grpId="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3" name="Rectangle 2"/>
          <p:cNvSpPr>
            <a:spLocks noGrp="1" noChangeArrowheads="1"/>
          </p:cNvSpPr>
          <p:nvPr>
            <p:ph type="title"/>
          </p:nvPr>
        </p:nvSpPr>
        <p:spPr/>
        <p:txBody>
          <a:bodyPr/>
          <a:lstStyle/>
          <a:p>
            <a:r>
              <a:rPr lang="zh-CN" altLang="en-US"/>
              <a:t>强度消弱</a:t>
            </a:r>
            <a:endParaRPr lang="zh-CN" altLang="en-US" dirty="0"/>
          </a:p>
        </p:txBody>
      </p:sp>
      <p:sp>
        <p:nvSpPr>
          <p:cNvPr id="67587" name="Rectangle 3"/>
          <p:cNvSpPr>
            <a:spLocks noGrp="1" noChangeArrowheads="1"/>
          </p:cNvSpPr>
          <p:nvPr>
            <p:ph idx="1"/>
          </p:nvPr>
        </p:nvSpPr>
        <p:spPr/>
        <p:txBody>
          <a:bodyPr/>
          <a:lstStyle/>
          <a:p>
            <a:r>
              <a:rPr lang="zh-CN" altLang="en-US"/>
              <a:t>把程序中执行时间较长的运算转换为执行时间较短的运算</a:t>
            </a:r>
            <a:endParaRPr lang="zh-CN" altLang="en-US" dirty="0"/>
          </a:p>
        </p:txBody>
      </p:sp>
    </p:spTree>
    <p:extLst>
      <p:ext uri="{BB962C8B-B14F-4D97-AF65-F5344CB8AC3E}">
        <p14:creationId xmlns:p14="http://schemas.microsoft.com/office/powerpoint/2010/main" val="30871228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wipe(left)">
                                      <p:cBhvr>
                                        <p:cTn id="7" dur="500"/>
                                        <p:tgtEl>
                                          <p:spTgt spid="675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循环优化示例</a:t>
            </a:r>
          </a:p>
        </p:txBody>
      </p:sp>
      <p:sp>
        <p:nvSpPr>
          <p:cNvPr id="18" name="文本框 17"/>
          <p:cNvSpPr txBox="1"/>
          <p:nvPr/>
        </p:nvSpPr>
        <p:spPr>
          <a:xfrm>
            <a:off x="218421" y="2392125"/>
            <a:ext cx="4732386" cy="1042080"/>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pPr defTabSz="503972" rtl="0" fontAlgn="auto" hangingPunct="1">
              <a:lnSpc>
                <a:spcPct val="100000"/>
              </a:lnSpc>
              <a:spcBef>
                <a:spcPts val="0"/>
              </a:spcBef>
              <a:spcAft>
                <a:spcPts val="0"/>
              </a:spcAft>
              <a:buSzTx/>
            </a:pPr>
            <a:r>
              <a:rPr lang="en-US" altLang="en-US" sz="3086" dirty="0">
                <a:solidFill>
                  <a:prstClr val="white"/>
                </a:solidFill>
                <a:latin typeface="微软雅黑" panose="020B0503020204020204" pitchFamily="34" charset="-122"/>
              </a:rPr>
              <a:t>for I:=1 to 10 do</a:t>
            </a:r>
          </a:p>
          <a:p>
            <a:pPr defTabSz="503972" rtl="0" fontAlgn="auto" hangingPunct="1">
              <a:lnSpc>
                <a:spcPct val="100000"/>
              </a:lnSpc>
              <a:spcBef>
                <a:spcPts val="0"/>
              </a:spcBef>
              <a:spcAft>
                <a:spcPts val="0"/>
              </a:spcAft>
              <a:buSzTx/>
            </a:pPr>
            <a:r>
              <a:rPr lang="en-US" altLang="zh-CN" sz="3086" dirty="0">
                <a:solidFill>
                  <a:prstClr val="white"/>
                </a:solidFill>
                <a:latin typeface="微软雅黑" panose="020B0503020204020204" pitchFamily="34" charset="-122"/>
                <a:ea typeface="黑体" panose="02010609060101010101" pitchFamily="49" charset="-122"/>
              </a:rPr>
              <a:t>   </a:t>
            </a:r>
            <a:r>
              <a:rPr lang="en-US" altLang="en-US" sz="3086" dirty="0">
                <a:solidFill>
                  <a:prstClr val="white"/>
                </a:solidFill>
                <a:latin typeface="微软雅黑" panose="020B0503020204020204" pitchFamily="34" charset="-122"/>
              </a:rPr>
              <a:t>A[I, 2*J] := A[I, 2*J] + 1</a:t>
            </a:r>
            <a:endParaRPr lang="en-US" altLang="zh-CN" sz="3086" dirty="0">
              <a:solidFill>
                <a:prstClr val="white"/>
              </a:solidFill>
              <a:latin typeface="微软雅黑" panose="020B0503020204020204" pitchFamily="34" charset="-122"/>
              <a:ea typeface="黑体" panose="02010609060101010101" pitchFamily="49" charset="-122"/>
            </a:endParaRPr>
          </a:p>
        </p:txBody>
      </p:sp>
      <p:grpSp>
        <p:nvGrpSpPr>
          <p:cNvPr id="19" name="Group 38"/>
          <p:cNvGrpSpPr>
            <a:grpSpLocks/>
          </p:cNvGrpSpPr>
          <p:nvPr/>
        </p:nvGrpSpPr>
        <p:grpSpPr bwMode="auto">
          <a:xfrm>
            <a:off x="5131889" y="-1"/>
            <a:ext cx="4115823" cy="7475679"/>
            <a:chOff x="288" y="0"/>
            <a:chExt cx="3024" cy="4272"/>
          </a:xfrm>
        </p:grpSpPr>
        <p:sp>
          <p:nvSpPr>
            <p:cNvPr id="20" name="Rectangle 4"/>
            <p:cNvSpPr>
              <a:spLocks noChangeArrowheads="1"/>
            </p:cNvSpPr>
            <p:nvPr/>
          </p:nvSpPr>
          <p:spPr bwMode="auto">
            <a:xfrm>
              <a:off x="528" y="19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(1)	</a:t>
              </a:r>
              <a:r>
                <a:rPr kumimoji="1" lang="en-US" altLang="zh-CN" sz="2646" dirty="0">
                  <a:solidFill>
                    <a:prstClr val="black"/>
                  </a:solidFill>
                  <a:latin typeface="Arial" panose="020B0604020202020204"/>
                  <a:ea typeface="宋体" panose="02010600030101010101" pitchFamily="2" charset="-122"/>
                </a:rPr>
                <a:t>    I:=1</a:t>
              </a:r>
            </a:p>
          </p:txBody>
        </p:sp>
        <p:sp>
          <p:nvSpPr>
            <p:cNvPr id="35" name="Rectangle 23"/>
            <p:cNvSpPr>
              <a:spLocks noChangeArrowheads="1"/>
            </p:cNvSpPr>
            <p:nvPr/>
          </p:nvSpPr>
          <p:spPr bwMode="auto">
            <a:xfrm>
              <a:off x="528" y="67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I&gt;10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(15)</a:t>
              </a:r>
            </a:p>
          </p:txBody>
        </p:sp>
        <p:sp>
          <p:nvSpPr>
            <p:cNvPr id="36" name="Rectangle 24"/>
            <p:cNvSpPr>
              <a:spLocks noChangeArrowheads="1"/>
            </p:cNvSpPr>
            <p:nvPr/>
          </p:nvSpPr>
          <p:spPr bwMode="auto">
            <a:xfrm>
              <a:off x="528" y="1056"/>
              <a:ext cx="2352" cy="2736"/>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1</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T</a:t>
              </a:r>
              <a:r>
                <a:rPr kumimoji="1" lang="en-US" altLang="zh-CN" sz="2646" baseline="-25000"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5</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(10)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(11)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(13)   I:=I+1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37" name="Rectangle 26"/>
            <p:cNvSpPr>
              <a:spLocks noChangeArrowheads="1"/>
            </p:cNvSpPr>
            <p:nvPr/>
          </p:nvSpPr>
          <p:spPr bwMode="auto">
            <a:xfrm>
              <a:off x="2928" y="168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38" name="Rectangle 28"/>
            <p:cNvSpPr>
              <a:spLocks noChangeArrowheads="1"/>
            </p:cNvSpPr>
            <p:nvPr/>
          </p:nvSpPr>
          <p:spPr bwMode="auto">
            <a:xfrm>
              <a:off x="2880" y="62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39" name="Rectangle 29"/>
            <p:cNvSpPr>
              <a:spLocks noChangeArrowheads="1"/>
            </p:cNvSpPr>
            <p:nvPr/>
          </p:nvSpPr>
          <p:spPr bwMode="auto">
            <a:xfrm>
              <a:off x="2880" y="14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40" name="Line 30"/>
            <p:cNvSpPr>
              <a:spLocks noChangeShapeType="1"/>
            </p:cNvSpPr>
            <p:nvPr/>
          </p:nvSpPr>
          <p:spPr bwMode="auto">
            <a:xfrm>
              <a:off x="1680" y="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1" name="Line 31"/>
            <p:cNvSpPr>
              <a:spLocks noChangeShapeType="1"/>
            </p:cNvSpPr>
            <p:nvPr/>
          </p:nvSpPr>
          <p:spPr bwMode="auto">
            <a:xfrm>
              <a:off x="1680" y="432"/>
              <a:ext cx="0" cy="240"/>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2" name="Line 32"/>
            <p:cNvSpPr>
              <a:spLocks noChangeShapeType="1"/>
            </p:cNvSpPr>
            <p:nvPr/>
          </p:nvSpPr>
          <p:spPr bwMode="auto">
            <a:xfrm>
              <a:off x="1680" y="91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3" name="Freeform 33"/>
            <p:cNvSpPr>
              <a:spLocks/>
            </p:cNvSpPr>
            <p:nvPr/>
          </p:nvSpPr>
          <p:spPr bwMode="auto">
            <a:xfrm>
              <a:off x="288" y="480"/>
              <a:ext cx="816" cy="3456"/>
            </a:xfrm>
            <a:custGeom>
              <a:avLst/>
              <a:gdLst>
                <a:gd name="T0" fmla="*/ 768 w 816"/>
                <a:gd name="T1" fmla="*/ 3312 h 3456"/>
                <a:gd name="T2" fmla="*/ 768 w 816"/>
                <a:gd name="T3" fmla="*/ 3456 h 3456"/>
                <a:gd name="T4" fmla="*/ 0 w 816"/>
                <a:gd name="T5" fmla="*/ 3456 h 3456"/>
                <a:gd name="T6" fmla="*/ 0 w 816"/>
                <a:gd name="T7" fmla="*/ 0 h 3456"/>
                <a:gd name="T8" fmla="*/ 816 w 816"/>
                <a:gd name="T9" fmla="*/ 0 h 3456"/>
                <a:gd name="T10" fmla="*/ 816 w 816"/>
                <a:gd name="T11" fmla="*/ 192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4" name="Freeform 35"/>
            <p:cNvSpPr>
              <a:spLocks/>
            </p:cNvSpPr>
            <p:nvPr/>
          </p:nvSpPr>
          <p:spPr bwMode="auto">
            <a:xfrm>
              <a:off x="1632" y="768"/>
              <a:ext cx="1680" cy="3264"/>
            </a:xfrm>
            <a:custGeom>
              <a:avLst/>
              <a:gdLst>
                <a:gd name="T0" fmla="*/ 1536 w 1680"/>
                <a:gd name="T1" fmla="*/ 0 h 3264"/>
                <a:gd name="T2" fmla="*/ 1680 w 1680"/>
                <a:gd name="T3" fmla="*/ 0 h 3264"/>
                <a:gd name="T4" fmla="*/ 1680 w 1680"/>
                <a:gd name="T5" fmla="*/ 3120 h 3264"/>
                <a:gd name="T6" fmla="*/ 0 w 1680"/>
                <a:gd name="T7" fmla="*/ 3120 h 3264"/>
                <a:gd name="T8" fmla="*/ 0 w 1680"/>
                <a:gd name="T9" fmla="*/ 3264 h 3264"/>
                <a:gd name="T10" fmla="*/ 0 60000 65536"/>
                <a:gd name="T11" fmla="*/ 0 60000 65536"/>
                <a:gd name="T12" fmla="*/ 0 60000 65536"/>
                <a:gd name="T13" fmla="*/ 0 60000 65536"/>
                <a:gd name="T14" fmla="*/ 0 60000 65536"/>
                <a:gd name="T15" fmla="*/ 0 w 1680"/>
                <a:gd name="T16" fmla="*/ 0 h 3264"/>
                <a:gd name="T17" fmla="*/ 1680 w 1680"/>
                <a:gd name="T18" fmla="*/ 3264 h 3264"/>
              </a:gdLst>
              <a:ahLst/>
              <a:cxnLst>
                <a:cxn ang="T10">
                  <a:pos x="T0" y="T1"/>
                </a:cxn>
                <a:cxn ang="T11">
                  <a:pos x="T2" y="T3"/>
                </a:cxn>
                <a:cxn ang="T12">
                  <a:pos x="T4" y="T5"/>
                </a:cxn>
                <a:cxn ang="T13">
                  <a:pos x="T6" y="T7"/>
                </a:cxn>
                <a:cxn ang="T14">
                  <a:pos x="T8" y="T9"/>
                </a:cxn>
              </a:cxnLst>
              <a:rect l="T15" t="T16" r="T17" b="T18"/>
              <a:pathLst>
                <a:path w="1680" h="3264">
                  <a:moveTo>
                    <a:pt x="1536" y="0"/>
                  </a:moveTo>
                  <a:lnTo>
                    <a:pt x="1680" y="0"/>
                  </a:lnTo>
                  <a:lnTo>
                    <a:pt x="1680" y="3120"/>
                  </a:lnTo>
                  <a:lnTo>
                    <a:pt x="0" y="3120"/>
                  </a:lnTo>
                  <a:lnTo>
                    <a:pt x="0" y="326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5" name="Rectangle 36"/>
            <p:cNvSpPr>
              <a:spLocks noChangeArrowheads="1"/>
            </p:cNvSpPr>
            <p:nvPr/>
          </p:nvSpPr>
          <p:spPr bwMode="auto">
            <a:xfrm>
              <a:off x="528" y="403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grpSp>
    </p:spTree>
    <p:extLst>
      <p:ext uri="{BB962C8B-B14F-4D97-AF65-F5344CB8AC3E}">
        <p14:creationId xmlns:p14="http://schemas.microsoft.com/office/powerpoint/2010/main" val="2487323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2" name="Group 38"/>
          <p:cNvGrpSpPr>
            <a:grpSpLocks/>
          </p:cNvGrpSpPr>
          <p:nvPr/>
        </p:nvGrpSpPr>
        <p:grpSpPr bwMode="auto">
          <a:xfrm>
            <a:off x="320295" y="-1"/>
            <a:ext cx="4115823" cy="7475679"/>
            <a:chOff x="288" y="0"/>
            <a:chExt cx="3024" cy="4272"/>
          </a:xfrm>
        </p:grpSpPr>
        <p:sp>
          <p:nvSpPr>
            <p:cNvPr id="33" name="Rectangle 4"/>
            <p:cNvSpPr>
              <a:spLocks noChangeArrowheads="1"/>
            </p:cNvSpPr>
            <p:nvPr/>
          </p:nvSpPr>
          <p:spPr bwMode="auto">
            <a:xfrm>
              <a:off x="528" y="19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(1)	    </a:t>
              </a:r>
              <a:r>
                <a:rPr kumimoji="1" lang="en-US" altLang="zh-CN" sz="2646" dirty="0">
                  <a:solidFill>
                    <a:prstClr val="black"/>
                  </a:solidFill>
                  <a:latin typeface="Arial" panose="020B0604020202020204"/>
                  <a:ea typeface="宋体" panose="02010600030101010101" pitchFamily="2" charset="-122"/>
                </a:rPr>
                <a:t>I:=1</a:t>
              </a:r>
            </a:p>
          </p:txBody>
        </p:sp>
        <p:sp>
          <p:nvSpPr>
            <p:cNvPr id="34" name="Rectangle 23"/>
            <p:cNvSpPr>
              <a:spLocks noChangeArrowheads="1"/>
            </p:cNvSpPr>
            <p:nvPr/>
          </p:nvSpPr>
          <p:spPr bwMode="auto">
            <a:xfrm>
              <a:off x="528" y="67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I&gt;10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(15)</a:t>
              </a:r>
            </a:p>
          </p:txBody>
        </p:sp>
        <p:sp>
          <p:nvSpPr>
            <p:cNvPr id="36" name="Rectangle 24"/>
            <p:cNvSpPr>
              <a:spLocks noChangeArrowheads="1"/>
            </p:cNvSpPr>
            <p:nvPr/>
          </p:nvSpPr>
          <p:spPr bwMode="auto">
            <a:xfrm>
              <a:off x="528" y="1056"/>
              <a:ext cx="2352" cy="2736"/>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(3)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1</a:t>
              </a:r>
              <a:r>
                <a:rPr kumimoji="1" lang="en-US" altLang="zh-CN" sz="2646" dirty="0">
                  <a:solidFill>
                    <a:srgbClr val="C00000"/>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(6)     T</a:t>
              </a:r>
              <a:r>
                <a:rPr kumimoji="1" lang="en-US" altLang="zh-CN" sz="2646" baseline="-25000" dirty="0">
                  <a:solidFill>
                    <a:srgbClr val="C00000"/>
                  </a:solidFill>
                  <a:latin typeface="Arial" panose="020B0604020202020204"/>
                  <a:ea typeface="宋体" panose="02010600030101010101" pitchFamily="2" charset="-122"/>
                </a:rPr>
                <a:t>4</a:t>
              </a:r>
              <a:r>
                <a:rPr kumimoji="1" lang="en-US" altLang="zh-CN" sz="2646" dirty="0">
                  <a:solidFill>
                    <a:srgbClr val="C00000"/>
                  </a:solidFill>
                  <a:latin typeface="Arial" panose="020B0604020202020204"/>
                  <a:ea typeface="宋体" panose="02010600030101010101" pitchFamily="2" charset="-122"/>
                </a:rPr>
                <a:t>=</a:t>
              </a:r>
              <a:r>
                <a:rPr kumimoji="1" lang="en-US" altLang="zh-CN" sz="2646" dirty="0" err="1">
                  <a:solidFill>
                    <a:srgbClr val="C00000"/>
                  </a:solidFill>
                  <a:latin typeface="Arial" panose="020B0604020202020204"/>
                  <a:ea typeface="宋体" panose="02010600030101010101" pitchFamily="2" charset="-122"/>
                </a:rPr>
                <a:t>addr</a:t>
              </a:r>
              <a:r>
                <a:rPr kumimoji="1" lang="en-US" altLang="zh-CN" sz="2646" dirty="0">
                  <a:solidFill>
                    <a:srgbClr val="C00000"/>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(7)     T</a:t>
              </a:r>
              <a:r>
                <a:rPr kumimoji="1" lang="en-US" altLang="zh-CN" sz="2646" baseline="-25000" dirty="0">
                  <a:solidFill>
                    <a:srgbClr val="C00000"/>
                  </a:solidFill>
                  <a:latin typeface="Arial" panose="020B0604020202020204"/>
                  <a:ea typeface="宋体" panose="02010600030101010101" pitchFamily="2" charset="-122"/>
                </a:rPr>
                <a:t>5</a:t>
              </a:r>
              <a:r>
                <a:rPr kumimoji="1" lang="en-US" altLang="zh-CN" sz="2646" dirty="0">
                  <a:solidFill>
                    <a:srgbClr val="C00000"/>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5</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(10)   T</a:t>
              </a:r>
              <a:r>
                <a:rPr kumimoji="1" lang="en-US" altLang="zh-CN" sz="2646" baseline="-25000" dirty="0">
                  <a:solidFill>
                    <a:srgbClr val="C00000"/>
                  </a:solidFill>
                  <a:latin typeface="Arial" panose="020B0604020202020204"/>
                  <a:ea typeface="宋体" panose="02010600030101010101" pitchFamily="2" charset="-122"/>
                </a:rPr>
                <a:t>8</a:t>
              </a:r>
              <a:r>
                <a:rPr kumimoji="1" lang="en-US" altLang="zh-CN" sz="2646" dirty="0">
                  <a:solidFill>
                    <a:srgbClr val="C00000"/>
                  </a:solidFill>
                  <a:latin typeface="Arial" panose="020B0604020202020204"/>
                  <a:ea typeface="宋体" panose="02010600030101010101" pitchFamily="2" charset="-122"/>
                </a:rPr>
                <a:t>=</a:t>
              </a:r>
              <a:r>
                <a:rPr kumimoji="1" lang="en-US" altLang="zh-CN" sz="2646" dirty="0" err="1">
                  <a:solidFill>
                    <a:srgbClr val="C00000"/>
                  </a:solidFill>
                  <a:latin typeface="Arial" panose="020B0604020202020204"/>
                  <a:ea typeface="宋体" panose="02010600030101010101" pitchFamily="2" charset="-122"/>
                </a:rPr>
                <a:t>addr</a:t>
              </a:r>
              <a:r>
                <a:rPr kumimoji="1" lang="en-US" altLang="zh-CN" sz="2646" dirty="0">
                  <a:solidFill>
                    <a:srgbClr val="C00000"/>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(11)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(13)   I:=I+1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37" name="Rectangle 26"/>
            <p:cNvSpPr>
              <a:spLocks noChangeArrowheads="1"/>
            </p:cNvSpPr>
            <p:nvPr/>
          </p:nvSpPr>
          <p:spPr bwMode="auto">
            <a:xfrm>
              <a:off x="2928" y="168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38" name="Rectangle 28"/>
            <p:cNvSpPr>
              <a:spLocks noChangeArrowheads="1"/>
            </p:cNvSpPr>
            <p:nvPr/>
          </p:nvSpPr>
          <p:spPr bwMode="auto">
            <a:xfrm>
              <a:off x="2880" y="62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39" name="Rectangle 29"/>
            <p:cNvSpPr>
              <a:spLocks noChangeArrowheads="1"/>
            </p:cNvSpPr>
            <p:nvPr/>
          </p:nvSpPr>
          <p:spPr bwMode="auto">
            <a:xfrm>
              <a:off x="2880" y="14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40" name="Line 30"/>
            <p:cNvSpPr>
              <a:spLocks noChangeShapeType="1"/>
            </p:cNvSpPr>
            <p:nvPr/>
          </p:nvSpPr>
          <p:spPr bwMode="auto">
            <a:xfrm>
              <a:off x="1680" y="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1" name="Line 31"/>
            <p:cNvSpPr>
              <a:spLocks noChangeShapeType="1"/>
            </p:cNvSpPr>
            <p:nvPr/>
          </p:nvSpPr>
          <p:spPr bwMode="auto">
            <a:xfrm>
              <a:off x="1680" y="432"/>
              <a:ext cx="0" cy="240"/>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2" name="Line 32"/>
            <p:cNvSpPr>
              <a:spLocks noChangeShapeType="1"/>
            </p:cNvSpPr>
            <p:nvPr/>
          </p:nvSpPr>
          <p:spPr bwMode="auto">
            <a:xfrm>
              <a:off x="1680" y="91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3" name="Freeform 33"/>
            <p:cNvSpPr>
              <a:spLocks/>
            </p:cNvSpPr>
            <p:nvPr/>
          </p:nvSpPr>
          <p:spPr bwMode="auto">
            <a:xfrm>
              <a:off x="288" y="480"/>
              <a:ext cx="816" cy="3456"/>
            </a:xfrm>
            <a:custGeom>
              <a:avLst/>
              <a:gdLst>
                <a:gd name="T0" fmla="*/ 768 w 816"/>
                <a:gd name="T1" fmla="*/ 3312 h 3456"/>
                <a:gd name="T2" fmla="*/ 768 w 816"/>
                <a:gd name="T3" fmla="*/ 3456 h 3456"/>
                <a:gd name="T4" fmla="*/ 0 w 816"/>
                <a:gd name="T5" fmla="*/ 3456 h 3456"/>
                <a:gd name="T6" fmla="*/ 0 w 816"/>
                <a:gd name="T7" fmla="*/ 0 h 3456"/>
                <a:gd name="T8" fmla="*/ 816 w 816"/>
                <a:gd name="T9" fmla="*/ 0 h 3456"/>
                <a:gd name="T10" fmla="*/ 816 w 816"/>
                <a:gd name="T11" fmla="*/ 192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4" name="Freeform 35"/>
            <p:cNvSpPr>
              <a:spLocks/>
            </p:cNvSpPr>
            <p:nvPr/>
          </p:nvSpPr>
          <p:spPr bwMode="auto">
            <a:xfrm>
              <a:off x="1632" y="768"/>
              <a:ext cx="1680" cy="3264"/>
            </a:xfrm>
            <a:custGeom>
              <a:avLst/>
              <a:gdLst>
                <a:gd name="T0" fmla="*/ 1536 w 1680"/>
                <a:gd name="T1" fmla="*/ 0 h 3264"/>
                <a:gd name="T2" fmla="*/ 1680 w 1680"/>
                <a:gd name="T3" fmla="*/ 0 h 3264"/>
                <a:gd name="T4" fmla="*/ 1680 w 1680"/>
                <a:gd name="T5" fmla="*/ 3120 h 3264"/>
                <a:gd name="T6" fmla="*/ 0 w 1680"/>
                <a:gd name="T7" fmla="*/ 3120 h 3264"/>
                <a:gd name="T8" fmla="*/ 0 w 1680"/>
                <a:gd name="T9" fmla="*/ 3264 h 3264"/>
                <a:gd name="T10" fmla="*/ 0 60000 65536"/>
                <a:gd name="T11" fmla="*/ 0 60000 65536"/>
                <a:gd name="T12" fmla="*/ 0 60000 65536"/>
                <a:gd name="T13" fmla="*/ 0 60000 65536"/>
                <a:gd name="T14" fmla="*/ 0 60000 65536"/>
                <a:gd name="T15" fmla="*/ 0 w 1680"/>
                <a:gd name="T16" fmla="*/ 0 h 3264"/>
                <a:gd name="T17" fmla="*/ 1680 w 1680"/>
                <a:gd name="T18" fmla="*/ 3264 h 3264"/>
              </a:gdLst>
              <a:ahLst/>
              <a:cxnLst>
                <a:cxn ang="T10">
                  <a:pos x="T0" y="T1"/>
                </a:cxn>
                <a:cxn ang="T11">
                  <a:pos x="T2" y="T3"/>
                </a:cxn>
                <a:cxn ang="T12">
                  <a:pos x="T4" y="T5"/>
                </a:cxn>
                <a:cxn ang="T13">
                  <a:pos x="T6" y="T7"/>
                </a:cxn>
                <a:cxn ang="T14">
                  <a:pos x="T8" y="T9"/>
                </a:cxn>
              </a:cxnLst>
              <a:rect l="T15" t="T16" r="T17" b="T18"/>
              <a:pathLst>
                <a:path w="1680" h="3264">
                  <a:moveTo>
                    <a:pt x="1536" y="0"/>
                  </a:moveTo>
                  <a:lnTo>
                    <a:pt x="1680" y="0"/>
                  </a:lnTo>
                  <a:lnTo>
                    <a:pt x="1680" y="3120"/>
                  </a:lnTo>
                  <a:lnTo>
                    <a:pt x="0" y="3120"/>
                  </a:lnTo>
                  <a:lnTo>
                    <a:pt x="0" y="3264"/>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5" name="Rectangle 36"/>
            <p:cNvSpPr>
              <a:spLocks noChangeArrowheads="1"/>
            </p:cNvSpPr>
            <p:nvPr/>
          </p:nvSpPr>
          <p:spPr bwMode="auto">
            <a:xfrm>
              <a:off x="528" y="4032"/>
              <a:ext cx="2352"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grpSp>
      <p:grpSp>
        <p:nvGrpSpPr>
          <p:cNvPr id="46" name="Group 71"/>
          <p:cNvGrpSpPr>
            <a:grpSpLocks/>
          </p:cNvGrpSpPr>
          <p:nvPr/>
        </p:nvGrpSpPr>
        <p:grpSpPr bwMode="auto">
          <a:xfrm>
            <a:off x="4795436" y="-1"/>
            <a:ext cx="4115823" cy="7475679"/>
            <a:chOff x="3168" y="0"/>
            <a:chExt cx="2352" cy="4272"/>
          </a:xfrm>
        </p:grpSpPr>
        <p:sp>
          <p:nvSpPr>
            <p:cNvPr id="47" name="Rectangle 53"/>
            <p:cNvSpPr>
              <a:spLocks noChangeArrowheads="1"/>
            </p:cNvSpPr>
            <p:nvPr/>
          </p:nvSpPr>
          <p:spPr bwMode="auto">
            <a:xfrm>
              <a:off x="3355" y="19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(1)	    </a:t>
              </a:r>
              <a:r>
                <a:rPr kumimoji="1" lang="en-US" altLang="zh-CN" sz="2646" dirty="0">
                  <a:solidFill>
                    <a:prstClr val="black"/>
                  </a:solidFill>
                  <a:latin typeface="Arial" panose="020B0604020202020204"/>
                  <a:ea typeface="宋体" panose="02010600030101010101" pitchFamily="2" charset="-122"/>
                </a:rPr>
                <a:t>I:=1</a:t>
              </a:r>
            </a:p>
          </p:txBody>
        </p:sp>
        <p:sp>
          <p:nvSpPr>
            <p:cNvPr id="48" name="Rectangle 54"/>
            <p:cNvSpPr>
              <a:spLocks noChangeArrowheads="1"/>
            </p:cNvSpPr>
            <p:nvPr/>
          </p:nvSpPr>
          <p:spPr bwMode="auto">
            <a:xfrm>
              <a:off x="3360" y="163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I&gt;10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(15)</a:t>
              </a:r>
            </a:p>
          </p:txBody>
        </p:sp>
        <p:sp>
          <p:nvSpPr>
            <p:cNvPr id="49" name="Rectangle 55"/>
            <p:cNvSpPr>
              <a:spLocks noChangeArrowheads="1"/>
            </p:cNvSpPr>
            <p:nvPr/>
          </p:nvSpPr>
          <p:spPr bwMode="auto">
            <a:xfrm>
              <a:off x="3360" y="2016"/>
              <a:ext cx="1829" cy="182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(4)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2</a:t>
              </a:r>
              <a:r>
                <a:rPr kumimoji="1" lang="en-US" altLang="zh-CN" sz="2646">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(5)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3</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2</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(8)     T</a:t>
              </a:r>
              <a:r>
                <a:rPr kumimoji="1" lang="en-US" altLang="zh-CN" sz="2646" baseline="-25000">
                  <a:solidFill>
                    <a:prstClr val="black"/>
                  </a:solidFill>
                  <a:latin typeface="Arial" panose="020B0604020202020204"/>
                  <a:ea typeface="宋体" panose="02010600030101010101" pitchFamily="2" charset="-122"/>
                </a:rPr>
                <a:t>6</a:t>
              </a:r>
              <a:r>
                <a:rPr kumimoji="1" lang="en-US" altLang="zh-CN" sz="2646">
                  <a:solidFill>
                    <a:prstClr val="black"/>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(9)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7</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6</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5</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(11)   T</a:t>
              </a:r>
              <a:r>
                <a:rPr kumimoji="1" lang="en-US" altLang="zh-CN" sz="2646" baseline="-25000">
                  <a:solidFill>
                    <a:prstClr val="black"/>
                  </a:solidFill>
                  <a:latin typeface="Arial" panose="020B0604020202020204"/>
                  <a:ea typeface="宋体" panose="02010600030101010101" pitchFamily="2" charset="-122"/>
                </a:rPr>
                <a:t>9</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8</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7</a:t>
              </a:r>
              <a:r>
                <a:rPr kumimoji="1" lang="en-US" altLang="zh-CN" sz="2646">
                  <a:solidFill>
                    <a:prstClr val="black"/>
                  </a:solidFill>
                  <a:latin typeface="Arial" panose="020B0604020202020204"/>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(12)   T</a:t>
              </a:r>
              <a:r>
                <a:rPr kumimoji="1" lang="en-US" altLang="zh-CN" sz="2646" baseline="-25000">
                  <a:solidFill>
                    <a:prstClr val="black"/>
                  </a:solidFill>
                  <a:latin typeface="Arial" panose="020B0604020202020204"/>
                  <a:ea typeface="宋体" panose="02010600030101010101" pitchFamily="2" charset="-122"/>
                </a:rPr>
                <a:t>4</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3</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9</a:t>
              </a:r>
              <a:r>
                <a:rPr kumimoji="1" lang="en-US" altLang="zh-CN" sz="2646">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(13)   I:=I+1</a:t>
              </a:r>
            </a:p>
            <a:p>
              <a:pPr defTabSz="503972" rtl="0" fontAlgn="auto" hangingPunct="1">
                <a:lnSpc>
                  <a:spcPct val="10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(14)   goto B</a:t>
              </a:r>
              <a:r>
                <a:rPr kumimoji="1" lang="en-US" altLang="zh-CN" sz="2646" baseline="-25000">
                  <a:solidFill>
                    <a:prstClr val="black"/>
                  </a:solidFill>
                  <a:latin typeface="Arial" panose="020B0604020202020204"/>
                  <a:ea typeface="宋体" panose="02010600030101010101" pitchFamily="2" charset="-122"/>
                </a:rPr>
                <a:t>2</a:t>
              </a:r>
            </a:p>
          </p:txBody>
        </p:sp>
        <p:sp>
          <p:nvSpPr>
            <p:cNvPr id="50" name="Rectangle 56"/>
            <p:cNvSpPr>
              <a:spLocks noChangeArrowheads="1"/>
            </p:cNvSpPr>
            <p:nvPr/>
          </p:nvSpPr>
          <p:spPr bwMode="auto">
            <a:xfrm>
              <a:off x="5184" y="2208"/>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51" name="Rectangle 57"/>
            <p:cNvSpPr>
              <a:spLocks noChangeArrowheads="1"/>
            </p:cNvSpPr>
            <p:nvPr/>
          </p:nvSpPr>
          <p:spPr bwMode="auto">
            <a:xfrm>
              <a:off x="5184" y="163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52" name="Rectangle 58"/>
            <p:cNvSpPr>
              <a:spLocks noChangeArrowheads="1"/>
            </p:cNvSpPr>
            <p:nvPr/>
          </p:nvSpPr>
          <p:spPr bwMode="auto">
            <a:xfrm>
              <a:off x="5184" y="14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53" name="Line 59"/>
            <p:cNvSpPr>
              <a:spLocks noChangeShapeType="1"/>
            </p:cNvSpPr>
            <p:nvPr/>
          </p:nvSpPr>
          <p:spPr bwMode="auto">
            <a:xfrm>
              <a:off x="4272" y="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4" name="Line 61"/>
            <p:cNvSpPr>
              <a:spLocks noChangeShapeType="1"/>
            </p:cNvSpPr>
            <p:nvPr/>
          </p:nvSpPr>
          <p:spPr bwMode="auto">
            <a:xfrm>
              <a:off x="4272" y="187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5" name="Freeform 62"/>
            <p:cNvSpPr>
              <a:spLocks/>
            </p:cNvSpPr>
            <p:nvPr/>
          </p:nvSpPr>
          <p:spPr bwMode="auto">
            <a:xfrm>
              <a:off x="3168" y="1488"/>
              <a:ext cx="635" cy="2448"/>
            </a:xfrm>
            <a:custGeom>
              <a:avLst/>
              <a:gdLst>
                <a:gd name="T0" fmla="*/ 170 w 816"/>
                <a:gd name="T1" fmla="*/ 419 h 3456"/>
                <a:gd name="T2" fmla="*/ 170 w 816"/>
                <a:gd name="T3" fmla="*/ 436 h 3456"/>
                <a:gd name="T4" fmla="*/ 0 w 816"/>
                <a:gd name="T5" fmla="*/ 436 h 3456"/>
                <a:gd name="T6" fmla="*/ 0 w 816"/>
                <a:gd name="T7" fmla="*/ 0 h 3456"/>
                <a:gd name="T8" fmla="*/ 181 w 816"/>
                <a:gd name="T9" fmla="*/ 0 h 3456"/>
                <a:gd name="T10" fmla="*/ 181 w 816"/>
                <a:gd name="T11" fmla="*/ 24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6" name="Rectangle 64"/>
            <p:cNvSpPr>
              <a:spLocks noChangeArrowheads="1"/>
            </p:cNvSpPr>
            <p:nvPr/>
          </p:nvSpPr>
          <p:spPr bwMode="auto">
            <a:xfrm>
              <a:off x="3355" y="403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57" name="Rectangle 65"/>
            <p:cNvSpPr>
              <a:spLocks noChangeArrowheads="1"/>
            </p:cNvSpPr>
            <p:nvPr/>
          </p:nvSpPr>
          <p:spPr bwMode="auto">
            <a:xfrm>
              <a:off x="3360" y="576"/>
              <a:ext cx="1829" cy="86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(3)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1</a:t>
              </a:r>
              <a:r>
                <a:rPr kumimoji="1" lang="en-US" altLang="zh-CN" sz="2646" dirty="0">
                  <a:solidFill>
                    <a:srgbClr val="C00000"/>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(6)     T</a:t>
              </a:r>
              <a:r>
                <a:rPr kumimoji="1" lang="en-US" altLang="zh-CN" sz="2646" baseline="-25000" dirty="0">
                  <a:solidFill>
                    <a:srgbClr val="C00000"/>
                  </a:solidFill>
                  <a:latin typeface="Arial" panose="020B0604020202020204"/>
                  <a:ea typeface="宋体" panose="02010600030101010101" pitchFamily="2" charset="-122"/>
                </a:rPr>
                <a:t>4</a:t>
              </a:r>
              <a:r>
                <a:rPr kumimoji="1" lang="en-US" altLang="zh-CN" sz="2646" dirty="0">
                  <a:solidFill>
                    <a:srgbClr val="C00000"/>
                  </a:solidFill>
                  <a:latin typeface="Arial" panose="020B0604020202020204"/>
                  <a:ea typeface="宋体" panose="02010600030101010101" pitchFamily="2" charset="-122"/>
                </a:rPr>
                <a:t>=</a:t>
              </a:r>
              <a:r>
                <a:rPr kumimoji="1" lang="en-US" altLang="zh-CN" sz="2646" dirty="0" err="1">
                  <a:solidFill>
                    <a:srgbClr val="C00000"/>
                  </a:solidFill>
                  <a:latin typeface="Arial" panose="020B0604020202020204"/>
                  <a:ea typeface="宋体" panose="02010600030101010101" pitchFamily="2" charset="-122"/>
                </a:rPr>
                <a:t>addr</a:t>
              </a:r>
              <a:r>
                <a:rPr kumimoji="1" lang="en-US" altLang="zh-CN" sz="2646" dirty="0">
                  <a:solidFill>
                    <a:srgbClr val="C00000"/>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(7)     T</a:t>
              </a:r>
              <a:r>
                <a:rPr kumimoji="1" lang="en-US" altLang="zh-CN" sz="2646" baseline="-25000" dirty="0">
                  <a:solidFill>
                    <a:srgbClr val="C00000"/>
                  </a:solidFill>
                  <a:latin typeface="Arial" panose="020B0604020202020204"/>
                  <a:ea typeface="宋体" panose="02010600030101010101" pitchFamily="2" charset="-122"/>
                </a:rPr>
                <a:t>5</a:t>
              </a:r>
              <a:r>
                <a:rPr kumimoji="1" lang="en-US" altLang="zh-CN" sz="2646" dirty="0">
                  <a:solidFill>
                    <a:srgbClr val="C00000"/>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(10)   T</a:t>
              </a:r>
              <a:r>
                <a:rPr kumimoji="1" lang="en-US" altLang="zh-CN" sz="2646" baseline="-25000" dirty="0">
                  <a:solidFill>
                    <a:srgbClr val="C00000"/>
                  </a:solidFill>
                  <a:latin typeface="Arial" panose="020B0604020202020204"/>
                  <a:ea typeface="宋体" panose="02010600030101010101" pitchFamily="2" charset="-122"/>
                </a:rPr>
                <a:t>8</a:t>
              </a:r>
              <a:r>
                <a:rPr kumimoji="1" lang="en-US" altLang="zh-CN" sz="2646" dirty="0">
                  <a:solidFill>
                    <a:srgbClr val="C00000"/>
                  </a:solidFill>
                  <a:latin typeface="Arial" panose="020B0604020202020204"/>
                  <a:ea typeface="宋体" panose="02010600030101010101" pitchFamily="2" charset="-122"/>
                </a:rPr>
                <a:t>=</a:t>
              </a:r>
              <a:r>
                <a:rPr kumimoji="1" lang="en-US" altLang="zh-CN" sz="2646" dirty="0" err="1">
                  <a:solidFill>
                    <a:srgbClr val="C00000"/>
                  </a:solidFill>
                  <a:latin typeface="Arial" panose="020B0604020202020204"/>
                  <a:ea typeface="宋体" panose="02010600030101010101" pitchFamily="2" charset="-122"/>
                </a:rPr>
                <a:t>addr</a:t>
              </a:r>
              <a:r>
                <a:rPr kumimoji="1" lang="en-US" altLang="zh-CN" sz="2646" dirty="0">
                  <a:solidFill>
                    <a:srgbClr val="C00000"/>
                  </a:solidFill>
                  <a:latin typeface="Arial" panose="020B0604020202020204"/>
                  <a:ea typeface="宋体" panose="02010600030101010101" pitchFamily="2" charset="-122"/>
                </a:rPr>
                <a:t>(A)-11</a:t>
              </a:r>
            </a:p>
          </p:txBody>
        </p:sp>
        <p:sp>
          <p:nvSpPr>
            <p:cNvPr id="58" name="Line 66"/>
            <p:cNvSpPr>
              <a:spLocks noChangeShapeType="1"/>
            </p:cNvSpPr>
            <p:nvPr/>
          </p:nvSpPr>
          <p:spPr bwMode="auto">
            <a:xfrm>
              <a:off x="4272" y="43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9" name="Rectangle 67"/>
            <p:cNvSpPr>
              <a:spLocks noChangeArrowheads="1"/>
            </p:cNvSpPr>
            <p:nvPr/>
          </p:nvSpPr>
          <p:spPr bwMode="auto">
            <a:xfrm>
              <a:off x="5232" y="91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60" name="Freeform 68"/>
            <p:cNvSpPr>
              <a:spLocks/>
            </p:cNvSpPr>
            <p:nvPr/>
          </p:nvSpPr>
          <p:spPr bwMode="auto">
            <a:xfrm>
              <a:off x="4416" y="1776"/>
              <a:ext cx="1104" cy="2256"/>
            </a:xfrm>
            <a:custGeom>
              <a:avLst/>
              <a:gdLst>
                <a:gd name="T0" fmla="*/ 1008 w 1104"/>
                <a:gd name="T1" fmla="*/ 0 h 2256"/>
                <a:gd name="T2" fmla="*/ 1104 w 1104"/>
                <a:gd name="T3" fmla="*/ 0 h 2256"/>
                <a:gd name="T4" fmla="*/ 1104 w 1104"/>
                <a:gd name="T5" fmla="*/ 2112 h 2256"/>
                <a:gd name="T6" fmla="*/ 0 w 1104"/>
                <a:gd name="T7" fmla="*/ 2112 h 2256"/>
                <a:gd name="T8" fmla="*/ 0 w 1104"/>
                <a:gd name="T9" fmla="*/ 2256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1" name="Line 70"/>
            <p:cNvSpPr>
              <a:spLocks noChangeShapeType="1"/>
            </p:cNvSpPr>
            <p:nvPr/>
          </p:nvSpPr>
          <p:spPr bwMode="auto">
            <a:xfrm>
              <a:off x="4272" y="144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Tree>
    <p:extLst>
      <p:ext uri="{BB962C8B-B14F-4D97-AF65-F5344CB8AC3E}">
        <p14:creationId xmlns:p14="http://schemas.microsoft.com/office/powerpoint/2010/main" val="250910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up)">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5" name="Group 6"/>
          <p:cNvGrpSpPr>
            <a:grpSpLocks/>
          </p:cNvGrpSpPr>
          <p:nvPr/>
        </p:nvGrpSpPr>
        <p:grpSpPr bwMode="auto">
          <a:xfrm>
            <a:off x="226672" y="-1"/>
            <a:ext cx="4115823" cy="7475679"/>
            <a:chOff x="3168" y="0"/>
            <a:chExt cx="2352" cy="4272"/>
          </a:xfrm>
        </p:grpSpPr>
        <p:sp>
          <p:nvSpPr>
            <p:cNvPr id="36" name="Rectangle 7"/>
            <p:cNvSpPr>
              <a:spLocks noChangeArrowheads="1"/>
            </p:cNvSpPr>
            <p:nvPr/>
          </p:nvSpPr>
          <p:spPr bwMode="auto">
            <a:xfrm>
              <a:off x="3355" y="171"/>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38" name="Rectangle 8"/>
            <p:cNvSpPr>
              <a:spLocks noChangeArrowheads="1"/>
            </p:cNvSpPr>
            <p:nvPr/>
          </p:nvSpPr>
          <p:spPr bwMode="auto">
            <a:xfrm>
              <a:off x="3360" y="1639"/>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I&gt;10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(15)</a:t>
              </a:r>
            </a:p>
          </p:txBody>
        </p:sp>
        <p:sp>
          <p:nvSpPr>
            <p:cNvPr id="39" name="Rectangle 9"/>
            <p:cNvSpPr>
              <a:spLocks noChangeArrowheads="1"/>
            </p:cNvSpPr>
            <p:nvPr/>
          </p:nvSpPr>
          <p:spPr bwMode="auto">
            <a:xfrm>
              <a:off x="3360" y="2016"/>
              <a:ext cx="1829" cy="182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(4)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2</a:t>
              </a:r>
              <a:r>
                <a:rPr kumimoji="1" lang="en-US" altLang="zh-CN" sz="2646" dirty="0">
                  <a:solidFill>
                    <a:srgbClr val="C00000"/>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(8)     T</a:t>
              </a:r>
              <a:r>
                <a:rPr kumimoji="1" lang="en-US" altLang="zh-CN" sz="2646" baseline="-25000" dirty="0">
                  <a:solidFill>
                    <a:srgbClr val="C00000"/>
                  </a:solidFill>
                  <a:latin typeface="Arial" panose="020B0604020202020204"/>
                  <a:ea typeface="宋体" panose="02010600030101010101" pitchFamily="2" charset="-122"/>
                </a:rPr>
                <a:t>6</a:t>
              </a:r>
              <a:r>
                <a:rPr kumimoji="1" lang="en-US" altLang="zh-CN" sz="2646" dirty="0">
                  <a:solidFill>
                    <a:srgbClr val="C00000"/>
                  </a:solidFill>
                  <a:latin typeface="Arial" panose="020B0604020202020204"/>
                  <a:ea typeface="宋体" panose="02010600030101010101" pitchFamily="2" charset="-122"/>
                </a:rPr>
                <a:t>=10*I</a:t>
              </a:r>
            </a:p>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5</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(11)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(13)   I:=I+1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40" name="Rectangle 10"/>
            <p:cNvSpPr>
              <a:spLocks noChangeArrowheads="1"/>
            </p:cNvSpPr>
            <p:nvPr/>
          </p:nvSpPr>
          <p:spPr bwMode="auto">
            <a:xfrm>
              <a:off x="5184" y="2208"/>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41" name="Rectangle 11"/>
            <p:cNvSpPr>
              <a:spLocks noChangeArrowheads="1"/>
            </p:cNvSpPr>
            <p:nvPr/>
          </p:nvSpPr>
          <p:spPr bwMode="auto">
            <a:xfrm>
              <a:off x="5184" y="163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42" name="Rectangle 12"/>
            <p:cNvSpPr>
              <a:spLocks noChangeArrowheads="1"/>
            </p:cNvSpPr>
            <p:nvPr/>
          </p:nvSpPr>
          <p:spPr bwMode="auto">
            <a:xfrm>
              <a:off x="5184" y="14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43" name="Line 13"/>
            <p:cNvSpPr>
              <a:spLocks noChangeShapeType="1"/>
            </p:cNvSpPr>
            <p:nvPr/>
          </p:nvSpPr>
          <p:spPr bwMode="auto">
            <a:xfrm>
              <a:off x="4272" y="0"/>
              <a:ext cx="0" cy="159"/>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4" name="Line 14"/>
            <p:cNvSpPr>
              <a:spLocks noChangeShapeType="1"/>
            </p:cNvSpPr>
            <p:nvPr/>
          </p:nvSpPr>
          <p:spPr bwMode="auto">
            <a:xfrm>
              <a:off x="4272" y="187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5" name="Freeform 15"/>
            <p:cNvSpPr>
              <a:spLocks/>
            </p:cNvSpPr>
            <p:nvPr/>
          </p:nvSpPr>
          <p:spPr bwMode="auto">
            <a:xfrm>
              <a:off x="3168" y="1514"/>
              <a:ext cx="635" cy="2444"/>
            </a:xfrm>
            <a:custGeom>
              <a:avLst/>
              <a:gdLst>
                <a:gd name="T0" fmla="*/ 170 w 816"/>
                <a:gd name="T1" fmla="*/ 419 h 3456"/>
                <a:gd name="T2" fmla="*/ 170 w 816"/>
                <a:gd name="T3" fmla="*/ 436 h 3456"/>
                <a:gd name="T4" fmla="*/ 0 w 816"/>
                <a:gd name="T5" fmla="*/ 436 h 3456"/>
                <a:gd name="T6" fmla="*/ 0 w 816"/>
                <a:gd name="T7" fmla="*/ 0 h 3456"/>
                <a:gd name="T8" fmla="*/ 181 w 816"/>
                <a:gd name="T9" fmla="*/ 0 h 3456"/>
                <a:gd name="T10" fmla="*/ 181 w 816"/>
                <a:gd name="T11" fmla="*/ 24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6" name="Rectangle 16"/>
            <p:cNvSpPr>
              <a:spLocks noChangeArrowheads="1"/>
            </p:cNvSpPr>
            <p:nvPr/>
          </p:nvSpPr>
          <p:spPr bwMode="auto">
            <a:xfrm>
              <a:off x="3355" y="403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47" name="Rectangle 17"/>
            <p:cNvSpPr>
              <a:spLocks noChangeArrowheads="1"/>
            </p:cNvSpPr>
            <p:nvPr/>
          </p:nvSpPr>
          <p:spPr bwMode="auto">
            <a:xfrm>
              <a:off x="3360" y="555"/>
              <a:ext cx="1829" cy="907"/>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1</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T</a:t>
              </a:r>
              <a:r>
                <a:rPr kumimoji="1" lang="en-US" altLang="zh-CN" sz="2646" baseline="-25000"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10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(10)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p:txBody>
        </p:sp>
        <p:sp>
          <p:nvSpPr>
            <p:cNvPr id="48" name="Line 18"/>
            <p:cNvSpPr>
              <a:spLocks noChangeShapeType="1"/>
            </p:cNvSpPr>
            <p:nvPr/>
          </p:nvSpPr>
          <p:spPr bwMode="auto">
            <a:xfrm>
              <a:off x="4272" y="411"/>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9" name="Rectangle 19"/>
            <p:cNvSpPr>
              <a:spLocks noChangeArrowheads="1"/>
            </p:cNvSpPr>
            <p:nvPr/>
          </p:nvSpPr>
          <p:spPr bwMode="auto">
            <a:xfrm>
              <a:off x="5232" y="91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50" name="Freeform 20"/>
            <p:cNvSpPr>
              <a:spLocks/>
            </p:cNvSpPr>
            <p:nvPr/>
          </p:nvSpPr>
          <p:spPr bwMode="auto">
            <a:xfrm>
              <a:off x="4416" y="1776"/>
              <a:ext cx="1104" cy="2256"/>
            </a:xfrm>
            <a:custGeom>
              <a:avLst/>
              <a:gdLst>
                <a:gd name="T0" fmla="*/ 1008 w 1104"/>
                <a:gd name="T1" fmla="*/ 0 h 2256"/>
                <a:gd name="T2" fmla="*/ 1104 w 1104"/>
                <a:gd name="T3" fmla="*/ 0 h 2256"/>
                <a:gd name="T4" fmla="*/ 1104 w 1104"/>
                <a:gd name="T5" fmla="*/ 2112 h 2256"/>
                <a:gd name="T6" fmla="*/ 0 w 1104"/>
                <a:gd name="T7" fmla="*/ 2112 h 2256"/>
                <a:gd name="T8" fmla="*/ 0 w 1104"/>
                <a:gd name="T9" fmla="*/ 2256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1" name="Line 21"/>
            <p:cNvSpPr>
              <a:spLocks noChangeShapeType="1"/>
            </p:cNvSpPr>
            <p:nvPr/>
          </p:nvSpPr>
          <p:spPr bwMode="auto">
            <a:xfrm>
              <a:off x="4272" y="144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grpSp>
        <p:nvGrpSpPr>
          <p:cNvPr id="52" name="Group 39"/>
          <p:cNvGrpSpPr>
            <a:grpSpLocks/>
          </p:cNvGrpSpPr>
          <p:nvPr/>
        </p:nvGrpSpPr>
        <p:grpSpPr bwMode="auto">
          <a:xfrm>
            <a:off x="5014466" y="-1"/>
            <a:ext cx="4115823" cy="7475679"/>
            <a:chOff x="2976" y="0"/>
            <a:chExt cx="2352" cy="4272"/>
          </a:xfrm>
        </p:grpSpPr>
        <p:sp>
          <p:nvSpPr>
            <p:cNvPr id="53" name="Rectangle 23"/>
            <p:cNvSpPr>
              <a:spLocks noChangeArrowheads="1"/>
            </p:cNvSpPr>
            <p:nvPr/>
          </p:nvSpPr>
          <p:spPr bwMode="auto">
            <a:xfrm>
              <a:off x="3163" y="171"/>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54" name="Rectangle 24"/>
            <p:cNvSpPr>
              <a:spLocks noChangeArrowheads="1"/>
            </p:cNvSpPr>
            <p:nvPr/>
          </p:nvSpPr>
          <p:spPr bwMode="auto">
            <a:xfrm>
              <a:off x="3168" y="182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I&gt;10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(15)</a:t>
              </a:r>
            </a:p>
          </p:txBody>
        </p:sp>
        <p:sp>
          <p:nvSpPr>
            <p:cNvPr id="55" name="Rectangle 25"/>
            <p:cNvSpPr>
              <a:spLocks noChangeArrowheads="1"/>
            </p:cNvSpPr>
            <p:nvPr/>
          </p:nvSpPr>
          <p:spPr bwMode="auto">
            <a:xfrm>
              <a:off x="3168" y="2208"/>
              <a:ext cx="1829" cy="163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9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1</a:t>
              </a:r>
              <a:endParaRPr kumimoji="1" lang="en-US" altLang="zh-CN" sz="2646" dirty="0">
                <a:solidFill>
                  <a:prstClr val="black"/>
                </a:solidFill>
                <a:latin typeface="Arial" panose="020B0604020202020204"/>
                <a:ea typeface="宋体" panose="02010600030101010101" pitchFamily="2" charset="-122"/>
              </a:endParaRPr>
            </a:p>
            <a:p>
              <a:pPr defTabSz="503972" rtl="0" fontAlgn="auto" hangingPunct="1">
                <a:lnSpc>
                  <a:spcPct val="9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5</a:t>
              </a:r>
            </a:p>
            <a:p>
              <a:pPr defTabSz="503972" rtl="0" fontAlgn="auto" hangingPunct="1">
                <a:lnSpc>
                  <a:spcPct val="9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(11)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9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9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(13)   I:=I+1 </a:t>
              </a:r>
            </a:p>
            <a:p>
              <a:pPr defTabSz="503972" rtl="0" fontAlgn="auto" hangingPunct="1">
                <a:lnSpc>
                  <a:spcPct val="9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(4</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2</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2</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9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(8’)    T</a:t>
              </a:r>
              <a:r>
                <a:rPr kumimoji="1" lang="en-US" altLang="zh-CN" sz="2646" baseline="-25000" dirty="0">
                  <a:solidFill>
                    <a:srgbClr val="C00000"/>
                  </a:solidFill>
                  <a:latin typeface="Arial" panose="020B0604020202020204"/>
                  <a:ea typeface="宋体" panose="02010600030101010101" pitchFamily="2" charset="-122"/>
                </a:rPr>
                <a:t>6</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6</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9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56" name="Rectangle 26"/>
            <p:cNvSpPr>
              <a:spLocks noChangeArrowheads="1"/>
            </p:cNvSpPr>
            <p:nvPr/>
          </p:nvSpPr>
          <p:spPr bwMode="auto">
            <a:xfrm>
              <a:off x="4992" y="2208"/>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57" name="Rectangle 27"/>
            <p:cNvSpPr>
              <a:spLocks noChangeArrowheads="1"/>
            </p:cNvSpPr>
            <p:nvPr/>
          </p:nvSpPr>
          <p:spPr bwMode="auto">
            <a:xfrm>
              <a:off x="4992" y="177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58" name="Rectangle 28"/>
            <p:cNvSpPr>
              <a:spLocks noChangeArrowheads="1"/>
            </p:cNvSpPr>
            <p:nvPr/>
          </p:nvSpPr>
          <p:spPr bwMode="auto">
            <a:xfrm>
              <a:off x="4992" y="14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59" name="Line 29"/>
            <p:cNvSpPr>
              <a:spLocks noChangeShapeType="1"/>
            </p:cNvSpPr>
            <p:nvPr/>
          </p:nvSpPr>
          <p:spPr bwMode="auto">
            <a:xfrm>
              <a:off x="4080" y="0"/>
              <a:ext cx="0" cy="159"/>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0" name="Line 30"/>
            <p:cNvSpPr>
              <a:spLocks noChangeShapeType="1"/>
            </p:cNvSpPr>
            <p:nvPr/>
          </p:nvSpPr>
          <p:spPr bwMode="auto">
            <a:xfrm>
              <a:off x="4080" y="206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1" name="Freeform 31"/>
            <p:cNvSpPr>
              <a:spLocks/>
            </p:cNvSpPr>
            <p:nvPr/>
          </p:nvSpPr>
          <p:spPr bwMode="auto">
            <a:xfrm>
              <a:off x="2976" y="1728"/>
              <a:ext cx="635" cy="2208"/>
            </a:xfrm>
            <a:custGeom>
              <a:avLst/>
              <a:gdLst>
                <a:gd name="T0" fmla="*/ 170 w 816"/>
                <a:gd name="T1" fmla="*/ 226 h 3456"/>
                <a:gd name="T2" fmla="*/ 170 w 816"/>
                <a:gd name="T3" fmla="*/ 235 h 3456"/>
                <a:gd name="T4" fmla="*/ 0 w 816"/>
                <a:gd name="T5" fmla="*/ 235 h 3456"/>
                <a:gd name="T6" fmla="*/ 0 w 816"/>
                <a:gd name="T7" fmla="*/ 0 h 3456"/>
                <a:gd name="T8" fmla="*/ 181 w 816"/>
                <a:gd name="T9" fmla="*/ 0 h 3456"/>
                <a:gd name="T10" fmla="*/ 181 w 816"/>
                <a:gd name="T11" fmla="*/ 13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2" name="Rectangle 32"/>
            <p:cNvSpPr>
              <a:spLocks noChangeArrowheads="1"/>
            </p:cNvSpPr>
            <p:nvPr/>
          </p:nvSpPr>
          <p:spPr bwMode="auto">
            <a:xfrm>
              <a:off x="3163" y="403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63" name="Rectangle 33"/>
            <p:cNvSpPr>
              <a:spLocks noChangeArrowheads="1"/>
            </p:cNvSpPr>
            <p:nvPr/>
          </p:nvSpPr>
          <p:spPr bwMode="auto">
            <a:xfrm>
              <a:off x="3168" y="555"/>
              <a:ext cx="1829" cy="113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8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1</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T</a:t>
              </a:r>
              <a:r>
                <a:rPr kumimoji="1" lang="en-US" altLang="zh-CN" sz="2646" baseline="-25000"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(10)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8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(4)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2</a:t>
              </a:r>
              <a:r>
                <a:rPr kumimoji="1" lang="en-US" altLang="zh-CN" sz="2646" dirty="0">
                  <a:solidFill>
                    <a:srgbClr val="C00000"/>
                  </a:solidFill>
                  <a:latin typeface="Arial" panose="020B0604020202020204"/>
                  <a:ea typeface="宋体" panose="02010600030101010101" pitchFamily="2" charset="-122"/>
                </a:rPr>
                <a:t>=10*I</a:t>
              </a:r>
            </a:p>
            <a:p>
              <a:pPr defTabSz="503972" rtl="0" fontAlgn="auto" hangingPunct="1">
                <a:lnSpc>
                  <a:spcPct val="8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(8)     T</a:t>
              </a:r>
              <a:r>
                <a:rPr kumimoji="1" lang="en-US" altLang="zh-CN" sz="2646" baseline="-25000" dirty="0">
                  <a:solidFill>
                    <a:srgbClr val="C00000"/>
                  </a:solidFill>
                  <a:latin typeface="Arial" panose="020B0604020202020204"/>
                  <a:ea typeface="宋体" panose="02010600030101010101" pitchFamily="2" charset="-122"/>
                </a:rPr>
                <a:t>6</a:t>
              </a:r>
              <a:r>
                <a:rPr kumimoji="1" lang="en-US" altLang="zh-CN" sz="2646" dirty="0">
                  <a:solidFill>
                    <a:srgbClr val="C00000"/>
                  </a:solidFill>
                  <a:latin typeface="Arial" panose="020B0604020202020204"/>
                  <a:ea typeface="宋体" panose="02010600030101010101" pitchFamily="2" charset="-122"/>
                </a:rPr>
                <a:t>=10*I</a:t>
              </a:r>
            </a:p>
          </p:txBody>
        </p:sp>
        <p:sp>
          <p:nvSpPr>
            <p:cNvPr id="64" name="Line 34"/>
            <p:cNvSpPr>
              <a:spLocks noChangeShapeType="1"/>
            </p:cNvSpPr>
            <p:nvPr/>
          </p:nvSpPr>
          <p:spPr bwMode="auto">
            <a:xfrm>
              <a:off x="4080" y="411"/>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5" name="Rectangle 35"/>
            <p:cNvSpPr>
              <a:spLocks noChangeArrowheads="1"/>
            </p:cNvSpPr>
            <p:nvPr/>
          </p:nvSpPr>
          <p:spPr bwMode="auto">
            <a:xfrm>
              <a:off x="5040" y="91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66" name="Freeform 36"/>
            <p:cNvSpPr>
              <a:spLocks/>
            </p:cNvSpPr>
            <p:nvPr/>
          </p:nvSpPr>
          <p:spPr bwMode="auto">
            <a:xfrm>
              <a:off x="4224" y="1920"/>
              <a:ext cx="1104" cy="2112"/>
            </a:xfrm>
            <a:custGeom>
              <a:avLst/>
              <a:gdLst>
                <a:gd name="T0" fmla="*/ 1008 w 1104"/>
                <a:gd name="T1" fmla="*/ 0 h 2256"/>
                <a:gd name="T2" fmla="*/ 1104 w 1104"/>
                <a:gd name="T3" fmla="*/ 0 h 2256"/>
                <a:gd name="T4" fmla="*/ 1104 w 1104"/>
                <a:gd name="T5" fmla="*/ 1421 h 2256"/>
                <a:gd name="T6" fmla="*/ 0 w 1104"/>
                <a:gd name="T7" fmla="*/ 1421 h 2256"/>
                <a:gd name="T8" fmla="*/ 0 w 1104"/>
                <a:gd name="T9" fmla="*/ 1518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7" name="Line 37"/>
            <p:cNvSpPr>
              <a:spLocks noChangeShapeType="1"/>
            </p:cNvSpPr>
            <p:nvPr/>
          </p:nvSpPr>
          <p:spPr bwMode="auto">
            <a:xfrm>
              <a:off x="4080" y="1680"/>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Tree>
    <p:extLst>
      <p:ext uri="{BB962C8B-B14F-4D97-AF65-F5344CB8AC3E}">
        <p14:creationId xmlns:p14="http://schemas.microsoft.com/office/powerpoint/2010/main" val="375671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up)">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wipe(up)">
                                      <p:cBhvr>
                                        <p:cTn id="1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 name="文本框 36"/>
          <p:cNvSpPr txBox="1"/>
          <p:nvPr/>
        </p:nvSpPr>
        <p:spPr>
          <a:xfrm>
            <a:off x="7056225" y="944959"/>
            <a:ext cx="3023870" cy="5669756"/>
          </a:xfrm>
          <a:prstGeom prst="rect">
            <a:avLst/>
          </a:prstGeom>
          <a:noFill/>
        </p:spPr>
        <p:txBody>
          <a:bodyPr wrap="square" rtlCol="0">
            <a:noAutofit/>
          </a:bodyPr>
          <a:lstStyle/>
          <a:p>
            <a:pPr defTabSz="503972" rtl="0" fontAlgn="auto" hangingPunct="1">
              <a:lnSpc>
                <a:spcPct val="100000"/>
              </a:lnSpc>
              <a:spcBef>
                <a:spcPts val="0"/>
              </a:spcBef>
              <a:spcAft>
                <a:spcPts val="0"/>
              </a:spcAft>
              <a:buSzTx/>
            </a:pPr>
            <a:endParaRPr lang="en-US" altLang="zh-CN" sz="2646" dirty="0">
              <a:solidFill>
                <a:prstClr val="black"/>
              </a:solidFill>
              <a:latin typeface="Arial" panose="020B0604020202020204"/>
              <a:ea typeface="黑体" panose="02010609060101010101" pitchFamily="49" charset="-122"/>
            </a:endParaRPr>
          </a:p>
        </p:txBody>
      </p:sp>
      <p:grpSp>
        <p:nvGrpSpPr>
          <p:cNvPr id="35" name="Group 18"/>
          <p:cNvGrpSpPr>
            <a:grpSpLocks/>
          </p:cNvGrpSpPr>
          <p:nvPr/>
        </p:nvGrpSpPr>
        <p:grpSpPr bwMode="auto">
          <a:xfrm>
            <a:off x="207292" y="-1"/>
            <a:ext cx="4115823" cy="7475679"/>
            <a:chOff x="2976" y="0"/>
            <a:chExt cx="2352" cy="4272"/>
          </a:xfrm>
        </p:grpSpPr>
        <p:sp>
          <p:nvSpPr>
            <p:cNvPr id="36" name="Rectangle 19"/>
            <p:cNvSpPr>
              <a:spLocks noChangeArrowheads="1"/>
            </p:cNvSpPr>
            <p:nvPr/>
          </p:nvSpPr>
          <p:spPr bwMode="auto">
            <a:xfrm>
              <a:off x="3163" y="143"/>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38" name="Rectangle 20"/>
            <p:cNvSpPr>
              <a:spLocks noChangeArrowheads="1"/>
            </p:cNvSpPr>
            <p:nvPr/>
          </p:nvSpPr>
          <p:spPr bwMode="auto">
            <a:xfrm>
              <a:off x="3168" y="182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I&gt;10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(15)</a:t>
              </a:r>
            </a:p>
          </p:txBody>
        </p:sp>
        <p:sp>
          <p:nvSpPr>
            <p:cNvPr id="39" name="Rectangle 21"/>
            <p:cNvSpPr>
              <a:spLocks noChangeArrowheads="1"/>
            </p:cNvSpPr>
            <p:nvPr/>
          </p:nvSpPr>
          <p:spPr bwMode="auto">
            <a:xfrm>
              <a:off x="3168" y="2208"/>
              <a:ext cx="1829" cy="163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9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(5)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2</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1</a:t>
              </a:r>
              <a:endParaRPr kumimoji="1" lang="en-US" altLang="zh-CN" sz="2646" dirty="0">
                <a:solidFill>
                  <a:srgbClr val="C00000"/>
                </a:solidFill>
                <a:latin typeface="Arial" panose="020B0604020202020204"/>
                <a:ea typeface="宋体" panose="02010600030101010101" pitchFamily="2" charset="-122"/>
              </a:endParaRPr>
            </a:p>
            <a:p>
              <a:pPr defTabSz="503972" rtl="0" fontAlgn="auto" hangingPunct="1">
                <a:lnSpc>
                  <a:spcPct val="9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(9)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6</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5</a:t>
              </a:r>
            </a:p>
            <a:p>
              <a:pPr defTabSz="503972" rtl="0" fontAlgn="auto" hangingPunct="1">
                <a:lnSpc>
                  <a:spcPct val="9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(11)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9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9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(13)   I:=I+1 </a:t>
              </a:r>
            </a:p>
            <a:p>
              <a:pPr defTabSz="503972" rtl="0" fontAlgn="auto" hangingPunct="1">
                <a:lnSpc>
                  <a:spcPct val="9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zh-CN" altLang="en-US" sz="2646" dirty="0">
                  <a:solidFill>
                    <a:prstClr val="black"/>
                  </a:solidFill>
                  <a:latin typeface="Arial" panose="020B0604020202020204"/>
                  <a:ea typeface="宋体" panose="02010600030101010101" pitchFamily="2" charset="-122"/>
                </a:rPr>
                <a:t>)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+10</a:t>
              </a:r>
            </a:p>
            <a:p>
              <a:pPr defTabSz="503972" rtl="0" fontAlgn="auto" hangingPunct="1">
                <a:lnSpc>
                  <a:spcPct val="9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+10</a:t>
              </a:r>
            </a:p>
            <a:p>
              <a:pPr defTabSz="503972" rtl="0" fontAlgn="auto" hangingPunct="1">
                <a:lnSpc>
                  <a:spcPct val="9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40" name="Rectangle 22"/>
            <p:cNvSpPr>
              <a:spLocks noChangeArrowheads="1"/>
            </p:cNvSpPr>
            <p:nvPr/>
          </p:nvSpPr>
          <p:spPr bwMode="auto">
            <a:xfrm>
              <a:off x="4992" y="2208"/>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41" name="Rectangle 23"/>
            <p:cNvSpPr>
              <a:spLocks noChangeArrowheads="1"/>
            </p:cNvSpPr>
            <p:nvPr/>
          </p:nvSpPr>
          <p:spPr bwMode="auto">
            <a:xfrm>
              <a:off x="4992" y="177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42" name="Rectangle 24"/>
            <p:cNvSpPr>
              <a:spLocks noChangeArrowheads="1"/>
            </p:cNvSpPr>
            <p:nvPr/>
          </p:nvSpPr>
          <p:spPr bwMode="auto">
            <a:xfrm>
              <a:off x="4992" y="14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43" name="Line 25"/>
            <p:cNvSpPr>
              <a:spLocks noChangeShapeType="1"/>
            </p:cNvSpPr>
            <p:nvPr/>
          </p:nvSpPr>
          <p:spPr bwMode="auto">
            <a:xfrm>
              <a:off x="4080" y="0"/>
              <a:ext cx="0" cy="136"/>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4" name="Line 26"/>
            <p:cNvSpPr>
              <a:spLocks noChangeShapeType="1"/>
            </p:cNvSpPr>
            <p:nvPr/>
          </p:nvSpPr>
          <p:spPr bwMode="auto">
            <a:xfrm>
              <a:off x="4080" y="206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5" name="Freeform 27"/>
            <p:cNvSpPr>
              <a:spLocks/>
            </p:cNvSpPr>
            <p:nvPr/>
          </p:nvSpPr>
          <p:spPr bwMode="auto">
            <a:xfrm>
              <a:off x="2976" y="1680"/>
              <a:ext cx="635" cy="2256"/>
            </a:xfrm>
            <a:custGeom>
              <a:avLst/>
              <a:gdLst>
                <a:gd name="T0" fmla="*/ 170 w 816"/>
                <a:gd name="T1" fmla="*/ 256 h 3456"/>
                <a:gd name="T2" fmla="*/ 170 w 816"/>
                <a:gd name="T3" fmla="*/ 268 h 3456"/>
                <a:gd name="T4" fmla="*/ 0 w 816"/>
                <a:gd name="T5" fmla="*/ 268 h 3456"/>
                <a:gd name="T6" fmla="*/ 0 w 816"/>
                <a:gd name="T7" fmla="*/ 0 h 3456"/>
                <a:gd name="T8" fmla="*/ 181 w 816"/>
                <a:gd name="T9" fmla="*/ 0 h 3456"/>
                <a:gd name="T10" fmla="*/ 181 w 816"/>
                <a:gd name="T11" fmla="*/ 15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6" name="Rectangle 28"/>
            <p:cNvSpPr>
              <a:spLocks noChangeArrowheads="1"/>
            </p:cNvSpPr>
            <p:nvPr/>
          </p:nvSpPr>
          <p:spPr bwMode="auto">
            <a:xfrm>
              <a:off x="3163" y="403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47" name="Rectangle 29"/>
            <p:cNvSpPr>
              <a:spLocks noChangeArrowheads="1"/>
            </p:cNvSpPr>
            <p:nvPr/>
          </p:nvSpPr>
          <p:spPr bwMode="auto">
            <a:xfrm>
              <a:off x="3168" y="513"/>
              <a:ext cx="1829" cy="113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8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1</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T</a:t>
              </a:r>
              <a:r>
                <a:rPr kumimoji="1" lang="en-US" altLang="zh-CN" sz="2646" baseline="-25000"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(10)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8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=10*I</a:t>
              </a:r>
            </a:p>
          </p:txBody>
        </p:sp>
        <p:sp>
          <p:nvSpPr>
            <p:cNvPr id="48" name="Line 30"/>
            <p:cNvSpPr>
              <a:spLocks noChangeShapeType="1"/>
            </p:cNvSpPr>
            <p:nvPr/>
          </p:nvSpPr>
          <p:spPr bwMode="auto">
            <a:xfrm>
              <a:off x="4080" y="383"/>
              <a:ext cx="0" cy="136"/>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9" name="Rectangle 31"/>
            <p:cNvSpPr>
              <a:spLocks noChangeArrowheads="1"/>
            </p:cNvSpPr>
            <p:nvPr/>
          </p:nvSpPr>
          <p:spPr bwMode="auto">
            <a:xfrm>
              <a:off x="5040" y="91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50" name="Freeform 32"/>
            <p:cNvSpPr>
              <a:spLocks/>
            </p:cNvSpPr>
            <p:nvPr/>
          </p:nvSpPr>
          <p:spPr bwMode="auto">
            <a:xfrm>
              <a:off x="4224" y="1920"/>
              <a:ext cx="1104" cy="2112"/>
            </a:xfrm>
            <a:custGeom>
              <a:avLst/>
              <a:gdLst>
                <a:gd name="T0" fmla="*/ 1008 w 1104"/>
                <a:gd name="T1" fmla="*/ 0 h 2256"/>
                <a:gd name="T2" fmla="*/ 1104 w 1104"/>
                <a:gd name="T3" fmla="*/ 0 h 2256"/>
                <a:gd name="T4" fmla="*/ 1104 w 1104"/>
                <a:gd name="T5" fmla="*/ 1421 h 2256"/>
                <a:gd name="T6" fmla="*/ 0 w 1104"/>
                <a:gd name="T7" fmla="*/ 1421 h 2256"/>
                <a:gd name="T8" fmla="*/ 0 w 1104"/>
                <a:gd name="T9" fmla="*/ 1518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1" name="Line 33"/>
            <p:cNvSpPr>
              <a:spLocks noChangeShapeType="1"/>
            </p:cNvSpPr>
            <p:nvPr/>
          </p:nvSpPr>
          <p:spPr bwMode="auto">
            <a:xfrm>
              <a:off x="4080" y="1653"/>
              <a:ext cx="0" cy="159"/>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grpSp>
        <p:nvGrpSpPr>
          <p:cNvPr id="52" name="Group 50"/>
          <p:cNvGrpSpPr>
            <a:grpSpLocks/>
          </p:cNvGrpSpPr>
          <p:nvPr/>
        </p:nvGrpSpPr>
        <p:grpSpPr bwMode="auto">
          <a:xfrm>
            <a:off x="5079083" y="19382"/>
            <a:ext cx="4115823" cy="7475679"/>
            <a:chOff x="2976" y="-48"/>
            <a:chExt cx="2352" cy="4272"/>
          </a:xfrm>
        </p:grpSpPr>
        <p:sp>
          <p:nvSpPr>
            <p:cNvPr id="53" name="Rectangle 35"/>
            <p:cNvSpPr>
              <a:spLocks noChangeArrowheads="1"/>
            </p:cNvSpPr>
            <p:nvPr/>
          </p:nvSpPr>
          <p:spPr bwMode="auto">
            <a:xfrm>
              <a:off x="3163" y="14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54" name="Rectangle 36"/>
            <p:cNvSpPr>
              <a:spLocks noChangeArrowheads="1"/>
            </p:cNvSpPr>
            <p:nvPr/>
          </p:nvSpPr>
          <p:spPr bwMode="auto">
            <a:xfrm>
              <a:off x="3168" y="211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(2) </a:t>
              </a:r>
              <a:r>
                <a:rPr kumimoji="1" lang="en-US" altLang="zh-CN" sz="2646" dirty="0">
                  <a:solidFill>
                    <a:prstClr val="black"/>
                  </a:solidFill>
                  <a:latin typeface="Arial" panose="020B0604020202020204"/>
                  <a:ea typeface="宋体" panose="02010600030101010101" pitchFamily="2" charset="-122"/>
                </a:rPr>
                <a:t>if  I&gt;10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(15)</a:t>
              </a:r>
            </a:p>
          </p:txBody>
        </p:sp>
        <p:sp>
          <p:nvSpPr>
            <p:cNvPr id="55" name="Rectangle 37"/>
            <p:cNvSpPr>
              <a:spLocks noChangeArrowheads="1"/>
            </p:cNvSpPr>
            <p:nvPr/>
          </p:nvSpPr>
          <p:spPr bwMode="auto">
            <a:xfrm>
              <a:off x="3168" y="2496"/>
              <a:ext cx="1829" cy="134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70000"/>
                </a:lnSpc>
                <a:spcBef>
                  <a:spcPct val="0"/>
                </a:spcBef>
                <a:spcAft>
                  <a:spcPts val="0"/>
                </a:spcAft>
                <a:buClrTx/>
                <a:buSzTx/>
                <a:buNone/>
              </a:pPr>
              <a:r>
                <a:rPr kumimoji="1" lang="zh-CN" altLang="zh-CN" sz="2646" dirty="0">
                  <a:solidFill>
                    <a:prstClr val="black"/>
                  </a:solidFill>
                  <a:latin typeface="Arial" panose="020B0604020202020204"/>
                  <a:ea typeface="宋体" panose="02010600030101010101" pitchFamily="2" charset="-122"/>
                </a:rPr>
                <a:t>(11)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7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7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(13)   I:=I+1 </a:t>
              </a:r>
            </a:p>
            <a:p>
              <a:pPr defTabSz="503972" rtl="0" fontAlgn="auto" hangingPunct="1">
                <a:lnSpc>
                  <a:spcPct val="7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zh-CN" altLang="en-US" sz="2646" dirty="0">
                  <a:solidFill>
                    <a:prstClr val="black"/>
                  </a:solidFill>
                  <a:latin typeface="Arial" panose="020B0604020202020204"/>
                  <a:ea typeface="宋体" panose="02010600030101010101" pitchFamily="2" charset="-122"/>
                </a:rPr>
                <a:t>)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(5</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(9</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56" name="Rectangle 38"/>
            <p:cNvSpPr>
              <a:spLocks noChangeArrowheads="1"/>
            </p:cNvSpPr>
            <p:nvPr/>
          </p:nvSpPr>
          <p:spPr bwMode="auto">
            <a:xfrm>
              <a:off x="4992" y="2640"/>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57" name="Rectangle 39"/>
            <p:cNvSpPr>
              <a:spLocks noChangeArrowheads="1"/>
            </p:cNvSpPr>
            <p:nvPr/>
          </p:nvSpPr>
          <p:spPr bwMode="auto">
            <a:xfrm>
              <a:off x="4992" y="20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58" name="Rectangle 40"/>
            <p:cNvSpPr>
              <a:spLocks noChangeArrowheads="1"/>
            </p:cNvSpPr>
            <p:nvPr/>
          </p:nvSpPr>
          <p:spPr bwMode="auto">
            <a:xfrm>
              <a:off x="4992" y="9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59" name="Line 41"/>
            <p:cNvSpPr>
              <a:spLocks noChangeShapeType="1"/>
            </p:cNvSpPr>
            <p:nvPr/>
          </p:nvSpPr>
          <p:spPr bwMode="auto">
            <a:xfrm>
              <a:off x="4080" y="-48"/>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0" name="Line 42"/>
            <p:cNvSpPr>
              <a:spLocks noChangeShapeType="1"/>
            </p:cNvSpPr>
            <p:nvPr/>
          </p:nvSpPr>
          <p:spPr bwMode="auto">
            <a:xfrm>
              <a:off x="4080" y="235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1" name="Freeform 43"/>
            <p:cNvSpPr>
              <a:spLocks/>
            </p:cNvSpPr>
            <p:nvPr/>
          </p:nvSpPr>
          <p:spPr bwMode="auto">
            <a:xfrm>
              <a:off x="2976" y="2016"/>
              <a:ext cx="635" cy="1920"/>
            </a:xfrm>
            <a:custGeom>
              <a:avLst/>
              <a:gdLst>
                <a:gd name="T0" fmla="*/ 170 w 816"/>
                <a:gd name="T1" fmla="*/ 98 h 3456"/>
                <a:gd name="T2" fmla="*/ 170 w 816"/>
                <a:gd name="T3" fmla="*/ 102 h 3456"/>
                <a:gd name="T4" fmla="*/ 0 w 816"/>
                <a:gd name="T5" fmla="*/ 102 h 3456"/>
                <a:gd name="T6" fmla="*/ 0 w 816"/>
                <a:gd name="T7" fmla="*/ 0 h 3456"/>
                <a:gd name="T8" fmla="*/ 181 w 816"/>
                <a:gd name="T9" fmla="*/ 0 h 3456"/>
                <a:gd name="T10" fmla="*/ 181 w 816"/>
                <a:gd name="T11" fmla="*/ 6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2" name="Rectangle 44"/>
            <p:cNvSpPr>
              <a:spLocks noChangeArrowheads="1"/>
            </p:cNvSpPr>
            <p:nvPr/>
          </p:nvSpPr>
          <p:spPr bwMode="auto">
            <a:xfrm>
              <a:off x="3163" y="398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63" name="Rectangle 45"/>
            <p:cNvSpPr>
              <a:spLocks noChangeArrowheads="1"/>
            </p:cNvSpPr>
            <p:nvPr/>
          </p:nvSpPr>
          <p:spPr bwMode="auto">
            <a:xfrm>
              <a:off x="3168" y="528"/>
              <a:ext cx="1829" cy="14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1</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T</a:t>
              </a:r>
              <a:r>
                <a:rPr kumimoji="1" lang="en-US" altLang="zh-CN" sz="2646" baseline="-25000"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(10)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(5)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2</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1</a:t>
              </a:r>
              <a:endParaRPr kumimoji="1" lang="en-US" altLang="zh-CN" sz="2646" dirty="0">
                <a:solidFill>
                  <a:srgbClr val="C00000"/>
                </a:solidFill>
                <a:latin typeface="Arial" panose="020B0604020202020204"/>
                <a:ea typeface="宋体" panose="02010600030101010101" pitchFamily="2" charset="-122"/>
              </a:endParaRPr>
            </a:p>
            <a:p>
              <a:pPr defTabSz="503972" rtl="0" fontAlgn="auto" hangingPunct="1">
                <a:lnSpc>
                  <a:spcPct val="75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(9)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6</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5</a:t>
              </a:r>
              <a:endParaRPr kumimoji="1" lang="en-US" altLang="zh-CN" sz="2646" dirty="0">
                <a:solidFill>
                  <a:srgbClr val="C00000"/>
                </a:solidFill>
                <a:latin typeface="Arial" panose="020B0604020202020204"/>
                <a:ea typeface="宋体" panose="02010600030101010101" pitchFamily="2" charset="-122"/>
              </a:endParaRPr>
            </a:p>
          </p:txBody>
        </p:sp>
        <p:sp>
          <p:nvSpPr>
            <p:cNvPr id="64" name="Line 46"/>
            <p:cNvSpPr>
              <a:spLocks noChangeShapeType="1"/>
            </p:cNvSpPr>
            <p:nvPr/>
          </p:nvSpPr>
          <p:spPr bwMode="auto">
            <a:xfrm>
              <a:off x="4080" y="38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5" name="Rectangle 47"/>
            <p:cNvSpPr>
              <a:spLocks noChangeArrowheads="1"/>
            </p:cNvSpPr>
            <p:nvPr/>
          </p:nvSpPr>
          <p:spPr bwMode="auto">
            <a:xfrm>
              <a:off x="5040" y="8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66" name="Freeform 48"/>
            <p:cNvSpPr>
              <a:spLocks/>
            </p:cNvSpPr>
            <p:nvPr/>
          </p:nvSpPr>
          <p:spPr bwMode="auto">
            <a:xfrm>
              <a:off x="4224" y="2160"/>
              <a:ext cx="1104" cy="1824"/>
            </a:xfrm>
            <a:custGeom>
              <a:avLst/>
              <a:gdLst>
                <a:gd name="T0" fmla="*/ 1008 w 1104"/>
                <a:gd name="T1" fmla="*/ 0 h 2256"/>
                <a:gd name="T2" fmla="*/ 1104 w 1104"/>
                <a:gd name="T3" fmla="*/ 0 h 2256"/>
                <a:gd name="T4" fmla="*/ 1104 w 1104"/>
                <a:gd name="T5" fmla="*/ 590 h 2256"/>
                <a:gd name="T6" fmla="*/ 0 w 1104"/>
                <a:gd name="T7" fmla="*/ 590 h 2256"/>
                <a:gd name="T8" fmla="*/ 0 w 1104"/>
                <a:gd name="T9" fmla="*/ 631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7" name="Line 49"/>
            <p:cNvSpPr>
              <a:spLocks noChangeShapeType="1"/>
            </p:cNvSpPr>
            <p:nvPr/>
          </p:nvSpPr>
          <p:spPr bwMode="auto">
            <a:xfrm>
              <a:off x="4080" y="1968"/>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Tree>
    <p:extLst>
      <p:ext uri="{BB962C8B-B14F-4D97-AF65-F5344CB8AC3E}">
        <p14:creationId xmlns:p14="http://schemas.microsoft.com/office/powerpoint/2010/main" val="4086303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up)">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wipe(up)">
                                      <p:cBhvr>
                                        <p:cTn id="1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强度消弱</a:t>
            </a:r>
          </a:p>
        </p:txBody>
      </p:sp>
      <p:sp>
        <p:nvSpPr>
          <p:cNvPr id="72707" name="Rectangle 3"/>
          <p:cNvSpPr>
            <a:spLocks noGrp="1" noChangeArrowheads="1"/>
          </p:cNvSpPr>
          <p:nvPr>
            <p:ph idx="1"/>
          </p:nvPr>
        </p:nvSpPr>
        <p:spPr/>
        <p:txBody>
          <a:bodyPr/>
          <a:lstStyle/>
          <a:p>
            <a:pPr>
              <a:spcBef>
                <a:spcPts val="992"/>
              </a:spcBef>
            </a:pPr>
            <a:r>
              <a:rPr lang="zh-CN" altLang="en-US" dirty="0">
                <a:latin typeface="微软雅黑" panose="020B0503020204020204" pitchFamily="34" charset="-122"/>
              </a:rPr>
              <a:t>强度消弱通常是</a:t>
            </a:r>
            <a:r>
              <a:rPr lang="zh-CN" altLang="en-US" dirty="0"/>
              <a:t>针对</a:t>
            </a:r>
            <a:r>
              <a:rPr lang="zh-CN" altLang="en-US" dirty="0">
                <a:solidFill>
                  <a:srgbClr val="CC0000"/>
                </a:solidFill>
                <a:latin typeface="微软雅黑" panose="020B0503020204020204" pitchFamily="34" charset="-122"/>
              </a:rPr>
              <a:t>循环控制变量</a:t>
            </a:r>
            <a:r>
              <a:rPr lang="zh-CN" altLang="en-US" dirty="0">
                <a:latin typeface="微软雅黑" panose="020B0503020204020204" pitchFamily="34" charset="-122"/>
              </a:rPr>
              <a:t>有</a:t>
            </a:r>
            <a:r>
              <a:rPr lang="zh-CN" altLang="en-US" dirty="0">
                <a:solidFill>
                  <a:srgbClr val="CC0000"/>
                </a:solidFill>
                <a:latin typeface="微软雅黑" panose="020B0503020204020204" pitchFamily="34" charset="-122"/>
              </a:rPr>
              <a:t>线性关系</a:t>
            </a:r>
            <a:r>
              <a:rPr lang="zh-CN" altLang="en-US" dirty="0">
                <a:latin typeface="微软雅黑" panose="020B0503020204020204" pitchFamily="34" charset="-122"/>
              </a:rPr>
              <a:t>的变量赋值</a:t>
            </a:r>
            <a:r>
              <a:rPr lang="zh-CN" altLang="en-US" dirty="0"/>
              <a:t>进行</a:t>
            </a:r>
            <a:endParaRPr lang="zh-CN" altLang="en-US" dirty="0">
              <a:latin typeface="微软雅黑" panose="020B0503020204020204" pitchFamily="34" charset="-122"/>
            </a:endParaRPr>
          </a:p>
          <a:p>
            <a:r>
              <a:rPr lang="zh-CN" altLang="en-US" dirty="0">
                <a:latin typeface="微软雅黑" panose="020B0503020204020204" pitchFamily="34" charset="-122"/>
              </a:rPr>
              <a:t>经过强度消弱后，循环中可能出现一些新的无用赋值，为优化提供基础</a:t>
            </a:r>
          </a:p>
          <a:p>
            <a:r>
              <a:rPr lang="zh-CN" altLang="en-US" dirty="0">
                <a:latin typeface="微软雅黑" panose="020B0503020204020204" pitchFamily="34" charset="-122"/>
              </a:rPr>
              <a:t>对于消弱下标变量地址计算的强度非常有效</a:t>
            </a:r>
          </a:p>
        </p:txBody>
      </p:sp>
    </p:spTree>
    <p:extLst>
      <p:ext uri="{BB962C8B-B14F-4D97-AF65-F5344CB8AC3E}">
        <p14:creationId xmlns:p14="http://schemas.microsoft.com/office/powerpoint/2010/main" val="2821128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Effect transition="in" filter="wipe(left)">
                                      <p:cBhvr>
                                        <p:cTn id="7" dur="500"/>
                                        <p:tgtEl>
                                          <p:spTgt spid="727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707">
                                            <p:txEl>
                                              <p:pRg st="1" end="1"/>
                                            </p:txEl>
                                          </p:spTgt>
                                        </p:tgtEl>
                                        <p:attrNameLst>
                                          <p:attrName>style.visibility</p:attrName>
                                        </p:attrNameLst>
                                      </p:cBhvr>
                                      <p:to>
                                        <p:strVal val="visible"/>
                                      </p:to>
                                    </p:set>
                                    <p:animEffect transition="in" filter="wipe(left)">
                                      <p:cBhvr>
                                        <p:cTn id="12" dur="500"/>
                                        <p:tgtEl>
                                          <p:spTgt spid="727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707">
                                            <p:txEl>
                                              <p:pRg st="2" end="2"/>
                                            </p:txEl>
                                          </p:spTgt>
                                        </p:tgtEl>
                                        <p:attrNameLst>
                                          <p:attrName>style.visibility</p:attrName>
                                        </p:attrNameLst>
                                      </p:cBhvr>
                                      <p:to>
                                        <p:strVal val="visible"/>
                                      </p:to>
                                    </p:set>
                                    <p:animEffect transition="in" filter="wipe(left)">
                                      <p:cBhvr>
                                        <p:cTn id="17" dur="500"/>
                                        <p:tgtEl>
                                          <p:spTgt spid="727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 name="文本框 37"/>
          <p:cNvSpPr txBox="1"/>
          <p:nvPr/>
        </p:nvSpPr>
        <p:spPr>
          <a:xfrm>
            <a:off x="7056225" y="944959"/>
            <a:ext cx="3023870" cy="5669756"/>
          </a:xfrm>
          <a:prstGeom prst="rect">
            <a:avLst/>
          </a:prstGeom>
          <a:noFill/>
        </p:spPr>
        <p:txBody>
          <a:bodyPr wrap="square" rtlCol="0">
            <a:noAutofit/>
          </a:bodyPr>
          <a:lstStyle/>
          <a:p>
            <a:pPr defTabSz="503972" rtl="0" fontAlgn="auto" hangingPunct="1">
              <a:lnSpc>
                <a:spcPct val="100000"/>
              </a:lnSpc>
              <a:spcBef>
                <a:spcPts val="0"/>
              </a:spcBef>
              <a:spcAft>
                <a:spcPts val="0"/>
              </a:spcAft>
              <a:buSzTx/>
            </a:pPr>
            <a:endParaRPr lang="en-US" altLang="zh-CN" sz="2646" dirty="0">
              <a:solidFill>
                <a:srgbClr val="C00000"/>
              </a:solidFill>
              <a:latin typeface="Arial" panose="020B0604020202020204"/>
              <a:ea typeface="黑体" panose="02010609060101010101" pitchFamily="49" charset="-122"/>
            </a:endParaRPr>
          </a:p>
        </p:txBody>
      </p:sp>
      <p:grpSp>
        <p:nvGrpSpPr>
          <p:cNvPr id="36" name="Group 18"/>
          <p:cNvGrpSpPr>
            <a:grpSpLocks/>
          </p:cNvGrpSpPr>
          <p:nvPr/>
        </p:nvGrpSpPr>
        <p:grpSpPr bwMode="auto">
          <a:xfrm>
            <a:off x="265443" y="-1"/>
            <a:ext cx="4115823" cy="7475679"/>
            <a:chOff x="2976" y="-48"/>
            <a:chExt cx="2352" cy="4272"/>
          </a:xfrm>
        </p:grpSpPr>
        <p:sp>
          <p:nvSpPr>
            <p:cNvPr id="37" name="Rectangle 19"/>
            <p:cNvSpPr>
              <a:spLocks noChangeArrowheads="1"/>
            </p:cNvSpPr>
            <p:nvPr/>
          </p:nvSpPr>
          <p:spPr bwMode="auto">
            <a:xfrm>
              <a:off x="3163" y="14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39" name="Rectangle 20"/>
            <p:cNvSpPr>
              <a:spLocks noChangeArrowheads="1"/>
            </p:cNvSpPr>
            <p:nvPr/>
          </p:nvSpPr>
          <p:spPr bwMode="auto">
            <a:xfrm>
              <a:off x="3168" y="211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(2) </a:t>
              </a:r>
              <a:r>
                <a:rPr kumimoji="1" lang="en-US" altLang="zh-CN" sz="2646" dirty="0">
                  <a:solidFill>
                    <a:srgbClr val="C00000"/>
                  </a:solidFill>
                  <a:latin typeface="Arial" panose="020B0604020202020204"/>
                  <a:ea typeface="宋体" panose="02010600030101010101" pitchFamily="2" charset="-122"/>
                </a:rPr>
                <a:t>if  I&gt;10 </a:t>
              </a:r>
              <a:r>
                <a:rPr kumimoji="1" lang="en-US" altLang="zh-CN" sz="2646" dirty="0" err="1">
                  <a:solidFill>
                    <a:srgbClr val="C00000"/>
                  </a:solidFill>
                  <a:latin typeface="Arial" panose="020B0604020202020204"/>
                  <a:ea typeface="宋体" panose="02010600030101010101" pitchFamily="2" charset="-122"/>
                </a:rPr>
                <a:t>goto</a:t>
              </a:r>
              <a:r>
                <a:rPr kumimoji="1" lang="en-US" altLang="zh-CN" sz="2646" dirty="0">
                  <a:solidFill>
                    <a:srgbClr val="C00000"/>
                  </a:solidFill>
                  <a:latin typeface="Arial" panose="020B0604020202020204"/>
                  <a:ea typeface="宋体" panose="02010600030101010101" pitchFamily="2" charset="-122"/>
                </a:rPr>
                <a:t> (15)</a:t>
              </a:r>
            </a:p>
          </p:txBody>
        </p:sp>
        <p:sp>
          <p:nvSpPr>
            <p:cNvPr id="40" name="Rectangle 21"/>
            <p:cNvSpPr>
              <a:spLocks noChangeArrowheads="1"/>
            </p:cNvSpPr>
            <p:nvPr/>
          </p:nvSpPr>
          <p:spPr bwMode="auto">
            <a:xfrm>
              <a:off x="3168" y="2496"/>
              <a:ext cx="1829" cy="134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70000"/>
                </a:lnSpc>
                <a:spcBef>
                  <a:spcPct val="0"/>
                </a:spcBef>
                <a:spcAft>
                  <a:spcPts val="0"/>
                </a:spcAft>
                <a:buClrTx/>
                <a:buSzTx/>
                <a:buNone/>
              </a:pPr>
              <a:r>
                <a:rPr kumimoji="1" lang="zh-CN" altLang="zh-CN" sz="2646" dirty="0">
                  <a:solidFill>
                    <a:prstClr val="black"/>
                  </a:solidFill>
                  <a:latin typeface="Arial" panose="020B0604020202020204"/>
                  <a:ea typeface="宋体" panose="02010600030101010101" pitchFamily="2" charset="-122"/>
                </a:rPr>
                <a:t>(11)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7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7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(13)   I:=I+1 </a:t>
              </a:r>
            </a:p>
            <a:p>
              <a:pPr defTabSz="503972" rtl="0" fontAlgn="auto" hangingPunct="1">
                <a:lnSpc>
                  <a:spcPct val="7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(4</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2</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2</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(8’)    T</a:t>
              </a:r>
              <a:r>
                <a:rPr kumimoji="1" lang="en-US" altLang="zh-CN" sz="2646" baseline="-25000" dirty="0">
                  <a:solidFill>
                    <a:srgbClr val="C00000"/>
                  </a:solidFill>
                  <a:latin typeface="Arial" panose="020B0604020202020204"/>
                  <a:ea typeface="宋体" panose="02010600030101010101" pitchFamily="2" charset="-122"/>
                </a:rPr>
                <a:t>6</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6</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(5</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(9</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41" name="Rectangle 22"/>
            <p:cNvSpPr>
              <a:spLocks noChangeArrowheads="1"/>
            </p:cNvSpPr>
            <p:nvPr/>
          </p:nvSpPr>
          <p:spPr bwMode="auto">
            <a:xfrm>
              <a:off x="4992" y="2640"/>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42" name="Rectangle 23"/>
            <p:cNvSpPr>
              <a:spLocks noChangeArrowheads="1"/>
            </p:cNvSpPr>
            <p:nvPr/>
          </p:nvSpPr>
          <p:spPr bwMode="auto">
            <a:xfrm>
              <a:off x="4992" y="20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43" name="Rectangle 24"/>
            <p:cNvSpPr>
              <a:spLocks noChangeArrowheads="1"/>
            </p:cNvSpPr>
            <p:nvPr/>
          </p:nvSpPr>
          <p:spPr bwMode="auto">
            <a:xfrm>
              <a:off x="4992" y="9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44" name="Line 25"/>
            <p:cNvSpPr>
              <a:spLocks noChangeShapeType="1"/>
            </p:cNvSpPr>
            <p:nvPr/>
          </p:nvSpPr>
          <p:spPr bwMode="auto">
            <a:xfrm>
              <a:off x="4080" y="-48"/>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5" name="Line 26"/>
            <p:cNvSpPr>
              <a:spLocks noChangeShapeType="1"/>
            </p:cNvSpPr>
            <p:nvPr/>
          </p:nvSpPr>
          <p:spPr bwMode="auto">
            <a:xfrm>
              <a:off x="4080" y="235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6" name="Freeform 27"/>
            <p:cNvSpPr>
              <a:spLocks/>
            </p:cNvSpPr>
            <p:nvPr/>
          </p:nvSpPr>
          <p:spPr bwMode="auto">
            <a:xfrm>
              <a:off x="2976" y="2016"/>
              <a:ext cx="635" cy="1920"/>
            </a:xfrm>
            <a:custGeom>
              <a:avLst/>
              <a:gdLst>
                <a:gd name="T0" fmla="*/ 170 w 816"/>
                <a:gd name="T1" fmla="*/ 98 h 3456"/>
                <a:gd name="T2" fmla="*/ 170 w 816"/>
                <a:gd name="T3" fmla="*/ 102 h 3456"/>
                <a:gd name="T4" fmla="*/ 0 w 816"/>
                <a:gd name="T5" fmla="*/ 102 h 3456"/>
                <a:gd name="T6" fmla="*/ 0 w 816"/>
                <a:gd name="T7" fmla="*/ 0 h 3456"/>
                <a:gd name="T8" fmla="*/ 181 w 816"/>
                <a:gd name="T9" fmla="*/ 0 h 3456"/>
                <a:gd name="T10" fmla="*/ 181 w 816"/>
                <a:gd name="T11" fmla="*/ 6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7" name="Rectangle 28"/>
            <p:cNvSpPr>
              <a:spLocks noChangeArrowheads="1"/>
            </p:cNvSpPr>
            <p:nvPr/>
          </p:nvSpPr>
          <p:spPr bwMode="auto">
            <a:xfrm>
              <a:off x="3163" y="398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48" name="Rectangle 29"/>
            <p:cNvSpPr>
              <a:spLocks noChangeArrowheads="1"/>
            </p:cNvSpPr>
            <p:nvPr/>
          </p:nvSpPr>
          <p:spPr bwMode="auto">
            <a:xfrm>
              <a:off x="3168" y="528"/>
              <a:ext cx="1829" cy="14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75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(3)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1</a:t>
              </a:r>
              <a:r>
                <a:rPr kumimoji="1" lang="en-US" altLang="zh-CN" sz="2646">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(6)     T</a:t>
              </a:r>
              <a:r>
                <a:rPr kumimoji="1" lang="en-US" altLang="zh-CN" sz="2646" baseline="-25000">
                  <a:solidFill>
                    <a:prstClr val="black"/>
                  </a:solidFill>
                  <a:latin typeface="Arial" panose="020B0604020202020204"/>
                  <a:ea typeface="宋体" panose="02010600030101010101" pitchFamily="2" charset="-122"/>
                </a:rPr>
                <a:t>4</a:t>
              </a:r>
              <a:r>
                <a:rPr kumimoji="1" lang="en-US" altLang="zh-CN" sz="2646">
                  <a:solidFill>
                    <a:prstClr val="black"/>
                  </a:solidFill>
                  <a:latin typeface="Arial" panose="020B0604020202020204"/>
                  <a:ea typeface="宋体" panose="02010600030101010101" pitchFamily="2" charset="-122"/>
                </a:rPr>
                <a:t>=addr(A)-11</a:t>
              </a:r>
            </a:p>
            <a:p>
              <a:pPr defTabSz="503972" rtl="0" fontAlgn="auto" hangingPunct="1">
                <a:lnSpc>
                  <a:spcPct val="75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(7)     T</a:t>
              </a:r>
              <a:r>
                <a:rPr kumimoji="1" lang="en-US" altLang="zh-CN" sz="2646" baseline="-25000">
                  <a:solidFill>
                    <a:prstClr val="black"/>
                  </a:solidFill>
                  <a:latin typeface="Arial" panose="020B0604020202020204"/>
                  <a:ea typeface="宋体" panose="02010600030101010101" pitchFamily="2" charset="-122"/>
                </a:rPr>
                <a:t>5</a:t>
              </a:r>
              <a:r>
                <a:rPr kumimoji="1" lang="en-US" altLang="zh-CN" sz="2646">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(10)   T</a:t>
              </a:r>
              <a:r>
                <a:rPr kumimoji="1" lang="en-US" altLang="zh-CN" sz="2646" baseline="-25000">
                  <a:solidFill>
                    <a:prstClr val="black"/>
                  </a:solidFill>
                  <a:latin typeface="Arial" panose="020B0604020202020204"/>
                  <a:ea typeface="宋体" panose="02010600030101010101" pitchFamily="2" charset="-122"/>
                </a:rPr>
                <a:t>8</a:t>
              </a:r>
              <a:r>
                <a:rPr kumimoji="1" lang="en-US" altLang="zh-CN" sz="2646">
                  <a:solidFill>
                    <a:prstClr val="black"/>
                  </a:solidFill>
                  <a:latin typeface="Arial" panose="020B0604020202020204"/>
                  <a:ea typeface="宋体" panose="02010600030101010101" pitchFamily="2" charset="-122"/>
                </a:rPr>
                <a:t>=addr(A)-11</a:t>
              </a:r>
            </a:p>
            <a:p>
              <a:pPr defTabSz="503972" rtl="0" fontAlgn="auto" hangingPunct="1">
                <a:lnSpc>
                  <a:spcPct val="75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(4)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2</a:t>
              </a:r>
              <a:r>
                <a:rPr kumimoji="1" lang="en-US" altLang="zh-CN" sz="2646">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(8)     T</a:t>
              </a:r>
              <a:r>
                <a:rPr kumimoji="1" lang="en-US" altLang="zh-CN" sz="2646" baseline="-25000">
                  <a:solidFill>
                    <a:prstClr val="black"/>
                  </a:solidFill>
                  <a:latin typeface="Arial" panose="020B0604020202020204"/>
                  <a:ea typeface="宋体" panose="02010600030101010101" pitchFamily="2" charset="-122"/>
                </a:rPr>
                <a:t>6</a:t>
              </a:r>
              <a:r>
                <a:rPr kumimoji="1" lang="en-US" altLang="zh-CN" sz="2646">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(5)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3</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2</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1</a:t>
              </a:r>
              <a:endParaRPr kumimoji="1" lang="en-US" altLang="zh-CN" sz="2646">
                <a:solidFill>
                  <a:prstClr val="black"/>
                </a:solidFill>
                <a:latin typeface="Arial" panose="020B0604020202020204"/>
                <a:ea typeface="宋体" panose="02010600030101010101" pitchFamily="2" charset="-122"/>
              </a:endParaRPr>
            </a:p>
            <a:p>
              <a:pPr defTabSz="503972" rtl="0" fontAlgn="auto" hangingPunct="1">
                <a:lnSpc>
                  <a:spcPct val="75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(9)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7</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6</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5</a:t>
              </a:r>
              <a:endParaRPr kumimoji="1" lang="en-US" altLang="zh-CN" sz="2646">
                <a:solidFill>
                  <a:prstClr val="black"/>
                </a:solidFill>
                <a:latin typeface="Arial" panose="020B0604020202020204"/>
                <a:ea typeface="宋体" panose="02010600030101010101" pitchFamily="2" charset="-122"/>
              </a:endParaRPr>
            </a:p>
          </p:txBody>
        </p:sp>
        <p:sp>
          <p:nvSpPr>
            <p:cNvPr id="49" name="Line 30"/>
            <p:cNvSpPr>
              <a:spLocks noChangeShapeType="1"/>
            </p:cNvSpPr>
            <p:nvPr/>
          </p:nvSpPr>
          <p:spPr bwMode="auto">
            <a:xfrm>
              <a:off x="4080" y="38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0" name="Rectangle 31"/>
            <p:cNvSpPr>
              <a:spLocks noChangeArrowheads="1"/>
            </p:cNvSpPr>
            <p:nvPr/>
          </p:nvSpPr>
          <p:spPr bwMode="auto">
            <a:xfrm>
              <a:off x="5040" y="8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51" name="Freeform 32"/>
            <p:cNvSpPr>
              <a:spLocks/>
            </p:cNvSpPr>
            <p:nvPr/>
          </p:nvSpPr>
          <p:spPr bwMode="auto">
            <a:xfrm>
              <a:off x="4224" y="2160"/>
              <a:ext cx="1104" cy="1824"/>
            </a:xfrm>
            <a:custGeom>
              <a:avLst/>
              <a:gdLst>
                <a:gd name="T0" fmla="*/ 1008 w 1104"/>
                <a:gd name="T1" fmla="*/ 0 h 2256"/>
                <a:gd name="T2" fmla="*/ 1104 w 1104"/>
                <a:gd name="T3" fmla="*/ 0 h 2256"/>
                <a:gd name="T4" fmla="*/ 1104 w 1104"/>
                <a:gd name="T5" fmla="*/ 590 h 2256"/>
                <a:gd name="T6" fmla="*/ 0 w 1104"/>
                <a:gd name="T7" fmla="*/ 590 h 2256"/>
                <a:gd name="T8" fmla="*/ 0 w 1104"/>
                <a:gd name="T9" fmla="*/ 631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2" name="Line 33"/>
            <p:cNvSpPr>
              <a:spLocks noChangeShapeType="1"/>
            </p:cNvSpPr>
            <p:nvPr/>
          </p:nvSpPr>
          <p:spPr bwMode="auto">
            <a:xfrm>
              <a:off x="4080" y="1968"/>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grpSp>
        <p:nvGrpSpPr>
          <p:cNvPr id="53" name="Group 18"/>
          <p:cNvGrpSpPr>
            <a:grpSpLocks/>
          </p:cNvGrpSpPr>
          <p:nvPr/>
        </p:nvGrpSpPr>
        <p:grpSpPr bwMode="auto">
          <a:xfrm>
            <a:off x="4860407" y="-1"/>
            <a:ext cx="4115823" cy="7475679"/>
            <a:chOff x="2976" y="-48"/>
            <a:chExt cx="2352" cy="4272"/>
          </a:xfrm>
        </p:grpSpPr>
        <p:sp>
          <p:nvSpPr>
            <p:cNvPr id="54" name="Rectangle 19"/>
            <p:cNvSpPr>
              <a:spLocks noChangeArrowheads="1"/>
            </p:cNvSpPr>
            <p:nvPr/>
          </p:nvSpPr>
          <p:spPr bwMode="auto">
            <a:xfrm>
              <a:off x="3163" y="14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55" name="Rectangle 20"/>
            <p:cNvSpPr>
              <a:spLocks noChangeArrowheads="1"/>
            </p:cNvSpPr>
            <p:nvPr/>
          </p:nvSpPr>
          <p:spPr bwMode="auto">
            <a:xfrm>
              <a:off x="3168" y="211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(2) </a:t>
              </a:r>
              <a:r>
                <a:rPr kumimoji="1" lang="en-US" altLang="zh-CN" sz="2646" dirty="0">
                  <a:solidFill>
                    <a:srgbClr val="C00000"/>
                  </a:solidFill>
                  <a:latin typeface="Arial" panose="020B0604020202020204"/>
                  <a:ea typeface="宋体" panose="02010600030101010101" pitchFamily="2" charset="-122"/>
                </a:rPr>
                <a:t>if  I&gt;10 </a:t>
              </a:r>
              <a:r>
                <a:rPr kumimoji="1" lang="en-US" altLang="zh-CN" sz="2646" dirty="0" err="1">
                  <a:solidFill>
                    <a:srgbClr val="C00000"/>
                  </a:solidFill>
                  <a:latin typeface="Arial" panose="020B0604020202020204"/>
                  <a:ea typeface="宋体" panose="02010600030101010101" pitchFamily="2" charset="-122"/>
                </a:rPr>
                <a:t>goto</a:t>
              </a:r>
              <a:r>
                <a:rPr kumimoji="1" lang="en-US" altLang="zh-CN" sz="2646" dirty="0">
                  <a:solidFill>
                    <a:srgbClr val="C00000"/>
                  </a:solidFill>
                  <a:latin typeface="Arial" panose="020B0604020202020204"/>
                  <a:ea typeface="宋体" panose="02010600030101010101" pitchFamily="2" charset="-122"/>
                </a:rPr>
                <a:t> (15)</a:t>
              </a:r>
            </a:p>
          </p:txBody>
        </p:sp>
        <p:sp>
          <p:nvSpPr>
            <p:cNvPr id="56" name="Rectangle 21"/>
            <p:cNvSpPr>
              <a:spLocks noChangeArrowheads="1"/>
            </p:cNvSpPr>
            <p:nvPr/>
          </p:nvSpPr>
          <p:spPr bwMode="auto">
            <a:xfrm>
              <a:off x="3168" y="2496"/>
              <a:ext cx="1829" cy="134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80000"/>
                </a:lnSpc>
                <a:spcBef>
                  <a:spcPct val="0"/>
                </a:spcBef>
                <a:spcAft>
                  <a:spcPts val="0"/>
                </a:spcAft>
                <a:buClrTx/>
                <a:buSzTx/>
                <a:buNone/>
              </a:pPr>
              <a:r>
                <a:rPr kumimoji="1" lang="zh-CN" altLang="zh-CN" sz="2646" dirty="0">
                  <a:solidFill>
                    <a:prstClr val="black"/>
                  </a:solidFill>
                  <a:latin typeface="Arial" panose="020B0604020202020204"/>
                  <a:ea typeface="宋体" panose="02010600030101010101" pitchFamily="2" charset="-122"/>
                </a:rPr>
                <a:t>(11)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8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(13)   I:=I+1 </a:t>
              </a:r>
            </a:p>
            <a:p>
              <a:pPr defTabSz="503972" rtl="0" fontAlgn="auto" hangingPunct="1">
                <a:lnSpc>
                  <a:spcPct val="8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(5</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8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(9</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57" name="Rectangle 22"/>
            <p:cNvSpPr>
              <a:spLocks noChangeArrowheads="1"/>
            </p:cNvSpPr>
            <p:nvPr/>
          </p:nvSpPr>
          <p:spPr bwMode="auto">
            <a:xfrm>
              <a:off x="4992" y="2640"/>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58" name="Rectangle 23"/>
            <p:cNvSpPr>
              <a:spLocks noChangeArrowheads="1"/>
            </p:cNvSpPr>
            <p:nvPr/>
          </p:nvSpPr>
          <p:spPr bwMode="auto">
            <a:xfrm>
              <a:off x="4992" y="20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59" name="Rectangle 24"/>
            <p:cNvSpPr>
              <a:spLocks noChangeArrowheads="1"/>
            </p:cNvSpPr>
            <p:nvPr/>
          </p:nvSpPr>
          <p:spPr bwMode="auto">
            <a:xfrm>
              <a:off x="4992" y="9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60" name="Line 25"/>
            <p:cNvSpPr>
              <a:spLocks noChangeShapeType="1"/>
            </p:cNvSpPr>
            <p:nvPr/>
          </p:nvSpPr>
          <p:spPr bwMode="auto">
            <a:xfrm>
              <a:off x="4080" y="-48"/>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1" name="Line 26"/>
            <p:cNvSpPr>
              <a:spLocks noChangeShapeType="1"/>
            </p:cNvSpPr>
            <p:nvPr/>
          </p:nvSpPr>
          <p:spPr bwMode="auto">
            <a:xfrm>
              <a:off x="4080" y="235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2" name="Freeform 27"/>
            <p:cNvSpPr>
              <a:spLocks/>
            </p:cNvSpPr>
            <p:nvPr/>
          </p:nvSpPr>
          <p:spPr bwMode="auto">
            <a:xfrm>
              <a:off x="2976" y="2016"/>
              <a:ext cx="635" cy="1920"/>
            </a:xfrm>
            <a:custGeom>
              <a:avLst/>
              <a:gdLst>
                <a:gd name="T0" fmla="*/ 170 w 816"/>
                <a:gd name="T1" fmla="*/ 98 h 3456"/>
                <a:gd name="T2" fmla="*/ 170 w 816"/>
                <a:gd name="T3" fmla="*/ 102 h 3456"/>
                <a:gd name="T4" fmla="*/ 0 w 816"/>
                <a:gd name="T5" fmla="*/ 102 h 3456"/>
                <a:gd name="T6" fmla="*/ 0 w 816"/>
                <a:gd name="T7" fmla="*/ 0 h 3456"/>
                <a:gd name="T8" fmla="*/ 181 w 816"/>
                <a:gd name="T9" fmla="*/ 0 h 3456"/>
                <a:gd name="T10" fmla="*/ 181 w 816"/>
                <a:gd name="T11" fmla="*/ 6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3" name="Rectangle 28"/>
            <p:cNvSpPr>
              <a:spLocks noChangeArrowheads="1"/>
            </p:cNvSpPr>
            <p:nvPr/>
          </p:nvSpPr>
          <p:spPr bwMode="auto">
            <a:xfrm>
              <a:off x="3163" y="398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64" name="Rectangle 29"/>
            <p:cNvSpPr>
              <a:spLocks noChangeArrowheads="1"/>
            </p:cNvSpPr>
            <p:nvPr/>
          </p:nvSpPr>
          <p:spPr bwMode="auto">
            <a:xfrm>
              <a:off x="3168" y="528"/>
              <a:ext cx="1829" cy="14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1</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T</a:t>
              </a:r>
              <a:r>
                <a:rPr kumimoji="1" lang="en-US" altLang="zh-CN" sz="2646" baseline="-25000"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(10)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1</a:t>
              </a:r>
              <a:endParaRPr kumimoji="1" lang="en-US" altLang="zh-CN" sz="2646" dirty="0">
                <a:solidFill>
                  <a:prstClr val="black"/>
                </a:solidFill>
                <a:latin typeface="Arial" panose="020B0604020202020204"/>
                <a:ea typeface="宋体" panose="02010600030101010101" pitchFamily="2" charset="-122"/>
              </a:endParaRPr>
            </a:p>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5</a:t>
              </a:r>
              <a:endParaRPr kumimoji="1" lang="en-US" altLang="zh-CN" sz="2646" dirty="0">
                <a:solidFill>
                  <a:prstClr val="black"/>
                </a:solidFill>
                <a:latin typeface="Arial" panose="020B0604020202020204"/>
                <a:ea typeface="宋体" panose="02010600030101010101" pitchFamily="2" charset="-122"/>
              </a:endParaRPr>
            </a:p>
          </p:txBody>
        </p:sp>
        <p:sp>
          <p:nvSpPr>
            <p:cNvPr id="65" name="Line 30"/>
            <p:cNvSpPr>
              <a:spLocks noChangeShapeType="1"/>
            </p:cNvSpPr>
            <p:nvPr/>
          </p:nvSpPr>
          <p:spPr bwMode="auto">
            <a:xfrm>
              <a:off x="4080" y="38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6" name="Rectangle 31"/>
            <p:cNvSpPr>
              <a:spLocks noChangeArrowheads="1"/>
            </p:cNvSpPr>
            <p:nvPr/>
          </p:nvSpPr>
          <p:spPr bwMode="auto">
            <a:xfrm>
              <a:off x="5040" y="8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67" name="Freeform 32"/>
            <p:cNvSpPr>
              <a:spLocks/>
            </p:cNvSpPr>
            <p:nvPr/>
          </p:nvSpPr>
          <p:spPr bwMode="auto">
            <a:xfrm>
              <a:off x="4224" y="2160"/>
              <a:ext cx="1104" cy="1824"/>
            </a:xfrm>
            <a:custGeom>
              <a:avLst/>
              <a:gdLst>
                <a:gd name="T0" fmla="*/ 1008 w 1104"/>
                <a:gd name="T1" fmla="*/ 0 h 2256"/>
                <a:gd name="T2" fmla="*/ 1104 w 1104"/>
                <a:gd name="T3" fmla="*/ 0 h 2256"/>
                <a:gd name="T4" fmla="*/ 1104 w 1104"/>
                <a:gd name="T5" fmla="*/ 590 h 2256"/>
                <a:gd name="T6" fmla="*/ 0 w 1104"/>
                <a:gd name="T7" fmla="*/ 590 h 2256"/>
                <a:gd name="T8" fmla="*/ 0 w 1104"/>
                <a:gd name="T9" fmla="*/ 631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8" name="Line 33"/>
            <p:cNvSpPr>
              <a:spLocks noChangeShapeType="1"/>
            </p:cNvSpPr>
            <p:nvPr/>
          </p:nvSpPr>
          <p:spPr bwMode="auto">
            <a:xfrm>
              <a:off x="4080" y="1968"/>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Tree>
    <p:extLst>
      <p:ext uri="{BB962C8B-B14F-4D97-AF65-F5344CB8AC3E}">
        <p14:creationId xmlns:p14="http://schemas.microsoft.com/office/powerpoint/2010/main" val="2079041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up)">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up)">
                                      <p:cBhvr>
                                        <p:cTn id="1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7"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rPr>
              <a:t>删除归纳变量</a:t>
            </a:r>
          </a:p>
        </p:txBody>
      </p:sp>
      <p:sp>
        <p:nvSpPr>
          <p:cNvPr id="33795" name="Rectangle 3"/>
          <p:cNvSpPr>
            <a:spLocks noGrp="1" noChangeArrowheads="1"/>
          </p:cNvSpPr>
          <p:nvPr>
            <p:ph idx="1"/>
          </p:nvPr>
        </p:nvSpPr>
        <p:spPr/>
        <p:txBody>
          <a:bodyPr/>
          <a:lstStyle/>
          <a:p>
            <a:pPr eaLnBrk="1" hangingPunct="1"/>
            <a:r>
              <a:rPr lang="zh-CN" altLang="en-US" dirty="0">
                <a:latin typeface="微软雅黑" panose="020B0503020204020204" pitchFamily="34" charset="-122"/>
              </a:rPr>
              <a:t>如果循环中对变量</a:t>
            </a:r>
            <a:r>
              <a:rPr lang="en-US" altLang="zh-CN" dirty="0">
                <a:solidFill>
                  <a:srgbClr val="0000FF"/>
                </a:solidFill>
                <a:latin typeface="微软雅黑" panose="020B0503020204020204" pitchFamily="34" charset="-122"/>
              </a:rPr>
              <a:t>I</a:t>
            </a:r>
            <a:r>
              <a:rPr lang="zh-CN" altLang="en-US" dirty="0">
                <a:latin typeface="微软雅黑" panose="020B0503020204020204" pitchFamily="34" charset="-122"/>
              </a:rPr>
              <a:t>只有唯一的形如</a:t>
            </a:r>
            <a:r>
              <a:rPr lang="en-US" altLang="zh-CN" dirty="0">
                <a:solidFill>
                  <a:srgbClr val="0070C0"/>
                </a:solidFill>
                <a:latin typeface="微软雅黑" panose="020B0503020204020204" pitchFamily="34" charset="-122"/>
              </a:rPr>
              <a:t>I:=I</a:t>
            </a:r>
            <a:r>
              <a:rPr lang="en-US" altLang="zh-CN" dirty="0">
                <a:solidFill>
                  <a:srgbClr val="0070C0"/>
                </a:solidFill>
                <a:latin typeface="微软雅黑" panose="020B0503020204020204" pitchFamily="34" charset="-122"/>
                <a:sym typeface="Symbol" panose="05050102010706020507" pitchFamily="18" charset="2"/>
              </a:rPr>
              <a:t></a:t>
            </a:r>
            <a:r>
              <a:rPr lang="en-US" altLang="zh-CN" dirty="0">
                <a:solidFill>
                  <a:srgbClr val="0070C0"/>
                </a:solidFill>
                <a:latin typeface="微软雅黑" panose="020B0503020204020204" pitchFamily="34" charset="-122"/>
              </a:rPr>
              <a:t>C</a:t>
            </a:r>
            <a:r>
              <a:rPr lang="zh-CN" altLang="en-US" dirty="0">
                <a:latin typeface="微软雅黑" panose="020B0503020204020204" pitchFamily="34" charset="-122"/>
              </a:rPr>
              <a:t>的赋值，且其中</a:t>
            </a:r>
            <a:r>
              <a:rPr lang="en-US" altLang="zh-CN" dirty="0">
                <a:latin typeface="微软雅黑" panose="020B0503020204020204" pitchFamily="34" charset="-122"/>
              </a:rPr>
              <a:t>C</a:t>
            </a:r>
            <a:r>
              <a:rPr lang="zh-CN" altLang="en-US" dirty="0">
                <a:latin typeface="微软雅黑" panose="020B0503020204020204" pitchFamily="34" charset="-122"/>
              </a:rPr>
              <a:t>为循环不变量，则称</a:t>
            </a:r>
            <a:r>
              <a:rPr lang="en-US" altLang="zh-CN" dirty="0">
                <a:latin typeface="微软雅黑" panose="020B0503020204020204" pitchFamily="34" charset="-122"/>
              </a:rPr>
              <a:t>I</a:t>
            </a:r>
            <a:r>
              <a:rPr lang="zh-CN" altLang="en-US" dirty="0">
                <a:latin typeface="微软雅黑" panose="020B0503020204020204" pitchFamily="34" charset="-122"/>
              </a:rPr>
              <a:t>为循环中的</a:t>
            </a:r>
            <a:r>
              <a:rPr lang="zh-CN" altLang="en-US" dirty="0">
                <a:solidFill>
                  <a:srgbClr val="CC0000"/>
                </a:solidFill>
                <a:latin typeface="微软雅黑" panose="020B0503020204020204" pitchFamily="34" charset="-122"/>
              </a:rPr>
              <a:t>基本归纳变量</a:t>
            </a:r>
          </a:p>
          <a:p>
            <a:pPr eaLnBrk="1" hangingPunct="1"/>
            <a:r>
              <a:rPr lang="zh-CN" altLang="en-US" dirty="0">
                <a:latin typeface="微软雅黑" panose="020B0503020204020204" pitchFamily="34" charset="-122"/>
              </a:rPr>
              <a:t>如果</a:t>
            </a:r>
            <a:r>
              <a:rPr lang="en-US" altLang="zh-CN" dirty="0">
                <a:solidFill>
                  <a:srgbClr val="0070C0"/>
                </a:solidFill>
                <a:latin typeface="微软雅黑" panose="020B0503020204020204" pitchFamily="34" charset="-122"/>
              </a:rPr>
              <a:t>I</a:t>
            </a:r>
            <a:r>
              <a:rPr lang="zh-CN" altLang="en-US" dirty="0">
                <a:latin typeface="微软雅黑" panose="020B0503020204020204" pitchFamily="34" charset="-122"/>
              </a:rPr>
              <a:t>是循环中一基本归纳变量，</a:t>
            </a:r>
            <a:r>
              <a:rPr lang="en-US" altLang="zh-CN" dirty="0">
                <a:solidFill>
                  <a:srgbClr val="0070C0"/>
                </a:solidFill>
                <a:latin typeface="微软雅黑" panose="020B0503020204020204" pitchFamily="34" charset="-122"/>
              </a:rPr>
              <a:t>J</a:t>
            </a:r>
            <a:r>
              <a:rPr lang="zh-CN" altLang="en-US" dirty="0">
                <a:latin typeface="微软雅黑" panose="020B0503020204020204" pitchFamily="34" charset="-122"/>
              </a:rPr>
              <a:t>在循环中的定值总是可化归为</a:t>
            </a:r>
            <a:r>
              <a:rPr lang="en-US" altLang="zh-CN" dirty="0">
                <a:solidFill>
                  <a:srgbClr val="0000FF"/>
                </a:solidFill>
                <a:latin typeface="微软雅黑" panose="020B0503020204020204" pitchFamily="34" charset="-122"/>
              </a:rPr>
              <a:t>I</a:t>
            </a:r>
            <a:r>
              <a:rPr lang="zh-CN" altLang="en-US" dirty="0">
                <a:latin typeface="微软雅黑" panose="020B0503020204020204" pitchFamily="34" charset="-122"/>
              </a:rPr>
              <a:t>的同一线性函数，也即</a:t>
            </a:r>
            <a:r>
              <a:rPr lang="en-US" altLang="zh-CN" dirty="0">
                <a:solidFill>
                  <a:srgbClr val="0070C0"/>
                </a:solidFill>
                <a:latin typeface="微软雅黑" panose="020B0503020204020204" pitchFamily="34" charset="-122"/>
              </a:rPr>
              <a:t>J=C</a:t>
            </a:r>
            <a:r>
              <a:rPr lang="en-US" altLang="zh-CN" baseline="-25000" dirty="0">
                <a:solidFill>
                  <a:srgbClr val="0070C0"/>
                </a:solidFill>
                <a:latin typeface="微软雅黑" panose="020B0503020204020204" pitchFamily="34" charset="-122"/>
              </a:rPr>
              <a:t>1</a:t>
            </a:r>
            <a:r>
              <a:rPr lang="en-US" altLang="zh-CN" dirty="0">
                <a:solidFill>
                  <a:srgbClr val="0070C0"/>
                </a:solidFill>
                <a:latin typeface="微软雅黑" panose="020B0503020204020204" pitchFamily="34" charset="-122"/>
              </a:rPr>
              <a:t>*I </a:t>
            </a:r>
            <a:r>
              <a:rPr lang="en-US" altLang="zh-CN" dirty="0">
                <a:solidFill>
                  <a:srgbClr val="0070C0"/>
                </a:solidFill>
                <a:latin typeface="微软雅黑" panose="020B0503020204020204" pitchFamily="34" charset="-122"/>
                <a:sym typeface="Symbol" panose="05050102010706020507" pitchFamily="18" charset="2"/>
              </a:rPr>
              <a:t> </a:t>
            </a:r>
            <a:r>
              <a:rPr lang="en-US" altLang="zh-CN" dirty="0">
                <a:solidFill>
                  <a:srgbClr val="0070C0"/>
                </a:solidFill>
                <a:latin typeface="微软雅黑" panose="020B0503020204020204" pitchFamily="34" charset="-122"/>
              </a:rPr>
              <a:t>C</a:t>
            </a:r>
            <a:r>
              <a:rPr lang="en-US" altLang="zh-CN" baseline="-25000" dirty="0">
                <a:solidFill>
                  <a:srgbClr val="0070C0"/>
                </a:solidFill>
                <a:latin typeface="微软雅黑" panose="020B0503020204020204" pitchFamily="34" charset="-122"/>
              </a:rPr>
              <a:t>2</a:t>
            </a:r>
            <a:r>
              <a:rPr lang="en-US" altLang="zh-CN" dirty="0">
                <a:latin typeface="微软雅黑" panose="020B0503020204020204" pitchFamily="34" charset="-122"/>
              </a:rPr>
              <a:t>，</a:t>
            </a:r>
            <a:r>
              <a:rPr lang="zh-CN" altLang="en-US" dirty="0">
                <a:latin typeface="微软雅黑" panose="020B0503020204020204" pitchFamily="34" charset="-122"/>
              </a:rPr>
              <a:t>其中</a:t>
            </a:r>
            <a:r>
              <a:rPr lang="en-US" altLang="zh-CN" dirty="0">
                <a:latin typeface="微软雅黑" panose="020B0503020204020204" pitchFamily="34" charset="-122"/>
              </a:rPr>
              <a:t>C</a:t>
            </a:r>
            <a:r>
              <a:rPr lang="en-US" altLang="zh-CN" baseline="-25000" dirty="0">
                <a:latin typeface="微软雅黑" panose="020B0503020204020204" pitchFamily="34" charset="-122"/>
              </a:rPr>
              <a:t>1</a:t>
            </a:r>
            <a:r>
              <a:rPr lang="zh-CN" altLang="en-US" dirty="0">
                <a:latin typeface="微软雅黑" panose="020B0503020204020204" pitchFamily="34" charset="-122"/>
              </a:rPr>
              <a:t>和</a:t>
            </a:r>
            <a:r>
              <a:rPr lang="en-US" altLang="zh-CN" dirty="0">
                <a:latin typeface="微软雅黑" panose="020B0503020204020204" pitchFamily="34" charset="-122"/>
              </a:rPr>
              <a:t>C</a:t>
            </a:r>
            <a:r>
              <a:rPr lang="en-US" altLang="zh-CN" baseline="-25000" dirty="0">
                <a:latin typeface="微软雅黑" panose="020B0503020204020204" pitchFamily="34" charset="-122"/>
              </a:rPr>
              <a:t>2</a:t>
            </a:r>
            <a:r>
              <a:rPr lang="zh-CN" altLang="en-US" dirty="0">
                <a:latin typeface="微软雅黑" panose="020B0503020204020204" pitchFamily="34" charset="-122"/>
              </a:rPr>
              <a:t>都是循环不变量，则称</a:t>
            </a:r>
            <a:r>
              <a:rPr lang="en-US" altLang="zh-CN" dirty="0">
                <a:solidFill>
                  <a:srgbClr val="0070C0"/>
                </a:solidFill>
                <a:latin typeface="微软雅黑" panose="020B0503020204020204" pitchFamily="34" charset="-122"/>
              </a:rPr>
              <a:t>J</a:t>
            </a:r>
            <a:r>
              <a:rPr lang="zh-CN" altLang="en-US" dirty="0">
                <a:latin typeface="微软雅黑" panose="020B0503020204020204" pitchFamily="34" charset="-122"/>
              </a:rPr>
              <a:t>是</a:t>
            </a:r>
            <a:r>
              <a:rPr lang="zh-CN" altLang="en-US" dirty="0">
                <a:solidFill>
                  <a:srgbClr val="CC0000"/>
                </a:solidFill>
                <a:latin typeface="微软雅黑" panose="020B0503020204020204" pitchFamily="34" charset="-122"/>
              </a:rPr>
              <a:t>归纳变量</a:t>
            </a:r>
            <a:r>
              <a:rPr lang="zh-CN" altLang="en-US" dirty="0">
                <a:latin typeface="微软雅黑" panose="020B0503020204020204" pitchFamily="34" charset="-122"/>
              </a:rPr>
              <a:t>，并称它与</a:t>
            </a:r>
            <a:r>
              <a:rPr lang="en-US" altLang="zh-CN" dirty="0">
                <a:solidFill>
                  <a:srgbClr val="0070C0"/>
                </a:solidFill>
                <a:latin typeface="微软雅黑" panose="020B0503020204020204" pitchFamily="34" charset="-122"/>
              </a:rPr>
              <a:t>I</a:t>
            </a:r>
            <a:r>
              <a:rPr lang="zh-CN" altLang="en-US" dirty="0">
                <a:latin typeface="微软雅黑" panose="020B0503020204020204" pitchFamily="34" charset="-122"/>
              </a:rPr>
              <a:t>同族。基本归纳变量也是归纳变量。</a:t>
            </a:r>
          </a:p>
        </p:txBody>
      </p:sp>
    </p:spTree>
    <p:extLst>
      <p:ext uri="{BB962C8B-B14F-4D97-AF65-F5344CB8AC3E}">
        <p14:creationId xmlns:p14="http://schemas.microsoft.com/office/powerpoint/2010/main" val="519037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left)">
                                      <p:cBhvr>
                                        <p:cTn id="7" dur="500"/>
                                        <p:tgtEl>
                                          <p:spTgt spid="33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wipe(left)">
                                      <p:cBhvr>
                                        <p:cTn id="12" dur="500"/>
                                        <p:tgtEl>
                                          <p:spTgt spid="337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 name="文本框 37"/>
          <p:cNvSpPr txBox="1"/>
          <p:nvPr/>
        </p:nvSpPr>
        <p:spPr>
          <a:xfrm>
            <a:off x="7056225" y="944959"/>
            <a:ext cx="3023870" cy="5669756"/>
          </a:xfrm>
          <a:prstGeom prst="rect">
            <a:avLst/>
          </a:prstGeom>
          <a:noFill/>
        </p:spPr>
        <p:txBody>
          <a:bodyPr wrap="square" rtlCol="0">
            <a:noAutofit/>
          </a:bodyPr>
          <a:lstStyle/>
          <a:p>
            <a:pPr defTabSz="503972" rtl="0" fontAlgn="auto" hangingPunct="1">
              <a:lnSpc>
                <a:spcPct val="100000"/>
              </a:lnSpc>
              <a:spcBef>
                <a:spcPts val="0"/>
              </a:spcBef>
              <a:spcAft>
                <a:spcPts val="0"/>
              </a:spcAft>
              <a:buSzTx/>
            </a:pPr>
            <a:endParaRPr lang="en-US" altLang="zh-CN" sz="2646" dirty="0">
              <a:solidFill>
                <a:srgbClr val="C00000"/>
              </a:solidFill>
              <a:latin typeface="Arial" panose="020B0604020202020204"/>
              <a:ea typeface="黑体" panose="02010609060101010101" pitchFamily="49" charset="-122"/>
            </a:endParaRPr>
          </a:p>
        </p:txBody>
      </p:sp>
      <p:grpSp>
        <p:nvGrpSpPr>
          <p:cNvPr id="36" name="Group 18"/>
          <p:cNvGrpSpPr>
            <a:grpSpLocks/>
          </p:cNvGrpSpPr>
          <p:nvPr/>
        </p:nvGrpSpPr>
        <p:grpSpPr bwMode="auto">
          <a:xfrm>
            <a:off x="265443" y="-1"/>
            <a:ext cx="4115823" cy="7475679"/>
            <a:chOff x="2976" y="-48"/>
            <a:chExt cx="2352" cy="4272"/>
          </a:xfrm>
        </p:grpSpPr>
        <p:sp>
          <p:nvSpPr>
            <p:cNvPr id="37" name="Rectangle 19"/>
            <p:cNvSpPr>
              <a:spLocks noChangeArrowheads="1"/>
            </p:cNvSpPr>
            <p:nvPr/>
          </p:nvSpPr>
          <p:spPr bwMode="auto">
            <a:xfrm>
              <a:off x="3163" y="14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39" name="Rectangle 20"/>
            <p:cNvSpPr>
              <a:spLocks noChangeArrowheads="1"/>
            </p:cNvSpPr>
            <p:nvPr/>
          </p:nvSpPr>
          <p:spPr bwMode="auto">
            <a:xfrm>
              <a:off x="3168" y="211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(2) </a:t>
              </a:r>
              <a:r>
                <a:rPr kumimoji="1" lang="en-US" altLang="zh-CN" sz="2646" dirty="0">
                  <a:solidFill>
                    <a:srgbClr val="C00000"/>
                  </a:solidFill>
                  <a:latin typeface="Arial" panose="020B0604020202020204"/>
                  <a:ea typeface="宋体" panose="02010600030101010101" pitchFamily="2" charset="-122"/>
                </a:rPr>
                <a:t>if  I&gt;10 </a:t>
              </a:r>
              <a:r>
                <a:rPr kumimoji="1" lang="en-US" altLang="zh-CN" sz="2646" dirty="0" err="1">
                  <a:solidFill>
                    <a:srgbClr val="C00000"/>
                  </a:solidFill>
                  <a:latin typeface="Arial" panose="020B0604020202020204"/>
                  <a:ea typeface="宋体" panose="02010600030101010101" pitchFamily="2" charset="-122"/>
                </a:rPr>
                <a:t>goto</a:t>
              </a:r>
              <a:r>
                <a:rPr kumimoji="1" lang="en-US" altLang="zh-CN" sz="2646" dirty="0">
                  <a:solidFill>
                    <a:srgbClr val="C00000"/>
                  </a:solidFill>
                  <a:latin typeface="Arial" panose="020B0604020202020204"/>
                  <a:ea typeface="宋体" panose="02010600030101010101" pitchFamily="2" charset="-122"/>
                </a:rPr>
                <a:t> (15)</a:t>
              </a:r>
            </a:p>
          </p:txBody>
        </p:sp>
        <p:sp>
          <p:nvSpPr>
            <p:cNvPr id="40" name="Rectangle 21"/>
            <p:cNvSpPr>
              <a:spLocks noChangeArrowheads="1"/>
            </p:cNvSpPr>
            <p:nvPr/>
          </p:nvSpPr>
          <p:spPr bwMode="auto">
            <a:xfrm>
              <a:off x="3168" y="2496"/>
              <a:ext cx="1829" cy="134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70000"/>
                </a:lnSpc>
                <a:spcBef>
                  <a:spcPct val="0"/>
                </a:spcBef>
                <a:spcAft>
                  <a:spcPts val="0"/>
                </a:spcAft>
                <a:buClrTx/>
                <a:buSzTx/>
                <a:buNone/>
              </a:pPr>
              <a:r>
                <a:rPr kumimoji="1" lang="zh-CN" altLang="zh-CN" sz="2646" dirty="0">
                  <a:solidFill>
                    <a:prstClr val="black"/>
                  </a:solidFill>
                  <a:latin typeface="Arial" panose="020B0604020202020204"/>
                  <a:ea typeface="宋体" panose="02010600030101010101" pitchFamily="2" charset="-122"/>
                </a:rPr>
                <a:t>(11)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7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7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(13)   I:=I+1 </a:t>
              </a:r>
            </a:p>
            <a:p>
              <a:pPr defTabSz="503972" rtl="0" fontAlgn="auto" hangingPunct="1">
                <a:lnSpc>
                  <a:spcPct val="7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(4</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2</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2</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(8’)    T</a:t>
              </a:r>
              <a:r>
                <a:rPr kumimoji="1" lang="en-US" altLang="zh-CN" sz="2646" baseline="-25000" dirty="0">
                  <a:solidFill>
                    <a:srgbClr val="C00000"/>
                  </a:solidFill>
                  <a:latin typeface="Arial" panose="020B0604020202020204"/>
                  <a:ea typeface="宋体" panose="02010600030101010101" pitchFamily="2" charset="-122"/>
                </a:rPr>
                <a:t>6</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6</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(5</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(9</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7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41" name="Rectangle 22"/>
            <p:cNvSpPr>
              <a:spLocks noChangeArrowheads="1"/>
            </p:cNvSpPr>
            <p:nvPr/>
          </p:nvSpPr>
          <p:spPr bwMode="auto">
            <a:xfrm>
              <a:off x="4992" y="2640"/>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42" name="Rectangle 23"/>
            <p:cNvSpPr>
              <a:spLocks noChangeArrowheads="1"/>
            </p:cNvSpPr>
            <p:nvPr/>
          </p:nvSpPr>
          <p:spPr bwMode="auto">
            <a:xfrm>
              <a:off x="4992" y="20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43" name="Rectangle 24"/>
            <p:cNvSpPr>
              <a:spLocks noChangeArrowheads="1"/>
            </p:cNvSpPr>
            <p:nvPr/>
          </p:nvSpPr>
          <p:spPr bwMode="auto">
            <a:xfrm>
              <a:off x="4992" y="9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44" name="Line 25"/>
            <p:cNvSpPr>
              <a:spLocks noChangeShapeType="1"/>
            </p:cNvSpPr>
            <p:nvPr/>
          </p:nvSpPr>
          <p:spPr bwMode="auto">
            <a:xfrm>
              <a:off x="4080" y="-48"/>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5" name="Line 26"/>
            <p:cNvSpPr>
              <a:spLocks noChangeShapeType="1"/>
            </p:cNvSpPr>
            <p:nvPr/>
          </p:nvSpPr>
          <p:spPr bwMode="auto">
            <a:xfrm>
              <a:off x="4080" y="235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6" name="Freeform 27"/>
            <p:cNvSpPr>
              <a:spLocks/>
            </p:cNvSpPr>
            <p:nvPr/>
          </p:nvSpPr>
          <p:spPr bwMode="auto">
            <a:xfrm>
              <a:off x="2976" y="2016"/>
              <a:ext cx="635" cy="1920"/>
            </a:xfrm>
            <a:custGeom>
              <a:avLst/>
              <a:gdLst>
                <a:gd name="T0" fmla="*/ 170 w 816"/>
                <a:gd name="T1" fmla="*/ 98 h 3456"/>
                <a:gd name="T2" fmla="*/ 170 w 816"/>
                <a:gd name="T3" fmla="*/ 102 h 3456"/>
                <a:gd name="T4" fmla="*/ 0 w 816"/>
                <a:gd name="T5" fmla="*/ 102 h 3456"/>
                <a:gd name="T6" fmla="*/ 0 w 816"/>
                <a:gd name="T7" fmla="*/ 0 h 3456"/>
                <a:gd name="T8" fmla="*/ 181 w 816"/>
                <a:gd name="T9" fmla="*/ 0 h 3456"/>
                <a:gd name="T10" fmla="*/ 181 w 816"/>
                <a:gd name="T11" fmla="*/ 6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47" name="Rectangle 28"/>
            <p:cNvSpPr>
              <a:spLocks noChangeArrowheads="1"/>
            </p:cNvSpPr>
            <p:nvPr/>
          </p:nvSpPr>
          <p:spPr bwMode="auto">
            <a:xfrm>
              <a:off x="3163" y="398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48" name="Rectangle 29"/>
            <p:cNvSpPr>
              <a:spLocks noChangeArrowheads="1"/>
            </p:cNvSpPr>
            <p:nvPr/>
          </p:nvSpPr>
          <p:spPr bwMode="auto">
            <a:xfrm>
              <a:off x="3168" y="528"/>
              <a:ext cx="1829" cy="14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75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(3)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1</a:t>
              </a:r>
              <a:r>
                <a:rPr kumimoji="1" lang="en-US" altLang="zh-CN" sz="2646">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(6)     T</a:t>
              </a:r>
              <a:r>
                <a:rPr kumimoji="1" lang="en-US" altLang="zh-CN" sz="2646" baseline="-25000">
                  <a:solidFill>
                    <a:prstClr val="black"/>
                  </a:solidFill>
                  <a:latin typeface="Arial" panose="020B0604020202020204"/>
                  <a:ea typeface="宋体" panose="02010600030101010101" pitchFamily="2" charset="-122"/>
                </a:rPr>
                <a:t>4</a:t>
              </a:r>
              <a:r>
                <a:rPr kumimoji="1" lang="en-US" altLang="zh-CN" sz="2646">
                  <a:solidFill>
                    <a:prstClr val="black"/>
                  </a:solidFill>
                  <a:latin typeface="Arial" panose="020B0604020202020204"/>
                  <a:ea typeface="宋体" panose="02010600030101010101" pitchFamily="2" charset="-122"/>
                </a:rPr>
                <a:t>=addr(A)-11</a:t>
              </a:r>
            </a:p>
            <a:p>
              <a:pPr defTabSz="503972" rtl="0" fontAlgn="auto" hangingPunct="1">
                <a:lnSpc>
                  <a:spcPct val="75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(7)     T</a:t>
              </a:r>
              <a:r>
                <a:rPr kumimoji="1" lang="en-US" altLang="zh-CN" sz="2646" baseline="-25000">
                  <a:solidFill>
                    <a:prstClr val="black"/>
                  </a:solidFill>
                  <a:latin typeface="Arial" panose="020B0604020202020204"/>
                  <a:ea typeface="宋体" panose="02010600030101010101" pitchFamily="2" charset="-122"/>
                </a:rPr>
                <a:t>5</a:t>
              </a:r>
              <a:r>
                <a:rPr kumimoji="1" lang="en-US" altLang="zh-CN" sz="2646">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(10)   T</a:t>
              </a:r>
              <a:r>
                <a:rPr kumimoji="1" lang="en-US" altLang="zh-CN" sz="2646" baseline="-25000">
                  <a:solidFill>
                    <a:prstClr val="black"/>
                  </a:solidFill>
                  <a:latin typeface="Arial" panose="020B0604020202020204"/>
                  <a:ea typeface="宋体" panose="02010600030101010101" pitchFamily="2" charset="-122"/>
                </a:rPr>
                <a:t>8</a:t>
              </a:r>
              <a:r>
                <a:rPr kumimoji="1" lang="en-US" altLang="zh-CN" sz="2646">
                  <a:solidFill>
                    <a:prstClr val="black"/>
                  </a:solidFill>
                  <a:latin typeface="Arial" panose="020B0604020202020204"/>
                  <a:ea typeface="宋体" panose="02010600030101010101" pitchFamily="2" charset="-122"/>
                </a:rPr>
                <a:t>=addr(A)-11</a:t>
              </a:r>
            </a:p>
            <a:p>
              <a:pPr defTabSz="503972" rtl="0" fontAlgn="auto" hangingPunct="1">
                <a:lnSpc>
                  <a:spcPct val="75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(4)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2</a:t>
              </a:r>
              <a:r>
                <a:rPr kumimoji="1" lang="en-US" altLang="zh-CN" sz="2646">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(8)     T</a:t>
              </a:r>
              <a:r>
                <a:rPr kumimoji="1" lang="en-US" altLang="zh-CN" sz="2646" baseline="-25000">
                  <a:solidFill>
                    <a:prstClr val="black"/>
                  </a:solidFill>
                  <a:latin typeface="Arial" panose="020B0604020202020204"/>
                  <a:ea typeface="宋体" panose="02010600030101010101" pitchFamily="2" charset="-122"/>
                </a:rPr>
                <a:t>6</a:t>
              </a:r>
              <a:r>
                <a:rPr kumimoji="1" lang="en-US" altLang="zh-CN" sz="2646">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(5)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3</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2</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1</a:t>
              </a:r>
              <a:endParaRPr kumimoji="1" lang="en-US" altLang="zh-CN" sz="2646">
                <a:solidFill>
                  <a:prstClr val="black"/>
                </a:solidFill>
                <a:latin typeface="Arial" panose="020B0604020202020204"/>
                <a:ea typeface="宋体" panose="02010600030101010101" pitchFamily="2" charset="-122"/>
              </a:endParaRPr>
            </a:p>
            <a:p>
              <a:pPr defTabSz="503972" rtl="0" fontAlgn="auto" hangingPunct="1">
                <a:lnSpc>
                  <a:spcPct val="75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(9)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7</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6</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5</a:t>
              </a:r>
              <a:endParaRPr kumimoji="1" lang="en-US" altLang="zh-CN" sz="2646">
                <a:solidFill>
                  <a:prstClr val="black"/>
                </a:solidFill>
                <a:latin typeface="Arial" panose="020B0604020202020204"/>
                <a:ea typeface="宋体" panose="02010600030101010101" pitchFamily="2" charset="-122"/>
              </a:endParaRPr>
            </a:p>
          </p:txBody>
        </p:sp>
        <p:sp>
          <p:nvSpPr>
            <p:cNvPr id="49" name="Line 30"/>
            <p:cNvSpPr>
              <a:spLocks noChangeShapeType="1"/>
            </p:cNvSpPr>
            <p:nvPr/>
          </p:nvSpPr>
          <p:spPr bwMode="auto">
            <a:xfrm>
              <a:off x="4080" y="38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0" name="Rectangle 31"/>
            <p:cNvSpPr>
              <a:spLocks noChangeArrowheads="1"/>
            </p:cNvSpPr>
            <p:nvPr/>
          </p:nvSpPr>
          <p:spPr bwMode="auto">
            <a:xfrm>
              <a:off x="5040" y="8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51" name="Freeform 32"/>
            <p:cNvSpPr>
              <a:spLocks/>
            </p:cNvSpPr>
            <p:nvPr/>
          </p:nvSpPr>
          <p:spPr bwMode="auto">
            <a:xfrm>
              <a:off x="4224" y="2160"/>
              <a:ext cx="1104" cy="1824"/>
            </a:xfrm>
            <a:custGeom>
              <a:avLst/>
              <a:gdLst>
                <a:gd name="T0" fmla="*/ 1008 w 1104"/>
                <a:gd name="T1" fmla="*/ 0 h 2256"/>
                <a:gd name="T2" fmla="*/ 1104 w 1104"/>
                <a:gd name="T3" fmla="*/ 0 h 2256"/>
                <a:gd name="T4" fmla="*/ 1104 w 1104"/>
                <a:gd name="T5" fmla="*/ 590 h 2256"/>
                <a:gd name="T6" fmla="*/ 0 w 1104"/>
                <a:gd name="T7" fmla="*/ 590 h 2256"/>
                <a:gd name="T8" fmla="*/ 0 w 1104"/>
                <a:gd name="T9" fmla="*/ 631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52" name="Line 33"/>
            <p:cNvSpPr>
              <a:spLocks noChangeShapeType="1"/>
            </p:cNvSpPr>
            <p:nvPr/>
          </p:nvSpPr>
          <p:spPr bwMode="auto">
            <a:xfrm>
              <a:off x="4080" y="1968"/>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grpSp>
        <p:nvGrpSpPr>
          <p:cNvPr id="53" name="Group 18"/>
          <p:cNvGrpSpPr>
            <a:grpSpLocks/>
          </p:cNvGrpSpPr>
          <p:nvPr/>
        </p:nvGrpSpPr>
        <p:grpSpPr bwMode="auto">
          <a:xfrm>
            <a:off x="4860407" y="-1"/>
            <a:ext cx="4115823" cy="7475679"/>
            <a:chOff x="2976" y="-48"/>
            <a:chExt cx="2352" cy="4272"/>
          </a:xfrm>
        </p:grpSpPr>
        <p:sp>
          <p:nvSpPr>
            <p:cNvPr id="54" name="Rectangle 19"/>
            <p:cNvSpPr>
              <a:spLocks noChangeArrowheads="1"/>
            </p:cNvSpPr>
            <p:nvPr/>
          </p:nvSpPr>
          <p:spPr bwMode="auto">
            <a:xfrm>
              <a:off x="3163" y="14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55" name="Rectangle 20"/>
            <p:cNvSpPr>
              <a:spLocks noChangeArrowheads="1"/>
            </p:cNvSpPr>
            <p:nvPr/>
          </p:nvSpPr>
          <p:spPr bwMode="auto">
            <a:xfrm>
              <a:off x="3168" y="211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(2) </a:t>
              </a:r>
              <a:r>
                <a:rPr kumimoji="1" lang="en-US" altLang="zh-CN" sz="2646" dirty="0">
                  <a:solidFill>
                    <a:srgbClr val="C00000"/>
                  </a:solidFill>
                  <a:latin typeface="Arial" panose="020B0604020202020204"/>
                  <a:ea typeface="宋体" panose="02010600030101010101" pitchFamily="2" charset="-122"/>
                </a:rPr>
                <a:t>if  I&gt;10 </a:t>
              </a:r>
              <a:r>
                <a:rPr kumimoji="1" lang="en-US" altLang="zh-CN" sz="2646" dirty="0" err="1">
                  <a:solidFill>
                    <a:srgbClr val="C00000"/>
                  </a:solidFill>
                  <a:latin typeface="Arial" panose="020B0604020202020204"/>
                  <a:ea typeface="宋体" panose="02010600030101010101" pitchFamily="2" charset="-122"/>
                </a:rPr>
                <a:t>goto</a:t>
              </a:r>
              <a:r>
                <a:rPr kumimoji="1" lang="en-US" altLang="zh-CN" sz="2646" dirty="0">
                  <a:solidFill>
                    <a:srgbClr val="C00000"/>
                  </a:solidFill>
                  <a:latin typeface="Arial" panose="020B0604020202020204"/>
                  <a:ea typeface="宋体" panose="02010600030101010101" pitchFamily="2" charset="-122"/>
                </a:rPr>
                <a:t> (15)</a:t>
              </a:r>
            </a:p>
          </p:txBody>
        </p:sp>
        <p:sp>
          <p:nvSpPr>
            <p:cNvPr id="56" name="Rectangle 21"/>
            <p:cNvSpPr>
              <a:spLocks noChangeArrowheads="1"/>
            </p:cNvSpPr>
            <p:nvPr/>
          </p:nvSpPr>
          <p:spPr bwMode="auto">
            <a:xfrm>
              <a:off x="3168" y="2496"/>
              <a:ext cx="1829" cy="134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80000"/>
                </a:lnSpc>
                <a:spcBef>
                  <a:spcPct val="0"/>
                </a:spcBef>
                <a:spcAft>
                  <a:spcPts val="0"/>
                </a:spcAft>
                <a:buClrTx/>
                <a:buSzTx/>
                <a:buNone/>
              </a:pPr>
              <a:r>
                <a:rPr kumimoji="1" lang="zh-CN" altLang="zh-CN" sz="2646" dirty="0">
                  <a:solidFill>
                    <a:prstClr val="black"/>
                  </a:solidFill>
                  <a:latin typeface="Arial" panose="020B0604020202020204"/>
                  <a:ea typeface="宋体" panose="02010600030101010101" pitchFamily="2" charset="-122"/>
                </a:rPr>
                <a:t>(11)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8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(13)   I:=I+1 </a:t>
              </a:r>
            </a:p>
            <a:p>
              <a:pPr defTabSz="503972" rtl="0" fontAlgn="auto" hangingPunct="1">
                <a:lnSpc>
                  <a:spcPct val="8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(5</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8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(9</a:t>
              </a:r>
              <a:r>
                <a:rPr kumimoji="1" lang="en-US" altLang="zh-CN" sz="2646" dirty="0">
                  <a:solidFill>
                    <a:srgbClr val="C00000"/>
                  </a:solidFill>
                  <a:latin typeface="Arial" panose="020B0604020202020204"/>
                  <a:ea typeface="宋体" panose="02010600030101010101" pitchFamily="2" charset="-122"/>
                </a:rPr>
                <a:t>’</a:t>
              </a:r>
              <a:r>
                <a:rPr kumimoji="1" lang="zh-CN" altLang="en-US" sz="2646" dirty="0">
                  <a:solidFill>
                    <a:srgbClr val="C00000"/>
                  </a:solidFill>
                  <a:latin typeface="Arial" panose="020B0604020202020204"/>
                  <a:ea typeface="宋体" panose="02010600030101010101" pitchFamily="2" charset="-122"/>
                </a:rPr>
                <a:t>)    </a:t>
              </a:r>
              <a:r>
                <a:rPr kumimoji="1" lang="en-US" altLang="zh-CN" sz="2646" dirty="0">
                  <a:solidFill>
                    <a:srgbClr val="C00000"/>
                  </a:solidFill>
                  <a:latin typeface="Arial" panose="020B0604020202020204"/>
                  <a:ea typeface="宋体" panose="02010600030101010101" pitchFamily="2" charset="-122"/>
                </a:rPr>
                <a:t>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T</a:t>
              </a:r>
              <a:r>
                <a:rPr kumimoji="1" lang="en-US" altLang="zh-CN" sz="2646" baseline="-25000" dirty="0">
                  <a:solidFill>
                    <a:srgbClr val="C00000"/>
                  </a:solidFill>
                  <a:latin typeface="Arial" panose="020B0604020202020204"/>
                  <a:ea typeface="宋体" panose="02010600030101010101" pitchFamily="2" charset="-122"/>
                </a:rPr>
                <a:t>7</a:t>
              </a:r>
              <a:r>
                <a:rPr kumimoji="1" lang="en-US" altLang="zh-CN" sz="2646" dirty="0">
                  <a:solidFill>
                    <a:srgbClr val="C00000"/>
                  </a:solidFill>
                  <a:latin typeface="Arial" panose="020B0604020202020204"/>
                  <a:ea typeface="宋体" panose="02010600030101010101" pitchFamily="2" charset="-122"/>
                </a:rPr>
                <a:t>+ 10</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57" name="Rectangle 22"/>
            <p:cNvSpPr>
              <a:spLocks noChangeArrowheads="1"/>
            </p:cNvSpPr>
            <p:nvPr/>
          </p:nvSpPr>
          <p:spPr bwMode="auto">
            <a:xfrm>
              <a:off x="4992" y="2640"/>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58" name="Rectangle 23"/>
            <p:cNvSpPr>
              <a:spLocks noChangeArrowheads="1"/>
            </p:cNvSpPr>
            <p:nvPr/>
          </p:nvSpPr>
          <p:spPr bwMode="auto">
            <a:xfrm>
              <a:off x="4992" y="20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59" name="Rectangle 24"/>
            <p:cNvSpPr>
              <a:spLocks noChangeArrowheads="1"/>
            </p:cNvSpPr>
            <p:nvPr/>
          </p:nvSpPr>
          <p:spPr bwMode="auto">
            <a:xfrm>
              <a:off x="4992" y="9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60" name="Line 25"/>
            <p:cNvSpPr>
              <a:spLocks noChangeShapeType="1"/>
            </p:cNvSpPr>
            <p:nvPr/>
          </p:nvSpPr>
          <p:spPr bwMode="auto">
            <a:xfrm>
              <a:off x="4080" y="-48"/>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1" name="Line 26"/>
            <p:cNvSpPr>
              <a:spLocks noChangeShapeType="1"/>
            </p:cNvSpPr>
            <p:nvPr/>
          </p:nvSpPr>
          <p:spPr bwMode="auto">
            <a:xfrm>
              <a:off x="4080" y="235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2" name="Freeform 27"/>
            <p:cNvSpPr>
              <a:spLocks/>
            </p:cNvSpPr>
            <p:nvPr/>
          </p:nvSpPr>
          <p:spPr bwMode="auto">
            <a:xfrm>
              <a:off x="2976" y="2016"/>
              <a:ext cx="635" cy="1920"/>
            </a:xfrm>
            <a:custGeom>
              <a:avLst/>
              <a:gdLst>
                <a:gd name="T0" fmla="*/ 170 w 816"/>
                <a:gd name="T1" fmla="*/ 98 h 3456"/>
                <a:gd name="T2" fmla="*/ 170 w 816"/>
                <a:gd name="T3" fmla="*/ 102 h 3456"/>
                <a:gd name="T4" fmla="*/ 0 w 816"/>
                <a:gd name="T5" fmla="*/ 102 h 3456"/>
                <a:gd name="T6" fmla="*/ 0 w 816"/>
                <a:gd name="T7" fmla="*/ 0 h 3456"/>
                <a:gd name="T8" fmla="*/ 181 w 816"/>
                <a:gd name="T9" fmla="*/ 0 h 3456"/>
                <a:gd name="T10" fmla="*/ 181 w 816"/>
                <a:gd name="T11" fmla="*/ 6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3" name="Rectangle 28"/>
            <p:cNvSpPr>
              <a:spLocks noChangeArrowheads="1"/>
            </p:cNvSpPr>
            <p:nvPr/>
          </p:nvSpPr>
          <p:spPr bwMode="auto">
            <a:xfrm>
              <a:off x="3163" y="398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64" name="Rectangle 29"/>
            <p:cNvSpPr>
              <a:spLocks noChangeArrowheads="1"/>
            </p:cNvSpPr>
            <p:nvPr/>
          </p:nvSpPr>
          <p:spPr bwMode="auto">
            <a:xfrm>
              <a:off x="3168" y="528"/>
              <a:ext cx="1829" cy="14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1</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T</a:t>
              </a:r>
              <a:r>
                <a:rPr kumimoji="1" lang="en-US" altLang="zh-CN" sz="2646" baseline="-25000"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(10)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1</a:t>
              </a:r>
              <a:endParaRPr kumimoji="1" lang="en-US" altLang="zh-CN" sz="2646" dirty="0">
                <a:solidFill>
                  <a:prstClr val="black"/>
                </a:solidFill>
                <a:latin typeface="Arial" panose="020B0604020202020204"/>
                <a:ea typeface="宋体" panose="02010600030101010101" pitchFamily="2" charset="-122"/>
              </a:endParaRPr>
            </a:p>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5</a:t>
              </a:r>
              <a:endParaRPr kumimoji="1" lang="en-US" altLang="zh-CN" sz="2646" dirty="0">
                <a:solidFill>
                  <a:prstClr val="black"/>
                </a:solidFill>
                <a:latin typeface="Arial" panose="020B0604020202020204"/>
                <a:ea typeface="宋体" panose="02010600030101010101" pitchFamily="2" charset="-122"/>
              </a:endParaRPr>
            </a:p>
          </p:txBody>
        </p:sp>
        <p:sp>
          <p:nvSpPr>
            <p:cNvPr id="65" name="Line 30"/>
            <p:cNvSpPr>
              <a:spLocks noChangeShapeType="1"/>
            </p:cNvSpPr>
            <p:nvPr/>
          </p:nvSpPr>
          <p:spPr bwMode="auto">
            <a:xfrm>
              <a:off x="4080" y="38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6" name="Rectangle 31"/>
            <p:cNvSpPr>
              <a:spLocks noChangeArrowheads="1"/>
            </p:cNvSpPr>
            <p:nvPr/>
          </p:nvSpPr>
          <p:spPr bwMode="auto">
            <a:xfrm>
              <a:off x="5040" y="8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67" name="Freeform 32"/>
            <p:cNvSpPr>
              <a:spLocks/>
            </p:cNvSpPr>
            <p:nvPr/>
          </p:nvSpPr>
          <p:spPr bwMode="auto">
            <a:xfrm>
              <a:off x="4224" y="2160"/>
              <a:ext cx="1104" cy="1824"/>
            </a:xfrm>
            <a:custGeom>
              <a:avLst/>
              <a:gdLst>
                <a:gd name="T0" fmla="*/ 1008 w 1104"/>
                <a:gd name="T1" fmla="*/ 0 h 2256"/>
                <a:gd name="T2" fmla="*/ 1104 w 1104"/>
                <a:gd name="T3" fmla="*/ 0 h 2256"/>
                <a:gd name="T4" fmla="*/ 1104 w 1104"/>
                <a:gd name="T5" fmla="*/ 590 h 2256"/>
                <a:gd name="T6" fmla="*/ 0 w 1104"/>
                <a:gd name="T7" fmla="*/ 590 h 2256"/>
                <a:gd name="T8" fmla="*/ 0 w 1104"/>
                <a:gd name="T9" fmla="*/ 631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8" name="Line 33"/>
            <p:cNvSpPr>
              <a:spLocks noChangeShapeType="1"/>
            </p:cNvSpPr>
            <p:nvPr/>
          </p:nvSpPr>
          <p:spPr bwMode="auto">
            <a:xfrm>
              <a:off x="4080" y="1968"/>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Tree>
    <p:extLst>
      <p:ext uri="{BB962C8B-B14F-4D97-AF65-F5344CB8AC3E}">
        <p14:creationId xmlns:p14="http://schemas.microsoft.com/office/powerpoint/2010/main" val="371015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up)">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up)">
                                      <p:cBhvr>
                                        <p:cTn id="1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6" name="Group 52"/>
          <p:cNvGrpSpPr>
            <a:grpSpLocks/>
          </p:cNvGrpSpPr>
          <p:nvPr/>
        </p:nvGrpSpPr>
        <p:grpSpPr bwMode="auto">
          <a:xfrm>
            <a:off x="4969240" y="-1"/>
            <a:ext cx="4199819" cy="7475679"/>
            <a:chOff x="3120" y="0"/>
            <a:chExt cx="2400" cy="4272"/>
          </a:xfrm>
        </p:grpSpPr>
        <p:grpSp>
          <p:nvGrpSpPr>
            <p:cNvPr id="54" name="Group 51"/>
            <p:cNvGrpSpPr>
              <a:grpSpLocks/>
            </p:cNvGrpSpPr>
            <p:nvPr/>
          </p:nvGrpSpPr>
          <p:grpSpPr bwMode="auto">
            <a:xfrm>
              <a:off x="3355" y="0"/>
              <a:ext cx="2165" cy="4272"/>
              <a:chOff x="3355" y="0"/>
              <a:chExt cx="2165" cy="4272"/>
            </a:xfrm>
          </p:grpSpPr>
          <p:sp>
            <p:nvSpPr>
              <p:cNvPr id="56" name="Rectangle 35"/>
              <p:cNvSpPr>
                <a:spLocks noChangeArrowheads="1"/>
              </p:cNvSpPr>
              <p:nvPr/>
            </p:nvSpPr>
            <p:spPr bwMode="auto">
              <a:xfrm>
                <a:off x="3355" y="192"/>
                <a:ext cx="1829" cy="192"/>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57" name="Rectangle 36"/>
              <p:cNvSpPr>
                <a:spLocks noChangeArrowheads="1"/>
              </p:cNvSpPr>
              <p:nvPr/>
            </p:nvSpPr>
            <p:spPr bwMode="auto">
              <a:xfrm>
                <a:off x="3360" y="2448"/>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(2) </a:t>
                </a:r>
                <a:r>
                  <a:rPr kumimoji="1" lang="en-US" altLang="zh-CN" sz="2646" dirty="0">
                    <a:solidFill>
                      <a:srgbClr val="C00000"/>
                    </a:solidFill>
                    <a:latin typeface="Arial" panose="020B0604020202020204"/>
                    <a:ea typeface="宋体" panose="02010600030101010101" pitchFamily="2" charset="-122"/>
                  </a:rPr>
                  <a:t>if T</a:t>
                </a:r>
                <a:r>
                  <a:rPr kumimoji="1" lang="en-US" altLang="zh-CN" sz="2646" baseline="-25000" dirty="0">
                    <a:solidFill>
                      <a:srgbClr val="C00000"/>
                    </a:solidFill>
                    <a:latin typeface="Arial" panose="020B0604020202020204"/>
                    <a:ea typeface="宋体" panose="02010600030101010101" pitchFamily="2" charset="-122"/>
                  </a:rPr>
                  <a:t>3</a:t>
                </a:r>
                <a:r>
                  <a:rPr kumimoji="1" lang="en-US" altLang="zh-CN" sz="2646" dirty="0">
                    <a:solidFill>
                      <a:srgbClr val="C00000"/>
                    </a:solidFill>
                    <a:latin typeface="Arial" panose="020B0604020202020204"/>
                    <a:ea typeface="宋体" panose="02010600030101010101" pitchFamily="2" charset="-122"/>
                  </a:rPr>
                  <a:t>&gt;R </a:t>
                </a:r>
                <a:r>
                  <a:rPr kumimoji="1" lang="en-US" altLang="zh-CN" sz="2646" dirty="0" err="1">
                    <a:solidFill>
                      <a:srgbClr val="C00000"/>
                    </a:solidFill>
                    <a:latin typeface="Arial" panose="020B0604020202020204"/>
                    <a:ea typeface="宋体" panose="02010600030101010101" pitchFamily="2" charset="-122"/>
                  </a:rPr>
                  <a:t>goto</a:t>
                </a:r>
                <a:r>
                  <a:rPr kumimoji="1" lang="en-US" altLang="zh-CN" sz="2646" dirty="0">
                    <a:solidFill>
                      <a:srgbClr val="C00000"/>
                    </a:solidFill>
                    <a:latin typeface="Arial" panose="020B0604020202020204"/>
                    <a:ea typeface="宋体" panose="02010600030101010101" pitchFamily="2" charset="-122"/>
                  </a:rPr>
                  <a:t> (15)</a:t>
                </a:r>
              </a:p>
            </p:txBody>
          </p:sp>
          <p:sp>
            <p:nvSpPr>
              <p:cNvPr id="58" name="Rectangle 37"/>
              <p:cNvSpPr>
                <a:spLocks noChangeArrowheads="1"/>
              </p:cNvSpPr>
              <p:nvPr/>
            </p:nvSpPr>
            <p:spPr bwMode="auto">
              <a:xfrm>
                <a:off x="3360" y="2832"/>
                <a:ext cx="1829" cy="1056"/>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90000"/>
                  </a:lnSpc>
                  <a:spcBef>
                    <a:spcPct val="0"/>
                  </a:spcBef>
                  <a:spcAft>
                    <a:spcPts val="0"/>
                  </a:spcAft>
                  <a:buClrTx/>
                  <a:buSzTx/>
                  <a:buNone/>
                </a:pPr>
                <a:r>
                  <a:rPr kumimoji="1" lang="zh-CN" altLang="zh-CN" sz="2646">
                    <a:solidFill>
                      <a:prstClr val="black"/>
                    </a:solidFill>
                    <a:latin typeface="Arial" panose="020B0604020202020204"/>
                    <a:ea typeface="宋体" panose="02010600030101010101" pitchFamily="2" charset="-122"/>
                  </a:rPr>
                  <a:t>(11)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9</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8</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7</a:t>
                </a:r>
                <a:r>
                  <a:rPr kumimoji="1" lang="en-US" altLang="zh-CN" sz="2646">
                    <a:solidFill>
                      <a:prstClr val="black"/>
                    </a:solidFill>
                    <a:latin typeface="Arial" panose="020B0604020202020204"/>
                    <a:ea typeface="宋体" panose="02010600030101010101" pitchFamily="2" charset="-122"/>
                  </a:rPr>
                  <a:t>]</a:t>
                </a:r>
              </a:p>
              <a:p>
                <a:pPr defTabSz="503972" rtl="0" fontAlgn="auto" hangingPunct="1">
                  <a:lnSpc>
                    <a:spcPct val="9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(12)   T</a:t>
                </a:r>
                <a:r>
                  <a:rPr kumimoji="1" lang="en-US" altLang="zh-CN" sz="2646" baseline="-25000">
                    <a:solidFill>
                      <a:prstClr val="black"/>
                    </a:solidFill>
                    <a:latin typeface="Arial" panose="020B0604020202020204"/>
                    <a:ea typeface="宋体" panose="02010600030101010101" pitchFamily="2" charset="-122"/>
                  </a:rPr>
                  <a:t>4</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3</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9</a:t>
                </a:r>
                <a:r>
                  <a:rPr kumimoji="1" lang="en-US" altLang="zh-CN" sz="2646">
                    <a:solidFill>
                      <a:prstClr val="black"/>
                    </a:solidFill>
                    <a:latin typeface="Arial" panose="020B0604020202020204"/>
                    <a:ea typeface="宋体" panose="02010600030101010101" pitchFamily="2" charset="-122"/>
                  </a:rPr>
                  <a:t>+1</a:t>
                </a:r>
              </a:p>
              <a:p>
                <a:pPr defTabSz="503972" rtl="0" fontAlgn="auto" hangingPunct="1">
                  <a:lnSpc>
                    <a:spcPct val="9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(5</a:t>
                </a:r>
                <a:r>
                  <a:rPr kumimoji="1" lang="en-US" altLang="zh-CN" sz="2646">
                    <a:solidFill>
                      <a:prstClr val="black"/>
                    </a:solidFill>
                    <a:latin typeface="Arial" panose="020B0604020202020204"/>
                    <a:ea typeface="宋体" panose="02010600030101010101" pitchFamily="2" charset="-122"/>
                  </a:rPr>
                  <a:t>’</a:t>
                </a:r>
                <a:r>
                  <a:rPr kumimoji="1" lang="zh-CN" altLang="en-US" sz="2646">
                    <a:solidFill>
                      <a:prstClr val="black"/>
                    </a:solidFill>
                    <a:latin typeface="Arial" panose="020B0604020202020204"/>
                    <a:ea typeface="宋体" panose="02010600030101010101" pitchFamily="2" charset="-122"/>
                  </a:rPr>
                  <a:t>)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3</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3</a:t>
                </a:r>
                <a:r>
                  <a:rPr kumimoji="1" lang="en-US" altLang="zh-CN" sz="2646">
                    <a:solidFill>
                      <a:prstClr val="black"/>
                    </a:solidFill>
                    <a:latin typeface="Arial" panose="020B0604020202020204"/>
                    <a:ea typeface="宋体" panose="02010600030101010101" pitchFamily="2" charset="-122"/>
                  </a:rPr>
                  <a:t>+ 10</a:t>
                </a:r>
              </a:p>
              <a:p>
                <a:pPr defTabSz="503972" rtl="0" fontAlgn="auto" hangingPunct="1">
                  <a:lnSpc>
                    <a:spcPct val="9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(9</a:t>
                </a:r>
                <a:r>
                  <a:rPr kumimoji="1" lang="en-US" altLang="zh-CN" sz="2646">
                    <a:solidFill>
                      <a:prstClr val="black"/>
                    </a:solidFill>
                    <a:latin typeface="Arial" panose="020B0604020202020204"/>
                    <a:ea typeface="宋体" panose="02010600030101010101" pitchFamily="2" charset="-122"/>
                  </a:rPr>
                  <a:t>’</a:t>
                </a:r>
                <a:r>
                  <a:rPr kumimoji="1" lang="zh-CN" altLang="en-US" sz="2646">
                    <a:solidFill>
                      <a:prstClr val="black"/>
                    </a:solidFill>
                    <a:latin typeface="Arial" panose="020B0604020202020204"/>
                    <a:ea typeface="宋体" panose="02010600030101010101" pitchFamily="2" charset="-122"/>
                  </a:rPr>
                  <a:t>)    </a:t>
                </a:r>
                <a:r>
                  <a:rPr kumimoji="1" lang="en-US" altLang="zh-CN" sz="2646">
                    <a:solidFill>
                      <a:prstClr val="black"/>
                    </a:solidFill>
                    <a:latin typeface="Arial" panose="020B0604020202020204"/>
                    <a:ea typeface="宋体" panose="02010600030101010101" pitchFamily="2" charset="-122"/>
                  </a:rPr>
                  <a:t>T</a:t>
                </a:r>
                <a:r>
                  <a:rPr kumimoji="1" lang="en-US" altLang="zh-CN" sz="2646" baseline="-25000">
                    <a:solidFill>
                      <a:prstClr val="black"/>
                    </a:solidFill>
                    <a:latin typeface="Arial" panose="020B0604020202020204"/>
                    <a:ea typeface="宋体" panose="02010600030101010101" pitchFamily="2" charset="-122"/>
                  </a:rPr>
                  <a:t>7</a:t>
                </a:r>
                <a:r>
                  <a:rPr kumimoji="1" lang="en-US" altLang="zh-CN" sz="2646">
                    <a:solidFill>
                      <a:prstClr val="black"/>
                    </a:solidFill>
                    <a:latin typeface="Arial" panose="020B0604020202020204"/>
                    <a:ea typeface="宋体" panose="02010600030101010101" pitchFamily="2" charset="-122"/>
                  </a:rPr>
                  <a:t>= T</a:t>
                </a:r>
                <a:r>
                  <a:rPr kumimoji="1" lang="en-US" altLang="zh-CN" sz="2646" baseline="-25000">
                    <a:solidFill>
                      <a:prstClr val="black"/>
                    </a:solidFill>
                    <a:latin typeface="Arial" panose="020B0604020202020204"/>
                    <a:ea typeface="宋体" panose="02010600030101010101" pitchFamily="2" charset="-122"/>
                  </a:rPr>
                  <a:t>7</a:t>
                </a:r>
                <a:r>
                  <a:rPr kumimoji="1" lang="en-US" altLang="zh-CN" sz="2646">
                    <a:solidFill>
                      <a:prstClr val="black"/>
                    </a:solidFill>
                    <a:latin typeface="Arial" panose="020B0604020202020204"/>
                    <a:ea typeface="宋体" panose="02010600030101010101" pitchFamily="2" charset="-122"/>
                  </a:rPr>
                  <a:t>+ 10</a:t>
                </a:r>
              </a:p>
              <a:p>
                <a:pPr defTabSz="503972" rtl="0" fontAlgn="auto" hangingPunct="1">
                  <a:lnSpc>
                    <a:spcPct val="90000"/>
                  </a:lnSpc>
                  <a:spcBef>
                    <a:spcPct val="0"/>
                  </a:spcBef>
                  <a:spcAft>
                    <a:spcPts val="0"/>
                  </a:spcAft>
                  <a:buClrTx/>
                  <a:buSzTx/>
                  <a:buNone/>
                </a:pPr>
                <a:r>
                  <a:rPr kumimoji="1" lang="en-US" altLang="zh-CN" sz="2646">
                    <a:solidFill>
                      <a:prstClr val="black"/>
                    </a:solidFill>
                    <a:latin typeface="Arial" panose="020B0604020202020204"/>
                    <a:ea typeface="宋体" panose="02010600030101010101" pitchFamily="2" charset="-122"/>
                  </a:rPr>
                  <a:t>(14)   goto B</a:t>
                </a:r>
                <a:r>
                  <a:rPr kumimoji="1" lang="en-US" altLang="zh-CN" sz="2646" baseline="-25000">
                    <a:solidFill>
                      <a:prstClr val="black"/>
                    </a:solidFill>
                    <a:latin typeface="Arial" panose="020B0604020202020204"/>
                    <a:ea typeface="宋体" panose="02010600030101010101" pitchFamily="2" charset="-122"/>
                  </a:rPr>
                  <a:t>2</a:t>
                </a:r>
              </a:p>
            </p:txBody>
          </p:sp>
          <p:sp>
            <p:nvSpPr>
              <p:cNvPr id="59" name="Rectangle 38"/>
              <p:cNvSpPr>
                <a:spLocks noChangeArrowheads="1"/>
              </p:cNvSpPr>
              <p:nvPr/>
            </p:nvSpPr>
            <p:spPr bwMode="auto">
              <a:xfrm>
                <a:off x="5184" y="2976"/>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60" name="Rectangle 39"/>
              <p:cNvSpPr>
                <a:spLocks noChangeArrowheads="1"/>
              </p:cNvSpPr>
              <p:nvPr/>
            </p:nvSpPr>
            <p:spPr bwMode="auto">
              <a:xfrm>
                <a:off x="5184" y="2400"/>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61" name="Rectangle 40"/>
              <p:cNvSpPr>
                <a:spLocks noChangeArrowheads="1"/>
              </p:cNvSpPr>
              <p:nvPr/>
            </p:nvSpPr>
            <p:spPr bwMode="auto">
              <a:xfrm>
                <a:off x="5184" y="14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62" name="Line 41"/>
              <p:cNvSpPr>
                <a:spLocks noChangeShapeType="1"/>
              </p:cNvSpPr>
              <p:nvPr/>
            </p:nvSpPr>
            <p:spPr bwMode="auto">
              <a:xfrm>
                <a:off x="4272" y="0"/>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3" name="Line 42"/>
              <p:cNvSpPr>
                <a:spLocks noChangeShapeType="1"/>
              </p:cNvSpPr>
              <p:nvPr/>
            </p:nvSpPr>
            <p:spPr bwMode="auto">
              <a:xfrm>
                <a:off x="4272" y="2688"/>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4" name="Rectangle 44"/>
              <p:cNvSpPr>
                <a:spLocks noChangeArrowheads="1"/>
              </p:cNvSpPr>
              <p:nvPr/>
            </p:nvSpPr>
            <p:spPr bwMode="auto">
              <a:xfrm>
                <a:off x="3355" y="403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65" name="Rectangle 45"/>
              <p:cNvSpPr>
                <a:spLocks noChangeArrowheads="1"/>
              </p:cNvSpPr>
              <p:nvPr/>
            </p:nvSpPr>
            <p:spPr bwMode="auto">
              <a:xfrm>
                <a:off x="3360" y="528"/>
                <a:ext cx="1829" cy="1776"/>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8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1</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8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8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T</a:t>
                </a:r>
                <a:r>
                  <a:rPr kumimoji="1" lang="en-US" altLang="zh-CN" sz="2646" baseline="-25000"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8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(10)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8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8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8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1</a:t>
                </a:r>
                <a:endParaRPr kumimoji="1" lang="en-US" altLang="zh-CN" sz="2646" dirty="0">
                  <a:solidFill>
                    <a:prstClr val="black"/>
                  </a:solidFill>
                  <a:latin typeface="Arial" panose="020B0604020202020204"/>
                  <a:ea typeface="宋体" panose="02010600030101010101" pitchFamily="2" charset="-122"/>
                </a:endParaRPr>
              </a:p>
              <a:p>
                <a:pPr defTabSz="503972" rtl="0" fontAlgn="auto" hangingPunct="1">
                  <a:lnSpc>
                    <a:spcPct val="8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5</a:t>
                </a:r>
              </a:p>
              <a:p>
                <a:pPr defTabSz="503972" rtl="0" fontAlgn="auto" hangingPunct="1">
                  <a:lnSpc>
                    <a:spcPct val="85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(2</a:t>
                </a:r>
                <a:r>
                  <a:rPr kumimoji="1" lang="en-US" altLang="zh-CN" sz="2646" baseline="-25000" dirty="0">
                    <a:solidFill>
                      <a:srgbClr val="C00000"/>
                    </a:solidFill>
                    <a:latin typeface="Arial" panose="020B0604020202020204"/>
                    <a:ea typeface="宋体" panose="02010600030101010101" pitchFamily="2" charset="-122"/>
                  </a:rPr>
                  <a:t>1</a:t>
                </a:r>
                <a:r>
                  <a:rPr kumimoji="1" lang="en-US" altLang="zh-CN" sz="2646" dirty="0">
                    <a:solidFill>
                      <a:srgbClr val="C00000"/>
                    </a:solidFill>
                    <a:latin typeface="Arial" panose="020B0604020202020204"/>
                    <a:ea typeface="宋体" panose="02010600030101010101" pitchFamily="2" charset="-122"/>
                  </a:rPr>
                  <a:t>)    R=100+T</a:t>
                </a:r>
                <a:r>
                  <a:rPr kumimoji="1" lang="en-US" altLang="zh-CN" sz="2646" baseline="-25000" dirty="0">
                    <a:solidFill>
                      <a:srgbClr val="C00000"/>
                    </a:solidFill>
                    <a:latin typeface="Arial" panose="020B0604020202020204"/>
                    <a:ea typeface="宋体" panose="02010600030101010101" pitchFamily="2" charset="-122"/>
                  </a:rPr>
                  <a:t>1</a:t>
                </a:r>
                <a:endParaRPr kumimoji="1" lang="en-US" altLang="zh-CN" sz="2646" dirty="0">
                  <a:solidFill>
                    <a:srgbClr val="C00000"/>
                  </a:solidFill>
                  <a:latin typeface="Arial" panose="020B0604020202020204"/>
                  <a:ea typeface="宋体" panose="02010600030101010101" pitchFamily="2" charset="-122"/>
                </a:endParaRPr>
              </a:p>
            </p:txBody>
          </p:sp>
          <p:sp>
            <p:nvSpPr>
              <p:cNvPr id="66" name="Line 46"/>
              <p:cNvSpPr>
                <a:spLocks noChangeShapeType="1"/>
              </p:cNvSpPr>
              <p:nvPr/>
            </p:nvSpPr>
            <p:spPr bwMode="auto">
              <a:xfrm>
                <a:off x="4272" y="38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7" name="Rectangle 47"/>
              <p:cNvSpPr>
                <a:spLocks noChangeArrowheads="1"/>
              </p:cNvSpPr>
              <p:nvPr/>
            </p:nvSpPr>
            <p:spPr bwMode="auto">
              <a:xfrm>
                <a:off x="5232" y="912"/>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68" name="Freeform 48"/>
              <p:cNvSpPr>
                <a:spLocks/>
              </p:cNvSpPr>
              <p:nvPr/>
            </p:nvSpPr>
            <p:spPr bwMode="auto">
              <a:xfrm>
                <a:off x="4416" y="2544"/>
                <a:ext cx="1104" cy="1488"/>
              </a:xfrm>
              <a:custGeom>
                <a:avLst/>
                <a:gdLst>
                  <a:gd name="T0" fmla="*/ 1008 w 1104"/>
                  <a:gd name="T1" fmla="*/ 0 h 2256"/>
                  <a:gd name="T2" fmla="*/ 1104 w 1104"/>
                  <a:gd name="T3" fmla="*/ 0 h 2256"/>
                  <a:gd name="T4" fmla="*/ 1104 w 1104"/>
                  <a:gd name="T5" fmla="*/ 174 h 2256"/>
                  <a:gd name="T6" fmla="*/ 0 w 1104"/>
                  <a:gd name="T7" fmla="*/ 174 h 2256"/>
                  <a:gd name="T8" fmla="*/ 0 w 1104"/>
                  <a:gd name="T9" fmla="*/ 186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69" name="Line 49"/>
              <p:cNvSpPr>
                <a:spLocks noChangeShapeType="1"/>
              </p:cNvSpPr>
              <p:nvPr/>
            </p:nvSpPr>
            <p:spPr bwMode="auto">
              <a:xfrm>
                <a:off x="4272" y="230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
          <p:nvSpPr>
            <p:cNvPr id="55" name="Freeform 50"/>
            <p:cNvSpPr>
              <a:spLocks/>
            </p:cNvSpPr>
            <p:nvPr/>
          </p:nvSpPr>
          <p:spPr bwMode="auto">
            <a:xfrm>
              <a:off x="3120" y="2352"/>
              <a:ext cx="720" cy="1632"/>
            </a:xfrm>
            <a:custGeom>
              <a:avLst/>
              <a:gdLst>
                <a:gd name="T0" fmla="*/ 720 w 720"/>
                <a:gd name="T1" fmla="*/ 1536 h 1632"/>
                <a:gd name="T2" fmla="*/ 720 w 720"/>
                <a:gd name="T3" fmla="*/ 1632 h 1632"/>
                <a:gd name="T4" fmla="*/ 0 w 720"/>
                <a:gd name="T5" fmla="*/ 1632 h 1632"/>
                <a:gd name="T6" fmla="*/ 0 w 720"/>
                <a:gd name="T7" fmla="*/ 0 h 1632"/>
                <a:gd name="T8" fmla="*/ 720 w 720"/>
                <a:gd name="T9" fmla="*/ 0 h 1632"/>
                <a:gd name="T10" fmla="*/ 720 w 720"/>
                <a:gd name="T11" fmla="*/ 96 h 1632"/>
                <a:gd name="T12" fmla="*/ 0 60000 65536"/>
                <a:gd name="T13" fmla="*/ 0 60000 65536"/>
                <a:gd name="T14" fmla="*/ 0 60000 65536"/>
                <a:gd name="T15" fmla="*/ 0 60000 65536"/>
                <a:gd name="T16" fmla="*/ 0 60000 65536"/>
                <a:gd name="T17" fmla="*/ 0 60000 65536"/>
                <a:gd name="T18" fmla="*/ 0 w 720"/>
                <a:gd name="T19" fmla="*/ 0 h 1632"/>
                <a:gd name="T20" fmla="*/ 720 w 720"/>
                <a:gd name="T21" fmla="*/ 1632 h 1632"/>
              </a:gdLst>
              <a:ahLst/>
              <a:cxnLst>
                <a:cxn ang="T12">
                  <a:pos x="T0" y="T1"/>
                </a:cxn>
                <a:cxn ang="T13">
                  <a:pos x="T2" y="T3"/>
                </a:cxn>
                <a:cxn ang="T14">
                  <a:pos x="T4" y="T5"/>
                </a:cxn>
                <a:cxn ang="T15">
                  <a:pos x="T6" y="T7"/>
                </a:cxn>
                <a:cxn ang="T16">
                  <a:pos x="T8" y="T9"/>
                </a:cxn>
                <a:cxn ang="T17">
                  <a:pos x="T10" y="T11"/>
                </a:cxn>
              </a:cxnLst>
              <a:rect l="T18" t="T19" r="T20" b="T21"/>
              <a:pathLst>
                <a:path w="720" h="1632">
                  <a:moveTo>
                    <a:pt x="720" y="1536"/>
                  </a:moveTo>
                  <a:lnTo>
                    <a:pt x="720" y="1632"/>
                  </a:lnTo>
                  <a:lnTo>
                    <a:pt x="0" y="1632"/>
                  </a:lnTo>
                  <a:lnTo>
                    <a:pt x="0" y="0"/>
                  </a:lnTo>
                  <a:lnTo>
                    <a:pt x="720" y="0"/>
                  </a:lnTo>
                  <a:lnTo>
                    <a:pt x="720" y="9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grpSp>
        <p:nvGrpSpPr>
          <p:cNvPr id="70" name="Group 18"/>
          <p:cNvGrpSpPr>
            <a:grpSpLocks/>
          </p:cNvGrpSpPr>
          <p:nvPr/>
        </p:nvGrpSpPr>
        <p:grpSpPr bwMode="auto">
          <a:xfrm>
            <a:off x="226606" y="-1"/>
            <a:ext cx="4115823" cy="7475679"/>
            <a:chOff x="2976" y="-48"/>
            <a:chExt cx="2352" cy="4272"/>
          </a:xfrm>
        </p:grpSpPr>
        <p:sp>
          <p:nvSpPr>
            <p:cNvPr id="71" name="Rectangle 19"/>
            <p:cNvSpPr>
              <a:spLocks noChangeArrowheads="1"/>
            </p:cNvSpPr>
            <p:nvPr/>
          </p:nvSpPr>
          <p:spPr bwMode="auto">
            <a:xfrm>
              <a:off x="3163" y="14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	</a:t>
              </a:r>
              <a:r>
                <a:rPr kumimoji="1" lang="en-US" altLang="zh-CN" sz="2646">
                  <a:solidFill>
                    <a:prstClr val="black"/>
                  </a:solidFill>
                  <a:latin typeface="Arial" panose="020B0604020202020204"/>
                  <a:ea typeface="宋体" panose="02010600030101010101" pitchFamily="2" charset="-122"/>
                </a:rPr>
                <a:t>I:=1</a:t>
              </a:r>
            </a:p>
          </p:txBody>
        </p:sp>
        <p:sp>
          <p:nvSpPr>
            <p:cNvPr id="72" name="Rectangle 20"/>
            <p:cNvSpPr>
              <a:spLocks noChangeArrowheads="1"/>
            </p:cNvSpPr>
            <p:nvPr/>
          </p:nvSpPr>
          <p:spPr bwMode="auto">
            <a:xfrm>
              <a:off x="3168" y="2112"/>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dirty="0">
                  <a:solidFill>
                    <a:srgbClr val="C00000"/>
                  </a:solidFill>
                  <a:latin typeface="Arial" panose="020B0604020202020204"/>
                  <a:ea typeface="宋体" panose="02010600030101010101" pitchFamily="2" charset="-122"/>
                </a:rPr>
                <a:t>(2) </a:t>
              </a:r>
              <a:r>
                <a:rPr kumimoji="1" lang="en-US" altLang="zh-CN" sz="2646" dirty="0">
                  <a:solidFill>
                    <a:srgbClr val="C00000"/>
                  </a:solidFill>
                  <a:latin typeface="Arial" panose="020B0604020202020204"/>
                  <a:ea typeface="宋体" panose="02010600030101010101" pitchFamily="2" charset="-122"/>
                </a:rPr>
                <a:t>if  I&gt;10 </a:t>
              </a:r>
              <a:r>
                <a:rPr kumimoji="1" lang="en-US" altLang="zh-CN" sz="2646" dirty="0" err="1">
                  <a:solidFill>
                    <a:srgbClr val="C00000"/>
                  </a:solidFill>
                  <a:latin typeface="Arial" panose="020B0604020202020204"/>
                  <a:ea typeface="宋体" panose="02010600030101010101" pitchFamily="2" charset="-122"/>
                </a:rPr>
                <a:t>goto</a:t>
              </a:r>
              <a:r>
                <a:rPr kumimoji="1" lang="en-US" altLang="zh-CN" sz="2646" dirty="0">
                  <a:solidFill>
                    <a:srgbClr val="C00000"/>
                  </a:solidFill>
                  <a:latin typeface="Arial" panose="020B0604020202020204"/>
                  <a:ea typeface="宋体" panose="02010600030101010101" pitchFamily="2" charset="-122"/>
                </a:rPr>
                <a:t> (15)</a:t>
              </a:r>
            </a:p>
          </p:txBody>
        </p:sp>
        <p:sp>
          <p:nvSpPr>
            <p:cNvPr id="73" name="Rectangle 21"/>
            <p:cNvSpPr>
              <a:spLocks noChangeArrowheads="1"/>
            </p:cNvSpPr>
            <p:nvPr/>
          </p:nvSpPr>
          <p:spPr bwMode="auto">
            <a:xfrm>
              <a:off x="3168" y="2496"/>
              <a:ext cx="1829" cy="1344"/>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80000"/>
                </a:lnSpc>
                <a:spcBef>
                  <a:spcPct val="0"/>
                </a:spcBef>
                <a:spcAft>
                  <a:spcPts val="0"/>
                </a:spcAft>
                <a:buClrTx/>
                <a:buSzTx/>
                <a:buNone/>
              </a:pPr>
              <a:r>
                <a:rPr kumimoji="1" lang="zh-CN" altLang="zh-CN" sz="2646" dirty="0">
                  <a:solidFill>
                    <a:prstClr val="black"/>
                  </a:solidFill>
                  <a:latin typeface="Arial" panose="020B0604020202020204"/>
                  <a:ea typeface="宋体" panose="02010600030101010101" pitchFamily="2" charset="-122"/>
                </a:rPr>
                <a:t>(11)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(12)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+1</a:t>
              </a:r>
            </a:p>
            <a:p>
              <a:pPr defTabSz="503972" rtl="0" fontAlgn="auto" hangingPunct="1">
                <a:lnSpc>
                  <a:spcPct val="80000"/>
                </a:lnSpc>
                <a:spcBef>
                  <a:spcPct val="0"/>
                </a:spcBef>
                <a:spcAft>
                  <a:spcPts val="0"/>
                </a:spcAft>
                <a:buClrTx/>
                <a:buSzTx/>
                <a:buNone/>
              </a:pPr>
              <a:r>
                <a:rPr kumimoji="1" lang="en-US" altLang="zh-CN" sz="2646" dirty="0">
                  <a:solidFill>
                    <a:srgbClr val="C00000"/>
                  </a:solidFill>
                  <a:latin typeface="Arial" panose="020B0604020202020204"/>
                  <a:ea typeface="宋体" panose="02010600030101010101" pitchFamily="2" charset="-122"/>
                </a:rPr>
                <a:t>(13)   I:=I+1 </a:t>
              </a:r>
            </a:p>
            <a:p>
              <a:pPr defTabSz="503972" rtl="0" fontAlgn="auto" hangingPunct="1">
                <a:lnSpc>
                  <a:spcPct val="8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a:t>
              </a:r>
              <a:r>
                <a:rPr kumimoji="1" lang="zh-CN" altLang="en-US" sz="2646" dirty="0">
                  <a:solidFill>
                    <a:prstClr val="black"/>
                  </a:solidFill>
                  <a:latin typeface="Arial" panose="020B0604020202020204"/>
                  <a:ea typeface="宋体" panose="02010600030101010101" pitchFamily="2" charset="-122"/>
                </a:rPr>
                <a:t>)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+ 10</a:t>
              </a:r>
            </a:p>
            <a:p>
              <a:pPr defTabSz="503972" rtl="0" fontAlgn="auto" hangingPunct="1">
                <a:lnSpc>
                  <a:spcPct val="80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a:t>
              </a:r>
              <a:r>
                <a:rPr kumimoji="1" lang="en-US" altLang="zh-CN" sz="2646" dirty="0">
                  <a:solidFill>
                    <a:prstClr val="black"/>
                  </a:solidFill>
                  <a:latin typeface="Arial" panose="020B0604020202020204"/>
                  <a:ea typeface="宋体" panose="02010600030101010101" pitchFamily="2" charset="-122"/>
                </a:rPr>
                <a:t>’</a:t>
              </a:r>
              <a:r>
                <a:rPr kumimoji="1" lang="zh-CN" altLang="en-US" sz="2646" dirty="0">
                  <a:solidFill>
                    <a:prstClr val="black"/>
                  </a:solidFill>
                  <a:latin typeface="Arial" panose="020B0604020202020204"/>
                  <a:ea typeface="宋体" panose="02010600030101010101" pitchFamily="2" charset="-122"/>
                </a:rPr>
                <a:t>)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+ 10</a:t>
              </a:r>
            </a:p>
            <a:p>
              <a:pPr defTabSz="503972" rtl="0" fontAlgn="auto" hangingPunct="1">
                <a:lnSpc>
                  <a:spcPct val="80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(14)   </a:t>
              </a:r>
              <a:r>
                <a:rPr kumimoji="1" lang="en-US" altLang="zh-CN" sz="2646" dirty="0" err="1">
                  <a:solidFill>
                    <a:prstClr val="black"/>
                  </a:solidFill>
                  <a:latin typeface="Arial" panose="020B0604020202020204"/>
                  <a:ea typeface="宋体" panose="02010600030101010101" pitchFamily="2" charset="-122"/>
                </a:rPr>
                <a:t>goto</a:t>
              </a:r>
              <a:r>
                <a:rPr kumimoji="1" lang="en-US" altLang="zh-CN" sz="2646" dirty="0">
                  <a:solidFill>
                    <a:prstClr val="black"/>
                  </a:solidFill>
                  <a:latin typeface="Arial" panose="020B0604020202020204"/>
                  <a:ea typeface="宋体" panose="02010600030101010101" pitchFamily="2" charset="-122"/>
                </a:rPr>
                <a:t> B</a:t>
              </a:r>
              <a:r>
                <a:rPr kumimoji="1" lang="en-US" altLang="zh-CN" sz="2646" baseline="-25000" dirty="0">
                  <a:solidFill>
                    <a:prstClr val="black"/>
                  </a:solidFill>
                  <a:latin typeface="Arial" panose="020B0604020202020204"/>
                  <a:ea typeface="宋体" panose="02010600030101010101" pitchFamily="2" charset="-122"/>
                </a:rPr>
                <a:t>2</a:t>
              </a:r>
            </a:p>
          </p:txBody>
        </p:sp>
        <p:sp>
          <p:nvSpPr>
            <p:cNvPr id="74" name="Rectangle 22"/>
            <p:cNvSpPr>
              <a:spLocks noChangeArrowheads="1"/>
            </p:cNvSpPr>
            <p:nvPr/>
          </p:nvSpPr>
          <p:spPr bwMode="auto">
            <a:xfrm>
              <a:off x="4992" y="2640"/>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3</a:t>
              </a:r>
              <a:endParaRPr kumimoji="1" lang="en-US" altLang="zh-CN" sz="3086">
                <a:solidFill>
                  <a:prstClr val="black"/>
                </a:solidFill>
                <a:latin typeface="Arial" panose="020B0604020202020204"/>
                <a:ea typeface="宋体" panose="02010600030101010101" pitchFamily="2" charset="-122"/>
              </a:endParaRPr>
            </a:p>
          </p:txBody>
        </p:sp>
        <p:sp>
          <p:nvSpPr>
            <p:cNvPr id="75" name="Rectangle 23"/>
            <p:cNvSpPr>
              <a:spLocks noChangeArrowheads="1"/>
            </p:cNvSpPr>
            <p:nvPr/>
          </p:nvSpPr>
          <p:spPr bwMode="auto">
            <a:xfrm>
              <a:off x="4992" y="20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endParaRPr kumimoji="1" lang="en-US" altLang="zh-CN" sz="3086">
                <a:solidFill>
                  <a:prstClr val="black"/>
                </a:solidFill>
                <a:latin typeface="Arial" panose="020B0604020202020204"/>
                <a:ea typeface="宋体" panose="02010600030101010101" pitchFamily="2" charset="-122"/>
              </a:endParaRPr>
            </a:p>
          </p:txBody>
        </p:sp>
        <p:sp>
          <p:nvSpPr>
            <p:cNvPr id="76" name="Rectangle 24"/>
            <p:cNvSpPr>
              <a:spLocks noChangeArrowheads="1"/>
            </p:cNvSpPr>
            <p:nvPr/>
          </p:nvSpPr>
          <p:spPr bwMode="auto">
            <a:xfrm>
              <a:off x="4992" y="96"/>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1</a:t>
              </a:r>
              <a:endParaRPr kumimoji="1" lang="en-US" altLang="zh-CN" sz="3086">
                <a:solidFill>
                  <a:prstClr val="black"/>
                </a:solidFill>
                <a:latin typeface="Arial" panose="020B0604020202020204"/>
                <a:ea typeface="宋体" panose="02010600030101010101" pitchFamily="2" charset="-122"/>
              </a:endParaRPr>
            </a:p>
          </p:txBody>
        </p:sp>
        <p:sp>
          <p:nvSpPr>
            <p:cNvPr id="77" name="Line 25"/>
            <p:cNvSpPr>
              <a:spLocks noChangeShapeType="1"/>
            </p:cNvSpPr>
            <p:nvPr/>
          </p:nvSpPr>
          <p:spPr bwMode="auto">
            <a:xfrm>
              <a:off x="4080" y="-48"/>
              <a:ext cx="0" cy="192"/>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78" name="Line 26"/>
            <p:cNvSpPr>
              <a:spLocks noChangeShapeType="1"/>
            </p:cNvSpPr>
            <p:nvPr/>
          </p:nvSpPr>
          <p:spPr bwMode="auto">
            <a:xfrm>
              <a:off x="4080" y="2352"/>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79" name="Freeform 27"/>
            <p:cNvSpPr>
              <a:spLocks/>
            </p:cNvSpPr>
            <p:nvPr/>
          </p:nvSpPr>
          <p:spPr bwMode="auto">
            <a:xfrm>
              <a:off x="2976" y="2016"/>
              <a:ext cx="635" cy="1920"/>
            </a:xfrm>
            <a:custGeom>
              <a:avLst/>
              <a:gdLst>
                <a:gd name="T0" fmla="*/ 170 w 816"/>
                <a:gd name="T1" fmla="*/ 98 h 3456"/>
                <a:gd name="T2" fmla="*/ 170 w 816"/>
                <a:gd name="T3" fmla="*/ 102 h 3456"/>
                <a:gd name="T4" fmla="*/ 0 w 816"/>
                <a:gd name="T5" fmla="*/ 102 h 3456"/>
                <a:gd name="T6" fmla="*/ 0 w 816"/>
                <a:gd name="T7" fmla="*/ 0 h 3456"/>
                <a:gd name="T8" fmla="*/ 181 w 816"/>
                <a:gd name="T9" fmla="*/ 0 h 3456"/>
                <a:gd name="T10" fmla="*/ 181 w 816"/>
                <a:gd name="T11" fmla="*/ 6 h 3456"/>
                <a:gd name="T12" fmla="*/ 0 60000 65536"/>
                <a:gd name="T13" fmla="*/ 0 60000 65536"/>
                <a:gd name="T14" fmla="*/ 0 60000 65536"/>
                <a:gd name="T15" fmla="*/ 0 60000 65536"/>
                <a:gd name="T16" fmla="*/ 0 60000 65536"/>
                <a:gd name="T17" fmla="*/ 0 60000 65536"/>
                <a:gd name="T18" fmla="*/ 0 w 816"/>
                <a:gd name="T19" fmla="*/ 0 h 3456"/>
                <a:gd name="T20" fmla="*/ 816 w 816"/>
                <a:gd name="T21" fmla="*/ 3456 h 3456"/>
              </a:gdLst>
              <a:ahLst/>
              <a:cxnLst>
                <a:cxn ang="T12">
                  <a:pos x="T0" y="T1"/>
                </a:cxn>
                <a:cxn ang="T13">
                  <a:pos x="T2" y="T3"/>
                </a:cxn>
                <a:cxn ang="T14">
                  <a:pos x="T4" y="T5"/>
                </a:cxn>
                <a:cxn ang="T15">
                  <a:pos x="T6" y="T7"/>
                </a:cxn>
                <a:cxn ang="T16">
                  <a:pos x="T8" y="T9"/>
                </a:cxn>
                <a:cxn ang="T17">
                  <a:pos x="T10" y="T11"/>
                </a:cxn>
              </a:cxnLst>
              <a:rect l="T18" t="T19" r="T20" b="T21"/>
              <a:pathLst>
                <a:path w="816" h="3456">
                  <a:moveTo>
                    <a:pt x="768" y="3312"/>
                  </a:moveTo>
                  <a:lnTo>
                    <a:pt x="768" y="3456"/>
                  </a:lnTo>
                  <a:lnTo>
                    <a:pt x="0" y="3456"/>
                  </a:lnTo>
                  <a:lnTo>
                    <a:pt x="0" y="0"/>
                  </a:lnTo>
                  <a:lnTo>
                    <a:pt x="816" y="0"/>
                  </a:lnTo>
                  <a:lnTo>
                    <a:pt x="816" y="192"/>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80" name="Rectangle 28"/>
            <p:cNvSpPr>
              <a:spLocks noChangeArrowheads="1"/>
            </p:cNvSpPr>
            <p:nvPr/>
          </p:nvSpPr>
          <p:spPr bwMode="auto">
            <a:xfrm>
              <a:off x="3163" y="3984"/>
              <a:ext cx="1829" cy="2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100000"/>
                </a:lnSpc>
                <a:spcBef>
                  <a:spcPct val="0"/>
                </a:spcBef>
                <a:spcAft>
                  <a:spcPts val="0"/>
                </a:spcAft>
                <a:buClrTx/>
                <a:buSzTx/>
                <a:buNone/>
              </a:pPr>
              <a:r>
                <a:rPr kumimoji="1" lang="zh-CN" altLang="en-US" sz="2646">
                  <a:solidFill>
                    <a:prstClr val="black"/>
                  </a:solidFill>
                  <a:latin typeface="Arial" panose="020B0604020202020204"/>
                  <a:ea typeface="宋体" panose="02010600030101010101" pitchFamily="2" charset="-122"/>
                </a:rPr>
                <a:t>(15)</a:t>
              </a:r>
              <a:endParaRPr kumimoji="1" lang="zh-CN" altLang="zh-CN" sz="2646">
                <a:solidFill>
                  <a:prstClr val="black"/>
                </a:solidFill>
                <a:latin typeface="Arial" panose="020B0604020202020204"/>
                <a:ea typeface="宋体" panose="02010600030101010101" pitchFamily="2" charset="-122"/>
              </a:endParaRPr>
            </a:p>
          </p:txBody>
        </p:sp>
        <p:sp>
          <p:nvSpPr>
            <p:cNvPr id="81" name="Rectangle 29"/>
            <p:cNvSpPr>
              <a:spLocks noChangeArrowheads="1"/>
            </p:cNvSpPr>
            <p:nvPr/>
          </p:nvSpPr>
          <p:spPr bwMode="auto">
            <a:xfrm>
              <a:off x="3168" y="528"/>
              <a:ext cx="1829" cy="1440"/>
            </a:xfrm>
            <a:prstGeom prst="rect">
              <a:avLst/>
            </a:prstGeom>
            <a:noFill/>
            <a:ln w="12700" cap="sq">
              <a:solidFill>
                <a:schemeClr val="tx1"/>
              </a:solidFill>
              <a:miter lim="800000"/>
              <a:headEnd type="none" w="sm" len="sm"/>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(3)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1</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(6)     T</a:t>
              </a:r>
              <a:r>
                <a:rPr kumimoji="1" lang="en-US" altLang="zh-CN" sz="2646" baseline="-25000" dirty="0">
                  <a:solidFill>
                    <a:prstClr val="black"/>
                  </a:solidFill>
                  <a:latin typeface="Arial" panose="020B0604020202020204"/>
                  <a:ea typeface="宋体" panose="02010600030101010101" pitchFamily="2" charset="-122"/>
                </a:rPr>
                <a:t>4</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(7)     T</a:t>
              </a:r>
              <a:r>
                <a:rPr kumimoji="1" lang="en-US" altLang="zh-CN" sz="2646" baseline="-25000" dirty="0">
                  <a:solidFill>
                    <a:prstClr val="black"/>
                  </a:solidFill>
                  <a:latin typeface="Arial" panose="020B0604020202020204"/>
                  <a:ea typeface="宋体" panose="02010600030101010101" pitchFamily="2" charset="-122"/>
                </a:rPr>
                <a:t>5</a:t>
              </a:r>
              <a:r>
                <a:rPr kumimoji="1" lang="en-US" altLang="zh-CN" sz="2646" dirty="0">
                  <a:solidFill>
                    <a:prstClr val="black"/>
                  </a:solidFill>
                  <a:latin typeface="Arial" panose="020B0604020202020204"/>
                  <a:ea typeface="宋体" panose="02010600030101010101" pitchFamily="2" charset="-122"/>
                </a:rPr>
                <a:t>=2*J</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(10)   T</a:t>
              </a:r>
              <a:r>
                <a:rPr kumimoji="1" lang="en-US" altLang="zh-CN" sz="2646" baseline="-25000" dirty="0">
                  <a:solidFill>
                    <a:prstClr val="black"/>
                  </a:solidFill>
                  <a:latin typeface="Arial" panose="020B0604020202020204"/>
                  <a:ea typeface="宋体" panose="02010600030101010101" pitchFamily="2" charset="-122"/>
                </a:rPr>
                <a:t>8</a:t>
              </a:r>
              <a:r>
                <a:rPr kumimoji="1" lang="en-US" altLang="zh-CN" sz="2646" dirty="0">
                  <a:solidFill>
                    <a:prstClr val="black"/>
                  </a:solidFill>
                  <a:latin typeface="Arial" panose="020B0604020202020204"/>
                  <a:ea typeface="宋体" panose="02010600030101010101" pitchFamily="2" charset="-122"/>
                </a:rPr>
                <a:t>=</a:t>
              </a:r>
              <a:r>
                <a:rPr kumimoji="1" lang="en-US" altLang="zh-CN" sz="2646" dirty="0" err="1">
                  <a:solidFill>
                    <a:prstClr val="black"/>
                  </a:solidFill>
                  <a:latin typeface="Arial" panose="020B0604020202020204"/>
                  <a:ea typeface="宋体" panose="02010600030101010101" pitchFamily="2" charset="-122"/>
                </a:rPr>
                <a:t>addr</a:t>
              </a:r>
              <a:r>
                <a:rPr kumimoji="1" lang="en-US" altLang="zh-CN" sz="2646" dirty="0">
                  <a:solidFill>
                    <a:prstClr val="black"/>
                  </a:solidFill>
                  <a:latin typeface="Arial" panose="020B0604020202020204"/>
                  <a:ea typeface="宋体" panose="02010600030101010101" pitchFamily="2" charset="-122"/>
                </a:rPr>
                <a:t>(A)-11</a:t>
              </a:r>
            </a:p>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(4)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en-US" altLang="zh-CN" sz="2646" dirty="0">
                  <a:solidFill>
                    <a:prstClr val="black"/>
                  </a:solidFill>
                  <a:latin typeface="Arial" panose="020B0604020202020204"/>
                  <a:ea typeface="宋体" panose="02010600030101010101" pitchFamily="2" charset="-122"/>
                </a:rPr>
                <a:t>(8)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=10*I</a:t>
              </a:r>
            </a:p>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(5)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3</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2</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1</a:t>
              </a:r>
              <a:endParaRPr kumimoji="1" lang="en-US" altLang="zh-CN" sz="2646" dirty="0">
                <a:solidFill>
                  <a:prstClr val="black"/>
                </a:solidFill>
                <a:latin typeface="Arial" panose="020B0604020202020204"/>
                <a:ea typeface="宋体" panose="02010600030101010101" pitchFamily="2" charset="-122"/>
              </a:endParaRPr>
            </a:p>
            <a:p>
              <a:pPr defTabSz="503972" rtl="0" fontAlgn="auto" hangingPunct="1">
                <a:lnSpc>
                  <a:spcPct val="75000"/>
                </a:lnSpc>
                <a:spcBef>
                  <a:spcPct val="0"/>
                </a:spcBef>
                <a:spcAft>
                  <a:spcPts val="0"/>
                </a:spcAft>
                <a:buClrTx/>
                <a:buSzTx/>
                <a:buNone/>
              </a:pPr>
              <a:r>
                <a:rPr kumimoji="1" lang="zh-CN" altLang="en-US" sz="2646" dirty="0">
                  <a:solidFill>
                    <a:prstClr val="black"/>
                  </a:solidFill>
                  <a:latin typeface="Arial" panose="020B0604020202020204"/>
                  <a:ea typeface="宋体" panose="02010600030101010101" pitchFamily="2" charset="-122"/>
                </a:rPr>
                <a:t>(9)     </a:t>
              </a:r>
              <a:r>
                <a:rPr kumimoji="1" lang="en-US" altLang="zh-CN" sz="2646" dirty="0">
                  <a:solidFill>
                    <a:prstClr val="black"/>
                  </a:solidFill>
                  <a:latin typeface="Arial" panose="020B0604020202020204"/>
                  <a:ea typeface="宋体" panose="02010600030101010101" pitchFamily="2" charset="-122"/>
                </a:rPr>
                <a:t>T</a:t>
              </a:r>
              <a:r>
                <a:rPr kumimoji="1" lang="en-US" altLang="zh-CN" sz="2646" baseline="-25000" dirty="0">
                  <a:solidFill>
                    <a:prstClr val="black"/>
                  </a:solidFill>
                  <a:latin typeface="Arial" panose="020B0604020202020204"/>
                  <a:ea typeface="宋体" panose="02010600030101010101" pitchFamily="2" charset="-122"/>
                </a:rPr>
                <a:t>7</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6</a:t>
              </a:r>
              <a:r>
                <a:rPr kumimoji="1" lang="en-US" altLang="zh-CN" sz="2646" dirty="0">
                  <a:solidFill>
                    <a:prstClr val="black"/>
                  </a:solidFill>
                  <a:latin typeface="Arial" panose="020B0604020202020204"/>
                  <a:ea typeface="宋体" panose="02010600030101010101" pitchFamily="2" charset="-122"/>
                </a:rPr>
                <a:t>+ T</a:t>
              </a:r>
              <a:r>
                <a:rPr kumimoji="1" lang="en-US" altLang="zh-CN" sz="2646" baseline="-25000" dirty="0">
                  <a:solidFill>
                    <a:prstClr val="black"/>
                  </a:solidFill>
                  <a:latin typeface="Arial" panose="020B0604020202020204"/>
                  <a:ea typeface="宋体" panose="02010600030101010101" pitchFamily="2" charset="-122"/>
                </a:rPr>
                <a:t>5</a:t>
              </a:r>
              <a:endParaRPr kumimoji="1" lang="en-US" altLang="zh-CN" sz="2646" dirty="0">
                <a:solidFill>
                  <a:prstClr val="black"/>
                </a:solidFill>
                <a:latin typeface="Arial" panose="020B0604020202020204"/>
                <a:ea typeface="宋体" panose="02010600030101010101" pitchFamily="2" charset="-122"/>
              </a:endParaRPr>
            </a:p>
          </p:txBody>
        </p:sp>
        <p:sp>
          <p:nvSpPr>
            <p:cNvPr id="82" name="Line 30"/>
            <p:cNvSpPr>
              <a:spLocks noChangeShapeType="1"/>
            </p:cNvSpPr>
            <p:nvPr/>
          </p:nvSpPr>
          <p:spPr bwMode="auto">
            <a:xfrm>
              <a:off x="4080" y="384"/>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83" name="Rectangle 31"/>
            <p:cNvSpPr>
              <a:spLocks noChangeArrowheads="1"/>
            </p:cNvSpPr>
            <p:nvPr/>
          </p:nvSpPr>
          <p:spPr bwMode="auto">
            <a:xfrm>
              <a:off x="5040" y="8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cap="sq">
                  <a:solidFill>
                    <a:srgbClr val="000000"/>
                  </a:solidFill>
                  <a:miter lim="800000"/>
                  <a:headEnd type="none" w="sm" len="sm"/>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rtl="0" fontAlgn="auto" hangingPunct="1">
                <a:lnSpc>
                  <a:spcPct val="100000"/>
                </a:lnSpc>
                <a:spcBef>
                  <a:spcPct val="0"/>
                </a:spcBef>
                <a:spcAft>
                  <a:spcPts val="0"/>
                </a:spcAft>
                <a:buClrTx/>
                <a:buSzTx/>
                <a:buNone/>
              </a:pPr>
              <a:r>
                <a:rPr kumimoji="1" lang="en-US" altLang="zh-CN" sz="3086">
                  <a:solidFill>
                    <a:prstClr val="black"/>
                  </a:solidFill>
                  <a:latin typeface="Arial" panose="020B0604020202020204"/>
                  <a:ea typeface="宋体" panose="02010600030101010101" pitchFamily="2" charset="-122"/>
                </a:rPr>
                <a:t>B</a:t>
              </a:r>
              <a:r>
                <a:rPr kumimoji="1" lang="en-US" altLang="zh-CN" sz="3086" baseline="-25000">
                  <a:solidFill>
                    <a:prstClr val="black"/>
                  </a:solidFill>
                  <a:latin typeface="Arial" panose="020B0604020202020204"/>
                  <a:ea typeface="宋体" panose="02010600030101010101" pitchFamily="2" charset="-122"/>
                </a:rPr>
                <a:t>2</a:t>
              </a:r>
              <a:r>
                <a:rPr kumimoji="1" lang="en-US" altLang="zh-CN" sz="3086" baseline="30000">
                  <a:solidFill>
                    <a:prstClr val="black"/>
                  </a:solidFill>
                  <a:latin typeface="Arial" panose="020B0604020202020204"/>
                  <a:ea typeface="宋体" panose="02010600030101010101" pitchFamily="2" charset="-122"/>
                </a:rPr>
                <a:t>’</a:t>
              </a:r>
              <a:endParaRPr kumimoji="1" lang="en-US" altLang="zh-CN" sz="3086">
                <a:solidFill>
                  <a:prstClr val="black"/>
                </a:solidFill>
                <a:latin typeface="Arial" panose="020B0604020202020204"/>
                <a:ea typeface="宋体" panose="02010600030101010101" pitchFamily="2" charset="-122"/>
              </a:endParaRPr>
            </a:p>
          </p:txBody>
        </p:sp>
        <p:sp>
          <p:nvSpPr>
            <p:cNvPr id="84" name="Freeform 32"/>
            <p:cNvSpPr>
              <a:spLocks/>
            </p:cNvSpPr>
            <p:nvPr/>
          </p:nvSpPr>
          <p:spPr bwMode="auto">
            <a:xfrm>
              <a:off x="4224" y="2160"/>
              <a:ext cx="1104" cy="1824"/>
            </a:xfrm>
            <a:custGeom>
              <a:avLst/>
              <a:gdLst>
                <a:gd name="T0" fmla="*/ 1008 w 1104"/>
                <a:gd name="T1" fmla="*/ 0 h 2256"/>
                <a:gd name="T2" fmla="*/ 1104 w 1104"/>
                <a:gd name="T3" fmla="*/ 0 h 2256"/>
                <a:gd name="T4" fmla="*/ 1104 w 1104"/>
                <a:gd name="T5" fmla="*/ 590 h 2256"/>
                <a:gd name="T6" fmla="*/ 0 w 1104"/>
                <a:gd name="T7" fmla="*/ 590 h 2256"/>
                <a:gd name="T8" fmla="*/ 0 w 1104"/>
                <a:gd name="T9" fmla="*/ 631 h 2256"/>
                <a:gd name="T10" fmla="*/ 0 60000 65536"/>
                <a:gd name="T11" fmla="*/ 0 60000 65536"/>
                <a:gd name="T12" fmla="*/ 0 60000 65536"/>
                <a:gd name="T13" fmla="*/ 0 60000 65536"/>
                <a:gd name="T14" fmla="*/ 0 60000 65536"/>
                <a:gd name="T15" fmla="*/ 0 w 1104"/>
                <a:gd name="T16" fmla="*/ 0 h 2256"/>
                <a:gd name="T17" fmla="*/ 1104 w 1104"/>
                <a:gd name="T18" fmla="*/ 2256 h 2256"/>
              </a:gdLst>
              <a:ahLst/>
              <a:cxnLst>
                <a:cxn ang="T10">
                  <a:pos x="T0" y="T1"/>
                </a:cxn>
                <a:cxn ang="T11">
                  <a:pos x="T2" y="T3"/>
                </a:cxn>
                <a:cxn ang="T12">
                  <a:pos x="T4" y="T5"/>
                </a:cxn>
                <a:cxn ang="T13">
                  <a:pos x="T6" y="T7"/>
                </a:cxn>
                <a:cxn ang="T14">
                  <a:pos x="T8" y="T9"/>
                </a:cxn>
              </a:cxnLst>
              <a:rect l="T15" t="T16" r="T17" b="T18"/>
              <a:pathLst>
                <a:path w="1104" h="2256">
                  <a:moveTo>
                    <a:pt x="1008" y="0"/>
                  </a:moveTo>
                  <a:lnTo>
                    <a:pt x="1104" y="0"/>
                  </a:lnTo>
                  <a:lnTo>
                    <a:pt x="1104" y="2112"/>
                  </a:lnTo>
                  <a:lnTo>
                    <a:pt x="0" y="2112"/>
                  </a:lnTo>
                  <a:lnTo>
                    <a:pt x="0" y="2256"/>
                  </a:lnTo>
                </a:path>
              </a:pathLst>
            </a:custGeom>
            <a:noFill/>
            <a:ln w="15875" cap="sq" cmpd="sng">
              <a:solidFill>
                <a:schemeClr val="tx1"/>
              </a:solidFill>
              <a:prstDash val="solid"/>
              <a:round/>
              <a:headEnd type="none" w="sm" len="sm"/>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sp>
          <p:nvSpPr>
            <p:cNvPr id="85" name="Line 33"/>
            <p:cNvSpPr>
              <a:spLocks noChangeShapeType="1"/>
            </p:cNvSpPr>
            <p:nvPr/>
          </p:nvSpPr>
          <p:spPr bwMode="auto">
            <a:xfrm>
              <a:off x="4080" y="1968"/>
              <a:ext cx="0" cy="144"/>
            </a:xfrm>
            <a:prstGeom prst="line">
              <a:avLst/>
            </a:prstGeom>
            <a:noFill/>
            <a:ln w="158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pPr defTabSz="503972" rtl="0" fontAlgn="auto" hangingPunct="1">
                <a:lnSpc>
                  <a:spcPct val="100000"/>
                </a:lnSpc>
                <a:spcBef>
                  <a:spcPts val="0"/>
                </a:spcBef>
                <a:spcAft>
                  <a:spcPts val="0"/>
                </a:spcAft>
                <a:buSzTx/>
              </a:pPr>
              <a:endParaRPr lang="zh-CN" altLang="en-US" sz="1984">
                <a:solidFill>
                  <a:prstClr val="black"/>
                </a:solidFill>
                <a:latin typeface="Arial" panose="020B0604020202020204"/>
                <a:ea typeface="黑体" panose="02010609060101010101" pitchFamily="49" charset="-122"/>
              </a:endParaRPr>
            </a:p>
          </p:txBody>
        </p:sp>
      </p:grpSp>
    </p:spTree>
    <p:extLst>
      <p:ext uri="{BB962C8B-B14F-4D97-AF65-F5344CB8AC3E}">
        <p14:creationId xmlns:p14="http://schemas.microsoft.com/office/powerpoint/2010/main" val="150787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up)">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删除归纳变量</a:t>
            </a:r>
          </a:p>
        </p:txBody>
      </p:sp>
      <p:sp>
        <p:nvSpPr>
          <p:cNvPr id="34819" name="Rectangle 3"/>
          <p:cNvSpPr>
            <a:spLocks noGrp="1" noChangeArrowheads="1"/>
          </p:cNvSpPr>
          <p:nvPr>
            <p:ph idx="1"/>
          </p:nvPr>
        </p:nvSpPr>
        <p:spPr>
          <a:xfrm>
            <a:off x="694987" y="1861148"/>
            <a:ext cx="8694618" cy="4797715"/>
          </a:xfrm>
        </p:spPr>
        <p:txBody>
          <a:bodyPr/>
          <a:lstStyle/>
          <a:p>
            <a:pPr eaLnBrk="1" hangingPunct="1">
              <a:lnSpc>
                <a:spcPct val="90000"/>
              </a:lnSpc>
            </a:pPr>
            <a:r>
              <a:rPr lang="zh-CN" altLang="en-US" dirty="0">
                <a:latin typeface="微软雅黑" panose="020B0503020204020204" pitchFamily="34" charset="-122"/>
              </a:rPr>
              <a:t>删除归纳变量在强度削弱以后进行</a:t>
            </a:r>
            <a:endParaRPr lang="en-US" altLang="zh-CN" dirty="0">
              <a:latin typeface="微软雅黑" panose="020B0503020204020204" pitchFamily="34" charset="-122"/>
            </a:endParaRPr>
          </a:p>
          <a:p>
            <a:pPr eaLnBrk="1" hangingPunct="1">
              <a:lnSpc>
                <a:spcPct val="90000"/>
              </a:lnSpc>
            </a:pPr>
            <a:r>
              <a:rPr lang="zh-CN" altLang="en-US" dirty="0">
                <a:latin typeface="微软雅黑" panose="020B0503020204020204" pitchFamily="34" charset="-122"/>
              </a:rPr>
              <a:t>强度削弱和删除归纳变量的统一算法框架</a:t>
            </a:r>
            <a:endParaRPr lang="en-US" altLang="zh-CN" dirty="0">
              <a:latin typeface="微软雅黑" panose="020B0503020204020204" pitchFamily="34" charset="-122"/>
            </a:endParaRPr>
          </a:p>
        </p:txBody>
      </p:sp>
      <p:sp>
        <p:nvSpPr>
          <p:cNvPr id="4" name="文本框 3"/>
          <p:cNvSpPr txBox="1"/>
          <p:nvPr/>
        </p:nvSpPr>
        <p:spPr>
          <a:xfrm>
            <a:off x="7056225" y="944959"/>
            <a:ext cx="3023870" cy="5669756"/>
          </a:xfrm>
          <a:prstGeom prst="rect">
            <a:avLst/>
          </a:prstGeom>
          <a:noFill/>
        </p:spPr>
        <p:txBody>
          <a:bodyPr wrap="square" rtlCol="0">
            <a:noAutofit/>
          </a:bodyPr>
          <a:lstStyle/>
          <a:p>
            <a:pPr defTabSz="503972" rtl="0" fontAlgn="auto" hangingPunct="1">
              <a:lnSpc>
                <a:spcPct val="90000"/>
              </a:lnSpc>
              <a:spcBef>
                <a:spcPts val="0"/>
              </a:spcBef>
              <a:spcAft>
                <a:spcPts val="0"/>
              </a:spcAft>
              <a:buSzTx/>
            </a:pPr>
            <a:endParaRPr lang="zh-CN" altLang="en-US" sz="1488" dirty="0">
              <a:solidFill>
                <a:srgbClr val="C00000"/>
              </a:solidFill>
              <a:latin typeface="微软雅黑" panose="020B0503020204020204" pitchFamily="34" charset="-122"/>
              <a:ea typeface="黑体" panose="02010609060101010101" pitchFamily="49" charset="-122"/>
            </a:endParaRPr>
          </a:p>
        </p:txBody>
      </p:sp>
      <p:sp>
        <p:nvSpPr>
          <p:cNvPr id="3" name="文本框 2"/>
          <p:cNvSpPr txBox="1"/>
          <p:nvPr/>
        </p:nvSpPr>
        <p:spPr>
          <a:xfrm>
            <a:off x="278853" y="2954498"/>
            <a:ext cx="9649085" cy="4420441"/>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defTabSz="503972" rtl="0" fontAlgn="auto" hangingPunct="1">
              <a:lnSpc>
                <a:spcPct val="100000"/>
              </a:lnSpc>
              <a:spcBef>
                <a:spcPts val="496"/>
              </a:spcBef>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1. 利用循环不变运算信息，找出循环中所有基本归纳变量。</a:t>
            </a:r>
          </a:p>
          <a:p>
            <a:pPr defTabSz="503972" rtl="0" fontAlgn="auto" hangingPunct="1">
              <a:lnSpc>
                <a:spcPct val="100000"/>
              </a:lnSpc>
              <a:spcBef>
                <a:spcPts val="496"/>
              </a:spcBef>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2. 找出所有其它归纳变量</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并找出</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与已知基本归纳变量</a:t>
            </a:r>
            <a:r>
              <a:rPr lang="en-US" altLang="zh-CN" sz="2646" dirty="0">
                <a:solidFill>
                  <a:prstClr val="white"/>
                </a:solidFill>
                <a:latin typeface="微软雅黑" panose="020B0503020204020204" pitchFamily="34" charset="-122"/>
                <a:ea typeface="微软雅黑" panose="020B0503020204020204" pitchFamily="34" charset="-122"/>
              </a:rPr>
              <a:t>X</a:t>
            </a:r>
            <a:r>
              <a:rPr lang="zh-CN" altLang="en-US" sz="2646" dirty="0">
                <a:solidFill>
                  <a:prstClr val="white"/>
                </a:solidFill>
                <a:latin typeface="微软雅黑" panose="020B0503020204020204" pitchFamily="34" charset="-122"/>
                <a:ea typeface="微软雅黑" panose="020B0503020204020204" pitchFamily="34" charset="-122"/>
              </a:rPr>
              <a:t>的同族线性函数关系</a:t>
            </a:r>
            <a:r>
              <a:rPr lang="en-US" altLang="zh-CN" sz="2646" dirty="0">
                <a:solidFill>
                  <a:prstClr val="white"/>
                </a:solidFill>
                <a:latin typeface="微软雅黑" panose="020B0503020204020204" pitchFamily="34" charset="-122"/>
                <a:ea typeface="微软雅黑" panose="020B0503020204020204" pitchFamily="34" charset="-122"/>
              </a:rPr>
              <a:t>F</a:t>
            </a:r>
            <a:r>
              <a:rPr lang="en-US" altLang="zh-CN" sz="2646" baseline="-25000" dirty="0">
                <a:solidFill>
                  <a:prstClr val="white"/>
                </a:solidFill>
                <a:latin typeface="微软雅黑" panose="020B0503020204020204" pitchFamily="34" charset="-122"/>
                <a:ea typeface="微软雅黑" panose="020B0503020204020204" pitchFamily="34" charset="-122"/>
              </a:rPr>
              <a:t>A</a:t>
            </a:r>
            <a:r>
              <a:rPr lang="en-US" altLang="zh-CN" sz="2646" dirty="0">
                <a:solidFill>
                  <a:prstClr val="white"/>
                </a:solidFill>
                <a:latin typeface="微软雅黑" panose="020B0503020204020204" pitchFamily="34" charset="-122"/>
                <a:ea typeface="微软雅黑" panose="020B0503020204020204" pitchFamily="34" charset="-122"/>
              </a:rPr>
              <a:t>(X)。</a:t>
            </a:r>
          </a:p>
          <a:p>
            <a:pPr defTabSz="503972" rtl="0" fontAlgn="auto" hangingPunct="1">
              <a:lnSpc>
                <a:spcPct val="100000"/>
              </a:lnSpc>
              <a:spcBef>
                <a:spcPts val="496"/>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3. </a:t>
            </a:r>
            <a:r>
              <a:rPr lang="zh-CN" altLang="en-US" sz="2646" dirty="0">
                <a:solidFill>
                  <a:prstClr val="white"/>
                </a:solidFill>
                <a:latin typeface="微软雅黑" panose="020B0503020204020204" pitchFamily="34" charset="-122"/>
                <a:ea typeface="微软雅黑" panose="020B0503020204020204" pitchFamily="34" charset="-122"/>
              </a:rPr>
              <a:t>对2中找出的每一归纳变量</a:t>
            </a:r>
            <a:r>
              <a:rPr lang="en-US" altLang="zh-CN" sz="2646" dirty="0">
                <a:solidFill>
                  <a:prstClr val="white"/>
                </a:solidFill>
                <a:latin typeface="微软雅黑" panose="020B0503020204020204" pitchFamily="34" charset="-122"/>
                <a:ea typeface="微软雅黑" panose="020B0503020204020204" pitchFamily="34" charset="-122"/>
              </a:rPr>
              <a:t>A，</a:t>
            </a:r>
            <a:r>
              <a:rPr lang="zh-CN" altLang="en-US" sz="2646" dirty="0">
                <a:solidFill>
                  <a:prstClr val="white"/>
                </a:solidFill>
                <a:latin typeface="微软雅黑" panose="020B0503020204020204" pitchFamily="34" charset="-122"/>
                <a:ea typeface="微软雅黑" panose="020B0503020204020204" pitchFamily="34" charset="-122"/>
              </a:rPr>
              <a:t>进行强度削弱。</a:t>
            </a:r>
          </a:p>
          <a:p>
            <a:pPr defTabSz="503972" rtl="0" fontAlgn="auto" hangingPunct="1">
              <a:lnSpc>
                <a:spcPct val="100000"/>
              </a:lnSpc>
              <a:spcBef>
                <a:spcPts val="496"/>
              </a:spcBef>
              <a:spcAft>
                <a:spcPts val="0"/>
              </a:spcAft>
              <a:buSzTx/>
            </a:pPr>
            <a:r>
              <a:rPr lang="zh-CN" altLang="en-US" sz="2646" dirty="0">
                <a:solidFill>
                  <a:prstClr val="white"/>
                </a:solidFill>
                <a:latin typeface="微软雅黑" panose="020B0503020204020204" pitchFamily="34" charset="-122"/>
                <a:ea typeface="微软雅黑" panose="020B0503020204020204" pitchFamily="34" charset="-122"/>
              </a:rPr>
              <a:t>4. 删除对归纳变量的无用赋值。</a:t>
            </a:r>
            <a:endParaRPr lang="en-US" altLang="zh-CN" sz="2646" dirty="0">
              <a:solidFill>
                <a:prstClr val="white"/>
              </a:solidFill>
              <a:latin typeface="微软雅黑" panose="020B0503020204020204" pitchFamily="34" charset="-122"/>
              <a:ea typeface="微软雅黑" panose="020B0503020204020204" pitchFamily="34" charset="-122"/>
            </a:endParaRPr>
          </a:p>
          <a:p>
            <a:pPr defTabSz="503972" rtl="0" fontAlgn="auto" hangingPunct="1">
              <a:lnSpc>
                <a:spcPct val="100000"/>
              </a:lnSpc>
              <a:spcBef>
                <a:spcPts val="496"/>
              </a:spcBef>
              <a:spcAft>
                <a:spcPts val="0"/>
              </a:spcAft>
              <a:buSzTx/>
            </a:pPr>
            <a:r>
              <a:rPr lang="en-US" altLang="zh-CN" sz="2646" dirty="0">
                <a:solidFill>
                  <a:prstClr val="white"/>
                </a:solidFill>
                <a:latin typeface="微软雅黑" panose="020B0503020204020204" pitchFamily="34" charset="-122"/>
                <a:ea typeface="微软雅黑" panose="020B0503020204020204" pitchFamily="34" charset="-122"/>
              </a:rPr>
              <a:t>5. </a:t>
            </a:r>
            <a:r>
              <a:rPr lang="zh-CN" altLang="en-US" sz="2646" dirty="0">
                <a:solidFill>
                  <a:prstClr val="white"/>
                </a:solidFill>
                <a:latin typeface="微软雅黑" panose="020B0503020204020204" pitchFamily="34" charset="-122"/>
                <a:ea typeface="微软雅黑" panose="020B0503020204020204" pitchFamily="34" charset="-122"/>
              </a:rPr>
              <a:t>删除基本归纳变量。如果基本归纳变量</a:t>
            </a:r>
            <a:r>
              <a:rPr lang="en-US" altLang="zh-CN" sz="2646" dirty="0">
                <a:solidFill>
                  <a:prstClr val="white"/>
                </a:solidFill>
                <a:latin typeface="微软雅黑" panose="020B0503020204020204" pitchFamily="34" charset="-122"/>
                <a:ea typeface="微软雅黑" panose="020B0503020204020204" pitchFamily="34" charset="-122"/>
              </a:rPr>
              <a:t>B</a:t>
            </a:r>
            <a:r>
              <a:rPr lang="zh-CN" altLang="en-US" sz="2646" dirty="0">
                <a:solidFill>
                  <a:prstClr val="white"/>
                </a:solidFill>
                <a:latin typeface="微软雅黑" panose="020B0503020204020204" pitchFamily="34" charset="-122"/>
                <a:ea typeface="微软雅黑" panose="020B0503020204020204" pitchFamily="34" charset="-122"/>
              </a:rPr>
              <a:t>在循环出口之后不是活跃的，并且在循环中，除在其自身的递归赋值中被引用外，只在形如 </a:t>
            </a:r>
            <a:r>
              <a:rPr lang="en-US" altLang="zh-CN" sz="2646" dirty="0">
                <a:solidFill>
                  <a:srgbClr val="C00000"/>
                </a:solidFill>
                <a:latin typeface="微软雅黑" panose="020B0503020204020204" pitchFamily="34" charset="-122"/>
                <a:ea typeface="微软雅黑" panose="020B0503020204020204" pitchFamily="34" charset="-122"/>
              </a:rPr>
              <a:t>if B </a:t>
            </a:r>
            <a:r>
              <a:rPr lang="en-US" altLang="zh-CN" sz="2646" dirty="0" err="1">
                <a:solidFill>
                  <a:srgbClr val="C00000"/>
                </a:solidFill>
                <a:latin typeface="微软雅黑" panose="020B0503020204020204" pitchFamily="34" charset="-122"/>
                <a:ea typeface="微软雅黑" panose="020B0503020204020204" pitchFamily="34" charset="-122"/>
              </a:rPr>
              <a:t>rop</a:t>
            </a:r>
            <a:r>
              <a:rPr lang="en-US" altLang="zh-CN" sz="2646" dirty="0">
                <a:solidFill>
                  <a:srgbClr val="C00000"/>
                </a:solidFill>
                <a:latin typeface="微软雅黑" panose="020B0503020204020204" pitchFamily="34" charset="-122"/>
                <a:ea typeface="微软雅黑" panose="020B0503020204020204" pitchFamily="34" charset="-122"/>
              </a:rPr>
              <a:t> Y </a:t>
            </a:r>
            <a:r>
              <a:rPr lang="en-US" altLang="zh-CN" sz="2646" dirty="0" err="1">
                <a:solidFill>
                  <a:srgbClr val="C00000"/>
                </a:solidFill>
                <a:latin typeface="微软雅黑" panose="020B0503020204020204" pitchFamily="34" charset="-122"/>
                <a:ea typeface="微软雅黑" panose="020B0503020204020204" pitchFamily="34" charset="-122"/>
              </a:rPr>
              <a:t>goto</a:t>
            </a:r>
            <a:r>
              <a:rPr lang="en-US" altLang="zh-CN" sz="2646" dirty="0">
                <a:solidFill>
                  <a:srgbClr val="C00000"/>
                </a:solidFill>
                <a:latin typeface="微软雅黑" panose="020B0503020204020204" pitchFamily="34" charset="-122"/>
                <a:ea typeface="微软雅黑" panose="020B0503020204020204" pitchFamily="34" charset="-122"/>
              </a:rPr>
              <a:t> L </a:t>
            </a:r>
            <a:r>
              <a:rPr lang="zh-CN" altLang="en-US" sz="2646" dirty="0">
                <a:solidFill>
                  <a:prstClr val="white"/>
                </a:solidFill>
                <a:latin typeface="微软雅黑" panose="020B0503020204020204" pitchFamily="34" charset="-122"/>
                <a:ea typeface="微软雅黑" panose="020B0503020204020204" pitchFamily="34" charset="-122"/>
              </a:rPr>
              <a:t>的语句中被引用，则可选取一与</a:t>
            </a:r>
            <a:r>
              <a:rPr lang="en-US" altLang="zh-CN" sz="2646" dirty="0">
                <a:solidFill>
                  <a:prstClr val="white"/>
                </a:solidFill>
                <a:latin typeface="微软雅黑" panose="020B0503020204020204" pitchFamily="34" charset="-122"/>
                <a:ea typeface="微软雅黑" panose="020B0503020204020204" pitchFamily="34" charset="-122"/>
              </a:rPr>
              <a:t>B</a:t>
            </a:r>
            <a:r>
              <a:rPr lang="zh-CN" altLang="en-US" sz="2646" dirty="0">
                <a:solidFill>
                  <a:prstClr val="white"/>
                </a:solidFill>
                <a:latin typeface="微软雅黑" panose="020B0503020204020204" pitchFamily="34" charset="-122"/>
                <a:ea typeface="微软雅黑" panose="020B0503020204020204" pitchFamily="34" charset="-122"/>
              </a:rPr>
              <a:t>同族的归纳变量</a:t>
            </a:r>
            <a:r>
              <a:rPr lang="en-US" altLang="zh-CN" sz="2646" dirty="0">
                <a:solidFill>
                  <a:prstClr val="white"/>
                </a:solidFill>
                <a:latin typeface="微软雅黑" panose="020B0503020204020204" pitchFamily="34" charset="-122"/>
                <a:ea typeface="微软雅黑" panose="020B0503020204020204" pitchFamily="34" charset="-122"/>
              </a:rPr>
              <a:t>M</a:t>
            </a:r>
            <a:r>
              <a:rPr lang="zh-CN" altLang="en-US" sz="2646" dirty="0">
                <a:solidFill>
                  <a:prstClr val="white"/>
                </a:solidFill>
                <a:latin typeface="微软雅黑" panose="020B0503020204020204" pitchFamily="34" charset="-122"/>
                <a:ea typeface="微软雅黑" panose="020B0503020204020204" pitchFamily="34" charset="-122"/>
              </a:rPr>
              <a:t>来替换</a:t>
            </a:r>
            <a:r>
              <a:rPr lang="en-US" altLang="zh-CN" sz="2646" dirty="0">
                <a:solidFill>
                  <a:prstClr val="white"/>
                </a:solidFill>
                <a:latin typeface="微软雅黑" panose="020B0503020204020204" pitchFamily="34" charset="-122"/>
                <a:ea typeface="微软雅黑" panose="020B0503020204020204" pitchFamily="34" charset="-122"/>
              </a:rPr>
              <a:t>B</a:t>
            </a:r>
            <a:r>
              <a:rPr lang="zh-CN" altLang="en-US" sz="2646" dirty="0">
                <a:solidFill>
                  <a:prstClr val="white"/>
                </a:solidFill>
                <a:latin typeface="微软雅黑" panose="020B0503020204020204" pitchFamily="34" charset="-122"/>
                <a:ea typeface="微软雅黑" panose="020B0503020204020204" pitchFamily="34" charset="-122"/>
              </a:rPr>
              <a:t>进行条件控制。最后删除循环中对</a:t>
            </a:r>
            <a:r>
              <a:rPr lang="en-US" altLang="zh-CN" sz="2646" dirty="0">
                <a:solidFill>
                  <a:prstClr val="white"/>
                </a:solidFill>
                <a:latin typeface="微软雅黑" panose="020B0503020204020204" pitchFamily="34" charset="-122"/>
                <a:ea typeface="微软雅黑" panose="020B0503020204020204" pitchFamily="34" charset="-122"/>
              </a:rPr>
              <a:t>B</a:t>
            </a:r>
            <a:r>
              <a:rPr lang="zh-CN" altLang="en-US" sz="2646" dirty="0">
                <a:solidFill>
                  <a:prstClr val="white"/>
                </a:solidFill>
                <a:latin typeface="微软雅黑" panose="020B0503020204020204" pitchFamily="34" charset="-122"/>
                <a:ea typeface="微软雅黑" panose="020B0503020204020204" pitchFamily="34" charset="-122"/>
              </a:rPr>
              <a:t>的递归赋值的代码。</a:t>
            </a:r>
          </a:p>
        </p:txBody>
      </p:sp>
    </p:spTree>
    <p:extLst>
      <p:ext uri="{BB962C8B-B14F-4D97-AF65-F5344CB8AC3E}">
        <p14:creationId xmlns:p14="http://schemas.microsoft.com/office/powerpoint/2010/main" val="27420223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wipe(left)">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wipe(left)">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bg/>
                                          </p:spTgt>
                                        </p:tgtEl>
                                        <p:attrNameLst>
                                          <p:attrName>style.visibility</p:attrName>
                                        </p:attrNameLst>
                                      </p:cBhvr>
                                      <p:to>
                                        <p:strVal val="visible"/>
                                      </p:to>
                                    </p:set>
                                    <p:animEffect transition="in" filter="wipe(left)">
                                      <p:cBhvr>
                                        <p:cTn id="17" dur="500"/>
                                        <p:tgtEl>
                                          <p:spTgt spid="3">
                                            <p:bg/>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wipe(left)">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wipe(left)">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wipe(left)">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wipe(left)">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wipe(left)">
                                      <p:cBhvr>
                                        <p:cTn id="4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P spid="3" grpId="0" build="p"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2"/>
          <p:cNvSpPr txBox="1">
            <a:spLocks noGrp="1"/>
          </p:cNvSpPr>
          <p:nvPr/>
        </p:nvSpPr>
        <p:spPr>
          <a:xfrm>
            <a:off x="3448050" y="6886575"/>
            <a:ext cx="3194050" cy="519113"/>
          </a:xfrm>
          <a:prstGeom prst="rect">
            <a:avLst/>
          </a:prstGeom>
          <a:noFill/>
          <a:ln w="9525">
            <a:noFill/>
          </a:ln>
        </p:spPr>
        <p:txBody>
          <a:bodyPr lIns="0" tIns="0" rIns="0" bIns="0"/>
          <a:lstStyle/>
          <a:p>
            <a:pPr algn="ctr" defTabSz="449580">
              <a:lnSpc>
                <a:spcPct val="116000"/>
              </a:lnSpc>
              <a:tabLst>
                <a:tab pos="723900" algn="l"/>
                <a:tab pos="1447800" algn="l"/>
                <a:tab pos="2171700" algn="l"/>
                <a:tab pos="2895600" algn="l"/>
              </a:tabLst>
            </a:pPr>
            <a:endParaRPr lang="en-GB" altLang="en-US" sz="1000" dirty="0">
              <a:latin typeface="Comic Sans MS" panose="030F0702030302020204" pitchFamily="2" charset="0"/>
              <a:ea typeface="宋体" panose="02010600030101010101" pitchFamily="2" charset="-122"/>
            </a:endParaRPr>
          </a:p>
        </p:txBody>
      </p:sp>
      <p:sp>
        <p:nvSpPr>
          <p:cNvPr id="69635" name="Rectangle 2"/>
          <p:cNvSpPr/>
          <p:nvPr/>
        </p:nvSpPr>
        <p:spPr>
          <a:xfrm>
            <a:off x="0" y="0"/>
            <a:ext cx="10080625" cy="7559675"/>
          </a:xfrm>
          <a:prstGeom prst="rect">
            <a:avLst/>
          </a:prstGeom>
          <a:solidFill>
            <a:srgbClr val="000000"/>
          </a:solidFill>
          <a:ln w="9525" cap="flat" cmpd="sng">
            <a:solidFill>
              <a:srgbClr val="FFFFFF"/>
            </a:solidFill>
            <a:prstDash val="solid"/>
            <a:miter/>
            <a:headEnd type="none" w="med" len="med"/>
            <a:tailEnd type="none" w="med" len="med"/>
          </a:ln>
        </p:spPr>
        <p:txBody>
          <a:bodyPr wrap="none" lIns="90000" tIns="67932" rIns="90000" bIns="45000" anchor="ctr" anchorCtr="0"/>
          <a:lstStyle/>
          <a:p>
            <a:pPr algn="ctr" defTabSz="44958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lang="en-GB" altLang="en-US" sz="2600" dirty="0">
                <a:solidFill>
                  <a:srgbClr val="E6E6E6"/>
                </a:solidFill>
                <a:latin typeface="Arial" panose="020B0604020202020204" pitchFamily="34" charset="0"/>
                <a:ea typeface="宋体" panose="02010600030101010101" pitchFamily="2" charset="-122"/>
              </a:rPr>
              <a:t>THE END</a:t>
            </a:r>
          </a:p>
          <a:p>
            <a:pPr algn="ctr" defTabSz="44958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endParaRPr lang="en-GB" altLang="en-US" sz="2600" dirty="0">
              <a:solidFill>
                <a:srgbClr val="E6E6E6"/>
              </a:solidFill>
              <a:latin typeface="Arial" panose="020B0604020202020204" pitchFamily="34" charset="0"/>
              <a:ea typeface="宋体" panose="02010600030101010101" pitchFamily="2" charset="-122"/>
            </a:endParaRPr>
          </a:p>
          <a:p>
            <a:pPr algn="ctr" defTabSz="44958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pPr>
            <a:r>
              <a:rPr lang="en-GB" altLang="en-US" sz="2600" dirty="0">
                <a:solidFill>
                  <a:srgbClr val="E6E6E6"/>
                </a:solidFill>
                <a:latin typeface="Arial" panose="020B0604020202020204" pitchFamily="34" charset="0"/>
                <a:ea typeface="宋体" panose="02010600030101010101" pitchFamily="2" charset="-122"/>
              </a:rPr>
              <a:t>QUESTIONS</a:t>
            </a:r>
          </a:p>
        </p:txBody>
      </p:sp>
      <p:sp>
        <p:nvSpPr>
          <p:cNvPr id="69636" name="Slide Number Placeholder 5"/>
          <p:cNvSpPr txBox="1">
            <a:spLocks noGrp="1"/>
          </p:cNvSpPr>
          <p:nvPr/>
        </p:nvSpPr>
        <p:spPr>
          <a:xfrm>
            <a:off x="7227888" y="6886575"/>
            <a:ext cx="2346325" cy="519113"/>
          </a:xfrm>
          <a:prstGeom prst="rect">
            <a:avLst/>
          </a:prstGeom>
          <a:noFill/>
          <a:ln w="9525">
            <a:noFill/>
          </a:ln>
        </p:spPr>
        <p:txBody>
          <a:bodyPr lIns="0" tIns="0" rIns="0" bIns="0"/>
          <a:lstStyle/>
          <a:p>
            <a:pPr algn="r">
              <a:lnSpc>
                <a:spcPct val="116000"/>
              </a:lnSpc>
            </a:pPr>
            <a:fld id="{9A0DB2DC-4C9A-4742-B13C-FB6460FD3503}" type="slidenum">
              <a:rPr lang="en-GB" altLang="en-US" sz="1200" dirty="0">
                <a:latin typeface="Comic Sans MS" panose="030F0702030302020204" pitchFamily="2" charset="0"/>
                <a:ea typeface="宋体" panose="02010600030101010101" pitchFamily="2" charset="-122"/>
              </a:rPr>
              <a:t>111</a:t>
            </a:fld>
            <a:endParaRPr lang="en-GB" altLang="en-US" sz="1200" dirty="0">
              <a:latin typeface="Comic Sans MS" panose="030F0702030302020204" pitchFamily="2" charset="0"/>
              <a:ea typeface="宋体" panose="02010600030101010101" pitchFamily="2" charset="-122"/>
            </a:endParaRPr>
          </a:p>
        </p:txBody>
      </p:sp>
      <p:sp>
        <p:nvSpPr>
          <p:cNvPr id="69637" name="Date Placeholder 6"/>
          <p:cNvSpPr txBox="1">
            <a:spLocks noGrp="1"/>
          </p:cNvSpPr>
          <p:nvPr/>
        </p:nvSpPr>
        <p:spPr>
          <a:xfrm>
            <a:off x="144463" y="6886575"/>
            <a:ext cx="3094037" cy="519113"/>
          </a:xfrm>
          <a:prstGeom prst="rect">
            <a:avLst/>
          </a:prstGeom>
          <a:noFill/>
          <a:ln w="9525">
            <a:noFill/>
          </a:ln>
        </p:spPr>
        <p:txBody>
          <a:bodyPr lIns="0" tIns="0" rIns="0" bIns="0"/>
          <a:lstStyle/>
          <a:p>
            <a:pPr>
              <a:lnSpc>
                <a:spcPct val="116000"/>
              </a:lnSpc>
            </a:pPr>
            <a:endParaRPr lang="en-GB" altLang="en-US" sz="1000" dirty="0">
              <a:latin typeface="Comic Sans MS" panose="030F0702030302020204" pitchFamily="2" charset="0"/>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微软雅黑"/>
        <a:ea typeface="微软雅黑"/>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xml><?xml version="1.0" encoding="utf-8"?>
<a:theme xmlns:a="http://schemas.openxmlformats.org/drawingml/2006/main" name="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xml><?xml version="1.0" encoding="utf-8"?>
<a:theme xmlns:a="http://schemas.openxmlformats.org/drawingml/2006/main" name="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6.xml><?xml version="1.0" encoding="utf-8"?>
<a:theme xmlns:a="http://schemas.openxmlformats.org/drawingml/2006/main" name="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7.xml><?xml version="1.0" encoding="utf-8"?>
<a:theme xmlns:a="http://schemas.openxmlformats.org/drawingml/2006/main" name="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8.xml><?xml version="1.0" encoding="utf-8"?>
<a:theme xmlns:a="http://schemas.openxmlformats.org/drawingml/2006/main" name="5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9.xml><?xml version="1.0" encoding="utf-8"?>
<a:theme xmlns:a="http://schemas.openxmlformats.org/drawingml/2006/main" name="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0.xml><?xml version="1.0" encoding="utf-8"?>
<a:theme xmlns:a="http://schemas.openxmlformats.org/drawingml/2006/main" name="7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1.xml><?xml version="1.0" encoding="utf-8"?>
<a:theme xmlns:a="http://schemas.openxmlformats.org/drawingml/2006/main" name="8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2.xml><?xml version="1.0" encoding="utf-8"?>
<a:theme xmlns:a="http://schemas.openxmlformats.org/drawingml/2006/main" name="9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3.xml><?xml version="1.0" encoding="utf-8"?>
<a:theme xmlns:a="http://schemas.openxmlformats.org/drawingml/2006/main" name="1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4.xml><?xml version="1.0" encoding="utf-8"?>
<a:theme xmlns:a="http://schemas.openxmlformats.org/drawingml/2006/main" name="1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5.xml><?xml version="1.0" encoding="utf-8"?>
<a:theme xmlns:a="http://schemas.openxmlformats.org/drawingml/2006/main" name="1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6.xml><?xml version="1.0" encoding="utf-8"?>
<a:theme xmlns:a="http://schemas.openxmlformats.org/drawingml/2006/main" name="1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7.xml><?xml version="1.0" encoding="utf-8"?>
<a:theme xmlns:a="http://schemas.openxmlformats.org/drawingml/2006/main" name="15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8.xml><?xml version="1.0" encoding="utf-8"?>
<a:theme xmlns:a="http://schemas.openxmlformats.org/drawingml/2006/main" name="1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9.xml><?xml version="1.0" encoding="utf-8"?>
<a:theme xmlns:a="http://schemas.openxmlformats.org/drawingml/2006/main" name="17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0.xml><?xml version="1.0" encoding="utf-8"?>
<a:theme xmlns:a="http://schemas.openxmlformats.org/drawingml/2006/main" name="18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1.xml><?xml version="1.0" encoding="utf-8"?>
<a:theme xmlns:a="http://schemas.openxmlformats.org/drawingml/2006/main" name="19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2.xml><?xml version="1.0" encoding="utf-8"?>
<a:theme xmlns:a="http://schemas.openxmlformats.org/drawingml/2006/main" name="20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3.xml><?xml version="1.0" encoding="utf-8"?>
<a:theme xmlns:a="http://schemas.openxmlformats.org/drawingml/2006/main" name="2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4.xml><?xml version="1.0" encoding="utf-8"?>
<a:theme xmlns:a="http://schemas.openxmlformats.org/drawingml/2006/main" name="2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5.xml><?xml version="1.0" encoding="utf-8"?>
<a:theme xmlns:a="http://schemas.openxmlformats.org/drawingml/2006/main" name="2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6.xml><?xml version="1.0" encoding="utf-8"?>
<a:theme xmlns:a="http://schemas.openxmlformats.org/drawingml/2006/main" name="2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7.xml><?xml version="1.0" encoding="utf-8"?>
<a:theme xmlns:a="http://schemas.openxmlformats.org/drawingml/2006/main" name="2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8.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2403</TotalTime>
  <Words>12967</Words>
  <Application>Microsoft Office PowerPoint</Application>
  <PresentationFormat>自定义</PresentationFormat>
  <Paragraphs>2622</Paragraphs>
  <Slides>111</Slides>
  <Notes>106</Notes>
  <HiddenSlides>0</HiddenSlides>
  <MMClips>0</MMClips>
  <ScaleCrop>false</ScaleCrop>
  <HeadingPairs>
    <vt:vector size="6" baseType="variant">
      <vt:variant>
        <vt:lpstr>已用的字体</vt:lpstr>
      </vt:variant>
      <vt:variant>
        <vt:i4>14</vt:i4>
      </vt:variant>
      <vt:variant>
        <vt:lpstr>主题</vt:lpstr>
      </vt:variant>
      <vt:variant>
        <vt:i4>27</vt:i4>
      </vt:variant>
      <vt:variant>
        <vt:lpstr>幻灯片标题</vt:lpstr>
      </vt:variant>
      <vt:variant>
        <vt:i4>111</vt:i4>
      </vt:variant>
    </vt:vector>
  </HeadingPairs>
  <TitlesOfParts>
    <vt:vector size="152" baseType="lpstr">
      <vt:lpstr>DejaVu Sans</vt:lpstr>
      <vt:lpstr>Droid Sans Fallback</vt:lpstr>
      <vt:lpstr>Ubuntu</vt:lpstr>
      <vt:lpstr>黑体</vt:lpstr>
      <vt:lpstr>楷体</vt:lpstr>
      <vt:lpstr>宋体</vt:lpstr>
      <vt:lpstr>微软雅黑</vt:lpstr>
      <vt:lpstr>Arial</vt:lpstr>
      <vt:lpstr>Calibri</vt:lpstr>
      <vt:lpstr>Comic Sans MS</vt:lpstr>
      <vt:lpstr>Symbol</vt:lpstr>
      <vt:lpstr>Times New Roman</vt:lpstr>
      <vt:lpstr>Wingdings</vt:lpstr>
      <vt:lpstr>Wingdings 3</vt:lpstr>
      <vt:lpstr>Office Theme</vt:lpstr>
      <vt:lpstr>1_Office Theme</vt:lpstr>
      <vt:lpstr>平面(MOOC)</vt:lpstr>
      <vt:lpstr>1_平面(MOOC)</vt:lpstr>
      <vt:lpstr>2_平面(MOOC)</vt:lpstr>
      <vt:lpstr>3_平面(MOOC)</vt:lpstr>
      <vt:lpstr>4_平面(MOOC)</vt:lpstr>
      <vt:lpstr>5_平面(MOOC)</vt:lpstr>
      <vt:lpstr>6_平面(MOOC)</vt:lpstr>
      <vt:lpstr>7_平面(MOOC)</vt:lpstr>
      <vt:lpstr>8_平面(MOOC)</vt:lpstr>
      <vt:lpstr>9_平面(MOOC)</vt:lpstr>
      <vt:lpstr>11_平面(MOOC)</vt:lpstr>
      <vt:lpstr>12_平面(MOOC)</vt:lpstr>
      <vt:lpstr>13_平面(MOOC)</vt:lpstr>
      <vt:lpstr>14_平面(MOOC)</vt:lpstr>
      <vt:lpstr>15_平面(MOOC)</vt:lpstr>
      <vt:lpstr>16_平面(MOOC)</vt:lpstr>
      <vt:lpstr>17_平面(MOOC)</vt:lpstr>
      <vt:lpstr>18_平面(MOOC)</vt:lpstr>
      <vt:lpstr>19_平面(MOOC)</vt:lpstr>
      <vt:lpstr>20_平面(MOOC)</vt:lpstr>
      <vt:lpstr>21_平面(MOOC)</vt:lpstr>
      <vt:lpstr>22_平面(MOOC)</vt:lpstr>
      <vt:lpstr>23_平面(MOOC)</vt:lpstr>
      <vt:lpstr>24_平面(MOOC)</vt:lpstr>
      <vt:lpstr>26_平面(MOOC)</vt:lpstr>
      <vt:lpstr>第八章 优化和目标代码生成                                       ——优化</vt:lpstr>
      <vt:lpstr>编译程序总框</vt:lpstr>
      <vt:lpstr>优化的基本概念</vt:lpstr>
      <vt:lpstr>优化的基本概念</vt:lpstr>
      <vt:lpstr>优化的基本概念</vt:lpstr>
      <vt:lpstr>示例程序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优化的级别</vt:lpstr>
      <vt:lpstr>基本块</vt:lpstr>
      <vt:lpstr>划分基本块</vt:lpstr>
      <vt:lpstr>划分基本块的算法</vt:lpstr>
      <vt:lpstr>划分基本块的算法</vt:lpstr>
      <vt:lpstr>划分基本块的算法</vt:lpstr>
      <vt:lpstr>划分基本块的算法</vt:lpstr>
      <vt:lpstr>划分基本块的算法</vt:lpstr>
      <vt:lpstr>划分基本块示例</vt:lpstr>
      <vt:lpstr>划分基本块示例</vt:lpstr>
      <vt:lpstr>划分基本块示例</vt:lpstr>
      <vt:lpstr>流图</vt:lpstr>
      <vt:lpstr>流图</vt:lpstr>
      <vt:lpstr>局部优化</vt:lpstr>
      <vt:lpstr>有向无环图(DAG)</vt:lpstr>
      <vt:lpstr>测试</vt:lpstr>
      <vt:lpstr>有向无环图(DAG)</vt:lpstr>
      <vt:lpstr>抽象语法树 vs. 有向无环图</vt:lpstr>
      <vt:lpstr>抽象语法树 vs. 三地址代码</vt:lpstr>
      <vt:lpstr>有向无环图 vs. 三地址代码</vt:lpstr>
      <vt:lpstr>DAG的扩充</vt:lpstr>
      <vt:lpstr>四元式的DAG表示</vt:lpstr>
      <vt:lpstr>四元式的DAG表示</vt:lpstr>
      <vt:lpstr>四元式的DAG表示</vt:lpstr>
      <vt:lpstr>四元式的DAG表示</vt:lpstr>
      <vt:lpstr>基本块的优化算法</vt:lpstr>
      <vt:lpstr>构造基本块的DAG示例</vt:lpstr>
      <vt:lpstr>构造基本块的DAG示例</vt:lpstr>
      <vt:lpstr>构造基本块的DAG示例</vt:lpstr>
      <vt:lpstr>构造基本块的DAG示例</vt:lpstr>
      <vt:lpstr>构造基本块的DAG的算法</vt:lpstr>
      <vt:lpstr>0,1,2型四元式的基本块的DAG构造算法</vt:lpstr>
      <vt:lpstr>0,1,2型四元式的基本块的DAG构造算法</vt:lpstr>
      <vt:lpstr>0,1,2型四元式的基本块的DAG构造算法</vt:lpstr>
      <vt:lpstr>0,1,2型四元式的基本块的DAG构造算法</vt:lpstr>
      <vt:lpstr>0,1,2型四元式的基本块的DAG构造算法</vt:lpstr>
      <vt:lpstr>构造基本块的DAG示例</vt:lpstr>
      <vt:lpstr>构造基本块的DAG示例</vt:lpstr>
      <vt:lpstr>构造基本块的DAG示例</vt:lpstr>
      <vt:lpstr>从DAG中得到的优化信息</vt:lpstr>
      <vt:lpstr>PowerPoint 演示文稿</vt:lpstr>
      <vt:lpstr>优化的级别</vt:lpstr>
      <vt:lpstr>循环优化的措施</vt:lpstr>
      <vt:lpstr>代码外提</vt:lpstr>
      <vt:lpstr>代码外提</vt:lpstr>
      <vt:lpstr>外提的位置</vt:lpstr>
      <vt:lpstr>循环优化示例</vt:lpstr>
      <vt:lpstr>PowerPoint 演示文稿</vt:lpstr>
      <vt:lpstr>外提的条件</vt:lpstr>
      <vt:lpstr>外提的条件</vt:lpstr>
      <vt:lpstr>外提的条件</vt:lpstr>
      <vt:lpstr>外提的条件</vt:lpstr>
      <vt:lpstr>外提的条件</vt:lpstr>
      <vt:lpstr>外提的条件</vt:lpstr>
      <vt:lpstr>外提的条件</vt:lpstr>
      <vt:lpstr>外提的条件</vt:lpstr>
      <vt:lpstr>外提的条件</vt:lpstr>
      <vt:lpstr>外提的条件</vt:lpstr>
      <vt:lpstr>查找循环中不变运算的算法</vt:lpstr>
      <vt:lpstr>代码外提算法</vt:lpstr>
      <vt:lpstr>强度消弱</vt:lpstr>
      <vt:lpstr>循环优化示例</vt:lpstr>
      <vt:lpstr>PowerPoint 演示文稿</vt:lpstr>
      <vt:lpstr>PowerPoint 演示文稿</vt:lpstr>
      <vt:lpstr>PowerPoint 演示文稿</vt:lpstr>
      <vt:lpstr>强度消弱</vt:lpstr>
      <vt:lpstr>PowerPoint 演示文稿</vt:lpstr>
      <vt:lpstr>删除归纳变量</vt:lpstr>
      <vt:lpstr>PowerPoint 演示文稿</vt:lpstr>
      <vt:lpstr>PowerPoint 演示文稿</vt:lpstr>
      <vt:lpstr>删除归纳变量</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Rounded Rectangles Template</dc:title>
  <dc:subject>Template</dc:subject>
  <dc:creator>erqiang </dc:creator>
  <cp:lastModifiedBy>jiajing zhu</cp:lastModifiedBy>
  <cp:revision>543</cp:revision>
  <dcterms:created xsi:type="dcterms:W3CDTF">2022-10-27T01:58:08Z</dcterms:created>
  <dcterms:modified xsi:type="dcterms:W3CDTF">2023-10-11T03:43:51Z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2052-11.1.0.10920</vt:lpwstr>
  </property>
</Properties>
</file>