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1" r:id="rId2"/>
    <p:sldMasterId id="2147483655" r:id="rId3"/>
  </p:sldMasterIdLst>
  <p:notesMasterIdLst>
    <p:notesMasterId r:id="rId61"/>
  </p:notesMasterIdLst>
  <p:handoutMasterIdLst>
    <p:handoutMasterId r:id="rId62"/>
  </p:handoutMasterIdLst>
  <p:sldIdLst>
    <p:sldId id="256" r:id="rId4"/>
    <p:sldId id="1303" r:id="rId5"/>
    <p:sldId id="1304" r:id="rId6"/>
    <p:sldId id="1305" r:id="rId7"/>
    <p:sldId id="1306" r:id="rId8"/>
    <p:sldId id="364" r:id="rId9"/>
    <p:sldId id="365" r:id="rId10"/>
    <p:sldId id="1307" r:id="rId11"/>
    <p:sldId id="1308" r:id="rId12"/>
    <p:sldId id="1309" r:id="rId13"/>
    <p:sldId id="1310" r:id="rId14"/>
    <p:sldId id="257" r:id="rId15"/>
    <p:sldId id="350" r:id="rId16"/>
    <p:sldId id="353" r:id="rId17"/>
    <p:sldId id="386" r:id="rId18"/>
    <p:sldId id="354" r:id="rId19"/>
    <p:sldId id="388" r:id="rId20"/>
    <p:sldId id="389" r:id="rId21"/>
    <p:sldId id="390" r:id="rId22"/>
    <p:sldId id="391" r:id="rId23"/>
    <p:sldId id="392" r:id="rId24"/>
    <p:sldId id="393" r:id="rId25"/>
    <p:sldId id="395" r:id="rId26"/>
    <p:sldId id="396" r:id="rId27"/>
    <p:sldId id="397" r:id="rId28"/>
    <p:sldId id="394" r:id="rId29"/>
    <p:sldId id="355" r:id="rId30"/>
    <p:sldId id="356" r:id="rId31"/>
    <p:sldId id="358" r:id="rId32"/>
    <p:sldId id="357" r:id="rId33"/>
    <p:sldId id="359" r:id="rId34"/>
    <p:sldId id="360" r:id="rId35"/>
    <p:sldId id="361" r:id="rId36"/>
    <p:sldId id="362" r:id="rId37"/>
    <p:sldId id="436" r:id="rId38"/>
    <p:sldId id="437" r:id="rId39"/>
    <p:sldId id="438" r:id="rId40"/>
    <p:sldId id="439" r:id="rId41"/>
    <p:sldId id="440" r:id="rId42"/>
    <p:sldId id="367" r:id="rId43"/>
    <p:sldId id="368" r:id="rId44"/>
    <p:sldId id="369" r:id="rId45"/>
    <p:sldId id="370" r:id="rId46"/>
    <p:sldId id="371" r:id="rId47"/>
    <p:sldId id="372" r:id="rId48"/>
    <p:sldId id="373" r:id="rId49"/>
    <p:sldId id="374" r:id="rId50"/>
    <p:sldId id="375" r:id="rId51"/>
    <p:sldId id="376" r:id="rId52"/>
    <p:sldId id="377" r:id="rId53"/>
    <p:sldId id="378" r:id="rId54"/>
    <p:sldId id="379" r:id="rId55"/>
    <p:sldId id="381" r:id="rId56"/>
    <p:sldId id="380" r:id="rId57"/>
    <p:sldId id="382" r:id="rId58"/>
    <p:sldId id="383" r:id="rId59"/>
    <p:sldId id="349" r:id="rId60"/>
  </p:sldIdLst>
  <p:sldSz cx="12192000" cy="6858000"/>
  <p:notesSz cx="7104063" cy="10234613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4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1D41D5"/>
    <a:srgbClr val="FFFF00"/>
    <a:srgbClr val="00FFFF"/>
    <a:srgbClr val="FF00FF"/>
    <a:srgbClr val="45ED33"/>
    <a:srgbClr val="99CCFF"/>
    <a:srgbClr val="B2B2B2"/>
    <a:srgbClr val="202020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ä¸­åº¦æ ·å¼ 2 - å¼ºè°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æ æ ·å¼ï¼æ ç½æ 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æ æ ·å¼ï¼ç½æ ¼å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546" autoAdjust="0"/>
    <p:restoredTop sz="94276" autoAdjust="0"/>
  </p:normalViewPr>
  <p:slideViewPr>
    <p:cSldViewPr snapToGrid="0" showGuides="1">
      <p:cViewPr varScale="1">
        <p:scale>
          <a:sx n="108" d="100"/>
          <a:sy n="108" d="100"/>
        </p:scale>
        <p:origin x="138" y="102"/>
      </p:cViewPr>
      <p:guideLst>
        <p:guide orient="horz" pos="2244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63" Type="http://schemas.openxmlformats.org/officeDocument/2006/relationships/presProps" Target="presProp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66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61" Type="http://schemas.openxmlformats.org/officeDocument/2006/relationships/notesMaster" Target="notesMasters/notesMaster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64" Type="http://schemas.openxmlformats.org/officeDocument/2006/relationships/viewProps" Target="viewProps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  <a:t>2023/11/16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  <a:t>2023/11/16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00358" indent="-269368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077475" indent="-21549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508466" indent="-21549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1939456" indent="-21549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370446" indent="-2154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801436" indent="-2154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232426" indent="-2154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663416" indent="-2154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110720-BB6B-46A0-833E-C2940240C049}" type="slidenum"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zh-CN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320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82600" y="1279525"/>
            <a:ext cx="6140450" cy="3454400"/>
          </a:xfrm>
          <a:ln/>
        </p:spPr>
      </p:sp>
      <p:sp>
        <p:nvSpPr>
          <p:cNvPr id="1321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z="1100" dirty="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3094954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56C61CE-634D-4F64-ACD8-85A675627EA4}" type="slidenum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421366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100" dirty="0">
              <a:solidFill>
                <a:srgbClr val="C0000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56C61CE-634D-4F64-ACD8-85A675627EA4}" type="slidenum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813143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1500" dirty="0">
              <a:solidFill>
                <a:srgbClr val="C0000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56C61CE-634D-4F64-ACD8-85A675627EA4}" type="slidenum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144389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00466" indent="-269410">
              <a:spcBef>
                <a:spcPct val="30000"/>
              </a:spcBef>
              <a:defRPr sz="1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077640" indent="-215528">
              <a:spcBef>
                <a:spcPct val="30000"/>
              </a:spcBef>
              <a:defRPr sz="1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508697" indent="-215528">
              <a:spcBef>
                <a:spcPct val="30000"/>
              </a:spcBef>
              <a:defRPr sz="1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1939753" indent="-215528">
              <a:spcBef>
                <a:spcPct val="30000"/>
              </a:spcBef>
              <a:defRPr sz="1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370809" indent="-215528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801865" indent="-215528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232921" indent="-215528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663977" indent="-215528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F4BC540-EA0C-4909-9AAD-7E505BB3CCBE}" type="slidenum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zh-CN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 sz="11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48784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56C61CE-634D-4F64-ACD8-85A675627EA4}" type="slidenum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15652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862112">
              <a:defRPr/>
            </a:pPr>
            <a:endParaRPr lang="zh-CN" altLang="zh-CN" sz="11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56C61CE-634D-4F64-ACD8-85A675627EA4}" type="slidenum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539841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00466" indent="-269410">
              <a:spcBef>
                <a:spcPct val="30000"/>
              </a:spcBef>
              <a:defRPr sz="1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077640" indent="-215528">
              <a:spcBef>
                <a:spcPct val="30000"/>
              </a:spcBef>
              <a:defRPr sz="1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508697" indent="-215528">
              <a:spcBef>
                <a:spcPct val="30000"/>
              </a:spcBef>
              <a:defRPr sz="1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1939753" indent="-215528">
              <a:spcBef>
                <a:spcPct val="30000"/>
              </a:spcBef>
              <a:defRPr sz="1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370809" indent="-215528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801865" indent="-215528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232921" indent="-215528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663977" indent="-215528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20CB3CC-1714-48D3-9C31-884CE1A4D917}" type="slidenum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zh-CN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l" eaLnBrk="1" hangingPunct="1">
              <a:lnSpc>
                <a:spcPct val="90000"/>
              </a:lnSpc>
            </a:pPr>
            <a:endParaRPr lang="en-US" altLang="zh-CN" dirty="0">
              <a:latin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017011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862112">
              <a:defRPr/>
            </a:pPr>
            <a:endParaRPr lang="zh-CN" altLang="en-US" sz="11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56C61CE-634D-4F64-ACD8-85A675627EA4}" type="slidenum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449954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00466" indent="-269410">
              <a:spcBef>
                <a:spcPct val="30000"/>
              </a:spcBef>
              <a:defRPr sz="1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077640" indent="-215528">
              <a:spcBef>
                <a:spcPct val="30000"/>
              </a:spcBef>
              <a:defRPr sz="1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508697" indent="-215528">
              <a:spcBef>
                <a:spcPct val="30000"/>
              </a:spcBef>
              <a:defRPr sz="1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1939753" indent="-215528">
              <a:spcBef>
                <a:spcPct val="30000"/>
              </a:spcBef>
              <a:defRPr sz="1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370809" indent="-215528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801865" indent="-215528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232921" indent="-215528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663977" indent="-215528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20CB3CC-1714-48D3-9C31-884CE1A4D917}" type="slidenum">
              <a:rPr kumimoji="0" lang="zh-CN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altLang="zh-CN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sz="11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0117210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82600" y="1279525"/>
            <a:ext cx="6140450" cy="34544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被使用的变量一定是活的</a:t>
            </a:r>
            <a:endParaRPr lang="en-US" altLang="zh-CN" dirty="0"/>
          </a:p>
          <a:p>
            <a:r>
              <a:rPr lang="zh-CN" altLang="en-US" dirty="0"/>
              <a:t>被定义的变量当前肯定是活的，但是后续是否是活的要看后续指令是否使用了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970054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dirty="0"/>
              <a:t>迭代的思想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82600" y="1279525"/>
            <a:ext cx="6140450" cy="34544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i="0" dirty="0">
                <a:solidFill>
                  <a:srgbClr val="000000"/>
                </a:solidFill>
                <a:effectLst/>
                <a:latin typeface="PingFang SC"/>
              </a:rPr>
              <a:t>因为结束的位置最后，所以会延续很长因此可能会导致更多的区间被溢出，如果使用了区间的终点从高到低进行排列，那么</a:t>
            </a:r>
            <a:r>
              <a:rPr lang="en-US" altLang="zh-CN" b="0" i="0" u="none" strike="noStrike" dirty="0">
                <a:solidFill>
                  <a:srgbClr val="000000"/>
                </a:solidFill>
                <a:effectLst/>
                <a:latin typeface="MathJax_Math-italic"/>
              </a:rPr>
              <a:t>active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PingFang SC"/>
              </a:rPr>
              <a:t>中最后结束的就是第一个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897775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82600" y="1279525"/>
            <a:ext cx="6140450" cy="34544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https://www.cnblogs.com/AANA/p/16315859.html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44628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6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单击此处添加标题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</a:p>
        </p:txBody>
      </p:sp>
    </p:spTree>
  </p:cSld>
  <p:clrMapOvr>
    <a:masterClrMapping/>
  </p:clrMapOvr>
  <p:hf hd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rgbClr val="99C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056" name="AutoShape 8"/>
          <p:cNvSpPr>
            <a:spLocks noChangeArrowheads="1"/>
          </p:cNvSpPr>
          <p:nvPr userDrawn="1"/>
        </p:nvSpPr>
        <p:spPr bwMode="auto">
          <a:xfrm>
            <a:off x="-212725" y="-284162"/>
            <a:ext cx="2084388" cy="2157413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CCFFFF">
                  <a:alpha val="50000"/>
                </a:srgbClr>
              </a:gs>
              <a:gs pos="100000">
                <a:srgbClr val="CCFFFF">
                  <a:gamma/>
                  <a:tint val="0"/>
                  <a:invGamma/>
                  <a:alpha val="0"/>
                </a:srgbClr>
              </a:gs>
            </a:gsLst>
            <a:lin ang="0" scaled="1"/>
          </a:gradFill>
          <a:ln w="9525">
            <a:noFill/>
            <a:round/>
          </a:ln>
          <a:effectLst/>
        </p:spPr>
        <p:txBody>
          <a:bodyPr wrap="none" anchor="ctr"/>
          <a:lstStyle/>
          <a:p>
            <a:pPr marL="0" marR="0" lvl="0" indent="0" algn="l" defTabSz="449569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 typeface="Times New Roman" panose="02060603050605020204" pitchFamily="18" charset="0"/>
              <a:buNone/>
              <a:defRPr/>
            </a:pP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Droid Sans Fallback" panose="020B0502000000000001" charset="-122"/>
            </a:endParaRPr>
          </a:p>
        </p:txBody>
      </p:sp>
      <p:sp>
        <p:nvSpPr>
          <p:cNvPr id="2057" name="AutoShape 9"/>
          <p:cNvSpPr>
            <a:spLocks noChangeArrowheads="1"/>
          </p:cNvSpPr>
          <p:nvPr userDrawn="1"/>
        </p:nvSpPr>
        <p:spPr bwMode="auto">
          <a:xfrm>
            <a:off x="1079500" y="-427037"/>
            <a:ext cx="1295400" cy="1290638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FFFF99">
                  <a:alpha val="50000"/>
                </a:srgbClr>
              </a:gs>
              <a:gs pos="100000">
                <a:srgbClr val="FFFF99">
                  <a:gamma/>
                  <a:tint val="0"/>
                  <a:invGamma/>
                  <a:alpha val="0"/>
                </a:srgbClr>
              </a:gs>
            </a:gsLst>
            <a:lin ang="5400000" scaled="1"/>
          </a:gradFill>
          <a:ln w="9525">
            <a:noFill/>
            <a:round/>
          </a:ln>
          <a:effectLst/>
        </p:spPr>
        <p:txBody>
          <a:bodyPr wrap="none" anchor="ctr"/>
          <a:lstStyle/>
          <a:p>
            <a:pPr marL="0" marR="0" lvl="0" indent="0" algn="l" defTabSz="449569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 typeface="Times New Roman" panose="02060603050605020204" pitchFamily="18" charset="0"/>
              <a:buNone/>
              <a:defRPr/>
            </a:pP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Droid Sans Fallback" panose="020B0502000000000001" charset="-122"/>
            </a:endParaRPr>
          </a:p>
        </p:txBody>
      </p:sp>
      <p:sp>
        <p:nvSpPr>
          <p:cNvPr id="2059" name="AutoShape 11"/>
          <p:cNvSpPr>
            <a:spLocks noChangeArrowheads="1"/>
          </p:cNvSpPr>
          <p:nvPr userDrawn="1"/>
        </p:nvSpPr>
        <p:spPr bwMode="auto">
          <a:xfrm flipH="1" flipV="1">
            <a:off x="9361172" y="-709930"/>
            <a:ext cx="2828925" cy="245237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CCFFFF">
                  <a:alpha val="50000"/>
                </a:srgbClr>
              </a:gs>
              <a:gs pos="100000">
                <a:srgbClr val="CCFFFF">
                  <a:gamma/>
                  <a:tint val="0"/>
                  <a:invGamma/>
                  <a:alpha val="0"/>
                </a:srgbClr>
              </a:gs>
            </a:gsLst>
            <a:lin ang="2700000" scaled="1"/>
          </a:gradFill>
          <a:ln w="9525">
            <a:noFill/>
            <a:round/>
          </a:ln>
          <a:effectLst/>
        </p:spPr>
        <p:txBody>
          <a:bodyPr wrap="none" anchor="ctr"/>
          <a:lstStyle/>
          <a:p>
            <a:pPr marL="0" marR="0" lvl="0" indent="0" algn="l" defTabSz="449569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 typeface="Times New Roman" panose="02060603050605020204" pitchFamily="18" charset="0"/>
              <a:buNone/>
              <a:defRPr/>
            </a:pP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Droid Sans Fallback" panose="020B0502000000000001" charset="-122"/>
            </a:endParaRPr>
          </a:p>
        </p:txBody>
      </p:sp>
      <p:sp>
        <p:nvSpPr>
          <p:cNvPr id="2050" name="AutoShape 2"/>
          <p:cNvSpPr>
            <a:spLocks noChangeArrowheads="1"/>
          </p:cNvSpPr>
          <p:nvPr userDrawn="1"/>
        </p:nvSpPr>
        <p:spPr bwMode="auto">
          <a:xfrm>
            <a:off x="-212724" y="5281934"/>
            <a:ext cx="2922271" cy="2160905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CCFFFF">
                  <a:alpha val="50000"/>
                </a:srgbClr>
              </a:gs>
              <a:gs pos="100000">
                <a:srgbClr val="CCFFFF">
                  <a:gamma/>
                  <a:tint val="0"/>
                  <a:invGamma/>
                  <a:alpha val="0"/>
                </a:srgbClr>
              </a:gs>
            </a:gsLst>
            <a:lin ang="2700000" scaled="1"/>
          </a:gradFill>
          <a:ln w="9525">
            <a:noFill/>
            <a:round/>
          </a:ln>
          <a:effectLst/>
        </p:spPr>
        <p:txBody>
          <a:bodyPr wrap="none" anchor="ctr"/>
          <a:lstStyle/>
          <a:p>
            <a:pPr marL="0" marR="0" lvl="0" indent="0" algn="l" defTabSz="449569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 typeface="Times New Roman" panose="02060603050605020204" pitchFamily="18" charset="0"/>
              <a:buNone/>
              <a:defRPr/>
            </a:pP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Droid Sans Fallback" panose="020B0502000000000001" charset="-122"/>
            </a:endParaRPr>
          </a:p>
        </p:txBody>
      </p:sp>
      <p:sp>
        <p:nvSpPr>
          <p:cNvPr id="13" name="AutoShape 4"/>
          <p:cNvSpPr>
            <a:spLocks noChangeArrowheads="1"/>
          </p:cNvSpPr>
          <p:nvPr userDrawn="1"/>
        </p:nvSpPr>
        <p:spPr bwMode="auto">
          <a:xfrm>
            <a:off x="10389872" y="2910840"/>
            <a:ext cx="2656205" cy="129540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chemeClr val="bg1">
                  <a:gamma/>
                  <a:shade val="69804"/>
                  <a:invGamma/>
                  <a:alpha val="0"/>
                </a:schemeClr>
              </a:gs>
              <a:gs pos="100000">
                <a:schemeClr val="bg1"/>
              </a:gs>
            </a:gsLst>
            <a:lin ang="5400000" scaled="1"/>
          </a:gradFill>
          <a:ln w="9525">
            <a:noFill/>
            <a:round/>
          </a:ln>
          <a:effectLst/>
        </p:spPr>
        <p:txBody>
          <a:bodyPr wrap="none" anchor="ctr"/>
          <a:lstStyle/>
          <a:p>
            <a:pPr marL="0" marR="0" lvl="0" indent="0" algn="l" defTabSz="449569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 typeface="Times New Roman" panose="02060603050605020204" pitchFamily="18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Droid Sans Fallback" panose="020B0502000000000001" charset="-122"/>
            </a:endParaRPr>
          </a:p>
        </p:txBody>
      </p:sp>
      <p:sp>
        <p:nvSpPr>
          <p:cNvPr id="2051" name="AutoShape 3"/>
          <p:cNvSpPr>
            <a:spLocks noChangeArrowheads="1"/>
          </p:cNvSpPr>
          <p:nvPr userDrawn="1"/>
        </p:nvSpPr>
        <p:spPr bwMode="auto">
          <a:xfrm>
            <a:off x="6933567" y="390208"/>
            <a:ext cx="5256213" cy="6330950"/>
          </a:xfrm>
          <a:prstGeom prst="roundRect">
            <a:avLst>
              <a:gd name="adj" fmla="val 8264"/>
            </a:avLst>
          </a:prstGeom>
          <a:solidFill>
            <a:srgbClr val="FFFFFF"/>
          </a:solidFill>
          <a:ln w="9525">
            <a:noFill/>
            <a:round/>
          </a:ln>
          <a:effectLst/>
        </p:spPr>
        <p:txBody>
          <a:bodyPr wrap="none" anchor="ctr"/>
          <a:lstStyle/>
          <a:p>
            <a:pPr marL="0" marR="0" lvl="0" indent="0" algn="l" defTabSz="449569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 typeface="Times New Roman" panose="02060603050605020204" pitchFamily="18" charset="0"/>
              <a:buNone/>
              <a:defRPr/>
            </a:pP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Droid Sans Fallback" panose="020B0502000000000001" charset="-122"/>
            </a:endParaRPr>
          </a:p>
        </p:txBody>
      </p:sp>
      <p:sp>
        <p:nvSpPr>
          <p:cNvPr id="2053" name="Rectangle 5"/>
          <p:cNvSpPr>
            <a:spLocks noChangeArrowheads="1"/>
          </p:cNvSpPr>
          <p:nvPr userDrawn="1"/>
        </p:nvSpPr>
        <p:spPr bwMode="auto">
          <a:xfrm>
            <a:off x="-28575" y="3728089"/>
            <a:ext cx="10601960" cy="1584325"/>
          </a:xfrm>
          <a:prstGeom prst="rect">
            <a:avLst/>
          </a:prstGeom>
          <a:gradFill rotWithShape="0">
            <a:gsLst>
              <a:gs pos="0">
                <a:srgbClr val="0047FF"/>
              </a:gs>
              <a:gs pos="100000">
                <a:srgbClr val="99CCFF"/>
              </a:gs>
            </a:gsLst>
            <a:lin ang="0" scaled="1"/>
          </a:gradFill>
          <a:ln w="9525">
            <a:noFill/>
            <a:miter lim="800000"/>
          </a:ln>
          <a:effectLst/>
        </p:spPr>
        <p:txBody>
          <a:bodyPr wrap="none" anchor="ctr"/>
          <a:lstStyle/>
          <a:p>
            <a:pPr marL="0" marR="0" lvl="0" indent="0" algn="l" defTabSz="449569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 typeface="Times New Roman" panose="02060603050605020204" pitchFamily="18" charset="0"/>
              <a:buNone/>
              <a:defRPr/>
            </a:pP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Droid Sans Fallback" panose="020B0502000000000001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-28575" y="3857153"/>
            <a:ext cx="10515600" cy="1325563"/>
          </a:xfrm>
        </p:spPr>
        <p:txBody>
          <a:bodyPr>
            <a:normAutofit/>
          </a:bodyPr>
          <a:lstStyle>
            <a:lvl1pPr algn="l">
              <a:defRPr sz="48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2058" name="AutoShape 10"/>
          <p:cNvSpPr>
            <a:spLocks noChangeArrowheads="1"/>
          </p:cNvSpPr>
          <p:nvPr userDrawn="1"/>
        </p:nvSpPr>
        <p:spPr bwMode="auto">
          <a:xfrm>
            <a:off x="-357188" y="1152525"/>
            <a:ext cx="4173539" cy="1295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noFill/>
            <a:round/>
          </a:ln>
          <a:effectLst>
            <a:outerShdw dist="101823" dir="2700000" algn="ctr" rotWithShape="0">
              <a:srgbClr val="C0C0C0">
                <a:alpha val="39000"/>
              </a:srgbClr>
            </a:outerShdw>
          </a:effectLst>
        </p:spPr>
        <p:txBody>
          <a:bodyPr wrap="none" anchor="ctr"/>
          <a:lstStyle/>
          <a:p>
            <a:pPr marL="0" marR="0" lvl="0" indent="0" algn="l" defTabSz="449569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 typeface="Times New Roman" panose="02060603050605020204" pitchFamily="18" charset="0"/>
              <a:buNone/>
              <a:defRPr/>
            </a:pP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Droid Sans Fallback" panose="020B0502000000000001" charset="-122"/>
            </a:endParaRPr>
          </a:p>
        </p:txBody>
      </p:sp>
      <p:pic>
        <p:nvPicPr>
          <p:cNvPr id="6" name="Picture 1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36628" y="1116015"/>
            <a:ext cx="1368425" cy="13684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hf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41909" y="6480179"/>
            <a:ext cx="3945891" cy="3651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480179"/>
            <a:ext cx="4114800" cy="3651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9344025" y="6480179"/>
            <a:ext cx="2743200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"/>
          </p:nvPr>
        </p:nvSpPr>
        <p:spPr>
          <a:xfrm>
            <a:off x="127634" y="1388110"/>
            <a:ext cx="11997691" cy="50914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buFont typeface="Wingdings" panose="05000000000000000000" charset="0"/>
              <a:buChar char=""/>
              <a:defRPr/>
            </a:lvl1pPr>
            <a:lvl2pPr>
              <a:buFont typeface="Wingdings" panose="05000000000000000000" charset="0"/>
              <a:buChar char=""/>
              <a:defRPr/>
            </a:lvl2pPr>
            <a:lvl3pPr>
              <a:buFont typeface="Wingdings" panose="05000000000000000000" charset="0"/>
              <a:buChar char=""/>
              <a:defRPr/>
            </a:lvl3pPr>
            <a:lvl4pPr>
              <a:buFont typeface="Wingdings" panose="05000000000000000000" charset="0"/>
              <a:buChar char=""/>
              <a:defRPr/>
            </a:lvl4pPr>
            <a:lvl5pPr>
              <a:buFont typeface="Wingdings" panose="05000000000000000000" charset="0"/>
              <a:buChar char=""/>
              <a:defRPr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  <p:hf hd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楷体_GB2312" panose="02010609030101010101" charset="-122"/>
                <a:ea typeface="楷体_GB2312" panose="0201060903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85709" y="1214426"/>
            <a:ext cx="10972800" cy="4948237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楷体_GB2312" panose="02010609030101010101" charset="-122"/>
                <a:ea typeface="楷体_GB2312" panose="02010609030101010101" charset="-122"/>
              </a:defRPr>
            </a:lvl1pPr>
            <a:lvl2pPr>
              <a:defRPr>
                <a:solidFill>
                  <a:schemeClr val="tx1"/>
                </a:solidFill>
                <a:latin typeface="楷体_GB2312" panose="02010609030101010101" charset="-122"/>
                <a:ea typeface="楷体_GB2312" panose="02010609030101010101" charset="-122"/>
              </a:defRPr>
            </a:lvl2pPr>
            <a:lvl3pPr>
              <a:defRPr>
                <a:solidFill>
                  <a:schemeClr val="tx1"/>
                </a:solidFill>
                <a:latin typeface="楷体_GB2312" panose="02010609030101010101" charset="-122"/>
                <a:ea typeface="楷体_GB2312" panose="02010609030101010101" charset="-122"/>
              </a:defRPr>
            </a:lvl3pPr>
            <a:lvl4pPr>
              <a:defRPr>
                <a:solidFill>
                  <a:schemeClr val="tx1"/>
                </a:solidFill>
                <a:latin typeface="楷体_GB2312" panose="02010609030101010101" charset="-122"/>
                <a:ea typeface="楷体_GB2312" panose="02010609030101010101" charset="-122"/>
              </a:defRPr>
            </a:lvl4pPr>
            <a:lvl5pPr>
              <a:defRPr>
                <a:solidFill>
                  <a:schemeClr val="tx1"/>
                </a:solidFill>
                <a:latin typeface="楷体_GB2312" panose="02010609030101010101" charset="-122"/>
                <a:ea typeface="楷体_GB2312" panose="0201060903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 defTabSz="914377" fontAlgn="base">
              <a:spcBef>
                <a:spcPct val="0"/>
              </a:spcBef>
              <a:spcAft>
                <a:spcPct val="0"/>
              </a:spcAft>
              <a:defRPr/>
            </a:pPr>
            <a:fld id="{DD1E6B75-A772-49D0-8FE5-A389934CEBC7}" type="slidenum">
              <a:rPr lang="zh-CN" altLang="en-US" b="1" smtClean="0">
                <a:solidFill>
                  <a:schemeClr val="bg1"/>
                </a:solidFill>
                <a:latin typeface="Verdana" panose="020B0603030804020204" pitchFamily="34" charset="0"/>
              </a:rPr>
              <a:pPr algn="ctr" defTabSz="914377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 b="1">
              <a:solidFill>
                <a:schemeClr val="bg1"/>
              </a:solidFill>
              <a:latin typeface="Verdana" panose="020B0603030804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 defTabSz="914377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 sz="1600" b="1" dirty="0">
              <a:solidFill>
                <a:srgbClr val="000066"/>
              </a:solidFill>
              <a:latin typeface="Times New Roman" panose="02060603050605020204" pitchFamily="18" charset="0"/>
              <a:cs typeface="Times New Roman" panose="02060603050605020204" pitchFamily="18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>
              <a:lnSpc>
                <a:spcPct val="116000"/>
              </a:lnSpc>
            </a:pPr>
            <a:r>
              <a:rPr lang="en-US" altLang="zh-CN" dirty="0">
                <a:cs typeface="DejaVu Sans" panose="020B0603030804020204" charset="0"/>
              </a:rPr>
              <a:t> </a:t>
            </a:r>
            <a:endParaRPr lang="en-GB" altLang="en-US" sz="1000" dirty="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>
              <a:lnSpc>
                <a:spcPct val="116000"/>
              </a:lnSpc>
            </a:pPr>
            <a:endParaRPr lang="en-US" altLang="zh-CN" sz="1000" dirty="0">
              <a:latin typeface="Comic Sans MS" panose="030F0702030302020204" pitchFamily="66" charset="0"/>
              <a:ea typeface="DejaVu Sans" panose="020B060303080402020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>
              <a:lnSpc>
                <a:spcPct val="116000"/>
              </a:lnSpc>
            </a:pPr>
            <a:fld id="{9A0DB2DC-4C9A-4742-B13C-FB6460FD3503}" type="slidenum">
              <a:rPr lang="en-GB" altLang="en-US" dirty="0"/>
              <a:t>‹#›</a:t>
            </a:fld>
            <a:endParaRPr lang="en-GB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ctr">
            <a:noAutofit/>
          </a:bodyPr>
          <a:lstStyle>
            <a:lvl1pPr algn="r"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9"/>
            <a:ext cx="7766936" cy="1096899"/>
          </a:xfrm>
        </p:spPr>
        <p:txBody>
          <a:bodyPr anchor="ctr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1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C9DED-7116-441B-A0DF-F992E77604B5}" type="datetime1">
              <a:rPr lang="en-US" altLang="zh-CN" smtClean="0"/>
              <a:t>11/16/2023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89264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C20C5-5541-430E-99A8-78E4E676FFB6}" type="datetime1">
              <a:rPr lang="en-US" altLang="zh-CN" smtClean="0"/>
              <a:t>11/16/2023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9721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71"/>
            <a:ext cx="8596668" cy="1826581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ctr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191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8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7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58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5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4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3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51DF7-B517-4A34-B334-EDDDC558C397}" type="datetime1">
              <a:rPr lang="en-US" altLang="zh-CN" smtClean="0"/>
              <a:t>11/16/2023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93514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6" y="2160589"/>
            <a:ext cx="4184035" cy="388077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69" y="2160591"/>
            <a:ext cx="4184035" cy="388077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22F0A-A2EE-4F7E-B069-111E4459EB83}" type="datetime1">
              <a:rPr lang="en-US" altLang="zh-CN" smtClean="0"/>
              <a:t>11/16/2023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2861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9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191" indent="0">
              <a:buNone/>
              <a:defRPr sz="2000" b="1"/>
            </a:lvl2pPr>
            <a:lvl3pPr marL="914384" indent="0">
              <a:buNone/>
              <a:defRPr sz="1800" b="1"/>
            </a:lvl3pPr>
            <a:lvl4pPr marL="1371575" indent="0">
              <a:buNone/>
              <a:defRPr sz="1600" b="1"/>
            </a:lvl4pPr>
            <a:lvl5pPr marL="1828766" indent="0">
              <a:buNone/>
              <a:defRPr sz="1600" b="1"/>
            </a:lvl5pPr>
            <a:lvl6pPr marL="2285958" indent="0">
              <a:buNone/>
              <a:defRPr sz="1600" b="1"/>
            </a:lvl6pPr>
            <a:lvl7pPr marL="2743150" indent="0">
              <a:buNone/>
              <a:defRPr sz="1600" b="1"/>
            </a:lvl7pPr>
            <a:lvl8pPr marL="3200341" indent="0">
              <a:buNone/>
              <a:defRPr sz="1600" b="1"/>
            </a:lvl8pPr>
            <a:lvl9pPr marL="3657533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9" y="2737251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5" y="2160983"/>
            <a:ext cx="418561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191" indent="0">
              <a:buNone/>
              <a:defRPr sz="2000" b="1"/>
            </a:lvl2pPr>
            <a:lvl3pPr marL="914384" indent="0">
              <a:buNone/>
              <a:defRPr sz="1800" b="1"/>
            </a:lvl3pPr>
            <a:lvl4pPr marL="1371575" indent="0">
              <a:buNone/>
              <a:defRPr sz="1600" b="1"/>
            </a:lvl4pPr>
            <a:lvl5pPr marL="1828766" indent="0">
              <a:buNone/>
              <a:defRPr sz="1600" b="1"/>
            </a:lvl5pPr>
            <a:lvl6pPr marL="2285958" indent="0">
              <a:buNone/>
              <a:defRPr sz="1600" b="1"/>
            </a:lvl6pPr>
            <a:lvl7pPr marL="2743150" indent="0">
              <a:buNone/>
              <a:defRPr sz="1600" b="1"/>
            </a:lvl7pPr>
            <a:lvl8pPr marL="3200341" indent="0">
              <a:buNone/>
              <a:defRPr sz="1600" b="1"/>
            </a:lvl8pPr>
            <a:lvl9pPr marL="3657533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8" y="2737251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97F7A-1362-41D5-8176-78E6544A0C39}" type="datetime1">
              <a:rPr lang="en-US" altLang="zh-CN" smtClean="0"/>
              <a:t>11/16/2023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74421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13208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D6AC9-C91B-41F0-A54D-0045A783293D}" type="datetime1">
              <a:rPr lang="en-US" altLang="zh-CN" smtClean="0"/>
              <a:t>11/16/2023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12788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6D182-882D-42BD-ABCD-288C7FEE4331}" type="datetime1">
              <a:rPr lang="en-US" altLang="zh-CN" smtClean="0"/>
              <a:t>11/16/2023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80567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4" y="514930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5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55" indent="0">
              <a:buNone/>
              <a:defRPr sz="1400"/>
            </a:lvl2pPr>
            <a:lvl3pPr marL="914109" indent="0">
              <a:buNone/>
              <a:defRPr sz="1200"/>
            </a:lvl3pPr>
            <a:lvl4pPr marL="1371164" indent="0">
              <a:buNone/>
              <a:defRPr sz="1000"/>
            </a:lvl4pPr>
            <a:lvl5pPr marL="1828217" indent="0">
              <a:buNone/>
              <a:defRPr sz="1000"/>
            </a:lvl5pPr>
            <a:lvl6pPr marL="2285272" indent="0">
              <a:buNone/>
              <a:defRPr sz="1000"/>
            </a:lvl6pPr>
            <a:lvl7pPr marL="2742326" indent="0">
              <a:buNone/>
              <a:defRPr sz="1000"/>
            </a:lvl7pPr>
            <a:lvl8pPr marL="3199381" indent="0">
              <a:buNone/>
              <a:defRPr sz="1000"/>
            </a:lvl8pPr>
            <a:lvl9pPr marL="3656435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6442F-5C83-46DB-AA07-F3D54F35D450}" type="datetime1">
              <a:rPr lang="en-US" altLang="zh-CN" smtClean="0"/>
              <a:t>11/16/2023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72742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6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5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191" indent="0">
              <a:buNone/>
              <a:defRPr sz="1600"/>
            </a:lvl2pPr>
            <a:lvl3pPr marL="914384" indent="0">
              <a:buNone/>
              <a:defRPr sz="1600"/>
            </a:lvl3pPr>
            <a:lvl4pPr marL="1371575" indent="0">
              <a:buNone/>
              <a:defRPr sz="1600"/>
            </a:lvl4pPr>
            <a:lvl5pPr marL="1828766" indent="0">
              <a:buNone/>
              <a:defRPr sz="1600"/>
            </a:lvl5pPr>
            <a:lvl6pPr marL="2285958" indent="0">
              <a:buNone/>
              <a:defRPr sz="1600"/>
            </a:lvl6pPr>
            <a:lvl7pPr marL="2743150" indent="0">
              <a:buNone/>
              <a:defRPr sz="1600"/>
            </a:lvl7pPr>
            <a:lvl8pPr marL="3200341" indent="0">
              <a:buNone/>
              <a:defRPr sz="1600"/>
            </a:lvl8pPr>
            <a:lvl9pPr marL="3657533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6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191" indent="0">
              <a:buNone/>
              <a:defRPr sz="1200"/>
            </a:lvl2pPr>
            <a:lvl3pPr marL="914384" indent="0">
              <a:buNone/>
              <a:defRPr sz="1000"/>
            </a:lvl3pPr>
            <a:lvl4pPr marL="1371575" indent="0">
              <a:buNone/>
              <a:defRPr sz="900"/>
            </a:lvl4pPr>
            <a:lvl5pPr marL="1828766" indent="0">
              <a:buNone/>
              <a:defRPr sz="900"/>
            </a:lvl5pPr>
            <a:lvl6pPr marL="2285958" indent="0">
              <a:buNone/>
              <a:defRPr sz="900"/>
            </a:lvl6pPr>
            <a:lvl7pPr marL="2743150" indent="0">
              <a:buNone/>
              <a:defRPr sz="900"/>
            </a:lvl7pPr>
            <a:lvl8pPr marL="3200341" indent="0">
              <a:buNone/>
              <a:defRPr sz="900"/>
            </a:lvl8pPr>
            <a:lvl9pPr marL="3657533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53604-B7F7-4C3D-A324-B0ACF3C73506}" type="datetime1">
              <a:rPr lang="en-US" altLang="zh-CN" smtClean="0"/>
              <a:t>11/16/2023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859489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191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8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7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58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5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4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3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B84DC-2974-46BE-B453-8C9BE47C97D5}" type="datetime1">
              <a:rPr lang="en-US" altLang="zh-CN" smtClean="0"/>
              <a:t>11/16/2023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435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5" y="609600"/>
            <a:ext cx="809413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191" indent="0">
              <a:buFontTx/>
              <a:buNone/>
              <a:defRPr/>
            </a:lvl2pPr>
            <a:lvl3pPr marL="914384" indent="0">
              <a:buFontTx/>
              <a:buNone/>
              <a:defRPr/>
            </a:lvl3pPr>
            <a:lvl4pPr marL="1371575" indent="0">
              <a:buFontTx/>
              <a:buNone/>
              <a:defRPr/>
            </a:lvl4pPr>
            <a:lvl5pPr marL="1828766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191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8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7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58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5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4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3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46146-A22E-46BB-9695-B52DB1332B17}" type="datetime1">
              <a:rPr lang="en-US" altLang="zh-CN" smtClean="0"/>
              <a:t>11/16/2023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1" y="79037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sz="1800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5014920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191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8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7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58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5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4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3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159CA-9846-45FF-98E9-141CFFE3E3E4}" type="datetime1">
              <a:rPr lang="en-US" altLang="zh-CN" smtClean="0"/>
              <a:t>11/16/2023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335612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言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5" y="609600"/>
            <a:ext cx="809413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5" y="4013201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191" indent="0">
              <a:buFontTx/>
              <a:buNone/>
              <a:defRPr/>
            </a:lvl2pPr>
            <a:lvl3pPr marL="914384" indent="0">
              <a:buFontTx/>
              <a:buNone/>
              <a:defRPr/>
            </a:lvl3pPr>
            <a:lvl4pPr marL="1371575" indent="0">
              <a:buFontTx/>
              <a:buNone/>
              <a:defRPr/>
            </a:lvl4pPr>
            <a:lvl5pPr marL="1828766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191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8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7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58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5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4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3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5987AB-DA9E-4D3B-A3E5-2538A8970EF1}" type="datetime1">
              <a:rPr lang="en-US" altLang="zh-CN" smtClean="0"/>
              <a:t>11/16/2023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1" y="79037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3570487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或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5" y="4013201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191" indent="0">
              <a:buFontTx/>
              <a:buNone/>
              <a:defRPr/>
            </a:lvl2pPr>
            <a:lvl3pPr marL="914384" indent="0">
              <a:buFontTx/>
              <a:buNone/>
              <a:defRPr/>
            </a:lvl3pPr>
            <a:lvl4pPr marL="1371575" indent="0">
              <a:buFontTx/>
              <a:buNone/>
              <a:defRPr/>
            </a:lvl4pPr>
            <a:lvl5pPr marL="1828766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191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8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7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58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5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4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3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7338C-0163-4341-B646-736093F497CE}" type="datetime1">
              <a:rPr lang="en-US" altLang="zh-CN" smtClean="0"/>
              <a:t>11/16/2023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804909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081AA-4B36-43ED-93DF-772BC41D56D4}" type="datetime1">
              <a:rPr lang="en-US" altLang="zh-CN" smtClean="0"/>
              <a:t>11/16/2023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056077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8" y="609605"/>
            <a:ext cx="1304743" cy="5251451"/>
          </a:xfrm>
        </p:spPr>
        <p:txBody>
          <a:bodyPr vert="eaVert" anchor="ctr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8" y="609600"/>
            <a:ext cx="7060151" cy="525145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D2DBD-725E-4A4D-92BC-5A958102AA5E}" type="datetime1">
              <a:rPr lang="en-US" altLang="zh-CN" smtClean="0"/>
              <a:t>11/16/2023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46266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13" Type="http://schemas.openxmlformats.org/officeDocument/2006/relationships/slideLayout" Target="../slideLayouts/slideLayout18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7.xml"/><Relationship Id="rId17" Type="http://schemas.openxmlformats.org/officeDocument/2006/relationships/theme" Target="../theme/theme3.xml"/><Relationship Id="rId2" Type="http://schemas.openxmlformats.org/officeDocument/2006/relationships/slideLayout" Target="../slideLayouts/slideLayout7.xml"/><Relationship Id="rId16" Type="http://schemas.openxmlformats.org/officeDocument/2006/relationships/slideLayout" Target="../slideLayouts/slideLayout21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0.xml"/><Relationship Id="rId1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15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299085" y="6356354"/>
            <a:ext cx="3945891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楷体_GB2312" panose="02010609030101010101" charset="-122"/>
          <a:ea typeface="楷体_GB2312" panose="02010609030101010101" charset="-122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楷体_GB2312" panose="02010609030101010101" charset="-122"/>
          <a:ea typeface="楷体_GB2312" panose="02010609030101010101" charset="-122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楷体_GB2312" panose="02010609030101010101" charset="-122"/>
          <a:ea typeface="楷体_GB2312" panose="02010609030101010101" charset="-122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楷体_GB2312" panose="02010609030101010101" charset="-122"/>
          <a:ea typeface="楷体_GB2312" panose="02010609030101010101" charset="-122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楷体_GB2312" panose="02010609030101010101" charset="-122"/>
          <a:ea typeface="楷体_GB2312" panose="02010609030101010101" charset="-122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AutoShape 3"/>
          <p:cNvSpPr>
            <a:spLocks noChangeArrowheads="1"/>
          </p:cNvSpPr>
          <p:nvPr userDrawn="1"/>
        </p:nvSpPr>
        <p:spPr bwMode="auto">
          <a:xfrm>
            <a:off x="71121" y="72394"/>
            <a:ext cx="12053571" cy="6417945"/>
          </a:xfrm>
          <a:prstGeom prst="roundRect">
            <a:avLst>
              <a:gd name="adj" fmla="val 2295"/>
            </a:avLst>
          </a:prstGeom>
          <a:solidFill>
            <a:srgbClr val="FFFFFF"/>
          </a:solidFill>
          <a:ln w="9525">
            <a:noFill/>
            <a:round/>
          </a:ln>
          <a:effectLst/>
        </p:spPr>
        <p:txBody>
          <a:bodyPr wrap="none" anchor="ctr"/>
          <a:lstStyle/>
          <a:p>
            <a:pPr marL="0" marR="0" lvl="0" indent="0" algn="l" defTabSz="449569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 typeface="Times New Roman" panose="02060603050605020204" pitchFamily="18" charset="0"/>
              <a:buNone/>
              <a:defRPr/>
            </a:pP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Droid Sans Fallback" panose="020B0502000000000001" charset="-122"/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127635" y="136525"/>
            <a:ext cx="11498580" cy="11341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27634" y="1388114"/>
            <a:ext cx="11997691" cy="48888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299085" y="6489704"/>
            <a:ext cx="3945891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48970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48970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</p:sldLayoutIdLst>
  <p:hf hdr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000" b="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楷体_GB2312" panose="02010609030101010101" charset="-122"/>
          <a:ea typeface="楷体_GB2312" panose="02010609030101010101" charset="-122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楷体_GB2312" panose="02010609030101010101" charset="-122"/>
          <a:ea typeface="楷体_GB2312" panose="02010609030101010101" charset="-122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楷体_GB2312" panose="02010609030101010101" charset="-122"/>
          <a:ea typeface="楷体_GB2312" panose="02010609030101010101" charset="-122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楷体_GB2312" panose="02010609030101010101" charset="-122"/>
          <a:ea typeface="楷体_GB2312" panose="02010609030101010101" charset="-122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楷体_GB2312" panose="02010609030101010101" charset="-122"/>
          <a:ea typeface="楷体_GB2312" panose="02010609030101010101" charset="-122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0000" y="363601"/>
            <a:ext cx="10516800" cy="1324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000" y="1823259"/>
            <a:ext cx="10516800" cy="4352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036801" y="6357605"/>
            <a:ext cx="411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1D656F-08AF-403B-80AE-3B33FE0D851C}" type="datetime1">
              <a:rPr lang="en-US" altLang="zh-CN" smtClean="0"/>
              <a:t>11/16/2023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40000" y="6357605"/>
            <a:ext cx="274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1201" y="6357605"/>
            <a:ext cx="274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>
                <a:solidFill>
                  <a:schemeClr val="accent1"/>
                </a:solidFill>
                <a:latin typeface="+mn-lt"/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矩形 8"/>
          <p:cNvSpPr/>
          <p:nvPr userDrawn="1"/>
        </p:nvSpPr>
        <p:spPr>
          <a:xfrm>
            <a:off x="8624469" y="1"/>
            <a:ext cx="3580647" cy="686646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800" dirty="0">
                <a:solidFill>
                  <a:schemeClr val="bg1"/>
                </a:solidFill>
              </a:rPr>
              <a:t>视频区域</a:t>
            </a:r>
          </a:p>
        </p:txBody>
      </p:sp>
    </p:spTree>
    <p:extLst>
      <p:ext uri="{BB962C8B-B14F-4D97-AF65-F5344CB8AC3E}">
        <p14:creationId xmlns:p14="http://schemas.microsoft.com/office/powerpoint/2010/main" val="3796098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  <p:sldLayoutId id="2147483659" r:id="rId4"/>
    <p:sldLayoutId id="2147483660" r:id="rId5"/>
    <p:sldLayoutId id="2147483661" r:id="rId6"/>
    <p:sldLayoutId id="2147483662" r:id="rId7"/>
    <p:sldLayoutId id="2147483663" r:id="rId8"/>
    <p:sldLayoutId id="2147483664" r:id="rId9"/>
    <p:sldLayoutId id="2147483665" r:id="rId10"/>
    <p:sldLayoutId id="2147483666" r:id="rId11"/>
    <p:sldLayoutId id="2147483667" r:id="rId12"/>
    <p:sldLayoutId id="2147483668" r:id="rId13"/>
    <p:sldLayoutId id="2147483669" r:id="rId14"/>
    <p:sldLayoutId id="2147483670" r:id="rId15"/>
    <p:sldLayoutId id="2147483671" r:id="rId16"/>
  </p:sldLayoutIdLst>
  <p:hf sldNum="0" hdr="0" ftr="0" dt="0"/>
  <p:txStyles>
    <p:titleStyle>
      <a:lvl1pPr algn="l" defTabSz="457191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894" indent="-342894" algn="l" defTabSz="457191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800" kern="1200">
          <a:solidFill>
            <a:schemeClr val="tx1">
              <a:lumMod val="75000"/>
              <a:lumOff val="2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742936" indent="-285745" algn="l" defTabSz="457191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400" kern="1200">
          <a:solidFill>
            <a:schemeClr val="tx1">
              <a:lumMod val="75000"/>
              <a:lumOff val="2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2979" indent="-228597" algn="l" defTabSz="457191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kern="1200">
          <a:solidFill>
            <a:schemeClr val="tx1">
              <a:lumMod val="75000"/>
              <a:lumOff val="2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171" indent="-228597" algn="l" defTabSz="457191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362" indent="-228597" algn="l" defTabSz="457191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554" indent="-228597" algn="l" defTabSz="457191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744" indent="-228597" algn="l" defTabSz="457191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8937" indent="-228597" algn="l" defTabSz="457191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128" indent="-228597" algn="l" defTabSz="457191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9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91" algn="l" defTabSz="45719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84" algn="l" defTabSz="45719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75" algn="l" defTabSz="45719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66" algn="l" defTabSz="45719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58" algn="l" defTabSz="45719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50" algn="l" defTabSz="45719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41" algn="l" defTabSz="45719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33" algn="l" defTabSz="45719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>
                <a:sym typeface="+mn-ea"/>
              </a:rPr>
              <a:t>    </a:t>
            </a:r>
            <a:r>
              <a:rPr lang="zh-CN" altLang="en-US" b="1" dirty="0">
                <a:sym typeface="+mn-ea"/>
              </a:rPr>
              <a:t>第八章 优化和目标代码生成</a:t>
            </a:r>
            <a:r>
              <a:rPr lang="en-US" altLang="zh-CN" b="1" dirty="0">
                <a:sym typeface="+mn-ea"/>
              </a:rPr>
              <a:t/>
            </a:r>
            <a:br>
              <a:rPr lang="en-US" altLang="zh-CN" b="1" dirty="0">
                <a:sym typeface="+mn-ea"/>
              </a:rPr>
            </a:br>
            <a:r>
              <a:rPr lang="en-US" altLang="zh-CN" b="1" dirty="0">
                <a:sym typeface="+mn-ea"/>
              </a:rPr>
              <a:t>               ——</a:t>
            </a:r>
            <a:r>
              <a:rPr lang="zh-CN" altLang="en-US" b="1" dirty="0">
                <a:sym typeface="+mn-ea"/>
              </a:rPr>
              <a:t>目标代码生成（寄存器分配）</a:t>
            </a:r>
            <a:endParaRPr lang="en-US" altLang="zh-CN" b="1" dirty="0">
              <a:latin typeface="Times New Roman" panose="02060603050605020204" pitchFamily="18" charset="0"/>
              <a:cs typeface="Times New Roman" panose="02060603050605020204" pitchFamily="18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4000" b="1" dirty="0">
                <a:solidFill>
                  <a:schemeClr val="tx1"/>
                </a:solidFill>
                <a:ea typeface="楷体_GB2312" panose="02010609030101010101" charset="-122"/>
              </a:rPr>
              <a:t>编译程序总框</a:t>
            </a:r>
          </a:p>
        </p:txBody>
      </p:sp>
      <p:sp>
        <p:nvSpPr>
          <p:cNvPr id="35" name="圆角矩形 34"/>
          <p:cNvSpPr/>
          <p:nvPr/>
        </p:nvSpPr>
        <p:spPr bwMode="auto">
          <a:xfrm>
            <a:off x="3871475" y="2012810"/>
            <a:ext cx="3653859" cy="456979"/>
          </a:xfrm>
          <a:prstGeom prst="roundRect">
            <a:avLst/>
          </a:prstGeom>
          <a:ln>
            <a:headEnd type="none" w="med" len="med"/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457191">
              <a:defRPr/>
            </a:pPr>
            <a:r>
              <a:rPr lang="zh-CN" altLang="en-US" sz="24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词法分析</a:t>
            </a:r>
          </a:p>
        </p:txBody>
      </p:sp>
      <p:sp>
        <p:nvSpPr>
          <p:cNvPr id="36" name="圆角矩形 35"/>
          <p:cNvSpPr/>
          <p:nvPr/>
        </p:nvSpPr>
        <p:spPr bwMode="auto">
          <a:xfrm>
            <a:off x="3892389" y="2932883"/>
            <a:ext cx="3653859" cy="456979"/>
          </a:xfrm>
          <a:prstGeom prst="roundRect">
            <a:avLst/>
          </a:prstGeom>
          <a:ln>
            <a:headEnd type="none" w="med" len="med"/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457191">
              <a:defRPr/>
            </a:pPr>
            <a:r>
              <a:rPr lang="zh-CN" altLang="en-US" sz="24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语法分析</a:t>
            </a:r>
          </a:p>
        </p:txBody>
      </p:sp>
      <p:sp>
        <p:nvSpPr>
          <p:cNvPr id="37" name="圆角矩形 36"/>
          <p:cNvSpPr/>
          <p:nvPr/>
        </p:nvSpPr>
        <p:spPr bwMode="auto">
          <a:xfrm>
            <a:off x="3892387" y="3852046"/>
            <a:ext cx="3653859" cy="456979"/>
          </a:xfrm>
          <a:prstGeom prst="roundRect">
            <a:avLst/>
          </a:prstGeom>
          <a:ln>
            <a:headEnd type="none" w="med" len="med"/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457191">
              <a:defRPr/>
            </a:pPr>
            <a:r>
              <a:rPr lang="zh-CN" altLang="en-US" sz="24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语义分析与中间代码生成</a:t>
            </a:r>
          </a:p>
        </p:txBody>
      </p:sp>
      <p:sp>
        <p:nvSpPr>
          <p:cNvPr id="38" name="圆角矩形 37"/>
          <p:cNvSpPr/>
          <p:nvPr/>
        </p:nvSpPr>
        <p:spPr bwMode="auto">
          <a:xfrm>
            <a:off x="3892387" y="4766591"/>
            <a:ext cx="3653859" cy="456979"/>
          </a:xfrm>
          <a:prstGeom prst="roundRect">
            <a:avLst/>
          </a:prstGeom>
          <a:ln>
            <a:headEnd type="none" w="med" len="med"/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457191">
              <a:defRPr/>
            </a:pPr>
            <a:r>
              <a:rPr kumimoji="1" lang="zh-CN" altLang="en-US" sz="24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优化</a:t>
            </a:r>
          </a:p>
        </p:txBody>
      </p:sp>
      <p:sp>
        <p:nvSpPr>
          <p:cNvPr id="39" name="圆角矩形 38"/>
          <p:cNvSpPr/>
          <p:nvPr/>
        </p:nvSpPr>
        <p:spPr bwMode="auto">
          <a:xfrm>
            <a:off x="3892387" y="5682507"/>
            <a:ext cx="3653859" cy="456979"/>
          </a:xfrm>
          <a:prstGeom prst="roundRect">
            <a:avLst/>
          </a:prstGeom>
          <a:ln>
            <a:headEnd type="none" w="med" len="med"/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457191">
              <a:defRPr/>
            </a:pPr>
            <a:r>
              <a:rPr lang="zh-CN" altLang="en-US" sz="24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目标代码生成</a:t>
            </a:r>
          </a:p>
        </p:txBody>
      </p:sp>
      <p:sp>
        <p:nvSpPr>
          <p:cNvPr id="40" name="下箭头 39"/>
          <p:cNvSpPr/>
          <p:nvPr/>
        </p:nvSpPr>
        <p:spPr>
          <a:xfrm>
            <a:off x="5616771" y="2504045"/>
            <a:ext cx="162219" cy="403608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91">
              <a:defRPr/>
            </a:pPr>
            <a:endParaRPr lang="zh-CN" altLang="en-US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下箭头 40"/>
          <p:cNvSpPr/>
          <p:nvPr/>
        </p:nvSpPr>
        <p:spPr>
          <a:xfrm>
            <a:off x="5616771" y="3418065"/>
            <a:ext cx="162219" cy="403608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91">
              <a:defRPr/>
            </a:pPr>
            <a:endParaRPr lang="zh-CN" altLang="en-US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下箭头 41"/>
          <p:cNvSpPr/>
          <p:nvPr/>
        </p:nvSpPr>
        <p:spPr>
          <a:xfrm>
            <a:off x="5616771" y="4344275"/>
            <a:ext cx="162219" cy="403608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91">
              <a:defRPr/>
            </a:pPr>
            <a:endParaRPr lang="zh-CN" altLang="en-US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下箭头 47"/>
          <p:cNvSpPr/>
          <p:nvPr/>
        </p:nvSpPr>
        <p:spPr>
          <a:xfrm>
            <a:off x="5616771" y="5255119"/>
            <a:ext cx="162219" cy="403608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91">
              <a:defRPr/>
            </a:pPr>
            <a:endParaRPr lang="zh-CN" altLang="en-US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下箭头 53"/>
          <p:cNvSpPr/>
          <p:nvPr/>
        </p:nvSpPr>
        <p:spPr>
          <a:xfrm>
            <a:off x="5616771" y="6179679"/>
            <a:ext cx="162219" cy="403608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91">
              <a:defRPr/>
            </a:pPr>
            <a:endParaRPr lang="zh-CN" altLang="en-US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0" name="下箭头 59"/>
          <p:cNvSpPr/>
          <p:nvPr/>
        </p:nvSpPr>
        <p:spPr>
          <a:xfrm>
            <a:off x="5610654" y="1579455"/>
            <a:ext cx="162219" cy="403608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91">
              <a:defRPr/>
            </a:pPr>
            <a:endParaRPr lang="zh-CN" altLang="en-US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6072551" y="2505795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191">
              <a:defRPr/>
            </a:pP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单词符号</a:t>
            </a:r>
          </a:p>
        </p:txBody>
      </p:sp>
      <p:sp>
        <p:nvSpPr>
          <p:cNvPr id="73" name="文本框 72"/>
          <p:cNvSpPr txBox="1"/>
          <p:nvPr/>
        </p:nvSpPr>
        <p:spPr>
          <a:xfrm>
            <a:off x="6072553" y="1525591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191">
              <a:defRPr/>
            </a:pP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源程序</a:t>
            </a:r>
          </a:p>
        </p:txBody>
      </p:sp>
      <p:sp>
        <p:nvSpPr>
          <p:cNvPr id="74" name="文本框 73"/>
          <p:cNvSpPr txBox="1"/>
          <p:nvPr/>
        </p:nvSpPr>
        <p:spPr>
          <a:xfrm>
            <a:off x="6072551" y="4363325"/>
            <a:ext cx="21499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191">
              <a:defRPr/>
            </a:pP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中间代码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四元式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20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5" name="文本框 74"/>
          <p:cNvSpPr txBox="1"/>
          <p:nvPr/>
        </p:nvSpPr>
        <p:spPr>
          <a:xfrm>
            <a:off x="6079800" y="3466249"/>
            <a:ext cx="12105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191">
              <a:defRPr/>
            </a:pP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语法单位</a:t>
            </a:r>
          </a:p>
          <a:p>
            <a:pPr defTabSz="457191">
              <a:defRPr/>
            </a:pPr>
            <a:endParaRPr lang="zh-CN" altLang="en-US" sz="20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6" name="文本框 75"/>
          <p:cNvSpPr txBox="1"/>
          <p:nvPr/>
        </p:nvSpPr>
        <p:spPr>
          <a:xfrm>
            <a:off x="6072551" y="6227103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191">
              <a:defRPr/>
            </a:pP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目标代码</a:t>
            </a:r>
          </a:p>
        </p:txBody>
      </p:sp>
      <p:sp>
        <p:nvSpPr>
          <p:cNvPr id="77" name="文本框 76"/>
          <p:cNvSpPr txBox="1"/>
          <p:nvPr/>
        </p:nvSpPr>
        <p:spPr>
          <a:xfrm>
            <a:off x="6079800" y="5260335"/>
            <a:ext cx="21499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191">
              <a:defRPr/>
            </a:pP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中间代码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四元式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20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8" name="圆角矩形 77"/>
          <p:cNvSpPr/>
          <p:nvPr/>
        </p:nvSpPr>
        <p:spPr bwMode="auto">
          <a:xfrm>
            <a:off x="2526727" y="1999363"/>
            <a:ext cx="506000" cy="4140120"/>
          </a:xfrm>
          <a:prstGeom prst="roundRect">
            <a:avLst/>
          </a:prstGeom>
          <a:ln>
            <a:headEnd type="none" w="med" len="med"/>
            <a:tailEnd type="stealth" w="lg" len="lg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eaVert" wrap="non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457191">
              <a:defRPr/>
            </a:pPr>
            <a:r>
              <a:rPr lang="zh-CN" altLang="en-US" sz="2400" dirty="0">
                <a:solidFill>
                  <a:prstClr val="white"/>
                </a:solidFill>
                <a:latin typeface="Arial" panose="020B0604020202020204"/>
                <a:ea typeface="黑体" panose="02010609060101010101" pitchFamily="49" charset="-122"/>
              </a:rPr>
              <a:t>符号表管理</a:t>
            </a:r>
          </a:p>
        </p:txBody>
      </p:sp>
      <p:sp>
        <p:nvSpPr>
          <p:cNvPr id="79" name="圆角矩形 78"/>
          <p:cNvSpPr/>
          <p:nvPr/>
        </p:nvSpPr>
        <p:spPr bwMode="auto">
          <a:xfrm>
            <a:off x="8397173" y="1983063"/>
            <a:ext cx="506000" cy="4140120"/>
          </a:xfrm>
          <a:prstGeom prst="roundRect">
            <a:avLst/>
          </a:prstGeom>
          <a:ln>
            <a:headEnd type="none" w="med" len="med"/>
            <a:tailEnd type="stealth" w="lg" len="lg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eaVert" wrap="non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457191">
              <a:defRPr/>
            </a:pPr>
            <a:r>
              <a:rPr lang="zh-CN" altLang="en-US" sz="24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出错处理</a:t>
            </a:r>
          </a:p>
        </p:txBody>
      </p:sp>
      <p:sp>
        <p:nvSpPr>
          <p:cNvPr id="80" name="左右箭头 79"/>
          <p:cNvSpPr/>
          <p:nvPr/>
        </p:nvSpPr>
        <p:spPr>
          <a:xfrm>
            <a:off x="3106367" y="2127051"/>
            <a:ext cx="684000" cy="228491"/>
          </a:xfrm>
          <a:prstGeom prst="left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91">
              <a:defRPr/>
            </a:pPr>
            <a:endParaRPr lang="zh-CN" altLang="en-US">
              <a:solidFill>
                <a:prstClr val="white"/>
              </a:solidFill>
              <a:latin typeface="Arial" panose="020B0604020202020204"/>
              <a:ea typeface="黑体" panose="02010609060101010101" pitchFamily="49" charset="-122"/>
            </a:endParaRPr>
          </a:p>
        </p:txBody>
      </p:sp>
      <p:sp>
        <p:nvSpPr>
          <p:cNvPr id="81" name="左右箭头 80"/>
          <p:cNvSpPr/>
          <p:nvPr/>
        </p:nvSpPr>
        <p:spPr>
          <a:xfrm>
            <a:off x="3111855" y="3047126"/>
            <a:ext cx="684000" cy="228491"/>
          </a:xfrm>
          <a:prstGeom prst="left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91">
              <a:defRPr/>
            </a:pPr>
            <a:endParaRPr lang="zh-CN" altLang="en-US">
              <a:solidFill>
                <a:prstClr val="white"/>
              </a:solidFill>
              <a:latin typeface="Arial" panose="020B0604020202020204"/>
              <a:ea typeface="黑体" panose="02010609060101010101" pitchFamily="49" charset="-122"/>
            </a:endParaRPr>
          </a:p>
        </p:txBody>
      </p:sp>
      <p:sp>
        <p:nvSpPr>
          <p:cNvPr id="82" name="左右箭头 81"/>
          <p:cNvSpPr/>
          <p:nvPr/>
        </p:nvSpPr>
        <p:spPr>
          <a:xfrm>
            <a:off x="3106367" y="3960759"/>
            <a:ext cx="684000" cy="228491"/>
          </a:xfrm>
          <a:prstGeom prst="left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91">
              <a:defRPr/>
            </a:pPr>
            <a:endParaRPr lang="zh-CN" altLang="en-US">
              <a:solidFill>
                <a:prstClr val="white"/>
              </a:solidFill>
              <a:latin typeface="Arial" panose="020B0604020202020204"/>
              <a:ea typeface="黑体" panose="02010609060101010101" pitchFamily="49" charset="-122"/>
            </a:endParaRPr>
          </a:p>
        </p:txBody>
      </p:sp>
      <p:sp>
        <p:nvSpPr>
          <p:cNvPr id="83" name="左右箭头 82"/>
          <p:cNvSpPr/>
          <p:nvPr/>
        </p:nvSpPr>
        <p:spPr>
          <a:xfrm>
            <a:off x="3134480" y="4880834"/>
            <a:ext cx="684000" cy="228491"/>
          </a:xfrm>
          <a:prstGeom prst="left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91">
              <a:defRPr/>
            </a:pPr>
            <a:endParaRPr lang="zh-CN" altLang="en-US">
              <a:solidFill>
                <a:prstClr val="white"/>
              </a:solidFill>
              <a:latin typeface="Arial" panose="020B0604020202020204"/>
              <a:ea typeface="黑体" panose="02010609060101010101" pitchFamily="49" charset="-122"/>
            </a:endParaRPr>
          </a:p>
        </p:txBody>
      </p:sp>
      <p:sp>
        <p:nvSpPr>
          <p:cNvPr id="84" name="左右箭头 83"/>
          <p:cNvSpPr/>
          <p:nvPr/>
        </p:nvSpPr>
        <p:spPr>
          <a:xfrm>
            <a:off x="3106367" y="5796749"/>
            <a:ext cx="684000" cy="228491"/>
          </a:xfrm>
          <a:prstGeom prst="left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91">
              <a:defRPr/>
            </a:pPr>
            <a:endParaRPr lang="zh-CN" altLang="en-US">
              <a:solidFill>
                <a:prstClr val="white"/>
              </a:solidFill>
              <a:latin typeface="Arial" panose="020B0604020202020204"/>
              <a:ea typeface="黑体" panose="02010609060101010101" pitchFamily="49" charset="-122"/>
            </a:endParaRPr>
          </a:p>
        </p:txBody>
      </p:sp>
      <p:sp>
        <p:nvSpPr>
          <p:cNvPr id="85" name="左右箭头 84"/>
          <p:cNvSpPr/>
          <p:nvPr/>
        </p:nvSpPr>
        <p:spPr>
          <a:xfrm>
            <a:off x="7611311" y="2133147"/>
            <a:ext cx="684000" cy="228491"/>
          </a:xfrm>
          <a:prstGeom prst="left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91">
              <a:defRPr/>
            </a:pPr>
            <a:endParaRPr lang="zh-CN" altLang="en-US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6" name="左右箭头 85"/>
          <p:cNvSpPr/>
          <p:nvPr/>
        </p:nvSpPr>
        <p:spPr>
          <a:xfrm>
            <a:off x="7616797" y="3053222"/>
            <a:ext cx="684000" cy="228491"/>
          </a:xfrm>
          <a:prstGeom prst="left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91">
              <a:defRPr/>
            </a:pPr>
            <a:endParaRPr lang="zh-CN" altLang="en-US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7" name="左右箭头 86"/>
          <p:cNvSpPr/>
          <p:nvPr/>
        </p:nvSpPr>
        <p:spPr>
          <a:xfrm>
            <a:off x="7611311" y="3966855"/>
            <a:ext cx="684000" cy="228491"/>
          </a:xfrm>
          <a:prstGeom prst="left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91">
              <a:defRPr/>
            </a:pPr>
            <a:endParaRPr lang="zh-CN" altLang="en-US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8" name="左右箭头 87"/>
          <p:cNvSpPr/>
          <p:nvPr/>
        </p:nvSpPr>
        <p:spPr>
          <a:xfrm>
            <a:off x="7639423" y="4886930"/>
            <a:ext cx="684000" cy="228491"/>
          </a:xfrm>
          <a:prstGeom prst="left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91">
              <a:defRPr/>
            </a:pPr>
            <a:endParaRPr lang="zh-CN" altLang="en-US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9" name="左右箭头 88"/>
          <p:cNvSpPr/>
          <p:nvPr/>
        </p:nvSpPr>
        <p:spPr>
          <a:xfrm>
            <a:off x="7611311" y="5802845"/>
            <a:ext cx="684000" cy="228491"/>
          </a:xfrm>
          <a:prstGeom prst="left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91">
              <a:defRPr/>
            </a:pPr>
            <a:endParaRPr lang="zh-CN" altLang="en-US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0" name="圆角矩形 89"/>
          <p:cNvSpPr/>
          <p:nvPr/>
        </p:nvSpPr>
        <p:spPr bwMode="auto">
          <a:xfrm>
            <a:off x="3867463" y="5670564"/>
            <a:ext cx="3708000" cy="468000"/>
          </a:xfrm>
          <a:prstGeom prst="roundRect">
            <a:avLst/>
          </a:prstGeom>
          <a:noFill/>
          <a:ln w="63500">
            <a:headEnd type="none" w="med" len="med"/>
            <a:tailEnd type="stealth" w="lg" len="lg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non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457191">
              <a:defRPr/>
            </a:pPr>
            <a:endParaRPr lang="zh-CN" altLang="en-US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33657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1030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4000" b="1" dirty="0">
                <a:solidFill>
                  <a:schemeClr val="tx1"/>
                </a:solidFill>
                <a:ea typeface="楷体_GB2312" panose="02010609030101010101" charset="-122"/>
              </a:rPr>
              <a:t>目标代码生成器</a:t>
            </a:r>
          </a:p>
        </p:txBody>
      </p:sp>
      <p:sp>
        <p:nvSpPr>
          <p:cNvPr id="39943" name="Rectangle 1031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3600" dirty="0"/>
              <a:t>任务</a:t>
            </a:r>
          </a:p>
          <a:p>
            <a:pPr lvl="1" eaLnBrk="1" hangingPunct="1"/>
            <a:r>
              <a:rPr lang="zh-CN" altLang="en-US" sz="3200" dirty="0"/>
              <a:t>把分析、翻译、优化后的中间代码变换成目标代码</a:t>
            </a:r>
          </a:p>
          <a:p>
            <a:pPr algn="just"/>
            <a:r>
              <a:rPr lang="zh-CN" altLang="en-US" sz="3600" dirty="0"/>
              <a:t>输入</a:t>
            </a:r>
            <a:endParaRPr lang="en-US" altLang="zh-CN" sz="3600" dirty="0"/>
          </a:p>
          <a:p>
            <a:pPr lvl="1" algn="just"/>
            <a:r>
              <a:rPr lang="zh-CN" altLang="en-US" sz="3200" dirty="0"/>
              <a:t>源程序的中间表示，以及符号表中的信息</a:t>
            </a:r>
          </a:p>
          <a:p>
            <a:pPr lvl="1" algn="just"/>
            <a:r>
              <a:rPr lang="zh-CN" altLang="en-US" sz="3200" dirty="0"/>
              <a:t>类型检查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2112664" y="5084530"/>
            <a:ext cx="4014082" cy="156966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defTabSz="457200"/>
            <a:r>
              <a:rPr lang="en-US" altLang="zh-CN" sz="32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 := </a:t>
            </a:r>
            <a:r>
              <a:rPr lang="en-US" altLang="zh-CN" sz="3200" dirty="0" err="1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y＋i</a:t>
            </a:r>
            <a:r>
              <a:rPr lang="en-US" altLang="zh-CN" sz="32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*j</a:t>
            </a:r>
          </a:p>
          <a:p>
            <a:pPr defTabSz="457200"/>
            <a:r>
              <a:rPr lang="zh-CN" altLang="en-US" sz="32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其中</a:t>
            </a:r>
            <a:r>
              <a:rPr lang="en-US" altLang="zh-CN" sz="3200" dirty="0" err="1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x、y</a:t>
            </a:r>
            <a:r>
              <a:rPr lang="zh-CN" altLang="en-US" sz="32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为实型；</a:t>
            </a:r>
            <a:r>
              <a:rPr lang="en-US" altLang="zh-CN" sz="3200" dirty="0" err="1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i、j</a:t>
            </a:r>
            <a:r>
              <a:rPr lang="zh-CN" altLang="en-US" sz="32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为整型</a:t>
            </a:r>
            <a:endParaRPr lang="en-US" altLang="zh-CN" sz="320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859224" y="4565065"/>
            <a:ext cx="3210110" cy="229293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defTabSz="457200">
              <a:spcBef>
                <a:spcPts val="600"/>
              </a:spcBef>
            </a:pPr>
            <a:r>
              <a:rPr lang="en-US" altLang="zh-CN" sz="3200" dirty="0">
                <a:solidFill>
                  <a:prstClr val="black"/>
                </a:solidFill>
                <a:latin typeface="Arial" panose="020B0604020202020204"/>
                <a:ea typeface="黑体" panose="02010609060101010101" pitchFamily="49" charset="-122"/>
              </a:rPr>
              <a:t>T</a:t>
            </a:r>
            <a:r>
              <a:rPr lang="en-US" altLang="zh-CN" sz="3200" baseline="-30000" dirty="0">
                <a:solidFill>
                  <a:prstClr val="black"/>
                </a:solidFill>
                <a:latin typeface="Arial" panose="020B0604020202020204"/>
                <a:ea typeface="黑体" panose="02010609060101010101" pitchFamily="49" charset="-122"/>
              </a:rPr>
              <a:t>1 </a:t>
            </a:r>
            <a:r>
              <a:rPr lang="en-US" altLang="zh-CN" sz="3200" dirty="0">
                <a:solidFill>
                  <a:prstClr val="black"/>
                </a:solidFill>
                <a:latin typeface="Arial" panose="020B0604020202020204"/>
                <a:ea typeface="黑体" panose="02010609060101010101" pitchFamily="49" charset="-122"/>
              </a:rPr>
              <a:t>:= </a:t>
            </a:r>
            <a:r>
              <a:rPr lang="en-US" altLang="zh-CN" sz="3200" dirty="0" err="1">
                <a:solidFill>
                  <a:prstClr val="black"/>
                </a:solidFill>
                <a:latin typeface="Arial" panose="020B0604020202020204"/>
                <a:ea typeface="黑体" panose="02010609060101010101" pitchFamily="49" charset="-122"/>
              </a:rPr>
              <a:t>i</a:t>
            </a:r>
            <a:r>
              <a:rPr lang="en-US" altLang="zh-CN" sz="3200" dirty="0">
                <a:solidFill>
                  <a:prstClr val="black"/>
                </a:solidFill>
                <a:latin typeface="Arial" panose="020B0604020202020204"/>
                <a:ea typeface="黑体" panose="02010609060101010101" pitchFamily="49" charset="-122"/>
              </a:rPr>
              <a:t>  </a:t>
            </a:r>
            <a:r>
              <a:rPr lang="en-US" altLang="zh-CN" sz="3200" dirty="0" err="1">
                <a:solidFill>
                  <a:srgbClr val="C00000"/>
                </a:solidFill>
                <a:latin typeface="Arial" panose="020B0604020202020204"/>
                <a:ea typeface="黑体" panose="02010609060101010101" pitchFamily="49" charset="-122"/>
              </a:rPr>
              <a:t>int</a:t>
            </a:r>
            <a:r>
              <a:rPr lang="en-US" altLang="zh-CN" sz="3200" dirty="0">
                <a:solidFill>
                  <a:srgbClr val="C00000"/>
                </a:solidFill>
                <a:latin typeface="Arial" panose="020B0604020202020204"/>
                <a:ea typeface="黑体" panose="02010609060101010101" pitchFamily="49" charset="-122"/>
              </a:rPr>
              <a:t>*</a:t>
            </a:r>
            <a:r>
              <a:rPr lang="en-US" altLang="zh-CN" sz="3200" dirty="0">
                <a:solidFill>
                  <a:prstClr val="black"/>
                </a:solidFill>
                <a:latin typeface="Arial" panose="020B0604020202020204"/>
                <a:ea typeface="黑体" panose="02010609060101010101" pitchFamily="49" charset="-122"/>
              </a:rPr>
              <a:t>  j</a:t>
            </a:r>
          </a:p>
          <a:p>
            <a:pPr defTabSz="457200">
              <a:spcBef>
                <a:spcPts val="600"/>
              </a:spcBef>
            </a:pPr>
            <a:r>
              <a:rPr lang="en-US" altLang="zh-CN" sz="3200" dirty="0">
                <a:solidFill>
                  <a:prstClr val="black"/>
                </a:solidFill>
                <a:latin typeface="Arial" panose="020B0604020202020204"/>
                <a:ea typeface="黑体" panose="02010609060101010101" pitchFamily="49" charset="-122"/>
              </a:rPr>
              <a:t>T</a:t>
            </a:r>
            <a:r>
              <a:rPr lang="en-US" altLang="zh-CN" sz="3200" baseline="-30000" dirty="0">
                <a:solidFill>
                  <a:prstClr val="black"/>
                </a:solidFill>
                <a:latin typeface="Arial" panose="020B0604020202020204"/>
                <a:ea typeface="黑体" panose="02010609060101010101" pitchFamily="49" charset="-122"/>
              </a:rPr>
              <a:t>3 </a:t>
            </a:r>
            <a:r>
              <a:rPr lang="en-US" altLang="zh-CN" sz="3200" dirty="0">
                <a:solidFill>
                  <a:prstClr val="black"/>
                </a:solidFill>
                <a:latin typeface="Arial" panose="020B0604020202020204"/>
                <a:ea typeface="黑体" panose="02010609060101010101" pitchFamily="49" charset="-122"/>
              </a:rPr>
              <a:t>:= </a:t>
            </a:r>
            <a:r>
              <a:rPr lang="en-US" altLang="zh-CN" sz="3200" dirty="0" err="1">
                <a:solidFill>
                  <a:srgbClr val="C00000"/>
                </a:solidFill>
                <a:latin typeface="Arial" panose="020B0604020202020204"/>
                <a:ea typeface="黑体" panose="02010609060101010101" pitchFamily="49" charset="-122"/>
              </a:rPr>
              <a:t>inttoreal</a:t>
            </a:r>
            <a:r>
              <a:rPr lang="en-US" altLang="zh-CN" sz="3200" dirty="0">
                <a:solidFill>
                  <a:prstClr val="black"/>
                </a:solidFill>
                <a:latin typeface="Arial" panose="020B0604020202020204"/>
                <a:ea typeface="黑体" panose="02010609060101010101" pitchFamily="49" charset="-122"/>
              </a:rPr>
              <a:t>  T</a:t>
            </a:r>
            <a:r>
              <a:rPr lang="en-US" altLang="zh-CN" sz="3200" baseline="-30000" dirty="0">
                <a:solidFill>
                  <a:prstClr val="black"/>
                </a:solidFill>
                <a:latin typeface="Arial" panose="020B0604020202020204"/>
                <a:ea typeface="黑体" panose="02010609060101010101" pitchFamily="49" charset="-122"/>
              </a:rPr>
              <a:t>1</a:t>
            </a:r>
            <a:endParaRPr lang="en-US" altLang="zh-CN" sz="3200" dirty="0">
              <a:solidFill>
                <a:prstClr val="black"/>
              </a:solidFill>
              <a:latin typeface="Arial" panose="020B0604020202020204"/>
              <a:ea typeface="黑体" panose="02010609060101010101" pitchFamily="49" charset="-122"/>
            </a:endParaRPr>
          </a:p>
          <a:p>
            <a:pPr defTabSz="457200">
              <a:spcBef>
                <a:spcPts val="600"/>
              </a:spcBef>
            </a:pPr>
            <a:r>
              <a:rPr lang="en-US" altLang="zh-CN" sz="3200" dirty="0">
                <a:solidFill>
                  <a:prstClr val="black"/>
                </a:solidFill>
                <a:latin typeface="Arial" panose="020B0604020202020204"/>
                <a:ea typeface="黑体" panose="02010609060101010101" pitchFamily="49" charset="-122"/>
              </a:rPr>
              <a:t>T</a:t>
            </a:r>
            <a:r>
              <a:rPr lang="en-US" altLang="zh-CN" sz="3200" baseline="-30000" dirty="0">
                <a:solidFill>
                  <a:prstClr val="black"/>
                </a:solidFill>
                <a:latin typeface="Arial" panose="020B0604020202020204"/>
                <a:ea typeface="黑体" panose="02010609060101010101" pitchFamily="49" charset="-122"/>
              </a:rPr>
              <a:t>2 </a:t>
            </a:r>
            <a:r>
              <a:rPr lang="en-US" altLang="zh-CN" sz="3200" dirty="0">
                <a:solidFill>
                  <a:prstClr val="black"/>
                </a:solidFill>
                <a:latin typeface="Arial" panose="020B0604020202020204"/>
                <a:ea typeface="黑体" panose="02010609060101010101" pitchFamily="49" charset="-122"/>
              </a:rPr>
              <a:t>:= y  </a:t>
            </a:r>
            <a:r>
              <a:rPr lang="en-US" altLang="zh-CN" sz="3200" dirty="0">
                <a:solidFill>
                  <a:srgbClr val="C00000"/>
                </a:solidFill>
                <a:latin typeface="Arial" panose="020B0604020202020204"/>
                <a:ea typeface="黑体" panose="02010609060101010101" pitchFamily="49" charset="-122"/>
              </a:rPr>
              <a:t>real+</a:t>
            </a:r>
            <a:r>
              <a:rPr lang="en-US" altLang="zh-CN" sz="3200" dirty="0">
                <a:solidFill>
                  <a:prstClr val="black"/>
                </a:solidFill>
                <a:latin typeface="Arial" panose="020B0604020202020204"/>
                <a:ea typeface="黑体" panose="02010609060101010101" pitchFamily="49" charset="-122"/>
              </a:rPr>
              <a:t> T</a:t>
            </a:r>
            <a:r>
              <a:rPr lang="en-US" altLang="zh-CN" sz="3200" baseline="-30000" dirty="0">
                <a:solidFill>
                  <a:prstClr val="black"/>
                </a:solidFill>
                <a:latin typeface="Arial" panose="020B0604020202020204"/>
                <a:ea typeface="黑体" panose="02010609060101010101" pitchFamily="49" charset="-122"/>
              </a:rPr>
              <a:t>3</a:t>
            </a:r>
            <a:endParaRPr lang="en-US" altLang="zh-CN" sz="3200" dirty="0">
              <a:solidFill>
                <a:prstClr val="black"/>
              </a:solidFill>
              <a:latin typeface="Arial" panose="020B0604020202020204"/>
              <a:ea typeface="黑体" panose="02010609060101010101" pitchFamily="49" charset="-122"/>
            </a:endParaRPr>
          </a:p>
          <a:p>
            <a:pPr defTabSz="457200">
              <a:spcBef>
                <a:spcPts val="600"/>
              </a:spcBef>
            </a:pPr>
            <a:r>
              <a:rPr lang="en-US" altLang="zh-CN" sz="3200" dirty="0">
                <a:solidFill>
                  <a:prstClr val="black"/>
                </a:solidFill>
                <a:latin typeface="Arial" panose="020B0604020202020204"/>
                <a:ea typeface="黑体" panose="02010609060101010101" pitchFamily="49" charset="-122"/>
              </a:rPr>
              <a:t>x := T</a:t>
            </a:r>
            <a:r>
              <a:rPr lang="en-US" altLang="zh-CN" sz="3200" baseline="-30000" dirty="0">
                <a:solidFill>
                  <a:prstClr val="black"/>
                </a:solidFill>
                <a:latin typeface="Arial" panose="020B0604020202020204"/>
                <a:ea typeface="黑体" panose="02010609060101010101" pitchFamily="49" charset="-122"/>
              </a:rPr>
              <a:t>2    </a:t>
            </a:r>
            <a:endParaRPr lang="zh-CN" altLang="en-US" sz="3200" dirty="0">
              <a:solidFill>
                <a:prstClr val="black"/>
              </a:solidFill>
              <a:latin typeface="Arial" panose="020B0604020202020204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849337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99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99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99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399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99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43" grpId="0" build="p"/>
      <p:bldP spid="8" grpId="0" animBg="1"/>
      <p:bldP spid="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1030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4000" b="1" dirty="0">
                <a:solidFill>
                  <a:schemeClr val="tx1"/>
                </a:solidFill>
                <a:ea typeface="楷体_GB2312" panose="02010609030101010101" charset="-122"/>
              </a:rPr>
              <a:t>目标代码生成器</a:t>
            </a:r>
          </a:p>
        </p:txBody>
      </p:sp>
      <p:sp>
        <p:nvSpPr>
          <p:cNvPr id="39943" name="Rectangle 1031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zh-CN" altLang="en-US" sz="3200" dirty="0"/>
              <a:t>输出</a:t>
            </a:r>
            <a:endParaRPr lang="en-US" altLang="zh-CN" sz="3200" dirty="0"/>
          </a:p>
          <a:p>
            <a:pPr lvl="1" eaLnBrk="1" hangingPunct="1"/>
            <a:r>
              <a:rPr lang="zh-CN" altLang="en-US" sz="2800" dirty="0">
                <a:solidFill>
                  <a:srgbClr val="C00000"/>
                </a:solidFill>
              </a:rPr>
              <a:t>绝对指令代码</a:t>
            </a:r>
            <a:r>
              <a:rPr lang="zh-CN" altLang="en-US" sz="2800" dirty="0"/>
              <a:t>：能够立即执行的机器语言代码，所有地址已经定位</a:t>
            </a:r>
          </a:p>
          <a:p>
            <a:pPr lvl="1" eaLnBrk="1" hangingPunct="1"/>
            <a:r>
              <a:rPr lang="zh-CN" altLang="en-US" sz="2800" dirty="0">
                <a:solidFill>
                  <a:srgbClr val="CC0000"/>
                </a:solidFill>
              </a:rPr>
              <a:t>可重新定位指令代码</a:t>
            </a:r>
            <a:r>
              <a:rPr lang="zh-CN" altLang="en-US" sz="2800" dirty="0"/>
              <a:t>：待装配的机器语言模块，执行时，由连接装配程序把它们和某些运行程序连接起来，转换成能执行的机器语言代码</a:t>
            </a:r>
          </a:p>
          <a:p>
            <a:pPr lvl="1" eaLnBrk="1" hangingPunct="1"/>
            <a:r>
              <a:rPr lang="zh-CN" altLang="en-US" sz="2800" dirty="0">
                <a:solidFill>
                  <a:srgbClr val="CC0000"/>
                </a:solidFill>
              </a:rPr>
              <a:t>汇编指令代码</a:t>
            </a:r>
            <a:r>
              <a:rPr lang="zh-CN" altLang="en-US" sz="2800" dirty="0"/>
              <a:t>：需要经过汇编程序转换成可执行的机器语言代码</a:t>
            </a:r>
          </a:p>
        </p:txBody>
      </p:sp>
    </p:spTree>
    <p:extLst>
      <p:ext uri="{BB962C8B-B14F-4D97-AF65-F5344CB8AC3E}">
        <p14:creationId xmlns:p14="http://schemas.microsoft.com/office/powerpoint/2010/main" val="3369883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99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99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99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99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4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000" b="1" dirty="0">
                <a:solidFill>
                  <a:schemeClr val="tx1"/>
                </a:solidFill>
                <a:ea typeface="楷体_GB2312" panose="02010609030101010101" charset="-122"/>
              </a:rPr>
              <a:t>目标代码生成需要考虑的问题</a:t>
            </a:r>
            <a:endParaRPr lang="en-GB" altLang="zh-CN" sz="4000" b="1" dirty="0">
              <a:solidFill>
                <a:schemeClr val="tx1"/>
              </a:solidFill>
              <a:ea typeface="楷体_GB2312" panose="02010609030101010101" charset="-122"/>
            </a:endParaRPr>
          </a:p>
        </p:txBody>
      </p:sp>
      <p:sp>
        <p:nvSpPr>
          <p:cNvPr id="921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如何使生成的目标代码较短</a:t>
            </a:r>
            <a:endParaRPr lang="en-US" altLang="zh-CN" dirty="0" smtClean="0"/>
          </a:p>
          <a:p>
            <a:r>
              <a:rPr lang="zh-CN" altLang="en-US" dirty="0" smtClean="0"/>
              <a:t>如何充分利用计算机的寄存器，减少目标代码访问存贮单元的次数</a:t>
            </a:r>
            <a:endParaRPr lang="en-US" altLang="zh-CN" dirty="0" smtClean="0"/>
          </a:p>
          <a:p>
            <a:r>
              <a:rPr lang="zh-CN" altLang="en-US" dirty="0" smtClean="0"/>
              <a:t>如何</a:t>
            </a:r>
            <a:r>
              <a:rPr lang="zh-CN" altLang="en-US" dirty="0"/>
              <a:t>充分利用计算机的指令系统的特点</a:t>
            </a:r>
            <a:endParaRPr lang="en-US" altLang="zh-CN" dirty="0"/>
          </a:p>
          <a:p>
            <a:r>
              <a:rPr lang="en-US" altLang="zh-CN" dirty="0"/>
              <a:t>a:=a+1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2846634" y="4621887"/>
            <a:ext cx="1383712" cy="535531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algn="just" defTabSz="457200">
              <a:lnSpc>
                <a:spcPct val="90000"/>
              </a:lnSpc>
            </a:pPr>
            <a:r>
              <a:rPr lang="en-US" altLang="zh-CN" sz="32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INC a</a:t>
            </a:r>
            <a:r>
              <a:rPr lang="en-GB" altLang="zh-CN" sz="32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5569912" y="4621887"/>
            <a:ext cx="2720617" cy="1421928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defTabSz="457200">
              <a:lnSpc>
                <a:spcPct val="90000"/>
              </a:lnSpc>
            </a:pPr>
            <a:r>
              <a:rPr lang="en-US" altLang="zh-CN" sz="32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LD 	    R</a:t>
            </a:r>
            <a:r>
              <a:rPr lang="en-US" altLang="zh-CN" sz="3200" baseline="-25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en-US" altLang="zh-CN" sz="32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a</a:t>
            </a:r>
          </a:p>
          <a:p>
            <a:pPr defTabSz="457200">
              <a:lnSpc>
                <a:spcPct val="90000"/>
              </a:lnSpc>
            </a:pPr>
            <a:r>
              <a:rPr lang="en-US" altLang="zh-CN" sz="32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ADD 	R</a:t>
            </a:r>
            <a:r>
              <a:rPr lang="en-US" altLang="zh-CN" sz="3200" baseline="-25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en-US" altLang="zh-CN" sz="32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#1</a:t>
            </a:r>
          </a:p>
          <a:p>
            <a:pPr defTabSz="457200">
              <a:lnSpc>
                <a:spcPct val="90000"/>
              </a:lnSpc>
            </a:pPr>
            <a:r>
              <a:rPr lang="en-US" altLang="zh-CN" sz="32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 		R</a:t>
            </a:r>
            <a:r>
              <a:rPr lang="en-US" altLang="zh-CN" sz="3200" baseline="-25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en-US" altLang="zh-CN" sz="32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a</a:t>
            </a:r>
            <a:r>
              <a:rPr lang="zh-CN" altLang="en-US" sz="32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625847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9" grpId="0" build="p"/>
      <p:bldP spid="8" grpId="0" animBg="1"/>
      <p:bldP spid="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just"/>
            <a:r>
              <a:rPr lang="zh-CN" altLang="en-US" sz="4000" b="1" dirty="0">
                <a:solidFill>
                  <a:schemeClr val="tx1"/>
                </a:solidFill>
                <a:ea typeface="楷体_GB2312" panose="02010609030101010101" charset="-122"/>
              </a:rPr>
              <a:t>一个抽象的计算机模型</a:t>
            </a:r>
          </a:p>
        </p:txBody>
      </p:sp>
      <p:sp>
        <p:nvSpPr>
          <p:cNvPr id="4608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zh-CN" altLang="en-US" sz="3200" dirty="0">
                <a:latin typeface="微软雅黑" panose="020B0503020204020204" pitchFamily="34" charset="-122"/>
              </a:rPr>
              <a:t>具有多个通用寄存器，可用作累加器和变址器</a:t>
            </a:r>
          </a:p>
          <a:p>
            <a:pPr algn="just"/>
            <a:r>
              <a:rPr lang="zh-CN" altLang="en-US" sz="3200" dirty="0">
                <a:latin typeface="微软雅黑" panose="020B0503020204020204" pitchFamily="34" charset="-122"/>
              </a:rPr>
              <a:t>运算必须在某个寄存器中进行</a:t>
            </a:r>
          </a:p>
          <a:p>
            <a:pPr algn="just"/>
            <a:r>
              <a:rPr lang="zh-CN" altLang="en-US" sz="3200" dirty="0">
                <a:latin typeface="微软雅黑" panose="020B0503020204020204" pitchFamily="34" charset="-122"/>
              </a:rPr>
              <a:t>含有四种类型的指令形式</a:t>
            </a:r>
          </a:p>
        </p:txBody>
      </p:sp>
    </p:spTree>
    <p:extLst>
      <p:ext uri="{BB962C8B-B14F-4D97-AF65-F5344CB8AC3E}">
        <p14:creationId xmlns:p14="http://schemas.microsoft.com/office/powerpoint/2010/main" val="27529342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6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6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6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8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4000" b="1" dirty="0">
                <a:solidFill>
                  <a:schemeClr val="tx1"/>
                </a:solidFill>
                <a:ea typeface="楷体_GB2312" panose="02010609030101010101" charset="-122"/>
              </a:rPr>
              <a:t>一个抽象的计算机模型</a:t>
            </a:r>
          </a:p>
        </p:txBody>
      </p:sp>
      <p:sp>
        <p:nvSpPr>
          <p:cNvPr id="7" name="内容占位符 1"/>
          <p:cNvSpPr>
            <a:spLocks noGrp="1"/>
          </p:cNvSpPr>
          <p:nvPr>
            <p:ph idx="1"/>
          </p:nvPr>
        </p:nvSpPr>
        <p:spPr>
          <a:xfrm>
            <a:off x="2201334" y="4853355"/>
            <a:ext cx="7681220" cy="1223178"/>
          </a:xfrm>
        </p:spPr>
        <p:txBody>
          <a:bodyPr>
            <a:noAutofit/>
          </a:bodyPr>
          <a:lstStyle/>
          <a:p>
            <a:pPr>
              <a:spcBef>
                <a:spcPts val="600"/>
              </a:spcBef>
            </a:pPr>
            <a:r>
              <a:rPr lang="en-US" altLang="zh-CN" dirty="0"/>
              <a:t>op </a:t>
            </a:r>
            <a:r>
              <a:rPr lang="zh-CN" altLang="en-US" dirty="0"/>
              <a:t>可以是常见的二目运算符</a:t>
            </a:r>
            <a:endParaRPr lang="en-US" altLang="zh-CN" dirty="0"/>
          </a:p>
          <a:p>
            <a:pPr lvl="1">
              <a:spcBef>
                <a:spcPts val="600"/>
              </a:spcBef>
            </a:pPr>
            <a:r>
              <a:rPr lang="zh-CN" altLang="en-US" dirty="0"/>
              <a:t>如 </a:t>
            </a:r>
            <a:r>
              <a:rPr lang="en-US" altLang="zh-CN" dirty="0"/>
              <a:t>ADD(</a:t>
            </a:r>
            <a:r>
              <a:rPr lang="zh-CN" altLang="en-US" dirty="0"/>
              <a:t>加</a:t>
            </a:r>
            <a:r>
              <a:rPr lang="en-US" altLang="zh-CN" dirty="0"/>
              <a:t>)</a:t>
            </a:r>
            <a:r>
              <a:rPr lang="zh-CN" altLang="en-US" dirty="0"/>
              <a:t>、</a:t>
            </a:r>
            <a:r>
              <a:rPr lang="en-US" altLang="zh-CN" dirty="0"/>
              <a:t>SUB(</a:t>
            </a:r>
            <a:r>
              <a:rPr lang="zh-CN" altLang="en-US" dirty="0"/>
              <a:t>减</a:t>
            </a:r>
            <a:r>
              <a:rPr lang="en-US" altLang="zh-CN" dirty="0"/>
              <a:t>)</a:t>
            </a:r>
            <a:r>
              <a:rPr lang="zh-CN" altLang="en-US" dirty="0"/>
              <a:t>、</a:t>
            </a:r>
            <a:r>
              <a:rPr lang="en-US" altLang="zh-CN" dirty="0"/>
              <a:t>MUL(</a:t>
            </a:r>
            <a:r>
              <a:rPr lang="zh-CN" altLang="en-US" dirty="0"/>
              <a:t>乘</a:t>
            </a:r>
            <a:r>
              <a:rPr lang="en-US" altLang="zh-CN" dirty="0"/>
              <a:t>)</a:t>
            </a:r>
            <a:r>
              <a:rPr lang="zh-CN" altLang="en-US" dirty="0"/>
              <a:t>、</a:t>
            </a:r>
            <a:r>
              <a:rPr lang="en-US" altLang="zh-CN" dirty="0"/>
              <a:t>DIV(</a:t>
            </a:r>
            <a:r>
              <a:rPr lang="zh-CN" altLang="en-US" dirty="0"/>
              <a:t>除</a:t>
            </a:r>
            <a:r>
              <a:rPr lang="en-US" altLang="zh-CN" dirty="0"/>
              <a:t>)</a:t>
            </a:r>
          </a:p>
          <a:p>
            <a:pPr>
              <a:spcBef>
                <a:spcPts val="600"/>
              </a:spcBef>
            </a:pPr>
            <a:r>
              <a:rPr lang="en-US" altLang="zh-CN" dirty="0"/>
              <a:t>op</a:t>
            </a:r>
            <a:r>
              <a:rPr lang="zh-CN" altLang="en-US" dirty="0"/>
              <a:t>也可以是一目运行符</a:t>
            </a:r>
            <a:endParaRPr lang="en-US" altLang="zh-CN" dirty="0"/>
          </a:p>
          <a:p>
            <a:pPr lvl="1">
              <a:spcBef>
                <a:spcPts val="600"/>
              </a:spcBef>
            </a:pPr>
            <a:r>
              <a:rPr lang="en-US" altLang="zh-CN" dirty="0"/>
              <a:t>op </a:t>
            </a:r>
            <a:r>
              <a:rPr lang="en-US" altLang="zh-CN" dirty="0" err="1"/>
              <a:t>R</a:t>
            </a:r>
            <a:r>
              <a:rPr lang="en-US" altLang="zh-CN" baseline="-25000" dirty="0" err="1"/>
              <a:t>i</a:t>
            </a:r>
            <a:r>
              <a:rPr lang="en-US" altLang="zh-CN" dirty="0"/>
              <a:t>, M </a:t>
            </a:r>
            <a:r>
              <a:rPr lang="zh-CN" altLang="en-US" dirty="0"/>
              <a:t>的意义为：</a:t>
            </a:r>
            <a:r>
              <a:rPr lang="en-US" altLang="zh-CN" dirty="0" err="1"/>
              <a:t>op（M</a:t>
            </a:r>
            <a:r>
              <a:rPr lang="en-US" altLang="zh-CN" dirty="0"/>
              <a:t>）</a:t>
            </a:r>
            <a:r>
              <a:rPr lang="en-US" altLang="zh-CN" dirty="0">
                <a:sym typeface="Symbol" panose="05050102010706020507" pitchFamily="18" charset="2"/>
              </a:rPr>
              <a:t></a:t>
            </a:r>
            <a:r>
              <a:rPr lang="en-US" altLang="zh-CN" dirty="0"/>
              <a:t> </a:t>
            </a:r>
            <a:r>
              <a:rPr lang="en-US" altLang="zh-CN" dirty="0" err="1"/>
              <a:t>R</a:t>
            </a:r>
            <a:r>
              <a:rPr lang="en-US" altLang="zh-CN" baseline="-25000" dirty="0" err="1"/>
              <a:t>i</a:t>
            </a:r>
            <a:endParaRPr lang="zh-CN" altLang="en-US" dirty="0"/>
          </a:p>
        </p:txBody>
      </p:sp>
      <p:graphicFrame>
        <p:nvGraphicFramePr>
          <p:cNvPr id="8" name="Group 216"/>
          <p:cNvGraphicFramePr>
            <a:graphicFrameLocks noGrp="1"/>
          </p:cNvGraphicFramePr>
          <p:nvPr/>
        </p:nvGraphicFramePr>
        <p:xfrm>
          <a:off x="2201333" y="1687514"/>
          <a:ext cx="7458482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93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86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904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753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类型</a:t>
                      </a: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指令形式</a:t>
                      </a: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2400" b="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意义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 pitchFamily="18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53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直接地址型</a:t>
                      </a: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op </a:t>
                      </a:r>
                      <a:r>
                        <a:rPr kumimoji="0" lang="en-US" altLang="zh-CN" sz="2400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</a:t>
                      </a:r>
                      <a:r>
                        <a:rPr kumimoji="0" lang="en-US" altLang="zh-CN" sz="2400" u="none" strike="noStrike" cap="none" normalizeH="0" baseline="-30000" dirty="0" err="1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</a:t>
                      </a:r>
                      <a:r>
                        <a:rPr kumimoji="0" lang="en-US" altLang="zh-CN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, M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kumimoji="0" lang="en-US" altLang="zh-CN" sz="2400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</a:t>
                      </a:r>
                      <a:r>
                        <a:rPr kumimoji="0" lang="en-US" altLang="zh-CN" sz="2400" u="none" strike="noStrike" cap="none" normalizeH="0" baseline="-30000" dirty="0" err="1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</a:t>
                      </a:r>
                      <a:r>
                        <a:rPr kumimoji="0" lang="en-US" altLang="zh-CN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) op (M) </a:t>
                      </a:r>
                      <a:r>
                        <a:rPr kumimoji="0" lang="en-US" altLang="zh-CN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Symbol" pitchFamily="18" charset="2"/>
                        </a:rPr>
                        <a:t></a:t>
                      </a:r>
                      <a:r>
                        <a:rPr kumimoji="0" lang="en-US" altLang="zh-CN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kumimoji="0" lang="en-US" altLang="zh-CN" sz="2400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</a:t>
                      </a:r>
                      <a:r>
                        <a:rPr kumimoji="0" lang="en-US" altLang="zh-CN" sz="2400" u="none" strike="noStrike" cap="none" normalizeH="0" baseline="-30000" dirty="0" err="1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Symbol" pitchFamily="18" charset="2"/>
                        </a:rPr>
                        <a:t>i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53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寄存器型</a:t>
                      </a: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u="none" strike="noStrike" cap="none" normalizeH="0" baseline="0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op R</a:t>
                      </a:r>
                      <a:r>
                        <a:rPr kumimoji="0" lang="en-US" altLang="zh-CN" sz="2400" u="none" strike="noStrike" cap="none" normalizeH="0" baseline="-30000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</a:t>
                      </a:r>
                      <a:r>
                        <a:rPr kumimoji="0" lang="en-US" altLang="zh-CN" sz="2400" u="none" strike="noStrike" cap="none" normalizeH="0" baseline="0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, R</a:t>
                      </a:r>
                      <a:r>
                        <a:rPr kumimoji="0" lang="en-US" altLang="zh-CN" sz="2400" u="none" strike="noStrike" cap="none" normalizeH="0" baseline="-30000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j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u="none" strike="noStrike" cap="none" normalizeH="0" baseline="0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(R</a:t>
                      </a:r>
                      <a:r>
                        <a:rPr kumimoji="0" lang="en-US" altLang="zh-CN" sz="2400" u="none" strike="noStrike" cap="none" normalizeH="0" baseline="-30000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</a:t>
                      </a:r>
                      <a:r>
                        <a:rPr kumimoji="0" lang="en-US" altLang="zh-CN" sz="2400" u="none" strike="noStrike" cap="none" normalizeH="0" baseline="0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) op (R</a:t>
                      </a:r>
                      <a:r>
                        <a:rPr kumimoji="0" lang="en-US" altLang="zh-CN" sz="2400" u="none" strike="noStrike" cap="none" normalizeH="0" baseline="-30000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j</a:t>
                      </a:r>
                      <a:r>
                        <a:rPr kumimoji="0" lang="en-US" altLang="zh-CN" sz="2400" u="none" strike="noStrike" cap="none" normalizeH="0" baseline="0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) </a:t>
                      </a:r>
                      <a:r>
                        <a:rPr kumimoji="0" lang="en-US" altLang="zh-CN" sz="2400" u="none" strike="noStrike" cap="none" normalizeH="0" baseline="0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Symbol" pitchFamily="18" charset="2"/>
                        </a:rPr>
                        <a:t></a:t>
                      </a:r>
                      <a:r>
                        <a:rPr kumimoji="0" lang="en-US" altLang="zh-CN" sz="2400" u="none" strike="noStrike" cap="none" normalizeH="0" baseline="0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R</a:t>
                      </a:r>
                      <a:r>
                        <a:rPr kumimoji="0" lang="en-US" altLang="zh-CN" sz="2400" u="none" strike="noStrike" cap="none" normalizeH="0" baseline="-30000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Symbol" pitchFamily="18" charset="2"/>
                        </a:rPr>
                        <a:t>i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753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变址型</a:t>
                      </a: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op </a:t>
                      </a:r>
                      <a:r>
                        <a:rPr kumimoji="0" lang="en-US" altLang="zh-CN" sz="2400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</a:t>
                      </a:r>
                      <a:r>
                        <a:rPr kumimoji="0" lang="en-US" altLang="zh-CN" sz="2400" u="none" strike="noStrike" cap="none" normalizeH="0" baseline="-30000" dirty="0" err="1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</a:t>
                      </a:r>
                      <a:r>
                        <a:rPr kumimoji="0" lang="en-US" altLang="zh-CN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, c(</a:t>
                      </a:r>
                      <a:r>
                        <a:rPr kumimoji="0" lang="en-US" altLang="zh-CN" sz="2400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</a:t>
                      </a:r>
                      <a:r>
                        <a:rPr kumimoji="0" lang="en-US" altLang="zh-CN" sz="2400" u="none" strike="noStrike" cap="none" normalizeH="0" baseline="-30000" dirty="0" err="1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j</a:t>
                      </a:r>
                      <a:r>
                        <a:rPr kumimoji="0" lang="en-US" altLang="zh-CN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)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kumimoji="0" lang="en-US" altLang="zh-CN" sz="2400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</a:t>
                      </a:r>
                      <a:r>
                        <a:rPr kumimoji="0" lang="en-US" altLang="zh-CN" sz="2400" u="none" strike="noStrike" cap="none" normalizeH="0" baseline="-30000" dirty="0" err="1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</a:t>
                      </a:r>
                      <a:r>
                        <a:rPr kumimoji="0" lang="en-US" altLang="zh-CN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) op ((</a:t>
                      </a:r>
                      <a:r>
                        <a:rPr kumimoji="0" lang="en-US" altLang="zh-CN" sz="2400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</a:t>
                      </a:r>
                      <a:r>
                        <a:rPr kumimoji="0" lang="en-US" altLang="zh-CN" sz="2400" u="none" strike="noStrike" cap="none" normalizeH="0" baseline="-30000" dirty="0" err="1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j</a:t>
                      </a:r>
                      <a:r>
                        <a:rPr kumimoji="0" lang="en-US" altLang="zh-CN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)+c) </a:t>
                      </a:r>
                      <a:r>
                        <a:rPr kumimoji="0" lang="en-US" altLang="zh-CN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Symbol" pitchFamily="18" charset="2"/>
                        </a:rPr>
                        <a:t></a:t>
                      </a:r>
                      <a:r>
                        <a:rPr kumimoji="0" lang="en-US" altLang="zh-CN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kumimoji="0" lang="en-US" altLang="zh-CN" sz="2400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</a:t>
                      </a:r>
                      <a:r>
                        <a:rPr kumimoji="0" lang="en-US" altLang="zh-CN" sz="2400" u="none" strike="noStrike" cap="none" normalizeH="0" baseline="-30000" dirty="0" err="1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Symbol" pitchFamily="18" charset="2"/>
                        </a:rPr>
                        <a:t>i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15119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间接型</a:t>
                      </a: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211138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u="none" strike="noStrike" cap="none" normalizeH="0" baseline="0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op R</a:t>
                      </a:r>
                      <a:r>
                        <a:rPr kumimoji="0" lang="en-US" altLang="zh-CN" sz="2400" u="none" strike="noStrike" cap="none" normalizeH="0" baseline="-30000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</a:t>
                      </a:r>
                      <a:r>
                        <a:rPr kumimoji="0" lang="en-US" altLang="zh-CN" sz="2400" u="none" strike="noStrike" cap="none" normalizeH="0" baseline="0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, *M</a:t>
                      </a:r>
                      <a:endParaRPr kumimoji="0" lang="en-GB" sz="2400" u="none" strike="noStrike" cap="none" normalizeH="0" baseline="0">
                        <a:ln>
                          <a:noFill/>
                        </a:ln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marR="0" lvl="0" indent="211138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u="none" strike="noStrike" cap="none" normalizeH="0" baseline="0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op R</a:t>
                      </a:r>
                      <a:r>
                        <a:rPr kumimoji="0" lang="en-US" altLang="zh-CN" sz="2400" u="none" strike="noStrike" cap="none" normalizeH="0" baseline="-30000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</a:t>
                      </a:r>
                      <a:r>
                        <a:rPr kumimoji="0" lang="en-US" altLang="zh-CN" sz="2400" u="none" strike="noStrike" cap="none" normalizeH="0" baseline="0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, *R</a:t>
                      </a:r>
                      <a:r>
                        <a:rPr kumimoji="0" lang="en-US" altLang="zh-CN" sz="2400" u="none" strike="noStrike" cap="none" normalizeH="0" baseline="-30000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j</a:t>
                      </a:r>
                      <a:endParaRPr kumimoji="0" lang="en-GB" sz="2400" u="none" strike="noStrike" cap="none" normalizeH="0" baseline="0">
                        <a:ln>
                          <a:noFill/>
                        </a:ln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marR="0" lvl="0" indent="211138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u="none" strike="noStrike" cap="none" normalizeH="0" baseline="0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op R</a:t>
                      </a:r>
                      <a:r>
                        <a:rPr kumimoji="0" lang="en-US" altLang="zh-CN" sz="2400" u="none" strike="noStrike" cap="none" normalizeH="0" baseline="-30000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</a:t>
                      </a:r>
                      <a:r>
                        <a:rPr kumimoji="0" lang="en-US" altLang="zh-CN" sz="2400" u="none" strike="noStrike" cap="none" normalizeH="0" baseline="0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, *c(R</a:t>
                      </a:r>
                      <a:r>
                        <a:rPr kumimoji="0" lang="en-US" altLang="zh-CN" sz="2400" u="none" strike="noStrike" cap="none" normalizeH="0" baseline="-30000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j</a:t>
                      </a:r>
                      <a:r>
                        <a:rPr kumimoji="0" lang="en-US" altLang="zh-CN" sz="2400" u="none" strike="noStrike" cap="none" normalizeH="0" baseline="0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)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211138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kumimoji="0" lang="en-US" altLang="zh-CN" sz="2400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</a:t>
                      </a:r>
                      <a:r>
                        <a:rPr kumimoji="0" lang="en-US" altLang="zh-CN" sz="2400" u="none" strike="noStrike" cap="none" normalizeH="0" baseline="-30000" dirty="0" err="1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</a:t>
                      </a:r>
                      <a:r>
                        <a:rPr kumimoji="0" lang="en-US" altLang="zh-CN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) op ((M)) </a:t>
                      </a:r>
                      <a:r>
                        <a:rPr kumimoji="0" lang="en-US" altLang="zh-CN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Symbol" pitchFamily="18" charset="2"/>
                        </a:rPr>
                        <a:t></a:t>
                      </a:r>
                      <a:r>
                        <a:rPr kumimoji="0" lang="en-US" altLang="zh-CN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kumimoji="0" lang="en-US" altLang="zh-CN" sz="2400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</a:t>
                      </a:r>
                      <a:r>
                        <a:rPr kumimoji="0" lang="en-US" altLang="zh-CN" sz="2400" u="none" strike="noStrike" cap="none" normalizeH="0" baseline="-30000" dirty="0" err="1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Symbol" pitchFamily="18" charset="2"/>
                        </a:rPr>
                        <a:t>i</a:t>
                      </a:r>
                      <a:endParaRPr kumimoji="0" lang="en-GB" sz="2400" u="none" strike="noStrike" cap="none" normalizeH="0" baseline="0" dirty="0">
                        <a:ln>
                          <a:noFill/>
                        </a:ln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Symbol" pitchFamily="18" charset="2"/>
                      </a:endParaRPr>
                    </a:p>
                    <a:p>
                      <a:pPr marL="0" marR="0" lvl="0" indent="211138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Symbol" pitchFamily="18" charset="2"/>
                        </a:rPr>
                        <a:t>(</a:t>
                      </a:r>
                      <a:r>
                        <a:rPr kumimoji="0" lang="en-US" altLang="zh-CN" sz="2400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Symbol" pitchFamily="18" charset="2"/>
                        </a:rPr>
                        <a:t>R</a:t>
                      </a:r>
                      <a:r>
                        <a:rPr kumimoji="0" lang="en-US" altLang="zh-CN" sz="2400" u="none" strike="noStrike" cap="none" normalizeH="0" baseline="-30000" dirty="0" err="1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Symbol" pitchFamily="18" charset="2"/>
                        </a:rPr>
                        <a:t>i</a:t>
                      </a:r>
                      <a:r>
                        <a:rPr kumimoji="0" lang="en-US" altLang="zh-CN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Symbol" pitchFamily="18" charset="2"/>
                        </a:rPr>
                        <a:t>) op ((</a:t>
                      </a:r>
                      <a:r>
                        <a:rPr kumimoji="0" lang="en-US" altLang="zh-CN" sz="2400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Symbol" pitchFamily="18" charset="2"/>
                        </a:rPr>
                        <a:t>R</a:t>
                      </a:r>
                      <a:r>
                        <a:rPr kumimoji="0" lang="en-US" altLang="zh-CN" sz="2400" u="none" strike="noStrike" cap="none" normalizeH="0" baseline="-30000" dirty="0" err="1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Symbol" pitchFamily="18" charset="2"/>
                        </a:rPr>
                        <a:t>j</a:t>
                      </a:r>
                      <a:r>
                        <a:rPr kumimoji="0" lang="en-US" altLang="zh-CN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Symbol" pitchFamily="18" charset="2"/>
                        </a:rPr>
                        <a:t>)) </a:t>
                      </a:r>
                      <a:r>
                        <a:rPr kumimoji="0" lang="en-US" altLang="zh-CN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kumimoji="0" lang="en-US" altLang="zh-CN" sz="2400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</a:t>
                      </a:r>
                      <a:r>
                        <a:rPr kumimoji="0" lang="en-US" altLang="zh-CN" sz="2400" u="none" strike="noStrike" cap="none" normalizeH="0" baseline="-30000" dirty="0" err="1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Symbol" pitchFamily="18" charset="2"/>
                        </a:rPr>
                        <a:t>i</a:t>
                      </a:r>
                      <a:endParaRPr kumimoji="0" lang="en-GB" sz="2400" u="none" strike="noStrike" cap="none" normalizeH="0" baseline="0" dirty="0">
                        <a:ln>
                          <a:noFill/>
                        </a:ln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Symbol" pitchFamily="18" charset="2"/>
                      </a:endParaRPr>
                    </a:p>
                    <a:p>
                      <a:pPr marL="0" marR="0" lvl="0" indent="211138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Symbol" pitchFamily="18" charset="2"/>
                        </a:rPr>
                        <a:t>(</a:t>
                      </a:r>
                      <a:r>
                        <a:rPr kumimoji="0" lang="en-US" altLang="zh-CN" sz="2400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Symbol" pitchFamily="18" charset="2"/>
                        </a:rPr>
                        <a:t>R</a:t>
                      </a:r>
                      <a:r>
                        <a:rPr kumimoji="0" lang="en-US" altLang="zh-CN" sz="2400" u="none" strike="noStrike" cap="none" normalizeH="0" baseline="-30000" dirty="0" err="1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Symbol" pitchFamily="18" charset="2"/>
                        </a:rPr>
                        <a:t>i</a:t>
                      </a:r>
                      <a:r>
                        <a:rPr kumimoji="0" lang="en-US" altLang="zh-CN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Symbol" pitchFamily="18" charset="2"/>
                        </a:rPr>
                        <a:t>) op (((</a:t>
                      </a:r>
                      <a:r>
                        <a:rPr kumimoji="0" lang="en-US" altLang="zh-CN" sz="2400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Symbol" pitchFamily="18" charset="2"/>
                        </a:rPr>
                        <a:t>R</a:t>
                      </a:r>
                      <a:r>
                        <a:rPr kumimoji="0" lang="en-US" altLang="zh-CN" sz="2400" u="none" strike="noStrike" cap="none" normalizeH="0" baseline="-30000" dirty="0" err="1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Symbol" pitchFamily="18" charset="2"/>
                        </a:rPr>
                        <a:t>j</a:t>
                      </a:r>
                      <a:r>
                        <a:rPr kumimoji="0" lang="en-US" altLang="zh-CN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Symbol" pitchFamily="18" charset="2"/>
                        </a:rPr>
                        <a:t>)+c)) </a:t>
                      </a:r>
                      <a:r>
                        <a:rPr kumimoji="0" lang="en-US" altLang="zh-CN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kumimoji="0" lang="en-US" altLang="zh-CN" sz="2400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</a:t>
                      </a:r>
                      <a:r>
                        <a:rPr kumimoji="0" lang="en-US" altLang="zh-CN" sz="2400" u="none" strike="noStrike" cap="none" normalizeH="0" baseline="-30000" dirty="0" err="1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Symbol" pitchFamily="18" charset="2"/>
                        </a:rPr>
                        <a:t>i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080112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4000" b="1" dirty="0">
                <a:solidFill>
                  <a:schemeClr val="tx1"/>
                </a:solidFill>
                <a:ea typeface="楷体_GB2312" panose="02010609030101010101" charset="-122"/>
              </a:rPr>
              <a:t>一个抽象的计算机模型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其它指令</a:t>
            </a:r>
          </a:p>
        </p:txBody>
      </p:sp>
      <p:graphicFrame>
        <p:nvGraphicFramePr>
          <p:cNvPr id="24727" name="Group 1175"/>
          <p:cNvGraphicFramePr>
            <a:graphicFrameLocks noGrp="1"/>
          </p:cNvGraphicFramePr>
          <p:nvPr/>
        </p:nvGraphicFramePr>
        <p:xfrm>
          <a:off x="1564300" y="2508400"/>
          <a:ext cx="9067000" cy="42347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11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558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966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指  令</a:t>
                      </a: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itchFamily="18" charset="0"/>
                      </a:endParaRPr>
                    </a:p>
                  </a:txBody>
                  <a:tcPr marL="27000" marR="27000" marT="35102" marB="35102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意    义</a:t>
                      </a: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itchFamily="18" charset="0"/>
                      </a:endParaRPr>
                    </a:p>
                  </a:txBody>
                  <a:tcPr marL="27000" marR="27000" marT="35102" marB="35102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966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LD  </a:t>
                      </a:r>
                      <a:r>
                        <a:rPr kumimoji="0" lang="en-US" altLang="zh-CN" sz="2400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</a:t>
                      </a:r>
                      <a:r>
                        <a:rPr kumimoji="0" lang="en-US" altLang="zh-CN" sz="2400" u="none" strike="noStrike" cap="none" normalizeH="0" baseline="-30000" dirty="0" err="1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</a:t>
                      </a:r>
                      <a:r>
                        <a:rPr kumimoji="0" lang="en-US" altLang="zh-CN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, B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 pitchFamily="18" charset="0"/>
                      </a:endParaRPr>
                    </a:p>
                  </a:txBody>
                  <a:tcPr marL="13500" marR="13500" marT="35102" marB="3510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把</a:t>
                      </a:r>
                      <a:r>
                        <a:rPr kumimoji="0" lang="en-US" altLang="zh-CN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</a:t>
                      </a:r>
                      <a:r>
                        <a:rPr kumimoji="0" lang="zh-CN" alt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单元的内容取到寄存器</a:t>
                      </a:r>
                      <a:r>
                        <a:rPr kumimoji="0" lang="en-US" altLang="zh-CN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</a:t>
                      </a:r>
                      <a:r>
                        <a:rPr kumimoji="0" lang="zh-CN" alt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，即</a:t>
                      </a:r>
                      <a:r>
                        <a:rPr kumimoji="0" lang="en-US" altLang="zh-CN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(B)</a:t>
                      </a:r>
                      <a:r>
                        <a:rPr kumimoji="0" lang="en-US" altLang="zh-CN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Symbol" pitchFamily="18" charset="2"/>
                        </a:rPr>
                        <a:t></a:t>
                      </a:r>
                      <a:r>
                        <a:rPr kumimoji="0" lang="en-US" altLang="zh-CN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kumimoji="0" lang="en-US" altLang="zh-CN" sz="2400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</a:t>
                      </a:r>
                      <a:r>
                        <a:rPr kumimoji="0" lang="en-US" altLang="zh-CN" sz="2400" u="none" strike="noStrike" cap="none" normalizeH="0" baseline="-30000" dirty="0" err="1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Symbol" pitchFamily="18" charset="2"/>
                        </a:rPr>
                        <a:t>i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marL="13500" marR="13500" marT="35102" marB="35102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966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ST  </a:t>
                      </a:r>
                      <a:r>
                        <a:rPr kumimoji="0" lang="en-US" altLang="zh-CN" sz="2400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</a:t>
                      </a:r>
                      <a:r>
                        <a:rPr kumimoji="0" lang="en-US" altLang="zh-CN" sz="2400" u="none" strike="noStrike" cap="none" normalizeH="0" baseline="-30000" dirty="0" err="1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</a:t>
                      </a:r>
                      <a:r>
                        <a:rPr kumimoji="0" lang="en-US" altLang="zh-CN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, B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 pitchFamily="18" charset="0"/>
                      </a:endParaRPr>
                    </a:p>
                  </a:txBody>
                  <a:tcPr marL="13500" marR="13500" marT="35102" marB="3510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把寄存器</a:t>
                      </a:r>
                      <a:r>
                        <a:rPr kumimoji="0" lang="en-US" altLang="zh-CN" sz="2400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</a:t>
                      </a:r>
                      <a:r>
                        <a:rPr kumimoji="0" lang="en-US" altLang="zh-CN" sz="2400" u="none" strike="noStrike" cap="none" normalizeH="0" baseline="-30000" dirty="0" err="1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</a:t>
                      </a:r>
                      <a:r>
                        <a:rPr kumimoji="0" lang="zh-CN" alt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的内容存到</a:t>
                      </a:r>
                      <a:r>
                        <a:rPr kumimoji="0" lang="en-US" altLang="zh-CN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</a:t>
                      </a:r>
                      <a:r>
                        <a:rPr kumimoji="0" lang="zh-CN" alt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单元，即</a:t>
                      </a:r>
                      <a:r>
                        <a:rPr kumimoji="0" lang="en-US" altLang="zh-CN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kumimoji="0" lang="en-US" altLang="zh-CN" sz="2400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</a:t>
                      </a:r>
                      <a:r>
                        <a:rPr kumimoji="0" lang="en-US" altLang="zh-CN" sz="2400" u="none" strike="noStrike" cap="none" normalizeH="0" baseline="-25000" dirty="0" err="1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</a:t>
                      </a:r>
                      <a:r>
                        <a:rPr kumimoji="0" lang="en-US" altLang="zh-CN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)</a:t>
                      </a:r>
                      <a:r>
                        <a:rPr kumimoji="0" lang="en-US" altLang="zh-CN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Symbol" pitchFamily="18" charset="2"/>
                        </a:rPr>
                        <a:t></a:t>
                      </a:r>
                      <a:r>
                        <a:rPr kumimoji="0" lang="en-US" altLang="zh-CN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B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marL="13500" marR="13500" marT="35102" marB="35102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966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u="none" strike="noStrike" cap="none" normalizeH="0" baseline="0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J     X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 pitchFamily="18" charset="0"/>
                      </a:endParaRPr>
                    </a:p>
                  </a:txBody>
                  <a:tcPr marL="13500" marR="13500" marT="35102" marB="3510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无条件转向</a:t>
                      </a:r>
                      <a:r>
                        <a:rPr kumimoji="0" lang="en-US" altLang="zh-CN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</a:t>
                      </a:r>
                      <a:r>
                        <a:rPr kumimoji="0" lang="zh-CN" alt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单元</a:t>
                      </a: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 pitchFamily="18" charset="0"/>
                      </a:endParaRPr>
                    </a:p>
                  </a:txBody>
                  <a:tcPr marL="13500" marR="13500" marT="35102" marB="35102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911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u="none" strike="noStrike" cap="none" normalizeH="0" baseline="0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CMP A, B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 pitchFamily="18" charset="0"/>
                      </a:endParaRPr>
                    </a:p>
                  </a:txBody>
                  <a:tcPr marL="13500" marR="13500" marT="35102" marB="3510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2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比较</a:t>
                      </a:r>
                      <a:r>
                        <a:rPr kumimoji="0" lang="en-US" altLang="zh-CN" sz="22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</a:t>
                      </a:r>
                      <a:r>
                        <a:rPr kumimoji="0" lang="zh-CN" altLang="en-US" sz="22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单元和</a:t>
                      </a:r>
                      <a:r>
                        <a:rPr kumimoji="0" lang="en-US" altLang="zh-CN" sz="22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</a:t>
                      </a:r>
                      <a:r>
                        <a:rPr kumimoji="0" lang="zh-CN" altLang="en-US" sz="22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单元的值，根据比较情况设置内部二位特征寄存器</a:t>
                      </a:r>
                      <a:r>
                        <a:rPr kumimoji="0" lang="en-US" altLang="zh-CN" sz="22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CT</a:t>
                      </a:r>
                      <a:r>
                        <a:rPr kumimoji="0" lang="zh-CN" altLang="en-US" sz="22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的值：根据</a:t>
                      </a:r>
                      <a:r>
                        <a:rPr kumimoji="0" lang="en-US" altLang="zh-CN" sz="22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A&lt;B</a:t>
                      </a:r>
                      <a:r>
                        <a:rPr kumimoji="0" lang="zh-CN" altLang="en-US" sz="22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或</a:t>
                      </a:r>
                      <a:r>
                        <a:rPr kumimoji="0" lang="en-US" altLang="zh-CN" sz="22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A=B</a:t>
                      </a:r>
                      <a:r>
                        <a:rPr kumimoji="0" lang="zh-CN" altLang="en-US" sz="22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或</a:t>
                      </a:r>
                      <a:r>
                        <a:rPr kumimoji="0" lang="en-US" altLang="zh-CN" sz="22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A&gt;B</a:t>
                      </a:r>
                      <a:r>
                        <a:rPr kumimoji="0" lang="zh-CN" altLang="en-US" sz="22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分别置</a:t>
                      </a:r>
                      <a:r>
                        <a:rPr kumimoji="0" lang="en-US" altLang="zh-CN" sz="22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CT</a:t>
                      </a:r>
                      <a:r>
                        <a:rPr kumimoji="0" lang="zh-CN" altLang="en-US" sz="22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为</a:t>
                      </a:r>
                      <a:r>
                        <a:rPr kumimoji="0" lang="en-US" altLang="zh-CN" sz="22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r>
                        <a:rPr kumimoji="0" lang="zh-CN" altLang="en-US" sz="22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或</a:t>
                      </a:r>
                      <a:r>
                        <a:rPr kumimoji="0" lang="en-US" altLang="zh-CN" sz="22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kumimoji="0" lang="zh-CN" altLang="en-US" sz="22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或</a:t>
                      </a:r>
                      <a:r>
                        <a:rPr kumimoji="0" lang="en-US" altLang="zh-CN" sz="22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r>
                        <a:rPr kumimoji="0" lang="zh-CN" altLang="en-US" sz="22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。</a:t>
                      </a:r>
                      <a:endParaRPr kumimoji="0" lang="zh-CN" altLang="en-US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 pitchFamily="18" charset="0"/>
                      </a:endParaRPr>
                    </a:p>
                  </a:txBody>
                  <a:tcPr marL="13500" marR="13500" marT="35102" marB="35102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966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u="none" strike="noStrike" cap="none" normalizeH="0" baseline="0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J</a:t>
                      </a:r>
                      <a:r>
                        <a:rPr kumimoji="0" lang="zh-CN" altLang="en-US" sz="2400" u="none" strike="noStrike" cap="none" normalizeH="0" baseline="0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＜ </a:t>
                      </a:r>
                      <a:r>
                        <a:rPr kumimoji="0" lang="en-US" altLang="zh-CN" sz="2400" u="none" strike="noStrike" cap="none" normalizeH="0" baseline="0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 pitchFamily="18" charset="0"/>
                      </a:endParaRPr>
                    </a:p>
                  </a:txBody>
                  <a:tcPr marL="13500" marR="13500" marT="35102" marB="3510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若</a:t>
                      </a:r>
                      <a:r>
                        <a:rPr kumimoji="0" lang="en-US" altLang="zh-CN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CT=0</a:t>
                      </a:r>
                      <a:r>
                        <a:rPr kumimoji="0" lang="zh-CN" alt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，转</a:t>
                      </a:r>
                      <a:r>
                        <a:rPr kumimoji="0" lang="en-US" altLang="zh-CN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</a:t>
                      </a:r>
                      <a:r>
                        <a:rPr kumimoji="0" lang="zh-CN" alt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单元</a:t>
                      </a: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 pitchFamily="18" charset="0"/>
                      </a:endParaRPr>
                    </a:p>
                  </a:txBody>
                  <a:tcPr marL="13500" marR="13500" marT="35102" marB="35102"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966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u="none" strike="noStrike" cap="none" normalizeH="0" baseline="0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J≤ X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 pitchFamily="18" charset="0"/>
                      </a:endParaRPr>
                    </a:p>
                  </a:txBody>
                  <a:tcPr marL="13500" marR="13500" marT="35102" marB="3510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若</a:t>
                      </a:r>
                      <a:r>
                        <a:rPr kumimoji="0" lang="en-US" altLang="zh-CN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CT=0</a:t>
                      </a:r>
                      <a:r>
                        <a:rPr kumimoji="0" lang="zh-CN" alt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或</a:t>
                      </a:r>
                      <a:r>
                        <a:rPr kumimoji="0" lang="en-US" altLang="zh-CN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CT=1</a:t>
                      </a:r>
                      <a:r>
                        <a:rPr kumimoji="0" lang="zh-CN" alt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，转</a:t>
                      </a:r>
                      <a:r>
                        <a:rPr kumimoji="0" lang="en-US" altLang="zh-CN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</a:t>
                      </a:r>
                      <a:r>
                        <a:rPr kumimoji="0" lang="zh-CN" alt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单元</a:t>
                      </a: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 pitchFamily="18" charset="0"/>
                      </a:endParaRPr>
                    </a:p>
                  </a:txBody>
                  <a:tcPr marL="13500" marR="13500" marT="35102" marB="35102" horzOverflow="overflow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966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u="none" strike="noStrike" cap="none" normalizeH="0" baseline="0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J</a:t>
                      </a:r>
                      <a:r>
                        <a:rPr kumimoji="0" lang="zh-CN" altLang="en-US" sz="2400" u="none" strike="noStrike" cap="none" normalizeH="0" baseline="0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＝</a:t>
                      </a:r>
                      <a:r>
                        <a:rPr kumimoji="0" lang="en-US" altLang="zh-CN" sz="2400" u="none" strike="noStrike" cap="none" normalizeH="0" baseline="0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 pitchFamily="18" charset="0"/>
                      </a:endParaRPr>
                    </a:p>
                  </a:txBody>
                  <a:tcPr marL="13500" marR="13500" marT="35102" marB="3510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若</a:t>
                      </a:r>
                      <a:r>
                        <a:rPr kumimoji="0" lang="en-US" altLang="zh-CN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CT=1</a:t>
                      </a:r>
                      <a:r>
                        <a:rPr kumimoji="0" lang="zh-CN" alt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，转</a:t>
                      </a:r>
                      <a:r>
                        <a:rPr kumimoji="0" lang="en-US" altLang="zh-CN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</a:t>
                      </a:r>
                      <a:r>
                        <a:rPr kumimoji="0" lang="zh-CN" alt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单元</a:t>
                      </a: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 pitchFamily="18" charset="0"/>
                      </a:endParaRPr>
                    </a:p>
                  </a:txBody>
                  <a:tcPr marL="13500" marR="13500" marT="35102" marB="35102" horzOverflow="overflow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966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u="none" strike="noStrike" cap="none" normalizeH="0" baseline="0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J≠ X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 pitchFamily="18" charset="0"/>
                      </a:endParaRPr>
                    </a:p>
                  </a:txBody>
                  <a:tcPr marL="13500" marR="13500" marT="35102" marB="3510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若</a:t>
                      </a:r>
                      <a:r>
                        <a:rPr kumimoji="0" lang="en-US" altLang="zh-CN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CT≠1</a:t>
                      </a:r>
                      <a:r>
                        <a:rPr kumimoji="0" lang="zh-CN" alt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，转</a:t>
                      </a:r>
                      <a:r>
                        <a:rPr kumimoji="0" lang="en-US" altLang="zh-CN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</a:t>
                      </a:r>
                      <a:r>
                        <a:rPr kumimoji="0" lang="zh-CN" alt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单元</a:t>
                      </a: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 pitchFamily="18" charset="0"/>
                      </a:endParaRPr>
                    </a:p>
                  </a:txBody>
                  <a:tcPr marL="13500" marR="13500" marT="35102" marB="35102" horzOverflow="overflow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966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u="none" strike="noStrike" cap="none" normalizeH="0" baseline="0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J</a:t>
                      </a:r>
                      <a:r>
                        <a:rPr kumimoji="0" lang="zh-CN" altLang="en-US" sz="2400" u="none" strike="noStrike" cap="none" normalizeH="0" baseline="0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＞</a:t>
                      </a:r>
                      <a:r>
                        <a:rPr kumimoji="0" lang="en-US" altLang="zh-CN" sz="2400" u="none" strike="noStrike" cap="none" normalizeH="0" baseline="0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 pitchFamily="18" charset="0"/>
                      </a:endParaRPr>
                    </a:p>
                  </a:txBody>
                  <a:tcPr marL="13500" marR="13500" marT="35102" marB="3510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若</a:t>
                      </a:r>
                      <a:r>
                        <a:rPr kumimoji="0" lang="en-US" altLang="zh-CN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CT=2</a:t>
                      </a:r>
                      <a:r>
                        <a:rPr kumimoji="0" lang="zh-CN" alt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，转</a:t>
                      </a:r>
                      <a:r>
                        <a:rPr kumimoji="0" lang="en-US" altLang="zh-CN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</a:t>
                      </a:r>
                      <a:r>
                        <a:rPr kumimoji="0" lang="zh-CN" alt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单元</a:t>
                      </a: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 pitchFamily="18" charset="0"/>
                      </a:endParaRPr>
                    </a:p>
                  </a:txBody>
                  <a:tcPr marL="13500" marR="13500" marT="35102" marB="35102" horzOverflow="overflow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966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u="none" strike="noStrike" cap="none" normalizeH="0" baseline="0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J≥ X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 pitchFamily="18" charset="0"/>
                      </a:endParaRPr>
                    </a:p>
                  </a:txBody>
                  <a:tcPr marL="13500" marR="13500" marT="35102" marB="3510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若</a:t>
                      </a:r>
                      <a:r>
                        <a:rPr kumimoji="0" lang="en-US" altLang="zh-CN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CT=2</a:t>
                      </a:r>
                      <a:r>
                        <a:rPr kumimoji="0" lang="zh-CN" alt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或</a:t>
                      </a:r>
                      <a:r>
                        <a:rPr kumimoji="0" lang="en-US" altLang="zh-CN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CT=1</a:t>
                      </a:r>
                      <a:r>
                        <a:rPr kumimoji="0" lang="zh-CN" alt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，转</a:t>
                      </a:r>
                      <a:r>
                        <a:rPr kumimoji="0" lang="en-US" altLang="zh-CN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</a:t>
                      </a:r>
                      <a:r>
                        <a:rPr kumimoji="0" lang="zh-CN" alt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单元</a:t>
                      </a: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Times New Roman" pitchFamily="18" charset="0"/>
                      </a:endParaRPr>
                    </a:p>
                  </a:txBody>
                  <a:tcPr marL="13500" marR="13500" marT="35102" marB="35102" horzOverflow="overflow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62894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6" name="Rectangle 4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vert="horz" lIns="69056" tIns="34529" rIns="69056" bIns="34529" rtlCol="0" anchor="ctr">
            <a:normAutofit/>
          </a:bodyPr>
          <a:lstStyle/>
          <a:p>
            <a:r>
              <a:rPr lang="zh-CN" altLang="en-US" sz="4000" b="1" dirty="0">
                <a:solidFill>
                  <a:schemeClr val="tx1"/>
                </a:solidFill>
                <a:ea typeface="楷体_GB2312" panose="02010609030101010101" charset="-122"/>
              </a:rPr>
              <a:t>最简单的代码生成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 eaLnBrk="1" hangingPunct="1">
              <a:lnSpc>
                <a:spcPct val="90000"/>
              </a:lnSpc>
            </a:pPr>
            <a:r>
              <a:rPr lang="zh-CN" altLang="en-US" sz="3200" dirty="0">
                <a:latin typeface="微软雅黑" panose="020B0503020204020204" pitchFamily="34" charset="-122"/>
              </a:rPr>
              <a:t>不考虑代码的执行效率，目标代码生成不难</a:t>
            </a:r>
            <a:endParaRPr lang="en-US" altLang="zh-CN" sz="3200" dirty="0">
              <a:latin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564325" y="2550090"/>
            <a:ext cx="4472699" cy="58477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defTabSz="457200"/>
            <a:r>
              <a:rPr lang="zh-CN" altLang="en-US" sz="3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源程序</a:t>
            </a:r>
            <a:r>
              <a:rPr lang="en-US" altLang="zh-CN" sz="3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CN" altLang="en-US" sz="3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3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A:=(B+C)*D+E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3564325" y="3736212"/>
            <a:ext cx="3934090" cy="230832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 defTabSz="457200">
              <a:lnSpc>
                <a:spcPct val="90000"/>
              </a:lnSpc>
            </a:pPr>
            <a:r>
              <a:rPr lang="zh-CN" altLang="en-US" sz="3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中间代码</a:t>
            </a:r>
            <a:r>
              <a:rPr lang="en-US" altLang="zh-CN" sz="3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3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四元式</a:t>
            </a:r>
            <a:r>
              <a:rPr lang="en-US" altLang="zh-CN" sz="3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):</a:t>
            </a:r>
            <a:endParaRPr lang="en-US" altLang="en-US" sz="32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 defTabSz="457200">
              <a:lnSpc>
                <a:spcPct val="90000"/>
              </a:lnSpc>
            </a:pPr>
            <a:r>
              <a:rPr lang="en-US" altLang="en-US" sz="3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en-US" altLang="en-US" sz="3200" baseline="-25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en-US" altLang="zh-CN" sz="3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:=B+C</a:t>
            </a:r>
          </a:p>
          <a:p>
            <a:pPr algn="just" defTabSz="457200">
              <a:lnSpc>
                <a:spcPct val="90000"/>
              </a:lnSpc>
            </a:pPr>
            <a:r>
              <a:rPr lang="en-US" altLang="zh-CN" sz="3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en-US" altLang="zh-CN" sz="3200" baseline="-25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3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:=T</a:t>
            </a:r>
            <a:r>
              <a:rPr lang="en-US" altLang="zh-CN" sz="3200" baseline="-25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en-US" altLang="zh-CN" sz="3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*D</a:t>
            </a:r>
          </a:p>
          <a:p>
            <a:pPr algn="just" defTabSz="457200">
              <a:lnSpc>
                <a:spcPct val="90000"/>
              </a:lnSpc>
            </a:pPr>
            <a:r>
              <a:rPr lang="en-US" altLang="zh-CN" sz="3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en-US" altLang="zh-CN" sz="3200" baseline="-25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en-US" altLang="zh-CN" sz="3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:=T</a:t>
            </a:r>
            <a:r>
              <a:rPr lang="en-US" altLang="zh-CN" sz="3200" baseline="-25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3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+E</a:t>
            </a:r>
          </a:p>
          <a:p>
            <a:pPr algn="just" defTabSz="457200">
              <a:lnSpc>
                <a:spcPct val="90000"/>
              </a:lnSpc>
            </a:pPr>
            <a:r>
              <a:rPr lang="en-US" altLang="zh-CN" sz="3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A:=T</a:t>
            </a:r>
            <a:r>
              <a:rPr lang="en-US" altLang="zh-CN" sz="3200" baseline="-25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en-US" altLang="zh-CN" sz="3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10" name="下箭头 9"/>
          <p:cNvSpPr/>
          <p:nvPr/>
        </p:nvSpPr>
        <p:spPr>
          <a:xfrm>
            <a:off x="5273462" y="3148578"/>
            <a:ext cx="515816" cy="560844"/>
          </a:xfrm>
          <a:prstGeom prst="downArrow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zh-CN" altLang="en-US" sz="2000">
              <a:solidFill>
                <a:prstClr val="white"/>
              </a:solidFill>
              <a:latin typeface="Arial" panose="020B0604020202020204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437451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9" grpId="0" build="p"/>
      <p:bldP spid="8" grpId="0" animBg="1"/>
      <p:bldP spid="9" grpId="0" animBg="1"/>
      <p:bldP spid="1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000" b="1" dirty="0">
                <a:solidFill>
                  <a:schemeClr val="tx1"/>
                </a:solidFill>
                <a:ea typeface="楷体_GB2312" panose="02010609030101010101" charset="-122"/>
              </a:rPr>
              <a:t>最简单的代码生成</a:t>
            </a:r>
          </a:p>
        </p:txBody>
      </p:sp>
      <p:sp>
        <p:nvSpPr>
          <p:cNvPr id="15362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假设只有一个寄存器</a:t>
            </a:r>
            <a:r>
              <a:rPr lang="en-US" altLang="zh-CN" dirty="0"/>
              <a:t>R</a:t>
            </a:r>
            <a:r>
              <a:rPr lang="en-US" altLang="zh-CN" baseline="-25000" dirty="0"/>
              <a:t>0</a:t>
            </a:r>
            <a:r>
              <a:rPr lang="zh-CN" altLang="en-US" dirty="0"/>
              <a:t>可供使用</a:t>
            </a:r>
          </a:p>
        </p:txBody>
      </p:sp>
      <p:sp>
        <p:nvSpPr>
          <p:cNvPr id="20" name="Rectangle 18"/>
          <p:cNvSpPr>
            <a:spLocks noChangeArrowheads="1"/>
          </p:cNvSpPr>
          <p:nvPr/>
        </p:nvSpPr>
        <p:spPr bwMode="auto">
          <a:xfrm>
            <a:off x="4339367" y="5503120"/>
            <a:ext cx="2373601" cy="73760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headEnd type="none" w="sm" len="sm"/>
            <a:tailEnd type="none" w="sm" len="sm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ctr" defTabSz="457200">
              <a:spcBef>
                <a:spcPct val="0"/>
              </a:spcBef>
              <a:buClrTx/>
              <a:buSzTx/>
              <a:buNone/>
            </a:pPr>
            <a:endParaRPr lang="zh-CN" altLang="en-US" sz="280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sp>
        <p:nvSpPr>
          <p:cNvPr id="21" name="Rectangle 17"/>
          <p:cNvSpPr>
            <a:spLocks noChangeArrowheads="1"/>
          </p:cNvSpPr>
          <p:nvPr/>
        </p:nvSpPr>
        <p:spPr bwMode="auto">
          <a:xfrm>
            <a:off x="4339368" y="4509283"/>
            <a:ext cx="2373601" cy="68086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headEnd type="none" w="sm" len="sm"/>
            <a:tailEnd type="none" w="sm" len="sm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ctr" defTabSz="457200">
              <a:spcBef>
                <a:spcPct val="0"/>
              </a:spcBef>
              <a:buClrTx/>
              <a:buSzTx/>
              <a:buNone/>
            </a:pPr>
            <a:endParaRPr lang="zh-CN" altLang="en-US" sz="280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sp>
        <p:nvSpPr>
          <p:cNvPr id="22" name="Rectangle 16"/>
          <p:cNvSpPr>
            <a:spLocks noChangeArrowheads="1"/>
          </p:cNvSpPr>
          <p:nvPr/>
        </p:nvSpPr>
        <p:spPr bwMode="auto">
          <a:xfrm>
            <a:off x="4342431" y="3493685"/>
            <a:ext cx="2373601" cy="68086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headEnd type="none" w="sm" len="sm"/>
            <a:tailEnd type="none" w="sm" len="sm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ctr" defTabSz="457200">
              <a:spcBef>
                <a:spcPct val="0"/>
              </a:spcBef>
              <a:buClrTx/>
              <a:buSzTx/>
              <a:buNone/>
            </a:pPr>
            <a:endParaRPr lang="zh-CN" altLang="en-US" sz="2800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  <p:sp>
        <p:nvSpPr>
          <p:cNvPr id="23" name="Rectangle 3"/>
          <p:cNvSpPr>
            <a:spLocks noChangeArrowheads="1"/>
          </p:cNvSpPr>
          <p:nvPr/>
        </p:nvSpPr>
        <p:spPr bwMode="auto">
          <a:xfrm>
            <a:off x="4484862" y="2818518"/>
            <a:ext cx="2196000" cy="9575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just" defTabSz="457200">
              <a:lnSpc>
                <a:spcPct val="90000"/>
              </a:lnSpc>
              <a:spcBef>
                <a:spcPct val="0"/>
              </a:spcBef>
              <a:buClr>
                <a:srgbClr val="C0504D"/>
              </a:buClr>
              <a:buSzTx/>
              <a:buNone/>
            </a:pPr>
            <a:r>
              <a:rPr lang="en-US" altLang="zh-CN" sz="2400" dirty="0">
                <a:solidFill>
                  <a:srgbClr val="0070C0"/>
                </a:solidFill>
                <a:latin typeface="微软雅黑" panose="020B0503020204020204" pitchFamily="34" charset="-122"/>
              </a:rPr>
              <a:t>LD      R</a:t>
            </a:r>
            <a:r>
              <a:rPr lang="en-US" altLang="zh-CN" sz="2400" baseline="-25000" dirty="0">
                <a:solidFill>
                  <a:srgbClr val="0070C0"/>
                </a:solidFill>
                <a:latin typeface="微软雅黑" panose="020B0503020204020204" pitchFamily="34" charset="-122"/>
              </a:rPr>
              <a:t>0</a:t>
            </a:r>
            <a:r>
              <a:rPr lang="en-US" altLang="zh-CN" sz="2400" dirty="0">
                <a:solidFill>
                  <a:srgbClr val="0070C0"/>
                </a:solidFill>
                <a:latin typeface="微软雅黑" panose="020B0503020204020204" pitchFamily="34" charset="-122"/>
              </a:rPr>
              <a:t>，B</a:t>
            </a:r>
          </a:p>
          <a:p>
            <a:pPr algn="just" defTabSz="457200">
              <a:lnSpc>
                <a:spcPct val="9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zh-CN" sz="2400" dirty="0">
                <a:solidFill>
                  <a:srgbClr val="0070C0"/>
                </a:solidFill>
                <a:latin typeface="微软雅黑" panose="020B0503020204020204" pitchFamily="34" charset="-122"/>
              </a:rPr>
              <a:t>ADD   R</a:t>
            </a:r>
            <a:r>
              <a:rPr lang="en-US" altLang="zh-CN" sz="2400" baseline="-25000" dirty="0">
                <a:solidFill>
                  <a:srgbClr val="0070C0"/>
                </a:solidFill>
                <a:latin typeface="微软雅黑" panose="020B0503020204020204" pitchFamily="34" charset="-122"/>
              </a:rPr>
              <a:t>0</a:t>
            </a:r>
            <a:r>
              <a:rPr lang="en-US" altLang="zh-CN" sz="2400" dirty="0">
                <a:solidFill>
                  <a:srgbClr val="0070C0"/>
                </a:solidFill>
                <a:latin typeface="微软雅黑" panose="020B0503020204020204" pitchFamily="34" charset="-122"/>
              </a:rPr>
              <a:t> ，C</a:t>
            </a:r>
          </a:p>
          <a:p>
            <a:pPr algn="just" defTabSz="457200">
              <a:lnSpc>
                <a:spcPct val="9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zh-CN" sz="2400" dirty="0">
                <a:solidFill>
                  <a:srgbClr val="0070C0"/>
                </a:solidFill>
                <a:latin typeface="微软雅黑" panose="020B0503020204020204" pitchFamily="34" charset="-122"/>
              </a:rPr>
              <a:t>ST	  	R</a:t>
            </a:r>
            <a:r>
              <a:rPr lang="en-US" altLang="zh-CN" sz="2400" baseline="-25000" dirty="0">
                <a:solidFill>
                  <a:srgbClr val="0070C0"/>
                </a:solidFill>
                <a:latin typeface="微软雅黑" panose="020B0503020204020204" pitchFamily="34" charset="-122"/>
              </a:rPr>
              <a:t>0</a:t>
            </a:r>
            <a:r>
              <a:rPr lang="en-US" altLang="zh-CN" sz="2400" dirty="0">
                <a:solidFill>
                  <a:srgbClr val="0070C0"/>
                </a:solidFill>
                <a:latin typeface="微软雅黑" panose="020B0503020204020204" pitchFamily="34" charset="-122"/>
              </a:rPr>
              <a:t> ，T</a:t>
            </a:r>
            <a:r>
              <a:rPr lang="en-US" altLang="zh-CN" sz="2400" baseline="-25000" dirty="0">
                <a:solidFill>
                  <a:srgbClr val="0070C0"/>
                </a:solidFill>
                <a:latin typeface="微软雅黑" panose="020B0503020204020204" pitchFamily="34" charset="-122"/>
              </a:rPr>
              <a:t>1</a:t>
            </a:r>
            <a:endParaRPr lang="en-US" altLang="zh-CN" sz="2400" dirty="0">
              <a:solidFill>
                <a:srgbClr val="0070C0"/>
              </a:solidFill>
              <a:latin typeface="微软雅黑" panose="020B0503020204020204" pitchFamily="34" charset="-122"/>
            </a:endParaRPr>
          </a:p>
        </p:txBody>
      </p:sp>
      <p:sp>
        <p:nvSpPr>
          <p:cNvPr id="24" name="Rectangle 4"/>
          <p:cNvSpPr>
            <a:spLocks noChangeArrowheads="1"/>
          </p:cNvSpPr>
          <p:nvPr/>
        </p:nvSpPr>
        <p:spPr bwMode="auto">
          <a:xfrm>
            <a:off x="7543609" y="3547319"/>
            <a:ext cx="2106683" cy="19239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just" defTabSz="457200">
              <a:spcBef>
                <a:spcPct val="0"/>
              </a:spcBef>
              <a:buClrTx/>
              <a:buSzTx/>
              <a:buNone/>
            </a:pP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</a:rPr>
              <a:t>LD	  	R</a:t>
            </a:r>
            <a:r>
              <a:rPr lang="en-US" altLang="zh-CN" sz="2400" baseline="-25000" dirty="0">
                <a:solidFill>
                  <a:prstClr val="black"/>
                </a:solidFill>
                <a:latin typeface="微软雅黑" panose="020B0503020204020204" pitchFamily="34" charset="-122"/>
              </a:rPr>
              <a:t>0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</a:rPr>
              <a:t>，B</a:t>
            </a:r>
          </a:p>
          <a:p>
            <a:pPr algn="just" defTabSz="457200">
              <a:spcBef>
                <a:spcPct val="0"/>
              </a:spcBef>
              <a:buClrTx/>
              <a:buSzTx/>
              <a:buNone/>
            </a:pP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</a:rPr>
              <a:t>ADD	R</a:t>
            </a:r>
            <a:r>
              <a:rPr lang="en-US" altLang="zh-CN" sz="2400" baseline="-25000" dirty="0">
                <a:solidFill>
                  <a:prstClr val="black"/>
                </a:solidFill>
                <a:latin typeface="微软雅黑" panose="020B0503020204020204" pitchFamily="34" charset="-122"/>
              </a:rPr>
              <a:t>0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</a:rPr>
              <a:t>，C</a:t>
            </a:r>
          </a:p>
          <a:p>
            <a:pPr algn="just" defTabSz="457200">
              <a:spcBef>
                <a:spcPct val="0"/>
              </a:spcBef>
              <a:buClrTx/>
              <a:buSzTx/>
              <a:buNone/>
            </a:pP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</a:rPr>
              <a:t>MUL	R</a:t>
            </a:r>
            <a:r>
              <a:rPr lang="en-US" altLang="zh-CN" sz="2400" baseline="-25000" dirty="0">
                <a:solidFill>
                  <a:prstClr val="black"/>
                </a:solidFill>
                <a:latin typeface="微软雅黑" panose="020B0503020204020204" pitchFamily="34" charset="-122"/>
              </a:rPr>
              <a:t>0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</a:rPr>
              <a:t>，D</a:t>
            </a:r>
          </a:p>
          <a:p>
            <a:pPr algn="just" defTabSz="457200">
              <a:spcBef>
                <a:spcPct val="0"/>
              </a:spcBef>
              <a:buClrTx/>
              <a:buSzTx/>
              <a:buNone/>
            </a:pP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</a:rPr>
              <a:t>ADD	R</a:t>
            </a:r>
            <a:r>
              <a:rPr lang="en-US" altLang="zh-CN" sz="2400" baseline="-25000" dirty="0">
                <a:solidFill>
                  <a:prstClr val="black"/>
                </a:solidFill>
                <a:latin typeface="微软雅黑" panose="020B0503020204020204" pitchFamily="34" charset="-122"/>
              </a:rPr>
              <a:t>0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</a:rPr>
              <a:t>，E</a:t>
            </a:r>
          </a:p>
          <a:p>
            <a:pPr algn="just" defTabSz="457200">
              <a:spcBef>
                <a:spcPct val="0"/>
              </a:spcBef>
              <a:buClrTx/>
              <a:buSzTx/>
              <a:buNone/>
            </a:pP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</a:rPr>
              <a:t>ST		R</a:t>
            </a:r>
            <a:r>
              <a:rPr lang="en-US" altLang="zh-CN" sz="2400" baseline="-25000" dirty="0">
                <a:solidFill>
                  <a:prstClr val="black"/>
                </a:solidFill>
                <a:latin typeface="微软雅黑" panose="020B0503020204020204" pitchFamily="34" charset="-122"/>
              </a:rPr>
              <a:t>0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</a:rPr>
              <a:t>，A</a:t>
            </a:r>
          </a:p>
        </p:txBody>
      </p:sp>
      <p:sp>
        <p:nvSpPr>
          <p:cNvPr id="25" name="Text Box 5"/>
          <p:cNvSpPr txBox="1">
            <a:spLocks noChangeArrowheads="1"/>
          </p:cNvSpPr>
          <p:nvPr/>
        </p:nvSpPr>
        <p:spPr bwMode="auto">
          <a:xfrm>
            <a:off x="2511485" y="2818518"/>
            <a:ext cx="1476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defTabSz="457200">
              <a:spcBef>
                <a:spcPct val="0"/>
              </a:spcBef>
              <a:buClr>
                <a:srgbClr val="C0504D"/>
              </a:buClr>
              <a:buSzTx/>
              <a:buNone/>
            </a:pPr>
            <a:r>
              <a:rPr lang="en-US" altLang="en-US" sz="2400" dirty="0">
                <a:solidFill>
                  <a:srgbClr val="0070C0"/>
                </a:solidFill>
                <a:latin typeface="微软雅黑" panose="020B0503020204020204" pitchFamily="34" charset="-122"/>
              </a:rPr>
              <a:t>T</a:t>
            </a:r>
            <a:r>
              <a:rPr lang="en-US" altLang="en-US" sz="2400" baseline="-25000" dirty="0">
                <a:solidFill>
                  <a:srgbClr val="0070C0"/>
                </a:solidFill>
                <a:latin typeface="微软雅黑" panose="020B0503020204020204" pitchFamily="34" charset="-122"/>
              </a:rPr>
              <a:t>1</a:t>
            </a:r>
            <a:r>
              <a:rPr lang="en-US" altLang="zh-CN" sz="2400" dirty="0">
                <a:solidFill>
                  <a:srgbClr val="0070C0"/>
                </a:solidFill>
                <a:latin typeface="微软雅黑" panose="020B0503020204020204" pitchFamily="34" charset="-122"/>
              </a:rPr>
              <a:t>:=B+C</a:t>
            </a:r>
          </a:p>
        </p:txBody>
      </p:sp>
      <p:sp>
        <p:nvSpPr>
          <p:cNvPr id="26" name="Text Box 10"/>
          <p:cNvSpPr txBox="1">
            <a:spLocks noChangeArrowheads="1"/>
          </p:cNvSpPr>
          <p:nvPr/>
        </p:nvSpPr>
        <p:spPr bwMode="auto">
          <a:xfrm>
            <a:off x="2506432" y="4832472"/>
            <a:ext cx="1476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defTabSz="457200">
              <a:spcBef>
                <a:spcPct val="0"/>
              </a:spcBef>
              <a:buClrTx/>
              <a:buSzTx/>
              <a:buNone/>
            </a:pPr>
            <a:r>
              <a:rPr lang="en-US" altLang="zh-CN" sz="2400" dirty="0">
                <a:solidFill>
                  <a:srgbClr val="0070C0"/>
                </a:solidFill>
                <a:latin typeface="微软雅黑" panose="020B0503020204020204" pitchFamily="34" charset="-122"/>
              </a:rPr>
              <a:t>T</a:t>
            </a:r>
            <a:r>
              <a:rPr lang="en-US" altLang="zh-CN" sz="2400" baseline="-25000" dirty="0">
                <a:solidFill>
                  <a:srgbClr val="0070C0"/>
                </a:solidFill>
                <a:latin typeface="微软雅黑" panose="020B0503020204020204" pitchFamily="34" charset="-122"/>
              </a:rPr>
              <a:t>3</a:t>
            </a:r>
            <a:r>
              <a:rPr lang="en-US" altLang="zh-CN" sz="2400" dirty="0">
                <a:solidFill>
                  <a:srgbClr val="0070C0"/>
                </a:solidFill>
                <a:latin typeface="微软雅黑" panose="020B0503020204020204" pitchFamily="34" charset="-122"/>
              </a:rPr>
              <a:t>:=T</a:t>
            </a:r>
            <a:r>
              <a:rPr lang="en-US" altLang="zh-CN" sz="2400" baseline="-25000" dirty="0">
                <a:solidFill>
                  <a:srgbClr val="0070C0"/>
                </a:solidFill>
                <a:latin typeface="微软雅黑" panose="020B0503020204020204" pitchFamily="34" charset="-122"/>
              </a:rPr>
              <a:t>2</a:t>
            </a:r>
            <a:r>
              <a:rPr lang="en-US" altLang="zh-CN" sz="2400" dirty="0">
                <a:solidFill>
                  <a:srgbClr val="0070C0"/>
                </a:solidFill>
                <a:latin typeface="微软雅黑" panose="020B0503020204020204" pitchFamily="34" charset="-122"/>
              </a:rPr>
              <a:t>+E</a:t>
            </a:r>
            <a:endParaRPr kumimoji="1" lang="zh-CN" altLang="en-US" sz="2400" dirty="0">
              <a:solidFill>
                <a:srgbClr val="0070C0"/>
              </a:solidFill>
              <a:latin typeface="微软雅黑" panose="020B0503020204020204" pitchFamily="34" charset="-122"/>
            </a:endParaRPr>
          </a:p>
        </p:txBody>
      </p:sp>
      <p:sp>
        <p:nvSpPr>
          <p:cNvPr id="27" name="Text Box 11"/>
          <p:cNvSpPr txBox="1">
            <a:spLocks noChangeArrowheads="1"/>
          </p:cNvSpPr>
          <p:nvPr/>
        </p:nvSpPr>
        <p:spPr bwMode="auto">
          <a:xfrm>
            <a:off x="2511485" y="3776087"/>
            <a:ext cx="1476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defTabSz="457200">
              <a:spcBef>
                <a:spcPct val="0"/>
              </a:spcBef>
              <a:buClrTx/>
              <a:buSzTx/>
              <a:buNone/>
            </a:pP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</a:rPr>
              <a:t>T</a:t>
            </a:r>
            <a:r>
              <a:rPr lang="en-US" altLang="zh-CN" sz="2400" baseline="-25000" dirty="0">
                <a:solidFill>
                  <a:prstClr val="black"/>
                </a:solidFill>
                <a:latin typeface="微软雅黑" panose="020B0503020204020204" pitchFamily="34" charset="-122"/>
              </a:rPr>
              <a:t>2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</a:rPr>
              <a:t>:=T</a:t>
            </a:r>
            <a:r>
              <a:rPr lang="en-US" altLang="zh-CN" sz="2400" baseline="-25000" dirty="0">
                <a:solidFill>
                  <a:prstClr val="black"/>
                </a:solidFill>
                <a:latin typeface="微软雅黑" panose="020B0503020204020204" pitchFamily="34" charset="-122"/>
              </a:rPr>
              <a:t>1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</a:rPr>
              <a:t>*D</a:t>
            </a:r>
          </a:p>
        </p:txBody>
      </p:sp>
      <p:sp>
        <p:nvSpPr>
          <p:cNvPr id="28" name="Text Box 12"/>
          <p:cNvSpPr txBox="1">
            <a:spLocks noChangeArrowheads="1"/>
          </p:cNvSpPr>
          <p:nvPr/>
        </p:nvSpPr>
        <p:spPr bwMode="auto">
          <a:xfrm>
            <a:off x="2544446" y="5875536"/>
            <a:ext cx="1476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defTabSz="457200">
              <a:spcBef>
                <a:spcPct val="0"/>
              </a:spcBef>
              <a:buClrTx/>
              <a:buSzTx/>
              <a:buNone/>
            </a:pP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</a:rPr>
              <a:t>A:=T</a:t>
            </a:r>
            <a:r>
              <a:rPr lang="en-US" altLang="zh-CN" sz="2400" baseline="-25000" dirty="0">
                <a:solidFill>
                  <a:prstClr val="black"/>
                </a:solidFill>
                <a:latin typeface="微软雅黑" panose="020B0503020204020204" pitchFamily="34" charset="-122"/>
              </a:rPr>
              <a:t>3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</a:rPr>
              <a:t> </a:t>
            </a:r>
            <a:endParaRPr kumimoji="1" lang="zh-CN" altLang="en-US" sz="2400" dirty="0">
              <a:solidFill>
                <a:prstClr val="black"/>
              </a:solidFill>
              <a:latin typeface="微软雅黑" panose="020B0503020204020204" pitchFamily="34" charset="-122"/>
            </a:endParaRPr>
          </a:p>
        </p:txBody>
      </p:sp>
      <p:sp>
        <p:nvSpPr>
          <p:cNvPr id="29" name="Rectangle 13"/>
          <p:cNvSpPr>
            <a:spLocks noChangeArrowheads="1"/>
          </p:cNvSpPr>
          <p:nvPr/>
        </p:nvSpPr>
        <p:spPr bwMode="auto">
          <a:xfrm>
            <a:off x="4484862" y="3822711"/>
            <a:ext cx="2196000" cy="9681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just" defTabSz="457200">
              <a:lnSpc>
                <a:spcPct val="90000"/>
              </a:lnSpc>
              <a:spcBef>
                <a:spcPct val="0"/>
              </a:spcBef>
              <a:buClr>
                <a:srgbClr val="1F497D"/>
              </a:buClr>
              <a:buSzTx/>
              <a:buNone/>
            </a:pP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</a:rPr>
              <a:t>LD	  	R</a:t>
            </a:r>
            <a:r>
              <a:rPr lang="en-US" altLang="zh-CN" sz="2400" baseline="-25000" dirty="0">
                <a:solidFill>
                  <a:prstClr val="black"/>
                </a:solidFill>
                <a:latin typeface="微软雅黑" panose="020B0503020204020204" pitchFamily="34" charset="-122"/>
              </a:rPr>
              <a:t>0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</a:rPr>
              <a:t> ，T</a:t>
            </a:r>
            <a:r>
              <a:rPr lang="en-US" altLang="zh-CN" sz="2400" baseline="-25000" dirty="0">
                <a:solidFill>
                  <a:prstClr val="black"/>
                </a:solidFill>
                <a:latin typeface="微软雅黑" panose="020B0503020204020204" pitchFamily="34" charset="-122"/>
              </a:rPr>
              <a:t>1</a:t>
            </a:r>
            <a:endParaRPr lang="en-US" altLang="zh-CN" sz="2400" dirty="0">
              <a:solidFill>
                <a:prstClr val="black"/>
              </a:solidFill>
              <a:latin typeface="微软雅黑" panose="020B0503020204020204" pitchFamily="34" charset="-122"/>
            </a:endParaRPr>
          </a:p>
          <a:p>
            <a:pPr algn="just" defTabSz="457200">
              <a:lnSpc>
                <a:spcPct val="9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</a:rPr>
              <a:t>MUL	R</a:t>
            </a:r>
            <a:r>
              <a:rPr lang="en-US" altLang="zh-CN" sz="2400" baseline="-25000" dirty="0">
                <a:solidFill>
                  <a:prstClr val="black"/>
                </a:solidFill>
                <a:latin typeface="微软雅黑" panose="020B0503020204020204" pitchFamily="34" charset="-122"/>
              </a:rPr>
              <a:t>0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</a:rPr>
              <a:t>，D</a:t>
            </a:r>
          </a:p>
          <a:p>
            <a:pPr algn="just" defTabSz="457200">
              <a:lnSpc>
                <a:spcPct val="9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</a:rPr>
              <a:t>ST	  	R</a:t>
            </a:r>
            <a:r>
              <a:rPr lang="en-US" altLang="zh-CN" sz="2400" baseline="-25000" dirty="0">
                <a:solidFill>
                  <a:prstClr val="black"/>
                </a:solidFill>
                <a:latin typeface="微软雅黑" panose="020B0503020204020204" pitchFamily="34" charset="-122"/>
              </a:rPr>
              <a:t>0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</a:rPr>
              <a:t> ，T</a:t>
            </a:r>
            <a:r>
              <a:rPr lang="en-US" altLang="zh-CN" sz="2400" baseline="-25000" dirty="0">
                <a:solidFill>
                  <a:prstClr val="black"/>
                </a:solidFill>
                <a:latin typeface="微软雅黑" panose="020B0503020204020204" pitchFamily="34" charset="-122"/>
              </a:rPr>
              <a:t>2</a:t>
            </a:r>
            <a:endParaRPr lang="en-US" altLang="zh-CN" sz="2400" dirty="0">
              <a:solidFill>
                <a:prstClr val="black"/>
              </a:solidFill>
              <a:latin typeface="微软雅黑" panose="020B0503020204020204" pitchFamily="34" charset="-122"/>
            </a:endParaRPr>
          </a:p>
        </p:txBody>
      </p:sp>
      <p:sp>
        <p:nvSpPr>
          <p:cNvPr id="30" name="Rectangle 14"/>
          <p:cNvSpPr>
            <a:spLocks noChangeArrowheads="1"/>
          </p:cNvSpPr>
          <p:nvPr/>
        </p:nvSpPr>
        <p:spPr bwMode="auto">
          <a:xfrm>
            <a:off x="4484862" y="4832471"/>
            <a:ext cx="2196000" cy="9447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just" defTabSz="457200">
              <a:lnSpc>
                <a:spcPct val="90000"/>
              </a:lnSpc>
              <a:spcBef>
                <a:spcPct val="0"/>
              </a:spcBef>
              <a:buClr>
                <a:srgbClr val="1F497D"/>
              </a:buClr>
              <a:buSzTx/>
              <a:buNone/>
            </a:pPr>
            <a:r>
              <a:rPr lang="en-US" altLang="zh-CN" sz="2400" dirty="0">
                <a:solidFill>
                  <a:srgbClr val="0070C0"/>
                </a:solidFill>
                <a:latin typeface="微软雅黑" panose="020B0503020204020204" pitchFamily="34" charset="-122"/>
              </a:rPr>
              <a:t>LD	  	R</a:t>
            </a:r>
            <a:r>
              <a:rPr lang="en-US" altLang="zh-CN" sz="2400" baseline="-25000" dirty="0">
                <a:solidFill>
                  <a:srgbClr val="0070C0"/>
                </a:solidFill>
                <a:latin typeface="微软雅黑" panose="020B0503020204020204" pitchFamily="34" charset="-122"/>
              </a:rPr>
              <a:t>0</a:t>
            </a:r>
            <a:r>
              <a:rPr lang="en-US" altLang="zh-CN" sz="2400" dirty="0">
                <a:solidFill>
                  <a:srgbClr val="0070C0"/>
                </a:solidFill>
                <a:latin typeface="微软雅黑" panose="020B0503020204020204" pitchFamily="34" charset="-122"/>
              </a:rPr>
              <a:t> ，T</a:t>
            </a:r>
            <a:r>
              <a:rPr lang="en-US" altLang="zh-CN" sz="2400" baseline="-25000" dirty="0">
                <a:solidFill>
                  <a:srgbClr val="0070C0"/>
                </a:solidFill>
                <a:latin typeface="微软雅黑" panose="020B0503020204020204" pitchFamily="34" charset="-122"/>
              </a:rPr>
              <a:t>2</a:t>
            </a:r>
            <a:endParaRPr lang="en-US" altLang="zh-CN" sz="2400" dirty="0">
              <a:solidFill>
                <a:srgbClr val="0070C0"/>
              </a:solidFill>
              <a:latin typeface="微软雅黑" panose="020B0503020204020204" pitchFamily="34" charset="-122"/>
            </a:endParaRPr>
          </a:p>
          <a:p>
            <a:pPr algn="just" defTabSz="457200">
              <a:lnSpc>
                <a:spcPct val="9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zh-CN" sz="2400" dirty="0">
                <a:solidFill>
                  <a:srgbClr val="0070C0"/>
                </a:solidFill>
                <a:latin typeface="微软雅黑" panose="020B0503020204020204" pitchFamily="34" charset="-122"/>
              </a:rPr>
              <a:t>ADD 	R</a:t>
            </a:r>
            <a:r>
              <a:rPr lang="en-US" altLang="zh-CN" sz="2400" baseline="-25000" dirty="0">
                <a:solidFill>
                  <a:srgbClr val="0070C0"/>
                </a:solidFill>
                <a:latin typeface="微软雅黑" panose="020B0503020204020204" pitchFamily="34" charset="-122"/>
              </a:rPr>
              <a:t>0</a:t>
            </a:r>
            <a:r>
              <a:rPr lang="en-US" altLang="zh-CN" sz="2400" dirty="0">
                <a:solidFill>
                  <a:srgbClr val="0070C0"/>
                </a:solidFill>
                <a:latin typeface="微软雅黑" panose="020B0503020204020204" pitchFamily="34" charset="-122"/>
              </a:rPr>
              <a:t> ，E</a:t>
            </a:r>
          </a:p>
          <a:p>
            <a:pPr algn="just" defTabSz="457200">
              <a:lnSpc>
                <a:spcPct val="9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zh-CN" sz="2400" dirty="0">
                <a:solidFill>
                  <a:srgbClr val="0070C0"/>
                </a:solidFill>
                <a:latin typeface="微软雅黑" panose="020B0503020204020204" pitchFamily="34" charset="-122"/>
              </a:rPr>
              <a:t>ST	  	R</a:t>
            </a:r>
            <a:r>
              <a:rPr lang="en-US" altLang="zh-CN" sz="2400" baseline="-25000" dirty="0">
                <a:solidFill>
                  <a:srgbClr val="0070C0"/>
                </a:solidFill>
                <a:latin typeface="微软雅黑" panose="020B0503020204020204" pitchFamily="34" charset="-122"/>
              </a:rPr>
              <a:t>0</a:t>
            </a:r>
            <a:r>
              <a:rPr lang="en-US" altLang="zh-CN" sz="2400" dirty="0">
                <a:solidFill>
                  <a:srgbClr val="0070C0"/>
                </a:solidFill>
                <a:latin typeface="微软雅黑" panose="020B0503020204020204" pitchFamily="34" charset="-122"/>
              </a:rPr>
              <a:t> ，T</a:t>
            </a:r>
            <a:r>
              <a:rPr lang="en-US" altLang="zh-CN" sz="2400" baseline="-25000" dirty="0">
                <a:solidFill>
                  <a:srgbClr val="0070C0"/>
                </a:solidFill>
                <a:latin typeface="微软雅黑" panose="020B0503020204020204" pitchFamily="34" charset="-122"/>
              </a:rPr>
              <a:t>3</a:t>
            </a:r>
            <a:endParaRPr lang="en-US" altLang="zh-CN" sz="2400" dirty="0">
              <a:solidFill>
                <a:srgbClr val="0070C0"/>
              </a:solidFill>
              <a:latin typeface="微软雅黑" panose="020B0503020204020204" pitchFamily="34" charset="-122"/>
            </a:endParaRPr>
          </a:p>
        </p:txBody>
      </p:sp>
      <p:sp>
        <p:nvSpPr>
          <p:cNvPr id="31" name="Rectangle 15"/>
          <p:cNvSpPr>
            <a:spLocks noChangeArrowheads="1"/>
          </p:cNvSpPr>
          <p:nvPr/>
        </p:nvSpPr>
        <p:spPr bwMode="auto">
          <a:xfrm>
            <a:off x="4484862" y="5871921"/>
            <a:ext cx="2196000" cy="6290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just" defTabSz="457200">
              <a:lnSpc>
                <a:spcPct val="90000"/>
              </a:lnSpc>
              <a:spcBef>
                <a:spcPct val="0"/>
              </a:spcBef>
              <a:buClr>
                <a:srgbClr val="1F497D"/>
              </a:buClr>
              <a:buSzTx/>
              <a:buNone/>
            </a:pP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</a:rPr>
              <a:t>LD	  	R</a:t>
            </a:r>
            <a:r>
              <a:rPr lang="en-US" altLang="zh-CN" sz="2400" baseline="-25000" dirty="0">
                <a:solidFill>
                  <a:prstClr val="black"/>
                </a:solidFill>
                <a:latin typeface="微软雅黑" panose="020B0503020204020204" pitchFamily="34" charset="-122"/>
              </a:rPr>
              <a:t>0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</a:rPr>
              <a:t>，T</a:t>
            </a:r>
            <a:r>
              <a:rPr lang="en-US" altLang="zh-CN" sz="2400" baseline="-25000" dirty="0">
                <a:solidFill>
                  <a:prstClr val="black"/>
                </a:solidFill>
                <a:latin typeface="微软雅黑" panose="020B0503020204020204" pitchFamily="34" charset="-122"/>
              </a:rPr>
              <a:t>3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</a:rPr>
              <a:t> </a:t>
            </a:r>
          </a:p>
          <a:p>
            <a:pPr algn="just" defTabSz="457200">
              <a:lnSpc>
                <a:spcPct val="90000"/>
              </a:lnSpc>
              <a:spcBef>
                <a:spcPct val="0"/>
              </a:spcBef>
              <a:buClr>
                <a:srgbClr val="1F497D"/>
              </a:buClr>
              <a:buSzTx/>
              <a:buNone/>
            </a:pP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</a:rPr>
              <a:t>ST	  	R</a:t>
            </a:r>
            <a:r>
              <a:rPr lang="en-US" altLang="zh-CN" sz="2400" baseline="-25000" dirty="0">
                <a:solidFill>
                  <a:prstClr val="black"/>
                </a:solidFill>
                <a:latin typeface="微软雅黑" panose="020B0503020204020204" pitchFamily="34" charset="-122"/>
              </a:rPr>
              <a:t>0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</a:rPr>
              <a:t> ，A</a:t>
            </a:r>
          </a:p>
        </p:txBody>
      </p:sp>
      <p:sp>
        <p:nvSpPr>
          <p:cNvPr id="32" name="文本框 31"/>
          <p:cNvSpPr txBox="1"/>
          <p:nvPr/>
        </p:nvSpPr>
        <p:spPr>
          <a:xfrm>
            <a:off x="2728448" y="2412363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四元式</a:t>
            </a:r>
          </a:p>
        </p:txBody>
      </p:sp>
      <p:sp>
        <p:nvSpPr>
          <p:cNvPr id="33" name="文本框 32"/>
          <p:cNvSpPr txBox="1"/>
          <p:nvPr/>
        </p:nvSpPr>
        <p:spPr>
          <a:xfrm>
            <a:off x="4874976" y="2412363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目标代码</a:t>
            </a:r>
          </a:p>
        </p:txBody>
      </p:sp>
      <p:sp>
        <p:nvSpPr>
          <p:cNvPr id="34" name="文本框 33"/>
          <p:cNvSpPr txBox="1"/>
          <p:nvPr/>
        </p:nvSpPr>
        <p:spPr>
          <a:xfrm>
            <a:off x="7178239" y="2403019"/>
            <a:ext cx="30325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假设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T1，T2，T3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在基本块之后不再引用</a:t>
            </a:r>
          </a:p>
        </p:txBody>
      </p:sp>
    </p:spTree>
    <p:extLst>
      <p:ext uri="{BB962C8B-B14F-4D97-AF65-F5344CB8AC3E}">
        <p14:creationId xmlns:p14="http://schemas.microsoft.com/office/powerpoint/2010/main" val="495064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3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0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0" dur="500"/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1" dur="500" fill="hold"/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500" fill="hold"/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9" dur="500" fill="hold"/>
                                        <p:tgtEl>
                                          <p:spTgt spid="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500" fill="hold"/>
                                        <p:tgtEl>
                                          <p:spTgt spid="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500" fill="hold"/>
                                        <p:tgtEl>
                                          <p:spTgt spid="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500" fill="hold"/>
                                        <p:tgtEl>
                                          <p:spTgt spid="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7" dur="500" fill="hold"/>
                                        <p:tgtEl>
                                          <p:spTgt spid="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500" fill="hold"/>
                                        <p:tgtEl>
                                          <p:spTgt spid="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500" fill="hold"/>
                                        <p:tgtEl>
                                          <p:spTgt spid="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500" fill="hold"/>
                                        <p:tgtEl>
                                          <p:spTgt spid="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2" grpId="0" build="p"/>
      <p:bldP spid="20" grpId="0" animBg="1"/>
      <p:bldP spid="21" grpId="0" animBg="1"/>
      <p:bldP spid="22" grpId="0" animBg="1"/>
      <p:bldP spid="23" grpId="0" build="p" autoUpdateAnimBg="0"/>
      <p:bldP spid="24" grpId="0" build="p" autoUpdateAnimBg="0"/>
      <p:bldP spid="25" grpId="0" build="p" autoUpdateAnimBg="0"/>
      <p:bldP spid="26" grpId="0" build="p" autoUpdateAnimBg="0"/>
      <p:bldP spid="27" grpId="0" build="p" autoUpdateAnimBg="0"/>
      <p:bldP spid="28" grpId="0" build="p" autoUpdateAnimBg="0"/>
      <p:bldP spid="29" grpId="0" build="p" autoUpdateAnimBg="0"/>
      <p:bldP spid="30" grpId="0" build="p" autoUpdateAnimBg="0"/>
      <p:bldP spid="31" grpId="0" build="p" autoUpdateAnimBg="0"/>
      <p:bldP spid="32" grpId="0"/>
      <p:bldP spid="33" grpId="0"/>
      <p:bldP spid="3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6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000" b="1" dirty="0">
                <a:solidFill>
                  <a:schemeClr val="tx1"/>
                </a:solidFill>
                <a:ea typeface="楷体_GB2312" panose="02010609030101010101" charset="-122"/>
              </a:rPr>
              <a:t>带寄存器分配优化的代码生成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以基本块为单位生成目标代码</a:t>
            </a:r>
            <a:endParaRPr lang="en-US" altLang="zh-CN" dirty="0"/>
          </a:p>
          <a:p>
            <a:pPr lvl="1"/>
            <a:r>
              <a:rPr lang="zh-CN" altLang="en-US" dirty="0"/>
              <a:t>依次把四元式的中间代码变换成目标代码</a:t>
            </a:r>
            <a:endParaRPr lang="en-US" altLang="zh-CN" dirty="0"/>
          </a:p>
          <a:p>
            <a:pPr lvl="1"/>
            <a:r>
              <a:rPr lang="zh-CN" altLang="en-US" dirty="0"/>
              <a:t>在基本块的范围内考虑如何充分利用寄存器</a:t>
            </a:r>
          </a:p>
          <a:p>
            <a:pPr lvl="1"/>
            <a:r>
              <a:rPr lang="zh-CN" altLang="en-US" dirty="0"/>
              <a:t>进入基本块时，所有寄存器空闲</a:t>
            </a:r>
            <a:endParaRPr lang="en-US" altLang="zh-CN" dirty="0"/>
          </a:p>
          <a:p>
            <a:pPr lvl="1"/>
            <a:r>
              <a:rPr lang="zh-CN" altLang="en-US" dirty="0"/>
              <a:t>离开基本块时，把存在寄存器中的现行的值存回主存中，释放所有寄存器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14" name="文本框 13"/>
          <p:cNvSpPr txBox="1"/>
          <p:nvPr/>
        </p:nvSpPr>
        <p:spPr>
          <a:xfrm>
            <a:off x="7924800" y="857250"/>
            <a:ext cx="2743200" cy="51435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defTabSz="685800">
              <a:defRPr/>
            </a:pPr>
            <a:endParaRPr lang="en-US" altLang="zh-CN" sz="2700" dirty="0">
              <a:solidFill>
                <a:srgbClr val="C00000"/>
              </a:solidFill>
              <a:latin typeface="Arial" panose="020B0604020202020204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88170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b="1" dirty="0">
                <a:latin typeface="楷体_GB2312" panose="02010609030101010101" charset="-122"/>
                <a:ea typeface="楷体_GB2312" panose="02010609030101010101" charset="-122"/>
                <a:sym typeface="+mn-ea"/>
              </a:rPr>
              <a:t>寄存器分配</a:t>
            </a:r>
            <a:endParaRPr lang="zh-CN" altLang="en-US" b="0" dirty="0"/>
          </a:p>
        </p:txBody>
      </p:sp>
      <p:sp>
        <p:nvSpPr>
          <p:cNvPr id="6" name="文本占位符 5"/>
          <p:cNvSpPr>
            <a:spLocks noGrp="1"/>
          </p:cNvSpPr>
          <p:nvPr>
            <p:ph type="body" idx="4294967295"/>
          </p:nvPr>
        </p:nvSpPr>
        <p:spPr>
          <a:xfrm>
            <a:off x="127636" y="1388112"/>
            <a:ext cx="11997691" cy="5091431"/>
          </a:xfrm>
        </p:spPr>
        <p:txBody>
          <a:bodyPr>
            <a:normAutofit lnSpcReduction="10000"/>
          </a:bodyPr>
          <a:lstStyle/>
          <a:p>
            <a:pPr marL="431789" indent="-323843" defTabSz="449569">
              <a:lnSpc>
                <a:spcPct val="150000"/>
              </a:lnSpc>
              <a:buSzPct val="45000"/>
              <a:buNone/>
              <a:tabLst>
                <a:tab pos="723882" algn="l"/>
                <a:tab pos="1447764" algn="l"/>
                <a:tab pos="2171646" algn="l"/>
                <a:tab pos="2895528" algn="l"/>
                <a:tab pos="3619410" algn="l"/>
                <a:tab pos="4343291" algn="l"/>
                <a:tab pos="5067173" algn="l"/>
                <a:tab pos="5791055" algn="l"/>
                <a:tab pos="6514937" algn="l"/>
                <a:tab pos="7238819" algn="l"/>
                <a:tab pos="7962701" algn="l"/>
                <a:tab pos="8686583" algn="l"/>
              </a:tabLst>
            </a:pPr>
            <a:r>
              <a:rPr lang="zh-CN" altLang="en-US" sz="3200" b="1" dirty="0">
                <a:sym typeface="+mn-ea"/>
              </a:rPr>
              <a:t>什么是寄存器分配？</a:t>
            </a:r>
            <a:endParaRPr lang="en-US" altLang="zh-CN" sz="3200" b="1" dirty="0"/>
          </a:p>
          <a:p>
            <a:pPr marL="431789" indent="-323843" defTabSz="449569">
              <a:lnSpc>
                <a:spcPct val="150000"/>
              </a:lnSpc>
              <a:buNone/>
              <a:tabLst>
                <a:tab pos="723882" algn="l"/>
                <a:tab pos="1447764" algn="l"/>
                <a:tab pos="2171646" algn="l"/>
                <a:tab pos="2895528" algn="l"/>
                <a:tab pos="3619410" algn="l"/>
                <a:tab pos="4343291" algn="l"/>
                <a:tab pos="5067173" algn="l"/>
                <a:tab pos="5791055" algn="l"/>
                <a:tab pos="6514937" algn="l"/>
                <a:tab pos="7238819" algn="l"/>
                <a:tab pos="7962701" algn="l"/>
                <a:tab pos="8686583" algn="l"/>
              </a:tabLst>
            </a:pPr>
            <a:r>
              <a:rPr lang="en-US" altLang="zh-CN" sz="3200" b="1" dirty="0">
                <a:sym typeface="+mn-ea"/>
              </a:rPr>
              <a:t>   </a:t>
            </a:r>
            <a:r>
              <a:rPr lang="zh-CN" altLang="en-US" sz="3200" b="1" dirty="0">
                <a:sym typeface="+mn-ea"/>
              </a:rPr>
              <a:t>将变量分配给寄存器</a:t>
            </a:r>
            <a:endParaRPr lang="zh-CN" altLang="en-US" sz="3200" b="1" dirty="0"/>
          </a:p>
          <a:p>
            <a:pPr marL="431789" indent="-323843" defTabSz="449569">
              <a:lnSpc>
                <a:spcPct val="150000"/>
              </a:lnSpc>
              <a:buNone/>
              <a:tabLst>
                <a:tab pos="723882" algn="l"/>
                <a:tab pos="1447764" algn="l"/>
                <a:tab pos="2171646" algn="l"/>
                <a:tab pos="2895528" algn="l"/>
                <a:tab pos="3619410" algn="l"/>
                <a:tab pos="4343291" algn="l"/>
                <a:tab pos="5067173" algn="l"/>
                <a:tab pos="5791055" algn="l"/>
                <a:tab pos="6514937" algn="l"/>
                <a:tab pos="7238819" algn="l"/>
                <a:tab pos="7962701" algn="l"/>
                <a:tab pos="8686583" algn="l"/>
              </a:tabLst>
            </a:pPr>
            <a:r>
              <a:rPr lang="zh-CN" altLang="en-US" sz="3200" b="1" dirty="0">
                <a:sym typeface="+mn-ea"/>
              </a:rPr>
              <a:t> </a:t>
            </a:r>
            <a:r>
              <a:rPr lang="en-US" altLang="zh-CN" sz="3200" b="1" dirty="0">
                <a:sym typeface="+mn-ea"/>
              </a:rPr>
              <a:t>  </a:t>
            </a:r>
            <a:r>
              <a:rPr lang="zh-CN" altLang="en-US" sz="3200" b="1" dirty="0">
                <a:sym typeface="+mn-ea"/>
              </a:rPr>
              <a:t>管理寄存器内外数据传输 </a:t>
            </a:r>
            <a:endParaRPr lang="zh-CN" altLang="en-US" sz="3200" b="1" dirty="0"/>
          </a:p>
          <a:p>
            <a:pPr marL="431789" indent="-323843" defTabSz="449569">
              <a:lnSpc>
                <a:spcPct val="150000"/>
              </a:lnSpc>
              <a:buNone/>
              <a:tabLst>
                <a:tab pos="723882" algn="l"/>
                <a:tab pos="1447764" algn="l"/>
                <a:tab pos="2171646" algn="l"/>
                <a:tab pos="2895528" algn="l"/>
                <a:tab pos="3619410" algn="l"/>
                <a:tab pos="4343291" algn="l"/>
                <a:tab pos="5067173" algn="l"/>
                <a:tab pos="5791055" algn="l"/>
                <a:tab pos="6514937" algn="l"/>
                <a:tab pos="7238819" algn="l"/>
                <a:tab pos="7962701" algn="l"/>
                <a:tab pos="8686583" algn="l"/>
              </a:tabLst>
            </a:pPr>
            <a:r>
              <a:rPr lang="zh-CN" altLang="en-US" sz="3200" b="1" dirty="0">
                <a:sym typeface="+mn-ea"/>
              </a:rPr>
              <a:t>寄存器是稀缺资源</a:t>
            </a:r>
            <a:endParaRPr lang="en-US" altLang="zh-CN" sz="3200" b="1" dirty="0"/>
          </a:p>
          <a:p>
            <a:pPr marL="431789" indent="-323843" defTabSz="449569">
              <a:lnSpc>
                <a:spcPct val="150000"/>
              </a:lnSpc>
              <a:buNone/>
              <a:tabLst>
                <a:tab pos="723882" algn="l"/>
                <a:tab pos="1447764" algn="l"/>
                <a:tab pos="2171646" algn="l"/>
                <a:tab pos="2895528" algn="l"/>
                <a:tab pos="3619410" algn="l"/>
                <a:tab pos="4343291" algn="l"/>
                <a:tab pos="5067173" algn="l"/>
                <a:tab pos="5791055" algn="l"/>
                <a:tab pos="6514937" algn="l"/>
                <a:tab pos="7238819" algn="l"/>
                <a:tab pos="7962701" algn="l"/>
                <a:tab pos="8686583" algn="l"/>
              </a:tabLst>
            </a:pPr>
            <a:r>
              <a:rPr lang="zh-CN" altLang="en-US" sz="3200" b="1" dirty="0">
                <a:sym typeface="+mn-ea"/>
              </a:rPr>
              <a:t>   通常变量比寄存器的多</a:t>
            </a:r>
          </a:p>
          <a:p>
            <a:pPr marL="431789" indent="-323843" defTabSz="449569">
              <a:lnSpc>
                <a:spcPct val="150000"/>
              </a:lnSpc>
              <a:buNone/>
              <a:tabLst>
                <a:tab pos="723882" algn="l"/>
                <a:tab pos="1447764" algn="l"/>
                <a:tab pos="2171646" algn="l"/>
                <a:tab pos="2895528" algn="l"/>
                <a:tab pos="3619410" algn="l"/>
                <a:tab pos="4343291" algn="l"/>
                <a:tab pos="5067173" algn="l"/>
                <a:tab pos="5791055" algn="l"/>
                <a:tab pos="6514937" algn="l"/>
                <a:tab pos="7238819" algn="l"/>
                <a:tab pos="7962701" algn="l"/>
                <a:tab pos="8686583" algn="l"/>
              </a:tabLst>
            </a:pPr>
            <a:r>
              <a:rPr lang="zh-CN" altLang="en-US" sz="3200" b="1" dirty="0">
                <a:sym typeface="+mn-ea"/>
              </a:rPr>
              <a:t> </a:t>
            </a:r>
            <a:r>
              <a:rPr lang="en-US" altLang="zh-CN" sz="3200" b="1" dirty="0">
                <a:sym typeface="+mn-ea"/>
              </a:rPr>
              <a:t>  </a:t>
            </a:r>
            <a:r>
              <a:rPr lang="zh-CN" altLang="en-US" sz="3200" b="1" dirty="0">
                <a:sym typeface="+mn-ea"/>
              </a:rPr>
              <a:t>需要尽可能重用寄存器</a:t>
            </a:r>
            <a:endParaRPr lang="zh-CN" altLang="en-US" b="1" dirty="0">
              <a:latin typeface="楷体_GB2312" panose="02010609030101010101" charset="-122"/>
              <a:ea typeface="楷体_GB2312" panose="02010609030101010101" charset="-122"/>
            </a:endParaRPr>
          </a:p>
          <a:p>
            <a:pPr marL="431789" indent="-323843" defTabSz="449569">
              <a:buNone/>
              <a:tabLst>
                <a:tab pos="723882" algn="l"/>
                <a:tab pos="1447764" algn="l"/>
                <a:tab pos="2171646" algn="l"/>
                <a:tab pos="2895528" algn="l"/>
                <a:tab pos="3619410" algn="l"/>
                <a:tab pos="4343291" algn="l"/>
                <a:tab pos="5067173" algn="l"/>
                <a:tab pos="5791055" algn="l"/>
                <a:tab pos="6514937" algn="l"/>
                <a:tab pos="7238819" algn="l"/>
                <a:tab pos="7962701" algn="l"/>
                <a:tab pos="8686583" algn="l"/>
              </a:tabLst>
            </a:pP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12</a:t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b="1" dirty="0">
                <a:latin typeface="楷体_GB2312" panose="02010609030101010101" charset="-122"/>
                <a:ea typeface="楷体_GB2312" panose="02010609030101010101" charset="-122"/>
                <a:sym typeface="+mn-ea"/>
              </a:rPr>
              <a:t>寄存器分配问题分析</a:t>
            </a:r>
            <a:endParaRPr lang="zh-CN" altLang="en-US" b="0" dirty="0"/>
          </a:p>
        </p:txBody>
      </p:sp>
      <p:sp>
        <p:nvSpPr>
          <p:cNvPr id="6" name="文本占位符 5"/>
          <p:cNvSpPr>
            <a:spLocks noGrp="1"/>
          </p:cNvSpPr>
          <p:nvPr>
            <p:ph type="body" idx="4294967295"/>
          </p:nvPr>
        </p:nvSpPr>
        <p:spPr>
          <a:xfrm>
            <a:off x="127636" y="1388112"/>
            <a:ext cx="11997691" cy="5091431"/>
          </a:xfrm>
        </p:spPr>
        <p:txBody>
          <a:bodyPr>
            <a:normAutofit lnSpcReduction="10000"/>
          </a:bodyPr>
          <a:lstStyle/>
          <a:p>
            <a:pPr marL="431789" indent="-323843" defTabSz="449569">
              <a:lnSpc>
                <a:spcPct val="150000"/>
              </a:lnSpc>
              <a:buSzPct val="45000"/>
              <a:buNone/>
              <a:tabLst>
                <a:tab pos="723882" algn="l"/>
                <a:tab pos="1447764" algn="l"/>
                <a:tab pos="2171646" algn="l"/>
                <a:tab pos="2895528" algn="l"/>
                <a:tab pos="3619410" algn="l"/>
                <a:tab pos="4343291" algn="l"/>
                <a:tab pos="5067173" algn="l"/>
                <a:tab pos="5791055" algn="l"/>
                <a:tab pos="6514937" algn="l"/>
                <a:tab pos="7238819" algn="l"/>
                <a:tab pos="7962701" algn="l"/>
                <a:tab pos="8686583" algn="l"/>
              </a:tabLst>
            </a:pPr>
            <a:r>
              <a:rPr lang="zh-CN" altLang="en-US" sz="3600" b="1" dirty="0">
                <a:sym typeface="+mn-ea"/>
              </a:rPr>
              <a:t>无分配算法时</a:t>
            </a:r>
            <a:endParaRPr lang="zh-CN" altLang="en-US" sz="3200" b="1" dirty="0">
              <a:sym typeface="+mn-ea"/>
            </a:endParaRPr>
          </a:p>
          <a:p>
            <a:pPr marL="431789" indent="-323843" defTabSz="449569">
              <a:lnSpc>
                <a:spcPct val="150000"/>
              </a:lnSpc>
              <a:buSzPct val="45000"/>
              <a:buNone/>
              <a:tabLst>
                <a:tab pos="723882" algn="l"/>
                <a:tab pos="1447764" algn="l"/>
                <a:tab pos="2171646" algn="l"/>
                <a:tab pos="2895528" algn="l"/>
                <a:tab pos="3619410" algn="l"/>
                <a:tab pos="4343291" algn="l"/>
                <a:tab pos="5067173" algn="l"/>
                <a:tab pos="5791055" algn="l"/>
                <a:tab pos="6514937" algn="l"/>
                <a:tab pos="7238819" algn="l"/>
                <a:tab pos="7962701" algn="l"/>
                <a:tab pos="8686583" algn="l"/>
              </a:tabLst>
            </a:pPr>
            <a:r>
              <a:rPr lang="zh-CN" altLang="en-US" sz="3200" b="1" dirty="0">
                <a:sym typeface="+mn-ea"/>
              </a:rPr>
              <a:t> </a:t>
            </a:r>
            <a:r>
              <a:rPr lang="en-US" altLang="zh-CN" sz="3200" b="1" dirty="0">
                <a:sym typeface="+mn-ea"/>
              </a:rPr>
              <a:t>   </a:t>
            </a:r>
            <a:r>
              <a:rPr lang="zh-CN" altLang="en-US" sz="3200" b="1" dirty="0">
                <a:sym typeface="+mn-ea"/>
              </a:rPr>
              <a:t>将每个值存储在内存中，仅在需要时加载值</a:t>
            </a:r>
          </a:p>
          <a:p>
            <a:pPr marL="431789" indent="-323843" defTabSz="449569">
              <a:lnSpc>
                <a:spcPct val="150000"/>
              </a:lnSpc>
              <a:buSzPct val="45000"/>
              <a:buNone/>
              <a:tabLst>
                <a:tab pos="723882" algn="l"/>
                <a:tab pos="1447764" algn="l"/>
                <a:tab pos="2171646" algn="l"/>
                <a:tab pos="2895528" algn="l"/>
                <a:tab pos="3619410" algn="l"/>
                <a:tab pos="4343291" algn="l"/>
                <a:tab pos="5067173" algn="l"/>
                <a:tab pos="5791055" algn="l"/>
                <a:tab pos="6514937" algn="l"/>
                <a:tab pos="7238819" algn="l"/>
                <a:tab pos="7962701" algn="l"/>
                <a:tab pos="8686583" algn="l"/>
              </a:tabLst>
            </a:pPr>
            <a:r>
              <a:rPr lang="zh-CN" altLang="en-US" sz="3200" b="1" dirty="0">
                <a:sym typeface="+mn-ea"/>
              </a:rPr>
              <a:t>要生成执行计算的指令，需执行以下操作：</a:t>
            </a:r>
          </a:p>
          <a:p>
            <a:pPr marL="431789" indent="-323843" defTabSz="449569">
              <a:lnSpc>
                <a:spcPct val="150000"/>
              </a:lnSpc>
              <a:buSzPct val="45000"/>
              <a:buNone/>
              <a:tabLst>
                <a:tab pos="723882" algn="l"/>
                <a:tab pos="1447764" algn="l"/>
                <a:tab pos="2171646" algn="l"/>
                <a:tab pos="2895528" algn="l"/>
                <a:tab pos="3619410" algn="l"/>
                <a:tab pos="4343291" algn="l"/>
                <a:tab pos="5067173" algn="l"/>
                <a:tab pos="5791055" algn="l"/>
                <a:tab pos="6514937" algn="l"/>
                <a:tab pos="7238819" algn="l"/>
                <a:tab pos="7962701" algn="l"/>
                <a:tab pos="8686583" algn="l"/>
              </a:tabLst>
            </a:pPr>
            <a:r>
              <a:rPr lang="en-US" altLang="zh-CN" sz="3200" b="1" dirty="0">
                <a:sym typeface="+mn-ea"/>
              </a:rPr>
              <a:t>    </a:t>
            </a:r>
            <a:r>
              <a:rPr lang="zh-CN" altLang="en-US" sz="3200" b="1" dirty="0">
                <a:sym typeface="+mn-ea"/>
              </a:rPr>
              <a:t>生成加载指令，将值从主存移入寄存器</a:t>
            </a:r>
          </a:p>
          <a:p>
            <a:pPr marL="431789" indent="-323843" defTabSz="449569">
              <a:lnSpc>
                <a:spcPct val="150000"/>
              </a:lnSpc>
              <a:buSzPct val="45000"/>
              <a:buNone/>
              <a:tabLst>
                <a:tab pos="723882" algn="l"/>
                <a:tab pos="1447764" algn="l"/>
                <a:tab pos="2171646" algn="l"/>
                <a:tab pos="2895528" algn="l"/>
                <a:tab pos="3619410" algn="l"/>
                <a:tab pos="4343291" algn="l"/>
                <a:tab pos="5067173" algn="l"/>
                <a:tab pos="5791055" algn="l"/>
                <a:tab pos="6514937" algn="l"/>
                <a:tab pos="7238819" algn="l"/>
                <a:tab pos="7962701" algn="l"/>
                <a:tab pos="8686583" algn="l"/>
              </a:tabLst>
            </a:pPr>
            <a:r>
              <a:rPr lang="en-US" altLang="zh-CN" sz="3200" b="1" dirty="0">
                <a:sym typeface="+mn-ea"/>
              </a:rPr>
              <a:t>    </a:t>
            </a:r>
            <a:r>
              <a:rPr lang="zh-CN" altLang="en-US" sz="3200" b="1" dirty="0">
                <a:sym typeface="+mn-ea"/>
              </a:rPr>
              <a:t>生成在寄存器上执行计算的指令</a:t>
            </a:r>
          </a:p>
          <a:p>
            <a:pPr marL="431789" indent="-323843" defTabSz="449569">
              <a:lnSpc>
                <a:spcPct val="150000"/>
              </a:lnSpc>
              <a:buSzPct val="45000"/>
              <a:buNone/>
              <a:tabLst>
                <a:tab pos="723882" algn="l"/>
                <a:tab pos="1447764" algn="l"/>
                <a:tab pos="2171646" algn="l"/>
                <a:tab pos="2895528" algn="l"/>
                <a:tab pos="3619410" algn="l"/>
                <a:tab pos="4343291" algn="l"/>
                <a:tab pos="5067173" algn="l"/>
                <a:tab pos="5791055" algn="l"/>
                <a:tab pos="6514937" algn="l"/>
                <a:tab pos="7238819" algn="l"/>
                <a:tab pos="7962701" algn="l"/>
                <a:tab pos="8686583" algn="l"/>
              </a:tabLst>
            </a:pPr>
            <a:r>
              <a:rPr lang="en-US" altLang="zh-CN" sz="3200" b="1" dirty="0">
                <a:sym typeface="+mn-ea"/>
              </a:rPr>
              <a:t>    </a:t>
            </a:r>
            <a:r>
              <a:rPr lang="zh-CN" altLang="en-US" sz="3200" b="1" dirty="0">
                <a:sym typeface="+mn-ea"/>
              </a:rPr>
              <a:t>生成存储指令将结果存回内存  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13</a:t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b="1" dirty="0">
                <a:latin typeface="楷体_GB2312" panose="02010609030101010101" charset="-122"/>
                <a:ea typeface="楷体_GB2312" panose="02010609030101010101" charset="-122"/>
                <a:sym typeface="+mn-ea"/>
              </a:rPr>
              <a:t>寄存器分配问题分析</a:t>
            </a:r>
            <a:endParaRPr lang="zh-CN" altLang="en-US" b="0" dirty="0"/>
          </a:p>
        </p:txBody>
      </p:sp>
      <p:sp>
        <p:nvSpPr>
          <p:cNvPr id="6" name="文本占位符 5"/>
          <p:cNvSpPr>
            <a:spLocks noGrp="1"/>
          </p:cNvSpPr>
          <p:nvPr>
            <p:ph type="body" idx="4294967295"/>
          </p:nvPr>
        </p:nvSpPr>
        <p:spPr>
          <a:xfrm>
            <a:off x="127636" y="1388112"/>
            <a:ext cx="11997691" cy="5091431"/>
          </a:xfrm>
        </p:spPr>
        <p:txBody>
          <a:bodyPr>
            <a:normAutofit lnSpcReduction="10000"/>
          </a:bodyPr>
          <a:lstStyle/>
          <a:p>
            <a:pPr marL="431789" indent="-323843" defTabSz="449569">
              <a:lnSpc>
                <a:spcPct val="150000"/>
              </a:lnSpc>
              <a:buSzPct val="45000"/>
              <a:buNone/>
              <a:tabLst>
                <a:tab pos="723882" algn="l"/>
                <a:tab pos="1447764" algn="l"/>
                <a:tab pos="2171646" algn="l"/>
                <a:tab pos="2895528" algn="l"/>
                <a:tab pos="3619410" algn="l"/>
                <a:tab pos="4343291" algn="l"/>
                <a:tab pos="5067173" algn="l"/>
                <a:tab pos="5791055" algn="l"/>
                <a:tab pos="6514937" algn="l"/>
                <a:tab pos="7238819" algn="l"/>
                <a:tab pos="7962701" algn="l"/>
                <a:tab pos="8686583" algn="l"/>
              </a:tabLst>
            </a:pPr>
            <a:r>
              <a:rPr lang="zh-CN" altLang="en-US" sz="3200" b="1" dirty="0">
                <a:sym typeface="+mn-ea"/>
              </a:rPr>
              <a:t>分配算法改进：</a:t>
            </a:r>
            <a:r>
              <a:rPr lang="en-US" altLang="zh-CN" sz="3200" b="1" dirty="0">
                <a:sym typeface="+mn-ea"/>
              </a:rPr>
              <a:t> </a:t>
            </a:r>
            <a:r>
              <a:rPr lang="zh-CN" altLang="en-US" sz="3200" b="1" dirty="0">
                <a:sym typeface="+mn-ea"/>
              </a:rPr>
              <a:t>减少内存读/写、进而减少内存的使用</a:t>
            </a:r>
          </a:p>
          <a:p>
            <a:pPr marL="431789" indent="-323843" defTabSz="449569">
              <a:lnSpc>
                <a:spcPct val="150000"/>
              </a:lnSpc>
              <a:buSzPct val="45000"/>
              <a:buNone/>
              <a:tabLst>
                <a:tab pos="723882" algn="l"/>
                <a:tab pos="1447764" algn="l"/>
                <a:tab pos="2171646" algn="l"/>
                <a:tab pos="2895528" algn="l"/>
                <a:tab pos="3619410" algn="l"/>
                <a:tab pos="4343291" algn="l"/>
                <a:tab pos="5067173" algn="l"/>
                <a:tab pos="5791055" algn="l"/>
                <a:tab pos="6514937" algn="l"/>
                <a:tab pos="7238819" algn="l"/>
                <a:tab pos="7962701" algn="l"/>
                <a:tab pos="8686583" algn="l"/>
              </a:tabLst>
            </a:pPr>
            <a:r>
              <a:rPr lang="zh-CN" altLang="en-US" sz="3200" b="1" dirty="0">
                <a:sym typeface="+mn-ea"/>
              </a:rPr>
              <a:t>需要解决的问题：</a:t>
            </a:r>
          </a:p>
          <a:p>
            <a:pPr marL="431789" indent="-323843" defTabSz="449569">
              <a:lnSpc>
                <a:spcPct val="150000"/>
              </a:lnSpc>
              <a:buSzPct val="45000"/>
              <a:buNone/>
              <a:tabLst>
                <a:tab pos="723882" algn="l"/>
                <a:tab pos="1447764" algn="l"/>
                <a:tab pos="2171646" algn="l"/>
                <a:tab pos="2895528" algn="l"/>
                <a:tab pos="3619410" algn="l"/>
                <a:tab pos="4343291" algn="l"/>
                <a:tab pos="5067173" algn="l"/>
                <a:tab pos="5791055" algn="l"/>
                <a:tab pos="6514937" algn="l"/>
                <a:tab pos="7238819" algn="l"/>
                <a:tab pos="7962701" algn="l"/>
                <a:tab pos="8686583" algn="l"/>
              </a:tabLst>
            </a:pPr>
            <a:r>
              <a:rPr lang="en-US" altLang="zh-CN" sz="3200" b="1" dirty="0">
                <a:sym typeface="+mn-ea"/>
              </a:rPr>
              <a:t>    </a:t>
            </a:r>
            <a:r>
              <a:rPr lang="zh-CN" altLang="en-US" sz="3200" b="1" dirty="0">
                <a:sym typeface="+mn-ea"/>
              </a:rPr>
              <a:t>将变量放入哪些寄存器？</a:t>
            </a:r>
            <a:r>
              <a:rPr lang="en-US" altLang="zh-CN" sz="3200" b="1" dirty="0">
                <a:sym typeface="+mn-ea"/>
              </a:rPr>
              <a:t>  </a:t>
            </a:r>
            <a:r>
              <a:rPr lang="zh-CN" altLang="en-US" sz="3200" b="1" dirty="0">
                <a:sym typeface="+mn-ea"/>
              </a:rPr>
              <a:t>寄存器用完怎么办？</a:t>
            </a:r>
          </a:p>
          <a:p>
            <a:pPr marL="431789" indent="-323843" defTabSz="449569">
              <a:lnSpc>
                <a:spcPct val="150000"/>
              </a:lnSpc>
              <a:buSzPct val="45000"/>
              <a:buNone/>
              <a:tabLst>
                <a:tab pos="723882" algn="l"/>
                <a:tab pos="1447764" algn="l"/>
                <a:tab pos="2171646" algn="l"/>
                <a:tab pos="2895528" algn="l"/>
                <a:tab pos="3619410" algn="l"/>
                <a:tab pos="4343291" algn="l"/>
                <a:tab pos="5067173" algn="l"/>
                <a:tab pos="5791055" algn="l"/>
                <a:tab pos="6514937" algn="l"/>
                <a:tab pos="7238819" algn="l"/>
                <a:tab pos="7962701" algn="l"/>
                <a:tab pos="8686583" algn="l"/>
              </a:tabLst>
            </a:pPr>
            <a:r>
              <a:rPr lang="zh-CN" altLang="en-US" sz="3200" b="1" dirty="0">
                <a:sym typeface="+mn-ea"/>
              </a:rPr>
              <a:t>观察到的实事：</a:t>
            </a:r>
          </a:p>
          <a:p>
            <a:pPr marL="431789" indent="-323843" defTabSz="449569">
              <a:lnSpc>
                <a:spcPct val="150000"/>
              </a:lnSpc>
              <a:buSzPct val="45000"/>
              <a:buNone/>
              <a:tabLst>
                <a:tab pos="723882" algn="l"/>
                <a:tab pos="1447764" algn="l"/>
                <a:tab pos="2171646" algn="l"/>
                <a:tab pos="2895528" algn="l"/>
                <a:tab pos="3619410" algn="l"/>
                <a:tab pos="4343291" algn="l"/>
                <a:tab pos="5067173" algn="l"/>
                <a:tab pos="5791055" algn="l"/>
                <a:tab pos="6514937" algn="l"/>
                <a:tab pos="7238819" algn="l"/>
                <a:tab pos="7962701" algn="l"/>
                <a:tab pos="8686583" algn="l"/>
              </a:tabLst>
            </a:pPr>
            <a:r>
              <a:rPr lang="en-US" altLang="zh-CN" sz="3200" b="1" dirty="0">
                <a:sym typeface="+mn-ea"/>
              </a:rPr>
              <a:t>    </a:t>
            </a:r>
            <a:r>
              <a:rPr lang="zh-CN" altLang="en-US" sz="3200" b="1" dirty="0">
                <a:sym typeface="+mn-ea"/>
              </a:rPr>
              <a:t>一个寄存器在不同的时间段</a:t>
            </a:r>
            <a:r>
              <a:rPr lang="en-US" altLang="zh-CN" sz="3200" b="1" dirty="0">
                <a:sym typeface="+mn-ea"/>
              </a:rPr>
              <a:t>/</a:t>
            </a:r>
            <a:r>
              <a:rPr lang="zh-CN" altLang="en-US" sz="3200" b="1" dirty="0">
                <a:sym typeface="+mn-ea"/>
              </a:rPr>
              <a:t>位置可对应多个变量</a:t>
            </a:r>
          </a:p>
          <a:p>
            <a:pPr marL="431789" indent="-323843" defTabSz="449569">
              <a:lnSpc>
                <a:spcPct val="150000"/>
              </a:lnSpc>
              <a:buSzPct val="45000"/>
              <a:buNone/>
              <a:tabLst>
                <a:tab pos="723882" algn="l"/>
                <a:tab pos="1447764" algn="l"/>
                <a:tab pos="2171646" algn="l"/>
                <a:tab pos="2895528" algn="l"/>
                <a:tab pos="3619410" algn="l"/>
                <a:tab pos="4343291" algn="l"/>
                <a:tab pos="5067173" algn="l"/>
                <a:tab pos="5791055" algn="l"/>
                <a:tab pos="6514937" algn="l"/>
                <a:tab pos="7238819" algn="l"/>
                <a:tab pos="7962701" algn="l"/>
                <a:tab pos="8686583" algn="l"/>
              </a:tabLst>
            </a:pPr>
            <a:r>
              <a:rPr lang="zh-CN" altLang="en-US" sz="3200" b="1" dirty="0">
                <a:sym typeface="+mn-ea"/>
              </a:rPr>
              <a:t> </a:t>
            </a:r>
            <a:r>
              <a:rPr lang="en-US" altLang="zh-CN" sz="3200" b="1" dirty="0">
                <a:sym typeface="+mn-ea"/>
              </a:rPr>
              <a:t>   </a:t>
            </a:r>
            <a:r>
              <a:rPr lang="zh-CN" altLang="en-US" sz="3200" b="1" dirty="0">
                <a:sym typeface="+mn-ea"/>
              </a:rPr>
              <a:t>一个变量在不同的时间段</a:t>
            </a:r>
            <a:r>
              <a:rPr lang="en-US" altLang="zh-CN" sz="3200" b="1" dirty="0">
                <a:sym typeface="+mn-ea"/>
              </a:rPr>
              <a:t>/</a:t>
            </a:r>
            <a:r>
              <a:rPr lang="zh-CN" altLang="en-US" sz="3200" b="1" dirty="0">
                <a:sym typeface="+mn-ea"/>
              </a:rPr>
              <a:t>位置可对应多个寄存器     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14</a:t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b="1" dirty="0">
                <a:latin typeface="楷体_GB2312" panose="02010609030101010101" charset="-122"/>
                <a:ea typeface="楷体_GB2312" panose="02010609030101010101" charset="-122"/>
                <a:sym typeface="+mn-ea"/>
              </a:rPr>
              <a:t>相关概念与定义</a:t>
            </a:r>
          </a:p>
        </p:txBody>
      </p:sp>
      <p:sp>
        <p:nvSpPr>
          <p:cNvPr id="6" name="文本占位符 5"/>
          <p:cNvSpPr>
            <a:spLocks noGrp="1"/>
          </p:cNvSpPr>
          <p:nvPr>
            <p:ph type="body" idx="4294967295"/>
          </p:nvPr>
        </p:nvSpPr>
        <p:spPr>
          <a:xfrm>
            <a:off x="127636" y="1388112"/>
            <a:ext cx="11997691" cy="5091431"/>
          </a:xfrm>
        </p:spPr>
        <p:txBody>
          <a:bodyPr>
            <a:normAutofit lnSpcReduction="10000"/>
          </a:bodyPr>
          <a:lstStyle/>
          <a:p>
            <a:pPr marL="431789" indent="-323843" defTabSz="449569">
              <a:lnSpc>
                <a:spcPct val="150000"/>
              </a:lnSpc>
              <a:buSzPct val="45000"/>
              <a:buNone/>
              <a:tabLst>
                <a:tab pos="723882" algn="l"/>
                <a:tab pos="1447764" algn="l"/>
                <a:tab pos="2171646" algn="l"/>
                <a:tab pos="2895528" algn="l"/>
                <a:tab pos="3619410" algn="l"/>
                <a:tab pos="4343291" algn="l"/>
                <a:tab pos="5067173" algn="l"/>
                <a:tab pos="5791055" algn="l"/>
                <a:tab pos="6514937" algn="l"/>
                <a:tab pos="7238819" algn="l"/>
                <a:tab pos="7962701" algn="l"/>
                <a:tab pos="8686583" algn="l"/>
              </a:tabLst>
            </a:pPr>
            <a:r>
              <a:rPr lang="zh-CN" altLang="en-US" sz="2800" b="1" dirty="0">
                <a:sym typeface="+mn-ea"/>
              </a:rPr>
              <a:t>一段代码需要多少寄存器？</a:t>
            </a:r>
          </a:p>
          <a:p>
            <a:pPr marL="431789" indent="-323843" defTabSz="449569">
              <a:lnSpc>
                <a:spcPct val="150000"/>
              </a:lnSpc>
              <a:buSzPct val="45000"/>
              <a:buNone/>
              <a:tabLst>
                <a:tab pos="723882" algn="l"/>
                <a:tab pos="1447764" algn="l"/>
                <a:tab pos="2171646" algn="l"/>
                <a:tab pos="2895528" algn="l"/>
                <a:tab pos="3619410" algn="l"/>
                <a:tab pos="4343291" algn="l"/>
                <a:tab pos="5067173" algn="l"/>
                <a:tab pos="5791055" algn="l"/>
                <a:tab pos="6514937" algn="l"/>
                <a:tab pos="7238819" algn="l"/>
                <a:tab pos="7962701" algn="l"/>
                <a:tab pos="8686583" algn="l"/>
              </a:tabLst>
            </a:pPr>
            <a:r>
              <a:rPr lang="en-US" altLang="zh-CN" sz="2800" b="1" dirty="0">
                <a:sym typeface="+mn-ea"/>
              </a:rPr>
              <a:t>    </a:t>
            </a:r>
            <a:r>
              <a:rPr sz="2800" b="1" dirty="0" err="1">
                <a:sym typeface="+mn-ea"/>
              </a:rPr>
              <a:t>需要所有“活的”临时变量</a:t>
            </a:r>
            <a:endParaRPr lang="zh-CN" altLang="en-US" sz="2800" b="1" dirty="0">
              <a:sym typeface="+mn-ea"/>
            </a:endParaRPr>
          </a:p>
          <a:p>
            <a:pPr marL="431789" indent="-323843" defTabSz="449569">
              <a:lnSpc>
                <a:spcPct val="150000"/>
              </a:lnSpc>
              <a:buSzPct val="45000"/>
              <a:buNone/>
              <a:tabLst>
                <a:tab pos="723882" algn="l"/>
                <a:tab pos="1447764" algn="l"/>
                <a:tab pos="2171646" algn="l"/>
                <a:tab pos="2895528" algn="l"/>
                <a:tab pos="3619410" algn="l"/>
                <a:tab pos="4343291" algn="l"/>
                <a:tab pos="5067173" algn="l"/>
                <a:tab pos="5791055" algn="l"/>
                <a:tab pos="6514937" algn="l"/>
                <a:tab pos="7238819" algn="l"/>
                <a:tab pos="7962701" algn="l"/>
                <a:tab pos="8686583" algn="l"/>
              </a:tabLst>
            </a:pPr>
            <a:r>
              <a:rPr lang="zh-CN" altLang="en-US" sz="2800" b="1" dirty="0">
                <a:sym typeface="+mn-ea"/>
              </a:rPr>
              <a:t> </a:t>
            </a:r>
            <a:r>
              <a:rPr lang="en-US" altLang="zh-CN" sz="2800" b="1" dirty="0">
                <a:sym typeface="+mn-ea"/>
              </a:rPr>
              <a:t>   </a:t>
            </a:r>
            <a:r>
              <a:rPr lang="zh-CN" altLang="en-US" sz="2800" b="1" dirty="0">
                <a:sym typeface="+mn-ea"/>
              </a:rPr>
              <a:t>在同一时刻不被同时使用的变量可以共享一个寄存器</a:t>
            </a:r>
            <a:endParaRPr sz="2800" b="1" dirty="0">
              <a:sym typeface="+mn-ea"/>
            </a:endParaRPr>
          </a:p>
          <a:p>
            <a:pPr marL="431789" indent="-323843" defTabSz="449569">
              <a:lnSpc>
                <a:spcPct val="150000"/>
              </a:lnSpc>
              <a:buSzPct val="45000"/>
              <a:buNone/>
              <a:tabLst>
                <a:tab pos="723882" algn="l"/>
                <a:tab pos="1447764" algn="l"/>
                <a:tab pos="2171646" algn="l"/>
                <a:tab pos="2895528" algn="l"/>
                <a:tab pos="3619410" algn="l"/>
                <a:tab pos="4343291" algn="l"/>
                <a:tab pos="5067173" algn="l"/>
                <a:tab pos="5791055" algn="l"/>
                <a:tab pos="6514937" algn="l"/>
                <a:tab pos="7238819" algn="l"/>
                <a:tab pos="7962701" algn="l"/>
                <a:tab pos="8686583" algn="l"/>
              </a:tabLst>
            </a:pPr>
            <a:r>
              <a:rPr sz="2800" b="1" dirty="0">
                <a:sym typeface="+mn-ea"/>
              </a:rPr>
              <a:t>活的(Liveness</a:t>
            </a:r>
            <a:r>
              <a:rPr lang="en-US" sz="2800" b="1" dirty="0">
                <a:sym typeface="+mn-ea"/>
              </a:rPr>
              <a:t> / 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Live Variable)</a:t>
            </a:r>
            <a:endParaRPr lang="zh-CN" altLang="en-US" sz="2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431789" indent="-323843" defTabSz="449569">
              <a:lnSpc>
                <a:spcPct val="150000"/>
              </a:lnSpc>
              <a:buSzPct val="45000"/>
              <a:buNone/>
              <a:tabLst>
                <a:tab pos="723882" algn="l"/>
                <a:tab pos="1447764" algn="l"/>
                <a:tab pos="2171646" algn="l"/>
                <a:tab pos="2895528" algn="l"/>
                <a:tab pos="3619410" algn="l"/>
                <a:tab pos="4343291" algn="l"/>
                <a:tab pos="5067173" algn="l"/>
                <a:tab pos="5791055" algn="l"/>
                <a:tab pos="6514937" algn="l"/>
                <a:tab pos="7238819" algn="l"/>
                <a:tab pos="7962701" algn="l"/>
                <a:tab pos="8686583" algn="l"/>
              </a:tabLst>
            </a:pP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</a:t>
            </a:r>
            <a:r>
              <a:rPr sz="2800" b="1" dirty="0">
                <a:sym typeface="+mn-ea"/>
              </a:rPr>
              <a:t> 如果变量在后续程序中</a:t>
            </a:r>
            <a:r>
              <a:rPr lang="zh-CN" altLang="en-US" sz="2800" b="1" dirty="0">
                <a:sym typeface="+mn-ea"/>
              </a:rPr>
              <a:t>被使用（即</a:t>
            </a:r>
            <a:r>
              <a:rPr sz="2800" b="1" dirty="0">
                <a:sym typeface="+mn-ea"/>
              </a:rPr>
              <a:t>在写入之前被读取</a:t>
            </a:r>
            <a:r>
              <a:rPr lang="zh-CN" altLang="en-US" sz="2800" b="1" dirty="0">
                <a:sym typeface="+mn-ea"/>
              </a:rPr>
              <a:t>）</a:t>
            </a:r>
          </a:p>
          <a:p>
            <a:pPr marL="431789" indent="-323843" defTabSz="449569">
              <a:lnSpc>
                <a:spcPct val="150000"/>
              </a:lnSpc>
              <a:buSzPct val="45000"/>
              <a:buNone/>
              <a:tabLst>
                <a:tab pos="723882" algn="l"/>
                <a:tab pos="1447764" algn="l"/>
                <a:tab pos="2171646" algn="l"/>
                <a:tab pos="2895528" algn="l"/>
                <a:tab pos="3619410" algn="l"/>
                <a:tab pos="4343291" algn="l"/>
                <a:tab pos="5067173" algn="l"/>
                <a:tab pos="5791055" algn="l"/>
                <a:tab pos="6514937" algn="l"/>
                <a:tab pos="7238819" algn="l"/>
                <a:tab pos="7962701" algn="l"/>
                <a:tab pos="8686583" algn="l"/>
              </a:tabLst>
            </a:pPr>
            <a:r>
              <a:rPr sz="2800" b="1" dirty="0">
                <a:sym typeface="+mn-ea"/>
              </a:rPr>
              <a:t>活动范围(Live range)</a:t>
            </a:r>
          </a:p>
          <a:p>
            <a:pPr marL="431789" indent="-323843" defTabSz="449569">
              <a:lnSpc>
                <a:spcPct val="150000"/>
              </a:lnSpc>
              <a:buSzPct val="45000"/>
              <a:buNone/>
              <a:tabLst>
                <a:tab pos="723882" algn="l"/>
                <a:tab pos="1447764" algn="l"/>
                <a:tab pos="2171646" algn="l"/>
                <a:tab pos="2895528" algn="l"/>
                <a:tab pos="3619410" algn="l"/>
                <a:tab pos="4343291" algn="l"/>
                <a:tab pos="5067173" algn="l"/>
                <a:tab pos="5791055" algn="l"/>
                <a:tab pos="6514937" algn="l"/>
                <a:tab pos="7238819" algn="l"/>
                <a:tab pos="7962701" algn="l"/>
                <a:tab pos="8686583" algn="l"/>
              </a:tabLst>
            </a:pPr>
            <a:r>
              <a:rPr lang="en-US" sz="2800" b="1" dirty="0">
                <a:sym typeface="+mn-ea"/>
              </a:rPr>
              <a:t>    </a:t>
            </a:r>
            <a:r>
              <a:rPr sz="2800" b="1" dirty="0">
                <a:sym typeface="+mn-ea"/>
              </a:rPr>
              <a:t>变量在其定义和使用之间可能执行的</a:t>
            </a:r>
            <a:r>
              <a:rPr sz="2800" b="1" dirty="0">
                <a:solidFill>
                  <a:srgbClr val="FF0000"/>
                </a:solidFill>
                <a:sym typeface="+mn-ea"/>
              </a:rPr>
              <a:t>所有指令</a:t>
            </a:r>
            <a:endParaRPr sz="2800" b="1" dirty="0">
              <a:sym typeface="+mn-ea"/>
            </a:endParaRPr>
          </a:p>
          <a:p>
            <a:pPr marL="431789" indent="-323843" defTabSz="449569">
              <a:lnSpc>
                <a:spcPct val="150000"/>
              </a:lnSpc>
              <a:buSzPct val="45000"/>
              <a:buNone/>
              <a:tabLst>
                <a:tab pos="723882" algn="l"/>
                <a:tab pos="1447764" algn="l"/>
                <a:tab pos="2171646" algn="l"/>
                <a:tab pos="2895528" algn="l"/>
                <a:tab pos="3619410" algn="l"/>
                <a:tab pos="4343291" algn="l"/>
                <a:tab pos="5067173" algn="l"/>
                <a:tab pos="5791055" algn="l"/>
                <a:tab pos="6514937" algn="l"/>
                <a:tab pos="7238819" algn="l"/>
                <a:tab pos="7962701" algn="l"/>
                <a:tab pos="8686583" algn="l"/>
              </a:tabLst>
            </a:pPr>
            <a:endParaRPr sz="2800" b="1"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15</a:t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b="1" dirty="0">
                <a:latin typeface="楷体_GB2312" panose="02010609030101010101" charset="-122"/>
                <a:ea typeface="楷体_GB2312" panose="02010609030101010101" charset="-122"/>
                <a:sym typeface="+mn-ea"/>
              </a:rPr>
              <a:t>相关概念与定义</a:t>
            </a:r>
            <a:endParaRPr lang="zh-CN" altLang="en-US" b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16</a:t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443231" y="1402080"/>
            <a:ext cx="2694940" cy="463684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sz="2000" b="1" dirty="0">
                <a:latin typeface="宋体" panose="02010600030101010101" pitchFamily="2" charset="-122"/>
                <a:ea typeface="宋体" panose="02010600030101010101" pitchFamily="2" charset="-122"/>
              </a:rPr>
              <a:t>e = d + a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sz="2000" b="1" dirty="0">
                <a:latin typeface="宋体" panose="02010600030101010101" pitchFamily="2" charset="-122"/>
                <a:ea typeface="宋体" panose="02010600030101010101" pitchFamily="2" charset="-122"/>
              </a:rPr>
              <a:t>f = b + c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sz="2000" b="1" dirty="0">
                <a:latin typeface="宋体" panose="02010600030101010101" pitchFamily="2" charset="-122"/>
                <a:ea typeface="宋体" panose="02010600030101010101" pitchFamily="2" charset="-122"/>
              </a:rPr>
              <a:t>f = f + b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sz="2000" b="1" dirty="0">
                <a:latin typeface="宋体" panose="02010600030101010101" pitchFamily="2" charset="-122"/>
                <a:ea typeface="宋体" panose="02010600030101010101" pitchFamily="2" charset="-122"/>
              </a:rPr>
              <a:t>If e Goto</a:t>
            </a:r>
            <a:r>
              <a:rPr 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sz="2000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_L0</a:t>
            </a:r>
            <a:endParaRPr sz="2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sz="2000" b="1" dirty="0">
                <a:latin typeface="宋体" panose="02010600030101010101" pitchFamily="2" charset="-122"/>
                <a:ea typeface="宋体" panose="02010600030101010101" pitchFamily="2" charset="-122"/>
              </a:rPr>
              <a:t>d = e + f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sz="2000" b="1" dirty="0">
                <a:latin typeface="宋体" panose="02010600030101010101" pitchFamily="2" charset="-122"/>
                <a:ea typeface="宋体" panose="02010600030101010101" pitchFamily="2" charset="-122"/>
              </a:rPr>
              <a:t>Goto _L1;</a:t>
            </a:r>
          </a:p>
          <a:p>
            <a:pPr>
              <a:lnSpc>
                <a:spcPct val="150000"/>
              </a:lnSpc>
            </a:pPr>
            <a:r>
              <a:rPr sz="2000" b="1" dirty="0">
                <a:latin typeface="宋体" panose="02010600030101010101" pitchFamily="2" charset="-122"/>
                <a:ea typeface="宋体" panose="02010600030101010101" pitchFamily="2" charset="-122"/>
              </a:rPr>
              <a:t>_L0: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sz="2000" b="1" dirty="0">
                <a:latin typeface="宋体" panose="02010600030101010101" pitchFamily="2" charset="-122"/>
                <a:ea typeface="宋体" panose="02010600030101010101" pitchFamily="2" charset="-122"/>
              </a:rPr>
              <a:t>d = e - f</a:t>
            </a:r>
          </a:p>
          <a:p>
            <a:pPr>
              <a:lnSpc>
                <a:spcPct val="150000"/>
              </a:lnSpc>
            </a:pPr>
            <a:r>
              <a:rPr sz="2000" b="1" dirty="0">
                <a:latin typeface="宋体" panose="02010600030101010101" pitchFamily="2" charset="-122"/>
                <a:ea typeface="宋体" panose="02010600030101010101" pitchFamily="2" charset="-122"/>
              </a:rPr>
              <a:t>_L1: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sz="2000" b="1" dirty="0">
                <a:latin typeface="宋体" panose="02010600030101010101" pitchFamily="2" charset="-122"/>
                <a:ea typeface="宋体" panose="02010600030101010101" pitchFamily="2" charset="-122"/>
              </a:rPr>
              <a:t>g = d</a:t>
            </a:r>
          </a:p>
        </p:txBody>
      </p:sp>
      <p:sp>
        <p:nvSpPr>
          <p:cNvPr id="10" name="object 3"/>
          <p:cNvSpPr/>
          <p:nvPr/>
        </p:nvSpPr>
        <p:spPr>
          <a:xfrm>
            <a:off x="7142480" y="356235"/>
            <a:ext cx="2514600" cy="914400"/>
          </a:xfrm>
          <a:custGeom>
            <a:avLst/>
            <a:gdLst/>
            <a:ahLst/>
            <a:cxnLst/>
            <a:rect l="l" t="t" r="r" b="b"/>
            <a:pathLst>
              <a:path w="2514600" h="914400">
                <a:moveTo>
                  <a:pt x="1257300" y="914400"/>
                </a:moveTo>
                <a:lnTo>
                  <a:pt x="0" y="914400"/>
                </a:lnTo>
                <a:lnTo>
                  <a:pt x="0" y="0"/>
                </a:lnTo>
                <a:lnTo>
                  <a:pt x="2514600" y="0"/>
                </a:lnTo>
                <a:lnTo>
                  <a:pt x="2514600" y="914400"/>
                </a:lnTo>
                <a:lnTo>
                  <a:pt x="1257300" y="91440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4"/>
          <p:cNvSpPr txBox="1"/>
          <p:nvPr/>
        </p:nvSpPr>
        <p:spPr>
          <a:xfrm>
            <a:off x="7701280" y="614047"/>
            <a:ext cx="1397000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b="1" dirty="0">
                <a:solidFill>
                  <a:srgbClr val="191919"/>
                </a:solidFill>
                <a:latin typeface="Courier New" panose="02070409020205020404"/>
                <a:cs typeface="Courier New" panose="02070409020205020404"/>
              </a:rPr>
              <a:t>e = d +</a:t>
            </a:r>
            <a:r>
              <a:rPr sz="2000" b="1" spc="-120" dirty="0">
                <a:solidFill>
                  <a:srgbClr val="191919"/>
                </a:solidFill>
                <a:latin typeface="Courier New" panose="02070409020205020404"/>
                <a:cs typeface="Courier New" panose="02070409020205020404"/>
              </a:rPr>
              <a:t> </a:t>
            </a:r>
            <a:r>
              <a:rPr sz="2000" b="1" dirty="0">
                <a:solidFill>
                  <a:srgbClr val="191919"/>
                </a:solidFill>
                <a:latin typeface="Courier New" panose="02070409020205020404"/>
                <a:cs typeface="Courier New" panose="02070409020205020404"/>
              </a:rPr>
              <a:t>a</a:t>
            </a:r>
            <a:endParaRPr sz="2000">
              <a:latin typeface="Courier New" panose="02070409020205020404"/>
              <a:cs typeface="Courier New" panose="02070409020205020404"/>
            </a:endParaRPr>
          </a:p>
        </p:txBody>
      </p:sp>
      <p:sp>
        <p:nvSpPr>
          <p:cNvPr id="12" name="object 5"/>
          <p:cNvSpPr txBox="1"/>
          <p:nvPr/>
        </p:nvSpPr>
        <p:spPr>
          <a:xfrm>
            <a:off x="7142480" y="1727837"/>
            <a:ext cx="2514600" cy="592598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851">
              <a:latin typeface="Times New Roman" panose="02060603050605020204"/>
              <a:cs typeface="Times New Roman" panose="02060603050605020204"/>
            </a:endParaRPr>
          </a:p>
          <a:p>
            <a:pPr marL="571486"/>
            <a:r>
              <a:rPr sz="2000" b="1" dirty="0">
                <a:solidFill>
                  <a:srgbClr val="191919"/>
                </a:solidFill>
                <a:latin typeface="Courier New" panose="02070409020205020404"/>
                <a:cs typeface="Courier New" panose="02070409020205020404"/>
              </a:rPr>
              <a:t>f = b +</a:t>
            </a:r>
            <a:r>
              <a:rPr sz="2000" b="1" spc="-75" dirty="0">
                <a:solidFill>
                  <a:srgbClr val="191919"/>
                </a:solidFill>
                <a:latin typeface="Courier New" panose="02070409020205020404"/>
                <a:cs typeface="Courier New" panose="02070409020205020404"/>
              </a:rPr>
              <a:t> </a:t>
            </a:r>
            <a:r>
              <a:rPr sz="2000" b="1" dirty="0">
                <a:solidFill>
                  <a:srgbClr val="191919"/>
                </a:solidFill>
                <a:latin typeface="Courier New" panose="02070409020205020404"/>
                <a:cs typeface="Courier New" panose="02070409020205020404"/>
              </a:rPr>
              <a:t>c</a:t>
            </a:r>
            <a:endParaRPr sz="2000">
              <a:latin typeface="Courier New" panose="02070409020205020404"/>
              <a:cs typeface="Courier New" panose="02070409020205020404"/>
            </a:endParaRPr>
          </a:p>
        </p:txBody>
      </p:sp>
      <p:sp>
        <p:nvSpPr>
          <p:cNvPr id="13" name="object 6"/>
          <p:cNvSpPr txBox="1"/>
          <p:nvPr/>
        </p:nvSpPr>
        <p:spPr>
          <a:xfrm>
            <a:off x="7142480" y="3099437"/>
            <a:ext cx="2514600" cy="592598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851">
              <a:latin typeface="Times New Roman" panose="02060603050605020204"/>
              <a:cs typeface="Times New Roman" panose="02060603050605020204"/>
            </a:endParaRPr>
          </a:p>
          <a:p>
            <a:pPr marL="571486"/>
            <a:r>
              <a:rPr sz="2000" b="1" dirty="0">
                <a:solidFill>
                  <a:srgbClr val="191919"/>
                </a:solidFill>
                <a:latin typeface="Courier New" panose="02070409020205020404"/>
                <a:cs typeface="Courier New" panose="02070409020205020404"/>
              </a:rPr>
              <a:t>f = f +</a:t>
            </a:r>
            <a:r>
              <a:rPr sz="2000" b="1" spc="-75" dirty="0">
                <a:solidFill>
                  <a:srgbClr val="191919"/>
                </a:solidFill>
                <a:latin typeface="Courier New" panose="02070409020205020404"/>
                <a:cs typeface="Courier New" panose="02070409020205020404"/>
              </a:rPr>
              <a:t> </a:t>
            </a:r>
            <a:r>
              <a:rPr sz="2000" b="1" dirty="0">
                <a:solidFill>
                  <a:srgbClr val="191919"/>
                </a:solidFill>
                <a:latin typeface="Courier New" panose="02070409020205020404"/>
                <a:cs typeface="Courier New" panose="02070409020205020404"/>
              </a:rPr>
              <a:t>b</a:t>
            </a:r>
            <a:endParaRPr sz="2000">
              <a:latin typeface="Courier New" panose="02070409020205020404"/>
              <a:cs typeface="Courier New" panose="02070409020205020404"/>
            </a:endParaRPr>
          </a:p>
        </p:txBody>
      </p:sp>
      <p:sp>
        <p:nvSpPr>
          <p:cNvPr id="14" name="object 7"/>
          <p:cNvSpPr txBox="1"/>
          <p:nvPr/>
        </p:nvSpPr>
        <p:spPr>
          <a:xfrm>
            <a:off x="6228080" y="4471037"/>
            <a:ext cx="1600200" cy="592598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851">
              <a:latin typeface="Times New Roman" panose="02060603050605020204"/>
              <a:cs typeface="Times New Roman" panose="02060603050605020204"/>
            </a:endParaRPr>
          </a:p>
          <a:p>
            <a:pPr marL="114297"/>
            <a:r>
              <a:rPr sz="2000" b="1" dirty="0">
                <a:solidFill>
                  <a:srgbClr val="191919"/>
                </a:solidFill>
                <a:latin typeface="Courier New" panose="02070409020205020404"/>
                <a:cs typeface="Courier New" panose="02070409020205020404"/>
              </a:rPr>
              <a:t>d = e +</a:t>
            </a:r>
            <a:r>
              <a:rPr sz="2000" b="1" spc="-105" dirty="0">
                <a:solidFill>
                  <a:srgbClr val="191919"/>
                </a:solidFill>
                <a:latin typeface="Courier New" panose="02070409020205020404"/>
                <a:cs typeface="Courier New" panose="02070409020205020404"/>
              </a:rPr>
              <a:t> </a:t>
            </a:r>
            <a:r>
              <a:rPr sz="2000" b="1" dirty="0">
                <a:solidFill>
                  <a:srgbClr val="191919"/>
                </a:solidFill>
                <a:latin typeface="Courier New" panose="02070409020205020404"/>
                <a:cs typeface="Courier New" panose="02070409020205020404"/>
              </a:rPr>
              <a:t>f</a:t>
            </a:r>
            <a:endParaRPr sz="2000">
              <a:latin typeface="Courier New" panose="02070409020205020404"/>
              <a:cs typeface="Courier New" panose="02070409020205020404"/>
            </a:endParaRPr>
          </a:p>
        </p:txBody>
      </p:sp>
      <p:sp>
        <p:nvSpPr>
          <p:cNvPr id="15" name="object 8"/>
          <p:cNvSpPr txBox="1"/>
          <p:nvPr/>
        </p:nvSpPr>
        <p:spPr>
          <a:xfrm>
            <a:off x="8971280" y="4471037"/>
            <a:ext cx="1600200" cy="592598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851">
              <a:latin typeface="Times New Roman" panose="02060603050605020204"/>
              <a:cs typeface="Times New Roman" panose="02060603050605020204"/>
            </a:endParaRPr>
          </a:p>
          <a:p>
            <a:pPr marL="114297"/>
            <a:r>
              <a:rPr sz="2000" b="1" dirty="0">
                <a:solidFill>
                  <a:srgbClr val="191919"/>
                </a:solidFill>
                <a:latin typeface="Courier New" panose="02070409020205020404"/>
                <a:cs typeface="Courier New" panose="02070409020205020404"/>
              </a:rPr>
              <a:t>d = e –</a:t>
            </a:r>
            <a:r>
              <a:rPr sz="2000" b="1" spc="-105" dirty="0">
                <a:solidFill>
                  <a:srgbClr val="191919"/>
                </a:solidFill>
                <a:latin typeface="Courier New" panose="02070409020205020404"/>
                <a:cs typeface="Courier New" panose="02070409020205020404"/>
              </a:rPr>
              <a:t> </a:t>
            </a:r>
            <a:r>
              <a:rPr sz="2000" b="1" dirty="0">
                <a:solidFill>
                  <a:srgbClr val="191919"/>
                </a:solidFill>
                <a:latin typeface="Courier New" panose="02070409020205020404"/>
                <a:cs typeface="Courier New" panose="02070409020205020404"/>
              </a:rPr>
              <a:t>f</a:t>
            </a:r>
            <a:endParaRPr sz="2000">
              <a:latin typeface="Courier New" panose="02070409020205020404"/>
              <a:cs typeface="Courier New" panose="02070409020205020404"/>
            </a:endParaRPr>
          </a:p>
        </p:txBody>
      </p:sp>
      <p:grpSp>
        <p:nvGrpSpPr>
          <p:cNvPr id="16" name="object 9"/>
          <p:cNvGrpSpPr/>
          <p:nvPr/>
        </p:nvGrpSpPr>
        <p:grpSpPr>
          <a:xfrm>
            <a:off x="8345172" y="1270635"/>
            <a:ext cx="107951" cy="457200"/>
            <a:chOff x="7146290" y="1828800"/>
            <a:chExt cx="107950" cy="457200"/>
          </a:xfrm>
        </p:grpSpPr>
        <p:sp>
          <p:nvSpPr>
            <p:cNvPr id="17" name="object 10"/>
            <p:cNvSpPr/>
            <p:nvPr/>
          </p:nvSpPr>
          <p:spPr>
            <a:xfrm>
              <a:off x="7200900" y="1828800"/>
              <a:ext cx="0" cy="302260"/>
            </a:xfrm>
            <a:custGeom>
              <a:avLst/>
              <a:gdLst/>
              <a:ahLst/>
              <a:cxnLst/>
              <a:rect l="l" t="t" r="r" b="b"/>
              <a:pathLst>
                <a:path h="302260">
                  <a:moveTo>
                    <a:pt x="0" y="0"/>
                  </a:moveTo>
                  <a:lnTo>
                    <a:pt x="0" y="30226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1"/>
            <p:cNvSpPr/>
            <p:nvPr/>
          </p:nvSpPr>
          <p:spPr>
            <a:xfrm>
              <a:off x="7146290" y="2123440"/>
              <a:ext cx="107950" cy="162560"/>
            </a:xfrm>
            <a:custGeom>
              <a:avLst/>
              <a:gdLst/>
              <a:ahLst/>
              <a:cxnLst/>
              <a:rect l="l" t="t" r="r" b="b"/>
              <a:pathLst>
                <a:path w="107950" h="162560">
                  <a:moveTo>
                    <a:pt x="107950" y="0"/>
                  </a:moveTo>
                  <a:lnTo>
                    <a:pt x="0" y="0"/>
                  </a:lnTo>
                  <a:lnTo>
                    <a:pt x="54609" y="162560"/>
                  </a:lnTo>
                  <a:lnTo>
                    <a:pt x="10795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9" name="object 12"/>
          <p:cNvGrpSpPr/>
          <p:nvPr/>
        </p:nvGrpSpPr>
        <p:grpSpPr>
          <a:xfrm>
            <a:off x="8345172" y="2642235"/>
            <a:ext cx="107951" cy="457200"/>
            <a:chOff x="7146290" y="3200400"/>
            <a:chExt cx="107950" cy="457200"/>
          </a:xfrm>
        </p:grpSpPr>
        <p:sp>
          <p:nvSpPr>
            <p:cNvPr id="20" name="object 13"/>
            <p:cNvSpPr/>
            <p:nvPr/>
          </p:nvSpPr>
          <p:spPr>
            <a:xfrm>
              <a:off x="7200900" y="3200400"/>
              <a:ext cx="0" cy="302260"/>
            </a:xfrm>
            <a:custGeom>
              <a:avLst/>
              <a:gdLst/>
              <a:ahLst/>
              <a:cxnLst/>
              <a:rect l="l" t="t" r="r" b="b"/>
              <a:pathLst>
                <a:path h="302260">
                  <a:moveTo>
                    <a:pt x="0" y="0"/>
                  </a:moveTo>
                  <a:lnTo>
                    <a:pt x="0" y="30226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14"/>
            <p:cNvSpPr/>
            <p:nvPr/>
          </p:nvSpPr>
          <p:spPr>
            <a:xfrm>
              <a:off x="7146290" y="3495040"/>
              <a:ext cx="107950" cy="162560"/>
            </a:xfrm>
            <a:custGeom>
              <a:avLst/>
              <a:gdLst/>
              <a:ahLst/>
              <a:cxnLst/>
              <a:rect l="l" t="t" r="r" b="b"/>
              <a:pathLst>
                <a:path w="107950" h="162560">
                  <a:moveTo>
                    <a:pt x="107950" y="0"/>
                  </a:moveTo>
                  <a:lnTo>
                    <a:pt x="0" y="0"/>
                  </a:lnTo>
                  <a:lnTo>
                    <a:pt x="54609" y="162560"/>
                  </a:lnTo>
                  <a:lnTo>
                    <a:pt x="10795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2" name="object 15"/>
          <p:cNvGrpSpPr/>
          <p:nvPr/>
        </p:nvGrpSpPr>
        <p:grpSpPr>
          <a:xfrm>
            <a:off x="7028180" y="4013202"/>
            <a:ext cx="2743200" cy="457835"/>
            <a:chOff x="5829300" y="4571365"/>
            <a:chExt cx="2743200" cy="457834"/>
          </a:xfrm>
        </p:grpSpPr>
        <p:sp>
          <p:nvSpPr>
            <p:cNvPr id="23" name="object 16"/>
            <p:cNvSpPr/>
            <p:nvPr/>
          </p:nvSpPr>
          <p:spPr>
            <a:xfrm>
              <a:off x="5976620" y="4572000"/>
              <a:ext cx="1224280" cy="407670"/>
            </a:xfrm>
            <a:custGeom>
              <a:avLst/>
              <a:gdLst/>
              <a:ahLst/>
              <a:cxnLst/>
              <a:rect l="l" t="t" r="r" b="b"/>
              <a:pathLst>
                <a:path w="1224279" h="407670">
                  <a:moveTo>
                    <a:pt x="1224279" y="0"/>
                  </a:moveTo>
                  <a:lnTo>
                    <a:pt x="0" y="40766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17"/>
            <p:cNvSpPr/>
            <p:nvPr/>
          </p:nvSpPr>
          <p:spPr>
            <a:xfrm>
              <a:off x="5829300" y="4926330"/>
              <a:ext cx="170180" cy="102870"/>
            </a:xfrm>
            <a:custGeom>
              <a:avLst/>
              <a:gdLst/>
              <a:ahLst/>
              <a:cxnLst/>
              <a:rect l="l" t="t" r="r" b="b"/>
              <a:pathLst>
                <a:path w="170179" h="102870">
                  <a:moveTo>
                    <a:pt x="135889" y="0"/>
                  </a:moveTo>
                  <a:lnTo>
                    <a:pt x="0" y="102870"/>
                  </a:lnTo>
                  <a:lnTo>
                    <a:pt x="170179" y="102870"/>
                  </a:lnTo>
                  <a:lnTo>
                    <a:pt x="13588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18"/>
            <p:cNvSpPr/>
            <p:nvPr/>
          </p:nvSpPr>
          <p:spPr>
            <a:xfrm>
              <a:off x="7200900" y="4572000"/>
              <a:ext cx="1224280" cy="407670"/>
            </a:xfrm>
            <a:custGeom>
              <a:avLst/>
              <a:gdLst/>
              <a:ahLst/>
              <a:cxnLst/>
              <a:rect l="l" t="t" r="r" b="b"/>
              <a:pathLst>
                <a:path w="1224279" h="407670">
                  <a:moveTo>
                    <a:pt x="0" y="0"/>
                  </a:moveTo>
                  <a:lnTo>
                    <a:pt x="1224279" y="40766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19"/>
            <p:cNvSpPr/>
            <p:nvPr/>
          </p:nvSpPr>
          <p:spPr>
            <a:xfrm>
              <a:off x="8401050" y="4926330"/>
              <a:ext cx="171450" cy="102870"/>
            </a:xfrm>
            <a:custGeom>
              <a:avLst/>
              <a:gdLst/>
              <a:ahLst/>
              <a:cxnLst/>
              <a:rect l="l" t="t" r="r" b="b"/>
              <a:pathLst>
                <a:path w="171450" h="102870">
                  <a:moveTo>
                    <a:pt x="34290" y="0"/>
                  </a:moveTo>
                  <a:lnTo>
                    <a:pt x="0" y="102870"/>
                  </a:lnTo>
                  <a:lnTo>
                    <a:pt x="171450" y="102870"/>
                  </a:lnTo>
                  <a:lnTo>
                    <a:pt x="3429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7" name="object 20"/>
          <p:cNvGrpSpPr/>
          <p:nvPr/>
        </p:nvGrpSpPr>
        <p:grpSpPr>
          <a:xfrm>
            <a:off x="7027548" y="5384803"/>
            <a:ext cx="2744471" cy="1372235"/>
            <a:chOff x="5828665" y="5942965"/>
            <a:chExt cx="2744470" cy="1372235"/>
          </a:xfrm>
        </p:grpSpPr>
        <p:sp>
          <p:nvSpPr>
            <p:cNvPr id="28" name="object 21"/>
            <p:cNvSpPr/>
            <p:nvPr/>
          </p:nvSpPr>
          <p:spPr>
            <a:xfrm>
              <a:off x="6400800" y="6400800"/>
              <a:ext cx="1600200" cy="914400"/>
            </a:xfrm>
            <a:custGeom>
              <a:avLst/>
              <a:gdLst/>
              <a:ahLst/>
              <a:cxnLst/>
              <a:rect l="l" t="t" r="r" b="b"/>
              <a:pathLst>
                <a:path w="1600200" h="914400">
                  <a:moveTo>
                    <a:pt x="800100" y="914400"/>
                  </a:moveTo>
                  <a:lnTo>
                    <a:pt x="0" y="914400"/>
                  </a:lnTo>
                  <a:lnTo>
                    <a:pt x="0" y="0"/>
                  </a:lnTo>
                  <a:lnTo>
                    <a:pt x="1600200" y="0"/>
                  </a:lnTo>
                  <a:lnTo>
                    <a:pt x="1600200" y="914400"/>
                  </a:lnTo>
                  <a:lnTo>
                    <a:pt x="800100" y="91440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2"/>
            <p:cNvSpPr/>
            <p:nvPr/>
          </p:nvSpPr>
          <p:spPr>
            <a:xfrm>
              <a:off x="5829300" y="5943600"/>
              <a:ext cx="1224280" cy="407670"/>
            </a:xfrm>
            <a:custGeom>
              <a:avLst/>
              <a:gdLst/>
              <a:ahLst/>
              <a:cxnLst/>
              <a:rect l="l" t="t" r="r" b="b"/>
              <a:pathLst>
                <a:path w="1224279" h="407670">
                  <a:moveTo>
                    <a:pt x="0" y="0"/>
                  </a:moveTo>
                  <a:lnTo>
                    <a:pt x="1224279" y="40766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23"/>
            <p:cNvSpPr/>
            <p:nvPr/>
          </p:nvSpPr>
          <p:spPr>
            <a:xfrm>
              <a:off x="7029450" y="6297930"/>
              <a:ext cx="171450" cy="102870"/>
            </a:xfrm>
            <a:custGeom>
              <a:avLst/>
              <a:gdLst/>
              <a:ahLst/>
              <a:cxnLst/>
              <a:rect l="l" t="t" r="r" b="b"/>
              <a:pathLst>
                <a:path w="171450" h="102870">
                  <a:moveTo>
                    <a:pt x="34290" y="0"/>
                  </a:moveTo>
                  <a:lnTo>
                    <a:pt x="0" y="102870"/>
                  </a:lnTo>
                  <a:lnTo>
                    <a:pt x="171450" y="102870"/>
                  </a:lnTo>
                  <a:lnTo>
                    <a:pt x="3429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24"/>
            <p:cNvSpPr/>
            <p:nvPr/>
          </p:nvSpPr>
          <p:spPr>
            <a:xfrm>
              <a:off x="7348220" y="5943600"/>
              <a:ext cx="1224280" cy="407670"/>
            </a:xfrm>
            <a:custGeom>
              <a:avLst/>
              <a:gdLst/>
              <a:ahLst/>
              <a:cxnLst/>
              <a:rect l="l" t="t" r="r" b="b"/>
              <a:pathLst>
                <a:path w="1224279" h="407670">
                  <a:moveTo>
                    <a:pt x="1224279" y="0"/>
                  </a:moveTo>
                  <a:lnTo>
                    <a:pt x="0" y="40766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25"/>
            <p:cNvSpPr/>
            <p:nvPr/>
          </p:nvSpPr>
          <p:spPr>
            <a:xfrm>
              <a:off x="7200900" y="6297930"/>
              <a:ext cx="170180" cy="102870"/>
            </a:xfrm>
            <a:custGeom>
              <a:avLst/>
              <a:gdLst/>
              <a:ahLst/>
              <a:cxnLst/>
              <a:rect l="l" t="t" r="r" b="b"/>
              <a:pathLst>
                <a:path w="170179" h="102870">
                  <a:moveTo>
                    <a:pt x="135890" y="0"/>
                  </a:moveTo>
                  <a:lnTo>
                    <a:pt x="0" y="102870"/>
                  </a:lnTo>
                  <a:lnTo>
                    <a:pt x="170179" y="102870"/>
                  </a:lnTo>
                  <a:lnTo>
                    <a:pt x="13589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27"/>
          <p:cNvSpPr txBox="1"/>
          <p:nvPr/>
        </p:nvSpPr>
        <p:spPr>
          <a:xfrm>
            <a:off x="8004175" y="6142987"/>
            <a:ext cx="787400" cy="2789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100"/>
              </a:lnSpc>
            </a:pPr>
            <a:r>
              <a:rPr sz="2000" b="1" dirty="0">
                <a:solidFill>
                  <a:srgbClr val="191919"/>
                </a:solidFill>
                <a:latin typeface="Courier New" panose="02070409020205020404"/>
                <a:cs typeface="Courier New" panose="02070409020205020404"/>
              </a:rPr>
              <a:t>g =</a:t>
            </a:r>
            <a:r>
              <a:rPr sz="2000" b="1" spc="-111" dirty="0">
                <a:solidFill>
                  <a:srgbClr val="191919"/>
                </a:solidFill>
                <a:latin typeface="Courier New" panose="02070409020205020404"/>
                <a:cs typeface="Courier New" panose="02070409020205020404"/>
              </a:rPr>
              <a:t> </a:t>
            </a:r>
            <a:r>
              <a:rPr sz="2000" b="1" dirty="0">
                <a:solidFill>
                  <a:srgbClr val="191919"/>
                </a:solidFill>
                <a:latin typeface="Courier New" panose="02070409020205020404"/>
                <a:cs typeface="Courier New" panose="02070409020205020404"/>
              </a:rPr>
              <a:t>d</a:t>
            </a:r>
            <a:endParaRPr sz="2000">
              <a:latin typeface="Courier New" panose="02070409020205020404"/>
              <a:cs typeface="Courier New" panose="02070409020205020404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7970523" y="6406515"/>
            <a:ext cx="859723" cy="369332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b="1" dirty="0">
                <a:solidFill>
                  <a:srgbClr val="FF0000"/>
                </a:solidFill>
                <a:latin typeface="Courier New" panose="02070409020205020404"/>
                <a:cs typeface="Courier New" panose="02070409020205020404"/>
                <a:sym typeface="+mn-ea"/>
              </a:rPr>
              <a:t>{ g</a:t>
            </a:r>
            <a:r>
              <a:rPr b="1" spc="-111" dirty="0">
                <a:solidFill>
                  <a:srgbClr val="FF0000"/>
                </a:solidFill>
                <a:latin typeface="Courier New" panose="02070409020205020404"/>
                <a:cs typeface="Courier New" panose="02070409020205020404"/>
                <a:sym typeface="+mn-ea"/>
              </a:rPr>
              <a:t> </a:t>
            </a:r>
            <a:r>
              <a:rPr b="1" dirty="0">
                <a:solidFill>
                  <a:srgbClr val="FF0000"/>
                </a:solidFill>
                <a:latin typeface="Courier New" panose="02070409020205020404"/>
                <a:cs typeface="Courier New" panose="02070409020205020404"/>
                <a:sym typeface="+mn-ea"/>
              </a:rPr>
              <a:t>}</a:t>
            </a:r>
            <a:endParaRPr lang="zh-CN" altLang="en-US"/>
          </a:p>
        </p:txBody>
      </p:sp>
      <p:sp>
        <p:nvSpPr>
          <p:cNvPr id="35" name="文本框 34"/>
          <p:cNvSpPr txBox="1"/>
          <p:nvPr/>
        </p:nvSpPr>
        <p:spPr>
          <a:xfrm>
            <a:off x="7970523" y="5842635"/>
            <a:ext cx="859723" cy="369332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b="1" dirty="0">
                <a:solidFill>
                  <a:srgbClr val="FF0000"/>
                </a:solidFill>
                <a:latin typeface="Courier New" panose="02070409020205020404"/>
                <a:cs typeface="Courier New" panose="02070409020205020404"/>
                <a:sym typeface="+mn-ea"/>
              </a:rPr>
              <a:t>{ </a:t>
            </a:r>
            <a:r>
              <a:rPr lang="en-US" b="1" dirty="0">
                <a:solidFill>
                  <a:srgbClr val="FF0000"/>
                </a:solidFill>
                <a:latin typeface="Courier New" panose="02070409020205020404"/>
                <a:cs typeface="Courier New" panose="02070409020205020404"/>
                <a:sym typeface="+mn-ea"/>
              </a:rPr>
              <a:t>d</a:t>
            </a:r>
            <a:r>
              <a:rPr b="1" spc="-111" dirty="0">
                <a:solidFill>
                  <a:srgbClr val="FF0000"/>
                </a:solidFill>
                <a:latin typeface="Courier New" panose="02070409020205020404"/>
                <a:cs typeface="Courier New" panose="02070409020205020404"/>
                <a:sym typeface="+mn-ea"/>
              </a:rPr>
              <a:t> </a:t>
            </a:r>
            <a:r>
              <a:rPr b="1" dirty="0">
                <a:solidFill>
                  <a:srgbClr val="FF0000"/>
                </a:solidFill>
                <a:latin typeface="Courier New" panose="02070409020205020404"/>
                <a:cs typeface="Courier New" panose="02070409020205020404"/>
                <a:sym typeface="+mn-ea"/>
              </a:rPr>
              <a:t>}</a:t>
            </a:r>
            <a:endParaRPr lang="zh-CN" altLang="en-US"/>
          </a:p>
        </p:txBody>
      </p:sp>
      <p:sp>
        <p:nvSpPr>
          <p:cNvPr id="36" name="文本框 35"/>
          <p:cNvSpPr txBox="1"/>
          <p:nvPr/>
        </p:nvSpPr>
        <p:spPr>
          <a:xfrm>
            <a:off x="6600828" y="4959349"/>
            <a:ext cx="859723" cy="369332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b="1" dirty="0">
                <a:solidFill>
                  <a:srgbClr val="FF0000"/>
                </a:solidFill>
                <a:latin typeface="Courier New" panose="02070409020205020404"/>
                <a:cs typeface="Courier New" panose="02070409020205020404"/>
                <a:sym typeface="+mn-ea"/>
              </a:rPr>
              <a:t>{ </a:t>
            </a:r>
            <a:r>
              <a:rPr lang="en-US" b="1" dirty="0">
                <a:solidFill>
                  <a:srgbClr val="FF0000"/>
                </a:solidFill>
                <a:latin typeface="Courier New" panose="02070409020205020404"/>
                <a:cs typeface="Courier New" panose="02070409020205020404"/>
                <a:sym typeface="+mn-ea"/>
              </a:rPr>
              <a:t>d</a:t>
            </a:r>
            <a:r>
              <a:rPr b="1" spc="-111" dirty="0">
                <a:solidFill>
                  <a:srgbClr val="FF0000"/>
                </a:solidFill>
                <a:latin typeface="Courier New" panose="02070409020205020404"/>
                <a:cs typeface="Courier New" panose="02070409020205020404"/>
                <a:sym typeface="+mn-ea"/>
              </a:rPr>
              <a:t> </a:t>
            </a:r>
            <a:r>
              <a:rPr b="1" dirty="0">
                <a:solidFill>
                  <a:srgbClr val="FF0000"/>
                </a:solidFill>
                <a:latin typeface="Courier New" panose="02070409020205020404"/>
                <a:cs typeface="Courier New" panose="02070409020205020404"/>
                <a:sym typeface="+mn-ea"/>
              </a:rPr>
              <a:t>}</a:t>
            </a:r>
            <a:endParaRPr lang="zh-CN" altLang="en-US"/>
          </a:p>
        </p:txBody>
      </p:sp>
      <p:sp>
        <p:nvSpPr>
          <p:cNvPr id="37" name="文本框 36"/>
          <p:cNvSpPr txBox="1"/>
          <p:nvPr/>
        </p:nvSpPr>
        <p:spPr>
          <a:xfrm>
            <a:off x="9258303" y="5017135"/>
            <a:ext cx="859723" cy="369332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b="1" dirty="0">
                <a:solidFill>
                  <a:srgbClr val="FF0000"/>
                </a:solidFill>
                <a:latin typeface="Courier New" panose="02070409020205020404"/>
                <a:cs typeface="Courier New" panose="02070409020205020404"/>
                <a:sym typeface="+mn-ea"/>
              </a:rPr>
              <a:t>{ </a:t>
            </a:r>
            <a:r>
              <a:rPr lang="en-US" b="1" dirty="0">
                <a:solidFill>
                  <a:srgbClr val="FF0000"/>
                </a:solidFill>
                <a:latin typeface="Courier New" panose="02070409020205020404"/>
                <a:cs typeface="Courier New" panose="02070409020205020404"/>
                <a:sym typeface="+mn-ea"/>
              </a:rPr>
              <a:t>d</a:t>
            </a:r>
            <a:r>
              <a:rPr b="1" spc="-111" dirty="0">
                <a:solidFill>
                  <a:srgbClr val="FF0000"/>
                </a:solidFill>
                <a:latin typeface="Courier New" panose="02070409020205020404"/>
                <a:cs typeface="Courier New" panose="02070409020205020404"/>
                <a:sym typeface="+mn-ea"/>
              </a:rPr>
              <a:t> </a:t>
            </a:r>
            <a:r>
              <a:rPr b="1" dirty="0">
                <a:solidFill>
                  <a:srgbClr val="FF0000"/>
                </a:solidFill>
                <a:latin typeface="Courier New" panose="02070409020205020404"/>
                <a:cs typeface="Courier New" panose="02070409020205020404"/>
                <a:sym typeface="+mn-ea"/>
              </a:rPr>
              <a:t>}</a:t>
            </a:r>
            <a:endParaRPr lang="zh-CN" altLang="en-US"/>
          </a:p>
        </p:txBody>
      </p:sp>
      <p:sp>
        <p:nvSpPr>
          <p:cNvPr id="38" name="文本框 37"/>
          <p:cNvSpPr txBox="1"/>
          <p:nvPr/>
        </p:nvSpPr>
        <p:spPr>
          <a:xfrm>
            <a:off x="6467479" y="4471035"/>
            <a:ext cx="1135439" cy="369332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b="1" dirty="0">
                <a:solidFill>
                  <a:srgbClr val="FF0000"/>
                </a:solidFill>
                <a:latin typeface="Courier New" panose="02070409020205020404"/>
                <a:cs typeface="Courier New" panose="02070409020205020404"/>
                <a:sym typeface="+mn-ea"/>
              </a:rPr>
              <a:t>{ </a:t>
            </a:r>
            <a:r>
              <a:rPr lang="en-US" altLang="en-US" b="1" dirty="0">
                <a:solidFill>
                  <a:srgbClr val="FF0000"/>
                </a:solidFill>
                <a:latin typeface="Courier New" panose="02070409020205020404"/>
                <a:cs typeface="Courier New" panose="02070409020205020404"/>
                <a:sym typeface="+mn-ea"/>
              </a:rPr>
              <a:t>e,f</a:t>
            </a:r>
            <a:r>
              <a:rPr b="1" spc="-111" dirty="0">
                <a:solidFill>
                  <a:srgbClr val="FF0000"/>
                </a:solidFill>
                <a:latin typeface="Courier New" panose="02070409020205020404"/>
                <a:cs typeface="Courier New" panose="02070409020205020404"/>
                <a:sym typeface="+mn-ea"/>
              </a:rPr>
              <a:t> </a:t>
            </a:r>
            <a:r>
              <a:rPr b="1" dirty="0">
                <a:solidFill>
                  <a:srgbClr val="FF0000"/>
                </a:solidFill>
                <a:latin typeface="Courier New" panose="02070409020205020404"/>
                <a:cs typeface="Courier New" panose="02070409020205020404"/>
                <a:sym typeface="+mn-ea"/>
              </a:rPr>
              <a:t>}</a:t>
            </a:r>
            <a:endParaRPr lang="zh-CN" altLang="en-US"/>
          </a:p>
        </p:txBody>
      </p:sp>
      <p:sp>
        <p:nvSpPr>
          <p:cNvPr id="39" name="文本框 38"/>
          <p:cNvSpPr txBox="1"/>
          <p:nvPr/>
        </p:nvSpPr>
        <p:spPr>
          <a:xfrm>
            <a:off x="9206868" y="4471035"/>
            <a:ext cx="1135439" cy="369332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b="1" dirty="0">
                <a:solidFill>
                  <a:srgbClr val="FF0000"/>
                </a:solidFill>
                <a:latin typeface="Courier New" panose="02070409020205020404"/>
                <a:cs typeface="Courier New" panose="02070409020205020404"/>
                <a:sym typeface="+mn-ea"/>
              </a:rPr>
              <a:t>{ </a:t>
            </a:r>
            <a:r>
              <a:rPr lang="en-US" altLang="en-US" b="1" dirty="0">
                <a:solidFill>
                  <a:srgbClr val="FF0000"/>
                </a:solidFill>
                <a:latin typeface="Courier New" panose="02070409020205020404"/>
                <a:cs typeface="Courier New" panose="02070409020205020404"/>
                <a:sym typeface="+mn-ea"/>
              </a:rPr>
              <a:t>e,f</a:t>
            </a:r>
            <a:r>
              <a:rPr b="1" spc="-111" dirty="0">
                <a:solidFill>
                  <a:srgbClr val="FF0000"/>
                </a:solidFill>
                <a:latin typeface="Courier New" panose="02070409020205020404"/>
                <a:cs typeface="Courier New" panose="02070409020205020404"/>
                <a:sym typeface="+mn-ea"/>
              </a:rPr>
              <a:t> </a:t>
            </a:r>
            <a:r>
              <a:rPr b="1" dirty="0">
                <a:solidFill>
                  <a:srgbClr val="FF0000"/>
                </a:solidFill>
                <a:latin typeface="Courier New" panose="02070409020205020404"/>
                <a:cs typeface="Courier New" panose="02070409020205020404"/>
                <a:sym typeface="+mn-ea"/>
              </a:rPr>
              <a:t>}</a:t>
            </a:r>
            <a:endParaRPr lang="zh-CN" altLang="en-US"/>
          </a:p>
        </p:txBody>
      </p:sp>
      <p:sp>
        <p:nvSpPr>
          <p:cNvPr id="40" name="文本框 39"/>
          <p:cNvSpPr txBox="1"/>
          <p:nvPr/>
        </p:nvSpPr>
        <p:spPr>
          <a:xfrm>
            <a:off x="7835268" y="3645535"/>
            <a:ext cx="1135439" cy="369332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b="1" dirty="0">
                <a:solidFill>
                  <a:srgbClr val="FF0000"/>
                </a:solidFill>
                <a:latin typeface="Courier New" panose="02070409020205020404"/>
                <a:cs typeface="Courier New" panose="02070409020205020404"/>
                <a:sym typeface="+mn-ea"/>
              </a:rPr>
              <a:t>{ </a:t>
            </a:r>
            <a:r>
              <a:rPr lang="en-US" altLang="en-US" b="1" dirty="0">
                <a:solidFill>
                  <a:srgbClr val="FF0000"/>
                </a:solidFill>
                <a:latin typeface="Courier New" panose="02070409020205020404"/>
                <a:cs typeface="Courier New" panose="02070409020205020404"/>
                <a:sym typeface="+mn-ea"/>
              </a:rPr>
              <a:t>e,f</a:t>
            </a:r>
            <a:r>
              <a:rPr b="1" spc="-111" dirty="0">
                <a:solidFill>
                  <a:srgbClr val="FF0000"/>
                </a:solidFill>
                <a:latin typeface="Courier New" panose="02070409020205020404"/>
                <a:cs typeface="Courier New" panose="02070409020205020404"/>
                <a:sym typeface="+mn-ea"/>
              </a:rPr>
              <a:t> </a:t>
            </a:r>
            <a:r>
              <a:rPr b="1" dirty="0">
                <a:solidFill>
                  <a:srgbClr val="FF0000"/>
                </a:solidFill>
                <a:latin typeface="Courier New" panose="02070409020205020404"/>
                <a:cs typeface="Courier New" panose="02070409020205020404"/>
                <a:sym typeface="+mn-ea"/>
              </a:rPr>
              <a:t>}</a:t>
            </a:r>
            <a:endParaRPr lang="zh-CN" altLang="en-US"/>
          </a:p>
        </p:txBody>
      </p:sp>
      <p:sp>
        <p:nvSpPr>
          <p:cNvPr id="41" name="文本框 40"/>
          <p:cNvSpPr txBox="1"/>
          <p:nvPr/>
        </p:nvSpPr>
        <p:spPr>
          <a:xfrm>
            <a:off x="7548880" y="3099435"/>
            <a:ext cx="1686872" cy="369332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b="1" dirty="0">
                <a:solidFill>
                  <a:srgbClr val="FF0000"/>
                </a:solidFill>
                <a:latin typeface="Courier New" panose="02070409020205020404"/>
                <a:cs typeface="Courier New" panose="02070409020205020404"/>
                <a:sym typeface="+mn-ea"/>
              </a:rPr>
              <a:t>{ </a:t>
            </a:r>
            <a:r>
              <a:rPr lang="en-US" altLang="en-US" b="1" dirty="0">
                <a:solidFill>
                  <a:srgbClr val="FF0000"/>
                </a:solidFill>
                <a:latin typeface="Courier New" panose="02070409020205020404"/>
                <a:cs typeface="Courier New" panose="02070409020205020404"/>
                <a:sym typeface="+mn-ea"/>
              </a:rPr>
              <a:t>b, e, f</a:t>
            </a:r>
            <a:r>
              <a:rPr b="1" spc="-111" dirty="0">
                <a:solidFill>
                  <a:srgbClr val="FF0000"/>
                </a:solidFill>
                <a:latin typeface="Courier New" panose="02070409020205020404"/>
                <a:cs typeface="Courier New" panose="02070409020205020404"/>
                <a:sym typeface="+mn-ea"/>
              </a:rPr>
              <a:t> </a:t>
            </a:r>
            <a:r>
              <a:rPr b="1" dirty="0">
                <a:solidFill>
                  <a:srgbClr val="FF0000"/>
                </a:solidFill>
                <a:latin typeface="Courier New" panose="02070409020205020404"/>
                <a:cs typeface="Courier New" panose="02070409020205020404"/>
                <a:sym typeface="+mn-ea"/>
              </a:rPr>
              <a:t>}</a:t>
            </a:r>
            <a:endParaRPr lang="zh-CN" altLang="en-US"/>
          </a:p>
        </p:txBody>
      </p:sp>
      <p:sp>
        <p:nvSpPr>
          <p:cNvPr id="42" name="文本框 41"/>
          <p:cNvSpPr txBox="1"/>
          <p:nvPr/>
        </p:nvSpPr>
        <p:spPr>
          <a:xfrm>
            <a:off x="7548880" y="2273935"/>
            <a:ext cx="1686872" cy="369332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b="1" dirty="0">
                <a:solidFill>
                  <a:srgbClr val="FF0000"/>
                </a:solidFill>
                <a:latin typeface="Courier New" panose="02070409020205020404"/>
                <a:cs typeface="Courier New" panose="02070409020205020404"/>
                <a:sym typeface="+mn-ea"/>
              </a:rPr>
              <a:t>{ </a:t>
            </a:r>
            <a:r>
              <a:rPr lang="en-US" altLang="en-US" b="1" dirty="0">
                <a:solidFill>
                  <a:srgbClr val="FF0000"/>
                </a:solidFill>
                <a:latin typeface="Courier New" panose="02070409020205020404"/>
                <a:cs typeface="Courier New" panose="02070409020205020404"/>
                <a:sym typeface="+mn-ea"/>
              </a:rPr>
              <a:t>b, e, f</a:t>
            </a:r>
            <a:r>
              <a:rPr b="1" spc="-111" dirty="0">
                <a:solidFill>
                  <a:srgbClr val="FF0000"/>
                </a:solidFill>
                <a:latin typeface="Courier New" panose="02070409020205020404"/>
                <a:cs typeface="Courier New" panose="02070409020205020404"/>
                <a:sym typeface="+mn-ea"/>
              </a:rPr>
              <a:t> </a:t>
            </a:r>
            <a:r>
              <a:rPr b="1" dirty="0">
                <a:solidFill>
                  <a:srgbClr val="FF0000"/>
                </a:solidFill>
                <a:latin typeface="Courier New" panose="02070409020205020404"/>
                <a:cs typeface="Courier New" panose="02070409020205020404"/>
                <a:sym typeface="+mn-ea"/>
              </a:rPr>
              <a:t>}</a:t>
            </a:r>
            <a:endParaRPr lang="zh-CN" altLang="en-US"/>
          </a:p>
        </p:txBody>
      </p:sp>
      <p:sp>
        <p:nvSpPr>
          <p:cNvPr id="43" name="文本框 42"/>
          <p:cNvSpPr txBox="1"/>
          <p:nvPr/>
        </p:nvSpPr>
        <p:spPr>
          <a:xfrm>
            <a:off x="7559040" y="1727835"/>
            <a:ext cx="1686872" cy="369332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b="1" dirty="0">
                <a:solidFill>
                  <a:srgbClr val="FF0000"/>
                </a:solidFill>
                <a:latin typeface="Courier New" panose="02070409020205020404"/>
                <a:cs typeface="Courier New" panose="02070409020205020404"/>
                <a:sym typeface="+mn-ea"/>
              </a:rPr>
              <a:t>{ </a:t>
            </a:r>
            <a:r>
              <a:rPr lang="en-US" altLang="en-US" b="1" dirty="0">
                <a:solidFill>
                  <a:srgbClr val="FF0000"/>
                </a:solidFill>
                <a:latin typeface="Courier New" panose="02070409020205020404"/>
                <a:cs typeface="Courier New" panose="02070409020205020404"/>
                <a:sym typeface="+mn-ea"/>
              </a:rPr>
              <a:t>b, e, c</a:t>
            </a:r>
            <a:r>
              <a:rPr b="1" spc="-111" dirty="0">
                <a:solidFill>
                  <a:srgbClr val="FF0000"/>
                </a:solidFill>
                <a:latin typeface="Courier New" panose="02070409020205020404"/>
                <a:cs typeface="Courier New" panose="02070409020205020404"/>
                <a:sym typeface="+mn-ea"/>
              </a:rPr>
              <a:t> </a:t>
            </a:r>
            <a:r>
              <a:rPr b="1" dirty="0">
                <a:solidFill>
                  <a:srgbClr val="FF0000"/>
                </a:solidFill>
                <a:latin typeface="Courier New" panose="02070409020205020404"/>
                <a:cs typeface="Courier New" panose="02070409020205020404"/>
                <a:sym typeface="+mn-ea"/>
              </a:rPr>
              <a:t>}</a:t>
            </a:r>
            <a:endParaRPr lang="zh-CN" altLang="en-US"/>
          </a:p>
        </p:txBody>
      </p:sp>
      <p:sp>
        <p:nvSpPr>
          <p:cNvPr id="44" name="文本框 43"/>
          <p:cNvSpPr txBox="1"/>
          <p:nvPr/>
        </p:nvSpPr>
        <p:spPr>
          <a:xfrm>
            <a:off x="7548880" y="844549"/>
            <a:ext cx="1686872" cy="369332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b="1" dirty="0">
                <a:solidFill>
                  <a:srgbClr val="FF0000"/>
                </a:solidFill>
                <a:latin typeface="Courier New" panose="02070409020205020404"/>
                <a:cs typeface="Courier New" panose="02070409020205020404"/>
                <a:sym typeface="+mn-ea"/>
              </a:rPr>
              <a:t>{ </a:t>
            </a:r>
            <a:r>
              <a:rPr lang="en-US" altLang="en-US" b="1" dirty="0">
                <a:solidFill>
                  <a:srgbClr val="FF0000"/>
                </a:solidFill>
                <a:latin typeface="Courier New" panose="02070409020205020404"/>
                <a:cs typeface="Courier New" panose="02070409020205020404"/>
                <a:sym typeface="+mn-ea"/>
              </a:rPr>
              <a:t>b, e, c</a:t>
            </a:r>
            <a:r>
              <a:rPr b="1" spc="-111" dirty="0">
                <a:solidFill>
                  <a:srgbClr val="FF0000"/>
                </a:solidFill>
                <a:latin typeface="Courier New" panose="02070409020205020404"/>
                <a:cs typeface="Courier New" panose="02070409020205020404"/>
                <a:sym typeface="+mn-ea"/>
              </a:rPr>
              <a:t> </a:t>
            </a:r>
            <a:r>
              <a:rPr b="1" dirty="0">
                <a:solidFill>
                  <a:srgbClr val="FF0000"/>
                </a:solidFill>
                <a:latin typeface="Courier New" panose="02070409020205020404"/>
                <a:cs typeface="Courier New" panose="02070409020205020404"/>
                <a:sym typeface="+mn-ea"/>
              </a:rPr>
              <a:t>}</a:t>
            </a:r>
            <a:endParaRPr lang="zh-CN" altLang="en-US"/>
          </a:p>
        </p:txBody>
      </p:sp>
      <p:sp>
        <p:nvSpPr>
          <p:cNvPr id="45" name="文本框 44"/>
          <p:cNvSpPr txBox="1"/>
          <p:nvPr/>
        </p:nvSpPr>
        <p:spPr>
          <a:xfrm>
            <a:off x="7427595" y="356235"/>
            <a:ext cx="1948354" cy="369332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b="1" dirty="0">
                <a:solidFill>
                  <a:srgbClr val="FF0000"/>
                </a:solidFill>
                <a:latin typeface="Courier New" panose="02070409020205020404"/>
                <a:cs typeface="Courier New" panose="02070409020205020404"/>
                <a:sym typeface="+mn-ea"/>
              </a:rPr>
              <a:t>{ </a:t>
            </a:r>
            <a:r>
              <a:rPr lang="en-US" b="1" dirty="0">
                <a:solidFill>
                  <a:srgbClr val="FF0000"/>
                </a:solidFill>
                <a:latin typeface="Courier New" panose="02070409020205020404"/>
                <a:cs typeface="Courier New" panose="02070409020205020404"/>
                <a:sym typeface="+mn-ea"/>
              </a:rPr>
              <a:t>a, </a:t>
            </a:r>
            <a:r>
              <a:rPr lang="en-US" altLang="en-US" b="1" dirty="0">
                <a:solidFill>
                  <a:srgbClr val="FF0000"/>
                </a:solidFill>
                <a:latin typeface="Courier New" panose="02070409020205020404"/>
                <a:cs typeface="Courier New" panose="02070409020205020404"/>
                <a:sym typeface="+mn-ea"/>
              </a:rPr>
              <a:t>b, c,</a:t>
            </a:r>
            <a:r>
              <a:rPr b="1" spc="-111" dirty="0">
                <a:solidFill>
                  <a:srgbClr val="FF0000"/>
                </a:solidFill>
                <a:latin typeface="Courier New" panose="02070409020205020404"/>
                <a:cs typeface="Courier New" panose="02070409020205020404"/>
                <a:sym typeface="+mn-ea"/>
              </a:rPr>
              <a:t> </a:t>
            </a:r>
            <a:r>
              <a:rPr lang="en-US" b="1" spc="-111" dirty="0">
                <a:solidFill>
                  <a:srgbClr val="FF0000"/>
                </a:solidFill>
                <a:latin typeface="Courier New" panose="02070409020205020404"/>
                <a:cs typeface="Courier New" panose="02070409020205020404"/>
                <a:sym typeface="+mn-ea"/>
              </a:rPr>
              <a:t>d</a:t>
            </a:r>
            <a:r>
              <a:rPr b="1" dirty="0">
                <a:solidFill>
                  <a:srgbClr val="FF0000"/>
                </a:solidFill>
                <a:latin typeface="Courier New" panose="02070409020205020404"/>
                <a:cs typeface="Courier New" panose="02070409020205020404"/>
                <a:sym typeface="+mn-ea"/>
              </a:rPr>
              <a:t>}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35" grpId="0"/>
      <p:bldP spid="36" grpId="0"/>
      <p:bldP spid="37" grpId="0"/>
      <p:bldP spid="38" grpId="0"/>
      <p:bldP spid="39" grpId="0"/>
      <p:bldP spid="40" grpId="0"/>
      <p:bldP spid="41" grpId="0"/>
      <p:bldP spid="42" grpId="0"/>
      <p:bldP spid="43" grpId="0"/>
      <p:bldP spid="44" grpId="0"/>
      <p:bldP spid="4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b="1" dirty="0">
                <a:latin typeface="楷体_GB2312" panose="02010609030101010101" charset="-122"/>
                <a:ea typeface="楷体_GB2312" panose="02010609030101010101" charset="-122"/>
                <a:sym typeface="+mn-ea"/>
              </a:rPr>
              <a:t>相关概念与定义</a:t>
            </a:r>
          </a:p>
        </p:txBody>
      </p:sp>
      <p:sp>
        <p:nvSpPr>
          <p:cNvPr id="6" name="文本占位符 5"/>
          <p:cNvSpPr>
            <a:spLocks noGrp="1"/>
          </p:cNvSpPr>
          <p:nvPr>
            <p:ph type="body" idx="4294967295"/>
          </p:nvPr>
        </p:nvSpPr>
        <p:spPr>
          <a:xfrm>
            <a:off x="127636" y="1388112"/>
            <a:ext cx="11997691" cy="5091431"/>
          </a:xfrm>
        </p:spPr>
        <p:txBody>
          <a:bodyPr>
            <a:normAutofit fontScale="92500" lnSpcReduction="10000"/>
          </a:bodyPr>
          <a:lstStyle/>
          <a:p>
            <a:pPr marL="431789" indent="-323843" defTabSz="449569">
              <a:lnSpc>
                <a:spcPct val="150000"/>
              </a:lnSpc>
              <a:buSzPct val="45000"/>
              <a:buNone/>
              <a:tabLst>
                <a:tab pos="723882" algn="l"/>
                <a:tab pos="1447764" algn="l"/>
                <a:tab pos="2171646" algn="l"/>
                <a:tab pos="2895528" algn="l"/>
                <a:tab pos="3619410" algn="l"/>
                <a:tab pos="4343291" algn="l"/>
                <a:tab pos="5067173" algn="l"/>
                <a:tab pos="5791055" algn="l"/>
                <a:tab pos="6514937" algn="l"/>
                <a:tab pos="7238819" algn="l"/>
                <a:tab pos="7962701" algn="l"/>
                <a:tab pos="8686583" algn="l"/>
              </a:tabLst>
            </a:pPr>
            <a:r>
              <a:rPr lang="zh-CN" altLang="en-US" sz="2800" b="1" dirty="0">
                <a:sym typeface="+mn-ea"/>
              </a:rPr>
              <a:t>变量的定义与使用</a:t>
            </a:r>
          </a:p>
          <a:p>
            <a:pPr marL="431789" indent="-323843" defTabSz="449569">
              <a:lnSpc>
                <a:spcPct val="150000"/>
              </a:lnSpc>
              <a:buSzPct val="45000"/>
              <a:buNone/>
              <a:tabLst>
                <a:tab pos="723882" algn="l"/>
                <a:tab pos="1447764" algn="l"/>
                <a:tab pos="2171646" algn="l"/>
                <a:tab pos="2895528" algn="l"/>
                <a:tab pos="3619410" algn="l"/>
                <a:tab pos="4343291" algn="l"/>
                <a:tab pos="5067173" algn="l"/>
                <a:tab pos="5791055" algn="l"/>
                <a:tab pos="6514937" algn="l"/>
                <a:tab pos="7238819" algn="l"/>
                <a:tab pos="7962701" algn="l"/>
                <a:tab pos="8686583" algn="l"/>
              </a:tabLst>
            </a:pPr>
            <a:r>
              <a:rPr lang="en-US" altLang="zh-CN" sz="2800" b="1" dirty="0">
                <a:sym typeface="+mn-ea"/>
              </a:rPr>
              <a:t>    </a:t>
            </a:r>
            <a:r>
              <a:rPr lang="zh-CN" altLang="en-US" sz="2800" b="1" dirty="0">
                <a:sym typeface="+mn-ea"/>
              </a:rPr>
              <a:t>如果结点</a:t>
            </a:r>
            <a:r>
              <a:rPr lang="en-US" altLang="zh-CN" sz="2800" b="1" dirty="0">
                <a:sym typeface="+mn-ea"/>
              </a:rPr>
              <a:t> n </a:t>
            </a:r>
            <a:r>
              <a:rPr lang="zh-CN" altLang="en-US" sz="2800" b="1" dirty="0">
                <a:sym typeface="+mn-ea"/>
              </a:rPr>
              <a:t>处的语句赋值给变量</a:t>
            </a:r>
            <a:r>
              <a:rPr lang="en-US" altLang="zh-CN" sz="2800" b="1" dirty="0">
                <a:sym typeface="+mn-ea"/>
              </a:rPr>
              <a:t>v</a:t>
            </a:r>
            <a:r>
              <a:rPr lang="zh-CN" altLang="en-US" sz="2800" b="1" dirty="0">
                <a:sym typeface="+mn-ea"/>
              </a:rPr>
              <a:t>，则变量</a:t>
            </a:r>
            <a:r>
              <a:rPr lang="en-US" altLang="zh-CN" sz="2800" b="1" dirty="0">
                <a:sym typeface="+mn-ea"/>
              </a:rPr>
              <a:t>v</a:t>
            </a:r>
            <a:r>
              <a:rPr lang="zh-CN" altLang="en-US" sz="2800" b="1" dirty="0">
                <a:sym typeface="+mn-ea"/>
              </a:rPr>
              <a:t>由</a:t>
            </a:r>
            <a:r>
              <a:rPr lang="en-US" altLang="zh-CN" sz="2800" b="1" dirty="0">
                <a:sym typeface="+mn-ea"/>
              </a:rPr>
              <a:t> n </a:t>
            </a:r>
            <a:r>
              <a:rPr lang="zh-CN" altLang="en-US" sz="2800" b="1" dirty="0">
                <a:sym typeface="+mn-ea"/>
              </a:rPr>
              <a:t>定义，如</a:t>
            </a:r>
            <a:r>
              <a:rPr lang="en-US" altLang="zh-CN" sz="2800" b="1" dirty="0">
                <a:sym typeface="+mn-ea"/>
              </a:rPr>
              <a:t>v=…….</a:t>
            </a:r>
            <a:endParaRPr lang="zh-CN" altLang="en-US" sz="2800" b="1" dirty="0">
              <a:sym typeface="+mn-ea"/>
            </a:endParaRPr>
          </a:p>
          <a:p>
            <a:pPr marL="431789" indent="-323843" defTabSz="449569">
              <a:lnSpc>
                <a:spcPct val="150000"/>
              </a:lnSpc>
              <a:buSzPct val="45000"/>
              <a:buNone/>
              <a:tabLst>
                <a:tab pos="723882" algn="l"/>
                <a:tab pos="1447764" algn="l"/>
                <a:tab pos="2171646" algn="l"/>
                <a:tab pos="2895528" algn="l"/>
                <a:tab pos="3619410" algn="l"/>
                <a:tab pos="4343291" algn="l"/>
                <a:tab pos="5067173" algn="l"/>
                <a:tab pos="5791055" algn="l"/>
                <a:tab pos="6514937" algn="l"/>
                <a:tab pos="7238819" algn="l"/>
                <a:tab pos="7962701" algn="l"/>
                <a:tab pos="8686583" algn="l"/>
              </a:tabLst>
            </a:pPr>
            <a:r>
              <a:rPr lang="en-US" altLang="zh-CN" sz="2800" b="1" dirty="0">
                <a:sym typeface="+mn-ea"/>
              </a:rPr>
              <a:t>    </a:t>
            </a:r>
            <a:r>
              <a:rPr lang="zh-CN" altLang="en-US" sz="2800" b="1" dirty="0">
                <a:sym typeface="+mn-ea"/>
              </a:rPr>
              <a:t>如果变量</a:t>
            </a:r>
            <a:r>
              <a:rPr lang="en-US" altLang="zh-CN" sz="2800" b="1" dirty="0">
                <a:sym typeface="+mn-ea"/>
              </a:rPr>
              <a:t>v </a:t>
            </a:r>
            <a:r>
              <a:rPr lang="zh-CN" altLang="en-US" sz="2800" b="1" dirty="0">
                <a:sym typeface="+mn-ea"/>
              </a:rPr>
              <a:t>出现在结点</a:t>
            </a:r>
            <a:r>
              <a:rPr lang="en-US" altLang="zh-CN" sz="2800" b="1" dirty="0">
                <a:sym typeface="+mn-ea"/>
              </a:rPr>
              <a:t> n </a:t>
            </a:r>
            <a:r>
              <a:rPr lang="zh-CN" altLang="en-US" sz="2800" b="1" dirty="0">
                <a:sym typeface="+mn-ea"/>
              </a:rPr>
              <a:t>处的表达式中，即读取</a:t>
            </a:r>
            <a:r>
              <a:rPr lang="en-US" altLang="zh-CN" sz="2800" b="1" dirty="0">
                <a:sym typeface="+mn-ea"/>
              </a:rPr>
              <a:t> v</a:t>
            </a:r>
            <a:r>
              <a:rPr lang="zh-CN" altLang="en-US" sz="2800" b="1" dirty="0">
                <a:sym typeface="+mn-ea"/>
              </a:rPr>
              <a:t>，则</a:t>
            </a:r>
            <a:r>
              <a:rPr lang="en-US" altLang="zh-CN" sz="2800" b="1" dirty="0">
                <a:sym typeface="+mn-ea"/>
              </a:rPr>
              <a:t> n</a:t>
            </a:r>
            <a:r>
              <a:rPr lang="zh-CN" altLang="en-US" sz="2800" b="1" dirty="0">
                <a:sym typeface="+mn-ea"/>
              </a:rPr>
              <a:t>使用变量</a:t>
            </a:r>
            <a:r>
              <a:rPr lang="en-US" altLang="zh-CN" sz="2800" b="1" dirty="0">
                <a:sym typeface="+mn-ea"/>
              </a:rPr>
              <a:t> v</a:t>
            </a:r>
            <a:r>
              <a:rPr lang="zh-CN" altLang="en-US" sz="2800" b="1" dirty="0">
                <a:sym typeface="+mn-ea"/>
              </a:rPr>
              <a:t>，如</a:t>
            </a:r>
            <a:r>
              <a:rPr lang="en-US" altLang="zh-CN" sz="2800" b="1" dirty="0">
                <a:sym typeface="+mn-ea"/>
              </a:rPr>
              <a:t>x=v op u</a:t>
            </a:r>
            <a:endParaRPr lang="zh-CN" altLang="en-US" sz="2800" b="1" dirty="0">
              <a:sym typeface="+mn-ea"/>
            </a:endParaRPr>
          </a:p>
          <a:p>
            <a:pPr marL="431789" indent="-323843" defTabSz="449569">
              <a:lnSpc>
                <a:spcPct val="150000"/>
              </a:lnSpc>
              <a:buSzPct val="45000"/>
              <a:buNone/>
              <a:tabLst>
                <a:tab pos="723882" algn="l"/>
                <a:tab pos="1447764" algn="l"/>
                <a:tab pos="2171646" algn="l"/>
                <a:tab pos="2895528" algn="l"/>
                <a:tab pos="3619410" algn="l"/>
                <a:tab pos="4343291" algn="l"/>
                <a:tab pos="5067173" algn="l"/>
                <a:tab pos="5791055" algn="l"/>
                <a:tab pos="6514937" algn="l"/>
                <a:tab pos="7238819" algn="l"/>
                <a:tab pos="7962701" algn="l"/>
                <a:tab pos="8686583" algn="l"/>
              </a:tabLst>
            </a:pPr>
            <a:r>
              <a:rPr lang="en-US" altLang="zh-CN" sz="2800" b="1" dirty="0">
                <a:latin typeface="Times New Roman" panose="02060603050605020204" pitchFamily="18" charset="0"/>
                <a:cs typeface="Times New Roman" panose="02060603050605020204" pitchFamily="18" charset="0"/>
                <a:sym typeface="+mn-ea"/>
              </a:rPr>
              <a:t>def[n]</a:t>
            </a:r>
            <a:r>
              <a:rPr lang="zh-CN" altLang="en-US" sz="2800" b="1" dirty="0">
                <a:sym typeface="+mn-ea"/>
              </a:rPr>
              <a:t>：结点</a:t>
            </a:r>
            <a:r>
              <a:rPr lang="en-US" altLang="zh-CN" sz="2800" b="1" dirty="0">
                <a:sym typeface="+mn-ea"/>
              </a:rPr>
              <a:t> n </a:t>
            </a:r>
            <a:r>
              <a:rPr lang="zh-CN" altLang="en-US" sz="2800" b="1" dirty="0">
                <a:sym typeface="+mn-ea"/>
              </a:rPr>
              <a:t>所定义变量的集合</a:t>
            </a:r>
          </a:p>
          <a:p>
            <a:pPr marL="431789" indent="-323843" defTabSz="449569">
              <a:lnSpc>
                <a:spcPct val="150000"/>
              </a:lnSpc>
              <a:buSzPct val="45000"/>
              <a:buNone/>
              <a:tabLst>
                <a:tab pos="723882" algn="l"/>
                <a:tab pos="1447764" algn="l"/>
                <a:tab pos="2171646" algn="l"/>
                <a:tab pos="2895528" algn="l"/>
                <a:tab pos="3619410" algn="l"/>
                <a:tab pos="4343291" algn="l"/>
                <a:tab pos="5067173" algn="l"/>
                <a:tab pos="5791055" algn="l"/>
                <a:tab pos="6514937" algn="l"/>
                <a:tab pos="7238819" algn="l"/>
                <a:tab pos="7962701" algn="l"/>
                <a:tab pos="8686583" algn="l"/>
              </a:tabLst>
            </a:pPr>
            <a:r>
              <a:rPr lang="en-US" altLang="zh-CN" sz="2800" b="1" dirty="0">
                <a:latin typeface="Times New Roman" panose="02060603050605020204" pitchFamily="18" charset="0"/>
                <a:cs typeface="Times New Roman" panose="02060603050605020204" pitchFamily="18" charset="0"/>
                <a:sym typeface="+mn-ea"/>
              </a:rPr>
              <a:t>use[n]</a:t>
            </a:r>
            <a:r>
              <a:rPr lang="zh-CN" altLang="en-US" sz="2800" b="1" dirty="0">
                <a:latin typeface="Times New Roman" panose="02060603050605020204" pitchFamily="18" charset="0"/>
                <a:cs typeface="Times New Roman" panose="02060603050605020204" pitchFamily="18" charset="0"/>
                <a:sym typeface="+mn-ea"/>
              </a:rPr>
              <a:t>：</a:t>
            </a:r>
            <a:r>
              <a:rPr lang="zh-CN" altLang="en-US" sz="2800" b="1" dirty="0">
                <a:sym typeface="+mn-ea"/>
              </a:rPr>
              <a:t>结点</a:t>
            </a:r>
            <a:r>
              <a:rPr lang="en-US" altLang="zh-CN" sz="2800" b="1" dirty="0">
                <a:sym typeface="+mn-ea"/>
              </a:rPr>
              <a:t> n </a:t>
            </a:r>
            <a:r>
              <a:rPr lang="zh-CN" altLang="en-US" sz="2800" b="1" dirty="0">
                <a:sym typeface="+mn-ea"/>
              </a:rPr>
              <a:t>所使用变量的</a:t>
            </a:r>
            <a:r>
              <a:rPr lang="zh-CN" altLang="en-US" sz="2800" b="1" dirty="0" smtClean="0">
                <a:sym typeface="+mn-ea"/>
              </a:rPr>
              <a:t>集合</a:t>
            </a:r>
            <a:endParaRPr lang="en-US" altLang="zh-CN" sz="2800" b="1" dirty="0" smtClean="0">
              <a:sym typeface="+mn-ea"/>
            </a:endParaRPr>
          </a:p>
          <a:p>
            <a:r>
              <a:rPr lang="zh-CN" altLang="en-US" sz="2800" b="1" smtClean="0">
                <a:solidFill>
                  <a:srgbClr val="FF0000"/>
                </a:solidFill>
              </a:rPr>
              <a:t>在当前节点中，被</a:t>
            </a:r>
            <a:r>
              <a:rPr lang="zh-CN" altLang="en-US" sz="2800" b="1" dirty="0">
                <a:solidFill>
                  <a:srgbClr val="FF0000"/>
                </a:solidFill>
              </a:rPr>
              <a:t>使用的变量一定是活的</a:t>
            </a:r>
            <a:endParaRPr lang="en-US" altLang="zh-CN" sz="2800" b="1" dirty="0">
              <a:solidFill>
                <a:srgbClr val="FF0000"/>
              </a:solidFill>
            </a:endParaRPr>
          </a:p>
          <a:p>
            <a:r>
              <a:rPr lang="zh-CN" altLang="en-US" sz="2800" b="1" dirty="0">
                <a:solidFill>
                  <a:srgbClr val="FF0000"/>
                </a:solidFill>
              </a:rPr>
              <a:t>被定义的变量当前肯定是活的，但是后续是否是活的要看后续指令是否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使用</a:t>
            </a:r>
            <a:endParaRPr lang="zh-CN" altLang="en-US" sz="2800" b="1" dirty="0">
              <a:solidFill>
                <a:srgbClr val="FF0000"/>
              </a:solidFill>
            </a:endParaRPr>
          </a:p>
          <a:p>
            <a:pPr marL="431789" indent="-323843" defTabSz="449569">
              <a:lnSpc>
                <a:spcPct val="150000"/>
              </a:lnSpc>
              <a:buSzPct val="45000"/>
              <a:buNone/>
              <a:tabLst>
                <a:tab pos="723882" algn="l"/>
                <a:tab pos="1447764" algn="l"/>
                <a:tab pos="2171646" algn="l"/>
                <a:tab pos="2895528" algn="l"/>
                <a:tab pos="3619410" algn="l"/>
                <a:tab pos="4343291" algn="l"/>
                <a:tab pos="5067173" algn="l"/>
                <a:tab pos="5791055" algn="l"/>
                <a:tab pos="6514937" algn="l"/>
                <a:tab pos="7238819" algn="l"/>
                <a:tab pos="7962701" algn="l"/>
                <a:tab pos="8686583" algn="l"/>
              </a:tabLst>
            </a:pPr>
            <a:endParaRPr lang="zh-CN" altLang="en-US" sz="2800" b="1"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17</a:t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b="1" dirty="0">
                <a:latin typeface="楷体_GB2312" panose="02010609030101010101" charset="-122"/>
                <a:ea typeface="楷体_GB2312" panose="02010609030101010101" charset="-122"/>
                <a:sym typeface="+mn-ea"/>
              </a:rPr>
              <a:t>相关概念与定义</a:t>
            </a:r>
          </a:p>
        </p:txBody>
      </p:sp>
      <p:sp>
        <p:nvSpPr>
          <p:cNvPr id="6" name="文本占位符 5"/>
          <p:cNvSpPr>
            <a:spLocks noGrp="1"/>
          </p:cNvSpPr>
          <p:nvPr>
            <p:ph type="body" idx="4294967295"/>
          </p:nvPr>
        </p:nvSpPr>
        <p:spPr>
          <a:xfrm>
            <a:off x="127636" y="1388112"/>
            <a:ext cx="11997691" cy="5091431"/>
          </a:xfrm>
        </p:spPr>
        <p:txBody>
          <a:bodyPr>
            <a:normAutofit/>
          </a:bodyPr>
          <a:lstStyle/>
          <a:p>
            <a:pPr marL="431789" indent="-323843" defTabSz="449569">
              <a:lnSpc>
                <a:spcPct val="150000"/>
              </a:lnSpc>
              <a:buSzPct val="45000"/>
              <a:buNone/>
              <a:tabLst>
                <a:tab pos="723882" algn="l"/>
                <a:tab pos="1447764" algn="l"/>
                <a:tab pos="2171646" algn="l"/>
                <a:tab pos="2895528" algn="l"/>
                <a:tab pos="3619410" algn="l"/>
                <a:tab pos="4343291" algn="l"/>
                <a:tab pos="5067173" algn="l"/>
                <a:tab pos="5791055" algn="l"/>
                <a:tab pos="6514937" algn="l"/>
                <a:tab pos="7238819" algn="l"/>
                <a:tab pos="7962701" algn="l"/>
                <a:tab pos="8686583" algn="l"/>
              </a:tabLst>
            </a:pPr>
            <a:r>
              <a:rPr lang="en-US" altLang="zh-CN" sz="2800" b="1" dirty="0">
                <a:latin typeface="Times New Roman" panose="02060603050605020204" pitchFamily="18" charset="0"/>
                <a:cs typeface="Times New Roman" panose="02060603050605020204" pitchFamily="18" charset="0"/>
                <a:sym typeface="+mn-ea"/>
              </a:rPr>
              <a:t>DEF-USE</a:t>
            </a:r>
            <a:endParaRPr lang="zh-CN" altLang="en-US" sz="2800" b="1" dirty="0">
              <a:sym typeface="+mn-ea"/>
            </a:endParaRPr>
          </a:p>
          <a:p>
            <a:pPr marL="431789" indent="-323843" defTabSz="449569">
              <a:lnSpc>
                <a:spcPct val="150000"/>
              </a:lnSpc>
              <a:buSzPct val="45000"/>
              <a:buNone/>
              <a:tabLst>
                <a:tab pos="723882" algn="l"/>
                <a:tab pos="1447764" algn="l"/>
                <a:tab pos="2171646" algn="l"/>
                <a:tab pos="2895528" algn="l"/>
                <a:tab pos="3619410" algn="l"/>
                <a:tab pos="4343291" algn="l"/>
                <a:tab pos="5067173" algn="l"/>
                <a:tab pos="5791055" algn="l"/>
                <a:tab pos="6514937" algn="l"/>
                <a:tab pos="7238819" algn="l"/>
                <a:tab pos="7962701" algn="l"/>
                <a:tab pos="8686583" algn="l"/>
              </a:tabLst>
            </a:pPr>
            <a:endParaRPr lang="zh-CN" altLang="en-US" sz="2800" b="1" dirty="0">
              <a:sym typeface="+mn-ea"/>
            </a:endParaRPr>
          </a:p>
          <a:p>
            <a:pPr marL="431789" indent="-323843" defTabSz="449569">
              <a:lnSpc>
                <a:spcPct val="150000"/>
              </a:lnSpc>
              <a:buSzPct val="45000"/>
              <a:buNone/>
              <a:tabLst>
                <a:tab pos="723882" algn="l"/>
                <a:tab pos="1447764" algn="l"/>
                <a:tab pos="2171646" algn="l"/>
                <a:tab pos="2895528" algn="l"/>
                <a:tab pos="3619410" algn="l"/>
                <a:tab pos="4343291" algn="l"/>
                <a:tab pos="5067173" algn="l"/>
                <a:tab pos="5791055" algn="l"/>
                <a:tab pos="6514937" algn="l"/>
                <a:tab pos="7238819" algn="l"/>
                <a:tab pos="7962701" algn="l"/>
                <a:tab pos="8686583" algn="l"/>
              </a:tabLst>
            </a:pPr>
            <a:endParaRPr lang="zh-CN" altLang="en-US" sz="2800" b="1"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18</a:t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graphicFrame>
        <p:nvGraphicFramePr>
          <p:cNvPr id="3" name="表格 2"/>
          <p:cNvGraphicFramePr/>
          <p:nvPr/>
        </p:nvGraphicFramePr>
        <p:xfrm>
          <a:off x="2929893" y="1900558"/>
          <a:ext cx="5842636" cy="34893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121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253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36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61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847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/>
                        <a:t>def[n]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/>
                        <a:t>use[n]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847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400"/>
                        <a:t>a ←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/>
                        <a:t>{a}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/>
                        <a:t>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84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400"/>
                        <a:t>L1: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400"/>
                        <a:t>b ← a + 1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/>
                        <a:t>{</a:t>
                      </a:r>
                      <a:r>
                        <a:rPr lang="en-US" altLang="en-US" sz="2400"/>
                        <a:t>b</a:t>
                      </a:r>
                      <a:r>
                        <a:rPr lang="en-US" altLang="zh-CN" sz="240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/>
                        <a:t>{</a:t>
                      </a:r>
                      <a:r>
                        <a:rPr lang="en-US" altLang="en-US" sz="2400"/>
                        <a:t>a</a:t>
                      </a:r>
                      <a:r>
                        <a:rPr lang="en-US" altLang="zh-CN" sz="2400"/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847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400"/>
                        <a:t>c ← c +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/>
                        <a:t>{</a:t>
                      </a:r>
                      <a:r>
                        <a:rPr lang="en-US" altLang="en-US" sz="2400"/>
                        <a:t>c</a:t>
                      </a:r>
                      <a:r>
                        <a:rPr lang="en-US" altLang="zh-CN" sz="240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/>
                        <a:t>{</a:t>
                      </a:r>
                      <a:r>
                        <a:rPr lang="en-US" altLang="en-US" sz="2400"/>
                        <a:t>b,c</a:t>
                      </a:r>
                      <a:r>
                        <a:rPr lang="en-US" altLang="zh-CN" sz="2400"/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847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400"/>
                        <a:t>a ← b ×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/>
                        <a:t>{a}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/>
                        <a:t>{b}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847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400"/>
                        <a:t>if a &lt; N goto L1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/>
                        <a:t>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/>
                        <a:t>{a}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847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400"/>
                        <a:t>return 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/>
                        <a:t>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/>
                        <a:t>{</a:t>
                      </a:r>
                      <a:r>
                        <a:rPr lang="en-US" altLang="en-US" sz="2400"/>
                        <a:t>c</a:t>
                      </a:r>
                      <a:r>
                        <a:rPr lang="en-US" altLang="zh-CN" sz="2400"/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b="1" dirty="0">
                <a:latin typeface="楷体_GB2312" panose="02010609030101010101" charset="-122"/>
                <a:ea typeface="楷体_GB2312" panose="02010609030101010101" charset="-122"/>
                <a:sym typeface="+mn-ea"/>
              </a:rPr>
              <a:t>相关概念与定义</a:t>
            </a:r>
          </a:p>
        </p:txBody>
      </p:sp>
      <p:sp>
        <p:nvSpPr>
          <p:cNvPr id="6" name="文本占位符 5"/>
          <p:cNvSpPr>
            <a:spLocks noGrp="1"/>
          </p:cNvSpPr>
          <p:nvPr>
            <p:ph type="body" idx="4294967295"/>
          </p:nvPr>
        </p:nvSpPr>
        <p:spPr>
          <a:xfrm>
            <a:off x="127636" y="1388112"/>
            <a:ext cx="11997691" cy="5091431"/>
          </a:xfrm>
        </p:spPr>
        <p:txBody>
          <a:bodyPr>
            <a:normAutofit fontScale="92500" lnSpcReduction="20000"/>
          </a:bodyPr>
          <a:lstStyle/>
          <a:p>
            <a:pPr marL="431789" indent="-323843" defTabSz="449569">
              <a:lnSpc>
                <a:spcPct val="120000"/>
              </a:lnSpc>
              <a:buSzPct val="45000"/>
              <a:buNone/>
              <a:tabLst>
                <a:tab pos="723882" algn="l"/>
                <a:tab pos="1447764" algn="l"/>
                <a:tab pos="2171646" algn="l"/>
                <a:tab pos="2895528" algn="l"/>
                <a:tab pos="3619410" algn="l"/>
                <a:tab pos="4343291" algn="l"/>
                <a:tab pos="5067173" algn="l"/>
                <a:tab pos="5791055" algn="l"/>
                <a:tab pos="6514937" algn="l"/>
                <a:tab pos="7238819" algn="l"/>
                <a:tab pos="7962701" algn="l"/>
                <a:tab pos="8686583" algn="l"/>
              </a:tabLst>
            </a:pPr>
            <a:r>
              <a:rPr lang="zh-CN" altLang="en-US" sz="2800" b="1" dirty="0">
                <a:latin typeface="Times New Roman" panose="02060603050605020204" pitchFamily="18" charset="0"/>
                <a:cs typeface="Times New Roman" panose="02060603050605020204" pitchFamily="18" charset="0"/>
                <a:sym typeface="+mn-ea"/>
              </a:rPr>
              <a:t>变量是“活的”定义</a:t>
            </a:r>
          </a:p>
          <a:p>
            <a:pPr marL="431789" indent="-323843" defTabSz="449569">
              <a:lnSpc>
                <a:spcPct val="120000"/>
              </a:lnSpc>
              <a:buSzPct val="45000"/>
              <a:buNone/>
              <a:tabLst>
                <a:tab pos="723882" algn="l"/>
                <a:tab pos="1447764" algn="l"/>
                <a:tab pos="2171646" algn="l"/>
                <a:tab pos="2895528" algn="l"/>
                <a:tab pos="3619410" algn="l"/>
                <a:tab pos="4343291" algn="l"/>
                <a:tab pos="5067173" algn="l"/>
                <a:tab pos="5791055" algn="l"/>
                <a:tab pos="6514937" algn="l"/>
                <a:tab pos="7238819" algn="l"/>
                <a:tab pos="7962701" algn="l"/>
                <a:tab pos="8686583" algn="l"/>
              </a:tabLst>
            </a:pPr>
            <a:r>
              <a:rPr lang="en-US" altLang="zh-CN" sz="2800" b="1" dirty="0">
                <a:sym typeface="+mn-ea"/>
              </a:rPr>
              <a:t>    变量 v 在边 e 上是“活的”</a:t>
            </a:r>
            <a:r>
              <a:rPr lang="zh-CN" altLang="en-US" sz="2800" b="1" dirty="0">
                <a:sym typeface="+mn-ea"/>
              </a:rPr>
              <a:t>（</a:t>
            </a:r>
            <a:r>
              <a:rPr lang="en-US" altLang="zh-CN" sz="2800" b="1" dirty="0">
                <a:sym typeface="+mn-ea"/>
              </a:rPr>
              <a:t>live</a:t>
            </a:r>
            <a:r>
              <a:rPr lang="zh-CN" altLang="en-US" sz="2800" b="1" dirty="0">
                <a:sym typeface="+mn-ea"/>
              </a:rPr>
              <a:t>）：</a:t>
            </a:r>
            <a:endParaRPr lang="en-US" altLang="zh-CN" sz="2800" b="1" dirty="0">
              <a:sym typeface="+mn-ea"/>
            </a:endParaRPr>
          </a:p>
          <a:p>
            <a:pPr marL="431789" indent="-323843" defTabSz="449569">
              <a:lnSpc>
                <a:spcPct val="120000"/>
              </a:lnSpc>
              <a:buSzPct val="45000"/>
              <a:buNone/>
              <a:tabLst>
                <a:tab pos="723882" algn="l"/>
                <a:tab pos="1447764" algn="l"/>
                <a:tab pos="2171646" algn="l"/>
                <a:tab pos="2895528" algn="l"/>
                <a:tab pos="3619410" algn="l"/>
                <a:tab pos="4343291" algn="l"/>
                <a:tab pos="5067173" algn="l"/>
                <a:tab pos="5791055" algn="l"/>
                <a:tab pos="6514937" algn="l"/>
                <a:tab pos="7238819" algn="l"/>
                <a:tab pos="7962701" algn="l"/>
                <a:tab pos="8686583" algn="l"/>
              </a:tabLst>
            </a:pPr>
            <a:r>
              <a:rPr lang="en-US" altLang="zh-CN" sz="2800" b="1" dirty="0">
                <a:sym typeface="+mn-ea"/>
              </a:rPr>
              <a:t>        如果从 e 到使用 v 的执行路径不经过 v 的任何定义</a:t>
            </a:r>
          </a:p>
          <a:p>
            <a:pPr marL="431789" indent="-323843" defTabSz="449569">
              <a:lnSpc>
                <a:spcPct val="120000"/>
              </a:lnSpc>
              <a:buSzPct val="45000"/>
              <a:buNone/>
              <a:tabLst>
                <a:tab pos="723882" algn="l"/>
                <a:tab pos="1447764" algn="l"/>
                <a:tab pos="2171646" algn="l"/>
                <a:tab pos="2895528" algn="l"/>
                <a:tab pos="3619410" algn="l"/>
                <a:tab pos="4343291" algn="l"/>
                <a:tab pos="5067173" algn="l"/>
                <a:tab pos="5791055" algn="l"/>
                <a:tab pos="6514937" algn="l"/>
                <a:tab pos="7238819" algn="l"/>
                <a:tab pos="7962701" algn="l"/>
                <a:tab pos="8686583" algn="l"/>
              </a:tabLst>
            </a:pPr>
            <a:r>
              <a:rPr lang="zh-CN" altLang="en-US" sz="2800" b="1" dirty="0">
                <a:sym typeface="+mn-ea"/>
              </a:rPr>
              <a:t>变量在结点</a:t>
            </a:r>
            <a:r>
              <a:rPr sz="2800" b="1" dirty="0">
                <a:sym typeface="+mn-ea"/>
              </a:rPr>
              <a:t> n</a:t>
            </a:r>
            <a:r>
              <a:rPr lang="en-US" sz="2800" b="1" dirty="0">
                <a:sym typeface="+mn-ea"/>
              </a:rPr>
              <a:t> </a:t>
            </a:r>
            <a:r>
              <a:rPr lang="zh-CN" altLang="en-US" sz="2800" b="1" dirty="0">
                <a:sym typeface="+mn-ea"/>
              </a:rPr>
              <a:t>处的“活跃”性</a:t>
            </a:r>
          </a:p>
          <a:p>
            <a:pPr marL="431789" indent="-323843" defTabSz="449569">
              <a:lnSpc>
                <a:spcPct val="120000"/>
              </a:lnSpc>
              <a:buSzPct val="45000"/>
              <a:buNone/>
              <a:tabLst>
                <a:tab pos="723882" algn="l"/>
                <a:tab pos="1447764" algn="l"/>
                <a:tab pos="2171646" algn="l"/>
                <a:tab pos="2895528" algn="l"/>
                <a:tab pos="3619410" algn="l"/>
                <a:tab pos="4343291" algn="l"/>
                <a:tab pos="5067173" algn="l"/>
                <a:tab pos="5791055" algn="l"/>
                <a:tab pos="6514937" algn="l"/>
                <a:tab pos="7238819" algn="l"/>
                <a:tab pos="7962701" algn="l"/>
                <a:tab pos="8686583" algn="l"/>
              </a:tabLst>
            </a:pPr>
            <a:r>
              <a:rPr lang="zh-CN" altLang="en-US" sz="2800" b="1" dirty="0">
                <a:sym typeface="+mn-ea"/>
              </a:rPr>
              <a:t> </a:t>
            </a:r>
            <a:r>
              <a:rPr lang="en-US" altLang="zh-CN" sz="2800" b="1" dirty="0">
                <a:sym typeface="+mn-ea"/>
              </a:rPr>
              <a:t>  </a:t>
            </a:r>
            <a:r>
              <a:rPr lang="en-US" altLang="en-US" sz="2800" b="1" dirty="0" err="1" smtClean="0">
                <a:sym typeface="+mn-ea"/>
              </a:rPr>
              <a:t>如果变量</a:t>
            </a:r>
            <a:r>
              <a:rPr lang="en-US" altLang="en-US" sz="2800" b="1" dirty="0" smtClean="0">
                <a:sym typeface="+mn-ea"/>
              </a:rPr>
              <a:t> </a:t>
            </a:r>
            <a:r>
              <a:rPr lang="en-US" altLang="en-US" sz="2800" b="1" dirty="0">
                <a:sym typeface="+mn-ea"/>
              </a:rPr>
              <a:t>v 在结点 n 的任</a:t>
            </a:r>
            <a:r>
              <a:rPr lang="zh-CN" altLang="en-US" sz="2800" b="1" dirty="0">
                <a:sym typeface="+mn-ea"/>
              </a:rPr>
              <a:t>一</a:t>
            </a:r>
            <a:r>
              <a:rPr lang="en-US" altLang="en-US" sz="2800" b="1" dirty="0">
                <a:solidFill>
                  <a:srgbClr val="FF0000"/>
                </a:solidFill>
                <a:sym typeface="+mn-ea"/>
              </a:rPr>
              <a:t>入边</a:t>
            </a:r>
            <a:r>
              <a:rPr lang="en-US" altLang="en-US" sz="2800" b="1" dirty="0">
                <a:sym typeface="+mn-ea"/>
              </a:rPr>
              <a:t>上，则</a:t>
            </a:r>
            <a:r>
              <a:rPr lang="zh-CN" altLang="en-US" sz="2800" b="1" dirty="0">
                <a:sym typeface="+mn-ea"/>
              </a:rPr>
              <a:t>称</a:t>
            </a:r>
            <a:r>
              <a:rPr lang="en-US" altLang="en-US" sz="2800" b="1" dirty="0">
                <a:sym typeface="+mn-ea"/>
              </a:rPr>
              <a:t> </a:t>
            </a:r>
            <a:r>
              <a:rPr lang="en-US" altLang="en-US" sz="2800" b="1" dirty="0">
                <a:latin typeface="Times New Roman" panose="02060603050605020204" pitchFamily="18" charset="0"/>
                <a:cs typeface="Times New Roman" panose="02060603050605020204" pitchFamily="18" charset="0"/>
                <a:sym typeface="+mn-ea"/>
              </a:rPr>
              <a:t>v </a:t>
            </a:r>
            <a:r>
              <a:rPr lang="en-US" altLang="en-US" sz="2800" b="1" i="1" dirty="0">
                <a:solidFill>
                  <a:srgbClr val="FF0000"/>
                </a:solidFill>
                <a:latin typeface="Times New Roman" panose="02060603050605020204" pitchFamily="18" charset="0"/>
                <a:cs typeface="Times New Roman" panose="02060603050605020204" pitchFamily="18" charset="0"/>
                <a:sym typeface="+mn-ea"/>
              </a:rPr>
              <a:t>live-in</a:t>
            </a:r>
            <a:r>
              <a:rPr lang="en-US" altLang="en-US" sz="2800" b="1" dirty="0">
                <a:latin typeface="Times New Roman" panose="02060603050605020204" pitchFamily="18" charset="0"/>
                <a:cs typeface="Times New Roman" panose="02060603050605020204" pitchFamily="18" charset="0"/>
                <a:sym typeface="+mn-ea"/>
              </a:rPr>
              <a:t> at </a:t>
            </a:r>
            <a:r>
              <a:rPr lang="en-US" altLang="en-US" sz="2800" b="1" dirty="0" smtClean="0">
                <a:latin typeface="Times New Roman" panose="02060603050605020204" pitchFamily="18" charset="0"/>
                <a:cs typeface="Times New Roman" panose="02060603050605020204" pitchFamily="18" charset="0"/>
                <a:sym typeface="+mn-ea"/>
              </a:rPr>
              <a:t>n</a:t>
            </a:r>
            <a:r>
              <a:rPr lang="zh-CN" altLang="en-US" sz="2800" b="1" dirty="0" smtClean="0">
                <a:latin typeface="Times New Roman" panose="02060603050605020204" pitchFamily="18" charset="0"/>
                <a:cs typeface="Times New Roman" panose="02060603050605020204" pitchFamily="18" charset="0"/>
                <a:sym typeface="+mn-ea"/>
              </a:rPr>
              <a:t>，即变量</a:t>
            </a:r>
            <a:r>
              <a:rPr lang="en-US" altLang="zh-CN" sz="2800" b="1" dirty="0" smtClean="0">
                <a:latin typeface="Times New Roman" panose="02060603050605020204" pitchFamily="18" charset="0"/>
                <a:cs typeface="Times New Roman" panose="02060603050605020204" pitchFamily="18" charset="0"/>
                <a:sym typeface="+mn-ea"/>
              </a:rPr>
              <a:t>v</a:t>
            </a:r>
            <a:r>
              <a:rPr lang="zh-CN" altLang="en-US" sz="2800" b="1" dirty="0" smtClean="0">
                <a:latin typeface="Times New Roman" panose="02060603050605020204" pitchFamily="18" charset="0"/>
                <a:cs typeface="Times New Roman" panose="02060603050605020204" pitchFamily="18" charset="0"/>
                <a:sym typeface="+mn-ea"/>
              </a:rPr>
              <a:t>在节点</a:t>
            </a:r>
            <a:r>
              <a:rPr lang="en-US" altLang="zh-CN" sz="2800" b="1" dirty="0" smtClean="0">
                <a:latin typeface="Times New Roman" panose="02060603050605020204" pitchFamily="18" charset="0"/>
                <a:cs typeface="Times New Roman" panose="02060603050605020204" pitchFamily="18" charset="0"/>
                <a:sym typeface="+mn-ea"/>
              </a:rPr>
              <a:t>n</a:t>
            </a:r>
            <a:r>
              <a:rPr lang="zh-CN" altLang="en-US" sz="2800" b="1" dirty="0" smtClean="0">
                <a:latin typeface="Times New Roman" panose="02060603050605020204" pitchFamily="18" charset="0"/>
                <a:cs typeface="Times New Roman" panose="02060603050605020204" pitchFamily="18" charset="0"/>
                <a:sym typeface="+mn-ea"/>
              </a:rPr>
              <a:t>入边是活跃的</a:t>
            </a:r>
            <a:endParaRPr lang="en-US" altLang="en-US" sz="2800" b="1" dirty="0">
              <a:sym typeface="+mn-ea"/>
            </a:endParaRPr>
          </a:p>
          <a:p>
            <a:pPr marL="431789" indent="-323843" defTabSz="449569">
              <a:lnSpc>
                <a:spcPct val="120000"/>
              </a:lnSpc>
              <a:buSzPct val="45000"/>
              <a:buNone/>
              <a:tabLst>
                <a:tab pos="723882" algn="l"/>
                <a:tab pos="1447764" algn="l"/>
                <a:tab pos="2171646" algn="l"/>
                <a:tab pos="2895528" algn="l"/>
                <a:tab pos="3619410" algn="l"/>
                <a:tab pos="4343291" algn="l"/>
                <a:tab pos="5067173" algn="l"/>
                <a:tab pos="5791055" algn="l"/>
                <a:tab pos="6514937" algn="l"/>
                <a:tab pos="7238819" algn="l"/>
                <a:tab pos="7962701" algn="l"/>
                <a:tab pos="8686583" algn="l"/>
              </a:tabLst>
            </a:pPr>
            <a:r>
              <a:rPr lang="en-US" altLang="en-US" sz="2800" b="1" dirty="0">
                <a:sym typeface="+mn-ea"/>
              </a:rPr>
              <a:t>        </a:t>
            </a:r>
            <a:r>
              <a:rPr lang="en-US" altLang="en-US" sz="2800" b="1" dirty="0">
                <a:solidFill>
                  <a:srgbClr val="FF0000"/>
                </a:solidFill>
                <a:latin typeface="Times New Roman" panose="02060603050605020204" pitchFamily="18" charset="0"/>
                <a:cs typeface="Times New Roman" panose="02060603050605020204" pitchFamily="18" charset="0"/>
                <a:sym typeface="+mn-ea"/>
              </a:rPr>
              <a:t>in[n]</a:t>
            </a:r>
            <a:r>
              <a:rPr lang="en-US" altLang="en-US" sz="2800" b="1" dirty="0">
                <a:sym typeface="+mn-ea"/>
              </a:rPr>
              <a:t> 表示集合 </a:t>
            </a:r>
            <a:r>
              <a:rPr lang="en-US" altLang="en-US" sz="2800" b="1" dirty="0">
                <a:latin typeface="Times New Roman" panose="02060603050605020204" pitchFamily="18" charset="0"/>
                <a:cs typeface="Times New Roman" panose="02060603050605020204" pitchFamily="18" charset="0"/>
                <a:sym typeface="+mn-ea"/>
              </a:rPr>
              <a:t>{v| v </a:t>
            </a:r>
            <a:r>
              <a:rPr lang="en-US" altLang="en-US" sz="2800" b="1" i="1" dirty="0">
                <a:solidFill>
                  <a:srgbClr val="FF0000"/>
                </a:solidFill>
                <a:latin typeface="Times New Roman" panose="02060603050605020204" pitchFamily="18" charset="0"/>
                <a:cs typeface="Times New Roman" panose="02060603050605020204" pitchFamily="18" charset="0"/>
                <a:sym typeface="+mn-ea"/>
              </a:rPr>
              <a:t>live-in</a:t>
            </a:r>
            <a:r>
              <a:rPr lang="en-US" altLang="en-US" sz="2800" b="1" dirty="0">
                <a:latin typeface="Times New Roman" panose="02060603050605020204" pitchFamily="18" charset="0"/>
                <a:cs typeface="Times New Roman" panose="02060603050605020204" pitchFamily="18" charset="0"/>
                <a:sym typeface="+mn-ea"/>
              </a:rPr>
              <a:t> n}</a:t>
            </a:r>
            <a:endParaRPr lang="en-US" altLang="en-US" sz="2800" b="1" dirty="0">
              <a:sym typeface="+mn-ea"/>
            </a:endParaRPr>
          </a:p>
          <a:p>
            <a:pPr marL="431789" indent="-323843" defTabSz="449569">
              <a:lnSpc>
                <a:spcPct val="120000"/>
              </a:lnSpc>
              <a:buSzPct val="45000"/>
              <a:buNone/>
              <a:tabLst>
                <a:tab pos="723882" algn="l"/>
                <a:tab pos="1447764" algn="l"/>
                <a:tab pos="2171646" algn="l"/>
                <a:tab pos="2895528" algn="l"/>
                <a:tab pos="3619410" algn="l"/>
                <a:tab pos="4343291" algn="l"/>
                <a:tab pos="5067173" algn="l"/>
                <a:tab pos="5791055" algn="l"/>
                <a:tab pos="6514937" algn="l"/>
                <a:tab pos="7238819" algn="l"/>
                <a:tab pos="7962701" algn="l"/>
                <a:tab pos="8686583" algn="l"/>
              </a:tabLst>
            </a:pPr>
            <a:r>
              <a:rPr lang="en-US" altLang="zh-CN" sz="2800" b="1" dirty="0">
                <a:sym typeface="+mn-ea"/>
              </a:rPr>
              <a:t>   </a:t>
            </a:r>
            <a:r>
              <a:rPr lang="en-US" altLang="en-US" sz="2800" b="1" dirty="0" err="1" smtClean="0">
                <a:sym typeface="+mn-ea"/>
              </a:rPr>
              <a:t>如果变量</a:t>
            </a:r>
            <a:r>
              <a:rPr lang="en-US" altLang="en-US" sz="2800" b="1" dirty="0" smtClean="0">
                <a:sym typeface="+mn-ea"/>
              </a:rPr>
              <a:t> </a:t>
            </a:r>
            <a:r>
              <a:rPr lang="en-US" altLang="en-US" sz="2800" b="1" dirty="0">
                <a:sym typeface="+mn-ea"/>
              </a:rPr>
              <a:t>v 在结点 n 的任</a:t>
            </a:r>
            <a:r>
              <a:rPr lang="zh-CN" altLang="en-US" sz="2800" b="1" dirty="0">
                <a:sym typeface="+mn-ea"/>
              </a:rPr>
              <a:t>一</a:t>
            </a:r>
            <a:r>
              <a:rPr lang="zh-CN" altLang="en-US" sz="2800" b="1" dirty="0">
                <a:solidFill>
                  <a:srgbClr val="FF0000"/>
                </a:solidFill>
                <a:sym typeface="+mn-ea"/>
              </a:rPr>
              <a:t>出</a:t>
            </a:r>
            <a:r>
              <a:rPr lang="en-US" altLang="en-US" sz="2800" b="1" dirty="0">
                <a:solidFill>
                  <a:srgbClr val="FF0000"/>
                </a:solidFill>
                <a:sym typeface="+mn-ea"/>
              </a:rPr>
              <a:t>边</a:t>
            </a:r>
            <a:r>
              <a:rPr lang="en-US" altLang="en-US" sz="2800" b="1" dirty="0">
                <a:sym typeface="+mn-ea"/>
              </a:rPr>
              <a:t>上，则</a:t>
            </a:r>
            <a:r>
              <a:rPr lang="zh-CN" altLang="en-US" sz="2800" b="1" dirty="0">
                <a:sym typeface="+mn-ea"/>
              </a:rPr>
              <a:t>称</a:t>
            </a:r>
            <a:r>
              <a:rPr lang="en-US" altLang="en-US" sz="2800" b="1" dirty="0">
                <a:sym typeface="+mn-ea"/>
              </a:rPr>
              <a:t> </a:t>
            </a:r>
            <a:r>
              <a:rPr lang="en-US" altLang="en-US" sz="2800" b="1" dirty="0">
                <a:latin typeface="Times New Roman" panose="02060603050605020204" pitchFamily="18" charset="0"/>
                <a:cs typeface="Times New Roman" panose="02060603050605020204" pitchFamily="18" charset="0"/>
                <a:sym typeface="+mn-ea"/>
              </a:rPr>
              <a:t>v </a:t>
            </a:r>
            <a:r>
              <a:rPr lang="en-US" altLang="en-US" sz="2800" b="1" i="1" dirty="0">
                <a:solidFill>
                  <a:srgbClr val="FF0000"/>
                </a:solidFill>
                <a:latin typeface="Times New Roman" panose="02060603050605020204" pitchFamily="18" charset="0"/>
                <a:cs typeface="Times New Roman" panose="02060603050605020204" pitchFamily="18" charset="0"/>
                <a:sym typeface="+mn-ea"/>
              </a:rPr>
              <a:t>live-out</a:t>
            </a:r>
            <a:r>
              <a:rPr lang="en-US" altLang="en-US" sz="2800" b="1" dirty="0">
                <a:latin typeface="Times New Roman" panose="02060603050605020204" pitchFamily="18" charset="0"/>
                <a:cs typeface="Times New Roman" panose="02060603050605020204" pitchFamily="18" charset="0"/>
                <a:sym typeface="+mn-ea"/>
              </a:rPr>
              <a:t> at </a:t>
            </a:r>
            <a:r>
              <a:rPr lang="en-US" altLang="en-US" sz="2800" b="1" dirty="0" smtClean="0">
                <a:latin typeface="Times New Roman" panose="02060603050605020204" pitchFamily="18" charset="0"/>
                <a:cs typeface="Times New Roman" panose="02060603050605020204" pitchFamily="18" charset="0"/>
                <a:sym typeface="+mn-ea"/>
              </a:rPr>
              <a:t>n</a:t>
            </a:r>
            <a:r>
              <a:rPr lang="zh-CN" altLang="en-US" sz="2800" b="1" dirty="0">
                <a:latin typeface="Times New Roman" panose="02060603050605020204" pitchFamily="18" charset="0"/>
                <a:cs typeface="Times New Roman" panose="02060603050605020204" pitchFamily="18" charset="0"/>
                <a:sym typeface="+mn-ea"/>
              </a:rPr>
              <a:t>，即变量</a:t>
            </a:r>
            <a:r>
              <a:rPr lang="en-US" altLang="zh-CN" sz="2800" b="1" dirty="0">
                <a:latin typeface="Times New Roman" panose="02060603050605020204" pitchFamily="18" charset="0"/>
                <a:cs typeface="Times New Roman" panose="02060603050605020204" pitchFamily="18" charset="0"/>
                <a:sym typeface="+mn-ea"/>
              </a:rPr>
              <a:t>v</a:t>
            </a:r>
            <a:r>
              <a:rPr lang="zh-CN" altLang="en-US" sz="2800" b="1" dirty="0">
                <a:latin typeface="Times New Roman" panose="02060603050605020204" pitchFamily="18" charset="0"/>
                <a:cs typeface="Times New Roman" panose="02060603050605020204" pitchFamily="18" charset="0"/>
                <a:sym typeface="+mn-ea"/>
              </a:rPr>
              <a:t>在节点</a:t>
            </a:r>
            <a:r>
              <a:rPr lang="en-US" altLang="zh-CN" sz="2800" b="1" dirty="0" smtClean="0">
                <a:latin typeface="Times New Roman" panose="02060603050605020204" pitchFamily="18" charset="0"/>
                <a:cs typeface="Times New Roman" panose="02060603050605020204" pitchFamily="18" charset="0"/>
                <a:sym typeface="+mn-ea"/>
              </a:rPr>
              <a:t>n</a:t>
            </a:r>
            <a:r>
              <a:rPr lang="zh-CN" altLang="en-US" sz="2800" b="1" dirty="0" smtClean="0">
                <a:latin typeface="Times New Roman" panose="02060603050605020204" pitchFamily="18" charset="0"/>
                <a:cs typeface="Times New Roman" panose="02060603050605020204" pitchFamily="18" charset="0"/>
                <a:sym typeface="+mn-ea"/>
              </a:rPr>
              <a:t>出边是</a:t>
            </a:r>
            <a:r>
              <a:rPr lang="zh-CN" altLang="en-US" sz="2800" b="1" dirty="0">
                <a:latin typeface="Times New Roman" panose="02060603050605020204" pitchFamily="18" charset="0"/>
                <a:cs typeface="Times New Roman" panose="02060603050605020204" pitchFamily="18" charset="0"/>
                <a:sym typeface="+mn-ea"/>
              </a:rPr>
              <a:t>活跃</a:t>
            </a:r>
            <a:r>
              <a:rPr lang="zh-CN" altLang="en-US" sz="2800" b="1" dirty="0" smtClean="0">
                <a:latin typeface="Times New Roman" panose="02060603050605020204" pitchFamily="18" charset="0"/>
                <a:cs typeface="Times New Roman" panose="02060603050605020204" pitchFamily="18" charset="0"/>
                <a:sym typeface="+mn-ea"/>
              </a:rPr>
              <a:t>的</a:t>
            </a:r>
            <a:endParaRPr lang="en-US" altLang="en-US" sz="2800" b="1" dirty="0">
              <a:sym typeface="+mn-ea"/>
            </a:endParaRPr>
          </a:p>
          <a:p>
            <a:pPr marL="431789" indent="-323843" defTabSz="449569">
              <a:lnSpc>
                <a:spcPct val="120000"/>
              </a:lnSpc>
              <a:buSzPct val="45000"/>
              <a:buNone/>
              <a:tabLst>
                <a:tab pos="723882" algn="l"/>
                <a:tab pos="1447764" algn="l"/>
                <a:tab pos="2171646" algn="l"/>
                <a:tab pos="2895528" algn="l"/>
                <a:tab pos="3619410" algn="l"/>
                <a:tab pos="4343291" algn="l"/>
                <a:tab pos="5067173" algn="l"/>
                <a:tab pos="5791055" algn="l"/>
                <a:tab pos="6514937" algn="l"/>
                <a:tab pos="7238819" algn="l"/>
                <a:tab pos="7962701" algn="l"/>
                <a:tab pos="8686583" algn="l"/>
              </a:tabLst>
            </a:pPr>
            <a:r>
              <a:rPr lang="en-US" altLang="en-US" sz="2800" b="1" dirty="0">
                <a:sym typeface="+mn-ea"/>
              </a:rPr>
              <a:t>        </a:t>
            </a:r>
            <a:r>
              <a:rPr lang="en-US" altLang="en-US" sz="2800" b="1" dirty="0">
                <a:solidFill>
                  <a:srgbClr val="FF0000"/>
                </a:solidFill>
                <a:latin typeface="Times New Roman" panose="02060603050605020204" pitchFamily="18" charset="0"/>
                <a:cs typeface="Times New Roman" panose="02060603050605020204" pitchFamily="18" charset="0"/>
                <a:sym typeface="+mn-ea"/>
              </a:rPr>
              <a:t>out[n]</a:t>
            </a:r>
            <a:r>
              <a:rPr lang="en-US" altLang="en-US" sz="2800" b="1" dirty="0">
                <a:sym typeface="+mn-ea"/>
              </a:rPr>
              <a:t> 表示集合 </a:t>
            </a:r>
            <a:r>
              <a:rPr lang="en-US" altLang="en-US" sz="2800" b="1" dirty="0">
                <a:latin typeface="Times New Roman" panose="02060603050605020204" pitchFamily="18" charset="0"/>
                <a:cs typeface="Times New Roman" panose="02060603050605020204" pitchFamily="18" charset="0"/>
                <a:sym typeface="+mn-ea"/>
              </a:rPr>
              <a:t>{v| v </a:t>
            </a:r>
            <a:r>
              <a:rPr lang="en-US" altLang="en-US" sz="2800" b="1" i="1" dirty="0">
                <a:solidFill>
                  <a:srgbClr val="FF0000"/>
                </a:solidFill>
                <a:latin typeface="Times New Roman" panose="02060603050605020204" pitchFamily="18" charset="0"/>
                <a:cs typeface="Times New Roman" panose="02060603050605020204" pitchFamily="18" charset="0"/>
                <a:sym typeface="+mn-ea"/>
              </a:rPr>
              <a:t>live-out</a:t>
            </a:r>
            <a:r>
              <a:rPr lang="en-US" altLang="en-US" sz="2800" b="1" dirty="0">
                <a:latin typeface="Times New Roman" panose="02060603050605020204" pitchFamily="18" charset="0"/>
                <a:cs typeface="Times New Roman" panose="02060603050605020204" pitchFamily="18" charset="0"/>
                <a:sym typeface="+mn-ea"/>
              </a:rPr>
              <a:t> n}</a:t>
            </a:r>
            <a:endParaRPr lang="en-US" altLang="zh-CN" sz="2800" b="1"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41909" y="6685600"/>
            <a:ext cx="3945891" cy="3651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19</a:t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</p:nvPr>
        </p:nvSpPr>
        <p:spPr>
          <a:xfrm>
            <a:off x="3987800" y="6675437"/>
            <a:ext cx="4114800" cy="365125"/>
          </a:xfrm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b="1" dirty="0">
                <a:latin typeface="楷体_GB2312" panose="02010609030101010101" charset="-122"/>
                <a:ea typeface="楷体_GB2312" panose="02010609030101010101" charset="-122"/>
                <a:sym typeface="+mn-ea"/>
              </a:rPr>
              <a:t>相关概念与定义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20</a:t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3" name="object 6"/>
          <p:cNvSpPr txBox="1"/>
          <p:nvPr/>
        </p:nvSpPr>
        <p:spPr>
          <a:xfrm>
            <a:off x="5930265" y="2259333"/>
            <a:ext cx="2514600" cy="507831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191919"/>
                </a:solidFill>
                <a:latin typeface="Courier New" panose="02070409020205020404"/>
                <a:cs typeface="Courier New" panose="02070409020205020404"/>
              </a:rPr>
              <a:t>   v</a:t>
            </a:r>
            <a:r>
              <a:rPr sz="2400" b="1" dirty="0">
                <a:solidFill>
                  <a:srgbClr val="191919"/>
                </a:solidFill>
                <a:latin typeface="Courier New" panose="02070409020205020404"/>
                <a:cs typeface="Courier New" panose="02070409020205020404"/>
              </a:rPr>
              <a:t> = </a:t>
            </a:r>
            <a:r>
              <a:rPr lang="en-US" altLang="zh-CN" sz="2400" b="1" dirty="0">
                <a:solidFill>
                  <a:srgbClr val="191919"/>
                </a:solidFill>
                <a:latin typeface="Courier New" panose="02070409020205020404"/>
                <a:cs typeface="Courier New" panose="02070409020205020404"/>
              </a:rPr>
              <a:t>a</a:t>
            </a:r>
            <a:r>
              <a:rPr sz="2400" b="1" dirty="0">
                <a:solidFill>
                  <a:srgbClr val="191919"/>
                </a:solidFill>
                <a:latin typeface="Courier New" panose="02070409020205020404"/>
                <a:cs typeface="Courier New" panose="02070409020205020404"/>
              </a:rPr>
              <a:t> +</a:t>
            </a:r>
            <a:r>
              <a:rPr sz="2400" b="1" spc="-75" dirty="0">
                <a:solidFill>
                  <a:srgbClr val="191919"/>
                </a:solidFill>
                <a:latin typeface="Courier New" panose="02070409020205020404"/>
                <a:cs typeface="Courier New" panose="02070409020205020404"/>
              </a:rPr>
              <a:t> </a:t>
            </a:r>
            <a:r>
              <a:rPr sz="2400" b="1" dirty="0">
                <a:solidFill>
                  <a:srgbClr val="191919"/>
                </a:solidFill>
                <a:latin typeface="Courier New" panose="02070409020205020404"/>
                <a:cs typeface="Courier New" panose="02070409020205020404"/>
              </a:rPr>
              <a:t>b</a:t>
            </a:r>
          </a:p>
        </p:txBody>
      </p:sp>
      <p:sp>
        <p:nvSpPr>
          <p:cNvPr id="40" name="文本框 39"/>
          <p:cNvSpPr txBox="1"/>
          <p:nvPr/>
        </p:nvSpPr>
        <p:spPr>
          <a:xfrm>
            <a:off x="2567308" y="3055620"/>
            <a:ext cx="4251677" cy="52322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Courier New" panose="02070409020205020404"/>
                <a:cs typeface="Courier New" panose="02070409020205020404"/>
                <a:sym typeface="+mn-ea"/>
              </a:rPr>
              <a:t>out</a:t>
            </a:r>
            <a:r>
              <a:rPr lang="en-US" altLang="en-US" sz="2800" b="1" dirty="0">
                <a:solidFill>
                  <a:srgbClr val="FF0000"/>
                </a:solidFill>
                <a:latin typeface="Courier New" panose="02070409020205020404"/>
                <a:cs typeface="Courier New" panose="02070409020205020404"/>
                <a:sym typeface="+mn-ea"/>
              </a:rPr>
              <a:t>[n]</a:t>
            </a:r>
            <a:r>
              <a:rPr lang="en-US" sz="2800" b="1" dirty="0">
                <a:solidFill>
                  <a:srgbClr val="FF0000"/>
                </a:solidFill>
                <a:latin typeface="Courier New" panose="02070409020205020404"/>
                <a:cs typeface="Courier New" panose="02070409020205020404"/>
                <a:sym typeface="+mn-ea"/>
              </a:rPr>
              <a:t> = </a:t>
            </a:r>
            <a:r>
              <a:rPr sz="2800" b="1" dirty="0">
                <a:solidFill>
                  <a:srgbClr val="FF0000"/>
                </a:solidFill>
                <a:latin typeface="Courier New" panose="02070409020205020404"/>
                <a:cs typeface="Courier New" panose="02070409020205020404"/>
                <a:sym typeface="+mn-ea"/>
              </a:rPr>
              <a:t>{</a:t>
            </a:r>
            <a:r>
              <a:rPr lang="en-US" altLang="zh-CN" sz="2800" b="1" dirty="0" err="1">
                <a:solidFill>
                  <a:srgbClr val="FF0000"/>
                </a:solidFill>
                <a:latin typeface="Courier New" panose="02070409020205020404"/>
                <a:cs typeface="Courier New" panose="02070409020205020404"/>
                <a:sym typeface="+mn-ea"/>
              </a:rPr>
              <a:t>u</a:t>
            </a:r>
            <a:r>
              <a:rPr lang="en-US" altLang="en-US" sz="2800" b="1" dirty="0" err="1">
                <a:solidFill>
                  <a:srgbClr val="FF0000"/>
                </a:solidFill>
                <a:latin typeface="Courier New" panose="02070409020205020404"/>
                <a:cs typeface="Courier New" panose="02070409020205020404"/>
                <a:sym typeface="+mn-ea"/>
              </a:rPr>
              <a:t>,v,w,x</a:t>
            </a:r>
            <a:r>
              <a:rPr sz="2800" b="1" spc="-111" dirty="0">
                <a:solidFill>
                  <a:srgbClr val="FF0000"/>
                </a:solidFill>
                <a:latin typeface="Courier New" panose="02070409020205020404"/>
                <a:cs typeface="Courier New" panose="02070409020205020404"/>
                <a:sym typeface="+mn-ea"/>
              </a:rPr>
              <a:t> </a:t>
            </a:r>
            <a:r>
              <a:rPr sz="2800" b="1" dirty="0">
                <a:solidFill>
                  <a:srgbClr val="FF0000"/>
                </a:solidFill>
                <a:latin typeface="Courier New" panose="02070409020205020404"/>
                <a:cs typeface="Courier New" panose="02070409020205020404"/>
                <a:sym typeface="+mn-ea"/>
              </a:rPr>
              <a:t>}</a:t>
            </a:r>
            <a:endParaRPr lang="zh-CN" altLang="en-US" sz="2800" b="1" dirty="0">
              <a:solidFill>
                <a:srgbClr val="FF0000"/>
              </a:solidFill>
              <a:latin typeface="Courier New" panose="02070409020205020404"/>
              <a:cs typeface="Courier New" panose="02070409020205020404"/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567308" y="1656083"/>
            <a:ext cx="4055919" cy="4616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lang="en-US" sz="2400" b="1" dirty="0">
                <a:solidFill>
                  <a:srgbClr val="FF0000"/>
                </a:solidFill>
                <a:latin typeface="Courier New" panose="02070409020205020404"/>
                <a:cs typeface="Courier New" panose="02070409020205020404"/>
                <a:sym typeface="+mn-ea"/>
              </a:rPr>
              <a:t>in</a:t>
            </a:r>
            <a:r>
              <a:rPr lang="en-US" altLang="en-US" sz="2400" b="1" dirty="0">
                <a:solidFill>
                  <a:srgbClr val="FF0000"/>
                </a:solidFill>
                <a:latin typeface="Courier New" panose="02070409020205020404"/>
                <a:cs typeface="Courier New" panose="02070409020205020404"/>
                <a:sym typeface="+mn-ea"/>
              </a:rPr>
              <a:t>[n]</a:t>
            </a:r>
            <a:r>
              <a:rPr lang="en-US" sz="2400" b="1" dirty="0">
                <a:solidFill>
                  <a:srgbClr val="FF0000"/>
                </a:solidFill>
                <a:latin typeface="Courier New" panose="02070409020205020404"/>
                <a:cs typeface="Courier New" panose="02070409020205020404"/>
                <a:sym typeface="+mn-ea"/>
              </a:rPr>
              <a:t> = </a:t>
            </a:r>
            <a:r>
              <a:rPr sz="2400" b="1" dirty="0">
                <a:solidFill>
                  <a:srgbClr val="FF0000"/>
                </a:solidFill>
                <a:latin typeface="Courier New" panose="02070409020205020404"/>
                <a:cs typeface="Courier New" panose="02070409020205020404"/>
                <a:sym typeface="+mn-ea"/>
              </a:rPr>
              <a:t>{</a:t>
            </a:r>
            <a:r>
              <a:rPr lang="en-US" sz="2400" b="1" dirty="0" err="1">
                <a:solidFill>
                  <a:srgbClr val="FF0000"/>
                </a:solidFill>
                <a:latin typeface="Courier New" panose="02070409020205020404"/>
                <a:cs typeface="Courier New" panose="02070409020205020404"/>
                <a:sym typeface="+mn-ea"/>
              </a:rPr>
              <a:t>a,b,u,v,w,x</a:t>
            </a:r>
            <a:r>
              <a:rPr sz="2400" b="1" dirty="0">
                <a:solidFill>
                  <a:srgbClr val="FF0000"/>
                </a:solidFill>
                <a:latin typeface="Courier New" panose="02070409020205020404"/>
                <a:cs typeface="Courier New" panose="02070409020205020404"/>
                <a:sym typeface="+mn-ea"/>
              </a:rPr>
              <a:t>}</a:t>
            </a:r>
            <a:endParaRPr lang="zh-CN" altLang="en-US" sz="2400" b="1" dirty="0">
              <a:solidFill>
                <a:srgbClr val="FF0000"/>
              </a:solidFill>
              <a:latin typeface="Courier New" panose="02070409020205020404"/>
              <a:cs typeface="Courier New" panose="02070409020205020404"/>
              <a:sym typeface="+mn-ea"/>
            </a:endParaRPr>
          </a:p>
        </p:txBody>
      </p:sp>
      <p:cxnSp>
        <p:nvCxnSpPr>
          <p:cNvPr id="11" name="直接箭头连接符 10"/>
          <p:cNvCxnSpPr/>
          <p:nvPr/>
        </p:nvCxnSpPr>
        <p:spPr>
          <a:xfrm>
            <a:off x="2205991" y="1726565"/>
            <a:ext cx="0" cy="4180840"/>
          </a:xfrm>
          <a:prstGeom prst="straightConnector1">
            <a:avLst/>
          </a:prstGeom>
          <a:ln w="38100">
            <a:solidFill>
              <a:srgbClr val="20202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1563918" y="2451100"/>
            <a:ext cx="543739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800" b="1" dirty="0">
                <a:latin typeface="楷体_GB2312" panose="02010609030101010101" charset="-122"/>
                <a:ea typeface="楷体_GB2312" panose="02010609030101010101" charset="-122"/>
              </a:rPr>
              <a:t>程</a:t>
            </a:r>
          </a:p>
          <a:p>
            <a:pPr algn="ctr"/>
            <a:r>
              <a:rPr lang="zh-CN" altLang="en-US" sz="2800" b="1" dirty="0">
                <a:latin typeface="楷体_GB2312" panose="02010609030101010101" charset="-122"/>
                <a:ea typeface="楷体_GB2312" panose="02010609030101010101" charset="-122"/>
              </a:rPr>
              <a:t>序</a:t>
            </a:r>
          </a:p>
          <a:p>
            <a:pPr algn="ctr"/>
            <a:r>
              <a:rPr lang="zh-CN" altLang="en-US" sz="2800" b="1" dirty="0">
                <a:latin typeface="楷体_GB2312" panose="02010609030101010101" charset="-122"/>
                <a:ea typeface="楷体_GB2312" panose="02010609030101010101" charset="-122"/>
              </a:rPr>
              <a:t>执</a:t>
            </a:r>
          </a:p>
          <a:p>
            <a:pPr algn="ctr"/>
            <a:r>
              <a:rPr lang="zh-CN" altLang="en-US" sz="2800" b="1" dirty="0">
                <a:latin typeface="楷体_GB2312" panose="02010609030101010101" charset="-122"/>
                <a:ea typeface="楷体_GB2312" panose="02010609030101010101" charset="-122"/>
              </a:rPr>
              <a:t>行</a:t>
            </a:r>
          </a:p>
          <a:p>
            <a:pPr algn="ctr"/>
            <a:r>
              <a:rPr lang="zh-CN" altLang="en-US" sz="2800" b="1" dirty="0">
                <a:latin typeface="楷体_GB2312" panose="02010609030101010101" charset="-122"/>
                <a:ea typeface="楷体_GB2312" panose="02010609030101010101" charset="-122"/>
              </a:rPr>
              <a:t>顺</a:t>
            </a:r>
          </a:p>
          <a:p>
            <a:pPr algn="ctr"/>
            <a:r>
              <a:rPr lang="zh-CN" altLang="en-US" sz="2800" b="1" dirty="0">
                <a:latin typeface="楷体_GB2312" panose="02010609030101010101" charset="-122"/>
                <a:ea typeface="楷体_GB2312" panose="02010609030101010101" charset="-122"/>
              </a:rPr>
              <a:t>序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4539321" y="2273300"/>
            <a:ext cx="12426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800" b="1">
                <a:latin typeface="楷体_GB2312" panose="02010609030101010101" charset="-122"/>
                <a:ea typeface="楷体_GB2312" panose="02010609030101010101" charset="-122"/>
              </a:rPr>
              <a:t>结点</a:t>
            </a:r>
            <a:r>
              <a:rPr lang="en-US" altLang="zh-CN" sz="2800" b="1">
                <a:latin typeface="楷体_GB2312" panose="02010609030101010101" charset="-122"/>
                <a:ea typeface="楷体_GB2312" panose="02010609030101010101" charset="-122"/>
              </a:rPr>
              <a:t> n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49C92A13-39D5-F43B-822F-040AC798A8EA}"/>
              </a:ext>
            </a:extLst>
          </p:cNvPr>
          <p:cNvGrpSpPr/>
          <p:nvPr/>
        </p:nvGrpSpPr>
        <p:grpSpPr>
          <a:xfrm>
            <a:off x="5697537" y="2847361"/>
            <a:ext cx="2656840" cy="2517140"/>
            <a:chOff x="5705475" y="2795270"/>
            <a:chExt cx="2656840" cy="2517140"/>
          </a:xfrm>
        </p:grpSpPr>
        <p:cxnSp>
          <p:nvCxnSpPr>
            <p:cNvPr id="20" name="直接箭头连接符 19"/>
            <p:cNvCxnSpPr/>
            <p:nvPr/>
          </p:nvCxnSpPr>
          <p:spPr>
            <a:xfrm flipV="1">
              <a:off x="7116445" y="2795270"/>
              <a:ext cx="0" cy="1156970"/>
            </a:xfrm>
            <a:prstGeom prst="straightConnector1">
              <a:avLst/>
            </a:prstGeom>
            <a:ln w="38100">
              <a:solidFill>
                <a:srgbClr val="202020"/>
              </a:solidFill>
              <a:headEnd type="arrow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箭头连接符 20"/>
            <p:cNvCxnSpPr/>
            <p:nvPr/>
          </p:nvCxnSpPr>
          <p:spPr>
            <a:xfrm flipV="1">
              <a:off x="5705475" y="4067810"/>
              <a:ext cx="1295400" cy="1199515"/>
            </a:xfrm>
            <a:prstGeom prst="straightConnector1">
              <a:avLst/>
            </a:prstGeom>
            <a:ln w="38100">
              <a:solidFill>
                <a:srgbClr val="202020"/>
              </a:solidFill>
              <a:headEnd type="arrow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箭头连接符 21"/>
            <p:cNvCxnSpPr/>
            <p:nvPr/>
          </p:nvCxnSpPr>
          <p:spPr>
            <a:xfrm flipH="1" flipV="1">
              <a:off x="7266305" y="4025265"/>
              <a:ext cx="1096010" cy="1242060"/>
            </a:xfrm>
            <a:prstGeom prst="straightConnector1">
              <a:avLst/>
            </a:prstGeom>
            <a:ln w="38100">
              <a:solidFill>
                <a:srgbClr val="202020"/>
              </a:solidFill>
              <a:headEnd type="arrow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箭头连接符 22"/>
            <p:cNvCxnSpPr/>
            <p:nvPr/>
          </p:nvCxnSpPr>
          <p:spPr>
            <a:xfrm flipV="1">
              <a:off x="7116445" y="4025265"/>
              <a:ext cx="1905" cy="1287145"/>
            </a:xfrm>
            <a:prstGeom prst="straightConnector1">
              <a:avLst/>
            </a:prstGeom>
            <a:ln w="38100">
              <a:solidFill>
                <a:srgbClr val="202020"/>
              </a:solidFill>
              <a:headEnd type="arrow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文本框 23"/>
          <p:cNvSpPr txBox="1"/>
          <p:nvPr/>
        </p:nvSpPr>
        <p:spPr>
          <a:xfrm>
            <a:off x="5100958" y="5312413"/>
            <a:ext cx="841897" cy="5847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en-US" sz="3200" b="1" dirty="0">
                <a:solidFill>
                  <a:srgbClr val="FF0000"/>
                </a:solidFill>
                <a:latin typeface="Courier New" panose="02070409020205020404"/>
                <a:cs typeface="Courier New" panose="02070409020205020404"/>
                <a:sym typeface="+mn-ea"/>
              </a:rPr>
              <a:t>IN</a:t>
            </a:r>
            <a:r>
              <a:rPr lang="en-US" altLang="en-US" sz="3200" b="1" baseline="-25000" dirty="0">
                <a:solidFill>
                  <a:srgbClr val="FF0000"/>
                </a:solidFill>
                <a:latin typeface="Courier New" panose="02070409020205020404"/>
                <a:cs typeface="Courier New" panose="02070409020205020404"/>
                <a:sym typeface="+mn-ea"/>
              </a:rPr>
              <a:t>1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6703698" y="5312413"/>
            <a:ext cx="841897" cy="5847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en-US" sz="3200" b="1" dirty="0">
                <a:solidFill>
                  <a:srgbClr val="FF0000"/>
                </a:solidFill>
                <a:latin typeface="Courier New" panose="02070409020205020404"/>
                <a:cs typeface="Courier New" panose="02070409020205020404"/>
                <a:sym typeface="+mn-ea"/>
              </a:rPr>
              <a:t>IN</a:t>
            </a:r>
            <a:r>
              <a:rPr lang="en-US" altLang="en-US" sz="3200" b="1" baseline="-25000" dirty="0">
                <a:solidFill>
                  <a:srgbClr val="FF0000"/>
                </a:solidFill>
                <a:latin typeface="Courier New" panose="02070409020205020404"/>
                <a:cs typeface="Courier New" panose="02070409020205020404"/>
                <a:sym typeface="+mn-ea"/>
              </a:rPr>
              <a:t>2</a:t>
            </a:r>
          </a:p>
        </p:txBody>
      </p:sp>
      <p:sp>
        <p:nvSpPr>
          <p:cNvPr id="26" name="文本框 25"/>
          <p:cNvSpPr txBox="1"/>
          <p:nvPr/>
        </p:nvSpPr>
        <p:spPr>
          <a:xfrm>
            <a:off x="8038468" y="5312413"/>
            <a:ext cx="841897" cy="5847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en-US" sz="3200" b="1" dirty="0">
                <a:solidFill>
                  <a:srgbClr val="FF0000"/>
                </a:solidFill>
                <a:latin typeface="Courier New" panose="02070409020205020404"/>
                <a:cs typeface="Courier New" panose="02070409020205020404"/>
                <a:sym typeface="+mn-ea"/>
              </a:rPr>
              <a:t>IN</a:t>
            </a:r>
            <a:r>
              <a:rPr lang="en-US" altLang="en-US" sz="3200" b="1" baseline="-25000" dirty="0">
                <a:solidFill>
                  <a:srgbClr val="FF0000"/>
                </a:solidFill>
                <a:latin typeface="Courier New" panose="02070409020205020404"/>
                <a:cs typeface="Courier New" panose="02070409020205020404"/>
                <a:sym typeface="+mn-ea"/>
              </a:rPr>
              <a:t>3</a:t>
            </a:r>
          </a:p>
        </p:txBody>
      </p:sp>
      <p:sp>
        <p:nvSpPr>
          <p:cNvPr id="27" name="object 6"/>
          <p:cNvSpPr txBox="1"/>
          <p:nvPr/>
        </p:nvSpPr>
        <p:spPr>
          <a:xfrm>
            <a:off x="4859021" y="5895343"/>
            <a:ext cx="1313180" cy="507831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en-US" sz="2400" b="1" dirty="0">
                <a:solidFill>
                  <a:srgbClr val="191919"/>
                </a:solidFill>
                <a:latin typeface="Courier New" panose="02070409020205020404"/>
                <a:cs typeface="Courier New" panose="02070409020205020404"/>
              </a:rPr>
              <a:t>  </a:t>
            </a:r>
            <a:r>
              <a:rPr lang="en-US" sz="2400" b="1" dirty="0">
                <a:solidFill>
                  <a:srgbClr val="191919"/>
                </a:solidFill>
                <a:latin typeface="Courier New" panose="02070409020205020404"/>
                <a:cs typeface="Courier New" panose="02070409020205020404"/>
              </a:rPr>
              <a:t>...</a:t>
            </a:r>
          </a:p>
        </p:txBody>
      </p:sp>
      <p:sp>
        <p:nvSpPr>
          <p:cNvPr id="28" name="object 6"/>
          <p:cNvSpPr txBox="1"/>
          <p:nvPr/>
        </p:nvSpPr>
        <p:spPr>
          <a:xfrm>
            <a:off x="6460491" y="5895343"/>
            <a:ext cx="1313180" cy="507831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en-US" sz="2400" b="1" dirty="0">
                <a:solidFill>
                  <a:srgbClr val="191919"/>
                </a:solidFill>
                <a:latin typeface="Courier New" panose="02070409020205020404"/>
                <a:cs typeface="Courier New" panose="02070409020205020404"/>
              </a:rPr>
              <a:t>  </a:t>
            </a:r>
            <a:r>
              <a:rPr lang="en-US" sz="2400" b="1" dirty="0">
                <a:solidFill>
                  <a:srgbClr val="191919"/>
                </a:solidFill>
                <a:latin typeface="Courier New" panose="02070409020205020404"/>
                <a:cs typeface="Courier New" panose="02070409020205020404"/>
              </a:rPr>
              <a:t>...</a:t>
            </a:r>
          </a:p>
        </p:txBody>
      </p:sp>
      <p:sp>
        <p:nvSpPr>
          <p:cNvPr id="29" name="object 6"/>
          <p:cNvSpPr txBox="1"/>
          <p:nvPr/>
        </p:nvSpPr>
        <p:spPr>
          <a:xfrm>
            <a:off x="8038466" y="5895343"/>
            <a:ext cx="1313180" cy="507831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en-US" sz="2400" b="1" dirty="0">
                <a:solidFill>
                  <a:srgbClr val="191919"/>
                </a:solidFill>
                <a:latin typeface="Courier New" panose="02070409020205020404"/>
                <a:cs typeface="Courier New" panose="02070409020205020404"/>
              </a:rPr>
              <a:t>  </a:t>
            </a:r>
            <a:r>
              <a:rPr lang="en-US" sz="2400" b="1" dirty="0">
                <a:solidFill>
                  <a:srgbClr val="191919"/>
                </a:solidFill>
                <a:latin typeface="Courier New" panose="02070409020205020404"/>
                <a:cs typeface="Courier New" panose="02070409020205020404"/>
              </a:rPr>
              <a:t>...</a:t>
            </a:r>
          </a:p>
        </p:txBody>
      </p:sp>
      <p:sp>
        <p:nvSpPr>
          <p:cNvPr id="30" name="文本框 29"/>
          <p:cNvSpPr txBox="1"/>
          <p:nvPr/>
        </p:nvSpPr>
        <p:spPr>
          <a:xfrm>
            <a:off x="7346318" y="3168015"/>
            <a:ext cx="4947285" cy="5232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/>
            <a:r>
              <a:rPr lang="en-US" altLang="en-US" sz="2800" b="1" dirty="0">
                <a:solidFill>
                  <a:srgbClr val="FF0000"/>
                </a:solidFill>
                <a:latin typeface="Courier New" panose="02070409020205020404"/>
                <a:cs typeface="Courier New" panose="02070409020205020404"/>
                <a:sym typeface="+mn-ea"/>
              </a:rPr>
              <a:t>OUT </a:t>
            </a:r>
            <a:r>
              <a:rPr lang="en-US" sz="2800" b="1" dirty="0">
                <a:solidFill>
                  <a:srgbClr val="FF0000"/>
                </a:solidFill>
                <a:latin typeface="Courier New" panose="02070409020205020404"/>
                <a:cs typeface="Courier New" panose="02070409020205020404"/>
                <a:sym typeface="+mn-ea"/>
              </a:rPr>
              <a:t>= </a:t>
            </a:r>
            <a:r>
              <a:rPr lang="en-US" altLang="en-US" sz="2800" b="1" dirty="0">
                <a:solidFill>
                  <a:srgbClr val="FF0000"/>
                </a:solidFill>
                <a:latin typeface="Courier New" panose="02070409020205020404"/>
                <a:cs typeface="Courier New" panose="02070409020205020404"/>
                <a:sym typeface="+mn-ea"/>
              </a:rPr>
              <a:t>IN</a:t>
            </a:r>
            <a:r>
              <a:rPr lang="en-US" altLang="en-US" sz="2800" b="1" baseline="-25000" dirty="0">
                <a:solidFill>
                  <a:srgbClr val="FF0000"/>
                </a:solidFill>
                <a:latin typeface="Courier New" panose="02070409020205020404"/>
                <a:cs typeface="Courier New" panose="02070409020205020404"/>
                <a:sym typeface="+mn-ea"/>
              </a:rPr>
              <a:t>1 </a:t>
            </a:r>
            <a:r>
              <a:rPr lang="en-US" sz="2800" b="1" dirty="0">
                <a:solidFill>
                  <a:srgbClr val="FF0000"/>
                </a:solidFill>
                <a:latin typeface="Times New Roman" panose="02060603050605020204" pitchFamily="18" charset="0"/>
                <a:cs typeface="Times New Roman" panose="02060603050605020204" pitchFamily="18" charset="0"/>
                <a:sym typeface="+mn-ea"/>
              </a:rPr>
              <a:t>∪</a:t>
            </a:r>
            <a:r>
              <a:rPr lang="en-US" altLang="en-US" sz="2800" b="1" baseline="-25000" dirty="0">
                <a:solidFill>
                  <a:srgbClr val="FF0000"/>
                </a:solidFill>
                <a:latin typeface="Courier New" panose="02070409020205020404"/>
                <a:cs typeface="Courier New" panose="02070409020205020404"/>
                <a:sym typeface="+mn-ea"/>
              </a:rPr>
              <a:t> </a:t>
            </a:r>
            <a:r>
              <a:rPr lang="en-US" altLang="en-US" sz="2800" b="1" dirty="0">
                <a:solidFill>
                  <a:srgbClr val="FF0000"/>
                </a:solidFill>
                <a:latin typeface="Courier New" panose="02070409020205020404"/>
                <a:cs typeface="Courier New" panose="02070409020205020404"/>
                <a:sym typeface="+mn-ea"/>
              </a:rPr>
              <a:t>IN</a:t>
            </a:r>
            <a:r>
              <a:rPr lang="" altLang="en-US" sz="2800" b="1" baseline="-25000" dirty="0">
                <a:solidFill>
                  <a:srgbClr val="FF0000"/>
                </a:solidFill>
                <a:latin typeface="Courier New" panose="02070409020205020404"/>
                <a:cs typeface="Courier New" panose="02070409020205020404"/>
                <a:sym typeface="+mn-ea"/>
              </a:rPr>
              <a:t>2</a:t>
            </a:r>
            <a:r>
              <a:rPr lang="en-US" altLang="en-US" sz="2800" b="1" baseline="-25000" dirty="0">
                <a:solidFill>
                  <a:srgbClr val="FF0000"/>
                </a:solidFill>
                <a:latin typeface="Courier New" panose="02070409020205020404"/>
                <a:cs typeface="Courier New" panose="02070409020205020404"/>
                <a:sym typeface="+mn-ea"/>
              </a:rPr>
              <a:t> </a:t>
            </a:r>
            <a:r>
              <a:rPr lang="en-US" sz="2800" b="1" dirty="0">
                <a:solidFill>
                  <a:srgbClr val="FF0000"/>
                </a:solidFill>
                <a:latin typeface="Times New Roman" panose="02060603050605020204" pitchFamily="18" charset="0"/>
                <a:cs typeface="Times New Roman" panose="02060603050605020204" pitchFamily="18" charset="0"/>
                <a:sym typeface="+mn-ea"/>
              </a:rPr>
              <a:t>∪</a:t>
            </a:r>
            <a:r>
              <a:rPr lang="en-US" altLang="en-US" sz="2800" b="1" dirty="0">
                <a:solidFill>
                  <a:srgbClr val="FF0000"/>
                </a:solidFill>
                <a:latin typeface="Times New Roman" panose="02060603050605020204" pitchFamily="18" charset="0"/>
                <a:cs typeface="Times New Roman" panose="02060603050605020204" pitchFamily="18" charset="0"/>
                <a:sym typeface="+mn-ea"/>
              </a:rPr>
              <a:t> </a:t>
            </a:r>
            <a:r>
              <a:rPr lang="en-US" altLang="en-US" sz="2800" b="1" dirty="0">
                <a:solidFill>
                  <a:srgbClr val="FF0000"/>
                </a:solidFill>
                <a:latin typeface="Courier New" panose="02070409020205020404"/>
                <a:cs typeface="Courier New" panose="02070409020205020404"/>
                <a:sym typeface="+mn-ea"/>
              </a:rPr>
              <a:t>IN</a:t>
            </a:r>
            <a:r>
              <a:rPr lang="" altLang="en-US" sz="2800" b="1" baseline="-25000" dirty="0">
                <a:solidFill>
                  <a:srgbClr val="FF0000"/>
                </a:solidFill>
                <a:latin typeface="Courier New" panose="02070409020205020404"/>
                <a:cs typeface="Courier New" panose="02070409020205020404"/>
                <a:sym typeface="+mn-ea"/>
              </a:rPr>
              <a:t>3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0F473A0A-B182-E241-B981-5E7B9F7CD7E8}"/>
              </a:ext>
            </a:extLst>
          </p:cNvPr>
          <p:cNvGrpSpPr/>
          <p:nvPr/>
        </p:nvGrpSpPr>
        <p:grpSpPr>
          <a:xfrm>
            <a:off x="5705251" y="2854749"/>
            <a:ext cx="2656840" cy="2517140"/>
            <a:chOff x="5705475" y="2795270"/>
            <a:chExt cx="2656840" cy="2517140"/>
          </a:xfrm>
        </p:grpSpPr>
        <p:cxnSp>
          <p:nvCxnSpPr>
            <p:cNvPr id="4" name="直接箭头连接符 3">
              <a:extLst>
                <a:ext uri="{FF2B5EF4-FFF2-40B4-BE49-F238E27FC236}">
                  <a16:creationId xmlns:a16="http://schemas.microsoft.com/office/drawing/2014/main" id="{EE1C3251-61DF-1394-A55E-15D305820D37}"/>
                </a:ext>
              </a:extLst>
            </p:cNvPr>
            <p:cNvCxnSpPr/>
            <p:nvPr/>
          </p:nvCxnSpPr>
          <p:spPr>
            <a:xfrm flipV="1">
              <a:off x="7116445" y="2795270"/>
              <a:ext cx="0" cy="1156970"/>
            </a:xfrm>
            <a:prstGeom prst="straightConnector1">
              <a:avLst/>
            </a:prstGeom>
            <a:ln w="38100">
              <a:solidFill>
                <a:srgbClr val="202020"/>
              </a:solidFill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直接箭头连接符 5">
              <a:extLst>
                <a:ext uri="{FF2B5EF4-FFF2-40B4-BE49-F238E27FC236}">
                  <a16:creationId xmlns:a16="http://schemas.microsoft.com/office/drawing/2014/main" id="{C23A5644-D22A-283C-6B1E-68E112CCB040}"/>
                </a:ext>
              </a:extLst>
            </p:cNvPr>
            <p:cNvCxnSpPr/>
            <p:nvPr/>
          </p:nvCxnSpPr>
          <p:spPr>
            <a:xfrm flipV="1">
              <a:off x="5705475" y="4067810"/>
              <a:ext cx="1295400" cy="1199515"/>
            </a:xfrm>
            <a:prstGeom prst="straightConnector1">
              <a:avLst/>
            </a:prstGeom>
            <a:ln w="38100">
              <a:solidFill>
                <a:srgbClr val="202020"/>
              </a:solidFill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箭头连接符 17">
              <a:extLst>
                <a:ext uri="{FF2B5EF4-FFF2-40B4-BE49-F238E27FC236}">
                  <a16:creationId xmlns:a16="http://schemas.microsoft.com/office/drawing/2014/main" id="{E91488C4-47AB-E816-D984-89BE28C4FC46}"/>
                </a:ext>
              </a:extLst>
            </p:cNvPr>
            <p:cNvCxnSpPr/>
            <p:nvPr/>
          </p:nvCxnSpPr>
          <p:spPr>
            <a:xfrm flipH="1" flipV="1">
              <a:off x="7266305" y="4025265"/>
              <a:ext cx="1096010" cy="1242060"/>
            </a:xfrm>
            <a:prstGeom prst="straightConnector1">
              <a:avLst/>
            </a:prstGeom>
            <a:ln w="38100">
              <a:solidFill>
                <a:srgbClr val="202020"/>
              </a:solidFill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箭头连接符 30">
              <a:extLst>
                <a:ext uri="{FF2B5EF4-FFF2-40B4-BE49-F238E27FC236}">
                  <a16:creationId xmlns:a16="http://schemas.microsoft.com/office/drawing/2014/main" id="{FFF9592E-53DB-1030-5337-76BDCB108ACC}"/>
                </a:ext>
              </a:extLst>
            </p:cNvPr>
            <p:cNvCxnSpPr/>
            <p:nvPr/>
          </p:nvCxnSpPr>
          <p:spPr>
            <a:xfrm flipV="1">
              <a:off x="7116445" y="4025265"/>
              <a:ext cx="1905" cy="1287145"/>
            </a:xfrm>
            <a:prstGeom prst="straightConnector1">
              <a:avLst/>
            </a:prstGeom>
            <a:ln w="38100">
              <a:solidFill>
                <a:srgbClr val="202020"/>
              </a:solidFill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文本框 36">
            <a:extLst>
              <a:ext uri="{FF2B5EF4-FFF2-40B4-BE49-F238E27FC236}">
                <a16:creationId xmlns:a16="http://schemas.microsoft.com/office/drawing/2014/main" id="{D4DAA298-14F1-4C0F-9CB9-671188EBD08D}"/>
              </a:ext>
            </a:extLst>
          </p:cNvPr>
          <p:cNvSpPr txBox="1"/>
          <p:nvPr/>
        </p:nvSpPr>
        <p:spPr>
          <a:xfrm>
            <a:off x="2567305" y="1332426"/>
            <a:ext cx="3687228" cy="4616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lang="en-US" sz="2400" b="1" dirty="0">
                <a:solidFill>
                  <a:srgbClr val="FF0000"/>
                </a:solidFill>
                <a:latin typeface="Courier New" panose="02070409020205020404"/>
                <a:cs typeface="Courier New" panose="02070409020205020404"/>
                <a:sym typeface="+mn-ea"/>
              </a:rPr>
              <a:t>in</a:t>
            </a:r>
            <a:r>
              <a:rPr lang="en-US" altLang="en-US" sz="2400" b="1" dirty="0">
                <a:solidFill>
                  <a:srgbClr val="FF0000"/>
                </a:solidFill>
                <a:latin typeface="Courier New" panose="02070409020205020404"/>
                <a:cs typeface="Courier New" panose="02070409020205020404"/>
                <a:sym typeface="+mn-ea"/>
              </a:rPr>
              <a:t>[n]</a:t>
            </a:r>
            <a:r>
              <a:rPr lang="en-US" sz="2400" b="1" dirty="0">
                <a:solidFill>
                  <a:srgbClr val="FF0000"/>
                </a:solidFill>
                <a:latin typeface="Courier New" panose="02070409020205020404"/>
                <a:cs typeface="Courier New" panose="02070409020205020404"/>
                <a:sym typeface="+mn-ea"/>
              </a:rPr>
              <a:t> = </a:t>
            </a:r>
            <a:r>
              <a:rPr sz="2400" b="1" dirty="0">
                <a:solidFill>
                  <a:srgbClr val="FF0000"/>
                </a:solidFill>
                <a:latin typeface="Courier New" panose="02070409020205020404"/>
                <a:cs typeface="Courier New" panose="02070409020205020404"/>
                <a:sym typeface="+mn-ea"/>
              </a:rPr>
              <a:t>{</a:t>
            </a:r>
            <a:r>
              <a:rPr lang="en-US" sz="2400" b="1" dirty="0" err="1">
                <a:solidFill>
                  <a:srgbClr val="FF0000"/>
                </a:solidFill>
                <a:latin typeface="Courier New" panose="02070409020205020404"/>
                <a:cs typeface="Courier New" panose="02070409020205020404"/>
                <a:sym typeface="+mn-ea"/>
              </a:rPr>
              <a:t>a,b,u,w,x</a:t>
            </a:r>
            <a:r>
              <a:rPr sz="2400" b="1" dirty="0">
                <a:solidFill>
                  <a:srgbClr val="FF0000"/>
                </a:solidFill>
                <a:latin typeface="Courier New" panose="02070409020205020404"/>
                <a:cs typeface="Courier New" panose="02070409020205020404"/>
                <a:sym typeface="+mn-ea"/>
              </a:rPr>
              <a:t>}</a:t>
            </a:r>
            <a:endParaRPr lang="zh-CN" altLang="en-US" sz="2400" b="1" dirty="0">
              <a:solidFill>
                <a:srgbClr val="FF0000"/>
              </a:solidFill>
              <a:latin typeface="Courier New" panose="02070409020205020404"/>
              <a:cs typeface="Courier New" panose="02070409020205020404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5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  <p:bldP spid="10" grpId="0"/>
      <p:bldP spid="10" grpId="1"/>
      <p:bldP spid="24" grpId="0"/>
      <p:bldP spid="25" grpId="0"/>
      <p:bldP spid="26" grpId="0"/>
      <p:bldP spid="27" grpId="0" bldLvl="0" animBg="1"/>
      <p:bldP spid="28" grpId="0" bldLvl="0" animBg="1"/>
      <p:bldP spid="29" grpId="0" bldLvl="0" animBg="1"/>
      <p:bldP spid="30" grpId="0"/>
      <p:bldP spid="3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b="1" dirty="0">
                <a:latin typeface="楷体_GB2312" panose="02010609030101010101" charset="-122"/>
                <a:ea typeface="楷体_GB2312" panose="02010609030101010101" charset="-122"/>
                <a:sym typeface="+mn-ea"/>
              </a:rPr>
              <a:t>相关概念与定义</a:t>
            </a:r>
          </a:p>
        </p:txBody>
      </p:sp>
      <p:sp>
        <p:nvSpPr>
          <p:cNvPr id="6" name="文本占位符 5"/>
          <p:cNvSpPr>
            <a:spLocks noGrp="1"/>
          </p:cNvSpPr>
          <p:nvPr>
            <p:ph type="body" idx="4294967295"/>
          </p:nvPr>
        </p:nvSpPr>
        <p:spPr>
          <a:xfrm>
            <a:off x="127636" y="1388112"/>
            <a:ext cx="11997691" cy="5091431"/>
          </a:xfrm>
        </p:spPr>
        <p:txBody>
          <a:bodyPr>
            <a:normAutofit/>
          </a:bodyPr>
          <a:lstStyle/>
          <a:p>
            <a:pPr marL="431789" indent="-323843" defTabSz="449569">
              <a:lnSpc>
                <a:spcPct val="120000"/>
              </a:lnSpc>
              <a:buSzPct val="45000"/>
              <a:buNone/>
              <a:tabLst>
                <a:tab pos="723882" algn="l"/>
                <a:tab pos="1447764" algn="l"/>
                <a:tab pos="2171646" algn="l"/>
                <a:tab pos="2895528" algn="l"/>
                <a:tab pos="3619410" algn="l"/>
                <a:tab pos="4343291" algn="l"/>
                <a:tab pos="5067173" algn="l"/>
                <a:tab pos="5791055" algn="l"/>
                <a:tab pos="6514937" algn="l"/>
                <a:tab pos="7238819" algn="l"/>
                <a:tab pos="7962701" algn="l"/>
                <a:tab pos="8686583" algn="l"/>
              </a:tabLst>
            </a:pPr>
            <a:r>
              <a:rPr lang="zh-CN" altLang="en-US" sz="2800" b="1" dirty="0">
                <a:latin typeface="Times New Roman" panose="02060603050605020204" pitchFamily="18" charset="0"/>
                <a:cs typeface="Times New Roman" panose="02060603050605020204" pitchFamily="18" charset="0"/>
                <a:sym typeface="+mn-ea"/>
              </a:rPr>
              <a:t>变量</a:t>
            </a:r>
            <a:r>
              <a:rPr lang="en-US" altLang="zh-CN" sz="2800" b="1" dirty="0">
                <a:latin typeface="Times New Roman" panose="02060603050605020204" pitchFamily="18" charset="0"/>
                <a:cs typeface="Times New Roman" panose="02060603050605020204" pitchFamily="18" charset="0"/>
                <a:sym typeface="+mn-ea"/>
              </a:rPr>
              <a:t> v </a:t>
            </a:r>
            <a:r>
              <a:rPr lang="zh-CN" altLang="en-US" sz="2800" b="1" dirty="0">
                <a:latin typeface="Times New Roman" panose="02060603050605020204" pitchFamily="18" charset="0"/>
                <a:cs typeface="Times New Roman" panose="02060603050605020204" pitchFamily="18" charset="0"/>
                <a:sym typeface="+mn-ea"/>
              </a:rPr>
              <a:t>是否“活跃”的计算规则</a:t>
            </a:r>
          </a:p>
          <a:p>
            <a:pPr marL="431789" indent="-323843" defTabSz="449569">
              <a:lnSpc>
                <a:spcPct val="120000"/>
              </a:lnSpc>
              <a:buSzPct val="45000"/>
              <a:buNone/>
              <a:tabLst>
                <a:tab pos="723882" algn="l"/>
                <a:tab pos="1447764" algn="l"/>
                <a:tab pos="2171646" algn="l"/>
                <a:tab pos="2895528" algn="l"/>
                <a:tab pos="3619410" algn="l"/>
                <a:tab pos="4343291" algn="l"/>
                <a:tab pos="5067173" algn="l"/>
                <a:tab pos="5791055" algn="l"/>
                <a:tab pos="6514937" algn="l"/>
                <a:tab pos="7238819" algn="l"/>
                <a:tab pos="7962701" algn="l"/>
                <a:tab pos="8686583" algn="l"/>
              </a:tabLst>
            </a:pPr>
            <a:r>
              <a:rPr lang="en-US" altLang="zh-CN" sz="2800" b="1" dirty="0">
                <a:sym typeface="+mn-ea"/>
              </a:rPr>
              <a:t>    </a:t>
            </a:r>
            <a:r>
              <a:rPr lang="en-US" altLang="zh-CN" sz="2800" b="1" dirty="0">
                <a:latin typeface="Times New Roman" panose="02060603050605020204" pitchFamily="18" charset="0"/>
                <a:cs typeface="Times New Roman" panose="02060603050605020204" pitchFamily="18" charset="0"/>
                <a:sym typeface="+mn-ea"/>
              </a:rPr>
              <a:t>1</a:t>
            </a:r>
            <a:r>
              <a:rPr lang="en-US" altLang="zh-CN" sz="2800" b="1" dirty="0">
                <a:sym typeface="+mn-ea"/>
              </a:rPr>
              <a:t>. </a:t>
            </a:r>
            <a:r>
              <a:rPr lang="zh-CN" altLang="en-US" sz="2800" b="1" dirty="0">
                <a:sym typeface="+mn-ea"/>
              </a:rPr>
              <a:t>如果</a:t>
            </a:r>
            <a:r>
              <a:rPr lang="en-US" altLang="zh-CN" sz="2800" b="1" dirty="0">
                <a:sym typeface="+mn-ea"/>
              </a:rPr>
              <a:t> </a:t>
            </a:r>
            <a:r>
              <a:rPr sz="2800" b="1" dirty="0">
                <a:latin typeface="Times New Roman" panose="02060603050605020204" pitchFamily="18" charset="0"/>
                <a:cs typeface="Times New Roman" panose="02060603050605020204" pitchFamily="18" charset="0"/>
                <a:sym typeface="+mn-ea"/>
              </a:rPr>
              <a:t>v ∈ use[n]</a:t>
            </a:r>
            <a:r>
              <a:rPr lang="zh-CN" altLang="en-US" sz="2800" b="1" dirty="0">
                <a:sym typeface="+mn-ea"/>
              </a:rPr>
              <a:t>，则</a:t>
            </a:r>
            <a:r>
              <a:rPr lang="en-US" altLang="zh-CN" sz="2800" b="1" dirty="0">
                <a:sym typeface="+mn-ea"/>
              </a:rPr>
              <a:t> </a:t>
            </a:r>
            <a:r>
              <a:rPr sz="2800" b="1" dirty="0">
                <a:latin typeface="Times New Roman" panose="02060603050605020204" pitchFamily="18" charset="0"/>
                <a:cs typeface="Times New Roman" panose="02060603050605020204" pitchFamily="18" charset="0"/>
                <a:sym typeface="+mn-ea"/>
              </a:rPr>
              <a:t>v live-in at n</a:t>
            </a:r>
          </a:p>
          <a:p>
            <a:pPr marL="431789" indent="-323843" defTabSz="449569">
              <a:lnSpc>
                <a:spcPct val="120000"/>
              </a:lnSpc>
              <a:buSzPct val="45000"/>
              <a:buNone/>
              <a:tabLst>
                <a:tab pos="723882" algn="l"/>
                <a:tab pos="1447764" algn="l"/>
                <a:tab pos="2171646" algn="l"/>
                <a:tab pos="2895528" algn="l"/>
                <a:tab pos="3619410" algn="l"/>
                <a:tab pos="4343291" algn="l"/>
                <a:tab pos="5067173" algn="l"/>
                <a:tab pos="5791055" algn="l"/>
                <a:tab pos="6514937" algn="l"/>
                <a:tab pos="7238819" algn="l"/>
                <a:tab pos="7962701" algn="l"/>
                <a:tab pos="8686583" algn="l"/>
              </a:tabLst>
            </a:pPr>
            <a:r>
              <a:rPr lang="en-US" sz="2800" b="1" dirty="0">
                <a:latin typeface="Times New Roman" panose="02060603050605020204" pitchFamily="18" charset="0"/>
                <a:cs typeface="Times New Roman" panose="02060603050605020204" pitchFamily="18" charset="0"/>
                <a:sym typeface="+mn-ea"/>
              </a:rPr>
              <a:t>      2. v live-out at all </a:t>
            </a:r>
            <a:r>
              <a:rPr lang="en-US" sz="2800" b="1" dirty="0">
                <a:solidFill>
                  <a:srgbClr val="FF0000"/>
                </a:solidFill>
                <a:latin typeface="Times New Roman" panose="02060603050605020204" pitchFamily="18" charset="0"/>
                <a:cs typeface="Times New Roman" panose="02060603050605020204" pitchFamily="18" charset="0"/>
                <a:sym typeface="+mn-ea"/>
              </a:rPr>
              <a:t>in[m] ,m∈ </a:t>
            </a:r>
            <a:r>
              <a:rPr lang="en-US" altLang="zh-CN" sz="2800" b="1" dirty="0" err="1">
                <a:solidFill>
                  <a:srgbClr val="FF0000"/>
                </a:solidFill>
                <a:latin typeface="Times New Roman" panose="02060603050605020204" pitchFamily="18" charset="0"/>
                <a:cs typeface="Times New Roman" panose="02060603050605020204" pitchFamily="18" charset="0"/>
                <a:sym typeface="+mn-ea"/>
              </a:rPr>
              <a:t>succ</a:t>
            </a:r>
            <a:r>
              <a:rPr lang="en-US" sz="2800" b="1" dirty="0">
                <a:solidFill>
                  <a:srgbClr val="FF0000"/>
                </a:solidFill>
                <a:latin typeface="Times New Roman" panose="02060603050605020204" pitchFamily="18" charset="0"/>
                <a:cs typeface="Times New Roman" panose="02060603050605020204" pitchFamily="18" charset="0"/>
                <a:sym typeface="+mn-ea"/>
              </a:rPr>
              <a:t>[n]</a:t>
            </a:r>
          </a:p>
          <a:p>
            <a:pPr marL="431789" indent="-323843" defTabSz="449569">
              <a:lnSpc>
                <a:spcPct val="120000"/>
              </a:lnSpc>
              <a:buSzPct val="45000"/>
              <a:buNone/>
              <a:tabLst>
                <a:tab pos="723882" algn="l"/>
                <a:tab pos="1447764" algn="l"/>
                <a:tab pos="2171646" algn="l"/>
                <a:tab pos="2895528" algn="l"/>
                <a:tab pos="3619410" algn="l"/>
                <a:tab pos="4343291" algn="l"/>
                <a:tab pos="5067173" algn="l"/>
                <a:tab pos="5791055" algn="l"/>
                <a:tab pos="6514937" algn="l"/>
                <a:tab pos="7238819" algn="l"/>
                <a:tab pos="7962701" algn="l"/>
                <a:tab pos="8686583" algn="l"/>
              </a:tabLst>
            </a:pPr>
            <a:r>
              <a:rPr lang="en-US" sz="2800" b="1" dirty="0">
                <a:latin typeface="Times New Roman" panose="02060603050605020204" pitchFamily="18" charset="0"/>
                <a:cs typeface="Times New Roman" panose="02060603050605020204" pitchFamily="18" charset="0"/>
                <a:sym typeface="+mn-ea"/>
              </a:rPr>
              <a:t>           pred[n]</a:t>
            </a:r>
            <a:r>
              <a:rPr lang="zh-CN" altLang="en-US" sz="2800" b="1" dirty="0">
                <a:latin typeface="Times New Roman" panose="02060603050605020204" pitchFamily="18" charset="0"/>
                <a:cs typeface="Times New Roman" panose="02060603050605020204" pitchFamily="18" charset="0"/>
                <a:sym typeface="+mn-ea"/>
              </a:rPr>
              <a:t>：结点</a:t>
            </a:r>
            <a:r>
              <a:rPr lang="en-US" altLang="zh-CN" sz="2800" b="1" dirty="0">
                <a:latin typeface="Times New Roman" panose="02060603050605020204" pitchFamily="18" charset="0"/>
                <a:cs typeface="Times New Roman" panose="02060603050605020204" pitchFamily="18" charset="0"/>
                <a:sym typeface="+mn-ea"/>
              </a:rPr>
              <a:t> </a:t>
            </a:r>
            <a:r>
              <a:rPr lang="en-US" sz="2800" b="1" dirty="0">
                <a:latin typeface="Times New Roman" panose="02060603050605020204" pitchFamily="18" charset="0"/>
                <a:cs typeface="Times New Roman" panose="02060603050605020204" pitchFamily="18" charset="0"/>
                <a:sym typeface="+mn-ea"/>
              </a:rPr>
              <a:t>n 的前驱节点</a:t>
            </a:r>
          </a:p>
          <a:p>
            <a:pPr marL="431789" indent="-323843" defTabSz="449569">
              <a:lnSpc>
                <a:spcPct val="120000"/>
              </a:lnSpc>
              <a:buSzPct val="45000"/>
              <a:buNone/>
              <a:tabLst>
                <a:tab pos="723882" algn="l"/>
                <a:tab pos="1447764" algn="l"/>
                <a:tab pos="2171646" algn="l"/>
                <a:tab pos="2895528" algn="l"/>
                <a:tab pos="3619410" algn="l"/>
                <a:tab pos="4343291" algn="l"/>
                <a:tab pos="5067173" algn="l"/>
                <a:tab pos="5791055" algn="l"/>
                <a:tab pos="6514937" algn="l"/>
                <a:tab pos="7238819" algn="l"/>
                <a:tab pos="7962701" algn="l"/>
                <a:tab pos="8686583" algn="l"/>
              </a:tabLst>
            </a:pPr>
            <a:r>
              <a:rPr lang="en-US" sz="2800" b="1" dirty="0">
                <a:latin typeface="Times New Roman" panose="02060603050605020204" pitchFamily="18" charset="0"/>
                <a:cs typeface="Times New Roman" panose="02060603050605020204" pitchFamily="18" charset="0"/>
                <a:sym typeface="+mn-ea"/>
              </a:rPr>
              <a:t>            succ[n]</a:t>
            </a:r>
            <a:r>
              <a:rPr lang="zh-CN" altLang="en-US" sz="2800" b="1" dirty="0">
                <a:latin typeface="Times New Roman" panose="02060603050605020204" pitchFamily="18" charset="0"/>
                <a:cs typeface="Times New Roman" panose="02060603050605020204" pitchFamily="18" charset="0"/>
                <a:sym typeface="+mn-ea"/>
              </a:rPr>
              <a:t>：结点</a:t>
            </a:r>
            <a:r>
              <a:rPr lang="en-US" sz="2800" b="1" dirty="0">
                <a:latin typeface="Times New Roman" panose="02060603050605020204" pitchFamily="18" charset="0"/>
                <a:cs typeface="Times New Roman" panose="02060603050605020204" pitchFamily="18" charset="0"/>
                <a:sym typeface="+mn-ea"/>
              </a:rPr>
              <a:t> n 的后继节点</a:t>
            </a:r>
          </a:p>
          <a:p>
            <a:pPr marL="431789" indent="-323843" defTabSz="449569">
              <a:lnSpc>
                <a:spcPct val="120000"/>
              </a:lnSpc>
              <a:buSzPct val="45000"/>
              <a:buNone/>
              <a:tabLst>
                <a:tab pos="723882" algn="l"/>
                <a:tab pos="1447764" algn="l"/>
                <a:tab pos="2171646" algn="l"/>
                <a:tab pos="2895528" algn="l"/>
                <a:tab pos="3619410" algn="l"/>
                <a:tab pos="4343291" algn="l"/>
                <a:tab pos="5067173" algn="l"/>
                <a:tab pos="5791055" algn="l"/>
                <a:tab pos="6514937" algn="l"/>
                <a:tab pos="7238819" algn="l"/>
                <a:tab pos="7962701" algn="l"/>
                <a:tab pos="8686583" algn="l"/>
              </a:tabLst>
            </a:pPr>
            <a:r>
              <a:rPr lang="en-US" sz="2800" b="1" dirty="0">
                <a:latin typeface="Times New Roman" panose="02060603050605020204" pitchFamily="18" charset="0"/>
                <a:cs typeface="Times New Roman" panose="02060603050605020204" pitchFamily="18" charset="0"/>
                <a:sym typeface="+mn-ea"/>
              </a:rPr>
              <a:t>      3. </a:t>
            </a:r>
            <a:r>
              <a:rPr lang="zh-CN" altLang="en-US" sz="2800" b="1" dirty="0">
                <a:latin typeface="Times New Roman" panose="02060603050605020204" pitchFamily="18" charset="0"/>
                <a:cs typeface="Times New Roman" panose="02060603050605020204" pitchFamily="18" charset="0"/>
                <a:sym typeface="+mn-ea"/>
              </a:rPr>
              <a:t>如果</a:t>
            </a:r>
            <a:r>
              <a:rPr lang="en-US" altLang="zh-CN" sz="2800" b="1" dirty="0">
                <a:latin typeface="Times New Roman" panose="02060603050605020204" pitchFamily="18" charset="0"/>
                <a:cs typeface="Times New Roman" panose="02060603050605020204" pitchFamily="18" charset="0"/>
                <a:sym typeface="+mn-ea"/>
              </a:rPr>
              <a:t> </a:t>
            </a:r>
            <a:r>
              <a:rPr lang="en-US" sz="2800" b="1" dirty="0">
                <a:latin typeface="Times New Roman" panose="02060603050605020204" pitchFamily="18" charset="0"/>
                <a:cs typeface="Times New Roman" panose="02060603050605020204" pitchFamily="18" charset="0"/>
                <a:sym typeface="+mn-ea"/>
              </a:rPr>
              <a:t>v live-out at n </a:t>
            </a:r>
            <a:r>
              <a:rPr lang="zh-CN" altLang="en-US" sz="2800" b="1" dirty="0">
                <a:latin typeface="Times New Roman" panose="02060603050605020204" pitchFamily="18" charset="0"/>
                <a:cs typeface="Times New Roman" panose="02060603050605020204" pitchFamily="18" charset="0"/>
                <a:sym typeface="+mn-ea"/>
              </a:rPr>
              <a:t>且</a:t>
            </a:r>
            <a:r>
              <a:rPr lang="en-US" sz="2800" b="1" dirty="0">
                <a:latin typeface="Times New Roman" panose="02060603050605020204" pitchFamily="18" charset="0"/>
                <a:cs typeface="Times New Roman" panose="02060603050605020204" pitchFamily="18" charset="0"/>
                <a:sym typeface="+mn-ea"/>
              </a:rPr>
              <a:t> v ∉ def[n]</a:t>
            </a:r>
            <a:r>
              <a:rPr lang="zh-CN" altLang="en-US" sz="2800" b="1" dirty="0">
                <a:latin typeface="Times New Roman" panose="02060603050605020204" pitchFamily="18" charset="0"/>
                <a:cs typeface="Times New Roman" panose="02060603050605020204" pitchFamily="18" charset="0"/>
                <a:sym typeface="+mn-ea"/>
              </a:rPr>
              <a:t>，则</a:t>
            </a:r>
            <a:r>
              <a:rPr lang="en-US" sz="2800" b="1" dirty="0">
                <a:latin typeface="Times New Roman" panose="02060603050605020204" pitchFamily="18" charset="0"/>
                <a:cs typeface="Times New Roman" panose="02060603050605020204" pitchFamily="18" charset="0"/>
                <a:sym typeface="+mn-ea"/>
              </a:rPr>
              <a:t> v live-in at n (</a:t>
            </a:r>
            <a:r>
              <a:rPr lang="zh-CN" altLang="en-US" sz="2800" b="1" dirty="0">
                <a:latin typeface="Times New Roman" panose="02060603050605020204" pitchFamily="18" charset="0"/>
                <a:cs typeface="Times New Roman" panose="02060603050605020204" pitchFamily="18" charset="0"/>
                <a:sym typeface="+mn-ea"/>
              </a:rPr>
              <a:t>“活跃”可传播性</a:t>
            </a:r>
            <a:r>
              <a:rPr lang="en-US" sz="2800" b="1" dirty="0">
                <a:latin typeface="Times New Roman" panose="02060603050605020204" pitchFamily="18" charset="0"/>
                <a:cs typeface="Times New Roman" panose="02060603050605020204" pitchFamily="18" charset="0"/>
                <a:sym typeface="+mn-ea"/>
              </a:rPr>
              <a:t>)</a:t>
            </a:r>
          </a:p>
          <a:p>
            <a:pPr marL="431789" indent="-323843" defTabSz="449569">
              <a:lnSpc>
                <a:spcPct val="120000"/>
              </a:lnSpc>
              <a:buSzPct val="45000"/>
              <a:buNone/>
              <a:tabLst>
                <a:tab pos="723882" algn="l"/>
                <a:tab pos="1447764" algn="l"/>
                <a:tab pos="2171646" algn="l"/>
                <a:tab pos="2895528" algn="l"/>
                <a:tab pos="3619410" algn="l"/>
                <a:tab pos="4343291" algn="l"/>
                <a:tab pos="5067173" algn="l"/>
                <a:tab pos="5791055" algn="l"/>
                <a:tab pos="6514937" algn="l"/>
                <a:tab pos="7238819" algn="l"/>
                <a:tab pos="7962701" algn="l"/>
                <a:tab pos="8686583" algn="l"/>
              </a:tabLst>
            </a:pPr>
            <a:r>
              <a:rPr lang="en-US" sz="2800" b="1" dirty="0">
                <a:latin typeface="Times New Roman" panose="02060603050605020204" pitchFamily="18" charset="0"/>
                <a:cs typeface="Times New Roman" panose="02060603050605020204" pitchFamily="18" charset="0"/>
                <a:sym typeface="+mn-ea"/>
              </a:rPr>
              <a:t>       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21</a:t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2" name="文本框 1"/>
          <p:cNvSpPr txBox="1"/>
          <p:nvPr/>
        </p:nvSpPr>
        <p:spPr>
          <a:xfrm>
            <a:off x="1127125" y="5223512"/>
            <a:ext cx="5628464" cy="633187"/>
          </a:xfrm>
          <a:prstGeom prst="rect">
            <a:avLst/>
          </a:prstGeom>
          <a:solidFill>
            <a:srgbClr val="FFFF00"/>
          </a:solidFill>
        </p:spPr>
        <p:txBody>
          <a:bodyPr wrap="none" rtlCol="0" anchor="t">
            <a:spAutoFit/>
          </a:bodyPr>
          <a:lstStyle/>
          <a:p>
            <a:pPr marL="431789" indent="-323843" defTabSz="449569">
              <a:lnSpc>
                <a:spcPct val="120000"/>
              </a:lnSpc>
              <a:buSzPct val="45000"/>
              <a:tabLst>
                <a:tab pos="723882" algn="l"/>
                <a:tab pos="1447764" algn="l"/>
                <a:tab pos="2171646" algn="l"/>
                <a:tab pos="2895528" algn="l"/>
                <a:tab pos="3619410" algn="l"/>
                <a:tab pos="4343291" algn="l"/>
                <a:tab pos="5067173" algn="l"/>
                <a:tab pos="5791055" algn="l"/>
                <a:tab pos="6514937" algn="l"/>
                <a:tab pos="7238819" algn="l"/>
                <a:tab pos="7962701" algn="l"/>
                <a:tab pos="8686583" algn="l"/>
              </a:tabLst>
            </a:pPr>
            <a:r>
              <a:rPr lang="zh-CN" altLang="en-US" sz="3200" b="1" dirty="0">
                <a:latin typeface="楷体_GB2312" panose="02010609030101010101" charset="-122"/>
                <a:ea typeface="楷体_GB2312" panose="02010609030101010101" charset="-122"/>
                <a:cs typeface="Times New Roman" panose="02060603050605020204" pitchFamily="18" charset="0"/>
                <a:sym typeface="+mn-ea"/>
              </a:rPr>
              <a:t>变量的活跃信息是反向传播的</a:t>
            </a: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0C63C8B8-DD0F-176B-3E36-F0F98B48D312}"/>
              </a:ext>
            </a:extLst>
          </p:cNvPr>
          <p:cNvGrpSpPr/>
          <p:nvPr/>
        </p:nvGrpSpPr>
        <p:grpSpPr>
          <a:xfrm>
            <a:off x="7349489" y="1270635"/>
            <a:ext cx="4611415" cy="2187547"/>
            <a:chOff x="3340288" y="135890"/>
            <a:chExt cx="8463205" cy="4243070"/>
          </a:xfrm>
        </p:grpSpPr>
        <p:pic>
          <p:nvPicPr>
            <p:cNvPr id="14" name="图片 13">
              <a:extLst>
                <a:ext uri="{FF2B5EF4-FFF2-40B4-BE49-F238E27FC236}">
                  <a16:creationId xmlns:a16="http://schemas.microsoft.com/office/drawing/2014/main" id="{BC064FBD-0641-A7CF-2C9B-FC3BC1EC2AE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340288" y="135890"/>
              <a:ext cx="8463205" cy="4243070"/>
            </a:xfrm>
            <a:prstGeom prst="rect">
              <a:avLst/>
            </a:prstGeom>
          </p:spPr>
        </p:pic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96346DD6-725A-DFA5-6BC6-9BF813AB4F7C}"/>
                </a:ext>
              </a:extLst>
            </p:cNvPr>
            <p:cNvSpPr/>
            <p:nvPr/>
          </p:nvSpPr>
          <p:spPr>
            <a:xfrm>
              <a:off x="4409440" y="508000"/>
              <a:ext cx="3139440" cy="2235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b="1" dirty="0">
                <a:latin typeface="楷体_GB2312" panose="02010609030101010101" charset="-122"/>
                <a:ea typeface="楷体_GB2312" panose="02010609030101010101" charset="-122"/>
                <a:sym typeface="+mn-ea"/>
              </a:rPr>
              <a:t>相关概念与定义</a:t>
            </a:r>
          </a:p>
        </p:txBody>
      </p:sp>
      <p:sp>
        <p:nvSpPr>
          <p:cNvPr id="6" name="文本占位符 5"/>
          <p:cNvSpPr>
            <a:spLocks noGrp="1"/>
          </p:cNvSpPr>
          <p:nvPr>
            <p:ph type="body" idx="4294967295"/>
          </p:nvPr>
        </p:nvSpPr>
        <p:spPr>
          <a:xfrm>
            <a:off x="127636" y="1388112"/>
            <a:ext cx="11997691" cy="5091431"/>
          </a:xfrm>
        </p:spPr>
        <p:txBody>
          <a:bodyPr>
            <a:normAutofit/>
          </a:bodyPr>
          <a:lstStyle/>
          <a:p>
            <a:pPr marL="431789" indent="-323843" defTabSz="449569">
              <a:lnSpc>
                <a:spcPct val="120000"/>
              </a:lnSpc>
              <a:buSzPct val="45000"/>
              <a:buNone/>
              <a:tabLst>
                <a:tab pos="723882" algn="l"/>
                <a:tab pos="1447764" algn="l"/>
                <a:tab pos="2171646" algn="l"/>
                <a:tab pos="2895528" algn="l"/>
                <a:tab pos="3619410" algn="l"/>
                <a:tab pos="4343291" algn="l"/>
                <a:tab pos="5067173" algn="l"/>
                <a:tab pos="5791055" algn="l"/>
                <a:tab pos="6514937" algn="l"/>
                <a:tab pos="7238819" algn="l"/>
                <a:tab pos="7962701" algn="l"/>
                <a:tab pos="8686583" algn="l"/>
              </a:tabLst>
            </a:pPr>
            <a:r>
              <a:rPr lang="zh-CN" altLang="en-US" sz="2800" b="1" dirty="0">
                <a:latin typeface="Times New Roman" panose="02060603050605020204" pitchFamily="18" charset="0"/>
                <a:cs typeface="Times New Roman" panose="02060603050605020204" pitchFamily="18" charset="0"/>
                <a:sym typeface="+mn-ea"/>
              </a:rPr>
              <a:t>变量</a:t>
            </a:r>
            <a:r>
              <a:rPr lang="en-US" altLang="zh-CN" sz="2800" b="1" dirty="0">
                <a:latin typeface="Times New Roman" panose="02060603050605020204" pitchFamily="18" charset="0"/>
                <a:cs typeface="Times New Roman" panose="02060603050605020204" pitchFamily="18" charset="0"/>
                <a:sym typeface="+mn-ea"/>
              </a:rPr>
              <a:t> v </a:t>
            </a:r>
            <a:r>
              <a:rPr lang="zh-CN" altLang="en-US" sz="2800" b="1" dirty="0">
                <a:latin typeface="Times New Roman" panose="02060603050605020204" pitchFamily="18" charset="0"/>
                <a:cs typeface="Times New Roman" panose="02060603050605020204" pitchFamily="18" charset="0"/>
                <a:sym typeface="+mn-ea"/>
              </a:rPr>
              <a:t>是否“活跃”的计算规则</a:t>
            </a:r>
          </a:p>
          <a:p>
            <a:pPr marL="431789" indent="-323843" defTabSz="449569">
              <a:lnSpc>
                <a:spcPct val="120000"/>
              </a:lnSpc>
              <a:buSzPct val="45000"/>
              <a:buNone/>
              <a:tabLst>
                <a:tab pos="723882" algn="l"/>
                <a:tab pos="1447764" algn="l"/>
                <a:tab pos="2171646" algn="l"/>
                <a:tab pos="2895528" algn="l"/>
                <a:tab pos="3619410" algn="l"/>
                <a:tab pos="4343291" algn="l"/>
                <a:tab pos="5067173" algn="l"/>
                <a:tab pos="5791055" algn="l"/>
                <a:tab pos="6514937" algn="l"/>
                <a:tab pos="7238819" algn="l"/>
                <a:tab pos="7962701" algn="l"/>
                <a:tab pos="8686583" algn="l"/>
              </a:tabLst>
            </a:pPr>
            <a:r>
              <a:rPr lang="en-US" altLang="zh-CN" sz="2800" b="1" dirty="0">
                <a:sym typeface="+mn-ea"/>
              </a:rPr>
              <a:t>    </a:t>
            </a:r>
            <a:endParaRPr lang="en-US" sz="2800" b="1" dirty="0">
              <a:latin typeface="Times New Roman" panose="02060603050605020204" pitchFamily="18" charset="0"/>
              <a:cs typeface="Times New Roman" panose="02060603050605020204" pitchFamily="18" charset="0"/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22</a:t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586" y="2108200"/>
            <a:ext cx="7656831" cy="3534411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616B2998-2BAC-9162-8222-13DCE8FA829C}"/>
              </a:ext>
            </a:extLst>
          </p:cNvPr>
          <p:cNvSpPr txBox="1"/>
          <p:nvPr/>
        </p:nvSpPr>
        <p:spPr>
          <a:xfrm>
            <a:off x="1000444" y="5680349"/>
            <a:ext cx="5628464" cy="633187"/>
          </a:xfrm>
          <a:prstGeom prst="rect">
            <a:avLst/>
          </a:prstGeom>
          <a:solidFill>
            <a:srgbClr val="FFFF00"/>
          </a:solidFill>
        </p:spPr>
        <p:txBody>
          <a:bodyPr wrap="none" rtlCol="0" anchor="t">
            <a:spAutoFit/>
          </a:bodyPr>
          <a:lstStyle/>
          <a:p>
            <a:pPr marL="431789" indent="-323843" defTabSz="449569">
              <a:lnSpc>
                <a:spcPct val="120000"/>
              </a:lnSpc>
              <a:buSzPct val="45000"/>
              <a:tabLst>
                <a:tab pos="723882" algn="l"/>
                <a:tab pos="1447764" algn="l"/>
                <a:tab pos="2171646" algn="l"/>
                <a:tab pos="2895528" algn="l"/>
                <a:tab pos="3619410" algn="l"/>
                <a:tab pos="4343291" algn="l"/>
                <a:tab pos="5067173" algn="l"/>
                <a:tab pos="5791055" algn="l"/>
                <a:tab pos="6514937" algn="l"/>
                <a:tab pos="7238819" algn="l"/>
                <a:tab pos="7962701" algn="l"/>
                <a:tab pos="8686583" algn="l"/>
              </a:tabLst>
            </a:pPr>
            <a:r>
              <a:rPr lang="zh-CN" altLang="en-US" sz="3200" b="1" dirty="0">
                <a:latin typeface="楷体_GB2312" panose="02010609030101010101" charset="-122"/>
                <a:ea typeface="楷体_GB2312" panose="02010609030101010101" charset="-122"/>
                <a:cs typeface="Times New Roman" panose="02060603050605020204" pitchFamily="18" charset="0"/>
                <a:sym typeface="+mn-ea"/>
              </a:rPr>
              <a:t>变量的活跃信息是反向传播的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8C0FD3BB-B6A7-5D1C-9292-C1EC15148F73}"/>
              </a:ext>
            </a:extLst>
          </p:cNvPr>
          <p:cNvGrpSpPr/>
          <p:nvPr/>
        </p:nvGrpSpPr>
        <p:grpSpPr>
          <a:xfrm>
            <a:off x="6869429" y="3612323"/>
            <a:ext cx="5219381" cy="2448755"/>
            <a:chOff x="3340288" y="135890"/>
            <a:chExt cx="8463205" cy="4243070"/>
          </a:xfrm>
        </p:grpSpPr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FDCEE261-1157-CB62-A588-DA5D63F4AF0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340288" y="135890"/>
              <a:ext cx="8463205" cy="4243070"/>
            </a:xfrm>
            <a:prstGeom prst="rect">
              <a:avLst/>
            </a:prstGeom>
          </p:spPr>
        </p:pic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5C0705C2-324B-81FF-B76B-14C7B3C3721A}"/>
                </a:ext>
              </a:extLst>
            </p:cNvPr>
            <p:cNvSpPr/>
            <p:nvPr/>
          </p:nvSpPr>
          <p:spPr>
            <a:xfrm>
              <a:off x="4409440" y="508000"/>
              <a:ext cx="3139440" cy="2235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b="1" dirty="0">
                <a:latin typeface="楷体_GB2312" panose="02010609030101010101" charset="-122"/>
                <a:ea typeface="楷体_GB2312" panose="02010609030101010101" charset="-122"/>
                <a:sym typeface="+mn-ea"/>
              </a:rPr>
              <a:t>相关概念与定义</a:t>
            </a:r>
          </a:p>
        </p:txBody>
      </p:sp>
      <p:sp>
        <p:nvSpPr>
          <p:cNvPr id="6" name="文本占位符 5"/>
          <p:cNvSpPr>
            <a:spLocks noGrp="1"/>
          </p:cNvSpPr>
          <p:nvPr>
            <p:ph type="body" idx="4294967295"/>
          </p:nvPr>
        </p:nvSpPr>
        <p:spPr>
          <a:xfrm>
            <a:off x="127636" y="1388112"/>
            <a:ext cx="11997691" cy="5091431"/>
          </a:xfrm>
        </p:spPr>
        <p:txBody>
          <a:bodyPr>
            <a:normAutofit/>
          </a:bodyPr>
          <a:lstStyle/>
          <a:p>
            <a:pPr marL="431789" indent="-323843" defTabSz="449569">
              <a:lnSpc>
                <a:spcPct val="120000"/>
              </a:lnSpc>
              <a:buSzPct val="45000"/>
              <a:buNone/>
              <a:tabLst>
                <a:tab pos="723882" algn="l"/>
                <a:tab pos="1447764" algn="l"/>
                <a:tab pos="2171646" algn="l"/>
                <a:tab pos="2895528" algn="l"/>
                <a:tab pos="3619410" algn="l"/>
                <a:tab pos="4343291" algn="l"/>
                <a:tab pos="5067173" algn="l"/>
                <a:tab pos="5791055" algn="l"/>
                <a:tab pos="6514937" algn="l"/>
                <a:tab pos="7238819" algn="l"/>
                <a:tab pos="7962701" algn="l"/>
                <a:tab pos="8686583" algn="l"/>
              </a:tabLst>
            </a:pPr>
            <a:r>
              <a:rPr lang="zh-CN" altLang="en-US" sz="2800" b="1" dirty="0">
                <a:latin typeface="Times New Roman" panose="02060603050605020204" pitchFamily="18" charset="0"/>
                <a:cs typeface="Times New Roman" panose="02060603050605020204" pitchFamily="18" charset="0"/>
                <a:sym typeface="+mn-ea"/>
              </a:rPr>
              <a:t>计算变量</a:t>
            </a:r>
            <a:r>
              <a:rPr lang="en-US" altLang="zh-CN" sz="2800" b="1" dirty="0">
                <a:latin typeface="Times New Roman" panose="02060603050605020204" pitchFamily="18" charset="0"/>
                <a:cs typeface="Times New Roman" panose="02060603050605020204" pitchFamily="18" charset="0"/>
                <a:sym typeface="+mn-ea"/>
              </a:rPr>
              <a:t> v </a:t>
            </a:r>
            <a:r>
              <a:rPr lang="zh-CN" altLang="en-US" sz="2800" b="1" dirty="0">
                <a:latin typeface="Times New Roman" panose="02060603050605020204" pitchFamily="18" charset="0"/>
                <a:cs typeface="Times New Roman" panose="02060603050605020204" pitchFamily="18" charset="0"/>
                <a:sym typeface="+mn-ea"/>
              </a:rPr>
              <a:t>是否“活跃”的算法</a:t>
            </a:r>
          </a:p>
          <a:p>
            <a:pPr marL="431789" indent="-323843" defTabSz="449569">
              <a:lnSpc>
                <a:spcPct val="120000"/>
              </a:lnSpc>
              <a:buSzPct val="45000"/>
              <a:buNone/>
              <a:tabLst>
                <a:tab pos="723882" algn="l"/>
                <a:tab pos="1447764" algn="l"/>
                <a:tab pos="2171646" algn="l"/>
                <a:tab pos="2895528" algn="l"/>
                <a:tab pos="3619410" algn="l"/>
                <a:tab pos="4343291" algn="l"/>
                <a:tab pos="5067173" algn="l"/>
                <a:tab pos="5791055" algn="l"/>
                <a:tab pos="6514937" algn="l"/>
                <a:tab pos="7238819" algn="l"/>
                <a:tab pos="7962701" algn="l"/>
                <a:tab pos="8686583" algn="l"/>
              </a:tabLst>
            </a:pPr>
            <a:r>
              <a:rPr lang="en-US" altLang="zh-CN" sz="2800" b="1" dirty="0">
                <a:sym typeface="+mn-ea"/>
              </a:rPr>
              <a:t>    </a:t>
            </a:r>
            <a:endParaRPr lang="en-US" sz="2800" b="1" dirty="0">
              <a:latin typeface="Times New Roman" panose="02060603050605020204" pitchFamily="18" charset="0"/>
              <a:cs typeface="Times New Roman" panose="02060603050605020204" pitchFamily="18" charset="0"/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23</a:t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4671" y="2012954"/>
            <a:ext cx="6103620" cy="4467225"/>
          </a:xfrm>
          <a:prstGeom prst="rect">
            <a:avLst/>
          </a:prstGeom>
        </p:spPr>
      </p:pic>
      <p:grpSp>
        <p:nvGrpSpPr>
          <p:cNvPr id="10" name="组合 9">
            <a:extLst>
              <a:ext uri="{FF2B5EF4-FFF2-40B4-BE49-F238E27FC236}">
                <a16:creationId xmlns:a16="http://schemas.microsoft.com/office/drawing/2014/main" id="{8C0FD3BB-B6A7-5D1C-9292-C1EC15148F73}"/>
              </a:ext>
            </a:extLst>
          </p:cNvPr>
          <p:cNvGrpSpPr/>
          <p:nvPr/>
        </p:nvGrpSpPr>
        <p:grpSpPr>
          <a:xfrm>
            <a:off x="6263639" y="1895477"/>
            <a:ext cx="5219381" cy="2448755"/>
            <a:chOff x="3340288" y="135890"/>
            <a:chExt cx="8463205" cy="4243070"/>
          </a:xfrm>
        </p:grpSpPr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FDCEE261-1157-CB62-A588-DA5D63F4AF0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340288" y="135890"/>
              <a:ext cx="8463205" cy="4243070"/>
            </a:xfrm>
            <a:prstGeom prst="rect">
              <a:avLst/>
            </a:prstGeom>
          </p:spPr>
        </p:pic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5C0705C2-324B-81FF-B76B-14C7B3C3721A}"/>
                </a:ext>
              </a:extLst>
            </p:cNvPr>
            <p:cNvSpPr/>
            <p:nvPr/>
          </p:nvSpPr>
          <p:spPr>
            <a:xfrm>
              <a:off x="4409440" y="508000"/>
              <a:ext cx="3139440" cy="2235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b="1" dirty="0">
                <a:latin typeface="楷体_GB2312" panose="02010609030101010101" charset="-122"/>
                <a:ea typeface="楷体_GB2312" panose="02010609030101010101" charset="-122"/>
                <a:sym typeface="+mn-ea"/>
              </a:rPr>
              <a:t>相关概念与定义</a:t>
            </a:r>
          </a:p>
        </p:txBody>
      </p:sp>
      <p:sp>
        <p:nvSpPr>
          <p:cNvPr id="6" name="文本占位符 5"/>
          <p:cNvSpPr>
            <a:spLocks noGrp="1"/>
          </p:cNvSpPr>
          <p:nvPr>
            <p:ph type="body" idx="4294967295"/>
          </p:nvPr>
        </p:nvSpPr>
        <p:spPr>
          <a:xfrm>
            <a:off x="127636" y="1388112"/>
            <a:ext cx="11997691" cy="5091431"/>
          </a:xfrm>
        </p:spPr>
        <p:txBody>
          <a:bodyPr>
            <a:normAutofit/>
          </a:bodyPr>
          <a:lstStyle/>
          <a:p>
            <a:pPr marL="431789" indent="-323843" defTabSz="449569">
              <a:lnSpc>
                <a:spcPct val="120000"/>
              </a:lnSpc>
              <a:buSzPct val="45000"/>
              <a:buNone/>
              <a:tabLst>
                <a:tab pos="723882" algn="l"/>
                <a:tab pos="1447764" algn="l"/>
                <a:tab pos="2171646" algn="l"/>
                <a:tab pos="2895528" algn="l"/>
                <a:tab pos="3619410" algn="l"/>
                <a:tab pos="4343291" algn="l"/>
                <a:tab pos="5067173" algn="l"/>
                <a:tab pos="5791055" algn="l"/>
                <a:tab pos="6514937" algn="l"/>
                <a:tab pos="7238819" algn="l"/>
                <a:tab pos="7962701" algn="l"/>
                <a:tab pos="8686583" algn="l"/>
              </a:tabLst>
            </a:pPr>
            <a:r>
              <a:rPr lang="zh-CN" altLang="en-US" sz="2800" b="1" dirty="0">
                <a:latin typeface="Times New Roman" panose="02060603050605020204" pitchFamily="18" charset="0"/>
                <a:cs typeface="Times New Roman" panose="02060603050605020204" pitchFamily="18" charset="0"/>
                <a:sym typeface="+mn-ea"/>
              </a:rPr>
              <a:t>计算示例</a:t>
            </a:r>
          </a:p>
          <a:p>
            <a:pPr marL="431789" indent="-323843" defTabSz="449569">
              <a:lnSpc>
                <a:spcPct val="120000"/>
              </a:lnSpc>
              <a:buSzPct val="45000"/>
              <a:buNone/>
              <a:tabLst>
                <a:tab pos="723882" algn="l"/>
                <a:tab pos="1447764" algn="l"/>
                <a:tab pos="2171646" algn="l"/>
                <a:tab pos="2895528" algn="l"/>
                <a:tab pos="3619410" algn="l"/>
                <a:tab pos="4343291" algn="l"/>
                <a:tab pos="5067173" algn="l"/>
                <a:tab pos="5791055" algn="l"/>
                <a:tab pos="6514937" algn="l"/>
                <a:tab pos="7238819" algn="l"/>
                <a:tab pos="7962701" algn="l"/>
                <a:tab pos="8686583" algn="l"/>
              </a:tabLst>
            </a:pPr>
            <a:r>
              <a:rPr lang="en-US" altLang="zh-CN" sz="2800" b="1" dirty="0">
                <a:sym typeface="+mn-ea"/>
              </a:rPr>
              <a:t>    </a:t>
            </a:r>
            <a:endParaRPr lang="en-US" sz="2800" b="1" dirty="0">
              <a:latin typeface="Times New Roman" panose="02060603050605020204" pitchFamily="18" charset="0"/>
              <a:cs typeface="Times New Roman" panose="02060603050605020204" pitchFamily="18" charset="0"/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24</a:t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graphicFrame>
        <p:nvGraphicFramePr>
          <p:cNvPr id="3" name="表格 2"/>
          <p:cNvGraphicFramePr/>
          <p:nvPr/>
        </p:nvGraphicFramePr>
        <p:xfrm>
          <a:off x="3830959" y="2306958"/>
          <a:ext cx="8141335" cy="34893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816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2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0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775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947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349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9847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2400">
                        <a:latin typeface="Times New Roman" panose="02060603050605020204" pitchFamily="18" charset="0"/>
                        <a:cs typeface="Times New Roman" panose="020606030506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2400">
                        <a:latin typeface="Times New Roman" panose="02060603050605020204" pitchFamily="18" charset="0"/>
                        <a:cs typeface="Times New Roman" panose="020606030506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>
                          <a:latin typeface="Times New Roman" panose="02060603050605020204" pitchFamily="18" charset="0"/>
                          <a:cs typeface="Times New Roman" panose="02060603050605020204" pitchFamily="18" charset="0"/>
                        </a:rPr>
                        <a:t>def[n]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>
                          <a:latin typeface="Times New Roman" panose="02060603050605020204" pitchFamily="18" charset="0"/>
                          <a:cs typeface="Times New Roman" panose="02060603050605020204" pitchFamily="18" charset="0"/>
                        </a:rPr>
                        <a:t>use[n]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>
                          <a:latin typeface="Times New Roman" panose="02060603050605020204" pitchFamily="18" charset="0"/>
                          <a:cs typeface="Times New Roman" panose="02060603050605020204" pitchFamily="18" charset="0"/>
                        </a:rPr>
                        <a:t>in</a:t>
                      </a:r>
                      <a:r>
                        <a:rPr lang="en-US" altLang="en-US" sz="2400">
                          <a:latin typeface="Times New Roman" panose="02060603050605020204" pitchFamily="18" charset="0"/>
                          <a:cs typeface="Times New Roman" panose="02060603050605020204" pitchFamily="18" charset="0"/>
                        </a:rPr>
                        <a:t>[n]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 sz="2400">
                          <a:latin typeface="Times New Roman" panose="02060603050605020204" pitchFamily="18" charset="0"/>
                          <a:cs typeface="Times New Roman" panose="02060603050605020204" pitchFamily="18" charset="0"/>
                        </a:rPr>
                        <a:t>out[n]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847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2400">
                        <a:latin typeface="Times New Roman" panose="02060603050605020204" pitchFamily="18" charset="0"/>
                        <a:cs typeface="Times New Roman" panose="020606030506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400" dirty="0">
                          <a:latin typeface="Times New Roman" panose="02060603050605020204" pitchFamily="18" charset="0"/>
                          <a:cs typeface="Times New Roman" panose="02060603050605020204" pitchFamily="18" charset="0"/>
                        </a:rPr>
                        <a:t>a ←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>
                          <a:latin typeface="Times New Roman" panose="02060603050605020204" pitchFamily="18" charset="0"/>
                          <a:cs typeface="Times New Roman" panose="02060603050605020204" pitchFamily="18" charset="0"/>
                        </a:rPr>
                        <a:t>{a}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>
                          <a:latin typeface="Times New Roman" panose="02060603050605020204" pitchFamily="18" charset="0"/>
                          <a:cs typeface="Times New Roman" panose="02060603050605020204" pitchFamily="18" charset="0"/>
                        </a:rPr>
                        <a:t>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 sz="2400">
                        <a:latin typeface="Times New Roman" panose="02060603050605020204" pitchFamily="18" charset="0"/>
                        <a:cs typeface="Times New Roman" panose="020606030506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 sz="2400">
                        <a:latin typeface="Times New Roman" panose="02060603050605020204" pitchFamily="18" charset="0"/>
                        <a:cs typeface="Times New Roman" panose="0206060305060502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84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400">
                          <a:latin typeface="Times New Roman" panose="02060603050605020204" pitchFamily="18" charset="0"/>
                          <a:cs typeface="Times New Roman" panose="02060603050605020204" pitchFamily="18" charset="0"/>
                        </a:rPr>
                        <a:t>L1: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400">
                          <a:latin typeface="Times New Roman" panose="02060603050605020204" pitchFamily="18" charset="0"/>
                          <a:cs typeface="Times New Roman" panose="02060603050605020204" pitchFamily="18" charset="0"/>
                        </a:rPr>
                        <a:t>b ← a + 1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>
                          <a:latin typeface="Times New Roman" panose="02060603050605020204" pitchFamily="18" charset="0"/>
                          <a:cs typeface="Times New Roman" panose="02060603050605020204" pitchFamily="18" charset="0"/>
                        </a:rPr>
                        <a:t>{</a:t>
                      </a:r>
                      <a:r>
                        <a:rPr lang="en-US" altLang="en-US" sz="2400">
                          <a:latin typeface="Times New Roman" panose="02060603050605020204" pitchFamily="18" charset="0"/>
                          <a:cs typeface="Times New Roman" panose="02060603050605020204" pitchFamily="18" charset="0"/>
                        </a:rPr>
                        <a:t>b</a:t>
                      </a:r>
                      <a:r>
                        <a:rPr lang="en-US" altLang="zh-CN" sz="2400">
                          <a:latin typeface="Times New Roman" panose="02060603050605020204" pitchFamily="18" charset="0"/>
                          <a:cs typeface="Times New Roman" panose="02060603050605020204" pitchFamily="18" charset="0"/>
                        </a:rPr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>
                          <a:latin typeface="Times New Roman" panose="02060603050605020204" pitchFamily="18" charset="0"/>
                          <a:cs typeface="Times New Roman" panose="02060603050605020204" pitchFamily="18" charset="0"/>
                        </a:rPr>
                        <a:t>{</a:t>
                      </a:r>
                      <a:r>
                        <a:rPr lang="en-US" altLang="en-US" sz="2400">
                          <a:latin typeface="Times New Roman" panose="02060603050605020204" pitchFamily="18" charset="0"/>
                          <a:cs typeface="Times New Roman" panose="02060603050605020204" pitchFamily="18" charset="0"/>
                        </a:rPr>
                        <a:t>a</a:t>
                      </a:r>
                      <a:r>
                        <a:rPr lang="en-US" altLang="zh-CN" sz="2400">
                          <a:latin typeface="Times New Roman" panose="02060603050605020204" pitchFamily="18" charset="0"/>
                          <a:cs typeface="Times New Roman" panose="02060603050605020204" pitchFamily="18" charset="0"/>
                        </a:rPr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 sz="2400">
                        <a:latin typeface="Times New Roman" panose="02060603050605020204" pitchFamily="18" charset="0"/>
                        <a:cs typeface="Times New Roman" panose="020606030506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 sz="2400">
                        <a:latin typeface="Times New Roman" panose="02060603050605020204" pitchFamily="18" charset="0"/>
                        <a:cs typeface="Times New Roman" panose="0206060305060502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847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2400">
                        <a:latin typeface="Times New Roman" panose="02060603050605020204" pitchFamily="18" charset="0"/>
                        <a:cs typeface="Times New Roman" panose="020606030506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400" dirty="0">
                          <a:latin typeface="Times New Roman" panose="02060603050605020204" pitchFamily="18" charset="0"/>
                          <a:cs typeface="Times New Roman" panose="02060603050605020204" pitchFamily="18" charset="0"/>
                        </a:rPr>
                        <a:t>c ← c +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>
                          <a:latin typeface="Times New Roman" panose="02060603050605020204" pitchFamily="18" charset="0"/>
                          <a:cs typeface="Times New Roman" panose="02060603050605020204" pitchFamily="18" charset="0"/>
                        </a:rPr>
                        <a:t>{</a:t>
                      </a:r>
                      <a:r>
                        <a:rPr lang="en-US" altLang="en-US" sz="2400">
                          <a:latin typeface="Times New Roman" panose="02060603050605020204" pitchFamily="18" charset="0"/>
                          <a:cs typeface="Times New Roman" panose="02060603050605020204" pitchFamily="18" charset="0"/>
                        </a:rPr>
                        <a:t>c</a:t>
                      </a:r>
                      <a:r>
                        <a:rPr lang="en-US" altLang="zh-CN" sz="2400">
                          <a:latin typeface="Times New Roman" panose="02060603050605020204" pitchFamily="18" charset="0"/>
                          <a:cs typeface="Times New Roman" panose="02060603050605020204" pitchFamily="18" charset="0"/>
                        </a:rPr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>
                          <a:latin typeface="Times New Roman" panose="02060603050605020204" pitchFamily="18" charset="0"/>
                          <a:cs typeface="Times New Roman" panose="02060603050605020204" pitchFamily="18" charset="0"/>
                        </a:rPr>
                        <a:t>{</a:t>
                      </a:r>
                      <a:r>
                        <a:rPr lang="en-US" altLang="en-US" sz="2400">
                          <a:latin typeface="Times New Roman" panose="02060603050605020204" pitchFamily="18" charset="0"/>
                          <a:cs typeface="Times New Roman" panose="02060603050605020204" pitchFamily="18" charset="0"/>
                        </a:rPr>
                        <a:t>b,c</a:t>
                      </a:r>
                      <a:r>
                        <a:rPr lang="en-US" altLang="zh-CN" sz="2400">
                          <a:latin typeface="Times New Roman" panose="02060603050605020204" pitchFamily="18" charset="0"/>
                          <a:cs typeface="Times New Roman" panose="02060603050605020204" pitchFamily="18" charset="0"/>
                        </a:rPr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 sz="2400">
                        <a:latin typeface="Times New Roman" panose="02060603050605020204" pitchFamily="18" charset="0"/>
                        <a:cs typeface="Times New Roman" panose="020606030506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 sz="2400">
                        <a:latin typeface="Times New Roman" panose="02060603050605020204" pitchFamily="18" charset="0"/>
                        <a:cs typeface="Times New Roman" panose="0206060305060502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847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2400">
                        <a:latin typeface="Times New Roman" panose="02060603050605020204" pitchFamily="18" charset="0"/>
                        <a:cs typeface="Times New Roman" panose="020606030506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400">
                          <a:latin typeface="Times New Roman" panose="02060603050605020204" pitchFamily="18" charset="0"/>
                          <a:cs typeface="Times New Roman" panose="02060603050605020204" pitchFamily="18" charset="0"/>
                        </a:rPr>
                        <a:t>a ← b ×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>
                          <a:latin typeface="Times New Roman" panose="02060603050605020204" pitchFamily="18" charset="0"/>
                          <a:cs typeface="Times New Roman" panose="02060603050605020204" pitchFamily="18" charset="0"/>
                        </a:rPr>
                        <a:t>{a}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>
                          <a:latin typeface="Times New Roman" panose="02060603050605020204" pitchFamily="18" charset="0"/>
                          <a:cs typeface="Times New Roman" panose="02060603050605020204" pitchFamily="18" charset="0"/>
                        </a:rPr>
                        <a:t>{b}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 sz="2400">
                        <a:latin typeface="Times New Roman" panose="02060603050605020204" pitchFamily="18" charset="0"/>
                        <a:cs typeface="Times New Roman" panose="020606030506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 sz="2400">
                        <a:latin typeface="Times New Roman" panose="02060603050605020204" pitchFamily="18" charset="0"/>
                        <a:cs typeface="Times New Roman" panose="0206060305060502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847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2400">
                        <a:latin typeface="Times New Roman" panose="02060603050605020204" pitchFamily="18" charset="0"/>
                        <a:cs typeface="Times New Roman" panose="020606030506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400">
                          <a:latin typeface="Times New Roman" panose="02060603050605020204" pitchFamily="18" charset="0"/>
                          <a:cs typeface="Times New Roman" panose="02060603050605020204" pitchFamily="18" charset="0"/>
                        </a:rPr>
                        <a:t>if a &lt; N goto L1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>
                          <a:latin typeface="Times New Roman" panose="02060603050605020204" pitchFamily="18" charset="0"/>
                          <a:cs typeface="Times New Roman" panose="02060603050605020204" pitchFamily="18" charset="0"/>
                        </a:rPr>
                        <a:t>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>
                          <a:latin typeface="Times New Roman" panose="02060603050605020204" pitchFamily="18" charset="0"/>
                          <a:cs typeface="Times New Roman" panose="02060603050605020204" pitchFamily="18" charset="0"/>
                        </a:rPr>
                        <a:t>{a}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 sz="2400">
                        <a:latin typeface="Times New Roman" panose="02060603050605020204" pitchFamily="18" charset="0"/>
                        <a:cs typeface="Times New Roman" panose="020606030506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 sz="2400">
                        <a:latin typeface="Times New Roman" panose="02060603050605020204" pitchFamily="18" charset="0"/>
                        <a:cs typeface="Times New Roman" panose="0206060305060502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847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2400">
                        <a:latin typeface="Times New Roman" panose="02060603050605020204" pitchFamily="18" charset="0"/>
                        <a:cs typeface="Times New Roman" panose="020606030506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400">
                          <a:latin typeface="Times New Roman" panose="02060603050605020204" pitchFamily="18" charset="0"/>
                          <a:cs typeface="Times New Roman" panose="02060603050605020204" pitchFamily="18" charset="0"/>
                        </a:rPr>
                        <a:t>return 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>
                          <a:latin typeface="Times New Roman" panose="02060603050605020204" pitchFamily="18" charset="0"/>
                          <a:cs typeface="Times New Roman" panose="02060603050605020204" pitchFamily="18" charset="0"/>
                        </a:rPr>
                        <a:t>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>
                          <a:latin typeface="Times New Roman" panose="02060603050605020204" pitchFamily="18" charset="0"/>
                          <a:cs typeface="Times New Roman" panose="02060603050605020204" pitchFamily="18" charset="0"/>
                        </a:rPr>
                        <a:t>{</a:t>
                      </a:r>
                      <a:r>
                        <a:rPr lang="en-US" altLang="en-US" sz="2400">
                          <a:latin typeface="Times New Roman" panose="02060603050605020204" pitchFamily="18" charset="0"/>
                          <a:cs typeface="Times New Roman" panose="02060603050605020204" pitchFamily="18" charset="0"/>
                        </a:rPr>
                        <a:t>c</a:t>
                      </a:r>
                      <a:r>
                        <a:rPr lang="en-US" altLang="zh-CN" sz="2400">
                          <a:latin typeface="Times New Roman" panose="02060603050605020204" pitchFamily="18" charset="0"/>
                          <a:cs typeface="Times New Roman" panose="02060603050605020204" pitchFamily="18" charset="0"/>
                        </a:rPr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 sz="2400">
                        <a:latin typeface="Times New Roman" panose="02060603050605020204" pitchFamily="18" charset="0"/>
                        <a:cs typeface="Times New Roman" panose="020606030506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 sz="2400" dirty="0">
                        <a:latin typeface="Times New Roman" panose="02060603050605020204" pitchFamily="18" charset="0"/>
                        <a:cs typeface="Times New Roman" panose="0206060305060502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9544051" y="5300348"/>
            <a:ext cx="615874" cy="461665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pPr algn="l"/>
            <a:r>
              <a:rPr lang="en-US" altLang="zh-CN" sz="2400">
                <a:latin typeface="Times New Roman" panose="02060603050605020204" pitchFamily="18" charset="0"/>
                <a:ea typeface="宋体" panose="02010600030101010101" pitchFamily="2" charset="-122"/>
                <a:cs typeface="Times New Roman" panose="02060603050605020204" pitchFamily="18" charset="0"/>
                <a:sym typeface="+mn-ea"/>
              </a:rPr>
              <a:t>{c}</a:t>
            </a:r>
            <a:endParaRPr lang="en-US" altLang="zh-CN" sz="2400">
              <a:latin typeface="Times New Roman" panose="02060603050605020204" pitchFamily="18" charset="0"/>
              <a:ea typeface="宋体" panose="02010600030101010101" pitchFamily="2" charset="-122"/>
              <a:cs typeface="Times New Roman" panose="02060603050605020204" pitchFamily="18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0842625" y="5300346"/>
            <a:ext cx="479618" cy="461665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pPr algn="l"/>
            <a:r>
              <a:rPr lang="en-US" altLang="zh-CN" sz="2400">
                <a:latin typeface="Times New Roman" panose="02060603050605020204" pitchFamily="18" charset="0"/>
                <a:ea typeface="宋体" panose="02010600030101010101" pitchFamily="2" charset="-122"/>
                <a:cs typeface="Times New Roman" panose="02060603050605020204" pitchFamily="18" charset="0"/>
                <a:sym typeface="+mn-ea"/>
              </a:rPr>
              <a:t>{}</a:t>
            </a:r>
            <a:endParaRPr lang="en-US" altLang="zh-CN" sz="2400">
              <a:latin typeface="Times New Roman" panose="02060603050605020204" pitchFamily="18" charset="0"/>
              <a:ea typeface="宋体" panose="02010600030101010101" pitchFamily="2" charset="-122"/>
              <a:cs typeface="Times New Roman" panose="02060603050605020204" pitchFamily="18" charset="0"/>
            </a:endParaRPr>
          </a:p>
        </p:txBody>
      </p:sp>
      <p:sp>
        <p:nvSpPr>
          <p:cNvPr id="13" name="object 6"/>
          <p:cNvSpPr txBox="1"/>
          <p:nvPr/>
        </p:nvSpPr>
        <p:spPr>
          <a:xfrm>
            <a:off x="1104266" y="2306956"/>
            <a:ext cx="2350135" cy="369332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zh-CN" altLang="en-US" sz="2400">
                <a:latin typeface="Times New Roman" panose="02060603050605020204" pitchFamily="18" charset="0"/>
                <a:cs typeface="Times New Roman" panose="02060603050605020204" pitchFamily="18" charset="0"/>
                <a:sym typeface="+mn-ea"/>
              </a:rPr>
              <a:t>a ← 0</a:t>
            </a:r>
            <a:endParaRPr sz="2400" b="1" dirty="0">
              <a:solidFill>
                <a:srgbClr val="191919"/>
              </a:solidFill>
              <a:latin typeface="Courier New" panose="02070409020205020404"/>
              <a:cs typeface="Courier New" panose="02070409020205020404"/>
            </a:endParaRPr>
          </a:p>
        </p:txBody>
      </p:sp>
      <p:sp>
        <p:nvSpPr>
          <p:cNvPr id="11" name="object 6"/>
          <p:cNvSpPr txBox="1"/>
          <p:nvPr/>
        </p:nvSpPr>
        <p:spPr>
          <a:xfrm>
            <a:off x="1091566" y="3045461"/>
            <a:ext cx="2350135" cy="369332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algn="ctr">
              <a:buNone/>
            </a:pPr>
            <a:r>
              <a:rPr lang="zh-CN" altLang="en-US" sz="2400">
                <a:latin typeface="Times New Roman" panose="02060603050605020204" pitchFamily="18" charset="0"/>
                <a:cs typeface="Times New Roman" panose="02060603050605020204" pitchFamily="18" charset="0"/>
                <a:sym typeface="+mn-ea"/>
              </a:rPr>
              <a:t>b ← a + 1</a:t>
            </a:r>
            <a:endParaRPr sz="2400" b="1" dirty="0">
              <a:solidFill>
                <a:srgbClr val="191919"/>
              </a:solidFill>
              <a:latin typeface="Courier New" panose="02070409020205020404"/>
              <a:cs typeface="Courier New" panose="02070409020205020404"/>
            </a:endParaRPr>
          </a:p>
        </p:txBody>
      </p:sp>
      <p:sp>
        <p:nvSpPr>
          <p:cNvPr id="12" name="object 6"/>
          <p:cNvSpPr txBox="1"/>
          <p:nvPr/>
        </p:nvSpPr>
        <p:spPr>
          <a:xfrm>
            <a:off x="1066166" y="3783965"/>
            <a:ext cx="2350135" cy="369332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zh-CN" altLang="en-US" sz="2400">
                <a:latin typeface="Times New Roman" panose="02060603050605020204" pitchFamily="18" charset="0"/>
                <a:cs typeface="Times New Roman" panose="02060603050605020204" pitchFamily="18" charset="0"/>
                <a:sym typeface="+mn-ea"/>
              </a:rPr>
              <a:t>c ← c + b</a:t>
            </a:r>
            <a:endParaRPr sz="2400" b="1" dirty="0">
              <a:solidFill>
                <a:srgbClr val="191919"/>
              </a:solidFill>
              <a:latin typeface="Courier New" panose="02070409020205020404"/>
              <a:cs typeface="Courier New" panose="02070409020205020404"/>
            </a:endParaRPr>
          </a:p>
        </p:txBody>
      </p:sp>
      <p:sp>
        <p:nvSpPr>
          <p:cNvPr id="14" name="object 6"/>
          <p:cNvSpPr txBox="1"/>
          <p:nvPr/>
        </p:nvSpPr>
        <p:spPr>
          <a:xfrm>
            <a:off x="1066166" y="4522471"/>
            <a:ext cx="2350135" cy="369332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zh-CN" altLang="en-US" sz="2400">
                <a:latin typeface="Times New Roman" panose="02060603050605020204" pitchFamily="18" charset="0"/>
                <a:cs typeface="Times New Roman" panose="02060603050605020204" pitchFamily="18" charset="0"/>
                <a:sym typeface="+mn-ea"/>
              </a:rPr>
              <a:t>a ← b × 2</a:t>
            </a:r>
            <a:endParaRPr sz="2400" b="1" dirty="0">
              <a:solidFill>
                <a:srgbClr val="191919"/>
              </a:solidFill>
              <a:latin typeface="Courier New" panose="02070409020205020404"/>
              <a:cs typeface="Courier New" panose="02070409020205020404"/>
            </a:endParaRPr>
          </a:p>
        </p:txBody>
      </p:sp>
      <p:sp>
        <p:nvSpPr>
          <p:cNvPr id="15" name="object 6"/>
          <p:cNvSpPr txBox="1"/>
          <p:nvPr/>
        </p:nvSpPr>
        <p:spPr>
          <a:xfrm>
            <a:off x="545466" y="5260976"/>
            <a:ext cx="2350135" cy="307777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buNone/>
            </a:pPr>
            <a:r>
              <a:rPr lang="zh-CN" altLang="en-US" sz="2000">
                <a:latin typeface="Times New Roman" panose="02060603050605020204" pitchFamily="18" charset="0"/>
                <a:cs typeface="Times New Roman" panose="02060603050605020204" pitchFamily="18" charset="0"/>
                <a:sym typeface="+mn-ea"/>
              </a:rPr>
              <a:t>if a &lt; N goto L1</a:t>
            </a:r>
            <a:endParaRPr lang="zh-CN" altLang="en-US" sz="2000" b="1" dirty="0">
              <a:solidFill>
                <a:srgbClr val="191919"/>
              </a:solidFill>
              <a:latin typeface="Times New Roman" panose="02060603050605020204" pitchFamily="18" charset="0"/>
              <a:cs typeface="Times New Roman" panose="02060603050605020204" pitchFamily="18" charset="0"/>
              <a:sym typeface="+mn-ea"/>
            </a:endParaRPr>
          </a:p>
        </p:txBody>
      </p:sp>
      <p:sp>
        <p:nvSpPr>
          <p:cNvPr id="16" name="object 6"/>
          <p:cNvSpPr txBox="1"/>
          <p:nvPr/>
        </p:nvSpPr>
        <p:spPr>
          <a:xfrm>
            <a:off x="1053466" y="5937885"/>
            <a:ext cx="2350135" cy="369332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algn="ctr">
              <a:buNone/>
            </a:pPr>
            <a:r>
              <a:rPr lang="zh-CN" altLang="en-US" sz="2400">
                <a:latin typeface="Times New Roman" panose="02060603050605020204" pitchFamily="18" charset="0"/>
                <a:cs typeface="Times New Roman" panose="02060603050605020204" pitchFamily="18" charset="0"/>
                <a:sym typeface="+mn-ea"/>
              </a:rPr>
              <a:t>return c</a:t>
            </a:r>
            <a:endParaRPr sz="2400" b="1" dirty="0">
              <a:solidFill>
                <a:srgbClr val="191919"/>
              </a:solidFill>
              <a:latin typeface="Courier New" panose="02070409020205020404"/>
              <a:cs typeface="Courier New" panose="02070409020205020404"/>
            </a:endParaRPr>
          </a:p>
        </p:txBody>
      </p:sp>
      <p:cxnSp>
        <p:nvCxnSpPr>
          <p:cNvPr id="17" name="直接箭头连接符 16"/>
          <p:cNvCxnSpPr/>
          <p:nvPr/>
        </p:nvCxnSpPr>
        <p:spPr>
          <a:xfrm>
            <a:off x="1708151" y="2675891"/>
            <a:ext cx="0" cy="365760"/>
          </a:xfrm>
          <a:prstGeom prst="straightConnector1">
            <a:avLst/>
          </a:prstGeom>
          <a:ln w="38100">
            <a:solidFill>
              <a:srgbClr val="20202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/>
          <p:cNvCxnSpPr/>
          <p:nvPr/>
        </p:nvCxnSpPr>
        <p:spPr>
          <a:xfrm>
            <a:off x="2164715" y="3463291"/>
            <a:ext cx="0" cy="365760"/>
          </a:xfrm>
          <a:prstGeom prst="straightConnector1">
            <a:avLst/>
          </a:prstGeom>
          <a:ln w="38100">
            <a:solidFill>
              <a:srgbClr val="20202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/>
          <p:cNvCxnSpPr/>
          <p:nvPr/>
        </p:nvCxnSpPr>
        <p:spPr>
          <a:xfrm>
            <a:off x="2241551" y="4187191"/>
            <a:ext cx="0" cy="365760"/>
          </a:xfrm>
          <a:prstGeom prst="straightConnector1">
            <a:avLst/>
          </a:prstGeom>
          <a:ln w="38100">
            <a:solidFill>
              <a:srgbClr val="20202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/>
          <p:cNvCxnSpPr/>
          <p:nvPr/>
        </p:nvCxnSpPr>
        <p:spPr>
          <a:xfrm>
            <a:off x="1720851" y="4934585"/>
            <a:ext cx="0" cy="365760"/>
          </a:xfrm>
          <a:prstGeom prst="straightConnector1">
            <a:avLst/>
          </a:prstGeom>
          <a:ln w="38100">
            <a:solidFill>
              <a:srgbClr val="20202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/>
          <p:cNvCxnSpPr/>
          <p:nvPr/>
        </p:nvCxnSpPr>
        <p:spPr>
          <a:xfrm>
            <a:off x="2228215" y="5571491"/>
            <a:ext cx="0" cy="365760"/>
          </a:xfrm>
          <a:prstGeom prst="straightConnector1">
            <a:avLst/>
          </a:prstGeom>
          <a:ln w="38100">
            <a:solidFill>
              <a:srgbClr val="20202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曲线连接符 21"/>
          <p:cNvCxnSpPr>
            <a:stCxn id="15" idx="1"/>
            <a:endCxn id="23" idx="1"/>
          </p:cNvCxnSpPr>
          <p:nvPr/>
        </p:nvCxnSpPr>
        <p:spPr>
          <a:xfrm rot="10800000" flipH="1">
            <a:off x="545465" y="2819915"/>
            <a:ext cx="1137283" cy="2594950"/>
          </a:xfrm>
          <a:prstGeom prst="curvedConnector3">
            <a:avLst>
              <a:gd name="adj1" fmla="val -20101"/>
            </a:avLst>
          </a:prstGeom>
          <a:ln w="25400">
            <a:solidFill>
              <a:srgbClr val="32323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/>
          <p:cNvSpPr txBox="1"/>
          <p:nvPr/>
        </p:nvSpPr>
        <p:spPr>
          <a:xfrm>
            <a:off x="1682749" y="2635249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  </a:t>
            </a:r>
          </a:p>
        </p:txBody>
      </p:sp>
      <p:sp>
        <p:nvSpPr>
          <p:cNvPr id="24" name="文本框 23"/>
          <p:cNvSpPr txBox="1"/>
          <p:nvPr/>
        </p:nvSpPr>
        <p:spPr>
          <a:xfrm>
            <a:off x="10756900" y="4800601"/>
            <a:ext cx="615874" cy="461665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pPr algn="l"/>
            <a:r>
              <a:rPr lang="en-US" altLang="zh-CN" sz="2400">
                <a:latin typeface="Times New Roman" panose="02060603050605020204" pitchFamily="18" charset="0"/>
                <a:ea typeface="宋体" panose="02010600030101010101" pitchFamily="2" charset="-122"/>
                <a:cs typeface="Times New Roman" panose="02060603050605020204" pitchFamily="18" charset="0"/>
                <a:sym typeface="+mn-ea"/>
              </a:rPr>
              <a:t>{c}</a:t>
            </a:r>
            <a:endParaRPr lang="en-US" altLang="zh-CN" sz="2400">
              <a:latin typeface="Times New Roman" panose="02060603050605020204" pitchFamily="18" charset="0"/>
              <a:ea typeface="宋体" panose="02010600030101010101" pitchFamily="2" charset="-122"/>
              <a:cs typeface="Times New Roman" panose="02060603050605020204" pitchFamily="18" charset="0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9429753" y="4800603"/>
            <a:ext cx="829073" cy="461665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pPr algn="l"/>
            <a:r>
              <a:rPr lang="en-US" altLang="zh-CN" sz="2400">
                <a:latin typeface="Times New Roman" panose="02060603050605020204" pitchFamily="18" charset="0"/>
                <a:ea typeface="宋体" panose="02010600030101010101" pitchFamily="2" charset="-122"/>
                <a:cs typeface="Times New Roman" panose="02060603050605020204" pitchFamily="18" charset="0"/>
                <a:sym typeface="+mn-ea"/>
              </a:rPr>
              <a:t>{</a:t>
            </a:r>
            <a:r>
              <a:rPr lang="en-US" altLang="en-US" sz="2400">
                <a:latin typeface="Times New Roman" panose="02060603050605020204" pitchFamily="18" charset="0"/>
                <a:ea typeface="宋体" panose="02010600030101010101" pitchFamily="2" charset="-122"/>
                <a:cs typeface="Times New Roman" panose="02060603050605020204" pitchFamily="18" charset="0"/>
                <a:sym typeface="+mn-ea"/>
              </a:rPr>
              <a:t>a,</a:t>
            </a:r>
            <a:r>
              <a:rPr lang="en-US" altLang="zh-CN" sz="2400">
                <a:latin typeface="Times New Roman" panose="02060603050605020204" pitchFamily="18" charset="0"/>
                <a:ea typeface="宋体" panose="02010600030101010101" pitchFamily="2" charset="-122"/>
                <a:cs typeface="Times New Roman" panose="02060603050605020204" pitchFamily="18" charset="0"/>
                <a:sym typeface="+mn-ea"/>
              </a:rPr>
              <a:t>c}</a:t>
            </a:r>
            <a:endParaRPr lang="en-US" altLang="zh-CN" sz="2400">
              <a:latin typeface="Times New Roman" panose="02060603050605020204" pitchFamily="18" charset="0"/>
              <a:ea typeface="宋体" panose="02010600030101010101" pitchFamily="2" charset="-122"/>
              <a:cs typeface="Times New Roman" panose="02060603050605020204" pitchFamily="18" charset="0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10644508" y="4326894"/>
            <a:ext cx="829073" cy="461665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pPr algn="l"/>
            <a:r>
              <a:rPr lang="en-US" altLang="zh-CN" sz="2400">
                <a:latin typeface="Times New Roman" panose="02060603050605020204" pitchFamily="18" charset="0"/>
                <a:ea typeface="宋体" panose="02010600030101010101" pitchFamily="2" charset="-122"/>
                <a:cs typeface="Times New Roman" panose="02060603050605020204" pitchFamily="18" charset="0"/>
                <a:sym typeface="+mn-ea"/>
              </a:rPr>
              <a:t>{</a:t>
            </a:r>
            <a:r>
              <a:rPr lang="en-US" altLang="en-US" sz="2400">
                <a:latin typeface="Times New Roman" panose="02060603050605020204" pitchFamily="18" charset="0"/>
                <a:ea typeface="宋体" panose="02010600030101010101" pitchFamily="2" charset="-122"/>
                <a:cs typeface="Times New Roman" panose="02060603050605020204" pitchFamily="18" charset="0"/>
                <a:sym typeface="+mn-ea"/>
              </a:rPr>
              <a:t>a,</a:t>
            </a:r>
            <a:r>
              <a:rPr lang="en-US" altLang="zh-CN" sz="2400">
                <a:latin typeface="Times New Roman" panose="02060603050605020204" pitchFamily="18" charset="0"/>
                <a:ea typeface="宋体" panose="02010600030101010101" pitchFamily="2" charset="-122"/>
                <a:cs typeface="Times New Roman" panose="02060603050605020204" pitchFamily="18" charset="0"/>
                <a:sym typeface="+mn-ea"/>
              </a:rPr>
              <a:t>c}</a:t>
            </a:r>
            <a:endParaRPr lang="en-US" altLang="zh-CN" sz="2400">
              <a:latin typeface="Times New Roman" panose="02060603050605020204" pitchFamily="18" charset="0"/>
              <a:ea typeface="宋体" panose="02010600030101010101" pitchFamily="2" charset="-122"/>
              <a:cs typeface="Times New Roman" panose="02060603050605020204" pitchFamily="18" charset="0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9429753" y="4326894"/>
            <a:ext cx="846707" cy="461665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pPr algn="l"/>
            <a:r>
              <a:rPr lang="en-US" altLang="zh-CN" sz="2400">
                <a:latin typeface="Times New Roman" panose="02060603050605020204" pitchFamily="18" charset="0"/>
                <a:ea typeface="宋体" panose="02010600030101010101" pitchFamily="2" charset="-122"/>
                <a:cs typeface="Times New Roman" panose="02060603050605020204" pitchFamily="18" charset="0"/>
                <a:sym typeface="+mn-ea"/>
              </a:rPr>
              <a:t>{c</a:t>
            </a:r>
            <a:r>
              <a:rPr lang="en-US" altLang="en-US" sz="2400">
                <a:latin typeface="Times New Roman" panose="02060603050605020204" pitchFamily="18" charset="0"/>
                <a:ea typeface="宋体" panose="02010600030101010101" pitchFamily="2" charset="-122"/>
                <a:cs typeface="Times New Roman" panose="02060603050605020204" pitchFamily="18" charset="0"/>
                <a:sym typeface="+mn-ea"/>
              </a:rPr>
              <a:t>,b</a:t>
            </a:r>
            <a:r>
              <a:rPr lang="en-US" altLang="zh-CN" sz="2400">
                <a:latin typeface="Times New Roman" panose="02060603050605020204" pitchFamily="18" charset="0"/>
                <a:ea typeface="宋体" panose="02010600030101010101" pitchFamily="2" charset="-122"/>
                <a:cs typeface="Times New Roman" panose="02060603050605020204" pitchFamily="18" charset="0"/>
                <a:sym typeface="+mn-ea"/>
              </a:rPr>
              <a:t>}</a:t>
            </a:r>
            <a:endParaRPr lang="en-US" altLang="zh-CN" sz="2400">
              <a:latin typeface="Times New Roman" panose="02060603050605020204" pitchFamily="18" charset="0"/>
              <a:ea typeface="宋体" panose="02010600030101010101" pitchFamily="2" charset="-122"/>
              <a:cs typeface="Times New Roman" panose="02060603050605020204" pitchFamily="18" charset="0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10631173" y="3822068"/>
            <a:ext cx="846707" cy="461665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pPr algn="l"/>
            <a:r>
              <a:rPr lang="en-US" altLang="zh-CN" sz="2400">
                <a:latin typeface="Times New Roman" panose="02060603050605020204" pitchFamily="18" charset="0"/>
                <a:ea typeface="宋体" panose="02010600030101010101" pitchFamily="2" charset="-122"/>
                <a:cs typeface="Times New Roman" panose="02060603050605020204" pitchFamily="18" charset="0"/>
                <a:sym typeface="+mn-ea"/>
              </a:rPr>
              <a:t>{c</a:t>
            </a:r>
            <a:r>
              <a:rPr lang="en-US" altLang="en-US" sz="2400">
                <a:latin typeface="Times New Roman" panose="02060603050605020204" pitchFamily="18" charset="0"/>
                <a:ea typeface="宋体" panose="02010600030101010101" pitchFamily="2" charset="-122"/>
                <a:cs typeface="Times New Roman" panose="02060603050605020204" pitchFamily="18" charset="0"/>
                <a:sym typeface="+mn-ea"/>
              </a:rPr>
              <a:t>,b</a:t>
            </a:r>
            <a:r>
              <a:rPr lang="en-US" altLang="zh-CN" sz="2400">
                <a:latin typeface="Times New Roman" panose="02060603050605020204" pitchFamily="18" charset="0"/>
                <a:ea typeface="宋体" panose="02010600030101010101" pitchFamily="2" charset="-122"/>
                <a:cs typeface="Times New Roman" panose="02060603050605020204" pitchFamily="18" charset="0"/>
                <a:sym typeface="+mn-ea"/>
              </a:rPr>
              <a:t>}</a:t>
            </a:r>
            <a:endParaRPr lang="en-US" altLang="zh-CN" sz="2400">
              <a:latin typeface="Times New Roman" panose="02060603050605020204" pitchFamily="18" charset="0"/>
              <a:ea typeface="宋体" panose="02010600030101010101" pitchFamily="2" charset="-122"/>
              <a:cs typeface="Times New Roman" panose="02060603050605020204" pitchFamily="18" charset="0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9407528" y="3828418"/>
            <a:ext cx="846707" cy="461665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pPr algn="l"/>
            <a:r>
              <a:rPr lang="en-US" altLang="zh-CN" sz="2400">
                <a:latin typeface="Times New Roman" panose="02060603050605020204" pitchFamily="18" charset="0"/>
                <a:ea typeface="宋体" panose="02010600030101010101" pitchFamily="2" charset="-122"/>
                <a:cs typeface="Times New Roman" panose="02060603050605020204" pitchFamily="18" charset="0"/>
                <a:sym typeface="+mn-ea"/>
              </a:rPr>
              <a:t>{c</a:t>
            </a:r>
            <a:r>
              <a:rPr lang="en-US" altLang="en-US" sz="2400">
                <a:latin typeface="Times New Roman" panose="02060603050605020204" pitchFamily="18" charset="0"/>
                <a:ea typeface="宋体" panose="02010600030101010101" pitchFamily="2" charset="-122"/>
                <a:cs typeface="Times New Roman" panose="02060603050605020204" pitchFamily="18" charset="0"/>
                <a:sym typeface="+mn-ea"/>
              </a:rPr>
              <a:t>,b</a:t>
            </a:r>
            <a:r>
              <a:rPr lang="en-US" altLang="zh-CN" sz="2400">
                <a:latin typeface="Times New Roman" panose="02060603050605020204" pitchFamily="18" charset="0"/>
                <a:ea typeface="宋体" panose="02010600030101010101" pitchFamily="2" charset="-122"/>
                <a:cs typeface="Times New Roman" panose="02060603050605020204" pitchFamily="18" charset="0"/>
                <a:sym typeface="+mn-ea"/>
              </a:rPr>
              <a:t>}</a:t>
            </a:r>
            <a:endParaRPr lang="en-US" altLang="zh-CN" sz="2400">
              <a:latin typeface="Times New Roman" panose="02060603050605020204" pitchFamily="18" charset="0"/>
              <a:ea typeface="宋体" panose="02010600030101010101" pitchFamily="2" charset="-122"/>
              <a:cs typeface="Times New Roman" panose="02060603050605020204" pitchFamily="18" charset="0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10631173" y="3323594"/>
            <a:ext cx="846707" cy="461665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pPr algn="l"/>
            <a:r>
              <a:rPr lang="en-US" altLang="zh-CN" sz="2400">
                <a:latin typeface="Times New Roman" panose="02060603050605020204" pitchFamily="18" charset="0"/>
                <a:ea typeface="宋体" panose="02010600030101010101" pitchFamily="2" charset="-122"/>
                <a:cs typeface="Times New Roman" panose="02060603050605020204" pitchFamily="18" charset="0"/>
                <a:sym typeface="+mn-ea"/>
              </a:rPr>
              <a:t>{c</a:t>
            </a:r>
            <a:r>
              <a:rPr lang="en-US" altLang="en-US" sz="2400">
                <a:latin typeface="Times New Roman" panose="02060603050605020204" pitchFamily="18" charset="0"/>
                <a:ea typeface="宋体" panose="02010600030101010101" pitchFamily="2" charset="-122"/>
                <a:cs typeface="Times New Roman" panose="02060603050605020204" pitchFamily="18" charset="0"/>
                <a:sym typeface="+mn-ea"/>
              </a:rPr>
              <a:t>,b</a:t>
            </a:r>
            <a:r>
              <a:rPr lang="en-US" altLang="zh-CN" sz="2400">
                <a:latin typeface="Times New Roman" panose="02060603050605020204" pitchFamily="18" charset="0"/>
                <a:ea typeface="宋体" panose="02010600030101010101" pitchFamily="2" charset="-122"/>
                <a:cs typeface="Times New Roman" panose="02060603050605020204" pitchFamily="18" charset="0"/>
                <a:sym typeface="+mn-ea"/>
              </a:rPr>
              <a:t>}</a:t>
            </a:r>
            <a:endParaRPr lang="en-US" altLang="zh-CN" sz="2400">
              <a:latin typeface="Times New Roman" panose="02060603050605020204" pitchFamily="18" charset="0"/>
              <a:ea typeface="宋体" panose="02010600030101010101" pitchFamily="2" charset="-122"/>
              <a:cs typeface="Times New Roman" panose="02060603050605020204" pitchFamily="18" charset="0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9420228" y="3336294"/>
            <a:ext cx="829073" cy="461665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pPr algn="l"/>
            <a:r>
              <a:rPr lang="en-US" altLang="zh-CN" sz="2400">
                <a:latin typeface="Times New Roman" panose="02060603050605020204" pitchFamily="18" charset="0"/>
                <a:ea typeface="宋体" panose="02010600030101010101" pitchFamily="2" charset="-122"/>
                <a:cs typeface="Times New Roman" panose="02060603050605020204" pitchFamily="18" charset="0"/>
                <a:sym typeface="+mn-ea"/>
              </a:rPr>
              <a:t>{c</a:t>
            </a:r>
            <a:r>
              <a:rPr lang="en-US" altLang="en-US" sz="2400">
                <a:latin typeface="Times New Roman" panose="02060603050605020204" pitchFamily="18" charset="0"/>
                <a:ea typeface="宋体" panose="02010600030101010101" pitchFamily="2" charset="-122"/>
                <a:cs typeface="Times New Roman" panose="02060603050605020204" pitchFamily="18" charset="0"/>
                <a:sym typeface="+mn-ea"/>
              </a:rPr>
              <a:t>,a</a:t>
            </a:r>
            <a:r>
              <a:rPr lang="en-US" altLang="zh-CN" sz="2400">
                <a:latin typeface="Times New Roman" panose="02060603050605020204" pitchFamily="18" charset="0"/>
                <a:ea typeface="宋体" panose="02010600030101010101" pitchFamily="2" charset="-122"/>
                <a:cs typeface="Times New Roman" panose="02060603050605020204" pitchFamily="18" charset="0"/>
                <a:sym typeface="+mn-ea"/>
              </a:rPr>
              <a:t>}</a:t>
            </a:r>
            <a:endParaRPr lang="en-US" altLang="zh-CN" sz="2400">
              <a:latin typeface="Times New Roman" panose="02060603050605020204" pitchFamily="18" charset="0"/>
              <a:ea typeface="宋体" panose="02010600030101010101" pitchFamily="2" charset="-122"/>
              <a:cs typeface="Times New Roman" panose="02060603050605020204" pitchFamily="18" charset="0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10617203" y="2819403"/>
            <a:ext cx="829073" cy="461665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pPr algn="l"/>
            <a:r>
              <a:rPr lang="en-US" altLang="zh-CN" sz="2400">
                <a:latin typeface="Times New Roman" panose="02060603050605020204" pitchFamily="18" charset="0"/>
                <a:ea typeface="宋体" panose="02010600030101010101" pitchFamily="2" charset="-122"/>
                <a:cs typeface="Times New Roman" panose="02060603050605020204" pitchFamily="18" charset="0"/>
                <a:sym typeface="+mn-ea"/>
              </a:rPr>
              <a:t>{c</a:t>
            </a:r>
            <a:r>
              <a:rPr lang="en-US" altLang="en-US" sz="2400">
                <a:latin typeface="Times New Roman" panose="02060603050605020204" pitchFamily="18" charset="0"/>
                <a:ea typeface="宋体" panose="02010600030101010101" pitchFamily="2" charset="-122"/>
                <a:cs typeface="Times New Roman" panose="02060603050605020204" pitchFamily="18" charset="0"/>
                <a:sym typeface="+mn-ea"/>
              </a:rPr>
              <a:t>,a</a:t>
            </a:r>
            <a:r>
              <a:rPr lang="en-US" altLang="zh-CN" sz="2400">
                <a:latin typeface="Times New Roman" panose="02060603050605020204" pitchFamily="18" charset="0"/>
                <a:ea typeface="宋体" panose="02010600030101010101" pitchFamily="2" charset="-122"/>
                <a:cs typeface="Times New Roman" panose="02060603050605020204" pitchFamily="18" charset="0"/>
                <a:sym typeface="+mn-ea"/>
              </a:rPr>
              <a:t>}</a:t>
            </a:r>
            <a:endParaRPr lang="en-US" altLang="zh-CN" sz="2400">
              <a:latin typeface="Times New Roman" panose="02060603050605020204" pitchFamily="18" charset="0"/>
              <a:ea typeface="宋体" panose="02010600030101010101" pitchFamily="2" charset="-122"/>
              <a:cs typeface="Times New Roman" panose="02060603050605020204" pitchFamily="18" charset="0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9483726" y="2819403"/>
            <a:ext cx="615874" cy="461665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pPr algn="l"/>
            <a:r>
              <a:rPr lang="en-US" altLang="zh-CN" sz="2400">
                <a:latin typeface="Times New Roman" panose="02060603050605020204" pitchFamily="18" charset="0"/>
                <a:ea typeface="宋体" panose="02010600030101010101" pitchFamily="2" charset="-122"/>
                <a:cs typeface="Times New Roman" panose="02060603050605020204" pitchFamily="18" charset="0"/>
                <a:sym typeface="+mn-ea"/>
              </a:rPr>
              <a:t>{c}</a:t>
            </a:r>
            <a:endParaRPr lang="en-US" altLang="zh-CN" sz="2400">
              <a:latin typeface="Times New Roman" panose="02060603050605020204" pitchFamily="18" charset="0"/>
              <a:ea typeface="宋体" panose="02010600030101010101" pitchFamily="2" charset="-122"/>
              <a:cs typeface="Times New Roman" panose="02060603050605020204" pitchFamily="18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9E37B03B-B746-7557-A342-A0E7E92192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0957" y="253137"/>
            <a:ext cx="4322083" cy="199508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  <p:bldP spid="10" grpId="0" bldLvl="0" animBg="1"/>
      <p:bldP spid="24" grpId="0" bldLvl="0" animBg="1"/>
      <p:bldP spid="25" grpId="0" bldLvl="0" animBg="1"/>
      <p:bldP spid="26" grpId="0" bldLvl="0" animBg="1"/>
      <p:bldP spid="27" grpId="0" bldLvl="0" animBg="1"/>
      <p:bldP spid="28" grpId="0" bldLvl="0" animBg="1"/>
      <p:bldP spid="29" grpId="0" bldLvl="0" animBg="1"/>
      <p:bldP spid="30" grpId="0" bldLvl="0" animBg="1"/>
      <p:bldP spid="31" grpId="0" bldLvl="0" animBg="1"/>
      <p:bldP spid="32" grpId="0" bldLvl="0" animBg="1"/>
      <p:bldP spid="33" grpId="0" bldLvl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b="1" dirty="0">
                <a:latin typeface="楷体_GB2312" panose="02010609030101010101" charset="-122"/>
                <a:ea typeface="楷体_GB2312" panose="02010609030101010101" charset="-122"/>
                <a:sym typeface="+mn-ea"/>
              </a:rPr>
              <a:t>相关概念与定义</a:t>
            </a:r>
          </a:p>
        </p:txBody>
      </p:sp>
      <p:sp>
        <p:nvSpPr>
          <p:cNvPr id="6" name="文本占位符 5"/>
          <p:cNvSpPr>
            <a:spLocks noGrp="1"/>
          </p:cNvSpPr>
          <p:nvPr>
            <p:ph type="body" idx="4294967295"/>
          </p:nvPr>
        </p:nvSpPr>
        <p:spPr>
          <a:xfrm>
            <a:off x="127636" y="1388112"/>
            <a:ext cx="11997691" cy="5091431"/>
          </a:xfrm>
        </p:spPr>
        <p:txBody>
          <a:bodyPr>
            <a:normAutofit/>
          </a:bodyPr>
          <a:lstStyle/>
          <a:p>
            <a:pPr marL="431789" indent="-323843" defTabSz="449569">
              <a:lnSpc>
                <a:spcPct val="120000"/>
              </a:lnSpc>
              <a:buSzPct val="45000"/>
              <a:buNone/>
              <a:tabLst>
                <a:tab pos="723882" algn="l"/>
                <a:tab pos="1447764" algn="l"/>
                <a:tab pos="2171646" algn="l"/>
                <a:tab pos="2895528" algn="l"/>
                <a:tab pos="3619410" algn="l"/>
                <a:tab pos="4343291" algn="l"/>
                <a:tab pos="5067173" algn="l"/>
                <a:tab pos="5791055" algn="l"/>
                <a:tab pos="6514937" algn="l"/>
                <a:tab pos="7238819" algn="l"/>
                <a:tab pos="7962701" algn="l"/>
                <a:tab pos="8686583" algn="l"/>
              </a:tabLst>
            </a:pPr>
            <a:r>
              <a:rPr lang="zh-CN" altLang="en-US" sz="2800" b="1" dirty="0">
                <a:latin typeface="Times New Roman" panose="02060603050605020204" pitchFamily="18" charset="0"/>
                <a:cs typeface="Times New Roman" panose="02060603050605020204" pitchFamily="18" charset="0"/>
                <a:sym typeface="+mn-ea"/>
              </a:rPr>
              <a:t>计算示例</a:t>
            </a:r>
          </a:p>
          <a:p>
            <a:pPr marL="431789" indent="-323843" defTabSz="449569">
              <a:lnSpc>
                <a:spcPct val="120000"/>
              </a:lnSpc>
              <a:buSzPct val="45000"/>
              <a:buNone/>
              <a:tabLst>
                <a:tab pos="723882" algn="l"/>
                <a:tab pos="1447764" algn="l"/>
                <a:tab pos="2171646" algn="l"/>
                <a:tab pos="2895528" algn="l"/>
                <a:tab pos="3619410" algn="l"/>
                <a:tab pos="4343291" algn="l"/>
                <a:tab pos="5067173" algn="l"/>
                <a:tab pos="5791055" algn="l"/>
                <a:tab pos="6514937" algn="l"/>
                <a:tab pos="7238819" algn="l"/>
                <a:tab pos="7962701" algn="l"/>
                <a:tab pos="8686583" algn="l"/>
              </a:tabLst>
            </a:pPr>
            <a:r>
              <a:rPr lang="en-US" altLang="zh-CN" sz="2800" b="1" dirty="0">
                <a:sym typeface="+mn-ea"/>
              </a:rPr>
              <a:t>    </a:t>
            </a:r>
            <a:endParaRPr lang="en-US" sz="2800" b="1" dirty="0">
              <a:latin typeface="Times New Roman" panose="02060603050605020204" pitchFamily="18" charset="0"/>
              <a:cs typeface="Times New Roman" panose="02060603050605020204" pitchFamily="18" charset="0"/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25</a:t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graphicFrame>
        <p:nvGraphicFramePr>
          <p:cNvPr id="3" name="表格 2"/>
          <p:cNvGraphicFramePr/>
          <p:nvPr>
            <p:extLst>
              <p:ext uri="{D42A27DB-BD31-4B8C-83A1-F6EECF244321}">
                <p14:modId xmlns:p14="http://schemas.microsoft.com/office/powerpoint/2010/main" val="2231024886"/>
              </p:ext>
            </p:extLst>
          </p:nvPr>
        </p:nvGraphicFramePr>
        <p:xfrm>
          <a:off x="401957" y="2306956"/>
          <a:ext cx="8141335" cy="34893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816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2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0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775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947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349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9847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2400">
                        <a:latin typeface="Times New Roman" panose="02060603050605020204" pitchFamily="18" charset="0"/>
                        <a:cs typeface="Times New Roman" panose="020606030506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2400">
                        <a:latin typeface="Times New Roman" panose="02060603050605020204" pitchFamily="18" charset="0"/>
                        <a:cs typeface="Times New Roman" panose="020606030506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>
                          <a:latin typeface="Times New Roman" panose="02060603050605020204" pitchFamily="18" charset="0"/>
                          <a:cs typeface="Times New Roman" panose="02060603050605020204" pitchFamily="18" charset="0"/>
                        </a:rPr>
                        <a:t>def[n]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>
                          <a:latin typeface="Times New Roman" panose="02060603050605020204" pitchFamily="18" charset="0"/>
                          <a:cs typeface="Times New Roman" panose="02060603050605020204" pitchFamily="18" charset="0"/>
                        </a:rPr>
                        <a:t>use[n]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>
                          <a:latin typeface="Times New Roman" panose="02060603050605020204" pitchFamily="18" charset="0"/>
                          <a:cs typeface="Times New Roman" panose="02060603050605020204" pitchFamily="18" charset="0"/>
                          <a:sym typeface="+mn-ea"/>
                        </a:rPr>
                        <a:t>in</a:t>
                      </a:r>
                      <a:r>
                        <a:rPr lang="en-US" altLang="en-US" sz="2400">
                          <a:latin typeface="Times New Roman" panose="02060603050605020204" pitchFamily="18" charset="0"/>
                          <a:cs typeface="Times New Roman" panose="02060603050605020204" pitchFamily="18" charset="0"/>
                          <a:sym typeface="+mn-ea"/>
                        </a:rPr>
                        <a:t>[n]</a:t>
                      </a:r>
                      <a:endParaRPr lang="en-US" altLang="en-US" sz="2400">
                        <a:latin typeface="Times New Roman" panose="02060603050605020204" pitchFamily="18" charset="0"/>
                        <a:cs typeface="Times New Roman" panose="020606030506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 sz="2400">
                          <a:latin typeface="Times New Roman" panose="02060603050605020204" pitchFamily="18" charset="0"/>
                          <a:cs typeface="Times New Roman" panose="02060603050605020204" pitchFamily="18" charset="0"/>
                        </a:rPr>
                        <a:t>out[n]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847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2400">
                        <a:latin typeface="Times New Roman" panose="02060603050605020204" pitchFamily="18" charset="0"/>
                        <a:cs typeface="Times New Roman" panose="020606030506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400">
                          <a:latin typeface="Times New Roman" panose="02060603050605020204" pitchFamily="18" charset="0"/>
                          <a:cs typeface="Times New Roman" panose="02060603050605020204" pitchFamily="18" charset="0"/>
                        </a:rPr>
                        <a:t>a ←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>
                          <a:latin typeface="Times New Roman" panose="02060603050605020204" pitchFamily="18" charset="0"/>
                          <a:cs typeface="Times New Roman" panose="02060603050605020204" pitchFamily="18" charset="0"/>
                        </a:rPr>
                        <a:t>{a}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>
                          <a:latin typeface="Times New Roman" panose="02060603050605020204" pitchFamily="18" charset="0"/>
                          <a:cs typeface="Times New Roman" panose="02060603050605020204" pitchFamily="18" charset="0"/>
                        </a:rPr>
                        <a:t>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 sz="2400">
                          <a:latin typeface="Times New Roman" panose="02060603050605020204" pitchFamily="18" charset="0"/>
                          <a:cs typeface="Times New Roman" panose="02060603050605020204" pitchFamily="18" charset="0"/>
                        </a:rPr>
                        <a:t>{c}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 sz="2400">
                          <a:latin typeface="Times New Roman" panose="02060603050605020204" pitchFamily="18" charset="0"/>
                          <a:cs typeface="Times New Roman" panose="02060603050605020204" pitchFamily="18" charset="0"/>
                        </a:rPr>
                        <a:t>{c,a}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84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400">
                          <a:latin typeface="Times New Roman" panose="02060603050605020204" pitchFamily="18" charset="0"/>
                          <a:cs typeface="Times New Roman" panose="02060603050605020204" pitchFamily="18" charset="0"/>
                        </a:rPr>
                        <a:t>L1: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400">
                          <a:latin typeface="Times New Roman" panose="02060603050605020204" pitchFamily="18" charset="0"/>
                          <a:cs typeface="Times New Roman" panose="02060603050605020204" pitchFamily="18" charset="0"/>
                        </a:rPr>
                        <a:t>b ← a + 1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>
                          <a:latin typeface="Times New Roman" panose="02060603050605020204" pitchFamily="18" charset="0"/>
                          <a:cs typeface="Times New Roman" panose="02060603050605020204" pitchFamily="18" charset="0"/>
                        </a:rPr>
                        <a:t>{</a:t>
                      </a:r>
                      <a:r>
                        <a:rPr lang="en-US" altLang="en-US" sz="2400">
                          <a:latin typeface="Times New Roman" panose="02060603050605020204" pitchFamily="18" charset="0"/>
                          <a:cs typeface="Times New Roman" panose="02060603050605020204" pitchFamily="18" charset="0"/>
                        </a:rPr>
                        <a:t>b</a:t>
                      </a:r>
                      <a:r>
                        <a:rPr lang="en-US" altLang="zh-CN" sz="2400">
                          <a:latin typeface="Times New Roman" panose="02060603050605020204" pitchFamily="18" charset="0"/>
                          <a:cs typeface="Times New Roman" panose="02060603050605020204" pitchFamily="18" charset="0"/>
                        </a:rPr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>
                          <a:latin typeface="Times New Roman" panose="02060603050605020204" pitchFamily="18" charset="0"/>
                          <a:cs typeface="Times New Roman" panose="02060603050605020204" pitchFamily="18" charset="0"/>
                        </a:rPr>
                        <a:t>{</a:t>
                      </a:r>
                      <a:r>
                        <a:rPr lang="en-US" altLang="en-US" sz="2400">
                          <a:latin typeface="Times New Roman" panose="02060603050605020204" pitchFamily="18" charset="0"/>
                          <a:cs typeface="Times New Roman" panose="02060603050605020204" pitchFamily="18" charset="0"/>
                        </a:rPr>
                        <a:t>a</a:t>
                      </a:r>
                      <a:r>
                        <a:rPr lang="en-US" altLang="zh-CN" sz="2400">
                          <a:latin typeface="Times New Roman" panose="02060603050605020204" pitchFamily="18" charset="0"/>
                          <a:cs typeface="Times New Roman" panose="02060603050605020204" pitchFamily="18" charset="0"/>
                        </a:rPr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 sz="2400" dirty="0" smtClean="0">
                          <a:latin typeface="Times New Roman" panose="02060603050605020204" pitchFamily="18" charset="0"/>
                          <a:cs typeface="Times New Roman" panose="02060603050605020204" pitchFamily="18" charset="0"/>
                          <a:sym typeface="+mn-ea"/>
                        </a:rPr>
                        <a:t>{</a:t>
                      </a:r>
                      <a:r>
                        <a:rPr lang="en-US" altLang="en-US" sz="2400" dirty="0" err="1" smtClean="0">
                          <a:latin typeface="Times New Roman" panose="02060603050605020204" pitchFamily="18" charset="0"/>
                          <a:cs typeface="Times New Roman" panose="02060603050605020204" pitchFamily="18" charset="0"/>
                          <a:sym typeface="+mn-ea"/>
                        </a:rPr>
                        <a:t>c,</a:t>
                      </a:r>
                      <a:r>
                        <a:rPr lang="en-US" altLang="zh-CN" sz="2400" dirty="0" err="1" smtClean="0">
                          <a:latin typeface="Times New Roman" panose="02060603050605020204" pitchFamily="18" charset="0"/>
                          <a:cs typeface="Times New Roman" panose="02060603050605020204" pitchFamily="18" charset="0"/>
                          <a:sym typeface="+mn-ea"/>
                        </a:rPr>
                        <a:t>a</a:t>
                      </a:r>
                      <a:r>
                        <a:rPr lang="en-US" altLang="en-US" sz="2400" dirty="0" smtClean="0">
                          <a:latin typeface="Times New Roman" panose="02060603050605020204" pitchFamily="18" charset="0"/>
                          <a:cs typeface="Times New Roman" panose="02060603050605020204" pitchFamily="18" charset="0"/>
                          <a:sym typeface="+mn-ea"/>
                        </a:rPr>
                        <a:t>}</a:t>
                      </a:r>
                      <a:endParaRPr lang="en-US" altLang="zh-CN" sz="2400" dirty="0">
                        <a:latin typeface="Times New Roman" panose="02060603050605020204" pitchFamily="18" charset="0"/>
                        <a:cs typeface="Times New Roman" panose="020606030506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 sz="2400">
                          <a:latin typeface="Times New Roman" panose="02060603050605020204" pitchFamily="18" charset="0"/>
                          <a:cs typeface="Times New Roman" panose="02060603050605020204" pitchFamily="18" charset="0"/>
                          <a:sym typeface="+mn-ea"/>
                        </a:rPr>
                        <a:t>{c,b}</a:t>
                      </a:r>
                      <a:endParaRPr lang="en-US" altLang="zh-CN" sz="2400">
                        <a:latin typeface="Times New Roman" panose="02060603050605020204" pitchFamily="18" charset="0"/>
                        <a:cs typeface="Times New Roman" panose="0206060305060502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847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2400">
                        <a:latin typeface="Times New Roman" panose="02060603050605020204" pitchFamily="18" charset="0"/>
                        <a:cs typeface="Times New Roman" panose="020606030506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400">
                          <a:latin typeface="Times New Roman" panose="02060603050605020204" pitchFamily="18" charset="0"/>
                          <a:cs typeface="Times New Roman" panose="02060603050605020204" pitchFamily="18" charset="0"/>
                        </a:rPr>
                        <a:t>c ← c +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>
                          <a:latin typeface="Times New Roman" panose="02060603050605020204" pitchFamily="18" charset="0"/>
                          <a:cs typeface="Times New Roman" panose="02060603050605020204" pitchFamily="18" charset="0"/>
                        </a:rPr>
                        <a:t>{</a:t>
                      </a:r>
                      <a:r>
                        <a:rPr lang="en-US" altLang="en-US" sz="2400">
                          <a:latin typeface="Times New Roman" panose="02060603050605020204" pitchFamily="18" charset="0"/>
                          <a:cs typeface="Times New Roman" panose="02060603050605020204" pitchFamily="18" charset="0"/>
                        </a:rPr>
                        <a:t>c</a:t>
                      </a:r>
                      <a:r>
                        <a:rPr lang="en-US" altLang="zh-CN" sz="2400">
                          <a:latin typeface="Times New Roman" panose="02060603050605020204" pitchFamily="18" charset="0"/>
                          <a:cs typeface="Times New Roman" panose="02060603050605020204" pitchFamily="18" charset="0"/>
                        </a:rPr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>
                          <a:latin typeface="Times New Roman" panose="02060603050605020204" pitchFamily="18" charset="0"/>
                          <a:cs typeface="Times New Roman" panose="02060603050605020204" pitchFamily="18" charset="0"/>
                        </a:rPr>
                        <a:t>{</a:t>
                      </a:r>
                      <a:r>
                        <a:rPr lang="en-US" altLang="en-US" sz="2400">
                          <a:latin typeface="Times New Roman" panose="02060603050605020204" pitchFamily="18" charset="0"/>
                          <a:cs typeface="Times New Roman" panose="02060603050605020204" pitchFamily="18" charset="0"/>
                        </a:rPr>
                        <a:t>b,c</a:t>
                      </a:r>
                      <a:r>
                        <a:rPr lang="en-US" altLang="zh-CN" sz="2400">
                          <a:latin typeface="Times New Roman" panose="02060603050605020204" pitchFamily="18" charset="0"/>
                          <a:cs typeface="Times New Roman" panose="02060603050605020204" pitchFamily="18" charset="0"/>
                        </a:rPr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 sz="2400">
                          <a:latin typeface="Times New Roman" panose="02060603050605020204" pitchFamily="18" charset="0"/>
                          <a:cs typeface="Times New Roman" panose="02060603050605020204" pitchFamily="18" charset="0"/>
                          <a:sym typeface="+mn-ea"/>
                        </a:rPr>
                        <a:t>{c,b}</a:t>
                      </a:r>
                      <a:endParaRPr lang="en-US" altLang="zh-CN" sz="2400">
                        <a:latin typeface="Times New Roman" panose="02060603050605020204" pitchFamily="18" charset="0"/>
                        <a:cs typeface="Times New Roman" panose="020606030506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 sz="2400">
                          <a:latin typeface="Times New Roman" panose="02060603050605020204" pitchFamily="18" charset="0"/>
                          <a:cs typeface="Times New Roman" panose="02060603050605020204" pitchFamily="18" charset="0"/>
                          <a:sym typeface="+mn-ea"/>
                        </a:rPr>
                        <a:t>{c,b}</a:t>
                      </a:r>
                      <a:endParaRPr lang="en-US" altLang="zh-CN" sz="2400">
                        <a:latin typeface="Times New Roman" panose="02060603050605020204" pitchFamily="18" charset="0"/>
                        <a:cs typeface="Times New Roman" panose="0206060305060502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847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2400">
                        <a:latin typeface="Times New Roman" panose="02060603050605020204" pitchFamily="18" charset="0"/>
                        <a:cs typeface="Times New Roman" panose="020606030506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400">
                          <a:latin typeface="Times New Roman" panose="02060603050605020204" pitchFamily="18" charset="0"/>
                          <a:cs typeface="Times New Roman" panose="02060603050605020204" pitchFamily="18" charset="0"/>
                        </a:rPr>
                        <a:t>a ← b ×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>
                          <a:latin typeface="Times New Roman" panose="02060603050605020204" pitchFamily="18" charset="0"/>
                          <a:cs typeface="Times New Roman" panose="02060603050605020204" pitchFamily="18" charset="0"/>
                        </a:rPr>
                        <a:t>{a}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>
                          <a:latin typeface="Times New Roman" panose="02060603050605020204" pitchFamily="18" charset="0"/>
                          <a:cs typeface="Times New Roman" panose="02060603050605020204" pitchFamily="18" charset="0"/>
                        </a:rPr>
                        <a:t>{b}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 sz="2400">
                          <a:latin typeface="Times New Roman" panose="02060603050605020204" pitchFamily="18" charset="0"/>
                          <a:cs typeface="Times New Roman" panose="02060603050605020204" pitchFamily="18" charset="0"/>
                          <a:sym typeface="+mn-ea"/>
                        </a:rPr>
                        <a:t>{c,b}</a:t>
                      </a:r>
                      <a:endParaRPr lang="en-US" altLang="zh-CN" sz="2400">
                        <a:latin typeface="Times New Roman" panose="02060603050605020204" pitchFamily="18" charset="0"/>
                        <a:cs typeface="Times New Roman" panose="020606030506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 sz="2400">
                          <a:latin typeface="Times New Roman" panose="02060603050605020204" pitchFamily="18" charset="0"/>
                          <a:cs typeface="Times New Roman" panose="02060603050605020204" pitchFamily="18" charset="0"/>
                          <a:sym typeface="+mn-ea"/>
                        </a:rPr>
                        <a:t>{a,c}</a:t>
                      </a:r>
                      <a:endParaRPr lang="en-US" altLang="zh-CN" sz="2400">
                        <a:latin typeface="Times New Roman" panose="02060603050605020204" pitchFamily="18" charset="0"/>
                        <a:cs typeface="Times New Roman" panose="0206060305060502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847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2400">
                        <a:latin typeface="Times New Roman" panose="02060603050605020204" pitchFamily="18" charset="0"/>
                        <a:cs typeface="Times New Roman" panose="020606030506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400">
                          <a:latin typeface="Times New Roman" panose="02060603050605020204" pitchFamily="18" charset="0"/>
                          <a:cs typeface="Times New Roman" panose="02060603050605020204" pitchFamily="18" charset="0"/>
                        </a:rPr>
                        <a:t>if a &lt; N goto L1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>
                          <a:latin typeface="Times New Roman" panose="02060603050605020204" pitchFamily="18" charset="0"/>
                          <a:cs typeface="Times New Roman" panose="02060603050605020204" pitchFamily="18" charset="0"/>
                        </a:rPr>
                        <a:t>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>
                          <a:latin typeface="Times New Roman" panose="02060603050605020204" pitchFamily="18" charset="0"/>
                          <a:cs typeface="Times New Roman" panose="02060603050605020204" pitchFamily="18" charset="0"/>
                        </a:rPr>
                        <a:t>{a}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 sz="2400">
                          <a:latin typeface="Times New Roman" panose="02060603050605020204" pitchFamily="18" charset="0"/>
                          <a:cs typeface="Times New Roman" panose="02060603050605020204" pitchFamily="18" charset="0"/>
                          <a:sym typeface="+mn-ea"/>
                        </a:rPr>
                        <a:t>{a,c}</a:t>
                      </a:r>
                      <a:endParaRPr lang="en-US" altLang="zh-CN" sz="2400">
                        <a:latin typeface="Times New Roman" panose="02060603050605020204" pitchFamily="18" charset="0"/>
                        <a:cs typeface="Times New Roman" panose="020606030506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 sz="2400" dirty="0">
                          <a:latin typeface="Times New Roman" panose="02060603050605020204" pitchFamily="18" charset="0"/>
                          <a:cs typeface="Times New Roman" panose="02060603050605020204" pitchFamily="18" charset="0"/>
                          <a:sym typeface="+mn-ea"/>
                        </a:rPr>
                        <a:t>{c}</a:t>
                      </a:r>
                      <a:endParaRPr lang="en-US" altLang="zh-CN" sz="2400" dirty="0">
                        <a:latin typeface="Times New Roman" panose="02060603050605020204" pitchFamily="18" charset="0"/>
                        <a:cs typeface="Times New Roman" panose="0206060305060502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847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2400">
                        <a:latin typeface="Times New Roman" panose="02060603050605020204" pitchFamily="18" charset="0"/>
                        <a:cs typeface="Times New Roman" panose="020606030506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400">
                          <a:latin typeface="Times New Roman" panose="02060603050605020204" pitchFamily="18" charset="0"/>
                          <a:cs typeface="Times New Roman" panose="02060603050605020204" pitchFamily="18" charset="0"/>
                        </a:rPr>
                        <a:t>return 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>
                          <a:latin typeface="Times New Roman" panose="02060603050605020204" pitchFamily="18" charset="0"/>
                          <a:cs typeface="Times New Roman" panose="02060603050605020204" pitchFamily="18" charset="0"/>
                        </a:rPr>
                        <a:t>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>
                          <a:latin typeface="Times New Roman" panose="02060603050605020204" pitchFamily="18" charset="0"/>
                          <a:cs typeface="Times New Roman" panose="02060603050605020204" pitchFamily="18" charset="0"/>
                        </a:rPr>
                        <a:t>{</a:t>
                      </a:r>
                      <a:r>
                        <a:rPr lang="en-US" altLang="en-US" sz="2400">
                          <a:latin typeface="Times New Roman" panose="02060603050605020204" pitchFamily="18" charset="0"/>
                          <a:cs typeface="Times New Roman" panose="02060603050605020204" pitchFamily="18" charset="0"/>
                        </a:rPr>
                        <a:t>c</a:t>
                      </a:r>
                      <a:r>
                        <a:rPr lang="en-US" altLang="zh-CN" sz="2400">
                          <a:latin typeface="Times New Roman" panose="02060603050605020204" pitchFamily="18" charset="0"/>
                          <a:cs typeface="Times New Roman" panose="02060603050605020204" pitchFamily="18" charset="0"/>
                        </a:rPr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 sz="2400">
                          <a:latin typeface="Times New Roman" panose="02060603050605020204" pitchFamily="18" charset="0"/>
                          <a:cs typeface="Times New Roman" panose="02060603050605020204" pitchFamily="18" charset="0"/>
                          <a:sym typeface="+mn-ea"/>
                        </a:rPr>
                        <a:t>{c}</a:t>
                      </a:r>
                      <a:endParaRPr lang="en-US" altLang="zh-CN" sz="2400">
                        <a:latin typeface="Times New Roman" panose="02060603050605020204" pitchFamily="18" charset="0"/>
                        <a:cs typeface="Times New Roman" panose="020606030506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 sz="2400" dirty="0">
                          <a:latin typeface="Times New Roman" panose="02060603050605020204" pitchFamily="18" charset="0"/>
                          <a:cs typeface="Times New Roman" panose="02060603050605020204" pitchFamily="18" charset="0"/>
                          <a:sym typeface="+mn-ea"/>
                        </a:rPr>
                        <a:t>{}</a:t>
                      </a:r>
                      <a:endParaRPr lang="en-US" altLang="zh-CN" sz="2400" dirty="0">
                        <a:latin typeface="Times New Roman" panose="02060603050605020204" pitchFamily="18" charset="0"/>
                        <a:cs typeface="Times New Roman" panose="0206060305060502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9544051" y="5300348"/>
            <a:ext cx="615874" cy="461665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pPr algn="l"/>
            <a:r>
              <a:rPr lang="en-US" altLang="zh-CN" sz="2400">
                <a:latin typeface="Times New Roman" panose="02060603050605020204" pitchFamily="18" charset="0"/>
                <a:ea typeface="宋体" panose="02010600030101010101" pitchFamily="2" charset="-122"/>
                <a:cs typeface="Times New Roman" panose="02060603050605020204" pitchFamily="18" charset="0"/>
                <a:sym typeface="+mn-ea"/>
              </a:rPr>
              <a:t>{c}</a:t>
            </a:r>
            <a:endParaRPr lang="en-US" altLang="zh-CN" sz="2400">
              <a:latin typeface="Times New Roman" panose="02060603050605020204" pitchFamily="18" charset="0"/>
              <a:ea typeface="宋体" panose="02010600030101010101" pitchFamily="2" charset="-122"/>
              <a:cs typeface="Times New Roman" panose="02060603050605020204" pitchFamily="18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0842625" y="5300346"/>
            <a:ext cx="479618" cy="461665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pPr algn="l"/>
            <a:r>
              <a:rPr lang="en-US" altLang="zh-CN" sz="2400">
                <a:latin typeface="Times New Roman" panose="02060603050605020204" pitchFamily="18" charset="0"/>
                <a:ea typeface="宋体" panose="02010600030101010101" pitchFamily="2" charset="-122"/>
                <a:cs typeface="Times New Roman" panose="02060603050605020204" pitchFamily="18" charset="0"/>
                <a:sym typeface="+mn-ea"/>
              </a:rPr>
              <a:t>{}</a:t>
            </a:r>
            <a:endParaRPr lang="en-US" altLang="zh-CN" sz="2400">
              <a:latin typeface="Times New Roman" panose="02060603050605020204" pitchFamily="18" charset="0"/>
              <a:ea typeface="宋体" panose="02010600030101010101" pitchFamily="2" charset="-122"/>
              <a:cs typeface="Times New Roman" panose="02060603050605020204" pitchFamily="18" charset="0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10642603" y="4800603"/>
            <a:ext cx="829073" cy="461665"/>
          </a:xfrm>
          <a:prstGeom prst="rect">
            <a:avLst/>
          </a:prstGeom>
          <a:solidFill>
            <a:srgbClr val="C00000"/>
          </a:solidFill>
        </p:spPr>
        <p:txBody>
          <a:bodyPr wrap="none" rtlCol="0">
            <a:spAutoFit/>
          </a:bodyPr>
          <a:lstStyle/>
          <a:p>
            <a:pPr algn="l"/>
            <a:r>
              <a:rPr lang="en-US" altLang="zh-CN" sz="2400">
                <a:solidFill>
                  <a:schemeClr val="bg1"/>
                </a:solidFill>
                <a:latin typeface="Times New Roman" panose="02060603050605020204" pitchFamily="18" charset="0"/>
                <a:ea typeface="宋体" panose="02010600030101010101" pitchFamily="2" charset="-122"/>
                <a:cs typeface="Times New Roman" panose="02060603050605020204" pitchFamily="18" charset="0"/>
                <a:sym typeface="+mn-ea"/>
              </a:rPr>
              <a:t>{</a:t>
            </a:r>
            <a:r>
              <a:rPr lang="en-US" altLang="en-US" sz="2400">
                <a:solidFill>
                  <a:schemeClr val="bg1"/>
                </a:solidFill>
                <a:latin typeface="Times New Roman" panose="02060603050605020204" pitchFamily="18" charset="0"/>
                <a:ea typeface="宋体" panose="02010600030101010101" pitchFamily="2" charset="-122"/>
                <a:cs typeface="Times New Roman" panose="02060603050605020204" pitchFamily="18" charset="0"/>
                <a:sym typeface="+mn-ea"/>
              </a:rPr>
              <a:t>a,</a:t>
            </a:r>
            <a:r>
              <a:rPr lang="en-US" altLang="zh-CN" sz="2400">
                <a:solidFill>
                  <a:schemeClr val="bg1"/>
                </a:solidFill>
                <a:latin typeface="Times New Roman" panose="02060603050605020204" pitchFamily="18" charset="0"/>
                <a:ea typeface="宋体" panose="02010600030101010101" pitchFamily="2" charset="-122"/>
                <a:cs typeface="Times New Roman" panose="02060603050605020204" pitchFamily="18" charset="0"/>
                <a:sym typeface="+mn-ea"/>
              </a:rPr>
              <a:t>c}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9429753" y="4800603"/>
            <a:ext cx="829073" cy="461665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pPr algn="l"/>
            <a:r>
              <a:rPr lang="en-US" altLang="zh-CN" sz="2400">
                <a:latin typeface="Times New Roman" panose="02060603050605020204" pitchFamily="18" charset="0"/>
                <a:ea typeface="宋体" panose="02010600030101010101" pitchFamily="2" charset="-122"/>
                <a:cs typeface="Times New Roman" panose="02060603050605020204" pitchFamily="18" charset="0"/>
                <a:sym typeface="+mn-ea"/>
              </a:rPr>
              <a:t>{</a:t>
            </a:r>
            <a:r>
              <a:rPr lang="en-US" altLang="en-US" sz="2400">
                <a:latin typeface="Times New Roman" panose="02060603050605020204" pitchFamily="18" charset="0"/>
                <a:ea typeface="宋体" panose="02010600030101010101" pitchFamily="2" charset="-122"/>
                <a:cs typeface="Times New Roman" panose="02060603050605020204" pitchFamily="18" charset="0"/>
                <a:sym typeface="+mn-ea"/>
              </a:rPr>
              <a:t>a,</a:t>
            </a:r>
            <a:r>
              <a:rPr lang="en-US" altLang="zh-CN" sz="2400">
                <a:latin typeface="Times New Roman" panose="02060603050605020204" pitchFamily="18" charset="0"/>
                <a:ea typeface="宋体" panose="02010600030101010101" pitchFamily="2" charset="-122"/>
                <a:cs typeface="Times New Roman" panose="02060603050605020204" pitchFamily="18" charset="0"/>
                <a:sym typeface="+mn-ea"/>
              </a:rPr>
              <a:t>c}</a:t>
            </a:r>
            <a:endParaRPr lang="en-US" altLang="zh-CN" sz="2400">
              <a:latin typeface="Times New Roman" panose="02060603050605020204" pitchFamily="18" charset="0"/>
              <a:ea typeface="宋体" panose="02010600030101010101" pitchFamily="2" charset="-122"/>
              <a:cs typeface="Times New Roman" panose="02060603050605020204" pitchFamily="18" charset="0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10644508" y="4326894"/>
            <a:ext cx="829073" cy="461665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pPr algn="l"/>
            <a:r>
              <a:rPr lang="en-US" altLang="zh-CN" sz="2400">
                <a:latin typeface="Times New Roman" panose="02060603050605020204" pitchFamily="18" charset="0"/>
                <a:ea typeface="宋体" panose="02010600030101010101" pitchFamily="2" charset="-122"/>
                <a:cs typeface="Times New Roman" panose="02060603050605020204" pitchFamily="18" charset="0"/>
                <a:sym typeface="+mn-ea"/>
              </a:rPr>
              <a:t>{</a:t>
            </a:r>
            <a:r>
              <a:rPr lang="en-US" altLang="en-US" sz="2400">
                <a:latin typeface="Times New Roman" panose="02060603050605020204" pitchFamily="18" charset="0"/>
                <a:ea typeface="宋体" panose="02010600030101010101" pitchFamily="2" charset="-122"/>
                <a:cs typeface="Times New Roman" panose="02060603050605020204" pitchFamily="18" charset="0"/>
                <a:sym typeface="+mn-ea"/>
              </a:rPr>
              <a:t>a,</a:t>
            </a:r>
            <a:r>
              <a:rPr lang="en-US" altLang="zh-CN" sz="2400">
                <a:latin typeface="Times New Roman" panose="02060603050605020204" pitchFamily="18" charset="0"/>
                <a:ea typeface="宋体" panose="02010600030101010101" pitchFamily="2" charset="-122"/>
                <a:cs typeface="Times New Roman" panose="02060603050605020204" pitchFamily="18" charset="0"/>
                <a:sym typeface="+mn-ea"/>
              </a:rPr>
              <a:t>c}</a:t>
            </a:r>
            <a:endParaRPr lang="en-US" altLang="zh-CN" sz="2400">
              <a:latin typeface="Times New Roman" panose="02060603050605020204" pitchFamily="18" charset="0"/>
              <a:ea typeface="宋体" panose="02010600030101010101" pitchFamily="2" charset="-122"/>
              <a:cs typeface="Times New Roman" panose="02060603050605020204" pitchFamily="18" charset="0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9429753" y="4326894"/>
            <a:ext cx="846707" cy="461665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pPr algn="l"/>
            <a:r>
              <a:rPr lang="en-US" altLang="zh-CN" sz="2400">
                <a:latin typeface="Times New Roman" panose="02060603050605020204" pitchFamily="18" charset="0"/>
                <a:ea typeface="宋体" panose="02010600030101010101" pitchFamily="2" charset="-122"/>
                <a:cs typeface="Times New Roman" panose="02060603050605020204" pitchFamily="18" charset="0"/>
                <a:sym typeface="+mn-ea"/>
              </a:rPr>
              <a:t>{c</a:t>
            </a:r>
            <a:r>
              <a:rPr lang="en-US" altLang="en-US" sz="2400">
                <a:latin typeface="Times New Roman" panose="02060603050605020204" pitchFamily="18" charset="0"/>
                <a:ea typeface="宋体" panose="02010600030101010101" pitchFamily="2" charset="-122"/>
                <a:cs typeface="Times New Roman" panose="02060603050605020204" pitchFamily="18" charset="0"/>
                <a:sym typeface="+mn-ea"/>
              </a:rPr>
              <a:t>,b</a:t>
            </a:r>
            <a:r>
              <a:rPr lang="en-US" altLang="zh-CN" sz="2400">
                <a:latin typeface="Times New Roman" panose="02060603050605020204" pitchFamily="18" charset="0"/>
                <a:ea typeface="宋体" panose="02010600030101010101" pitchFamily="2" charset="-122"/>
                <a:cs typeface="Times New Roman" panose="02060603050605020204" pitchFamily="18" charset="0"/>
                <a:sym typeface="+mn-ea"/>
              </a:rPr>
              <a:t>}</a:t>
            </a:r>
            <a:endParaRPr lang="en-US" altLang="zh-CN" sz="2400">
              <a:latin typeface="Times New Roman" panose="02060603050605020204" pitchFamily="18" charset="0"/>
              <a:ea typeface="宋体" panose="02010600030101010101" pitchFamily="2" charset="-122"/>
              <a:cs typeface="Times New Roman" panose="02060603050605020204" pitchFamily="18" charset="0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10631173" y="3822068"/>
            <a:ext cx="846707" cy="461665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pPr algn="l"/>
            <a:r>
              <a:rPr lang="en-US" altLang="zh-CN" sz="2400">
                <a:latin typeface="Times New Roman" panose="02060603050605020204" pitchFamily="18" charset="0"/>
                <a:ea typeface="宋体" panose="02010600030101010101" pitchFamily="2" charset="-122"/>
                <a:cs typeface="Times New Roman" panose="02060603050605020204" pitchFamily="18" charset="0"/>
                <a:sym typeface="+mn-ea"/>
              </a:rPr>
              <a:t>{c</a:t>
            </a:r>
            <a:r>
              <a:rPr lang="en-US" altLang="en-US" sz="2400">
                <a:latin typeface="Times New Roman" panose="02060603050605020204" pitchFamily="18" charset="0"/>
                <a:ea typeface="宋体" panose="02010600030101010101" pitchFamily="2" charset="-122"/>
                <a:cs typeface="Times New Roman" panose="02060603050605020204" pitchFamily="18" charset="0"/>
                <a:sym typeface="+mn-ea"/>
              </a:rPr>
              <a:t>,b</a:t>
            </a:r>
            <a:r>
              <a:rPr lang="en-US" altLang="zh-CN" sz="2400">
                <a:latin typeface="Times New Roman" panose="02060603050605020204" pitchFamily="18" charset="0"/>
                <a:ea typeface="宋体" panose="02010600030101010101" pitchFamily="2" charset="-122"/>
                <a:cs typeface="Times New Roman" panose="02060603050605020204" pitchFamily="18" charset="0"/>
                <a:sym typeface="+mn-ea"/>
              </a:rPr>
              <a:t>}</a:t>
            </a:r>
            <a:endParaRPr lang="en-US" altLang="zh-CN" sz="2400">
              <a:latin typeface="Times New Roman" panose="02060603050605020204" pitchFamily="18" charset="0"/>
              <a:ea typeface="宋体" panose="02010600030101010101" pitchFamily="2" charset="-122"/>
              <a:cs typeface="Times New Roman" panose="02060603050605020204" pitchFamily="18" charset="0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9407528" y="3828418"/>
            <a:ext cx="846707" cy="461665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pPr algn="l"/>
            <a:r>
              <a:rPr lang="en-US" altLang="zh-CN" sz="2400">
                <a:latin typeface="Times New Roman" panose="02060603050605020204" pitchFamily="18" charset="0"/>
                <a:ea typeface="宋体" panose="02010600030101010101" pitchFamily="2" charset="-122"/>
                <a:cs typeface="Times New Roman" panose="02060603050605020204" pitchFamily="18" charset="0"/>
                <a:sym typeface="+mn-ea"/>
              </a:rPr>
              <a:t>{c</a:t>
            </a:r>
            <a:r>
              <a:rPr lang="en-US" altLang="en-US" sz="2400">
                <a:latin typeface="Times New Roman" panose="02060603050605020204" pitchFamily="18" charset="0"/>
                <a:ea typeface="宋体" panose="02010600030101010101" pitchFamily="2" charset="-122"/>
                <a:cs typeface="Times New Roman" panose="02060603050605020204" pitchFamily="18" charset="0"/>
                <a:sym typeface="+mn-ea"/>
              </a:rPr>
              <a:t>,b</a:t>
            </a:r>
            <a:r>
              <a:rPr lang="en-US" altLang="zh-CN" sz="2400">
                <a:latin typeface="Times New Roman" panose="02060603050605020204" pitchFamily="18" charset="0"/>
                <a:ea typeface="宋体" panose="02010600030101010101" pitchFamily="2" charset="-122"/>
                <a:cs typeface="Times New Roman" panose="02060603050605020204" pitchFamily="18" charset="0"/>
                <a:sym typeface="+mn-ea"/>
              </a:rPr>
              <a:t>}</a:t>
            </a:r>
            <a:endParaRPr lang="en-US" altLang="zh-CN" sz="2400">
              <a:latin typeface="Times New Roman" panose="02060603050605020204" pitchFamily="18" charset="0"/>
              <a:ea typeface="宋体" panose="02010600030101010101" pitchFamily="2" charset="-122"/>
              <a:cs typeface="Times New Roman" panose="02060603050605020204" pitchFamily="18" charset="0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10631173" y="3323594"/>
            <a:ext cx="846707" cy="461665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pPr algn="l"/>
            <a:r>
              <a:rPr lang="en-US" altLang="zh-CN" sz="2400">
                <a:latin typeface="Times New Roman" panose="02060603050605020204" pitchFamily="18" charset="0"/>
                <a:ea typeface="宋体" panose="02010600030101010101" pitchFamily="2" charset="-122"/>
                <a:cs typeface="Times New Roman" panose="02060603050605020204" pitchFamily="18" charset="0"/>
                <a:sym typeface="+mn-ea"/>
              </a:rPr>
              <a:t>{c</a:t>
            </a:r>
            <a:r>
              <a:rPr lang="en-US" altLang="en-US" sz="2400">
                <a:latin typeface="Times New Roman" panose="02060603050605020204" pitchFamily="18" charset="0"/>
                <a:ea typeface="宋体" panose="02010600030101010101" pitchFamily="2" charset="-122"/>
                <a:cs typeface="Times New Roman" panose="02060603050605020204" pitchFamily="18" charset="0"/>
                <a:sym typeface="+mn-ea"/>
              </a:rPr>
              <a:t>,b</a:t>
            </a:r>
            <a:r>
              <a:rPr lang="en-US" altLang="zh-CN" sz="2400">
                <a:latin typeface="Times New Roman" panose="02060603050605020204" pitchFamily="18" charset="0"/>
                <a:ea typeface="宋体" panose="02010600030101010101" pitchFamily="2" charset="-122"/>
                <a:cs typeface="Times New Roman" panose="02060603050605020204" pitchFamily="18" charset="0"/>
                <a:sym typeface="+mn-ea"/>
              </a:rPr>
              <a:t>}</a:t>
            </a:r>
            <a:endParaRPr lang="en-US" altLang="zh-CN" sz="2400">
              <a:latin typeface="Times New Roman" panose="02060603050605020204" pitchFamily="18" charset="0"/>
              <a:ea typeface="宋体" panose="02010600030101010101" pitchFamily="2" charset="-122"/>
              <a:cs typeface="Times New Roman" panose="02060603050605020204" pitchFamily="18" charset="0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9420228" y="3336294"/>
            <a:ext cx="829073" cy="461665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pPr algn="l"/>
            <a:r>
              <a:rPr lang="en-US" altLang="zh-CN" sz="2400">
                <a:latin typeface="Times New Roman" panose="02060603050605020204" pitchFamily="18" charset="0"/>
                <a:ea typeface="宋体" panose="02010600030101010101" pitchFamily="2" charset="-122"/>
                <a:cs typeface="Times New Roman" panose="02060603050605020204" pitchFamily="18" charset="0"/>
                <a:sym typeface="+mn-ea"/>
              </a:rPr>
              <a:t>{c</a:t>
            </a:r>
            <a:r>
              <a:rPr lang="en-US" altLang="en-US" sz="2400">
                <a:latin typeface="Times New Roman" panose="02060603050605020204" pitchFamily="18" charset="0"/>
                <a:ea typeface="宋体" panose="02010600030101010101" pitchFamily="2" charset="-122"/>
                <a:cs typeface="Times New Roman" panose="02060603050605020204" pitchFamily="18" charset="0"/>
                <a:sym typeface="+mn-ea"/>
              </a:rPr>
              <a:t>,a</a:t>
            </a:r>
            <a:r>
              <a:rPr lang="en-US" altLang="zh-CN" sz="2400">
                <a:latin typeface="Times New Roman" panose="02060603050605020204" pitchFamily="18" charset="0"/>
                <a:ea typeface="宋体" panose="02010600030101010101" pitchFamily="2" charset="-122"/>
                <a:cs typeface="Times New Roman" panose="02060603050605020204" pitchFamily="18" charset="0"/>
                <a:sym typeface="+mn-ea"/>
              </a:rPr>
              <a:t>}</a:t>
            </a:r>
            <a:endParaRPr lang="en-US" altLang="zh-CN" sz="2400">
              <a:latin typeface="Times New Roman" panose="02060603050605020204" pitchFamily="18" charset="0"/>
              <a:ea typeface="宋体" panose="02010600030101010101" pitchFamily="2" charset="-122"/>
              <a:cs typeface="Times New Roman" panose="02060603050605020204" pitchFamily="18" charset="0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10617203" y="2819403"/>
            <a:ext cx="829073" cy="461665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pPr algn="l"/>
            <a:r>
              <a:rPr lang="en-US" altLang="zh-CN" sz="2400">
                <a:latin typeface="Times New Roman" panose="02060603050605020204" pitchFamily="18" charset="0"/>
                <a:ea typeface="宋体" panose="02010600030101010101" pitchFamily="2" charset="-122"/>
                <a:cs typeface="Times New Roman" panose="02060603050605020204" pitchFamily="18" charset="0"/>
                <a:sym typeface="+mn-ea"/>
              </a:rPr>
              <a:t>{c</a:t>
            </a:r>
            <a:r>
              <a:rPr lang="en-US" altLang="en-US" sz="2400">
                <a:latin typeface="Times New Roman" panose="02060603050605020204" pitchFamily="18" charset="0"/>
                <a:ea typeface="宋体" panose="02010600030101010101" pitchFamily="2" charset="-122"/>
                <a:cs typeface="Times New Roman" panose="02060603050605020204" pitchFamily="18" charset="0"/>
                <a:sym typeface="+mn-ea"/>
              </a:rPr>
              <a:t>,a</a:t>
            </a:r>
            <a:r>
              <a:rPr lang="en-US" altLang="zh-CN" sz="2400">
                <a:latin typeface="Times New Roman" panose="02060603050605020204" pitchFamily="18" charset="0"/>
                <a:ea typeface="宋体" panose="02010600030101010101" pitchFamily="2" charset="-122"/>
                <a:cs typeface="Times New Roman" panose="02060603050605020204" pitchFamily="18" charset="0"/>
                <a:sym typeface="+mn-ea"/>
              </a:rPr>
              <a:t>}</a:t>
            </a:r>
            <a:endParaRPr lang="en-US" altLang="zh-CN" sz="2400">
              <a:latin typeface="Times New Roman" panose="02060603050605020204" pitchFamily="18" charset="0"/>
              <a:ea typeface="宋体" panose="02010600030101010101" pitchFamily="2" charset="-122"/>
              <a:cs typeface="Times New Roman" panose="02060603050605020204" pitchFamily="18" charset="0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9483726" y="2819403"/>
            <a:ext cx="615874" cy="461665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pPr algn="l"/>
            <a:r>
              <a:rPr lang="en-US" altLang="zh-CN" sz="2400">
                <a:latin typeface="Times New Roman" panose="02060603050605020204" pitchFamily="18" charset="0"/>
                <a:ea typeface="宋体" panose="02010600030101010101" pitchFamily="2" charset="-122"/>
                <a:cs typeface="Times New Roman" panose="02060603050605020204" pitchFamily="18" charset="0"/>
                <a:sym typeface="+mn-ea"/>
              </a:rPr>
              <a:t>{c}</a:t>
            </a:r>
            <a:endParaRPr lang="en-US" altLang="zh-CN" sz="2400">
              <a:latin typeface="Times New Roman" panose="02060603050605020204" pitchFamily="18" charset="0"/>
              <a:ea typeface="宋体" panose="02010600030101010101" pitchFamily="2" charset="-122"/>
              <a:cs typeface="Times New Roman" panose="020606030506050202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9378954" y="2306958"/>
            <a:ext cx="782587" cy="4616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CN" sz="2400">
                <a:latin typeface="Times New Roman" panose="02060603050605020204" pitchFamily="18" charset="0"/>
                <a:cs typeface="Times New Roman" panose="02060603050605020204" pitchFamily="18" charset="0"/>
                <a:sym typeface="+mn-ea"/>
              </a:rPr>
              <a:t>in</a:t>
            </a:r>
            <a:r>
              <a:rPr lang="en-US" altLang="en-US" sz="2400">
                <a:latin typeface="Times New Roman" panose="02060603050605020204" pitchFamily="18" charset="0"/>
                <a:cs typeface="Times New Roman" panose="02060603050605020204" pitchFamily="18" charset="0"/>
                <a:sym typeface="+mn-ea"/>
              </a:rPr>
              <a:t>[n]</a:t>
            </a:r>
          </a:p>
        </p:txBody>
      </p:sp>
      <p:sp>
        <p:nvSpPr>
          <p:cNvPr id="34" name="文本框 33"/>
          <p:cNvSpPr txBox="1"/>
          <p:nvPr/>
        </p:nvSpPr>
        <p:spPr>
          <a:xfrm>
            <a:off x="10528304" y="2306958"/>
            <a:ext cx="936475" cy="4616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en-US" sz="2400">
                <a:latin typeface="Times New Roman" panose="02060603050605020204" pitchFamily="18" charset="0"/>
                <a:cs typeface="Times New Roman" panose="02060603050605020204" pitchFamily="18" charset="0"/>
                <a:sym typeface="+mn-ea"/>
              </a:rPr>
              <a:t>out[n]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BBD24F73-B705-0F5F-8C62-A1FD766A2A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5441" y="136527"/>
            <a:ext cx="4322083" cy="199508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  <p:bldP spid="10" grpId="0" bldLvl="0" animBg="1"/>
      <p:bldP spid="24" grpId="0" bldLvl="0" animBg="1"/>
      <p:bldP spid="25" grpId="0" bldLvl="0" animBg="1"/>
      <p:bldP spid="26" grpId="0" bldLvl="0" animBg="1"/>
      <p:bldP spid="27" grpId="0" bldLvl="0" animBg="1"/>
      <p:bldP spid="28" grpId="0" bldLvl="0" animBg="1"/>
      <p:bldP spid="29" grpId="0" bldLvl="0" animBg="1"/>
      <p:bldP spid="30" grpId="0" bldLvl="0" animBg="1"/>
      <p:bldP spid="31" grpId="0" bldLvl="0" animBg="1"/>
      <p:bldP spid="32" grpId="0" bldLvl="0" animBg="1"/>
      <p:bldP spid="33" grpId="0" bldLvl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b="1" dirty="0">
                <a:latin typeface="楷体_GB2312" panose="02010609030101010101" charset="-122"/>
                <a:ea typeface="楷体_GB2312" panose="02010609030101010101" charset="-122"/>
                <a:sym typeface="+mn-ea"/>
              </a:rPr>
              <a:t>相关概念与定义</a:t>
            </a:r>
          </a:p>
        </p:txBody>
      </p:sp>
      <p:sp>
        <p:nvSpPr>
          <p:cNvPr id="6" name="文本占位符 5"/>
          <p:cNvSpPr>
            <a:spLocks noGrp="1"/>
          </p:cNvSpPr>
          <p:nvPr>
            <p:ph type="body" idx="4294967295"/>
          </p:nvPr>
        </p:nvSpPr>
        <p:spPr>
          <a:xfrm>
            <a:off x="127636" y="1388112"/>
            <a:ext cx="11997691" cy="5091431"/>
          </a:xfrm>
        </p:spPr>
        <p:txBody>
          <a:bodyPr>
            <a:normAutofit lnSpcReduction="10000"/>
          </a:bodyPr>
          <a:lstStyle/>
          <a:p>
            <a:pPr marL="431789" indent="-323843" defTabSz="449569">
              <a:lnSpc>
                <a:spcPct val="150000"/>
              </a:lnSpc>
              <a:buSzPct val="45000"/>
              <a:buNone/>
              <a:tabLst>
                <a:tab pos="723882" algn="l"/>
                <a:tab pos="1447764" algn="l"/>
                <a:tab pos="2171646" algn="l"/>
                <a:tab pos="2895528" algn="l"/>
                <a:tab pos="3619410" algn="l"/>
                <a:tab pos="4343291" algn="l"/>
                <a:tab pos="5067173" algn="l"/>
                <a:tab pos="5791055" algn="l"/>
                <a:tab pos="6514937" algn="l"/>
                <a:tab pos="7238819" algn="l"/>
                <a:tab pos="7962701" algn="l"/>
                <a:tab pos="8686583" algn="l"/>
              </a:tabLst>
            </a:pPr>
            <a:r>
              <a:rPr lang="zh-CN" altLang="en-US" sz="2800" b="1" dirty="0">
                <a:sym typeface="+mn-ea"/>
              </a:rPr>
              <a:t>变量溢出（</a:t>
            </a:r>
            <a:r>
              <a:rPr lang="en-US" altLang="zh-CN" sz="2800" b="1" dirty="0">
                <a:sym typeface="+mn-ea"/>
              </a:rPr>
              <a:t>spill</a:t>
            </a:r>
            <a:r>
              <a:rPr lang="zh-CN" altLang="en-US" sz="2800" b="1" dirty="0">
                <a:sym typeface="+mn-ea"/>
              </a:rPr>
              <a:t>）</a:t>
            </a:r>
          </a:p>
          <a:p>
            <a:pPr marL="431789" indent="-323843" defTabSz="449569">
              <a:lnSpc>
                <a:spcPct val="150000"/>
              </a:lnSpc>
              <a:buSzPct val="45000"/>
              <a:buNone/>
              <a:tabLst>
                <a:tab pos="723882" algn="l"/>
                <a:tab pos="1447764" algn="l"/>
                <a:tab pos="2171646" algn="l"/>
                <a:tab pos="2895528" algn="l"/>
                <a:tab pos="3619410" algn="l"/>
                <a:tab pos="4343291" algn="l"/>
                <a:tab pos="5067173" algn="l"/>
                <a:tab pos="5791055" algn="l"/>
                <a:tab pos="6514937" algn="l"/>
                <a:tab pos="7238819" algn="l"/>
                <a:tab pos="7962701" algn="l"/>
                <a:tab pos="8686583" algn="l"/>
              </a:tabLst>
            </a:pPr>
            <a:r>
              <a:rPr lang="en-US" altLang="zh-CN" sz="2800" b="1" dirty="0">
                <a:sym typeface="+mn-ea"/>
              </a:rPr>
              <a:t>    </a:t>
            </a:r>
            <a:r>
              <a:rPr lang="zh-CN" altLang="en-US" sz="2800" b="1" dirty="0">
                <a:sym typeface="+mn-ea"/>
              </a:rPr>
              <a:t>寄存器不够用时，将变量存储在栈或者主存中</a:t>
            </a:r>
          </a:p>
          <a:p>
            <a:pPr marL="431789" indent="-323843" defTabSz="449569">
              <a:lnSpc>
                <a:spcPct val="150000"/>
              </a:lnSpc>
              <a:buSzPct val="45000"/>
              <a:buNone/>
              <a:tabLst>
                <a:tab pos="723882" algn="l"/>
                <a:tab pos="1447764" algn="l"/>
                <a:tab pos="2171646" algn="l"/>
                <a:tab pos="2895528" algn="l"/>
                <a:tab pos="3619410" algn="l"/>
                <a:tab pos="4343291" algn="l"/>
                <a:tab pos="5067173" algn="l"/>
                <a:tab pos="5791055" algn="l"/>
                <a:tab pos="6514937" algn="l"/>
                <a:tab pos="7238819" algn="l"/>
                <a:tab pos="7962701" algn="l"/>
                <a:tab pos="8686583" algn="l"/>
              </a:tabLst>
            </a:pPr>
            <a:r>
              <a:rPr lang="zh-CN" altLang="en-US" sz="2800" b="1" dirty="0">
                <a:sym typeface="+mn-ea"/>
              </a:rPr>
              <a:t> </a:t>
            </a:r>
            <a:r>
              <a:rPr lang="en-US" altLang="zh-CN" sz="2800" b="1" dirty="0">
                <a:sym typeface="+mn-ea"/>
              </a:rPr>
              <a:t>   </a:t>
            </a:r>
            <a:r>
              <a:rPr lang="zh-CN" altLang="en-US" sz="2800" b="1" dirty="0">
                <a:sym typeface="+mn-ea"/>
              </a:rPr>
              <a:t>在定义之后插入存储指令</a:t>
            </a:r>
            <a:endParaRPr lang="en-US" altLang="zh-CN" sz="2800" b="1" dirty="0">
              <a:sym typeface="+mn-ea"/>
            </a:endParaRPr>
          </a:p>
          <a:p>
            <a:pPr marL="431789" indent="-323843" defTabSz="449569">
              <a:lnSpc>
                <a:spcPct val="150000"/>
              </a:lnSpc>
              <a:buSzPct val="45000"/>
              <a:buNone/>
              <a:tabLst>
                <a:tab pos="723882" algn="l"/>
                <a:tab pos="1447764" algn="l"/>
                <a:tab pos="2171646" algn="l"/>
                <a:tab pos="2895528" algn="l"/>
                <a:tab pos="3619410" algn="l"/>
                <a:tab pos="4343291" algn="l"/>
                <a:tab pos="5067173" algn="l"/>
                <a:tab pos="5791055" algn="l"/>
                <a:tab pos="6514937" algn="l"/>
                <a:tab pos="7238819" algn="l"/>
                <a:tab pos="7962701" algn="l"/>
                <a:tab pos="8686583" algn="l"/>
              </a:tabLst>
            </a:pPr>
            <a:r>
              <a:rPr lang="en-US" altLang="zh-CN" sz="2800" b="1" dirty="0">
                <a:sym typeface="+mn-ea"/>
              </a:rPr>
              <a:t>    </a:t>
            </a:r>
            <a:r>
              <a:rPr lang="zh-CN" altLang="en-US" sz="2800" b="1" dirty="0">
                <a:sym typeface="+mn-ea"/>
              </a:rPr>
              <a:t>每次使用前插入加载指令</a:t>
            </a:r>
          </a:p>
          <a:p>
            <a:pPr marL="431789" indent="-323843" defTabSz="449569">
              <a:lnSpc>
                <a:spcPct val="150000"/>
              </a:lnSpc>
              <a:buSzPct val="45000"/>
              <a:buNone/>
              <a:tabLst>
                <a:tab pos="723882" algn="l"/>
                <a:tab pos="1447764" algn="l"/>
                <a:tab pos="2171646" algn="l"/>
                <a:tab pos="2895528" algn="l"/>
                <a:tab pos="3619410" algn="l"/>
                <a:tab pos="4343291" algn="l"/>
                <a:tab pos="5067173" algn="l"/>
                <a:tab pos="5791055" algn="l"/>
                <a:tab pos="6514937" algn="l"/>
                <a:tab pos="7238819" algn="l"/>
                <a:tab pos="7962701" algn="l"/>
                <a:tab pos="8686583" algn="l"/>
              </a:tabLst>
            </a:pPr>
            <a:r>
              <a:rPr lang="zh-CN" altLang="en-US" sz="2800" b="1" dirty="0">
                <a:sym typeface="+mn-ea"/>
              </a:rPr>
              <a:t>溢出后果</a:t>
            </a:r>
          </a:p>
          <a:p>
            <a:pPr marL="431789" indent="-323843" defTabSz="449569">
              <a:lnSpc>
                <a:spcPct val="150000"/>
              </a:lnSpc>
              <a:buSzPct val="45000"/>
              <a:buNone/>
              <a:tabLst>
                <a:tab pos="723882" algn="l"/>
                <a:tab pos="1447764" algn="l"/>
                <a:tab pos="2171646" algn="l"/>
                <a:tab pos="2895528" algn="l"/>
                <a:tab pos="3619410" algn="l"/>
                <a:tab pos="4343291" algn="l"/>
                <a:tab pos="5067173" algn="l"/>
                <a:tab pos="5791055" algn="l"/>
                <a:tab pos="6514937" algn="l"/>
                <a:tab pos="7238819" algn="l"/>
                <a:tab pos="7962701" algn="l"/>
                <a:tab pos="8686583" algn="l"/>
              </a:tabLst>
            </a:pPr>
            <a:r>
              <a:rPr lang="en-US" altLang="zh-CN" sz="2800" b="1" dirty="0">
                <a:sym typeface="+mn-ea"/>
              </a:rPr>
              <a:t>    缩短了临时</a:t>
            </a:r>
            <a:r>
              <a:rPr lang="zh-CN" altLang="en-US" sz="2800" b="1" dirty="0">
                <a:sym typeface="+mn-ea"/>
              </a:rPr>
              <a:t>变量</a:t>
            </a:r>
            <a:r>
              <a:rPr lang="en-US" altLang="zh-CN" sz="2800" b="1" dirty="0">
                <a:sym typeface="+mn-ea"/>
              </a:rPr>
              <a:t>的活动范围</a:t>
            </a:r>
          </a:p>
          <a:p>
            <a:pPr marL="431789" indent="-323843" defTabSz="449569">
              <a:lnSpc>
                <a:spcPct val="150000"/>
              </a:lnSpc>
              <a:buSzPct val="45000"/>
              <a:buNone/>
              <a:tabLst>
                <a:tab pos="723882" algn="l"/>
                <a:tab pos="1447764" algn="l"/>
                <a:tab pos="2171646" algn="l"/>
                <a:tab pos="2895528" algn="l"/>
                <a:tab pos="3619410" algn="l"/>
                <a:tab pos="4343291" algn="l"/>
                <a:tab pos="5067173" algn="l"/>
                <a:tab pos="5791055" algn="l"/>
                <a:tab pos="6514937" algn="l"/>
                <a:tab pos="7238819" algn="l"/>
                <a:tab pos="7962701" algn="l"/>
                <a:tab pos="8686583" algn="l"/>
              </a:tabLst>
            </a:pPr>
            <a:r>
              <a:rPr lang="en-US" altLang="zh-CN" sz="2800" b="1" dirty="0">
                <a:sym typeface="+mn-ea"/>
              </a:rPr>
              <a:t>    增加堆栈帧的大小、访问临时</a:t>
            </a:r>
            <a:r>
              <a:rPr lang="zh-CN" altLang="en-US" sz="2800" b="1" dirty="0">
                <a:sym typeface="+mn-ea"/>
              </a:rPr>
              <a:t>变量</a:t>
            </a:r>
            <a:r>
              <a:rPr lang="en-US" altLang="zh-CN" sz="2800" b="1" dirty="0">
                <a:sym typeface="+mn-ea"/>
              </a:rPr>
              <a:t>的成本</a:t>
            </a:r>
            <a:r>
              <a:rPr lang="zh-CN" altLang="en-US" sz="2800" b="1" dirty="0">
                <a:sym typeface="+mn-ea"/>
              </a:rPr>
              <a:t>增加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26</a:t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b="1" dirty="0">
                <a:latin typeface="楷体_GB2312" panose="02010609030101010101" charset="-122"/>
                <a:ea typeface="楷体_GB2312" panose="02010609030101010101" charset="-122"/>
                <a:sym typeface="+mn-ea"/>
              </a:rPr>
              <a:t>寄存器分配问题分析</a:t>
            </a:r>
            <a:endParaRPr lang="zh-CN" altLang="en-US" b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27</a:t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0" name="object 3"/>
          <p:cNvSpPr/>
          <p:nvPr/>
        </p:nvSpPr>
        <p:spPr>
          <a:xfrm>
            <a:off x="7142480" y="356235"/>
            <a:ext cx="2514600" cy="914400"/>
          </a:xfrm>
          <a:custGeom>
            <a:avLst/>
            <a:gdLst/>
            <a:ahLst/>
            <a:cxnLst/>
            <a:rect l="l" t="t" r="r" b="b"/>
            <a:pathLst>
              <a:path w="2514600" h="914400">
                <a:moveTo>
                  <a:pt x="1257300" y="914400"/>
                </a:moveTo>
                <a:lnTo>
                  <a:pt x="0" y="914400"/>
                </a:lnTo>
                <a:lnTo>
                  <a:pt x="0" y="0"/>
                </a:lnTo>
                <a:lnTo>
                  <a:pt x="2514600" y="0"/>
                </a:lnTo>
                <a:lnTo>
                  <a:pt x="2514600" y="914400"/>
                </a:lnTo>
                <a:lnTo>
                  <a:pt x="1257300" y="91440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4"/>
          <p:cNvSpPr txBox="1"/>
          <p:nvPr/>
        </p:nvSpPr>
        <p:spPr>
          <a:xfrm>
            <a:off x="7701280" y="614047"/>
            <a:ext cx="1397000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b="1" dirty="0">
                <a:solidFill>
                  <a:srgbClr val="191919"/>
                </a:solidFill>
                <a:latin typeface="Courier New" panose="02070409020205020404"/>
                <a:cs typeface="Courier New" panose="02070409020205020404"/>
              </a:rPr>
              <a:t>e = d +</a:t>
            </a:r>
            <a:r>
              <a:rPr sz="2000" b="1" spc="-120" dirty="0">
                <a:solidFill>
                  <a:srgbClr val="191919"/>
                </a:solidFill>
                <a:latin typeface="Courier New" panose="02070409020205020404"/>
                <a:cs typeface="Courier New" panose="02070409020205020404"/>
              </a:rPr>
              <a:t> </a:t>
            </a:r>
            <a:r>
              <a:rPr sz="2000" b="1" dirty="0">
                <a:solidFill>
                  <a:srgbClr val="191919"/>
                </a:solidFill>
                <a:latin typeface="Courier New" panose="02070409020205020404"/>
                <a:cs typeface="Courier New" panose="02070409020205020404"/>
              </a:rPr>
              <a:t>a</a:t>
            </a:r>
            <a:endParaRPr sz="2000">
              <a:latin typeface="Courier New" panose="02070409020205020404"/>
              <a:cs typeface="Courier New" panose="02070409020205020404"/>
            </a:endParaRPr>
          </a:p>
        </p:txBody>
      </p:sp>
      <p:sp>
        <p:nvSpPr>
          <p:cNvPr id="12" name="object 5"/>
          <p:cNvSpPr txBox="1"/>
          <p:nvPr/>
        </p:nvSpPr>
        <p:spPr>
          <a:xfrm>
            <a:off x="7142480" y="1727837"/>
            <a:ext cx="2514600" cy="592598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851">
              <a:latin typeface="Times New Roman" panose="02060603050605020204"/>
              <a:cs typeface="Times New Roman" panose="02060603050605020204"/>
            </a:endParaRPr>
          </a:p>
          <a:p>
            <a:pPr marL="571486"/>
            <a:r>
              <a:rPr sz="2000" b="1" dirty="0">
                <a:solidFill>
                  <a:srgbClr val="191919"/>
                </a:solidFill>
                <a:latin typeface="Courier New" panose="02070409020205020404"/>
                <a:cs typeface="Courier New" panose="02070409020205020404"/>
              </a:rPr>
              <a:t>f = b +</a:t>
            </a:r>
            <a:r>
              <a:rPr sz="2000" b="1" spc="-75" dirty="0">
                <a:solidFill>
                  <a:srgbClr val="191919"/>
                </a:solidFill>
                <a:latin typeface="Courier New" panose="02070409020205020404"/>
                <a:cs typeface="Courier New" panose="02070409020205020404"/>
              </a:rPr>
              <a:t> </a:t>
            </a:r>
            <a:r>
              <a:rPr sz="2000" b="1" dirty="0">
                <a:solidFill>
                  <a:srgbClr val="191919"/>
                </a:solidFill>
                <a:latin typeface="Courier New" panose="02070409020205020404"/>
                <a:cs typeface="Courier New" panose="02070409020205020404"/>
              </a:rPr>
              <a:t>c</a:t>
            </a:r>
            <a:endParaRPr sz="2000">
              <a:latin typeface="Courier New" panose="02070409020205020404"/>
              <a:cs typeface="Courier New" panose="02070409020205020404"/>
            </a:endParaRPr>
          </a:p>
        </p:txBody>
      </p:sp>
      <p:sp>
        <p:nvSpPr>
          <p:cNvPr id="13" name="object 6"/>
          <p:cNvSpPr txBox="1"/>
          <p:nvPr/>
        </p:nvSpPr>
        <p:spPr>
          <a:xfrm>
            <a:off x="7142480" y="3099437"/>
            <a:ext cx="2514600" cy="592598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851">
              <a:latin typeface="Times New Roman" panose="02060603050605020204"/>
              <a:cs typeface="Times New Roman" panose="02060603050605020204"/>
            </a:endParaRPr>
          </a:p>
          <a:p>
            <a:pPr marL="571486"/>
            <a:r>
              <a:rPr sz="2000" b="1" dirty="0">
                <a:solidFill>
                  <a:srgbClr val="191919"/>
                </a:solidFill>
                <a:latin typeface="Courier New" panose="02070409020205020404"/>
                <a:cs typeface="Courier New" panose="02070409020205020404"/>
              </a:rPr>
              <a:t>f = f +</a:t>
            </a:r>
            <a:r>
              <a:rPr sz="2000" b="1" spc="-75" dirty="0">
                <a:solidFill>
                  <a:srgbClr val="191919"/>
                </a:solidFill>
                <a:latin typeface="Courier New" panose="02070409020205020404"/>
                <a:cs typeface="Courier New" panose="02070409020205020404"/>
              </a:rPr>
              <a:t> </a:t>
            </a:r>
            <a:r>
              <a:rPr sz="2000" b="1" dirty="0">
                <a:solidFill>
                  <a:srgbClr val="191919"/>
                </a:solidFill>
                <a:latin typeface="Courier New" panose="02070409020205020404"/>
                <a:cs typeface="Courier New" panose="02070409020205020404"/>
              </a:rPr>
              <a:t>b</a:t>
            </a:r>
            <a:endParaRPr sz="2000">
              <a:latin typeface="Courier New" panose="02070409020205020404"/>
              <a:cs typeface="Courier New" panose="02070409020205020404"/>
            </a:endParaRPr>
          </a:p>
        </p:txBody>
      </p:sp>
      <p:sp>
        <p:nvSpPr>
          <p:cNvPr id="14" name="object 7"/>
          <p:cNvSpPr txBox="1"/>
          <p:nvPr/>
        </p:nvSpPr>
        <p:spPr>
          <a:xfrm>
            <a:off x="6228080" y="4471037"/>
            <a:ext cx="1600200" cy="592598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851">
              <a:latin typeface="Times New Roman" panose="02060603050605020204"/>
              <a:cs typeface="Times New Roman" panose="02060603050605020204"/>
            </a:endParaRPr>
          </a:p>
          <a:p>
            <a:pPr marL="114297"/>
            <a:r>
              <a:rPr sz="2000" b="1" dirty="0">
                <a:solidFill>
                  <a:srgbClr val="191919"/>
                </a:solidFill>
                <a:latin typeface="Courier New" panose="02070409020205020404"/>
                <a:cs typeface="Courier New" panose="02070409020205020404"/>
              </a:rPr>
              <a:t>d = e +</a:t>
            </a:r>
            <a:r>
              <a:rPr sz="2000" b="1" spc="-105" dirty="0">
                <a:solidFill>
                  <a:srgbClr val="191919"/>
                </a:solidFill>
                <a:latin typeface="Courier New" panose="02070409020205020404"/>
                <a:cs typeface="Courier New" panose="02070409020205020404"/>
              </a:rPr>
              <a:t> </a:t>
            </a:r>
            <a:r>
              <a:rPr sz="2000" b="1" dirty="0">
                <a:solidFill>
                  <a:srgbClr val="191919"/>
                </a:solidFill>
                <a:latin typeface="Courier New" panose="02070409020205020404"/>
                <a:cs typeface="Courier New" panose="02070409020205020404"/>
              </a:rPr>
              <a:t>f</a:t>
            </a:r>
            <a:endParaRPr sz="2000">
              <a:latin typeface="Courier New" panose="02070409020205020404"/>
              <a:cs typeface="Courier New" panose="02070409020205020404"/>
            </a:endParaRPr>
          </a:p>
        </p:txBody>
      </p:sp>
      <p:sp>
        <p:nvSpPr>
          <p:cNvPr id="15" name="object 8"/>
          <p:cNvSpPr txBox="1"/>
          <p:nvPr/>
        </p:nvSpPr>
        <p:spPr>
          <a:xfrm>
            <a:off x="8971280" y="4471037"/>
            <a:ext cx="1600200" cy="592598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851">
              <a:latin typeface="Times New Roman" panose="02060603050605020204"/>
              <a:cs typeface="Times New Roman" panose="02060603050605020204"/>
            </a:endParaRPr>
          </a:p>
          <a:p>
            <a:pPr marL="114297"/>
            <a:r>
              <a:rPr sz="2000" b="1" dirty="0">
                <a:solidFill>
                  <a:srgbClr val="191919"/>
                </a:solidFill>
                <a:latin typeface="Courier New" panose="02070409020205020404"/>
                <a:cs typeface="Courier New" panose="02070409020205020404"/>
              </a:rPr>
              <a:t>d = e –</a:t>
            </a:r>
            <a:r>
              <a:rPr sz="2000" b="1" spc="-105" dirty="0">
                <a:solidFill>
                  <a:srgbClr val="191919"/>
                </a:solidFill>
                <a:latin typeface="Courier New" panose="02070409020205020404"/>
                <a:cs typeface="Courier New" panose="02070409020205020404"/>
              </a:rPr>
              <a:t> </a:t>
            </a:r>
            <a:r>
              <a:rPr sz="2000" b="1" dirty="0">
                <a:solidFill>
                  <a:srgbClr val="191919"/>
                </a:solidFill>
                <a:latin typeface="Courier New" panose="02070409020205020404"/>
                <a:cs typeface="Courier New" panose="02070409020205020404"/>
              </a:rPr>
              <a:t>f</a:t>
            </a:r>
            <a:endParaRPr sz="2000">
              <a:latin typeface="Courier New" panose="02070409020205020404"/>
              <a:cs typeface="Courier New" panose="02070409020205020404"/>
            </a:endParaRPr>
          </a:p>
        </p:txBody>
      </p:sp>
      <p:grpSp>
        <p:nvGrpSpPr>
          <p:cNvPr id="16" name="object 9"/>
          <p:cNvGrpSpPr/>
          <p:nvPr/>
        </p:nvGrpSpPr>
        <p:grpSpPr>
          <a:xfrm>
            <a:off x="8345172" y="1270635"/>
            <a:ext cx="107951" cy="457200"/>
            <a:chOff x="7146290" y="1828800"/>
            <a:chExt cx="107950" cy="457200"/>
          </a:xfrm>
        </p:grpSpPr>
        <p:sp>
          <p:nvSpPr>
            <p:cNvPr id="17" name="object 10"/>
            <p:cNvSpPr/>
            <p:nvPr/>
          </p:nvSpPr>
          <p:spPr>
            <a:xfrm>
              <a:off x="7200900" y="1828800"/>
              <a:ext cx="0" cy="302260"/>
            </a:xfrm>
            <a:custGeom>
              <a:avLst/>
              <a:gdLst/>
              <a:ahLst/>
              <a:cxnLst/>
              <a:rect l="l" t="t" r="r" b="b"/>
              <a:pathLst>
                <a:path h="302260">
                  <a:moveTo>
                    <a:pt x="0" y="0"/>
                  </a:moveTo>
                  <a:lnTo>
                    <a:pt x="0" y="30226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1"/>
            <p:cNvSpPr/>
            <p:nvPr/>
          </p:nvSpPr>
          <p:spPr>
            <a:xfrm>
              <a:off x="7146290" y="2123440"/>
              <a:ext cx="107950" cy="162560"/>
            </a:xfrm>
            <a:custGeom>
              <a:avLst/>
              <a:gdLst/>
              <a:ahLst/>
              <a:cxnLst/>
              <a:rect l="l" t="t" r="r" b="b"/>
              <a:pathLst>
                <a:path w="107950" h="162560">
                  <a:moveTo>
                    <a:pt x="107950" y="0"/>
                  </a:moveTo>
                  <a:lnTo>
                    <a:pt x="0" y="0"/>
                  </a:lnTo>
                  <a:lnTo>
                    <a:pt x="54609" y="162560"/>
                  </a:lnTo>
                  <a:lnTo>
                    <a:pt x="10795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9" name="object 12"/>
          <p:cNvGrpSpPr/>
          <p:nvPr/>
        </p:nvGrpSpPr>
        <p:grpSpPr>
          <a:xfrm>
            <a:off x="8345172" y="2642235"/>
            <a:ext cx="107951" cy="457200"/>
            <a:chOff x="7146290" y="3200400"/>
            <a:chExt cx="107950" cy="457200"/>
          </a:xfrm>
        </p:grpSpPr>
        <p:sp>
          <p:nvSpPr>
            <p:cNvPr id="20" name="object 13"/>
            <p:cNvSpPr/>
            <p:nvPr/>
          </p:nvSpPr>
          <p:spPr>
            <a:xfrm>
              <a:off x="7200900" y="3200400"/>
              <a:ext cx="0" cy="302260"/>
            </a:xfrm>
            <a:custGeom>
              <a:avLst/>
              <a:gdLst/>
              <a:ahLst/>
              <a:cxnLst/>
              <a:rect l="l" t="t" r="r" b="b"/>
              <a:pathLst>
                <a:path h="302260">
                  <a:moveTo>
                    <a:pt x="0" y="0"/>
                  </a:moveTo>
                  <a:lnTo>
                    <a:pt x="0" y="30226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14"/>
            <p:cNvSpPr/>
            <p:nvPr/>
          </p:nvSpPr>
          <p:spPr>
            <a:xfrm>
              <a:off x="7146290" y="3495040"/>
              <a:ext cx="107950" cy="162560"/>
            </a:xfrm>
            <a:custGeom>
              <a:avLst/>
              <a:gdLst/>
              <a:ahLst/>
              <a:cxnLst/>
              <a:rect l="l" t="t" r="r" b="b"/>
              <a:pathLst>
                <a:path w="107950" h="162560">
                  <a:moveTo>
                    <a:pt x="107950" y="0"/>
                  </a:moveTo>
                  <a:lnTo>
                    <a:pt x="0" y="0"/>
                  </a:lnTo>
                  <a:lnTo>
                    <a:pt x="54609" y="162560"/>
                  </a:lnTo>
                  <a:lnTo>
                    <a:pt x="10795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2" name="object 15"/>
          <p:cNvGrpSpPr/>
          <p:nvPr/>
        </p:nvGrpSpPr>
        <p:grpSpPr>
          <a:xfrm>
            <a:off x="7028180" y="4013202"/>
            <a:ext cx="2743200" cy="457835"/>
            <a:chOff x="5829300" y="4571365"/>
            <a:chExt cx="2743200" cy="457834"/>
          </a:xfrm>
        </p:grpSpPr>
        <p:sp>
          <p:nvSpPr>
            <p:cNvPr id="23" name="object 16"/>
            <p:cNvSpPr/>
            <p:nvPr/>
          </p:nvSpPr>
          <p:spPr>
            <a:xfrm>
              <a:off x="5976620" y="4572000"/>
              <a:ext cx="1224280" cy="407670"/>
            </a:xfrm>
            <a:custGeom>
              <a:avLst/>
              <a:gdLst/>
              <a:ahLst/>
              <a:cxnLst/>
              <a:rect l="l" t="t" r="r" b="b"/>
              <a:pathLst>
                <a:path w="1224279" h="407670">
                  <a:moveTo>
                    <a:pt x="1224279" y="0"/>
                  </a:moveTo>
                  <a:lnTo>
                    <a:pt x="0" y="40766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17"/>
            <p:cNvSpPr/>
            <p:nvPr/>
          </p:nvSpPr>
          <p:spPr>
            <a:xfrm>
              <a:off x="5829300" y="4926330"/>
              <a:ext cx="170180" cy="102870"/>
            </a:xfrm>
            <a:custGeom>
              <a:avLst/>
              <a:gdLst/>
              <a:ahLst/>
              <a:cxnLst/>
              <a:rect l="l" t="t" r="r" b="b"/>
              <a:pathLst>
                <a:path w="170179" h="102870">
                  <a:moveTo>
                    <a:pt x="135889" y="0"/>
                  </a:moveTo>
                  <a:lnTo>
                    <a:pt x="0" y="102870"/>
                  </a:lnTo>
                  <a:lnTo>
                    <a:pt x="170179" y="102870"/>
                  </a:lnTo>
                  <a:lnTo>
                    <a:pt x="13588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18"/>
            <p:cNvSpPr/>
            <p:nvPr/>
          </p:nvSpPr>
          <p:spPr>
            <a:xfrm>
              <a:off x="7200900" y="4572000"/>
              <a:ext cx="1224280" cy="407670"/>
            </a:xfrm>
            <a:custGeom>
              <a:avLst/>
              <a:gdLst/>
              <a:ahLst/>
              <a:cxnLst/>
              <a:rect l="l" t="t" r="r" b="b"/>
              <a:pathLst>
                <a:path w="1224279" h="407670">
                  <a:moveTo>
                    <a:pt x="0" y="0"/>
                  </a:moveTo>
                  <a:lnTo>
                    <a:pt x="1224279" y="40766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19"/>
            <p:cNvSpPr/>
            <p:nvPr/>
          </p:nvSpPr>
          <p:spPr>
            <a:xfrm>
              <a:off x="8401050" y="4926330"/>
              <a:ext cx="171450" cy="102870"/>
            </a:xfrm>
            <a:custGeom>
              <a:avLst/>
              <a:gdLst/>
              <a:ahLst/>
              <a:cxnLst/>
              <a:rect l="l" t="t" r="r" b="b"/>
              <a:pathLst>
                <a:path w="171450" h="102870">
                  <a:moveTo>
                    <a:pt x="34290" y="0"/>
                  </a:moveTo>
                  <a:lnTo>
                    <a:pt x="0" y="102870"/>
                  </a:lnTo>
                  <a:lnTo>
                    <a:pt x="171450" y="102870"/>
                  </a:lnTo>
                  <a:lnTo>
                    <a:pt x="3429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7" name="object 20"/>
          <p:cNvGrpSpPr/>
          <p:nvPr/>
        </p:nvGrpSpPr>
        <p:grpSpPr>
          <a:xfrm>
            <a:off x="7027548" y="5384803"/>
            <a:ext cx="2744471" cy="1372235"/>
            <a:chOff x="5828665" y="5942965"/>
            <a:chExt cx="2744470" cy="1372235"/>
          </a:xfrm>
        </p:grpSpPr>
        <p:sp>
          <p:nvSpPr>
            <p:cNvPr id="28" name="object 21"/>
            <p:cNvSpPr/>
            <p:nvPr/>
          </p:nvSpPr>
          <p:spPr>
            <a:xfrm>
              <a:off x="6400800" y="6400800"/>
              <a:ext cx="1600200" cy="914400"/>
            </a:xfrm>
            <a:custGeom>
              <a:avLst/>
              <a:gdLst/>
              <a:ahLst/>
              <a:cxnLst/>
              <a:rect l="l" t="t" r="r" b="b"/>
              <a:pathLst>
                <a:path w="1600200" h="914400">
                  <a:moveTo>
                    <a:pt x="800100" y="914400"/>
                  </a:moveTo>
                  <a:lnTo>
                    <a:pt x="0" y="914400"/>
                  </a:lnTo>
                  <a:lnTo>
                    <a:pt x="0" y="0"/>
                  </a:lnTo>
                  <a:lnTo>
                    <a:pt x="1600200" y="0"/>
                  </a:lnTo>
                  <a:lnTo>
                    <a:pt x="1600200" y="914400"/>
                  </a:lnTo>
                  <a:lnTo>
                    <a:pt x="800100" y="91440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2"/>
            <p:cNvSpPr/>
            <p:nvPr/>
          </p:nvSpPr>
          <p:spPr>
            <a:xfrm>
              <a:off x="5829300" y="5943600"/>
              <a:ext cx="1224280" cy="407670"/>
            </a:xfrm>
            <a:custGeom>
              <a:avLst/>
              <a:gdLst/>
              <a:ahLst/>
              <a:cxnLst/>
              <a:rect l="l" t="t" r="r" b="b"/>
              <a:pathLst>
                <a:path w="1224279" h="407670">
                  <a:moveTo>
                    <a:pt x="0" y="0"/>
                  </a:moveTo>
                  <a:lnTo>
                    <a:pt x="1224279" y="40766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23"/>
            <p:cNvSpPr/>
            <p:nvPr/>
          </p:nvSpPr>
          <p:spPr>
            <a:xfrm>
              <a:off x="7029450" y="6297930"/>
              <a:ext cx="171450" cy="102870"/>
            </a:xfrm>
            <a:custGeom>
              <a:avLst/>
              <a:gdLst/>
              <a:ahLst/>
              <a:cxnLst/>
              <a:rect l="l" t="t" r="r" b="b"/>
              <a:pathLst>
                <a:path w="171450" h="102870">
                  <a:moveTo>
                    <a:pt x="34290" y="0"/>
                  </a:moveTo>
                  <a:lnTo>
                    <a:pt x="0" y="102870"/>
                  </a:lnTo>
                  <a:lnTo>
                    <a:pt x="171450" y="102870"/>
                  </a:lnTo>
                  <a:lnTo>
                    <a:pt x="3429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24"/>
            <p:cNvSpPr/>
            <p:nvPr/>
          </p:nvSpPr>
          <p:spPr>
            <a:xfrm>
              <a:off x="7348220" y="5943600"/>
              <a:ext cx="1224280" cy="407670"/>
            </a:xfrm>
            <a:custGeom>
              <a:avLst/>
              <a:gdLst/>
              <a:ahLst/>
              <a:cxnLst/>
              <a:rect l="l" t="t" r="r" b="b"/>
              <a:pathLst>
                <a:path w="1224279" h="407670">
                  <a:moveTo>
                    <a:pt x="1224279" y="0"/>
                  </a:moveTo>
                  <a:lnTo>
                    <a:pt x="0" y="40766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25"/>
            <p:cNvSpPr/>
            <p:nvPr/>
          </p:nvSpPr>
          <p:spPr>
            <a:xfrm>
              <a:off x="7200900" y="6297930"/>
              <a:ext cx="170180" cy="102870"/>
            </a:xfrm>
            <a:custGeom>
              <a:avLst/>
              <a:gdLst/>
              <a:ahLst/>
              <a:cxnLst/>
              <a:rect l="l" t="t" r="r" b="b"/>
              <a:pathLst>
                <a:path w="170179" h="102870">
                  <a:moveTo>
                    <a:pt x="135890" y="0"/>
                  </a:moveTo>
                  <a:lnTo>
                    <a:pt x="0" y="102870"/>
                  </a:lnTo>
                  <a:lnTo>
                    <a:pt x="170179" y="102870"/>
                  </a:lnTo>
                  <a:lnTo>
                    <a:pt x="13589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27"/>
          <p:cNvSpPr txBox="1"/>
          <p:nvPr/>
        </p:nvSpPr>
        <p:spPr>
          <a:xfrm>
            <a:off x="8004175" y="6142987"/>
            <a:ext cx="787400" cy="2789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100"/>
              </a:lnSpc>
            </a:pPr>
            <a:r>
              <a:rPr sz="2000" b="1" dirty="0">
                <a:solidFill>
                  <a:srgbClr val="191919"/>
                </a:solidFill>
                <a:latin typeface="Courier New" panose="02070409020205020404"/>
                <a:cs typeface="Courier New" panose="02070409020205020404"/>
              </a:rPr>
              <a:t>g =</a:t>
            </a:r>
            <a:r>
              <a:rPr sz="2000" b="1" spc="-111" dirty="0">
                <a:solidFill>
                  <a:srgbClr val="191919"/>
                </a:solidFill>
                <a:latin typeface="Courier New" panose="02070409020205020404"/>
                <a:cs typeface="Courier New" panose="02070409020205020404"/>
              </a:rPr>
              <a:t> </a:t>
            </a:r>
            <a:r>
              <a:rPr sz="2000" b="1" dirty="0">
                <a:solidFill>
                  <a:srgbClr val="191919"/>
                </a:solidFill>
                <a:latin typeface="Courier New" panose="02070409020205020404"/>
                <a:cs typeface="Courier New" panose="02070409020205020404"/>
              </a:rPr>
              <a:t>d</a:t>
            </a:r>
            <a:endParaRPr sz="2000">
              <a:latin typeface="Courier New" panose="02070409020205020404"/>
              <a:cs typeface="Courier New" panose="02070409020205020404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7970523" y="6406515"/>
            <a:ext cx="859723" cy="369332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b="1" dirty="0">
                <a:solidFill>
                  <a:srgbClr val="FF0000"/>
                </a:solidFill>
                <a:latin typeface="Courier New" panose="02070409020205020404"/>
                <a:cs typeface="Courier New" panose="02070409020205020404"/>
                <a:sym typeface="+mn-ea"/>
              </a:rPr>
              <a:t>{ g</a:t>
            </a:r>
            <a:r>
              <a:rPr b="1" spc="-111" dirty="0">
                <a:solidFill>
                  <a:srgbClr val="FF0000"/>
                </a:solidFill>
                <a:latin typeface="Courier New" panose="02070409020205020404"/>
                <a:cs typeface="Courier New" panose="02070409020205020404"/>
                <a:sym typeface="+mn-ea"/>
              </a:rPr>
              <a:t> </a:t>
            </a:r>
            <a:r>
              <a:rPr b="1" dirty="0">
                <a:solidFill>
                  <a:srgbClr val="FF0000"/>
                </a:solidFill>
                <a:latin typeface="Courier New" panose="02070409020205020404"/>
                <a:cs typeface="Courier New" panose="02070409020205020404"/>
                <a:sym typeface="+mn-ea"/>
              </a:rPr>
              <a:t>}</a:t>
            </a:r>
            <a:endParaRPr lang="zh-CN" altLang="en-US"/>
          </a:p>
        </p:txBody>
      </p:sp>
      <p:sp>
        <p:nvSpPr>
          <p:cNvPr id="35" name="文本框 34"/>
          <p:cNvSpPr txBox="1"/>
          <p:nvPr/>
        </p:nvSpPr>
        <p:spPr>
          <a:xfrm>
            <a:off x="7970523" y="5842635"/>
            <a:ext cx="859723" cy="369332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b="1" dirty="0">
                <a:solidFill>
                  <a:srgbClr val="FF0000"/>
                </a:solidFill>
                <a:latin typeface="Courier New" panose="02070409020205020404"/>
                <a:cs typeface="Courier New" panose="02070409020205020404"/>
                <a:sym typeface="+mn-ea"/>
              </a:rPr>
              <a:t>{ </a:t>
            </a:r>
            <a:r>
              <a:rPr lang="en-US" b="1" dirty="0">
                <a:solidFill>
                  <a:srgbClr val="FF0000"/>
                </a:solidFill>
                <a:latin typeface="Courier New" panose="02070409020205020404"/>
                <a:cs typeface="Courier New" panose="02070409020205020404"/>
                <a:sym typeface="+mn-ea"/>
              </a:rPr>
              <a:t>d</a:t>
            </a:r>
            <a:r>
              <a:rPr b="1" spc="-111" dirty="0">
                <a:solidFill>
                  <a:srgbClr val="FF0000"/>
                </a:solidFill>
                <a:latin typeface="Courier New" panose="02070409020205020404"/>
                <a:cs typeface="Courier New" panose="02070409020205020404"/>
                <a:sym typeface="+mn-ea"/>
              </a:rPr>
              <a:t> </a:t>
            </a:r>
            <a:r>
              <a:rPr b="1" dirty="0">
                <a:solidFill>
                  <a:srgbClr val="FF0000"/>
                </a:solidFill>
                <a:latin typeface="Courier New" panose="02070409020205020404"/>
                <a:cs typeface="Courier New" panose="02070409020205020404"/>
                <a:sym typeface="+mn-ea"/>
              </a:rPr>
              <a:t>}</a:t>
            </a:r>
            <a:endParaRPr lang="zh-CN" altLang="en-US"/>
          </a:p>
        </p:txBody>
      </p:sp>
      <p:sp>
        <p:nvSpPr>
          <p:cNvPr id="36" name="文本框 35"/>
          <p:cNvSpPr txBox="1"/>
          <p:nvPr/>
        </p:nvSpPr>
        <p:spPr>
          <a:xfrm>
            <a:off x="6600828" y="4959349"/>
            <a:ext cx="859723" cy="369332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b="1" dirty="0">
                <a:solidFill>
                  <a:srgbClr val="FF0000"/>
                </a:solidFill>
                <a:latin typeface="Courier New" panose="02070409020205020404"/>
                <a:cs typeface="Courier New" panose="02070409020205020404"/>
                <a:sym typeface="+mn-ea"/>
              </a:rPr>
              <a:t>{ </a:t>
            </a:r>
            <a:r>
              <a:rPr lang="en-US" b="1" dirty="0">
                <a:solidFill>
                  <a:srgbClr val="FF0000"/>
                </a:solidFill>
                <a:latin typeface="Courier New" panose="02070409020205020404"/>
                <a:cs typeface="Courier New" panose="02070409020205020404"/>
                <a:sym typeface="+mn-ea"/>
              </a:rPr>
              <a:t>d</a:t>
            </a:r>
            <a:r>
              <a:rPr b="1" spc="-111" dirty="0">
                <a:solidFill>
                  <a:srgbClr val="FF0000"/>
                </a:solidFill>
                <a:latin typeface="Courier New" panose="02070409020205020404"/>
                <a:cs typeface="Courier New" panose="02070409020205020404"/>
                <a:sym typeface="+mn-ea"/>
              </a:rPr>
              <a:t> </a:t>
            </a:r>
            <a:r>
              <a:rPr b="1" dirty="0">
                <a:solidFill>
                  <a:srgbClr val="FF0000"/>
                </a:solidFill>
                <a:latin typeface="Courier New" panose="02070409020205020404"/>
                <a:cs typeface="Courier New" panose="02070409020205020404"/>
                <a:sym typeface="+mn-ea"/>
              </a:rPr>
              <a:t>}</a:t>
            </a:r>
            <a:endParaRPr lang="zh-CN" altLang="en-US"/>
          </a:p>
        </p:txBody>
      </p:sp>
      <p:sp>
        <p:nvSpPr>
          <p:cNvPr id="37" name="文本框 36"/>
          <p:cNvSpPr txBox="1"/>
          <p:nvPr/>
        </p:nvSpPr>
        <p:spPr>
          <a:xfrm>
            <a:off x="9258303" y="5017135"/>
            <a:ext cx="859723" cy="369332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b="1" dirty="0">
                <a:solidFill>
                  <a:srgbClr val="FF0000"/>
                </a:solidFill>
                <a:latin typeface="Courier New" panose="02070409020205020404"/>
                <a:cs typeface="Courier New" panose="02070409020205020404"/>
                <a:sym typeface="+mn-ea"/>
              </a:rPr>
              <a:t>{ </a:t>
            </a:r>
            <a:r>
              <a:rPr lang="en-US" b="1" dirty="0">
                <a:solidFill>
                  <a:srgbClr val="FF0000"/>
                </a:solidFill>
                <a:latin typeface="Courier New" panose="02070409020205020404"/>
                <a:cs typeface="Courier New" panose="02070409020205020404"/>
                <a:sym typeface="+mn-ea"/>
              </a:rPr>
              <a:t>d</a:t>
            </a:r>
            <a:r>
              <a:rPr b="1" spc="-111" dirty="0">
                <a:solidFill>
                  <a:srgbClr val="FF0000"/>
                </a:solidFill>
                <a:latin typeface="Courier New" panose="02070409020205020404"/>
                <a:cs typeface="Courier New" panose="02070409020205020404"/>
                <a:sym typeface="+mn-ea"/>
              </a:rPr>
              <a:t> </a:t>
            </a:r>
            <a:r>
              <a:rPr b="1" dirty="0">
                <a:solidFill>
                  <a:srgbClr val="FF0000"/>
                </a:solidFill>
                <a:latin typeface="Courier New" panose="02070409020205020404"/>
                <a:cs typeface="Courier New" panose="02070409020205020404"/>
                <a:sym typeface="+mn-ea"/>
              </a:rPr>
              <a:t>}</a:t>
            </a:r>
            <a:endParaRPr lang="zh-CN" altLang="en-US"/>
          </a:p>
        </p:txBody>
      </p:sp>
      <p:sp>
        <p:nvSpPr>
          <p:cNvPr id="38" name="文本框 37"/>
          <p:cNvSpPr txBox="1"/>
          <p:nvPr/>
        </p:nvSpPr>
        <p:spPr>
          <a:xfrm>
            <a:off x="6467479" y="4471035"/>
            <a:ext cx="1135439" cy="369332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b="1" dirty="0">
                <a:solidFill>
                  <a:srgbClr val="FF0000"/>
                </a:solidFill>
                <a:latin typeface="Courier New" panose="02070409020205020404"/>
                <a:cs typeface="Courier New" panose="02070409020205020404"/>
                <a:sym typeface="+mn-ea"/>
              </a:rPr>
              <a:t>{ </a:t>
            </a:r>
            <a:r>
              <a:rPr lang="en-US" altLang="en-US" b="1" dirty="0">
                <a:solidFill>
                  <a:srgbClr val="FF0000"/>
                </a:solidFill>
                <a:latin typeface="Courier New" panose="02070409020205020404"/>
                <a:cs typeface="Courier New" panose="02070409020205020404"/>
                <a:sym typeface="+mn-ea"/>
              </a:rPr>
              <a:t>e,f</a:t>
            </a:r>
            <a:r>
              <a:rPr b="1" spc="-111" dirty="0">
                <a:solidFill>
                  <a:srgbClr val="FF0000"/>
                </a:solidFill>
                <a:latin typeface="Courier New" panose="02070409020205020404"/>
                <a:cs typeface="Courier New" panose="02070409020205020404"/>
                <a:sym typeface="+mn-ea"/>
              </a:rPr>
              <a:t> </a:t>
            </a:r>
            <a:r>
              <a:rPr b="1" dirty="0">
                <a:solidFill>
                  <a:srgbClr val="FF0000"/>
                </a:solidFill>
                <a:latin typeface="Courier New" panose="02070409020205020404"/>
                <a:cs typeface="Courier New" panose="02070409020205020404"/>
                <a:sym typeface="+mn-ea"/>
              </a:rPr>
              <a:t>}</a:t>
            </a:r>
            <a:endParaRPr lang="zh-CN" altLang="en-US"/>
          </a:p>
        </p:txBody>
      </p:sp>
      <p:sp>
        <p:nvSpPr>
          <p:cNvPr id="39" name="文本框 38"/>
          <p:cNvSpPr txBox="1"/>
          <p:nvPr/>
        </p:nvSpPr>
        <p:spPr>
          <a:xfrm>
            <a:off x="9206868" y="4471035"/>
            <a:ext cx="1135439" cy="369332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b="1" dirty="0">
                <a:solidFill>
                  <a:srgbClr val="FF0000"/>
                </a:solidFill>
                <a:latin typeface="Courier New" panose="02070409020205020404"/>
                <a:cs typeface="Courier New" panose="02070409020205020404"/>
                <a:sym typeface="+mn-ea"/>
              </a:rPr>
              <a:t>{ </a:t>
            </a:r>
            <a:r>
              <a:rPr lang="en-US" altLang="en-US" b="1" dirty="0">
                <a:solidFill>
                  <a:srgbClr val="FF0000"/>
                </a:solidFill>
                <a:latin typeface="Courier New" panose="02070409020205020404"/>
                <a:cs typeface="Courier New" panose="02070409020205020404"/>
                <a:sym typeface="+mn-ea"/>
              </a:rPr>
              <a:t>e,f</a:t>
            </a:r>
            <a:r>
              <a:rPr b="1" spc="-111" dirty="0">
                <a:solidFill>
                  <a:srgbClr val="FF0000"/>
                </a:solidFill>
                <a:latin typeface="Courier New" panose="02070409020205020404"/>
                <a:cs typeface="Courier New" panose="02070409020205020404"/>
                <a:sym typeface="+mn-ea"/>
              </a:rPr>
              <a:t> </a:t>
            </a:r>
            <a:r>
              <a:rPr b="1" dirty="0">
                <a:solidFill>
                  <a:srgbClr val="FF0000"/>
                </a:solidFill>
                <a:latin typeface="Courier New" panose="02070409020205020404"/>
                <a:cs typeface="Courier New" panose="02070409020205020404"/>
                <a:sym typeface="+mn-ea"/>
              </a:rPr>
              <a:t>}</a:t>
            </a:r>
            <a:endParaRPr lang="zh-CN" altLang="en-US"/>
          </a:p>
        </p:txBody>
      </p:sp>
      <p:sp>
        <p:nvSpPr>
          <p:cNvPr id="40" name="文本框 39"/>
          <p:cNvSpPr txBox="1"/>
          <p:nvPr/>
        </p:nvSpPr>
        <p:spPr>
          <a:xfrm>
            <a:off x="7835268" y="3645535"/>
            <a:ext cx="1135439" cy="369332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b="1" dirty="0">
                <a:solidFill>
                  <a:srgbClr val="FF0000"/>
                </a:solidFill>
                <a:latin typeface="Courier New" panose="02070409020205020404"/>
                <a:cs typeface="Courier New" panose="02070409020205020404"/>
                <a:sym typeface="+mn-ea"/>
              </a:rPr>
              <a:t>{ </a:t>
            </a:r>
            <a:r>
              <a:rPr lang="en-US" altLang="en-US" b="1" dirty="0">
                <a:solidFill>
                  <a:srgbClr val="FF0000"/>
                </a:solidFill>
                <a:latin typeface="Courier New" panose="02070409020205020404"/>
                <a:cs typeface="Courier New" panose="02070409020205020404"/>
                <a:sym typeface="+mn-ea"/>
              </a:rPr>
              <a:t>e,f</a:t>
            </a:r>
            <a:r>
              <a:rPr b="1" spc="-111" dirty="0">
                <a:solidFill>
                  <a:srgbClr val="FF0000"/>
                </a:solidFill>
                <a:latin typeface="Courier New" panose="02070409020205020404"/>
                <a:cs typeface="Courier New" panose="02070409020205020404"/>
                <a:sym typeface="+mn-ea"/>
              </a:rPr>
              <a:t> </a:t>
            </a:r>
            <a:r>
              <a:rPr b="1" dirty="0">
                <a:solidFill>
                  <a:srgbClr val="FF0000"/>
                </a:solidFill>
                <a:latin typeface="Courier New" panose="02070409020205020404"/>
                <a:cs typeface="Courier New" panose="02070409020205020404"/>
                <a:sym typeface="+mn-ea"/>
              </a:rPr>
              <a:t>}</a:t>
            </a:r>
            <a:endParaRPr lang="zh-CN" altLang="en-US"/>
          </a:p>
        </p:txBody>
      </p:sp>
      <p:sp>
        <p:nvSpPr>
          <p:cNvPr id="41" name="文本框 40"/>
          <p:cNvSpPr txBox="1"/>
          <p:nvPr/>
        </p:nvSpPr>
        <p:spPr>
          <a:xfrm>
            <a:off x="7548880" y="3099435"/>
            <a:ext cx="1686872" cy="369332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b="1" dirty="0">
                <a:solidFill>
                  <a:srgbClr val="FF0000"/>
                </a:solidFill>
                <a:latin typeface="Courier New" panose="02070409020205020404"/>
                <a:cs typeface="Courier New" panose="02070409020205020404"/>
                <a:sym typeface="+mn-ea"/>
              </a:rPr>
              <a:t>{ </a:t>
            </a:r>
            <a:r>
              <a:rPr lang="en-US" altLang="en-US" b="1" dirty="0">
                <a:solidFill>
                  <a:srgbClr val="FF0000"/>
                </a:solidFill>
                <a:latin typeface="Courier New" panose="02070409020205020404"/>
                <a:cs typeface="Courier New" panose="02070409020205020404"/>
                <a:sym typeface="+mn-ea"/>
              </a:rPr>
              <a:t>b, e, f</a:t>
            </a:r>
            <a:r>
              <a:rPr b="1" spc="-111" dirty="0">
                <a:solidFill>
                  <a:srgbClr val="FF0000"/>
                </a:solidFill>
                <a:latin typeface="Courier New" panose="02070409020205020404"/>
                <a:cs typeface="Courier New" panose="02070409020205020404"/>
                <a:sym typeface="+mn-ea"/>
              </a:rPr>
              <a:t> </a:t>
            </a:r>
            <a:r>
              <a:rPr b="1" dirty="0">
                <a:solidFill>
                  <a:srgbClr val="FF0000"/>
                </a:solidFill>
                <a:latin typeface="Courier New" panose="02070409020205020404"/>
                <a:cs typeface="Courier New" panose="02070409020205020404"/>
                <a:sym typeface="+mn-ea"/>
              </a:rPr>
              <a:t>}</a:t>
            </a:r>
            <a:endParaRPr lang="zh-CN" altLang="en-US"/>
          </a:p>
        </p:txBody>
      </p:sp>
      <p:sp>
        <p:nvSpPr>
          <p:cNvPr id="42" name="文本框 41"/>
          <p:cNvSpPr txBox="1"/>
          <p:nvPr/>
        </p:nvSpPr>
        <p:spPr>
          <a:xfrm>
            <a:off x="7548880" y="2273935"/>
            <a:ext cx="1686872" cy="369332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b="1" dirty="0">
                <a:solidFill>
                  <a:srgbClr val="FF0000"/>
                </a:solidFill>
                <a:latin typeface="Courier New" panose="02070409020205020404"/>
                <a:cs typeface="Courier New" panose="02070409020205020404"/>
                <a:sym typeface="+mn-ea"/>
              </a:rPr>
              <a:t>{ </a:t>
            </a:r>
            <a:r>
              <a:rPr lang="en-US" altLang="en-US" b="1" dirty="0">
                <a:solidFill>
                  <a:srgbClr val="FF0000"/>
                </a:solidFill>
                <a:latin typeface="Courier New" panose="02070409020205020404"/>
                <a:cs typeface="Courier New" panose="02070409020205020404"/>
                <a:sym typeface="+mn-ea"/>
              </a:rPr>
              <a:t>b, e, f</a:t>
            </a:r>
            <a:r>
              <a:rPr b="1" spc="-111" dirty="0">
                <a:solidFill>
                  <a:srgbClr val="FF0000"/>
                </a:solidFill>
                <a:latin typeface="Courier New" panose="02070409020205020404"/>
                <a:cs typeface="Courier New" panose="02070409020205020404"/>
                <a:sym typeface="+mn-ea"/>
              </a:rPr>
              <a:t> </a:t>
            </a:r>
            <a:r>
              <a:rPr b="1" dirty="0">
                <a:solidFill>
                  <a:srgbClr val="FF0000"/>
                </a:solidFill>
                <a:latin typeface="Courier New" panose="02070409020205020404"/>
                <a:cs typeface="Courier New" panose="02070409020205020404"/>
                <a:sym typeface="+mn-ea"/>
              </a:rPr>
              <a:t>}</a:t>
            </a:r>
            <a:endParaRPr lang="zh-CN" altLang="en-US"/>
          </a:p>
        </p:txBody>
      </p:sp>
      <p:sp>
        <p:nvSpPr>
          <p:cNvPr id="43" name="文本框 42"/>
          <p:cNvSpPr txBox="1"/>
          <p:nvPr/>
        </p:nvSpPr>
        <p:spPr>
          <a:xfrm>
            <a:off x="7559040" y="1727835"/>
            <a:ext cx="1686872" cy="369332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b="1" dirty="0">
                <a:solidFill>
                  <a:srgbClr val="FF0000"/>
                </a:solidFill>
                <a:latin typeface="Courier New" panose="02070409020205020404"/>
                <a:cs typeface="Courier New" panose="02070409020205020404"/>
                <a:sym typeface="+mn-ea"/>
              </a:rPr>
              <a:t>{ </a:t>
            </a:r>
            <a:r>
              <a:rPr lang="en-US" altLang="en-US" b="1" dirty="0">
                <a:solidFill>
                  <a:srgbClr val="FF0000"/>
                </a:solidFill>
                <a:latin typeface="Courier New" panose="02070409020205020404"/>
                <a:cs typeface="Courier New" panose="02070409020205020404"/>
                <a:sym typeface="+mn-ea"/>
              </a:rPr>
              <a:t>b, e, c</a:t>
            </a:r>
            <a:r>
              <a:rPr b="1" spc="-111" dirty="0">
                <a:solidFill>
                  <a:srgbClr val="FF0000"/>
                </a:solidFill>
                <a:latin typeface="Courier New" panose="02070409020205020404"/>
                <a:cs typeface="Courier New" panose="02070409020205020404"/>
                <a:sym typeface="+mn-ea"/>
              </a:rPr>
              <a:t> </a:t>
            </a:r>
            <a:r>
              <a:rPr b="1" dirty="0">
                <a:solidFill>
                  <a:srgbClr val="FF0000"/>
                </a:solidFill>
                <a:latin typeface="Courier New" panose="02070409020205020404"/>
                <a:cs typeface="Courier New" panose="02070409020205020404"/>
                <a:sym typeface="+mn-ea"/>
              </a:rPr>
              <a:t>}</a:t>
            </a:r>
            <a:endParaRPr lang="zh-CN" altLang="en-US"/>
          </a:p>
        </p:txBody>
      </p:sp>
      <p:sp>
        <p:nvSpPr>
          <p:cNvPr id="44" name="文本框 43"/>
          <p:cNvSpPr txBox="1"/>
          <p:nvPr/>
        </p:nvSpPr>
        <p:spPr>
          <a:xfrm>
            <a:off x="7548880" y="844549"/>
            <a:ext cx="1686872" cy="369332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b="1" dirty="0">
                <a:solidFill>
                  <a:srgbClr val="FF0000"/>
                </a:solidFill>
                <a:latin typeface="Courier New" panose="02070409020205020404"/>
                <a:cs typeface="Courier New" panose="02070409020205020404"/>
                <a:sym typeface="+mn-ea"/>
              </a:rPr>
              <a:t>{ </a:t>
            </a:r>
            <a:r>
              <a:rPr lang="en-US" altLang="en-US" b="1" dirty="0">
                <a:solidFill>
                  <a:srgbClr val="FF0000"/>
                </a:solidFill>
                <a:latin typeface="Courier New" panose="02070409020205020404"/>
                <a:cs typeface="Courier New" panose="02070409020205020404"/>
                <a:sym typeface="+mn-ea"/>
              </a:rPr>
              <a:t>b, e, c</a:t>
            </a:r>
            <a:r>
              <a:rPr b="1" spc="-111" dirty="0">
                <a:solidFill>
                  <a:srgbClr val="FF0000"/>
                </a:solidFill>
                <a:latin typeface="Courier New" panose="02070409020205020404"/>
                <a:cs typeface="Courier New" panose="02070409020205020404"/>
                <a:sym typeface="+mn-ea"/>
              </a:rPr>
              <a:t> </a:t>
            </a:r>
            <a:r>
              <a:rPr b="1" dirty="0">
                <a:solidFill>
                  <a:srgbClr val="FF0000"/>
                </a:solidFill>
                <a:latin typeface="Courier New" panose="02070409020205020404"/>
                <a:cs typeface="Courier New" panose="02070409020205020404"/>
                <a:sym typeface="+mn-ea"/>
              </a:rPr>
              <a:t>}</a:t>
            </a:r>
            <a:endParaRPr lang="zh-CN" altLang="en-US"/>
          </a:p>
        </p:txBody>
      </p:sp>
      <p:sp>
        <p:nvSpPr>
          <p:cNvPr id="45" name="文本框 44"/>
          <p:cNvSpPr txBox="1"/>
          <p:nvPr/>
        </p:nvSpPr>
        <p:spPr>
          <a:xfrm>
            <a:off x="7427595" y="356235"/>
            <a:ext cx="1948354" cy="369332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b="1" dirty="0">
                <a:solidFill>
                  <a:srgbClr val="FF0000"/>
                </a:solidFill>
                <a:latin typeface="Courier New" panose="02070409020205020404"/>
                <a:cs typeface="Courier New" panose="02070409020205020404"/>
                <a:sym typeface="+mn-ea"/>
              </a:rPr>
              <a:t>{ </a:t>
            </a:r>
            <a:r>
              <a:rPr lang="en-US" b="1" dirty="0">
                <a:solidFill>
                  <a:srgbClr val="FF0000"/>
                </a:solidFill>
                <a:latin typeface="Courier New" panose="02070409020205020404"/>
                <a:cs typeface="Courier New" panose="02070409020205020404"/>
                <a:sym typeface="+mn-ea"/>
              </a:rPr>
              <a:t>a, </a:t>
            </a:r>
            <a:r>
              <a:rPr lang="en-US" altLang="en-US" b="1" dirty="0">
                <a:solidFill>
                  <a:srgbClr val="FF0000"/>
                </a:solidFill>
                <a:latin typeface="Courier New" panose="02070409020205020404"/>
                <a:cs typeface="Courier New" panose="02070409020205020404"/>
                <a:sym typeface="+mn-ea"/>
              </a:rPr>
              <a:t>b, c,</a:t>
            </a:r>
            <a:r>
              <a:rPr b="1" spc="-111" dirty="0">
                <a:solidFill>
                  <a:srgbClr val="FF0000"/>
                </a:solidFill>
                <a:latin typeface="Courier New" panose="02070409020205020404"/>
                <a:cs typeface="Courier New" panose="02070409020205020404"/>
                <a:sym typeface="+mn-ea"/>
              </a:rPr>
              <a:t> </a:t>
            </a:r>
            <a:r>
              <a:rPr lang="en-US" b="1" spc="-111" dirty="0">
                <a:solidFill>
                  <a:srgbClr val="FF0000"/>
                </a:solidFill>
                <a:latin typeface="Courier New" panose="02070409020205020404"/>
                <a:cs typeface="Courier New" panose="02070409020205020404"/>
                <a:sym typeface="+mn-ea"/>
              </a:rPr>
              <a:t>d</a:t>
            </a:r>
            <a:r>
              <a:rPr b="1" dirty="0">
                <a:solidFill>
                  <a:srgbClr val="FF0000"/>
                </a:solidFill>
                <a:latin typeface="Courier New" panose="02070409020205020404"/>
                <a:cs typeface="Courier New" panose="02070409020205020404"/>
                <a:sym typeface="+mn-ea"/>
              </a:rPr>
              <a:t>}</a:t>
            </a:r>
            <a:endParaRPr lang="zh-CN" altLang="en-US"/>
          </a:p>
        </p:txBody>
      </p:sp>
      <p:graphicFrame>
        <p:nvGraphicFramePr>
          <p:cNvPr id="2" name="object 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5654527"/>
              </p:ext>
            </p:extLst>
          </p:nvPr>
        </p:nvGraphicFramePr>
        <p:xfrm>
          <a:off x="457200" y="1371600"/>
          <a:ext cx="2743200" cy="5029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 panose="02060603050605020204"/>
                        <a:cs typeface="Times New Roman" panose="02060603050605020204"/>
                      </a:endParaRPr>
                    </a:p>
                  </a:txBody>
                  <a:tcPr marL="0" marR="0" marT="0" marB="0">
                    <a:lnR>
                      <a:noFill/>
                    </a:lnR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63881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900" b="1" dirty="0">
                          <a:solidFill>
                            <a:srgbClr val="191919"/>
                          </a:solidFill>
                          <a:latin typeface="Courier New" panose="02070409020205020404"/>
                          <a:cs typeface="Courier New" panose="02070409020205020404"/>
                        </a:rPr>
                        <a:t>e = d +</a:t>
                      </a:r>
                      <a:r>
                        <a:rPr sz="1900" b="1" spc="-60" dirty="0">
                          <a:solidFill>
                            <a:srgbClr val="191919"/>
                          </a:solidFill>
                          <a:latin typeface="Courier New" panose="02070409020205020404"/>
                          <a:cs typeface="Courier New" panose="02070409020205020404"/>
                        </a:rPr>
                        <a:t> </a:t>
                      </a:r>
                      <a:r>
                        <a:rPr sz="1900" b="1" dirty="0">
                          <a:solidFill>
                            <a:srgbClr val="191919"/>
                          </a:solidFill>
                          <a:latin typeface="Courier New" panose="02070409020205020404"/>
                          <a:cs typeface="Courier New" panose="02070409020205020404"/>
                        </a:rPr>
                        <a:t>a</a:t>
                      </a:r>
                      <a:endParaRPr sz="1900">
                        <a:latin typeface="Courier New" panose="02070409020205020404"/>
                        <a:cs typeface="Courier New" panose="02070409020205020404"/>
                      </a:endParaRPr>
                    </a:p>
                  </a:txBody>
                  <a:tcPr marL="0" marR="0" marT="60960" marB="0">
                    <a:lnR w="12700">
                      <a:solidFill>
                        <a:schemeClr val="tx1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63881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900" b="1" dirty="0">
                          <a:solidFill>
                            <a:srgbClr val="191919"/>
                          </a:solidFill>
                          <a:latin typeface="Courier New" panose="02070409020205020404"/>
                          <a:cs typeface="Courier New" panose="02070409020205020404"/>
                        </a:rPr>
                        <a:t>f = b +</a:t>
                      </a:r>
                      <a:r>
                        <a:rPr sz="1900" b="1" spc="-60" dirty="0">
                          <a:solidFill>
                            <a:srgbClr val="191919"/>
                          </a:solidFill>
                          <a:latin typeface="Courier New" panose="02070409020205020404"/>
                          <a:cs typeface="Courier New" panose="02070409020205020404"/>
                        </a:rPr>
                        <a:t> </a:t>
                      </a:r>
                      <a:r>
                        <a:rPr sz="1900" b="1" dirty="0">
                          <a:solidFill>
                            <a:srgbClr val="191919"/>
                          </a:solidFill>
                          <a:latin typeface="Courier New" panose="02070409020205020404"/>
                          <a:cs typeface="Courier New" panose="02070409020205020404"/>
                        </a:rPr>
                        <a:t>c</a:t>
                      </a:r>
                      <a:endParaRPr sz="1900">
                        <a:latin typeface="Courier New" panose="02070409020205020404"/>
                        <a:cs typeface="Courier New" panose="02070409020205020404"/>
                      </a:endParaRPr>
                    </a:p>
                  </a:txBody>
                  <a:tcPr marL="0" marR="0" marT="60960" marB="0"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63881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900" b="1" dirty="0">
                          <a:solidFill>
                            <a:srgbClr val="191919"/>
                          </a:solidFill>
                          <a:latin typeface="Courier New" panose="02070409020205020404"/>
                          <a:cs typeface="Courier New" panose="02070409020205020404"/>
                        </a:rPr>
                        <a:t>f = f +</a:t>
                      </a:r>
                      <a:r>
                        <a:rPr sz="1900" b="1" spc="-60" dirty="0">
                          <a:solidFill>
                            <a:srgbClr val="191919"/>
                          </a:solidFill>
                          <a:latin typeface="Courier New" panose="02070409020205020404"/>
                          <a:cs typeface="Courier New" panose="02070409020205020404"/>
                        </a:rPr>
                        <a:t> </a:t>
                      </a:r>
                      <a:r>
                        <a:rPr sz="1900" b="1" dirty="0">
                          <a:solidFill>
                            <a:srgbClr val="191919"/>
                          </a:solidFill>
                          <a:latin typeface="Courier New" panose="02070409020205020404"/>
                          <a:cs typeface="Courier New" panose="02070409020205020404"/>
                        </a:rPr>
                        <a:t>b</a:t>
                      </a:r>
                      <a:endParaRPr sz="1900">
                        <a:latin typeface="Courier New" panose="02070409020205020404"/>
                        <a:cs typeface="Courier New" panose="02070409020205020404"/>
                      </a:endParaRPr>
                    </a:p>
                  </a:txBody>
                  <a:tcPr marL="0" marR="0" marT="60960" marB="0"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63881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900" b="1" spc="-5" dirty="0">
                          <a:solidFill>
                            <a:srgbClr val="191919"/>
                          </a:solidFill>
                          <a:latin typeface="Courier New" panose="02070409020205020404"/>
                          <a:cs typeface="Courier New" panose="02070409020205020404"/>
                        </a:rPr>
                        <a:t>If </a:t>
                      </a:r>
                      <a:r>
                        <a:rPr sz="1900" b="1" dirty="0">
                          <a:solidFill>
                            <a:srgbClr val="191919"/>
                          </a:solidFill>
                          <a:latin typeface="Courier New" panose="02070409020205020404"/>
                          <a:cs typeface="Courier New" panose="02070409020205020404"/>
                        </a:rPr>
                        <a:t>e </a:t>
                      </a:r>
                      <a:r>
                        <a:rPr sz="1900" b="1" spc="-5" dirty="0">
                          <a:solidFill>
                            <a:srgbClr val="191919"/>
                          </a:solidFill>
                          <a:latin typeface="Courier New" panose="02070409020205020404"/>
                          <a:cs typeface="Courier New" panose="02070409020205020404"/>
                        </a:rPr>
                        <a:t>Goto</a:t>
                      </a:r>
                      <a:r>
                        <a:rPr sz="1900" b="1" spc="-75" dirty="0">
                          <a:solidFill>
                            <a:srgbClr val="191919"/>
                          </a:solidFill>
                          <a:latin typeface="Courier New" panose="02070409020205020404"/>
                          <a:cs typeface="Courier New" panose="02070409020205020404"/>
                        </a:rPr>
                        <a:t> </a:t>
                      </a:r>
                      <a:r>
                        <a:rPr sz="1900" b="1" spc="-5" dirty="0">
                          <a:solidFill>
                            <a:srgbClr val="191919"/>
                          </a:solidFill>
                          <a:latin typeface="Courier New" panose="02070409020205020404"/>
                          <a:cs typeface="Courier New" panose="02070409020205020404"/>
                        </a:rPr>
                        <a:t>_L0</a:t>
                      </a:r>
                      <a:endParaRPr sz="1900" dirty="0">
                        <a:latin typeface="Courier New" panose="02070409020205020404"/>
                        <a:cs typeface="Courier New" panose="02070409020205020404"/>
                      </a:endParaRPr>
                    </a:p>
                  </a:txBody>
                  <a:tcPr marL="0" marR="0" marT="60960" marB="0"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63881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900" b="1" dirty="0">
                          <a:solidFill>
                            <a:srgbClr val="191919"/>
                          </a:solidFill>
                          <a:latin typeface="Courier New" panose="02070409020205020404"/>
                          <a:cs typeface="Courier New" panose="02070409020205020404"/>
                        </a:rPr>
                        <a:t>d = e +</a:t>
                      </a:r>
                      <a:r>
                        <a:rPr sz="1900" b="1" spc="-60" dirty="0">
                          <a:solidFill>
                            <a:srgbClr val="191919"/>
                          </a:solidFill>
                          <a:latin typeface="Courier New" panose="02070409020205020404"/>
                          <a:cs typeface="Courier New" panose="02070409020205020404"/>
                        </a:rPr>
                        <a:t> </a:t>
                      </a:r>
                      <a:r>
                        <a:rPr sz="1900" b="1" dirty="0">
                          <a:solidFill>
                            <a:srgbClr val="191919"/>
                          </a:solidFill>
                          <a:latin typeface="Courier New" panose="02070409020205020404"/>
                          <a:cs typeface="Courier New" panose="02070409020205020404"/>
                        </a:rPr>
                        <a:t>f</a:t>
                      </a:r>
                      <a:endParaRPr sz="1900">
                        <a:latin typeface="Courier New" panose="02070409020205020404"/>
                        <a:cs typeface="Courier New" panose="02070409020205020404"/>
                      </a:endParaRPr>
                    </a:p>
                  </a:txBody>
                  <a:tcPr marL="0" marR="0" marT="60960" marB="0"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63881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900" b="1" spc="-5" dirty="0">
                          <a:solidFill>
                            <a:srgbClr val="191919"/>
                          </a:solidFill>
                          <a:latin typeface="Courier New" panose="02070409020205020404"/>
                          <a:cs typeface="Courier New" panose="02070409020205020404"/>
                        </a:rPr>
                        <a:t>Goto</a:t>
                      </a:r>
                      <a:r>
                        <a:rPr sz="1900" b="1" spc="-20" dirty="0">
                          <a:solidFill>
                            <a:srgbClr val="191919"/>
                          </a:solidFill>
                          <a:latin typeface="Courier New" panose="02070409020205020404"/>
                          <a:cs typeface="Courier New" panose="02070409020205020404"/>
                        </a:rPr>
                        <a:t> </a:t>
                      </a:r>
                      <a:r>
                        <a:rPr sz="1900" b="1" spc="-5" dirty="0">
                          <a:solidFill>
                            <a:srgbClr val="191919"/>
                          </a:solidFill>
                          <a:latin typeface="Courier New" panose="02070409020205020404"/>
                          <a:cs typeface="Courier New" panose="02070409020205020404"/>
                        </a:rPr>
                        <a:t>_L1;</a:t>
                      </a:r>
                      <a:endParaRPr sz="1900">
                        <a:latin typeface="Courier New" panose="02070409020205020404"/>
                        <a:cs typeface="Courier New" panose="02070409020205020404"/>
                      </a:endParaRPr>
                    </a:p>
                  </a:txBody>
                  <a:tcPr marL="0" marR="0" marT="60960" marB="0"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900" b="1" spc="-5" dirty="0">
                          <a:solidFill>
                            <a:srgbClr val="191919"/>
                          </a:solidFill>
                          <a:latin typeface="Courier New" panose="02070409020205020404"/>
                          <a:cs typeface="Courier New" panose="02070409020205020404"/>
                        </a:rPr>
                        <a:t>_L0:</a:t>
                      </a:r>
                      <a:endParaRPr sz="1900">
                        <a:latin typeface="Courier New" panose="02070409020205020404"/>
                        <a:cs typeface="Courier New" panose="02070409020205020404"/>
                      </a:endParaRPr>
                    </a:p>
                  </a:txBody>
                  <a:tcPr marL="0" marR="0" marT="60960" marB="0"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63881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900" b="1" dirty="0">
                          <a:solidFill>
                            <a:srgbClr val="191919"/>
                          </a:solidFill>
                          <a:latin typeface="Courier New" panose="02070409020205020404"/>
                          <a:cs typeface="Courier New" panose="02070409020205020404"/>
                        </a:rPr>
                        <a:t>d = e -</a:t>
                      </a:r>
                      <a:r>
                        <a:rPr sz="1900" b="1" spc="-60" dirty="0">
                          <a:solidFill>
                            <a:srgbClr val="191919"/>
                          </a:solidFill>
                          <a:latin typeface="Courier New" panose="02070409020205020404"/>
                          <a:cs typeface="Courier New" panose="02070409020205020404"/>
                        </a:rPr>
                        <a:t> </a:t>
                      </a:r>
                      <a:r>
                        <a:rPr sz="1900" b="1" dirty="0">
                          <a:solidFill>
                            <a:srgbClr val="191919"/>
                          </a:solidFill>
                          <a:latin typeface="Courier New" panose="02070409020205020404"/>
                          <a:cs typeface="Courier New" panose="02070409020205020404"/>
                        </a:rPr>
                        <a:t>f</a:t>
                      </a:r>
                      <a:endParaRPr sz="1900">
                        <a:latin typeface="Courier New" panose="02070409020205020404"/>
                        <a:cs typeface="Courier New" panose="02070409020205020404"/>
                      </a:endParaRPr>
                    </a:p>
                  </a:txBody>
                  <a:tcPr marL="0" marR="0" marT="60960" marB="0"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900" b="1" spc="-5" dirty="0">
                          <a:solidFill>
                            <a:srgbClr val="191919"/>
                          </a:solidFill>
                          <a:latin typeface="Courier New" panose="02070409020205020404"/>
                          <a:cs typeface="Courier New" panose="02070409020205020404"/>
                        </a:rPr>
                        <a:t>_L1:</a:t>
                      </a:r>
                      <a:endParaRPr sz="1900">
                        <a:latin typeface="Courier New" panose="02070409020205020404"/>
                        <a:cs typeface="Courier New" panose="02070409020205020404"/>
                      </a:endParaRPr>
                    </a:p>
                  </a:txBody>
                  <a:tcPr marL="0" marR="0" marT="60960" marB="0"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63881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900" b="1" dirty="0">
                          <a:solidFill>
                            <a:srgbClr val="191919"/>
                          </a:solidFill>
                          <a:latin typeface="Courier New" panose="02070409020205020404"/>
                          <a:cs typeface="Courier New" panose="02070409020205020404"/>
                        </a:rPr>
                        <a:t>g =</a:t>
                      </a:r>
                      <a:r>
                        <a:rPr sz="1900" b="1" spc="-30" dirty="0">
                          <a:solidFill>
                            <a:srgbClr val="191919"/>
                          </a:solidFill>
                          <a:latin typeface="Courier New" panose="02070409020205020404"/>
                          <a:cs typeface="Courier New" panose="02070409020205020404"/>
                        </a:rPr>
                        <a:t> </a:t>
                      </a:r>
                      <a:r>
                        <a:rPr sz="1900" b="1" dirty="0">
                          <a:solidFill>
                            <a:srgbClr val="191919"/>
                          </a:solidFill>
                          <a:latin typeface="Courier New" panose="02070409020205020404"/>
                          <a:cs typeface="Courier New" panose="02070409020205020404"/>
                        </a:rPr>
                        <a:t>d</a:t>
                      </a:r>
                      <a:endParaRPr sz="1900">
                        <a:latin typeface="Courier New" panose="02070409020205020404"/>
                        <a:cs typeface="Courier New" panose="02070409020205020404"/>
                      </a:endParaRPr>
                    </a:p>
                  </a:txBody>
                  <a:tcPr marL="0" marR="0" marT="60960" marB="0"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 dirty="0">
                        <a:latin typeface="Times New Roman" panose="02060603050605020204"/>
                        <a:cs typeface="Times New Roman" panose="02060603050605020204"/>
                      </a:endParaRPr>
                    </a:p>
                  </a:txBody>
                  <a:tcPr marL="0" marR="0" marT="0" marB="0">
                    <a:lnR>
                      <a:noFill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46" name="矩形 45"/>
          <p:cNvSpPr/>
          <p:nvPr/>
        </p:nvSpPr>
        <p:spPr>
          <a:xfrm>
            <a:off x="3254377" y="1570355"/>
            <a:ext cx="252731" cy="459740"/>
          </a:xfrm>
          <a:prstGeom prst="rect">
            <a:avLst/>
          </a:prstGeom>
          <a:solidFill>
            <a:srgbClr val="45ED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矩形 46"/>
          <p:cNvSpPr/>
          <p:nvPr/>
        </p:nvSpPr>
        <p:spPr>
          <a:xfrm>
            <a:off x="3254377" y="2046605"/>
            <a:ext cx="252731" cy="4191000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矩形 47"/>
          <p:cNvSpPr/>
          <p:nvPr/>
        </p:nvSpPr>
        <p:spPr>
          <a:xfrm>
            <a:off x="3254377" y="1120775"/>
            <a:ext cx="252731" cy="4597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00B050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49" name="矩形 48"/>
          <p:cNvSpPr/>
          <p:nvPr/>
        </p:nvSpPr>
        <p:spPr>
          <a:xfrm>
            <a:off x="3523617" y="1570358"/>
            <a:ext cx="252731" cy="1365885"/>
          </a:xfrm>
          <a:prstGeom prst="rect">
            <a:avLst/>
          </a:prstGeom>
          <a:solidFill>
            <a:srgbClr val="45ED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矩形 49"/>
          <p:cNvSpPr/>
          <p:nvPr/>
        </p:nvSpPr>
        <p:spPr>
          <a:xfrm>
            <a:off x="3523617" y="2943863"/>
            <a:ext cx="252731" cy="3293745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矩形 50"/>
          <p:cNvSpPr/>
          <p:nvPr/>
        </p:nvSpPr>
        <p:spPr>
          <a:xfrm>
            <a:off x="3523617" y="1114426"/>
            <a:ext cx="252731" cy="4597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00B050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52" name="矩形 51"/>
          <p:cNvSpPr/>
          <p:nvPr/>
        </p:nvSpPr>
        <p:spPr>
          <a:xfrm>
            <a:off x="3792857" y="1570358"/>
            <a:ext cx="252731" cy="1056005"/>
          </a:xfrm>
          <a:prstGeom prst="rect">
            <a:avLst/>
          </a:prstGeom>
          <a:solidFill>
            <a:srgbClr val="45ED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矩形 52"/>
          <p:cNvSpPr/>
          <p:nvPr/>
        </p:nvSpPr>
        <p:spPr>
          <a:xfrm>
            <a:off x="3792857" y="2626362"/>
            <a:ext cx="252731" cy="3611245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矩形 53"/>
          <p:cNvSpPr/>
          <p:nvPr/>
        </p:nvSpPr>
        <p:spPr>
          <a:xfrm>
            <a:off x="3792857" y="1143635"/>
            <a:ext cx="252731" cy="4597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00B050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55" name="矩形 54"/>
          <p:cNvSpPr/>
          <p:nvPr/>
        </p:nvSpPr>
        <p:spPr>
          <a:xfrm>
            <a:off x="4070987" y="1570355"/>
            <a:ext cx="252731" cy="4272280"/>
          </a:xfrm>
          <a:prstGeom prst="rect">
            <a:avLst/>
          </a:prstGeom>
          <a:solidFill>
            <a:srgbClr val="45ED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矩形 55"/>
          <p:cNvSpPr/>
          <p:nvPr/>
        </p:nvSpPr>
        <p:spPr>
          <a:xfrm>
            <a:off x="4070987" y="5843273"/>
            <a:ext cx="252731" cy="394335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矩形 56"/>
          <p:cNvSpPr/>
          <p:nvPr/>
        </p:nvSpPr>
        <p:spPr>
          <a:xfrm>
            <a:off x="4070987" y="1155066"/>
            <a:ext cx="252731" cy="4597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00B050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58" name="矩形 57"/>
          <p:cNvSpPr/>
          <p:nvPr/>
        </p:nvSpPr>
        <p:spPr>
          <a:xfrm>
            <a:off x="4340227" y="2045973"/>
            <a:ext cx="252731" cy="2793365"/>
          </a:xfrm>
          <a:prstGeom prst="rect">
            <a:avLst/>
          </a:prstGeom>
          <a:solidFill>
            <a:srgbClr val="45ED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矩形 58"/>
          <p:cNvSpPr/>
          <p:nvPr/>
        </p:nvSpPr>
        <p:spPr>
          <a:xfrm>
            <a:off x="4340227" y="4859023"/>
            <a:ext cx="252731" cy="1378585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矩形 59"/>
          <p:cNvSpPr/>
          <p:nvPr/>
        </p:nvSpPr>
        <p:spPr>
          <a:xfrm>
            <a:off x="4340227" y="1139826"/>
            <a:ext cx="252731" cy="4597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00B050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61" name="矩形 60"/>
          <p:cNvSpPr/>
          <p:nvPr/>
        </p:nvSpPr>
        <p:spPr>
          <a:xfrm>
            <a:off x="4340227" y="1570355"/>
            <a:ext cx="252731" cy="487680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矩形 61"/>
          <p:cNvSpPr/>
          <p:nvPr/>
        </p:nvSpPr>
        <p:spPr>
          <a:xfrm>
            <a:off x="4618357" y="2642235"/>
            <a:ext cx="252731" cy="2217420"/>
          </a:xfrm>
          <a:prstGeom prst="rect">
            <a:avLst/>
          </a:prstGeom>
          <a:solidFill>
            <a:srgbClr val="45ED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矩形 62"/>
          <p:cNvSpPr/>
          <p:nvPr/>
        </p:nvSpPr>
        <p:spPr>
          <a:xfrm>
            <a:off x="4618357" y="4859023"/>
            <a:ext cx="252731" cy="1378585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矩形 63"/>
          <p:cNvSpPr/>
          <p:nvPr/>
        </p:nvSpPr>
        <p:spPr>
          <a:xfrm>
            <a:off x="4618357" y="1160146"/>
            <a:ext cx="252731" cy="4597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00B050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65" name="矩形 64"/>
          <p:cNvSpPr/>
          <p:nvPr/>
        </p:nvSpPr>
        <p:spPr>
          <a:xfrm>
            <a:off x="4618357" y="1570358"/>
            <a:ext cx="252731" cy="1056005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矩形 65"/>
          <p:cNvSpPr/>
          <p:nvPr/>
        </p:nvSpPr>
        <p:spPr>
          <a:xfrm>
            <a:off x="4887597" y="5843273"/>
            <a:ext cx="252731" cy="394335"/>
          </a:xfrm>
          <a:prstGeom prst="rect">
            <a:avLst/>
          </a:prstGeom>
          <a:solidFill>
            <a:srgbClr val="45ED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矩形 67"/>
          <p:cNvSpPr/>
          <p:nvPr/>
        </p:nvSpPr>
        <p:spPr>
          <a:xfrm>
            <a:off x="4887597" y="1144906"/>
            <a:ext cx="252731" cy="4597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00B050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69" name="矩形 68"/>
          <p:cNvSpPr/>
          <p:nvPr/>
        </p:nvSpPr>
        <p:spPr>
          <a:xfrm>
            <a:off x="4887597" y="1570355"/>
            <a:ext cx="252731" cy="4272280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1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4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bldLvl="0" animBg="1"/>
      <p:bldP spid="56" grpId="0" bldLvl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bldLvl="0" animBg="1"/>
      <p:bldP spid="68" grpId="0" animBg="1"/>
      <p:bldP spid="69" grpId="0" bldLvl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b="1" dirty="0">
                <a:latin typeface="楷体_GB2312" panose="02010609030101010101" charset="-122"/>
                <a:ea typeface="楷体_GB2312" panose="02010609030101010101" charset="-122"/>
                <a:sym typeface="+mn-ea"/>
              </a:rPr>
              <a:t>寄存器分配问题分析</a:t>
            </a:r>
            <a:endParaRPr lang="zh-CN" altLang="en-US" b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28</a:t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graphicFrame>
        <p:nvGraphicFramePr>
          <p:cNvPr id="2" name="object 40"/>
          <p:cNvGraphicFramePr>
            <a:graphicFrameLocks noGrp="1"/>
          </p:cNvGraphicFramePr>
          <p:nvPr/>
        </p:nvGraphicFramePr>
        <p:xfrm>
          <a:off x="457200" y="1371600"/>
          <a:ext cx="2743200" cy="52019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 panose="02060603050605020204"/>
                        <a:cs typeface="Times New Roman" panose="02060603050605020204"/>
                      </a:endParaRPr>
                    </a:p>
                  </a:txBody>
                  <a:tcPr marL="0" marR="0" marT="0" marB="0">
                    <a:lnR>
                      <a:noFill/>
                    </a:lnR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63881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900" b="1" dirty="0">
                          <a:solidFill>
                            <a:srgbClr val="191919"/>
                          </a:solidFill>
                          <a:latin typeface="Courier New" panose="02070409020205020404"/>
                          <a:cs typeface="Courier New" panose="02070409020205020404"/>
                        </a:rPr>
                        <a:t>e = d +</a:t>
                      </a:r>
                      <a:r>
                        <a:rPr sz="1900" b="1" spc="-60" dirty="0">
                          <a:solidFill>
                            <a:srgbClr val="191919"/>
                          </a:solidFill>
                          <a:latin typeface="Courier New" panose="02070409020205020404"/>
                          <a:cs typeface="Courier New" panose="02070409020205020404"/>
                        </a:rPr>
                        <a:t> </a:t>
                      </a:r>
                      <a:r>
                        <a:rPr sz="1900" b="1" dirty="0">
                          <a:solidFill>
                            <a:srgbClr val="191919"/>
                          </a:solidFill>
                          <a:latin typeface="Courier New" panose="02070409020205020404"/>
                          <a:cs typeface="Courier New" panose="02070409020205020404"/>
                        </a:rPr>
                        <a:t>a</a:t>
                      </a:r>
                      <a:endParaRPr sz="1900">
                        <a:latin typeface="Courier New" panose="02070409020205020404"/>
                        <a:cs typeface="Courier New" panose="02070409020205020404"/>
                      </a:endParaRPr>
                    </a:p>
                  </a:txBody>
                  <a:tcPr marL="0" marR="0" marT="60960" marB="0">
                    <a:lnR w="12700">
                      <a:solidFill>
                        <a:schemeClr val="tx1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63881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900" b="1" dirty="0">
                          <a:solidFill>
                            <a:srgbClr val="191919"/>
                          </a:solidFill>
                          <a:latin typeface="Courier New" panose="02070409020205020404"/>
                          <a:cs typeface="Courier New" panose="02070409020205020404"/>
                        </a:rPr>
                        <a:t>f = b +</a:t>
                      </a:r>
                      <a:r>
                        <a:rPr sz="1900" b="1" spc="-60" dirty="0">
                          <a:solidFill>
                            <a:srgbClr val="191919"/>
                          </a:solidFill>
                          <a:latin typeface="Courier New" panose="02070409020205020404"/>
                          <a:cs typeface="Courier New" panose="02070409020205020404"/>
                        </a:rPr>
                        <a:t> </a:t>
                      </a:r>
                      <a:r>
                        <a:rPr sz="1900" b="1" dirty="0">
                          <a:solidFill>
                            <a:srgbClr val="191919"/>
                          </a:solidFill>
                          <a:latin typeface="Courier New" panose="02070409020205020404"/>
                          <a:cs typeface="Courier New" panose="02070409020205020404"/>
                        </a:rPr>
                        <a:t>c</a:t>
                      </a:r>
                      <a:endParaRPr sz="1900">
                        <a:latin typeface="Courier New" panose="02070409020205020404"/>
                        <a:cs typeface="Courier New" panose="02070409020205020404"/>
                      </a:endParaRPr>
                    </a:p>
                  </a:txBody>
                  <a:tcPr marL="0" marR="0" marT="60960" marB="0"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63881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900" b="1" dirty="0">
                          <a:solidFill>
                            <a:srgbClr val="191919"/>
                          </a:solidFill>
                          <a:latin typeface="Courier New" panose="02070409020205020404"/>
                          <a:cs typeface="Courier New" panose="02070409020205020404"/>
                        </a:rPr>
                        <a:t>f = f +</a:t>
                      </a:r>
                      <a:r>
                        <a:rPr sz="1900" b="1" spc="-60" dirty="0">
                          <a:solidFill>
                            <a:srgbClr val="191919"/>
                          </a:solidFill>
                          <a:latin typeface="Courier New" panose="02070409020205020404"/>
                          <a:cs typeface="Courier New" panose="02070409020205020404"/>
                        </a:rPr>
                        <a:t> </a:t>
                      </a:r>
                      <a:r>
                        <a:rPr sz="1900" b="1" dirty="0">
                          <a:solidFill>
                            <a:srgbClr val="191919"/>
                          </a:solidFill>
                          <a:latin typeface="Courier New" panose="02070409020205020404"/>
                          <a:cs typeface="Courier New" panose="02070409020205020404"/>
                        </a:rPr>
                        <a:t>b</a:t>
                      </a:r>
                      <a:endParaRPr sz="1900">
                        <a:latin typeface="Courier New" panose="02070409020205020404"/>
                        <a:cs typeface="Courier New" panose="02070409020205020404"/>
                      </a:endParaRPr>
                    </a:p>
                  </a:txBody>
                  <a:tcPr marL="0" marR="0" marT="60960" marB="0"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9920">
                <a:tc>
                  <a:txBody>
                    <a:bodyPr/>
                    <a:lstStyle/>
                    <a:p>
                      <a:pPr marL="63881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900" b="1" spc="-5" dirty="0">
                          <a:solidFill>
                            <a:srgbClr val="191919"/>
                          </a:solidFill>
                          <a:latin typeface="Courier New" panose="02070409020205020404"/>
                          <a:cs typeface="Courier New" panose="02070409020205020404"/>
                        </a:rPr>
                        <a:t>IfZ </a:t>
                      </a:r>
                      <a:r>
                        <a:rPr sz="1900" b="1" dirty="0">
                          <a:solidFill>
                            <a:srgbClr val="191919"/>
                          </a:solidFill>
                          <a:latin typeface="Courier New" panose="02070409020205020404"/>
                          <a:cs typeface="Courier New" panose="02070409020205020404"/>
                        </a:rPr>
                        <a:t>e </a:t>
                      </a:r>
                      <a:r>
                        <a:rPr sz="1900" b="1" spc="-5" dirty="0">
                          <a:solidFill>
                            <a:srgbClr val="191919"/>
                          </a:solidFill>
                          <a:latin typeface="Courier New" panose="02070409020205020404"/>
                          <a:cs typeface="Courier New" panose="02070409020205020404"/>
                        </a:rPr>
                        <a:t>Goto</a:t>
                      </a:r>
                      <a:r>
                        <a:rPr sz="1900" b="1" spc="-75" dirty="0">
                          <a:solidFill>
                            <a:srgbClr val="191919"/>
                          </a:solidFill>
                          <a:latin typeface="Courier New" panose="02070409020205020404"/>
                          <a:cs typeface="Courier New" panose="02070409020205020404"/>
                        </a:rPr>
                        <a:t> </a:t>
                      </a:r>
                      <a:r>
                        <a:rPr sz="1900" b="1" spc="-5" dirty="0">
                          <a:solidFill>
                            <a:srgbClr val="191919"/>
                          </a:solidFill>
                          <a:latin typeface="Courier New" panose="02070409020205020404"/>
                          <a:cs typeface="Courier New" panose="02070409020205020404"/>
                        </a:rPr>
                        <a:t>_L0</a:t>
                      </a:r>
                      <a:endParaRPr sz="1900">
                        <a:latin typeface="Courier New" panose="02070409020205020404"/>
                        <a:cs typeface="Courier New" panose="02070409020205020404"/>
                      </a:endParaRPr>
                    </a:p>
                  </a:txBody>
                  <a:tcPr marL="0" marR="0" marT="60960" marB="0"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63881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900" b="1" dirty="0">
                          <a:solidFill>
                            <a:srgbClr val="191919"/>
                          </a:solidFill>
                          <a:latin typeface="Courier New" panose="02070409020205020404"/>
                          <a:cs typeface="Courier New" panose="02070409020205020404"/>
                        </a:rPr>
                        <a:t>d = e +</a:t>
                      </a:r>
                      <a:r>
                        <a:rPr sz="1900" b="1" spc="-60" dirty="0">
                          <a:solidFill>
                            <a:srgbClr val="191919"/>
                          </a:solidFill>
                          <a:latin typeface="Courier New" panose="02070409020205020404"/>
                          <a:cs typeface="Courier New" panose="02070409020205020404"/>
                        </a:rPr>
                        <a:t> </a:t>
                      </a:r>
                      <a:r>
                        <a:rPr sz="1900" b="1" dirty="0">
                          <a:solidFill>
                            <a:srgbClr val="191919"/>
                          </a:solidFill>
                          <a:latin typeface="Courier New" panose="02070409020205020404"/>
                          <a:cs typeface="Courier New" panose="02070409020205020404"/>
                        </a:rPr>
                        <a:t>f</a:t>
                      </a:r>
                      <a:endParaRPr sz="1900">
                        <a:latin typeface="Courier New" panose="02070409020205020404"/>
                        <a:cs typeface="Courier New" panose="02070409020205020404"/>
                      </a:endParaRPr>
                    </a:p>
                  </a:txBody>
                  <a:tcPr marL="0" marR="0" marT="60960" marB="0"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63881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900" b="1" spc="-5" dirty="0">
                          <a:solidFill>
                            <a:srgbClr val="191919"/>
                          </a:solidFill>
                          <a:latin typeface="Courier New" panose="02070409020205020404"/>
                          <a:cs typeface="Courier New" panose="02070409020205020404"/>
                        </a:rPr>
                        <a:t>Goto</a:t>
                      </a:r>
                      <a:r>
                        <a:rPr sz="1900" b="1" spc="-20" dirty="0">
                          <a:solidFill>
                            <a:srgbClr val="191919"/>
                          </a:solidFill>
                          <a:latin typeface="Courier New" panose="02070409020205020404"/>
                          <a:cs typeface="Courier New" panose="02070409020205020404"/>
                        </a:rPr>
                        <a:t> </a:t>
                      </a:r>
                      <a:r>
                        <a:rPr sz="1900" b="1" spc="-5" dirty="0">
                          <a:solidFill>
                            <a:srgbClr val="191919"/>
                          </a:solidFill>
                          <a:latin typeface="Courier New" panose="02070409020205020404"/>
                          <a:cs typeface="Courier New" panose="02070409020205020404"/>
                        </a:rPr>
                        <a:t>_L1;</a:t>
                      </a:r>
                      <a:endParaRPr sz="1900">
                        <a:latin typeface="Courier New" panose="02070409020205020404"/>
                        <a:cs typeface="Courier New" panose="02070409020205020404"/>
                      </a:endParaRPr>
                    </a:p>
                  </a:txBody>
                  <a:tcPr marL="0" marR="0" marT="60960" marB="0"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900" b="1" spc="-5" dirty="0">
                          <a:solidFill>
                            <a:srgbClr val="191919"/>
                          </a:solidFill>
                          <a:latin typeface="Courier New" panose="02070409020205020404"/>
                          <a:cs typeface="Courier New" panose="02070409020205020404"/>
                        </a:rPr>
                        <a:t>_L0:</a:t>
                      </a:r>
                      <a:endParaRPr sz="1900">
                        <a:latin typeface="Courier New" panose="02070409020205020404"/>
                        <a:cs typeface="Courier New" panose="02070409020205020404"/>
                      </a:endParaRPr>
                    </a:p>
                  </a:txBody>
                  <a:tcPr marL="0" marR="0" marT="60960" marB="0"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63881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900" b="1" dirty="0">
                          <a:solidFill>
                            <a:srgbClr val="191919"/>
                          </a:solidFill>
                          <a:latin typeface="Courier New" panose="02070409020205020404"/>
                          <a:cs typeface="Courier New" panose="02070409020205020404"/>
                        </a:rPr>
                        <a:t>d = e -</a:t>
                      </a:r>
                      <a:r>
                        <a:rPr sz="1900" b="1" spc="-60" dirty="0">
                          <a:solidFill>
                            <a:srgbClr val="191919"/>
                          </a:solidFill>
                          <a:latin typeface="Courier New" panose="02070409020205020404"/>
                          <a:cs typeface="Courier New" panose="02070409020205020404"/>
                        </a:rPr>
                        <a:t> </a:t>
                      </a:r>
                      <a:r>
                        <a:rPr sz="1900" b="1" dirty="0">
                          <a:solidFill>
                            <a:srgbClr val="191919"/>
                          </a:solidFill>
                          <a:latin typeface="Courier New" panose="02070409020205020404"/>
                          <a:cs typeface="Courier New" panose="02070409020205020404"/>
                        </a:rPr>
                        <a:t>f</a:t>
                      </a:r>
                      <a:endParaRPr sz="1900">
                        <a:latin typeface="Courier New" panose="02070409020205020404"/>
                        <a:cs typeface="Courier New" panose="02070409020205020404"/>
                      </a:endParaRPr>
                    </a:p>
                  </a:txBody>
                  <a:tcPr marL="0" marR="0" marT="60960" marB="0"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900" b="1" spc="-5" dirty="0">
                          <a:solidFill>
                            <a:srgbClr val="191919"/>
                          </a:solidFill>
                          <a:latin typeface="Courier New" panose="02070409020205020404"/>
                          <a:cs typeface="Courier New" panose="02070409020205020404"/>
                        </a:rPr>
                        <a:t>_L1:</a:t>
                      </a:r>
                      <a:endParaRPr sz="1900">
                        <a:latin typeface="Courier New" panose="02070409020205020404"/>
                        <a:cs typeface="Courier New" panose="02070409020205020404"/>
                      </a:endParaRPr>
                    </a:p>
                  </a:txBody>
                  <a:tcPr marL="0" marR="0" marT="60960" marB="0"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63881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900" b="1" dirty="0">
                          <a:solidFill>
                            <a:srgbClr val="191919"/>
                          </a:solidFill>
                          <a:latin typeface="Courier New" panose="02070409020205020404"/>
                          <a:cs typeface="Courier New" panose="02070409020205020404"/>
                        </a:rPr>
                        <a:t>g =</a:t>
                      </a:r>
                      <a:r>
                        <a:rPr sz="1900" b="1" spc="-30" dirty="0">
                          <a:solidFill>
                            <a:srgbClr val="191919"/>
                          </a:solidFill>
                          <a:latin typeface="Courier New" panose="02070409020205020404"/>
                          <a:cs typeface="Courier New" panose="02070409020205020404"/>
                        </a:rPr>
                        <a:t> </a:t>
                      </a:r>
                      <a:r>
                        <a:rPr sz="1900" b="1" dirty="0">
                          <a:solidFill>
                            <a:srgbClr val="191919"/>
                          </a:solidFill>
                          <a:latin typeface="Courier New" panose="02070409020205020404"/>
                          <a:cs typeface="Courier New" panose="02070409020205020404"/>
                        </a:rPr>
                        <a:t>d</a:t>
                      </a:r>
                      <a:endParaRPr sz="1900">
                        <a:latin typeface="Courier New" panose="02070409020205020404"/>
                        <a:cs typeface="Courier New" panose="02070409020205020404"/>
                      </a:endParaRPr>
                    </a:p>
                  </a:txBody>
                  <a:tcPr marL="0" marR="0" marT="60960" marB="0"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 panose="02060603050605020204"/>
                        <a:cs typeface="Times New Roman" panose="02060603050605020204"/>
                      </a:endParaRPr>
                    </a:p>
                  </a:txBody>
                  <a:tcPr marL="0" marR="0" marT="0" marB="0">
                    <a:lnR>
                      <a:noFill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46" name="矩形 45"/>
          <p:cNvSpPr/>
          <p:nvPr/>
        </p:nvSpPr>
        <p:spPr>
          <a:xfrm>
            <a:off x="3254377" y="1570355"/>
            <a:ext cx="252731" cy="459740"/>
          </a:xfrm>
          <a:prstGeom prst="rect">
            <a:avLst/>
          </a:prstGeom>
          <a:solidFill>
            <a:srgbClr val="45ED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矩形 46"/>
          <p:cNvSpPr/>
          <p:nvPr/>
        </p:nvSpPr>
        <p:spPr>
          <a:xfrm>
            <a:off x="3254377" y="2046605"/>
            <a:ext cx="252731" cy="4191000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矩形 47"/>
          <p:cNvSpPr/>
          <p:nvPr/>
        </p:nvSpPr>
        <p:spPr>
          <a:xfrm>
            <a:off x="3254377" y="1120775"/>
            <a:ext cx="252731" cy="4597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00B050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49" name="矩形 48"/>
          <p:cNvSpPr/>
          <p:nvPr/>
        </p:nvSpPr>
        <p:spPr>
          <a:xfrm>
            <a:off x="3523617" y="1570358"/>
            <a:ext cx="252731" cy="1365885"/>
          </a:xfrm>
          <a:prstGeom prst="rect">
            <a:avLst/>
          </a:prstGeom>
          <a:solidFill>
            <a:srgbClr val="45ED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矩形 49"/>
          <p:cNvSpPr/>
          <p:nvPr/>
        </p:nvSpPr>
        <p:spPr>
          <a:xfrm>
            <a:off x="3523617" y="2943863"/>
            <a:ext cx="252731" cy="3293745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矩形 50"/>
          <p:cNvSpPr/>
          <p:nvPr/>
        </p:nvSpPr>
        <p:spPr>
          <a:xfrm>
            <a:off x="3523617" y="1114426"/>
            <a:ext cx="252731" cy="4597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00B050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52" name="矩形 51"/>
          <p:cNvSpPr/>
          <p:nvPr/>
        </p:nvSpPr>
        <p:spPr>
          <a:xfrm>
            <a:off x="3792857" y="1570358"/>
            <a:ext cx="252731" cy="1056005"/>
          </a:xfrm>
          <a:prstGeom prst="rect">
            <a:avLst/>
          </a:prstGeom>
          <a:solidFill>
            <a:srgbClr val="45ED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矩形 52"/>
          <p:cNvSpPr/>
          <p:nvPr/>
        </p:nvSpPr>
        <p:spPr>
          <a:xfrm>
            <a:off x="3792857" y="2626362"/>
            <a:ext cx="252731" cy="3611245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矩形 53"/>
          <p:cNvSpPr/>
          <p:nvPr/>
        </p:nvSpPr>
        <p:spPr>
          <a:xfrm>
            <a:off x="3792857" y="1143635"/>
            <a:ext cx="252731" cy="4597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00B050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55" name="矩形 54"/>
          <p:cNvSpPr/>
          <p:nvPr/>
        </p:nvSpPr>
        <p:spPr>
          <a:xfrm>
            <a:off x="4070987" y="1570355"/>
            <a:ext cx="252731" cy="4315460"/>
          </a:xfrm>
          <a:prstGeom prst="rect">
            <a:avLst/>
          </a:prstGeom>
          <a:solidFill>
            <a:srgbClr val="45ED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矩形 55"/>
          <p:cNvSpPr/>
          <p:nvPr/>
        </p:nvSpPr>
        <p:spPr>
          <a:xfrm>
            <a:off x="4070987" y="5885817"/>
            <a:ext cx="252731" cy="351791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矩形 56"/>
          <p:cNvSpPr/>
          <p:nvPr/>
        </p:nvSpPr>
        <p:spPr>
          <a:xfrm>
            <a:off x="4070987" y="1155066"/>
            <a:ext cx="252731" cy="4597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00B050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58" name="矩形 57"/>
          <p:cNvSpPr/>
          <p:nvPr/>
        </p:nvSpPr>
        <p:spPr>
          <a:xfrm>
            <a:off x="4340227" y="2045973"/>
            <a:ext cx="252731" cy="2793365"/>
          </a:xfrm>
          <a:prstGeom prst="rect">
            <a:avLst/>
          </a:prstGeom>
          <a:solidFill>
            <a:srgbClr val="45ED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矩形 58"/>
          <p:cNvSpPr/>
          <p:nvPr/>
        </p:nvSpPr>
        <p:spPr>
          <a:xfrm>
            <a:off x="4340227" y="4859023"/>
            <a:ext cx="252731" cy="1378585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矩形 59"/>
          <p:cNvSpPr/>
          <p:nvPr/>
        </p:nvSpPr>
        <p:spPr>
          <a:xfrm>
            <a:off x="4340227" y="1139826"/>
            <a:ext cx="252731" cy="4597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00B050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61" name="矩形 60"/>
          <p:cNvSpPr/>
          <p:nvPr/>
        </p:nvSpPr>
        <p:spPr>
          <a:xfrm>
            <a:off x="4340227" y="1570355"/>
            <a:ext cx="252731" cy="487680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矩形 61"/>
          <p:cNvSpPr/>
          <p:nvPr/>
        </p:nvSpPr>
        <p:spPr>
          <a:xfrm>
            <a:off x="4618357" y="2642235"/>
            <a:ext cx="252731" cy="2217420"/>
          </a:xfrm>
          <a:prstGeom prst="rect">
            <a:avLst/>
          </a:prstGeom>
          <a:solidFill>
            <a:srgbClr val="45ED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矩形 62"/>
          <p:cNvSpPr/>
          <p:nvPr/>
        </p:nvSpPr>
        <p:spPr>
          <a:xfrm>
            <a:off x="4618357" y="4859023"/>
            <a:ext cx="252731" cy="1378585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矩形 63"/>
          <p:cNvSpPr/>
          <p:nvPr/>
        </p:nvSpPr>
        <p:spPr>
          <a:xfrm>
            <a:off x="4618357" y="1160146"/>
            <a:ext cx="252731" cy="4597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00B050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65" name="矩形 64"/>
          <p:cNvSpPr/>
          <p:nvPr/>
        </p:nvSpPr>
        <p:spPr>
          <a:xfrm>
            <a:off x="4618357" y="1570358"/>
            <a:ext cx="252731" cy="1056005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矩形 65"/>
          <p:cNvSpPr/>
          <p:nvPr/>
        </p:nvSpPr>
        <p:spPr>
          <a:xfrm>
            <a:off x="4887597" y="5885817"/>
            <a:ext cx="252731" cy="351791"/>
          </a:xfrm>
          <a:prstGeom prst="rect">
            <a:avLst/>
          </a:prstGeom>
          <a:solidFill>
            <a:srgbClr val="45ED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矩形 67"/>
          <p:cNvSpPr/>
          <p:nvPr/>
        </p:nvSpPr>
        <p:spPr>
          <a:xfrm>
            <a:off x="4887597" y="1144906"/>
            <a:ext cx="252731" cy="4597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00B050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69" name="矩形 68"/>
          <p:cNvSpPr/>
          <p:nvPr/>
        </p:nvSpPr>
        <p:spPr>
          <a:xfrm>
            <a:off x="4887597" y="1570355"/>
            <a:ext cx="252731" cy="4315460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4294967295"/>
          </p:nvPr>
        </p:nvSpPr>
        <p:spPr>
          <a:xfrm>
            <a:off x="5340353" y="1388112"/>
            <a:ext cx="6784975" cy="5091431"/>
          </a:xfrm>
        </p:spPr>
        <p:txBody>
          <a:bodyPr>
            <a:normAutofit/>
          </a:bodyPr>
          <a:lstStyle/>
          <a:p>
            <a:pPr marL="431789" indent="-323843" defTabSz="449569">
              <a:lnSpc>
                <a:spcPct val="150000"/>
              </a:lnSpc>
              <a:buSzPct val="45000"/>
              <a:buNone/>
              <a:tabLst>
                <a:tab pos="723882" algn="l"/>
                <a:tab pos="1447764" algn="l"/>
                <a:tab pos="2171646" algn="l"/>
                <a:tab pos="2895528" algn="l"/>
                <a:tab pos="3619410" algn="l"/>
                <a:tab pos="4343291" algn="l"/>
                <a:tab pos="5067173" algn="l"/>
                <a:tab pos="5791055" algn="l"/>
                <a:tab pos="6514937" algn="l"/>
                <a:tab pos="7238819" algn="l"/>
                <a:tab pos="7962701" algn="l"/>
                <a:tab pos="8686583" algn="l"/>
              </a:tabLst>
            </a:pPr>
            <a:r>
              <a:rPr lang="zh-CN" altLang="en-US" sz="3200" b="1" dirty="0">
                <a:sym typeface="+mn-ea"/>
              </a:rPr>
              <a:t>可根据变量的</a:t>
            </a:r>
            <a:r>
              <a:rPr lang="zh-CN" altLang="en-US" sz="3200" b="1" dirty="0">
                <a:solidFill>
                  <a:srgbClr val="C00000"/>
                </a:solidFill>
                <a:sym typeface="+mn-ea"/>
              </a:rPr>
              <a:t>活跃区间</a:t>
            </a:r>
            <a:r>
              <a:rPr lang="zh-CN" altLang="en-US" sz="3200" b="1" dirty="0">
                <a:sym typeface="+mn-ea"/>
              </a:rPr>
              <a:t>分配寄存器</a:t>
            </a:r>
          </a:p>
          <a:p>
            <a:pPr marL="431789" indent="-323843" defTabSz="449569">
              <a:lnSpc>
                <a:spcPct val="150000"/>
              </a:lnSpc>
              <a:buSzPct val="45000"/>
              <a:buNone/>
              <a:tabLst>
                <a:tab pos="723882" algn="l"/>
                <a:tab pos="1447764" algn="l"/>
                <a:tab pos="2171646" algn="l"/>
                <a:tab pos="2895528" algn="l"/>
                <a:tab pos="3619410" algn="l"/>
                <a:tab pos="4343291" algn="l"/>
                <a:tab pos="5067173" algn="l"/>
                <a:tab pos="5791055" algn="l"/>
                <a:tab pos="6514937" algn="l"/>
                <a:tab pos="7238819" algn="l"/>
                <a:tab pos="7962701" algn="l"/>
                <a:tab pos="8686583" algn="l"/>
              </a:tabLst>
            </a:pPr>
            <a:r>
              <a:rPr lang="zh-CN" altLang="en-US" sz="3200" b="1" dirty="0">
                <a:sym typeface="+mn-ea"/>
              </a:rPr>
              <a:t>活跃区间开始：分配寄存器</a:t>
            </a:r>
          </a:p>
          <a:p>
            <a:pPr marL="431789" indent="-323843" defTabSz="449569">
              <a:lnSpc>
                <a:spcPct val="150000"/>
              </a:lnSpc>
              <a:buSzPct val="45000"/>
              <a:buNone/>
              <a:tabLst>
                <a:tab pos="723882" algn="l"/>
                <a:tab pos="1447764" algn="l"/>
                <a:tab pos="2171646" algn="l"/>
                <a:tab pos="2895528" algn="l"/>
                <a:tab pos="3619410" algn="l"/>
                <a:tab pos="4343291" algn="l"/>
                <a:tab pos="5067173" algn="l"/>
                <a:tab pos="5791055" algn="l"/>
                <a:tab pos="6514937" algn="l"/>
                <a:tab pos="7238819" algn="l"/>
                <a:tab pos="7962701" algn="l"/>
                <a:tab pos="8686583" algn="l"/>
              </a:tabLst>
            </a:pPr>
            <a:r>
              <a:rPr lang="zh-CN" altLang="en-US" sz="3200" b="1" dirty="0">
                <a:sym typeface="+mn-ea"/>
              </a:rPr>
              <a:t>活跃区间结束：回收寄存器</a:t>
            </a:r>
          </a:p>
          <a:p>
            <a:pPr marL="431789" indent="-323843" defTabSz="449569">
              <a:lnSpc>
                <a:spcPct val="150000"/>
              </a:lnSpc>
              <a:buSzPct val="45000"/>
              <a:buNone/>
              <a:tabLst>
                <a:tab pos="723882" algn="l"/>
                <a:tab pos="1447764" algn="l"/>
                <a:tab pos="2171646" algn="l"/>
                <a:tab pos="2895528" algn="l"/>
                <a:tab pos="3619410" algn="l"/>
                <a:tab pos="4343291" algn="l"/>
                <a:tab pos="5067173" algn="l"/>
                <a:tab pos="5791055" algn="l"/>
                <a:tab pos="6514937" algn="l"/>
                <a:tab pos="7238819" algn="l"/>
                <a:tab pos="7962701" algn="l"/>
                <a:tab pos="8686583" algn="l"/>
              </a:tabLst>
            </a:pPr>
            <a:r>
              <a:rPr lang="zh-CN" altLang="en-US" sz="3200" b="1" dirty="0">
                <a:sym typeface="+mn-ea"/>
              </a:rPr>
              <a:t>待解决问题：</a:t>
            </a:r>
          </a:p>
          <a:p>
            <a:pPr marL="431789" indent="-323843" defTabSz="449569">
              <a:lnSpc>
                <a:spcPct val="150000"/>
              </a:lnSpc>
              <a:buSzPct val="45000"/>
              <a:buNone/>
              <a:tabLst>
                <a:tab pos="723882" algn="l"/>
                <a:tab pos="1447764" algn="l"/>
                <a:tab pos="2171646" algn="l"/>
                <a:tab pos="2895528" algn="l"/>
                <a:tab pos="3619410" algn="l"/>
                <a:tab pos="4343291" algn="l"/>
                <a:tab pos="5067173" algn="l"/>
                <a:tab pos="5791055" algn="l"/>
                <a:tab pos="6514937" algn="l"/>
                <a:tab pos="7238819" algn="l"/>
                <a:tab pos="7962701" algn="l"/>
                <a:tab pos="8686583" algn="l"/>
              </a:tabLst>
            </a:pPr>
            <a:r>
              <a:rPr lang="zh-CN" altLang="en-US" sz="3200" b="1" dirty="0">
                <a:sym typeface="+mn-ea"/>
              </a:rPr>
              <a:t> </a:t>
            </a:r>
            <a:r>
              <a:rPr lang="en-US" altLang="zh-CN" sz="3200" b="1" dirty="0">
                <a:sym typeface="+mn-ea"/>
              </a:rPr>
              <a:t>   </a:t>
            </a:r>
            <a:r>
              <a:rPr lang="zh-CN" altLang="en-US" sz="3200" b="1" dirty="0">
                <a:sym typeface="+mn-ea"/>
              </a:rPr>
              <a:t>寄存器不够用时该怎么办？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b="1" dirty="0">
                <a:latin typeface="楷体_GB2312" panose="02010609030101010101" charset="-122"/>
                <a:ea typeface="楷体_GB2312" panose="02010609030101010101" charset="-122"/>
                <a:sym typeface="+mn-ea"/>
              </a:rPr>
              <a:t>寄存器分配示例</a:t>
            </a:r>
            <a:r>
              <a:rPr lang="en-US" altLang="zh-CN" b="1" dirty="0">
                <a:latin typeface="楷体_GB2312" panose="02010609030101010101" charset="-122"/>
                <a:ea typeface="楷体_GB2312" panose="02010609030101010101" charset="-122"/>
                <a:sym typeface="+mn-ea"/>
              </a:rPr>
              <a:t>1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29</a:t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graphicFrame>
        <p:nvGraphicFramePr>
          <p:cNvPr id="2" name="object 40"/>
          <p:cNvGraphicFramePr>
            <a:graphicFrameLocks noGrp="1"/>
          </p:cNvGraphicFramePr>
          <p:nvPr/>
        </p:nvGraphicFramePr>
        <p:xfrm>
          <a:off x="457200" y="1371600"/>
          <a:ext cx="2743200" cy="52019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 panose="02060603050605020204"/>
                        <a:cs typeface="Times New Roman" panose="02060603050605020204"/>
                      </a:endParaRPr>
                    </a:p>
                  </a:txBody>
                  <a:tcPr marL="0" marR="0" marT="0" marB="0">
                    <a:lnR>
                      <a:noFill/>
                    </a:lnR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63881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900" b="1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ourier New" panose="02070409020205020404"/>
                          <a:cs typeface="Courier New" panose="02070409020205020404"/>
                        </a:rPr>
                        <a:t>e = d +</a:t>
                      </a:r>
                      <a:r>
                        <a:rPr sz="1900" b="1" spc="-6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ourier New" panose="02070409020205020404"/>
                          <a:cs typeface="Courier New" panose="02070409020205020404"/>
                        </a:rPr>
                        <a:t> </a:t>
                      </a:r>
                      <a:r>
                        <a:rPr sz="1900" b="1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ourier New" panose="02070409020205020404"/>
                          <a:cs typeface="Courier New" panose="02070409020205020404"/>
                        </a:rPr>
                        <a:t>a</a:t>
                      </a:r>
                    </a:p>
                  </a:txBody>
                  <a:tcPr marL="0" marR="0" marT="60960" marB="0">
                    <a:lnR w="12700">
                      <a:solidFill>
                        <a:schemeClr val="tx1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63881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900" b="1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ourier New" panose="02070409020205020404"/>
                          <a:cs typeface="Courier New" panose="02070409020205020404"/>
                        </a:rPr>
                        <a:t>f = b +</a:t>
                      </a:r>
                      <a:r>
                        <a:rPr sz="1900" b="1" spc="-6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ourier New" panose="02070409020205020404"/>
                          <a:cs typeface="Courier New" panose="02070409020205020404"/>
                        </a:rPr>
                        <a:t> </a:t>
                      </a:r>
                      <a:r>
                        <a:rPr sz="1900" b="1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ourier New" panose="02070409020205020404"/>
                          <a:cs typeface="Courier New" panose="02070409020205020404"/>
                        </a:rPr>
                        <a:t>c</a:t>
                      </a:r>
                    </a:p>
                  </a:txBody>
                  <a:tcPr marL="0" marR="0" marT="60960" marB="0"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63881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900" b="1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ourier New" panose="02070409020205020404"/>
                          <a:cs typeface="Courier New" panose="02070409020205020404"/>
                        </a:rPr>
                        <a:t>f = f +</a:t>
                      </a:r>
                      <a:r>
                        <a:rPr sz="1900" b="1" spc="-6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ourier New" panose="02070409020205020404"/>
                          <a:cs typeface="Courier New" panose="02070409020205020404"/>
                        </a:rPr>
                        <a:t> </a:t>
                      </a:r>
                      <a:r>
                        <a:rPr sz="1900" b="1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ourier New" panose="02070409020205020404"/>
                          <a:cs typeface="Courier New" panose="02070409020205020404"/>
                        </a:rPr>
                        <a:t>b</a:t>
                      </a:r>
                    </a:p>
                  </a:txBody>
                  <a:tcPr marL="0" marR="0" marT="60960" marB="0"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9920">
                <a:tc>
                  <a:txBody>
                    <a:bodyPr/>
                    <a:lstStyle/>
                    <a:p>
                      <a:pPr marL="63881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900" b="1" spc="-5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ourier New" panose="02070409020205020404"/>
                          <a:cs typeface="Courier New" panose="02070409020205020404"/>
                        </a:rPr>
                        <a:t>IfZ </a:t>
                      </a:r>
                      <a:r>
                        <a:rPr sz="1900" b="1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ourier New" panose="02070409020205020404"/>
                          <a:cs typeface="Courier New" panose="02070409020205020404"/>
                        </a:rPr>
                        <a:t>e </a:t>
                      </a:r>
                      <a:r>
                        <a:rPr sz="1900" b="1" spc="-5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ourier New" panose="02070409020205020404"/>
                          <a:cs typeface="Courier New" panose="02070409020205020404"/>
                        </a:rPr>
                        <a:t>Goto</a:t>
                      </a:r>
                      <a:r>
                        <a:rPr sz="1900" b="1" spc="-75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ourier New" panose="02070409020205020404"/>
                          <a:cs typeface="Courier New" panose="02070409020205020404"/>
                        </a:rPr>
                        <a:t> </a:t>
                      </a:r>
                      <a:r>
                        <a:rPr sz="1900" b="1" spc="-5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ourier New" panose="02070409020205020404"/>
                          <a:cs typeface="Courier New" panose="02070409020205020404"/>
                        </a:rPr>
                        <a:t>_L0</a:t>
                      </a:r>
                    </a:p>
                  </a:txBody>
                  <a:tcPr marL="0" marR="0" marT="60960" marB="0"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63881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900" b="1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ourier New" panose="02070409020205020404"/>
                          <a:cs typeface="Courier New" panose="02070409020205020404"/>
                        </a:rPr>
                        <a:t>d = e +</a:t>
                      </a:r>
                      <a:r>
                        <a:rPr sz="1900" b="1" spc="-6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ourier New" panose="02070409020205020404"/>
                          <a:cs typeface="Courier New" panose="02070409020205020404"/>
                        </a:rPr>
                        <a:t> </a:t>
                      </a:r>
                      <a:r>
                        <a:rPr sz="1900" b="1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ourier New" panose="02070409020205020404"/>
                          <a:cs typeface="Courier New" panose="02070409020205020404"/>
                        </a:rPr>
                        <a:t>f</a:t>
                      </a:r>
                    </a:p>
                  </a:txBody>
                  <a:tcPr marL="0" marR="0" marT="60960" marB="0"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63881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900" b="1" spc="-5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ourier New" panose="02070409020205020404"/>
                          <a:cs typeface="Courier New" panose="02070409020205020404"/>
                        </a:rPr>
                        <a:t>Goto</a:t>
                      </a:r>
                      <a:r>
                        <a:rPr sz="1900" b="1" spc="-2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ourier New" panose="02070409020205020404"/>
                          <a:cs typeface="Courier New" panose="02070409020205020404"/>
                        </a:rPr>
                        <a:t> </a:t>
                      </a:r>
                      <a:r>
                        <a:rPr sz="1900" b="1" spc="-5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ourier New" panose="02070409020205020404"/>
                          <a:cs typeface="Courier New" panose="02070409020205020404"/>
                        </a:rPr>
                        <a:t>_L1;</a:t>
                      </a:r>
                    </a:p>
                  </a:txBody>
                  <a:tcPr marL="0" marR="0" marT="60960" marB="0"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900" b="1" spc="-5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ourier New" panose="02070409020205020404"/>
                          <a:cs typeface="Courier New" panose="02070409020205020404"/>
                        </a:rPr>
                        <a:t>_L0:</a:t>
                      </a:r>
                    </a:p>
                  </a:txBody>
                  <a:tcPr marL="0" marR="0" marT="60960" marB="0"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63881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900" b="1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ourier New" panose="02070409020205020404"/>
                          <a:cs typeface="Courier New" panose="02070409020205020404"/>
                        </a:rPr>
                        <a:t>d = e -</a:t>
                      </a:r>
                      <a:r>
                        <a:rPr sz="1900" b="1" spc="-6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ourier New" panose="02070409020205020404"/>
                          <a:cs typeface="Courier New" panose="02070409020205020404"/>
                        </a:rPr>
                        <a:t> </a:t>
                      </a:r>
                      <a:r>
                        <a:rPr sz="1900" b="1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ourier New" panose="02070409020205020404"/>
                          <a:cs typeface="Courier New" panose="02070409020205020404"/>
                        </a:rPr>
                        <a:t>f</a:t>
                      </a:r>
                    </a:p>
                  </a:txBody>
                  <a:tcPr marL="0" marR="0" marT="60960" marB="0"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900" b="1" spc="-5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ourier New" panose="02070409020205020404"/>
                          <a:cs typeface="Courier New" panose="02070409020205020404"/>
                        </a:rPr>
                        <a:t>_L1:</a:t>
                      </a:r>
                    </a:p>
                  </a:txBody>
                  <a:tcPr marL="0" marR="0" marT="60960" marB="0"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63881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900" b="1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ourier New" panose="02070409020205020404"/>
                          <a:cs typeface="Courier New" panose="02070409020205020404"/>
                        </a:rPr>
                        <a:t>g =</a:t>
                      </a:r>
                      <a:r>
                        <a:rPr sz="1900" b="1" spc="-3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ourier New" panose="02070409020205020404"/>
                          <a:cs typeface="Courier New" panose="02070409020205020404"/>
                        </a:rPr>
                        <a:t> </a:t>
                      </a:r>
                      <a:r>
                        <a:rPr sz="1900" b="1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ourier New" panose="02070409020205020404"/>
                          <a:cs typeface="Courier New" panose="02070409020205020404"/>
                        </a:rPr>
                        <a:t>d</a:t>
                      </a:r>
                    </a:p>
                  </a:txBody>
                  <a:tcPr marL="0" marR="0" marT="60960" marB="0"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 panose="02060603050605020204"/>
                        <a:cs typeface="Times New Roman" panose="02060603050605020204"/>
                      </a:endParaRPr>
                    </a:p>
                  </a:txBody>
                  <a:tcPr marL="0" marR="0" marT="0" marB="0">
                    <a:lnR>
                      <a:noFill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46" name="矩形 45"/>
          <p:cNvSpPr/>
          <p:nvPr/>
        </p:nvSpPr>
        <p:spPr>
          <a:xfrm>
            <a:off x="3254377" y="1570355"/>
            <a:ext cx="252731" cy="45974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矩形 47"/>
          <p:cNvSpPr/>
          <p:nvPr/>
        </p:nvSpPr>
        <p:spPr>
          <a:xfrm>
            <a:off x="3254377" y="1120775"/>
            <a:ext cx="252731" cy="4597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00B050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49" name="矩形 48"/>
          <p:cNvSpPr/>
          <p:nvPr/>
        </p:nvSpPr>
        <p:spPr>
          <a:xfrm>
            <a:off x="3523617" y="1570358"/>
            <a:ext cx="252731" cy="136588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矩形 50"/>
          <p:cNvSpPr/>
          <p:nvPr/>
        </p:nvSpPr>
        <p:spPr>
          <a:xfrm>
            <a:off x="3523617" y="1114426"/>
            <a:ext cx="252731" cy="4597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00B050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52" name="矩形 51"/>
          <p:cNvSpPr/>
          <p:nvPr/>
        </p:nvSpPr>
        <p:spPr>
          <a:xfrm>
            <a:off x="3792857" y="1570358"/>
            <a:ext cx="252731" cy="105600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矩形 53"/>
          <p:cNvSpPr/>
          <p:nvPr/>
        </p:nvSpPr>
        <p:spPr>
          <a:xfrm>
            <a:off x="3792857" y="1143635"/>
            <a:ext cx="252731" cy="4597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00B050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55" name="矩形 54"/>
          <p:cNvSpPr/>
          <p:nvPr/>
        </p:nvSpPr>
        <p:spPr>
          <a:xfrm>
            <a:off x="4070987" y="1570357"/>
            <a:ext cx="252731" cy="434213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矩形 56"/>
          <p:cNvSpPr/>
          <p:nvPr/>
        </p:nvSpPr>
        <p:spPr>
          <a:xfrm>
            <a:off x="4070987" y="1155066"/>
            <a:ext cx="252731" cy="4597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00B050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58" name="矩形 57"/>
          <p:cNvSpPr/>
          <p:nvPr/>
        </p:nvSpPr>
        <p:spPr>
          <a:xfrm>
            <a:off x="4340227" y="2045973"/>
            <a:ext cx="252731" cy="279336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矩形 59"/>
          <p:cNvSpPr/>
          <p:nvPr/>
        </p:nvSpPr>
        <p:spPr>
          <a:xfrm>
            <a:off x="4340227" y="1139826"/>
            <a:ext cx="252731" cy="4597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00B050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62" name="矩形 61"/>
          <p:cNvSpPr/>
          <p:nvPr/>
        </p:nvSpPr>
        <p:spPr>
          <a:xfrm>
            <a:off x="4618357" y="2642235"/>
            <a:ext cx="252731" cy="221742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矩形 63"/>
          <p:cNvSpPr/>
          <p:nvPr/>
        </p:nvSpPr>
        <p:spPr>
          <a:xfrm>
            <a:off x="4618357" y="1160146"/>
            <a:ext cx="252731" cy="4597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00B050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66" name="矩形 65"/>
          <p:cNvSpPr/>
          <p:nvPr/>
        </p:nvSpPr>
        <p:spPr>
          <a:xfrm>
            <a:off x="4887597" y="5912485"/>
            <a:ext cx="252731" cy="32512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矩形 67"/>
          <p:cNvSpPr/>
          <p:nvPr/>
        </p:nvSpPr>
        <p:spPr>
          <a:xfrm>
            <a:off x="4887597" y="1144906"/>
            <a:ext cx="252731" cy="4597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00B050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7576823" y="1611467"/>
            <a:ext cx="408305" cy="3847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960"/>
              </a:lnSpc>
            </a:pPr>
            <a:r>
              <a:rPr sz="2600" b="1" spc="-5" dirty="0">
                <a:solidFill>
                  <a:srgbClr val="191919"/>
                </a:solidFill>
                <a:latin typeface="DejaVu Serif" panose="02060603050605020204"/>
                <a:cs typeface="DejaVu Serif" panose="02060603050605020204"/>
              </a:rPr>
              <a:t>R</a:t>
            </a:r>
            <a:r>
              <a:rPr sz="2251" b="1" spc="7" baseline="-31000" dirty="0">
                <a:solidFill>
                  <a:srgbClr val="191919"/>
                </a:solidFill>
                <a:latin typeface="DejaVu Serif" panose="02060603050605020204"/>
                <a:cs typeface="DejaVu Serif" panose="02060603050605020204"/>
              </a:rPr>
              <a:t>0</a:t>
            </a:r>
            <a:endParaRPr sz="2251" baseline="-31000">
              <a:latin typeface="DejaVu Serif" panose="02060603050605020204"/>
              <a:cs typeface="DejaVu Serif" panose="02060603050605020204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491223" y="1611467"/>
            <a:ext cx="408305" cy="3847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960"/>
              </a:lnSpc>
            </a:pPr>
            <a:r>
              <a:rPr sz="2600" b="1" spc="-5" dirty="0">
                <a:solidFill>
                  <a:srgbClr val="191919"/>
                </a:solidFill>
                <a:latin typeface="DejaVu Serif" panose="02060603050605020204"/>
                <a:cs typeface="DejaVu Serif" panose="02060603050605020204"/>
              </a:rPr>
              <a:t>R</a:t>
            </a:r>
            <a:r>
              <a:rPr sz="2251" b="1" spc="7" baseline="-31000" dirty="0">
                <a:solidFill>
                  <a:srgbClr val="191919"/>
                </a:solidFill>
                <a:latin typeface="DejaVu Serif" panose="02060603050605020204"/>
                <a:cs typeface="DejaVu Serif" panose="02060603050605020204"/>
              </a:rPr>
              <a:t>1</a:t>
            </a:r>
            <a:endParaRPr sz="2251" baseline="-31000">
              <a:latin typeface="DejaVu Serif" panose="02060603050605020204"/>
              <a:cs typeface="DejaVu Serif" panose="02060603050605020204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9405623" y="1611467"/>
            <a:ext cx="408305" cy="3847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960"/>
              </a:lnSpc>
            </a:pPr>
            <a:r>
              <a:rPr sz="2600" b="1" spc="-5" dirty="0">
                <a:solidFill>
                  <a:srgbClr val="191919"/>
                </a:solidFill>
                <a:latin typeface="DejaVu Serif" panose="02060603050605020204"/>
                <a:cs typeface="DejaVu Serif" panose="02060603050605020204"/>
              </a:rPr>
              <a:t>R</a:t>
            </a:r>
            <a:r>
              <a:rPr sz="2251" b="1" spc="7" baseline="-31000" dirty="0">
                <a:solidFill>
                  <a:srgbClr val="191919"/>
                </a:solidFill>
                <a:latin typeface="DejaVu Serif" panose="02060603050605020204"/>
                <a:cs typeface="DejaVu Serif" panose="02060603050605020204"/>
              </a:rPr>
              <a:t>2</a:t>
            </a:r>
            <a:endParaRPr sz="2251" baseline="-31000">
              <a:latin typeface="DejaVu Serif" panose="02060603050605020204"/>
              <a:cs typeface="DejaVu Serif" panose="02060603050605020204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0320023" y="1611467"/>
            <a:ext cx="408305" cy="3847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960"/>
              </a:lnSpc>
            </a:pPr>
            <a:r>
              <a:rPr sz="2600" b="1" spc="-5" dirty="0">
                <a:solidFill>
                  <a:srgbClr val="191919"/>
                </a:solidFill>
                <a:latin typeface="DejaVu Serif" panose="02060603050605020204"/>
                <a:cs typeface="DejaVu Serif" panose="02060603050605020204"/>
              </a:rPr>
              <a:t>R</a:t>
            </a:r>
            <a:r>
              <a:rPr sz="2251" b="1" spc="7" baseline="-31000" dirty="0">
                <a:solidFill>
                  <a:srgbClr val="191919"/>
                </a:solidFill>
                <a:latin typeface="DejaVu Serif" panose="02060603050605020204"/>
                <a:cs typeface="DejaVu Serif" panose="02060603050605020204"/>
              </a:rPr>
              <a:t>2</a:t>
            </a:r>
            <a:endParaRPr sz="2251" baseline="-31000">
              <a:latin typeface="DejaVu Serif" panose="02060603050605020204"/>
              <a:cs typeface="DejaVu Serif" panose="02060603050605020204"/>
            </a:endParaRPr>
          </a:p>
        </p:txBody>
      </p:sp>
      <p:graphicFrame>
        <p:nvGraphicFramePr>
          <p:cNvPr id="27" name="object 27"/>
          <p:cNvGraphicFramePr>
            <a:graphicFrameLocks noGrp="1"/>
          </p:cNvGraphicFramePr>
          <p:nvPr/>
        </p:nvGraphicFramePr>
        <p:xfrm>
          <a:off x="7322820" y="1614171"/>
          <a:ext cx="3657600" cy="45770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708">
                <a:tc>
                  <a:txBody>
                    <a:bodyPr/>
                    <a:lstStyle/>
                    <a:p>
                      <a:pPr marL="254000">
                        <a:lnSpc>
                          <a:spcPts val="2940"/>
                        </a:lnSpc>
                      </a:pPr>
                      <a:r>
                        <a:rPr sz="2700" b="1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R</a:t>
                      </a:r>
                      <a:r>
                        <a:rPr sz="2300" b="1" baseline="-31000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0</a:t>
                      </a:r>
                      <a:endParaRPr sz="2300" baseline="-31000">
                        <a:latin typeface="DejaVu Serif" panose="02060603050605020204"/>
                        <a:cs typeface="DejaVu Serif" panose="02060603050605020204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254000">
                        <a:lnSpc>
                          <a:spcPts val="2940"/>
                        </a:lnSpc>
                      </a:pPr>
                      <a:r>
                        <a:rPr sz="2700" b="1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R</a:t>
                      </a:r>
                      <a:r>
                        <a:rPr sz="2300" b="1" baseline="-31000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1</a:t>
                      </a:r>
                      <a:endParaRPr sz="2300" baseline="-31000">
                        <a:latin typeface="DejaVu Serif" panose="02060603050605020204"/>
                        <a:cs typeface="DejaVu Serif" panose="02060603050605020204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254000">
                        <a:lnSpc>
                          <a:spcPts val="2940"/>
                        </a:lnSpc>
                      </a:pPr>
                      <a:r>
                        <a:rPr sz="2700" b="1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R</a:t>
                      </a:r>
                      <a:r>
                        <a:rPr sz="2300" b="1" baseline="-31000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2</a:t>
                      </a:r>
                      <a:endParaRPr sz="2300" baseline="-31000">
                        <a:latin typeface="DejaVu Serif" panose="02060603050605020204"/>
                        <a:cs typeface="DejaVu Serif" panose="02060603050605020204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F00FF"/>
                    </a:solidFill>
                  </a:tcPr>
                </a:tc>
                <a:tc>
                  <a:txBody>
                    <a:bodyPr/>
                    <a:lstStyle/>
                    <a:p>
                      <a:pPr marL="254000">
                        <a:lnSpc>
                          <a:spcPts val="2940"/>
                        </a:lnSpc>
                      </a:pPr>
                      <a:r>
                        <a:rPr sz="2700" b="1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R</a:t>
                      </a:r>
                      <a:r>
                        <a:rPr sz="2300" b="1" baseline="-31000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3</a:t>
                      </a:r>
                      <a:endParaRPr sz="2300" baseline="-31000">
                        <a:latin typeface="DejaVu Serif" panose="02060603050605020204"/>
                        <a:cs typeface="DejaVu Serif" panose="02060603050605020204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4" name="直接连接符 3"/>
          <p:cNvCxnSpPr/>
          <p:nvPr/>
        </p:nvCxnSpPr>
        <p:spPr>
          <a:xfrm>
            <a:off x="1117602" y="1782445"/>
            <a:ext cx="4102735" cy="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b="1" dirty="0">
                <a:latin typeface="楷体_GB2312" panose="02010609030101010101" charset="-122"/>
                <a:ea typeface="楷体_GB2312" panose="02010609030101010101" charset="-122"/>
                <a:sym typeface="+mn-ea"/>
              </a:rPr>
              <a:t>寄存器分配问题分析</a:t>
            </a:r>
            <a:endParaRPr lang="zh-CN" altLang="en-US" b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30</a:t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graphicFrame>
        <p:nvGraphicFramePr>
          <p:cNvPr id="2" name="object 40"/>
          <p:cNvGraphicFramePr>
            <a:graphicFrameLocks noGrp="1"/>
          </p:cNvGraphicFramePr>
          <p:nvPr/>
        </p:nvGraphicFramePr>
        <p:xfrm>
          <a:off x="457200" y="1371600"/>
          <a:ext cx="2743200" cy="52019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 panose="02060603050605020204"/>
                        <a:cs typeface="Times New Roman" panose="02060603050605020204"/>
                      </a:endParaRPr>
                    </a:p>
                  </a:txBody>
                  <a:tcPr marL="0" marR="0" marT="0" marB="0">
                    <a:lnR>
                      <a:noFill/>
                    </a:lnR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63881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900" b="1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ourier New" panose="02070409020205020404"/>
                          <a:cs typeface="Courier New" panose="02070409020205020404"/>
                        </a:rPr>
                        <a:t>e = d +</a:t>
                      </a:r>
                      <a:r>
                        <a:rPr sz="1900" b="1" spc="-6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ourier New" panose="02070409020205020404"/>
                          <a:cs typeface="Courier New" panose="02070409020205020404"/>
                        </a:rPr>
                        <a:t> </a:t>
                      </a:r>
                      <a:r>
                        <a:rPr sz="1900" b="1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ourier New" panose="02070409020205020404"/>
                          <a:cs typeface="Courier New" panose="02070409020205020404"/>
                        </a:rPr>
                        <a:t>a</a:t>
                      </a:r>
                    </a:p>
                  </a:txBody>
                  <a:tcPr marL="0" marR="0" marT="60960" marB="0">
                    <a:lnR w="12700">
                      <a:solidFill>
                        <a:schemeClr val="tx1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63881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900" b="1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ourier New" panose="02070409020205020404"/>
                          <a:cs typeface="Courier New" panose="02070409020205020404"/>
                        </a:rPr>
                        <a:t>f = b +</a:t>
                      </a:r>
                      <a:r>
                        <a:rPr sz="1900" b="1" spc="-6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ourier New" panose="02070409020205020404"/>
                          <a:cs typeface="Courier New" panose="02070409020205020404"/>
                        </a:rPr>
                        <a:t> </a:t>
                      </a:r>
                      <a:r>
                        <a:rPr sz="1900" b="1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ourier New" panose="02070409020205020404"/>
                          <a:cs typeface="Courier New" panose="02070409020205020404"/>
                        </a:rPr>
                        <a:t>c</a:t>
                      </a:r>
                    </a:p>
                  </a:txBody>
                  <a:tcPr marL="0" marR="0" marT="60960" marB="0"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63881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900" b="1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ourier New" panose="02070409020205020404"/>
                          <a:cs typeface="Courier New" panose="02070409020205020404"/>
                        </a:rPr>
                        <a:t>f = f +</a:t>
                      </a:r>
                      <a:r>
                        <a:rPr sz="1900" b="1" spc="-6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ourier New" panose="02070409020205020404"/>
                          <a:cs typeface="Courier New" panose="02070409020205020404"/>
                        </a:rPr>
                        <a:t> </a:t>
                      </a:r>
                      <a:r>
                        <a:rPr sz="1900" b="1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ourier New" panose="02070409020205020404"/>
                          <a:cs typeface="Courier New" panose="02070409020205020404"/>
                        </a:rPr>
                        <a:t>b</a:t>
                      </a:r>
                    </a:p>
                  </a:txBody>
                  <a:tcPr marL="0" marR="0" marT="60960" marB="0"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9920">
                <a:tc>
                  <a:txBody>
                    <a:bodyPr/>
                    <a:lstStyle/>
                    <a:p>
                      <a:pPr marL="63881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900" b="1" spc="-5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ourier New" panose="02070409020205020404"/>
                          <a:cs typeface="Courier New" panose="02070409020205020404"/>
                        </a:rPr>
                        <a:t>IfZ </a:t>
                      </a:r>
                      <a:r>
                        <a:rPr sz="1900" b="1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ourier New" panose="02070409020205020404"/>
                          <a:cs typeface="Courier New" panose="02070409020205020404"/>
                        </a:rPr>
                        <a:t>e </a:t>
                      </a:r>
                      <a:r>
                        <a:rPr sz="1900" b="1" spc="-5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ourier New" panose="02070409020205020404"/>
                          <a:cs typeface="Courier New" panose="02070409020205020404"/>
                        </a:rPr>
                        <a:t>Goto</a:t>
                      </a:r>
                      <a:r>
                        <a:rPr sz="1900" b="1" spc="-75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ourier New" panose="02070409020205020404"/>
                          <a:cs typeface="Courier New" panose="02070409020205020404"/>
                        </a:rPr>
                        <a:t> </a:t>
                      </a:r>
                      <a:r>
                        <a:rPr sz="1900" b="1" spc="-5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ourier New" panose="02070409020205020404"/>
                          <a:cs typeface="Courier New" panose="02070409020205020404"/>
                        </a:rPr>
                        <a:t>_L0</a:t>
                      </a:r>
                    </a:p>
                  </a:txBody>
                  <a:tcPr marL="0" marR="0" marT="60960" marB="0"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63881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900" b="1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ourier New" panose="02070409020205020404"/>
                          <a:cs typeface="Courier New" panose="02070409020205020404"/>
                        </a:rPr>
                        <a:t>d = e +</a:t>
                      </a:r>
                      <a:r>
                        <a:rPr sz="1900" b="1" spc="-6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ourier New" panose="02070409020205020404"/>
                          <a:cs typeface="Courier New" panose="02070409020205020404"/>
                        </a:rPr>
                        <a:t> </a:t>
                      </a:r>
                      <a:r>
                        <a:rPr sz="1900" b="1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ourier New" panose="02070409020205020404"/>
                          <a:cs typeface="Courier New" panose="02070409020205020404"/>
                        </a:rPr>
                        <a:t>f</a:t>
                      </a:r>
                    </a:p>
                  </a:txBody>
                  <a:tcPr marL="0" marR="0" marT="60960" marB="0"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63881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900" b="1" spc="-5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ourier New" panose="02070409020205020404"/>
                          <a:cs typeface="Courier New" panose="02070409020205020404"/>
                        </a:rPr>
                        <a:t>Goto</a:t>
                      </a:r>
                      <a:r>
                        <a:rPr sz="1900" b="1" spc="-2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ourier New" panose="02070409020205020404"/>
                          <a:cs typeface="Courier New" panose="02070409020205020404"/>
                        </a:rPr>
                        <a:t> </a:t>
                      </a:r>
                      <a:r>
                        <a:rPr sz="1900" b="1" spc="-5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ourier New" panose="02070409020205020404"/>
                          <a:cs typeface="Courier New" panose="02070409020205020404"/>
                        </a:rPr>
                        <a:t>_L1;</a:t>
                      </a:r>
                    </a:p>
                  </a:txBody>
                  <a:tcPr marL="0" marR="0" marT="60960" marB="0"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900" b="1" spc="-5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ourier New" panose="02070409020205020404"/>
                          <a:cs typeface="Courier New" panose="02070409020205020404"/>
                        </a:rPr>
                        <a:t>_L0:</a:t>
                      </a:r>
                    </a:p>
                  </a:txBody>
                  <a:tcPr marL="0" marR="0" marT="60960" marB="0"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63881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900" b="1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ourier New" panose="02070409020205020404"/>
                          <a:cs typeface="Courier New" panose="02070409020205020404"/>
                        </a:rPr>
                        <a:t>d = e -</a:t>
                      </a:r>
                      <a:r>
                        <a:rPr sz="1900" b="1" spc="-6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ourier New" panose="02070409020205020404"/>
                          <a:cs typeface="Courier New" panose="02070409020205020404"/>
                        </a:rPr>
                        <a:t> </a:t>
                      </a:r>
                      <a:r>
                        <a:rPr sz="1900" b="1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ourier New" panose="02070409020205020404"/>
                          <a:cs typeface="Courier New" panose="02070409020205020404"/>
                        </a:rPr>
                        <a:t>f</a:t>
                      </a:r>
                    </a:p>
                  </a:txBody>
                  <a:tcPr marL="0" marR="0" marT="60960" marB="0"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900" b="1" spc="-5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ourier New" panose="02070409020205020404"/>
                          <a:cs typeface="Courier New" panose="02070409020205020404"/>
                        </a:rPr>
                        <a:t>_L1:</a:t>
                      </a:r>
                    </a:p>
                  </a:txBody>
                  <a:tcPr marL="0" marR="0" marT="60960" marB="0"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63881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900" b="1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ourier New" panose="02070409020205020404"/>
                          <a:cs typeface="Courier New" panose="02070409020205020404"/>
                        </a:rPr>
                        <a:t>g =</a:t>
                      </a:r>
                      <a:r>
                        <a:rPr sz="1900" b="1" spc="-3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ourier New" panose="02070409020205020404"/>
                          <a:cs typeface="Courier New" panose="02070409020205020404"/>
                        </a:rPr>
                        <a:t> </a:t>
                      </a:r>
                      <a:r>
                        <a:rPr sz="1900" b="1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ourier New" panose="02070409020205020404"/>
                          <a:cs typeface="Courier New" panose="02070409020205020404"/>
                        </a:rPr>
                        <a:t>d</a:t>
                      </a:r>
                    </a:p>
                  </a:txBody>
                  <a:tcPr marL="0" marR="0" marT="60960" marB="0"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 panose="02060603050605020204"/>
                        <a:cs typeface="Times New Roman" panose="02060603050605020204"/>
                      </a:endParaRPr>
                    </a:p>
                  </a:txBody>
                  <a:tcPr marL="0" marR="0" marT="0" marB="0">
                    <a:lnR>
                      <a:noFill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46" name="矩形 45"/>
          <p:cNvSpPr/>
          <p:nvPr/>
        </p:nvSpPr>
        <p:spPr>
          <a:xfrm>
            <a:off x="3254377" y="1570355"/>
            <a:ext cx="252731" cy="459740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矩形 47"/>
          <p:cNvSpPr/>
          <p:nvPr/>
        </p:nvSpPr>
        <p:spPr>
          <a:xfrm>
            <a:off x="3254377" y="1120775"/>
            <a:ext cx="252731" cy="4597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00B050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49" name="矩形 48"/>
          <p:cNvSpPr/>
          <p:nvPr/>
        </p:nvSpPr>
        <p:spPr>
          <a:xfrm>
            <a:off x="3523617" y="1570358"/>
            <a:ext cx="252731" cy="1365885"/>
          </a:xfrm>
          <a:prstGeom prst="rect">
            <a:avLst/>
          </a:prstGeom>
          <a:solidFill>
            <a:srgbClr val="00FFFF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矩形 50"/>
          <p:cNvSpPr/>
          <p:nvPr/>
        </p:nvSpPr>
        <p:spPr>
          <a:xfrm>
            <a:off x="3523617" y="1114426"/>
            <a:ext cx="252731" cy="4597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00B050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52" name="矩形 51"/>
          <p:cNvSpPr/>
          <p:nvPr/>
        </p:nvSpPr>
        <p:spPr>
          <a:xfrm>
            <a:off x="3792857" y="1570358"/>
            <a:ext cx="252731" cy="1056005"/>
          </a:xfrm>
          <a:prstGeom prst="rect">
            <a:avLst/>
          </a:prstGeom>
          <a:solidFill>
            <a:srgbClr val="FF00FF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矩形 53"/>
          <p:cNvSpPr/>
          <p:nvPr/>
        </p:nvSpPr>
        <p:spPr>
          <a:xfrm>
            <a:off x="3792857" y="1143635"/>
            <a:ext cx="252731" cy="4597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00B050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55" name="矩形 54"/>
          <p:cNvSpPr/>
          <p:nvPr/>
        </p:nvSpPr>
        <p:spPr>
          <a:xfrm>
            <a:off x="4070987" y="1570357"/>
            <a:ext cx="252731" cy="4306571"/>
          </a:xfrm>
          <a:prstGeom prst="rect">
            <a:avLst/>
          </a:prstGeom>
          <a:solidFill>
            <a:srgbClr val="45ED33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矩形 56"/>
          <p:cNvSpPr/>
          <p:nvPr/>
        </p:nvSpPr>
        <p:spPr>
          <a:xfrm>
            <a:off x="4070987" y="1155066"/>
            <a:ext cx="252731" cy="4597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00B050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58" name="矩形 57"/>
          <p:cNvSpPr/>
          <p:nvPr/>
        </p:nvSpPr>
        <p:spPr>
          <a:xfrm>
            <a:off x="4340227" y="2045973"/>
            <a:ext cx="252731" cy="279336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矩形 59"/>
          <p:cNvSpPr/>
          <p:nvPr/>
        </p:nvSpPr>
        <p:spPr>
          <a:xfrm>
            <a:off x="4340227" y="1139826"/>
            <a:ext cx="252731" cy="4597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00B050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62" name="矩形 61"/>
          <p:cNvSpPr/>
          <p:nvPr/>
        </p:nvSpPr>
        <p:spPr>
          <a:xfrm>
            <a:off x="4618357" y="2642235"/>
            <a:ext cx="252731" cy="221742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矩形 63"/>
          <p:cNvSpPr/>
          <p:nvPr/>
        </p:nvSpPr>
        <p:spPr>
          <a:xfrm>
            <a:off x="4618357" y="1160146"/>
            <a:ext cx="252731" cy="4597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00B050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66" name="矩形 65"/>
          <p:cNvSpPr/>
          <p:nvPr/>
        </p:nvSpPr>
        <p:spPr>
          <a:xfrm>
            <a:off x="4887597" y="5876925"/>
            <a:ext cx="252731" cy="36068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矩形 67"/>
          <p:cNvSpPr/>
          <p:nvPr/>
        </p:nvSpPr>
        <p:spPr>
          <a:xfrm>
            <a:off x="4887597" y="1144906"/>
            <a:ext cx="252731" cy="4597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00B050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7576823" y="1611467"/>
            <a:ext cx="408305" cy="3847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960"/>
              </a:lnSpc>
            </a:pPr>
            <a:r>
              <a:rPr sz="2600" b="1" spc="-5" dirty="0">
                <a:solidFill>
                  <a:srgbClr val="191919"/>
                </a:solidFill>
                <a:latin typeface="DejaVu Serif" panose="02060603050605020204"/>
                <a:cs typeface="DejaVu Serif" panose="02060603050605020204"/>
              </a:rPr>
              <a:t>R</a:t>
            </a:r>
            <a:r>
              <a:rPr sz="2251" b="1" spc="7" baseline="-31000" dirty="0">
                <a:solidFill>
                  <a:srgbClr val="191919"/>
                </a:solidFill>
                <a:latin typeface="DejaVu Serif" panose="02060603050605020204"/>
                <a:cs typeface="DejaVu Serif" panose="02060603050605020204"/>
              </a:rPr>
              <a:t>0</a:t>
            </a:r>
            <a:endParaRPr sz="2251" baseline="-31000">
              <a:latin typeface="DejaVu Serif" panose="02060603050605020204"/>
              <a:cs typeface="DejaVu Serif" panose="02060603050605020204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491223" y="1611467"/>
            <a:ext cx="408305" cy="3847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960"/>
              </a:lnSpc>
            </a:pPr>
            <a:r>
              <a:rPr sz="2600" b="1" spc="-5" dirty="0">
                <a:solidFill>
                  <a:srgbClr val="191919"/>
                </a:solidFill>
                <a:latin typeface="DejaVu Serif" panose="02060603050605020204"/>
                <a:cs typeface="DejaVu Serif" panose="02060603050605020204"/>
              </a:rPr>
              <a:t>R</a:t>
            </a:r>
            <a:r>
              <a:rPr sz="2251" b="1" spc="7" baseline="-31000" dirty="0">
                <a:solidFill>
                  <a:srgbClr val="191919"/>
                </a:solidFill>
                <a:latin typeface="DejaVu Serif" panose="02060603050605020204"/>
                <a:cs typeface="DejaVu Serif" panose="02060603050605020204"/>
              </a:rPr>
              <a:t>1</a:t>
            </a:r>
            <a:endParaRPr sz="2251" baseline="-31000">
              <a:latin typeface="DejaVu Serif" panose="02060603050605020204"/>
              <a:cs typeface="DejaVu Serif" panose="02060603050605020204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9405623" y="1611467"/>
            <a:ext cx="408305" cy="3847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960"/>
              </a:lnSpc>
            </a:pPr>
            <a:r>
              <a:rPr sz="2600" b="1" spc="-5" dirty="0">
                <a:solidFill>
                  <a:srgbClr val="191919"/>
                </a:solidFill>
                <a:latin typeface="DejaVu Serif" panose="02060603050605020204"/>
                <a:cs typeface="DejaVu Serif" panose="02060603050605020204"/>
              </a:rPr>
              <a:t>R</a:t>
            </a:r>
            <a:r>
              <a:rPr sz="2251" b="1" spc="7" baseline="-31000" dirty="0">
                <a:solidFill>
                  <a:srgbClr val="191919"/>
                </a:solidFill>
                <a:latin typeface="DejaVu Serif" panose="02060603050605020204"/>
                <a:cs typeface="DejaVu Serif" panose="02060603050605020204"/>
              </a:rPr>
              <a:t>2</a:t>
            </a:r>
            <a:endParaRPr sz="2251" baseline="-31000">
              <a:latin typeface="DejaVu Serif" panose="02060603050605020204"/>
              <a:cs typeface="DejaVu Serif" panose="02060603050605020204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0320023" y="1611467"/>
            <a:ext cx="408305" cy="3847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960"/>
              </a:lnSpc>
            </a:pPr>
            <a:r>
              <a:rPr sz="2600" b="1" spc="-5" dirty="0">
                <a:solidFill>
                  <a:srgbClr val="191919"/>
                </a:solidFill>
                <a:latin typeface="DejaVu Serif" panose="02060603050605020204"/>
                <a:cs typeface="DejaVu Serif" panose="02060603050605020204"/>
              </a:rPr>
              <a:t>R</a:t>
            </a:r>
            <a:r>
              <a:rPr sz="2251" b="1" spc="7" baseline="-31000" dirty="0">
                <a:solidFill>
                  <a:srgbClr val="191919"/>
                </a:solidFill>
                <a:latin typeface="DejaVu Serif" panose="02060603050605020204"/>
                <a:cs typeface="DejaVu Serif" panose="02060603050605020204"/>
              </a:rPr>
              <a:t>2</a:t>
            </a:r>
            <a:endParaRPr sz="2251" baseline="-31000">
              <a:latin typeface="DejaVu Serif" panose="02060603050605020204"/>
              <a:cs typeface="DejaVu Serif" panose="02060603050605020204"/>
            </a:endParaRPr>
          </a:p>
        </p:txBody>
      </p:sp>
      <p:graphicFrame>
        <p:nvGraphicFramePr>
          <p:cNvPr id="27" name="object 27"/>
          <p:cNvGraphicFramePr>
            <a:graphicFrameLocks noGrp="1"/>
          </p:cNvGraphicFramePr>
          <p:nvPr/>
        </p:nvGraphicFramePr>
        <p:xfrm>
          <a:off x="7322820" y="1614171"/>
          <a:ext cx="3657600" cy="45770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708">
                <a:tc>
                  <a:txBody>
                    <a:bodyPr/>
                    <a:lstStyle/>
                    <a:p>
                      <a:pPr marL="254000">
                        <a:lnSpc>
                          <a:spcPts val="2940"/>
                        </a:lnSpc>
                      </a:pPr>
                      <a:r>
                        <a:rPr sz="2700" b="1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R</a:t>
                      </a:r>
                      <a:r>
                        <a:rPr sz="2300" b="1" baseline="-31000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0</a:t>
                      </a:r>
                      <a:endParaRPr sz="2300" baseline="-31000">
                        <a:latin typeface="DejaVu Serif" panose="02060603050605020204"/>
                        <a:cs typeface="DejaVu Serif" panose="02060603050605020204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54000">
                        <a:lnSpc>
                          <a:spcPts val="2940"/>
                        </a:lnSpc>
                      </a:pPr>
                      <a:r>
                        <a:rPr sz="2700" b="1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R</a:t>
                      </a:r>
                      <a:r>
                        <a:rPr sz="2300" b="1" baseline="-31000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1</a:t>
                      </a:r>
                      <a:endParaRPr sz="2300" baseline="-31000">
                        <a:latin typeface="DejaVu Serif" panose="02060603050605020204"/>
                        <a:cs typeface="DejaVu Serif" panose="02060603050605020204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54000">
                        <a:lnSpc>
                          <a:spcPts val="2940"/>
                        </a:lnSpc>
                      </a:pPr>
                      <a:r>
                        <a:rPr sz="2700" b="1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R</a:t>
                      </a:r>
                      <a:r>
                        <a:rPr sz="2300" b="1" baseline="-31000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2</a:t>
                      </a:r>
                      <a:endParaRPr sz="2300" baseline="-31000">
                        <a:latin typeface="DejaVu Serif" panose="02060603050605020204"/>
                        <a:cs typeface="DejaVu Serif" panose="02060603050605020204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54000">
                        <a:lnSpc>
                          <a:spcPts val="2940"/>
                        </a:lnSpc>
                      </a:pPr>
                      <a:r>
                        <a:rPr sz="2700" b="1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R</a:t>
                      </a:r>
                      <a:r>
                        <a:rPr sz="2300" b="1" baseline="-31000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3</a:t>
                      </a:r>
                      <a:endParaRPr sz="2300" baseline="-31000">
                        <a:latin typeface="DejaVu Serif" panose="02060603050605020204"/>
                        <a:cs typeface="DejaVu Serif" panose="02060603050605020204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4" name="直接连接符 3"/>
          <p:cNvCxnSpPr/>
          <p:nvPr/>
        </p:nvCxnSpPr>
        <p:spPr>
          <a:xfrm>
            <a:off x="1117602" y="1782445"/>
            <a:ext cx="4102735" cy="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1120142" y="2273935"/>
            <a:ext cx="4102735" cy="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1117602" y="2734945"/>
            <a:ext cx="4102735" cy="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1037591" y="5972811"/>
            <a:ext cx="4102735" cy="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3" name="object 27"/>
          <p:cNvGraphicFramePr>
            <a:graphicFrameLocks noGrp="1"/>
          </p:cNvGraphicFramePr>
          <p:nvPr/>
        </p:nvGraphicFramePr>
        <p:xfrm>
          <a:off x="7325360" y="1607820"/>
          <a:ext cx="3657600" cy="45770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708">
                <a:tc>
                  <a:txBody>
                    <a:bodyPr/>
                    <a:lstStyle/>
                    <a:p>
                      <a:pPr marL="254000">
                        <a:lnSpc>
                          <a:spcPts val="2940"/>
                        </a:lnSpc>
                      </a:pPr>
                      <a:r>
                        <a:rPr sz="2700" b="1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R</a:t>
                      </a:r>
                      <a:r>
                        <a:rPr sz="2300" b="1" baseline="-31000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0</a:t>
                      </a:r>
                      <a:endParaRPr sz="2300" baseline="-31000">
                        <a:latin typeface="DejaVu Serif" panose="02060603050605020204"/>
                        <a:cs typeface="DejaVu Serif" panose="02060603050605020204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54000">
                        <a:lnSpc>
                          <a:spcPts val="2940"/>
                        </a:lnSpc>
                      </a:pPr>
                      <a:r>
                        <a:rPr sz="2700" b="1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R</a:t>
                      </a:r>
                      <a:r>
                        <a:rPr sz="2300" b="1" baseline="-31000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1</a:t>
                      </a:r>
                      <a:endParaRPr sz="2300" baseline="-31000">
                        <a:latin typeface="DejaVu Serif" panose="02060603050605020204"/>
                        <a:cs typeface="DejaVu Serif" panose="02060603050605020204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254000">
                        <a:lnSpc>
                          <a:spcPts val="2940"/>
                        </a:lnSpc>
                      </a:pPr>
                      <a:r>
                        <a:rPr sz="2700" b="1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R</a:t>
                      </a:r>
                      <a:r>
                        <a:rPr sz="2300" b="1" baseline="-31000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2</a:t>
                      </a:r>
                      <a:endParaRPr sz="2300" baseline="-31000">
                        <a:latin typeface="DejaVu Serif" panose="02060603050605020204"/>
                        <a:cs typeface="DejaVu Serif" panose="02060603050605020204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F00FF"/>
                    </a:solidFill>
                  </a:tcPr>
                </a:tc>
                <a:tc>
                  <a:txBody>
                    <a:bodyPr/>
                    <a:lstStyle/>
                    <a:p>
                      <a:pPr marL="254000">
                        <a:lnSpc>
                          <a:spcPts val="2940"/>
                        </a:lnSpc>
                      </a:pPr>
                      <a:r>
                        <a:rPr sz="2700" b="1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R</a:t>
                      </a:r>
                      <a:r>
                        <a:rPr sz="2300" b="1" baseline="-31000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3</a:t>
                      </a:r>
                      <a:endParaRPr sz="2300" baseline="-31000">
                        <a:latin typeface="DejaVu Serif" panose="02060603050605020204"/>
                        <a:cs typeface="DejaVu Serif" panose="02060603050605020204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00"/>
                                      </p:to>
                                    </p:animClr>
                                    <p:set>
                                      <p:cBhvr>
                                        <p:cTn id="13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FF"/>
                                      </p:to>
                                    </p:animClr>
                                    <p:set>
                                      <p:cBhvr>
                                        <p:cTn id="25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00"/>
                                      </p:to>
                                    </p:animClr>
                                    <p:set>
                                      <p:cBhvr>
                                        <p:cTn id="37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8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b="1" dirty="0">
                <a:latin typeface="楷体_GB2312" panose="02010609030101010101" charset="-122"/>
                <a:ea typeface="楷体_GB2312" panose="02010609030101010101" charset="-122"/>
                <a:sym typeface="+mn-ea"/>
              </a:rPr>
              <a:t>寄存器分配示例</a:t>
            </a:r>
            <a:r>
              <a:rPr lang="en-US" altLang="zh-CN" b="1" dirty="0">
                <a:latin typeface="楷体_GB2312" panose="02010609030101010101" charset="-122"/>
                <a:ea typeface="楷体_GB2312" panose="02010609030101010101" charset="-122"/>
                <a:sym typeface="+mn-ea"/>
              </a:rPr>
              <a:t>2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31</a:t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object 3"/>
          <p:cNvSpPr txBox="1"/>
          <p:nvPr/>
        </p:nvSpPr>
        <p:spPr>
          <a:xfrm>
            <a:off x="6197603" y="1826096"/>
            <a:ext cx="408305" cy="3847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960"/>
              </a:lnSpc>
            </a:pPr>
            <a:r>
              <a:rPr sz="2600" b="1" spc="-5" dirty="0">
                <a:solidFill>
                  <a:srgbClr val="191919"/>
                </a:solidFill>
                <a:latin typeface="DejaVu Serif" panose="02060603050605020204"/>
                <a:cs typeface="DejaVu Serif" panose="02060603050605020204"/>
              </a:rPr>
              <a:t>R</a:t>
            </a:r>
            <a:r>
              <a:rPr sz="2251" b="1" spc="7" baseline="-31000" dirty="0">
                <a:solidFill>
                  <a:srgbClr val="191919"/>
                </a:solidFill>
                <a:latin typeface="DejaVu Serif" panose="02060603050605020204"/>
                <a:cs typeface="DejaVu Serif" panose="02060603050605020204"/>
              </a:rPr>
              <a:t>0</a:t>
            </a:r>
            <a:endParaRPr sz="2251" baseline="-31000">
              <a:latin typeface="DejaVu Serif" panose="02060603050605020204"/>
              <a:cs typeface="DejaVu Serif" panose="02060603050605020204"/>
            </a:endParaRPr>
          </a:p>
        </p:txBody>
      </p:sp>
      <p:sp>
        <p:nvSpPr>
          <p:cNvPr id="6" name="object 4"/>
          <p:cNvSpPr txBox="1"/>
          <p:nvPr/>
        </p:nvSpPr>
        <p:spPr>
          <a:xfrm>
            <a:off x="7112003" y="1826096"/>
            <a:ext cx="408305" cy="3847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960"/>
              </a:lnSpc>
            </a:pPr>
            <a:r>
              <a:rPr sz="2600" b="1" spc="-5" dirty="0">
                <a:solidFill>
                  <a:srgbClr val="191919"/>
                </a:solidFill>
                <a:latin typeface="DejaVu Serif" panose="02060603050605020204"/>
                <a:cs typeface="DejaVu Serif" panose="02060603050605020204"/>
              </a:rPr>
              <a:t>R</a:t>
            </a:r>
            <a:r>
              <a:rPr sz="2251" b="1" spc="7" baseline="-31000" dirty="0">
                <a:solidFill>
                  <a:srgbClr val="191919"/>
                </a:solidFill>
                <a:latin typeface="DejaVu Serif" panose="02060603050605020204"/>
                <a:cs typeface="DejaVu Serif" panose="02060603050605020204"/>
              </a:rPr>
              <a:t>1</a:t>
            </a:r>
            <a:endParaRPr sz="2251" baseline="-31000">
              <a:latin typeface="DejaVu Serif" panose="02060603050605020204"/>
              <a:cs typeface="DejaVu Serif" panose="02060603050605020204"/>
            </a:endParaRPr>
          </a:p>
        </p:txBody>
      </p:sp>
      <p:sp>
        <p:nvSpPr>
          <p:cNvPr id="14" name="object 5"/>
          <p:cNvSpPr txBox="1"/>
          <p:nvPr/>
        </p:nvSpPr>
        <p:spPr>
          <a:xfrm>
            <a:off x="8026403" y="1826096"/>
            <a:ext cx="408305" cy="3847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960"/>
              </a:lnSpc>
            </a:pPr>
            <a:r>
              <a:rPr sz="2600" b="1" spc="-5" dirty="0">
                <a:solidFill>
                  <a:srgbClr val="191919"/>
                </a:solidFill>
                <a:latin typeface="DejaVu Serif" panose="02060603050605020204"/>
                <a:cs typeface="DejaVu Serif" panose="02060603050605020204"/>
              </a:rPr>
              <a:t>R</a:t>
            </a:r>
            <a:r>
              <a:rPr sz="2251" b="1" spc="7" baseline="-31000" dirty="0">
                <a:solidFill>
                  <a:srgbClr val="191919"/>
                </a:solidFill>
                <a:latin typeface="DejaVu Serif" panose="02060603050605020204"/>
                <a:cs typeface="DejaVu Serif" panose="02060603050605020204"/>
              </a:rPr>
              <a:t>2</a:t>
            </a:r>
            <a:endParaRPr sz="2251" baseline="-31000">
              <a:latin typeface="DejaVu Serif" panose="02060603050605020204"/>
              <a:cs typeface="DejaVu Serif" panose="02060603050605020204"/>
            </a:endParaRPr>
          </a:p>
        </p:txBody>
      </p:sp>
      <p:graphicFrame>
        <p:nvGraphicFramePr>
          <p:cNvPr id="15" name="object 6"/>
          <p:cNvGraphicFramePr>
            <a:graphicFrameLocks noGrp="1"/>
          </p:cNvGraphicFramePr>
          <p:nvPr/>
        </p:nvGraphicFramePr>
        <p:xfrm>
          <a:off x="5943600" y="1828800"/>
          <a:ext cx="2743200" cy="45770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708">
                <a:tc>
                  <a:txBody>
                    <a:bodyPr/>
                    <a:lstStyle/>
                    <a:p>
                      <a:pPr marL="254000">
                        <a:lnSpc>
                          <a:spcPts val="2940"/>
                        </a:lnSpc>
                      </a:pPr>
                      <a:r>
                        <a:rPr sz="2700" b="1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R</a:t>
                      </a:r>
                      <a:r>
                        <a:rPr sz="2300" b="1" baseline="-31000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0</a:t>
                      </a:r>
                      <a:endParaRPr sz="2300" baseline="-31000">
                        <a:latin typeface="DejaVu Serif" panose="02060603050605020204"/>
                        <a:cs typeface="DejaVu Serif" panose="02060603050605020204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254000">
                        <a:lnSpc>
                          <a:spcPts val="2940"/>
                        </a:lnSpc>
                      </a:pPr>
                      <a:r>
                        <a:rPr sz="2700" b="1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R</a:t>
                      </a:r>
                      <a:r>
                        <a:rPr sz="2300" b="1" baseline="-31000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1</a:t>
                      </a:r>
                      <a:endParaRPr sz="2300" baseline="-31000">
                        <a:latin typeface="DejaVu Serif" panose="02060603050605020204"/>
                        <a:cs typeface="DejaVu Serif" panose="02060603050605020204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254000">
                        <a:lnSpc>
                          <a:spcPts val="2940"/>
                        </a:lnSpc>
                      </a:pPr>
                      <a:r>
                        <a:rPr sz="2700" b="1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R</a:t>
                      </a:r>
                      <a:r>
                        <a:rPr sz="2300" b="1" baseline="-31000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2</a:t>
                      </a:r>
                      <a:endParaRPr sz="2300" baseline="-31000">
                        <a:latin typeface="DejaVu Serif" panose="02060603050605020204"/>
                        <a:cs typeface="DejaVu Serif" panose="02060603050605020204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F0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6" name="object 7"/>
          <p:cNvSpPr txBox="1"/>
          <p:nvPr/>
        </p:nvSpPr>
        <p:spPr>
          <a:xfrm>
            <a:off x="1524003" y="1456052"/>
            <a:ext cx="153035" cy="2789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65"/>
              </a:lnSpc>
            </a:pPr>
            <a:r>
              <a:rPr sz="2000" b="1" dirty="0">
                <a:solidFill>
                  <a:srgbClr val="191919"/>
                </a:solidFill>
                <a:latin typeface="Courier New" panose="02070409020205020404"/>
                <a:cs typeface="Courier New" panose="02070409020205020404"/>
              </a:rPr>
              <a:t>b</a:t>
            </a:r>
            <a:endParaRPr sz="2000">
              <a:latin typeface="Courier New" panose="02070409020205020404"/>
              <a:cs typeface="Courier New" panose="02070409020205020404"/>
            </a:endParaRPr>
          </a:p>
        </p:txBody>
      </p:sp>
      <p:sp>
        <p:nvSpPr>
          <p:cNvPr id="17" name="object 8"/>
          <p:cNvSpPr/>
          <p:nvPr/>
        </p:nvSpPr>
        <p:spPr>
          <a:xfrm>
            <a:off x="1372869" y="1371600"/>
            <a:ext cx="455931" cy="455931"/>
          </a:xfrm>
          <a:custGeom>
            <a:avLst/>
            <a:gdLst/>
            <a:ahLst/>
            <a:cxnLst/>
            <a:rect l="l" t="t" r="r" b="b"/>
            <a:pathLst>
              <a:path w="455930" h="455930">
                <a:moveTo>
                  <a:pt x="455930" y="0"/>
                </a:moveTo>
                <a:lnTo>
                  <a:pt x="0" y="0"/>
                </a:lnTo>
                <a:lnTo>
                  <a:pt x="0" y="455929"/>
                </a:lnTo>
                <a:lnTo>
                  <a:pt x="455930" y="45592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9"/>
          <p:cNvSpPr txBox="1"/>
          <p:nvPr/>
        </p:nvSpPr>
        <p:spPr>
          <a:xfrm>
            <a:off x="1066801" y="1456050"/>
            <a:ext cx="153035" cy="2789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65"/>
              </a:lnSpc>
            </a:pPr>
            <a:r>
              <a:rPr sz="2000" b="1" dirty="0">
                <a:solidFill>
                  <a:srgbClr val="191919"/>
                </a:solidFill>
                <a:latin typeface="Courier New" panose="02070409020205020404"/>
                <a:cs typeface="Courier New" panose="02070409020205020404"/>
              </a:rPr>
              <a:t>b</a:t>
            </a:r>
            <a:endParaRPr sz="2000">
              <a:latin typeface="Courier New" panose="02070409020205020404"/>
              <a:cs typeface="Courier New" panose="02070409020205020404"/>
            </a:endParaRPr>
          </a:p>
        </p:txBody>
      </p:sp>
      <p:sp>
        <p:nvSpPr>
          <p:cNvPr id="19" name="object 10"/>
          <p:cNvSpPr/>
          <p:nvPr/>
        </p:nvSpPr>
        <p:spPr>
          <a:xfrm>
            <a:off x="915669" y="1372869"/>
            <a:ext cx="455931" cy="455931"/>
          </a:xfrm>
          <a:custGeom>
            <a:avLst/>
            <a:gdLst/>
            <a:ahLst/>
            <a:cxnLst/>
            <a:rect l="l" t="t" r="r" b="b"/>
            <a:pathLst>
              <a:path w="455930" h="455930">
                <a:moveTo>
                  <a:pt x="455930" y="0"/>
                </a:moveTo>
                <a:lnTo>
                  <a:pt x="0" y="0"/>
                </a:lnTo>
                <a:lnTo>
                  <a:pt x="0" y="455929"/>
                </a:lnTo>
                <a:lnTo>
                  <a:pt x="455930" y="45592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11"/>
          <p:cNvSpPr txBox="1"/>
          <p:nvPr/>
        </p:nvSpPr>
        <p:spPr>
          <a:xfrm>
            <a:off x="3810003" y="1456052"/>
            <a:ext cx="153035" cy="2789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65"/>
              </a:lnSpc>
            </a:pPr>
            <a:r>
              <a:rPr sz="2000" b="1" dirty="0">
                <a:solidFill>
                  <a:srgbClr val="191919"/>
                </a:solidFill>
                <a:latin typeface="Courier New" panose="02070409020205020404"/>
                <a:cs typeface="Courier New" panose="02070409020205020404"/>
              </a:rPr>
              <a:t>b</a:t>
            </a:r>
            <a:endParaRPr sz="2000">
              <a:latin typeface="Courier New" panose="02070409020205020404"/>
              <a:cs typeface="Courier New" panose="02070409020205020404"/>
            </a:endParaRPr>
          </a:p>
        </p:txBody>
      </p:sp>
      <p:sp>
        <p:nvSpPr>
          <p:cNvPr id="21" name="object 12"/>
          <p:cNvSpPr/>
          <p:nvPr/>
        </p:nvSpPr>
        <p:spPr>
          <a:xfrm>
            <a:off x="3657600" y="1371602"/>
            <a:ext cx="457200" cy="455931"/>
          </a:xfrm>
          <a:custGeom>
            <a:avLst/>
            <a:gdLst/>
            <a:ahLst/>
            <a:cxnLst/>
            <a:rect l="l" t="t" r="r" b="b"/>
            <a:pathLst>
              <a:path w="457200" h="455930">
                <a:moveTo>
                  <a:pt x="457200" y="0"/>
                </a:moveTo>
                <a:lnTo>
                  <a:pt x="0" y="0"/>
                </a:lnTo>
                <a:lnTo>
                  <a:pt x="0" y="455929"/>
                </a:lnTo>
                <a:lnTo>
                  <a:pt x="457200" y="45592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13"/>
          <p:cNvSpPr txBox="1"/>
          <p:nvPr/>
        </p:nvSpPr>
        <p:spPr>
          <a:xfrm>
            <a:off x="2895603" y="1456052"/>
            <a:ext cx="153035" cy="2789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65"/>
              </a:lnSpc>
            </a:pPr>
            <a:r>
              <a:rPr sz="2000" b="1" dirty="0">
                <a:solidFill>
                  <a:srgbClr val="191919"/>
                </a:solidFill>
                <a:latin typeface="Courier New" panose="02070409020205020404"/>
                <a:cs typeface="Courier New" panose="02070409020205020404"/>
              </a:rPr>
              <a:t>b</a:t>
            </a:r>
            <a:endParaRPr sz="2000">
              <a:latin typeface="Courier New" panose="02070409020205020404"/>
              <a:cs typeface="Courier New" panose="02070409020205020404"/>
            </a:endParaRPr>
          </a:p>
        </p:txBody>
      </p:sp>
      <p:sp>
        <p:nvSpPr>
          <p:cNvPr id="28" name="object 14"/>
          <p:cNvSpPr/>
          <p:nvPr/>
        </p:nvSpPr>
        <p:spPr>
          <a:xfrm>
            <a:off x="2744471" y="1371602"/>
            <a:ext cx="455931" cy="455931"/>
          </a:xfrm>
          <a:custGeom>
            <a:avLst/>
            <a:gdLst/>
            <a:ahLst/>
            <a:cxnLst/>
            <a:rect l="l" t="t" r="r" b="b"/>
            <a:pathLst>
              <a:path w="455930" h="455930">
                <a:moveTo>
                  <a:pt x="455930" y="0"/>
                </a:moveTo>
                <a:lnTo>
                  <a:pt x="0" y="0"/>
                </a:lnTo>
                <a:lnTo>
                  <a:pt x="0" y="455929"/>
                </a:lnTo>
                <a:lnTo>
                  <a:pt x="455930" y="45592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15"/>
          <p:cNvSpPr txBox="1"/>
          <p:nvPr/>
        </p:nvSpPr>
        <p:spPr>
          <a:xfrm>
            <a:off x="3352803" y="1456052"/>
            <a:ext cx="153035" cy="2789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65"/>
              </a:lnSpc>
            </a:pPr>
            <a:r>
              <a:rPr sz="2000" b="1" dirty="0">
                <a:solidFill>
                  <a:srgbClr val="191919"/>
                </a:solidFill>
                <a:latin typeface="Courier New" panose="02070409020205020404"/>
                <a:cs typeface="Courier New" panose="02070409020205020404"/>
              </a:rPr>
              <a:t>b</a:t>
            </a:r>
            <a:endParaRPr sz="2000">
              <a:latin typeface="Courier New" panose="02070409020205020404"/>
              <a:cs typeface="Courier New" panose="02070409020205020404"/>
            </a:endParaRPr>
          </a:p>
        </p:txBody>
      </p:sp>
      <p:sp>
        <p:nvSpPr>
          <p:cNvPr id="30" name="object 16"/>
          <p:cNvSpPr/>
          <p:nvPr/>
        </p:nvSpPr>
        <p:spPr>
          <a:xfrm>
            <a:off x="3200400" y="1371602"/>
            <a:ext cx="457200" cy="455931"/>
          </a:xfrm>
          <a:custGeom>
            <a:avLst/>
            <a:gdLst/>
            <a:ahLst/>
            <a:cxnLst/>
            <a:rect l="l" t="t" r="r" b="b"/>
            <a:pathLst>
              <a:path w="457200" h="455930">
                <a:moveTo>
                  <a:pt x="457200" y="0"/>
                </a:moveTo>
                <a:lnTo>
                  <a:pt x="0" y="0"/>
                </a:lnTo>
                <a:lnTo>
                  <a:pt x="0" y="455929"/>
                </a:lnTo>
                <a:lnTo>
                  <a:pt x="457200" y="45592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17"/>
          <p:cNvSpPr txBox="1"/>
          <p:nvPr/>
        </p:nvSpPr>
        <p:spPr>
          <a:xfrm>
            <a:off x="2861313" y="1344930"/>
            <a:ext cx="1137285" cy="4129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600" b="1" dirty="0">
                <a:solidFill>
                  <a:srgbClr val="191919"/>
                </a:solidFill>
                <a:latin typeface="Courier New" panose="02070409020205020404"/>
                <a:cs typeface="Courier New" panose="02070409020205020404"/>
              </a:rPr>
              <a:t>e f</a:t>
            </a:r>
            <a:r>
              <a:rPr sz="2600" b="1" spc="840" dirty="0">
                <a:solidFill>
                  <a:srgbClr val="191919"/>
                </a:solidFill>
                <a:latin typeface="Courier New" panose="02070409020205020404"/>
                <a:cs typeface="Courier New" panose="02070409020205020404"/>
              </a:rPr>
              <a:t> </a:t>
            </a:r>
            <a:r>
              <a:rPr sz="2600" b="1" dirty="0">
                <a:solidFill>
                  <a:srgbClr val="191919"/>
                </a:solidFill>
                <a:latin typeface="Courier New" panose="02070409020205020404"/>
                <a:cs typeface="Courier New" panose="02070409020205020404"/>
              </a:rPr>
              <a:t>g</a:t>
            </a:r>
            <a:endParaRPr sz="2600">
              <a:latin typeface="Courier New" panose="02070409020205020404"/>
              <a:cs typeface="Courier New" panose="02070409020205020404"/>
            </a:endParaRPr>
          </a:p>
        </p:txBody>
      </p:sp>
      <p:sp>
        <p:nvSpPr>
          <p:cNvPr id="32" name="object 18"/>
          <p:cNvSpPr txBox="1"/>
          <p:nvPr/>
        </p:nvSpPr>
        <p:spPr>
          <a:xfrm>
            <a:off x="1032511" y="1346201"/>
            <a:ext cx="1137285" cy="4129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600" b="1" dirty="0">
                <a:solidFill>
                  <a:srgbClr val="191919"/>
                </a:solidFill>
                <a:latin typeface="Courier New" panose="02070409020205020404"/>
                <a:cs typeface="Courier New" panose="02070409020205020404"/>
              </a:rPr>
              <a:t>a b</a:t>
            </a:r>
            <a:r>
              <a:rPr sz="2600" b="1" spc="840" dirty="0">
                <a:solidFill>
                  <a:srgbClr val="191919"/>
                </a:solidFill>
                <a:latin typeface="Courier New" panose="02070409020205020404"/>
                <a:cs typeface="Courier New" panose="02070409020205020404"/>
              </a:rPr>
              <a:t> </a:t>
            </a:r>
            <a:r>
              <a:rPr sz="2600" b="1" dirty="0">
                <a:solidFill>
                  <a:srgbClr val="191919"/>
                </a:solidFill>
                <a:latin typeface="Courier New" panose="02070409020205020404"/>
                <a:cs typeface="Courier New" panose="02070409020205020404"/>
              </a:rPr>
              <a:t>c</a:t>
            </a:r>
            <a:endParaRPr sz="2600">
              <a:latin typeface="Courier New" panose="02070409020205020404"/>
              <a:cs typeface="Courier New" panose="02070409020205020404"/>
            </a:endParaRPr>
          </a:p>
        </p:txBody>
      </p:sp>
      <p:sp>
        <p:nvSpPr>
          <p:cNvPr id="33" name="object 19"/>
          <p:cNvSpPr txBox="1"/>
          <p:nvPr/>
        </p:nvSpPr>
        <p:spPr>
          <a:xfrm>
            <a:off x="2438403" y="1456052"/>
            <a:ext cx="153035" cy="2789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65"/>
              </a:lnSpc>
            </a:pPr>
            <a:r>
              <a:rPr sz="2000" b="1" dirty="0">
                <a:solidFill>
                  <a:srgbClr val="191919"/>
                </a:solidFill>
                <a:latin typeface="Courier New" panose="02070409020205020404"/>
                <a:cs typeface="Courier New" panose="02070409020205020404"/>
              </a:rPr>
              <a:t>b</a:t>
            </a:r>
            <a:endParaRPr sz="2000">
              <a:latin typeface="Courier New" panose="02070409020205020404"/>
              <a:cs typeface="Courier New" panose="02070409020205020404"/>
            </a:endParaRPr>
          </a:p>
        </p:txBody>
      </p:sp>
      <p:sp>
        <p:nvSpPr>
          <p:cNvPr id="34" name="object 20"/>
          <p:cNvSpPr/>
          <p:nvPr/>
        </p:nvSpPr>
        <p:spPr>
          <a:xfrm>
            <a:off x="2287271" y="1372871"/>
            <a:ext cx="455931" cy="455931"/>
          </a:xfrm>
          <a:custGeom>
            <a:avLst/>
            <a:gdLst/>
            <a:ahLst/>
            <a:cxnLst/>
            <a:rect l="l" t="t" r="r" b="b"/>
            <a:pathLst>
              <a:path w="455930" h="455930">
                <a:moveTo>
                  <a:pt x="455930" y="0"/>
                </a:moveTo>
                <a:lnTo>
                  <a:pt x="0" y="0"/>
                </a:lnTo>
                <a:lnTo>
                  <a:pt x="0" y="455929"/>
                </a:lnTo>
                <a:lnTo>
                  <a:pt x="455930" y="45592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21"/>
          <p:cNvSpPr txBox="1"/>
          <p:nvPr/>
        </p:nvSpPr>
        <p:spPr>
          <a:xfrm>
            <a:off x="2396491" y="1327153"/>
            <a:ext cx="239395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800" b="1" dirty="0">
                <a:solidFill>
                  <a:srgbClr val="191919"/>
                </a:solidFill>
                <a:latin typeface="Courier New" panose="02070409020205020404"/>
                <a:cs typeface="Courier New" panose="02070409020205020404"/>
              </a:rPr>
              <a:t>d</a:t>
            </a:r>
            <a:endParaRPr sz="2800">
              <a:latin typeface="Courier New" panose="02070409020205020404"/>
              <a:cs typeface="Courier New" panose="02070409020205020404"/>
            </a:endParaRPr>
          </a:p>
        </p:txBody>
      </p:sp>
      <p:sp>
        <p:nvSpPr>
          <p:cNvPr id="38" name="object 24"/>
          <p:cNvSpPr/>
          <p:nvPr/>
        </p:nvSpPr>
        <p:spPr>
          <a:xfrm>
            <a:off x="914400" y="1830069"/>
            <a:ext cx="457200" cy="4113531"/>
          </a:xfrm>
          <a:custGeom>
            <a:avLst/>
            <a:gdLst/>
            <a:ahLst/>
            <a:cxnLst/>
            <a:rect l="l" t="t" r="r" b="b"/>
            <a:pathLst>
              <a:path w="457200" h="4113529">
                <a:moveTo>
                  <a:pt x="457200" y="0"/>
                </a:moveTo>
                <a:lnTo>
                  <a:pt x="0" y="0"/>
                </a:lnTo>
                <a:lnTo>
                  <a:pt x="0" y="4113529"/>
                </a:lnTo>
                <a:lnTo>
                  <a:pt x="457200" y="4113529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25"/>
          <p:cNvSpPr/>
          <p:nvPr/>
        </p:nvSpPr>
        <p:spPr>
          <a:xfrm>
            <a:off x="914400" y="1830069"/>
            <a:ext cx="457200" cy="4113531"/>
          </a:xfrm>
          <a:custGeom>
            <a:avLst/>
            <a:gdLst/>
            <a:ahLst/>
            <a:cxnLst/>
            <a:rect l="l" t="t" r="r" b="b"/>
            <a:pathLst>
              <a:path w="457200" h="4113529">
                <a:moveTo>
                  <a:pt x="228600" y="4113529"/>
                </a:moveTo>
                <a:lnTo>
                  <a:pt x="0" y="4113529"/>
                </a:lnTo>
                <a:lnTo>
                  <a:pt x="0" y="0"/>
                </a:lnTo>
                <a:lnTo>
                  <a:pt x="457200" y="0"/>
                </a:lnTo>
                <a:lnTo>
                  <a:pt x="457200" y="4113529"/>
                </a:lnTo>
                <a:lnTo>
                  <a:pt x="228600" y="4113529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26"/>
          <p:cNvSpPr/>
          <p:nvPr/>
        </p:nvSpPr>
        <p:spPr>
          <a:xfrm>
            <a:off x="1372869" y="1828800"/>
            <a:ext cx="455931" cy="1371600"/>
          </a:xfrm>
          <a:custGeom>
            <a:avLst/>
            <a:gdLst/>
            <a:ahLst/>
            <a:cxnLst/>
            <a:rect l="l" t="t" r="r" b="b"/>
            <a:pathLst>
              <a:path w="455930" h="1371600">
                <a:moveTo>
                  <a:pt x="455930" y="0"/>
                </a:moveTo>
                <a:lnTo>
                  <a:pt x="0" y="0"/>
                </a:lnTo>
                <a:lnTo>
                  <a:pt x="0" y="1371600"/>
                </a:lnTo>
                <a:lnTo>
                  <a:pt x="455930" y="1371600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27"/>
          <p:cNvSpPr/>
          <p:nvPr/>
        </p:nvSpPr>
        <p:spPr>
          <a:xfrm>
            <a:off x="1372869" y="1828800"/>
            <a:ext cx="455931" cy="1371600"/>
          </a:xfrm>
          <a:custGeom>
            <a:avLst/>
            <a:gdLst/>
            <a:ahLst/>
            <a:cxnLst/>
            <a:rect l="l" t="t" r="r" b="b"/>
            <a:pathLst>
              <a:path w="455930" h="1371600">
                <a:moveTo>
                  <a:pt x="228600" y="1371600"/>
                </a:moveTo>
                <a:lnTo>
                  <a:pt x="0" y="1371600"/>
                </a:lnTo>
                <a:lnTo>
                  <a:pt x="0" y="0"/>
                </a:lnTo>
                <a:lnTo>
                  <a:pt x="455930" y="0"/>
                </a:lnTo>
                <a:lnTo>
                  <a:pt x="455930" y="1371600"/>
                </a:lnTo>
                <a:lnTo>
                  <a:pt x="228600" y="137160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28"/>
          <p:cNvSpPr/>
          <p:nvPr/>
        </p:nvSpPr>
        <p:spPr>
          <a:xfrm>
            <a:off x="1830071" y="1830071"/>
            <a:ext cx="455931" cy="914400"/>
          </a:xfrm>
          <a:custGeom>
            <a:avLst/>
            <a:gdLst/>
            <a:ahLst/>
            <a:cxnLst/>
            <a:rect l="l" t="t" r="r" b="b"/>
            <a:pathLst>
              <a:path w="455930" h="914400">
                <a:moveTo>
                  <a:pt x="455930" y="0"/>
                </a:moveTo>
                <a:lnTo>
                  <a:pt x="0" y="0"/>
                </a:lnTo>
                <a:lnTo>
                  <a:pt x="0" y="914400"/>
                </a:lnTo>
                <a:lnTo>
                  <a:pt x="455930" y="914400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29"/>
          <p:cNvSpPr/>
          <p:nvPr/>
        </p:nvSpPr>
        <p:spPr>
          <a:xfrm>
            <a:off x="1830071" y="1830071"/>
            <a:ext cx="455931" cy="914400"/>
          </a:xfrm>
          <a:custGeom>
            <a:avLst/>
            <a:gdLst/>
            <a:ahLst/>
            <a:cxnLst/>
            <a:rect l="l" t="t" r="r" b="b"/>
            <a:pathLst>
              <a:path w="455930" h="914400">
                <a:moveTo>
                  <a:pt x="228600" y="914400"/>
                </a:moveTo>
                <a:lnTo>
                  <a:pt x="0" y="914400"/>
                </a:lnTo>
                <a:lnTo>
                  <a:pt x="0" y="0"/>
                </a:lnTo>
                <a:lnTo>
                  <a:pt x="455930" y="0"/>
                </a:lnTo>
                <a:lnTo>
                  <a:pt x="455930" y="914400"/>
                </a:lnTo>
                <a:lnTo>
                  <a:pt x="228600" y="91440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30"/>
          <p:cNvSpPr/>
          <p:nvPr/>
        </p:nvSpPr>
        <p:spPr>
          <a:xfrm>
            <a:off x="2287271" y="2286002"/>
            <a:ext cx="455931" cy="3199131"/>
          </a:xfrm>
          <a:custGeom>
            <a:avLst/>
            <a:gdLst/>
            <a:ahLst/>
            <a:cxnLst/>
            <a:rect l="l" t="t" r="r" b="b"/>
            <a:pathLst>
              <a:path w="455930" h="3199129">
                <a:moveTo>
                  <a:pt x="455930" y="0"/>
                </a:moveTo>
                <a:lnTo>
                  <a:pt x="0" y="0"/>
                </a:lnTo>
                <a:lnTo>
                  <a:pt x="0" y="3199130"/>
                </a:lnTo>
                <a:lnTo>
                  <a:pt x="455930" y="3199130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31"/>
          <p:cNvSpPr/>
          <p:nvPr/>
        </p:nvSpPr>
        <p:spPr>
          <a:xfrm>
            <a:off x="2287271" y="2286002"/>
            <a:ext cx="455931" cy="3199131"/>
          </a:xfrm>
          <a:custGeom>
            <a:avLst/>
            <a:gdLst/>
            <a:ahLst/>
            <a:cxnLst/>
            <a:rect l="l" t="t" r="r" b="b"/>
            <a:pathLst>
              <a:path w="455930" h="3199129">
                <a:moveTo>
                  <a:pt x="227330" y="3199130"/>
                </a:moveTo>
                <a:lnTo>
                  <a:pt x="0" y="3199130"/>
                </a:lnTo>
                <a:lnTo>
                  <a:pt x="0" y="0"/>
                </a:lnTo>
                <a:lnTo>
                  <a:pt x="455930" y="0"/>
                </a:lnTo>
                <a:lnTo>
                  <a:pt x="455930" y="3199130"/>
                </a:lnTo>
                <a:lnTo>
                  <a:pt x="227330" y="319913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32"/>
          <p:cNvSpPr/>
          <p:nvPr/>
        </p:nvSpPr>
        <p:spPr>
          <a:xfrm>
            <a:off x="2743200" y="2743200"/>
            <a:ext cx="457200" cy="2286000"/>
          </a:xfrm>
          <a:custGeom>
            <a:avLst/>
            <a:gdLst/>
            <a:ahLst/>
            <a:cxnLst/>
            <a:rect l="l" t="t" r="r" b="b"/>
            <a:pathLst>
              <a:path w="457200" h="2286000">
                <a:moveTo>
                  <a:pt x="457200" y="0"/>
                </a:moveTo>
                <a:lnTo>
                  <a:pt x="0" y="0"/>
                </a:lnTo>
                <a:lnTo>
                  <a:pt x="0" y="2286000"/>
                </a:lnTo>
                <a:lnTo>
                  <a:pt x="457200" y="2286000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33"/>
          <p:cNvSpPr/>
          <p:nvPr/>
        </p:nvSpPr>
        <p:spPr>
          <a:xfrm>
            <a:off x="2743200" y="2743200"/>
            <a:ext cx="457200" cy="2286000"/>
          </a:xfrm>
          <a:custGeom>
            <a:avLst/>
            <a:gdLst/>
            <a:ahLst/>
            <a:cxnLst/>
            <a:rect l="l" t="t" r="r" b="b"/>
            <a:pathLst>
              <a:path w="457200" h="2286000">
                <a:moveTo>
                  <a:pt x="228600" y="2286000"/>
                </a:moveTo>
                <a:lnTo>
                  <a:pt x="0" y="2286000"/>
                </a:lnTo>
                <a:lnTo>
                  <a:pt x="0" y="0"/>
                </a:lnTo>
                <a:lnTo>
                  <a:pt x="457200" y="0"/>
                </a:lnTo>
                <a:lnTo>
                  <a:pt x="457200" y="2286000"/>
                </a:lnTo>
                <a:lnTo>
                  <a:pt x="228600" y="228600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34"/>
          <p:cNvSpPr/>
          <p:nvPr/>
        </p:nvSpPr>
        <p:spPr>
          <a:xfrm>
            <a:off x="3200400" y="2744471"/>
            <a:ext cx="457200" cy="3199131"/>
          </a:xfrm>
          <a:custGeom>
            <a:avLst/>
            <a:gdLst/>
            <a:ahLst/>
            <a:cxnLst/>
            <a:rect l="l" t="t" r="r" b="b"/>
            <a:pathLst>
              <a:path w="457200" h="3199129">
                <a:moveTo>
                  <a:pt x="457200" y="0"/>
                </a:moveTo>
                <a:lnTo>
                  <a:pt x="0" y="0"/>
                </a:lnTo>
                <a:lnTo>
                  <a:pt x="0" y="3199129"/>
                </a:lnTo>
                <a:lnTo>
                  <a:pt x="457200" y="3199129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35"/>
          <p:cNvSpPr/>
          <p:nvPr/>
        </p:nvSpPr>
        <p:spPr>
          <a:xfrm>
            <a:off x="3200400" y="2744471"/>
            <a:ext cx="457200" cy="3199131"/>
          </a:xfrm>
          <a:custGeom>
            <a:avLst/>
            <a:gdLst/>
            <a:ahLst/>
            <a:cxnLst/>
            <a:rect l="l" t="t" r="r" b="b"/>
            <a:pathLst>
              <a:path w="457200" h="3199129">
                <a:moveTo>
                  <a:pt x="228600" y="3199129"/>
                </a:moveTo>
                <a:lnTo>
                  <a:pt x="0" y="3199129"/>
                </a:lnTo>
                <a:lnTo>
                  <a:pt x="0" y="0"/>
                </a:lnTo>
                <a:lnTo>
                  <a:pt x="457200" y="0"/>
                </a:lnTo>
                <a:lnTo>
                  <a:pt x="457200" y="3199129"/>
                </a:lnTo>
                <a:lnTo>
                  <a:pt x="228600" y="3199129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36"/>
          <p:cNvSpPr/>
          <p:nvPr/>
        </p:nvSpPr>
        <p:spPr>
          <a:xfrm>
            <a:off x="3657600" y="3200400"/>
            <a:ext cx="457200" cy="2286000"/>
          </a:xfrm>
          <a:custGeom>
            <a:avLst/>
            <a:gdLst/>
            <a:ahLst/>
            <a:cxnLst/>
            <a:rect l="l" t="t" r="r" b="b"/>
            <a:pathLst>
              <a:path w="457200" h="2286000">
                <a:moveTo>
                  <a:pt x="457200" y="0"/>
                </a:moveTo>
                <a:lnTo>
                  <a:pt x="0" y="0"/>
                </a:lnTo>
                <a:lnTo>
                  <a:pt x="0" y="2286000"/>
                </a:lnTo>
                <a:lnTo>
                  <a:pt x="457200" y="2286000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37"/>
          <p:cNvSpPr/>
          <p:nvPr/>
        </p:nvSpPr>
        <p:spPr>
          <a:xfrm>
            <a:off x="3657600" y="3200400"/>
            <a:ext cx="457200" cy="2286000"/>
          </a:xfrm>
          <a:custGeom>
            <a:avLst/>
            <a:gdLst/>
            <a:ahLst/>
            <a:cxnLst/>
            <a:rect l="l" t="t" r="r" b="b"/>
            <a:pathLst>
              <a:path w="457200" h="2286000">
                <a:moveTo>
                  <a:pt x="228600" y="2286000"/>
                </a:moveTo>
                <a:lnTo>
                  <a:pt x="0" y="2286000"/>
                </a:lnTo>
                <a:lnTo>
                  <a:pt x="0" y="0"/>
                </a:lnTo>
                <a:lnTo>
                  <a:pt x="457200" y="0"/>
                </a:lnTo>
                <a:lnTo>
                  <a:pt x="457200" y="2286000"/>
                </a:lnTo>
                <a:lnTo>
                  <a:pt x="228600" y="228600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cxnSp>
        <p:nvCxnSpPr>
          <p:cNvPr id="63" name="直接连接符 62"/>
          <p:cNvCxnSpPr/>
          <p:nvPr/>
        </p:nvCxnSpPr>
        <p:spPr>
          <a:xfrm>
            <a:off x="748031" y="2057400"/>
            <a:ext cx="4102735" cy="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b="1" dirty="0">
                <a:latin typeface="楷体_GB2312" panose="02010609030101010101" charset="-122"/>
                <a:ea typeface="楷体_GB2312" panose="02010609030101010101" charset="-122"/>
                <a:sym typeface="+mn-ea"/>
              </a:rPr>
              <a:t>寄存器分配示例</a:t>
            </a:r>
            <a:r>
              <a:rPr lang="en-US" altLang="zh-CN" b="1" dirty="0">
                <a:latin typeface="楷体_GB2312" panose="02010609030101010101" charset="-122"/>
                <a:ea typeface="楷体_GB2312" panose="02010609030101010101" charset="-122"/>
                <a:sym typeface="+mn-ea"/>
              </a:rPr>
              <a:t>2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32</a:t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object 3"/>
          <p:cNvSpPr txBox="1"/>
          <p:nvPr/>
        </p:nvSpPr>
        <p:spPr>
          <a:xfrm>
            <a:off x="6108703" y="1363816"/>
            <a:ext cx="408305" cy="3847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960"/>
              </a:lnSpc>
            </a:pPr>
            <a:r>
              <a:rPr sz="2600" b="1" spc="-5" dirty="0">
                <a:solidFill>
                  <a:srgbClr val="191919"/>
                </a:solidFill>
                <a:latin typeface="DejaVu Serif" panose="02060603050605020204"/>
                <a:cs typeface="DejaVu Serif" panose="02060603050605020204"/>
              </a:rPr>
              <a:t>R</a:t>
            </a:r>
            <a:r>
              <a:rPr sz="2251" b="1" spc="7" baseline="-31000" dirty="0">
                <a:solidFill>
                  <a:srgbClr val="191919"/>
                </a:solidFill>
                <a:latin typeface="DejaVu Serif" panose="02060603050605020204"/>
                <a:cs typeface="DejaVu Serif" panose="02060603050605020204"/>
              </a:rPr>
              <a:t>0</a:t>
            </a:r>
            <a:endParaRPr sz="2251" baseline="-31000">
              <a:latin typeface="DejaVu Serif" panose="02060603050605020204"/>
              <a:cs typeface="DejaVu Serif" panose="02060603050605020204"/>
            </a:endParaRPr>
          </a:p>
        </p:txBody>
      </p:sp>
      <p:sp>
        <p:nvSpPr>
          <p:cNvPr id="6" name="object 4"/>
          <p:cNvSpPr txBox="1"/>
          <p:nvPr/>
        </p:nvSpPr>
        <p:spPr>
          <a:xfrm>
            <a:off x="7023103" y="1363816"/>
            <a:ext cx="408305" cy="3847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960"/>
              </a:lnSpc>
            </a:pPr>
            <a:r>
              <a:rPr sz="2600" b="1" spc="-5" dirty="0">
                <a:solidFill>
                  <a:srgbClr val="191919"/>
                </a:solidFill>
                <a:latin typeface="DejaVu Serif" panose="02060603050605020204"/>
                <a:cs typeface="DejaVu Serif" panose="02060603050605020204"/>
              </a:rPr>
              <a:t>R</a:t>
            </a:r>
            <a:r>
              <a:rPr sz="2251" b="1" spc="7" baseline="-31000" dirty="0">
                <a:solidFill>
                  <a:srgbClr val="191919"/>
                </a:solidFill>
                <a:latin typeface="DejaVu Serif" panose="02060603050605020204"/>
                <a:cs typeface="DejaVu Serif" panose="02060603050605020204"/>
              </a:rPr>
              <a:t>1</a:t>
            </a:r>
            <a:endParaRPr sz="2251" baseline="-31000">
              <a:latin typeface="DejaVu Serif" panose="02060603050605020204"/>
              <a:cs typeface="DejaVu Serif" panose="02060603050605020204"/>
            </a:endParaRPr>
          </a:p>
        </p:txBody>
      </p:sp>
      <p:sp>
        <p:nvSpPr>
          <p:cNvPr id="14" name="object 5"/>
          <p:cNvSpPr txBox="1"/>
          <p:nvPr/>
        </p:nvSpPr>
        <p:spPr>
          <a:xfrm>
            <a:off x="7937503" y="1363816"/>
            <a:ext cx="408305" cy="3847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960"/>
              </a:lnSpc>
            </a:pPr>
            <a:r>
              <a:rPr sz="2600" b="1" spc="-5" dirty="0">
                <a:solidFill>
                  <a:srgbClr val="191919"/>
                </a:solidFill>
                <a:latin typeface="DejaVu Serif" panose="02060603050605020204"/>
                <a:cs typeface="DejaVu Serif" panose="02060603050605020204"/>
              </a:rPr>
              <a:t>R</a:t>
            </a:r>
            <a:r>
              <a:rPr sz="2251" b="1" spc="7" baseline="-31000" dirty="0">
                <a:solidFill>
                  <a:srgbClr val="191919"/>
                </a:solidFill>
                <a:latin typeface="DejaVu Serif" panose="02060603050605020204"/>
                <a:cs typeface="DejaVu Serif" panose="02060603050605020204"/>
              </a:rPr>
              <a:t>2</a:t>
            </a:r>
            <a:endParaRPr sz="2251" baseline="-31000">
              <a:latin typeface="DejaVu Serif" panose="02060603050605020204"/>
              <a:cs typeface="DejaVu Serif" panose="02060603050605020204"/>
            </a:endParaRPr>
          </a:p>
        </p:txBody>
      </p:sp>
      <p:graphicFrame>
        <p:nvGraphicFramePr>
          <p:cNvPr id="15" name="object 6"/>
          <p:cNvGraphicFramePr>
            <a:graphicFrameLocks noGrp="1"/>
          </p:cNvGraphicFramePr>
          <p:nvPr/>
        </p:nvGraphicFramePr>
        <p:xfrm>
          <a:off x="5854700" y="1366520"/>
          <a:ext cx="2743200" cy="45770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708">
                <a:tc>
                  <a:txBody>
                    <a:bodyPr/>
                    <a:lstStyle/>
                    <a:p>
                      <a:pPr marL="254000">
                        <a:lnSpc>
                          <a:spcPts val="2940"/>
                        </a:lnSpc>
                      </a:pPr>
                      <a:r>
                        <a:rPr sz="2700" b="1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R</a:t>
                      </a:r>
                      <a:r>
                        <a:rPr sz="2300" b="1" baseline="-31000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0</a:t>
                      </a:r>
                      <a:endParaRPr sz="2300" baseline="-31000">
                        <a:latin typeface="DejaVu Serif" panose="02060603050605020204"/>
                        <a:cs typeface="DejaVu Serif" panose="02060603050605020204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54000">
                        <a:lnSpc>
                          <a:spcPts val="2940"/>
                        </a:lnSpc>
                      </a:pPr>
                      <a:r>
                        <a:rPr sz="2700" b="1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R</a:t>
                      </a:r>
                      <a:r>
                        <a:rPr sz="2300" b="1" baseline="-31000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1</a:t>
                      </a:r>
                      <a:endParaRPr sz="2300" baseline="-31000">
                        <a:latin typeface="DejaVu Serif" panose="02060603050605020204"/>
                        <a:cs typeface="DejaVu Serif" panose="02060603050605020204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54000">
                        <a:lnSpc>
                          <a:spcPts val="2940"/>
                        </a:lnSpc>
                      </a:pPr>
                      <a:r>
                        <a:rPr sz="2700" b="1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R</a:t>
                      </a:r>
                      <a:r>
                        <a:rPr sz="2300" b="1" baseline="-31000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2</a:t>
                      </a:r>
                      <a:endParaRPr sz="2300" baseline="-31000">
                        <a:latin typeface="DejaVu Serif" panose="02060603050605020204"/>
                        <a:cs typeface="DejaVu Serif" panose="02060603050605020204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6" name="object 7"/>
          <p:cNvSpPr txBox="1"/>
          <p:nvPr/>
        </p:nvSpPr>
        <p:spPr>
          <a:xfrm>
            <a:off x="1524003" y="1456052"/>
            <a:ext cx="153035" cy="2789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65"/>
              </a:lnSpc>
            </a:pPr>
            <a:r>
              <a:rPr sz="2000" b="1" dirty="0">
                <a:solidFill>
                  <a:srgbClr val="191919"/>
                </a:solidFill>
                <a:latin typeface="Courier New" panose="02070409020205020404"/>
                <a:cs typeface="Courier New" panose="02070409020205020404"/>
              </a:rPr>
              <a:t>b</a:t>
            </a:r>
            <a:endParaRPr sz="2000">
              <a:latin typeface="Courier New" panose="02070409020205020404"/>
              <a:cs typeface="Courier New" panose="02070409020205020404"/>
            </a:endParaRPr>
          </a:p>
        </p:txBody>
      </p:sp>
      <p:sp>
        <p:nvSpPr>
          <p:cNvPr id="17" name="object 8"/>
          <p:cNvSpPr/>
          <p:nvPr/>
        </p:nvSpPr>
        <p:spPr>
          <a:xfrm>
            <a:off x="1372869" y="1371600"/>
            <a:ext cx="455931" cy="455931"/>
          </a:xfrm>
          <a:custGeom>
            <a:avLst/>
            <a:gdLst/>
            <a:ahLst/>
            <a:cxnLst/>
            <a:rect l="l" t="t" r="r" b="b"/>
            <a:pathLst>
              <a:path w="455930" h="455930">
                <a:moveTo>
                  <a:pt x="455930" y="0"/>
                </a:moveTo>
                <a:lnTo>
                  <a:pt x="0" y="0"/>
                </a:lnTo>
                <a:lnTo>
                  <a:pt x="0" y="455929"/>
                </a:lnTo>
                <a:lnTo>
                  <a:pt x="455930" y="45592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9"/>
          <p:cNvSpPr txBox="1"/>
          <p:nvPr/>
        </p:nvSpPr>
        <p:spPr>
          <a:xfrm>
            <a:off x="1066801" y="1456050"/>
            <a:ext cx="153035" cy="2789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65"/>
              </a:lnSpc>
            </a:pPr>
            <a:r>
              <a:rPr sz="2000" b="1" dirty="0">
                <a:solidFill>
                  <a:srgbClr val="191919"/>
                </a:solidFill>
                <a:latin typeface="Courier New" panose="02070409020205020404"/>
                <a:cs typeface="Courier New" panose="02070409020205020404"/>
              </a:rPr>
              <a:t>b</a:t>
            </a:r>
            <a:endParaRPr sz="2000">
              <a:latin typeface="Courier New" panose="02070409020205020404"/>
              <a:cs typeface="Courier New" panose="02070409020205020404"/>
            </a:endParaRPr>
          </a:p>
        </p:txBody>
      </p:sp>
      <p:sp>
        <p:nvSpPr>
          <p:cNvPr id="19" name="object 10"/>
          <p:cNvSpPr/>
          <p:nvPr/>
        </p:nvSpPr>
        <p:spPr>
          <a:xfrm>
            <a:off x="915669" y="1372869"/>
            <a:ext cx="455931" cy="455931"/>
          </a:xfrm>
          <a:custGeom>
            <a:avLst/>
            <a:gdLst/>
            <a:ahLst/>
            <a:cxnLst/>
            <a:rect l="l" t="t" r="r" b="b"/>
            <a:pathLst>
              <a:path w="455930" h="455930">
                <a:moveTo>
                  <a:pt x="455930" y="0"/>
                </a:moveTo>
                <a:lnTo>
                  <a:pt x="0" y="0"/>
                </a:lnTo>
                <a:lnTo>
                  <a:pt x="0" y="455929"/>
                </a:lnTo>
                <a:lnTo>
                  <a:pt x="455930" y="45592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11"/>
          <p:cNvSpPr txBox="1"/>
          <p:nvPr/>
        </p:nvSpPr>
        <p:spPr>
          <a:xfrm>
            <a:off x="3810003" y="1456052"/>
            <a:ext cx="153035" cy="2789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65"/>
              </a:lnSpc>
            </a:pPr>
            <a:r>
              <a:rPr sz="2000" b="1" dirty="0">
                <a:solidFill>
                  <a:srgbClr val="191919"/>
                </a:solidFill>
                <a:latin typeface="Courier New" panose="02070409020205020404"/>
                <a:cs typeface="Courier New" panose="02070409020205020404"/>
              </a:rPr>
              <a:t>b</a:t>
            </a:r>
            <a:endParaRPr sz="2000">
              <a:latin typeface="Courier New" panose="02070409020205020404"/>
              <a:cs typeface="Courier New" panose="02070409020205020404"/>
            </a:endParaRPr>
          </a:p>
        </p:txBody>
      </p:sp>
      <p:sp>
        <p:nvSpPr>
          <p:cNvPr id="21" name="object 12"/>
          <p:cNvSpPr/>
          <p:nvPr/>
        </p:nvSpPr>
        <p:spPr>
          <a:xfrm>
            <a:off x="3657600" y="1371602"/>
            <a:ext cx="457200" cy="455931"/>
          </a:xfrm>
          <a:custGeom>
            <a:avLst/>
            <a:gdLst/>
            <a:ahLst/>
            <a:cxnLst/>
            <a:rect l="l" t="t" r="r" b="b"/>
            <a:pathLst>
              <a:path w="457200" h="455930">
                <a:moveTo>
                  <a:pt x="457200" y="0"/>
                </a:moveTo>
                <a:lnTo>
                  <a:pt x="0" y="0"/>
                </a:lnTo>
                <a:lnTo>
                  <a:pt x="0" y="455929"/>
                </a:lnTo>
                <a:lnTo>
                  <a:pt x="457200" y="45592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13"/>
          <p:cNvSpPr txBox="1"/>
          <p:nvPr/>
        </p:nvSpPr>
        <p:spPr>
          <a:xfrm>
            <a:off x="2895603" y="1456052"/>
            <a:ext cx="153035" cy="2789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65"/>
              </a:lnSpc>
            </a:pPr>
            <a:r>
              <a:rPr sz="2000" b="1" dirty="0">
                <a:solidFill>
                  <a:srgbClr val="191919"/>
                </a:solidFill>
                <a:latin typeface="Courier New" panose="02070409020205020404"/>
                <a:cs typeface="Courier New" panose="02070409020205020404"/>
              </a:rPr>
              <a:t>b</a:t>
            </a:r>
            <a:endParaRPr sz="2000">
              <a:latin typeface="Courier New" panose="02070409020205020404"/>
              <a:cs typeface="Courier New" panose="02070409020205020404"/>
            </a:endParaRPr>
          </a:p>
        </p:txBody>
      </p:sp>
      <p:sp>
        <p:nvSpPr>
          <p:cNvPr id="28" name="object 14"/>
          <p:cNvSpPr/>
          <p:nvPr/>
        </p:nvSpPr>
        <p:spPr>
          <a:xfrm>
            <a:off x="2744471" y="1371602"/>
            <a:ext cx="455931" cy="455931"/>
          </a:xfrm>
          <a:custGeom>
            <a:avLst/>
            <a:gdLst/>
            <a:ahLst/>
            <a:cxnLst/>
            <a:rect l="l" t="t" r="r" b="b"/>
            <a:pathLst>
              <a:path w="455930" h="455930">
                <a:moveTo>
                  <a:pt x="455930" y="0"/>
                </a:moveTo>
                <a:lnTo>
                  <a:pt x="0" y="0"/>
                </a:lnTo>
                <a:lnTo>
                  <a:pt x="0" y="455929"/>
                </a:lnTo>
                <a:lnTo>
                  <a:pt x="455930" y="45592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15"/>
          <p:cNvSpPr txBox="1"/>
          <p:nvPr/>
        </p:nvSpPr>
        <p:spPr>
          <a:xfrm>
            <a:off x="3352803" y="1456052"/>
            <a:ext cx="153035" cy="2789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65"/>
              </a:lnSpc>
            </a:pPr>
            <a:r>
              <a:rPr sz="2000" b="1" dirty="0">
                <a:solidFill>
                  <a:srgbClr val="191919"/>
                </a:solidFill>
                <a:latin typeface="Courier New" panose="02070409020205020404"/>
                <a:cs typeface="Courier New" panose="02070409020205020404"/>
              </a:rPr>
              <a:t>b</a:t>
            </a:r>
            <a:endParaRPr sz="2000">
              <a:latin typeface="Courier New" panose="02070409020205020404"/>
              <a:cs typeface="Courier New" panose="02070409020205020404"/>
            </a:endParaRPr>
          </a:p>
        </p:txBody>
      </p:sp>
      <p:sp>
        <p:nvSpPr>
          <p:cNvPr id="30" name="object 16"/>
          <p:cNvSpPr/>
          <p:nvPr/>
        </p:nvSpPr>
        <p:spPr>
          <a:xfrm>
            <a:off x="3200400" y="1371602"/>
            <a:ext cx="457200" cy="455931"/>
          </a:xfrm>
          <a:custGeom>
            <a:avLst/>
            <a:gdLst/>
            <a:ahLst/>
            <a:cxnLst/>
            <a:rect l="l" t="t" r="r" b="b"/>
            <a:pathLst>
              <a:path w="457200" h="455930">
                <a:moveTo>
                  <a:pt x="457200" y="0"/>
                </a:moveTo>
                <a:lnTo>
                  <a:pt x="0" y="0"/>
                </a:lnTo>
                <a:lnTo>
                  <a:pt x="0" y="455929"/>
                </a:lnTo>
                <a:lnTo>
                  <a:pt x="457200" y="45592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17"/>
          <p:cNvSpPr txBox="1"/>
          <p:nvPr/>
        </p:nvSpPr>
        <p:spPr>
          <a:xfrm>
            <a:off x="2861313" y="1344930"/>
            <a:ext cx="1137285" cy="4129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600" b="1" dirty="0">
                <a:solidFill>
                  <a:srgbClr val="191919"/>
                </a:solidFill>
                <a:latin typeface="Courier New" panose="02070409020205020404"/>
                <a:cs typeface="Courier New" panose="02070409020205020404"/>
              </a:rPr>
              <a:t>e f</a:t>
            </a:r>
            <a:r>
              <a:rPr sz="2600" b="1" spc="840" dirty="0">
                <a:solidFill>
                  <a:srgbClr val="191919"/>
                </a:solidFill>
                <a:latin typeface="Courier New" panose="02070409020205020404"/>
                <a:cs typeface="Courier New" panose="02070409020205020404"/>
              </a:rPr>
              <a:t> </a:t>
            </a:r>
            <a:r>
              <a:rPr sz="2600" b="1" dirty="0">
                <a:solidFill>
                  <a:srgbClr val="191919"/>
                </a:solidFill>
                <a:latin typeface="Courier New" panose="02070409020205020404"/>
                <a:cs typeface="Courier New" panose="02070409020205020404"/>
              </a:rPr>
              <a:t>g</a:t>
            </a:r>
            <a:endParaRPr sz="2600">
              <a:latin typeface="Courier New" panose="02070409020205020404"/>
              <a:cs typeface="Courier New" panose="02070409020205020404"/>
            </a:endParaRPr>
          </a:p>
        </p:txBody>
      </p:sp>
      <p:sp>
        <p:nvSpPr>
          <p:cNvPr id="32" name="object 18"/>
          <p:cNvSpPr txBox="1"/>
          <p:nvPr/>
        </p:nvSpPr>
        <p:spPr>
          <a:xfrm>
            <a:off x="1032511" y="1346201"/>
            <a:ext cx="1137285" cy="4129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600" b="1" dirty="0">
                <a:solidFill>
                  <a:srgbClr val="191919"/>
                </a:solidFill>
                <a:latin typeface="Courier New" panose="02070409020205020404"/>
                <a:cs typeface="Courier New" panose="02070409020205020404"/>
              </a:rPr>
              <a:t>a b</a:t>
            </a:r>
            <a:r>
              <a:rPr sz="2600" b="1" spc="840" dirty="0">
                <a:solidFill>
                  <a:srgbClr val="191919"/>
                </a:solidFill>
                <a:latin typeface="Courier New" panose="02070409020205020404"/>
                <a:cs typeface="Courier New" panose="02070409020205020404"/>
              </a:rPr>
              <a:t> </a:t>
            </a:r>
            <a:r>
              <a:rPr sz="2600" b="1" dirty="0">
                <a:solidFill>
                  <a:srgbClr val="191919"/>
                </a:solidFill>
                <a:latin typeface="Courier New" panose="02070409020205020404"/>
                <a:cs typeface="Courier New" panose="02070409020205020404"/>
              </a:rPr>
              <a:t>c</a:t>
            </a:r>
            <a:endParaRPr sz="2600">
              <a:latin typeface="Courier New" panose="02070409020205020404"/>
              <a:cs typeface="Courier New" panose="02070409020205020404"/>
            </a:endParaRPr>
          </a:p>
        </p:txBody>
      </p:sp>
      <p:sp>
        <p:nvSpPr>
          <p:cNvPr id="33" name="object 19"/>
          <p:cNvSpPr txBox="1"/>
          <p:nvPr/>
        </p:nvSpPr>
        <p:spPr>
          <a:xfrm>
            <a:off x="2438403" y="1456052"/>
            <a:ext cx="153035" cy="2789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65"/>
              </a:lnSpc>
            </a:pPr>
            <a:r>
              <a:rPr sz="2000" b="1" dirty="0">
                <a:solidFill>
                  <a:srgbClr val="191919"/>
                </a:solidFill>
                <a:latin typeface="Courier New" panose="02070409020205020404"/>
                <a:cs typeface="Courier New" panose="02070409020205020404"/>
              </a:rPr>
              <a:t>b</a:t>
            </a:r>
            <a:endParaRPr sz="2000">
              <a:latin typeface="Courier New" panose="02070409020205020404"/>
              <a:cs typeface="Courier New" panose="02070409020205020404"/>
            </a:endParaRPr>
          </a:p>
        </p:txBody>
      </p:sp>
      <p:sp>
        <p:nvSpPr>
          <p:cNvPr id="34" name="object 20"/>
          <p:cNvSpPr/>
          <p:nvPr/>
        </p:nvSpPr>
        <p:spPr>
          <a:xfrm>
            <a:off x="2287271" y="1372871"/>
            <a:ext cx="455931" cy="455931"/>
          </a:xfrm>
          <a:custGeom>
            <a:avLst/>
            <a:gdLst/>
            <a:ahLst/>
            <a:cxnLst/>
            <a:rect l="l" t="t" r="r" b="b"/>
            <a:pathLst>
              <a:path w="455930" h="455930">
                <a:moveTo>
                  <a:pt x="455930" y="0"/>
                </a:moveTo>
                <a:lnTo>
                  <a:pt x="0" y="0"/>
                </a:lnTo>
                <a:lnTo>
                  <a:pt x="0" y="455929"/>
                </a:lnTo>
                <a:lnTo>
                  <a:pt x="455930" y="45592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21"/>
          <p:cNvSpPr txBox="1"/>
          <p:nvPr/>
        </p:nvSpPr>
        <p:spPr>
          <a:xfrm>
            <a:off x="2396491" y="1327153"/>
            <a:ext cx="239395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800" b="1" dirty="0">
                <a:solidFill>
                  <a:srgbClr val="191919"/>
                </a:solidFill>
                <a:latin typeface="Courier New" panose="02070409020205020404"/>
                <a:cs typeface="Courier New" panose="02070409020205020404"/>
              </a:rPr>
              <a:t>d</a:t>
            </a:r>
            <a:endParaRPr sz="2800">
              <a:latin typeface="Courier New" panose="02070409020205020404"/>
              <a:cs typeface="Courier New" panose="02070409020205020404"/>
            </a:endParaRPr>
          </a:p>
        </p:txBody>
      </p:sp>
      <p:sp>
        <p:nvSpPr>
          <p:cNvPr id="38" name="object 24"/>
          <p:cNvSpPr/>
          <p:nvPr/>
        </p:nvSpPr>
        <p:spPr>
          <a:xfrm>
            <a:off x="914400" y="1830069"/>
            <a:ext cx="457200" cy="4113531"/>
          </a:xfrm>
          <a:custGeom>
            <a:avLst/>
            <a:gdLst/>
            <a:ahLst/>
            <a:cxnLst/>
            <a:rect l="l" t="t" r="r" b="b"/>
            <a:pathLst>
              <a:path w="457200" h="4113529">
                <a:moveTo>
                  <a:pt x="457200" y="0"/>
                </a:moveTo>
                <a:lnTo>
                  <a:pt x="0" y="0"/>
                </a:lnTo>
                <a:lnTo>
                  <a:pt x="0" y="4113529"/>
                </a:lnTo>
                <a:lnTo>
                  <a:pt x="457200" y="4113529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25"/>
          <p:cNvSpPr/>
          <p:nvPr/>
        </p:nvSpPr>
        <p:spPr>
          <a:xfrm>
            <a:off x="914400" y="1830069"/>
            <a:ext cx="457200" cy="4113531"/>
          </a:xfrm>
          <a:custGeom>
            <a:avLst/>
            <a:gdLst/>
            <a:ahLst/>
            <a:cxnLst/>
            <a:rect l="l" t="t" r="r" b="b"/>
            <a:pathLst>
              <a:path w="457200" h="4113529">
                <a:moveTo>
                  <a:pt x="228600" y="4113529"/>
                </a:moveTo>
                <a:lnTo>
                  <a:pt x="0" y="4113529"/>
                </a:lnTo>
                <a:lnTo>
                  <a:pt x="0" y="0"/>
                </a:lnTo>
                <a:lnTo>
                  <a:pt x="457200" y="0"/>
                </a:lnTo>
                <a:lnTo>
                  <a:pt x="457200" y="4113529"/>
                </a:lnTo>
                <a:lnTo>
                  <a:pt x="228600" y="4113529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26"/>
          <p:cNvSpPr/>
          <p:nvPr/>
        </p:nvSpPr>
        <p:spPr>
          <a:xfrm>
            <a:off x="1372869" y="1828800"/>
            <a:ext cx="455931" cy="1371600"/>
          </a:xfrm>
          <a:custGeom>
            <a:avLst/>
            <a:gdLst/>
            <a:ahLst/>
            <a:cxnLst/>
            <a:rect l="l" t="t" r="r" b="b"/>
            <a:pathLst>
              <a:path w="455930" h="1371600">
                <a:moveTo>
                  <a:pt x="455930" y="0"/>
                </a:moveTo>
                <a:lnTo>
                  <a:pt x="0" y="0"/>
                </a:lnTo>
                <a:lnTo>
                  <a:pt x="0" y="1371600"/>
                </a:lnTo>
                <a:lnTo>
                  <a:pt x="455930" y="1371600"/>
                </a:lnTo>
                <a:close/>
              </a:path>
            </a:pathLst>
          </a:custGeom>
          <a:solidFill>
            <a:srgbClr val="00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27"/>
          <p:cNvSpPr/>
          <p:nvPr/>
        </p:nvSpPr>
        <p:spPr>
          <a:xfrm>
            <a:off x="1372869" y="1828800"/>
            <a:ext cx="455931" cy="1371600"/>
          </a:xfrm>
          <a:custGeom>
            <a:avLst/>
            <a:gdLst/>
            <a:ahLst/>
            <a:cxnLst/>
            <a:rect l="l" t="t" r="r" b="b"/>
            <a:pathLst>
              <a:path w="455930" h="1371600">
                <a:moveTo>
                  <a:pt x="228600" y="1371600"/>
                </a:moveTo>
                <a:lnTo>
                  <a:pt x="0" y="1371600"/>
                </a:lnTo>
                <a:lnTo>
                  <a:pt x="0" y="0"/>
                </a:lnTo>
                <a:lnTo>
                  <a:pt x="455930" y="0"/>
                </a:lnTo>
                <a:lnTo>
                  <a:pt x="455930" y="1371600"/>
                </a:lnTo>
                <a:lnTo>
                  <a:pt x="228600" y="137160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28"/>
          <p:cNvSpPr/>
          <p:nvPr/>
        </p:nvSpPr>
        <p:spPr>
          <a:xfrm>
            <a:off x="1830071" y="1830071"/>
            <a:ext cx="455931" cy="914400"/>
          </a:xfrm>
          <a:custGeom>
            <a:avLst/>
            <a:gdLst/>
            <a:ahLst/>
            <a:cxnLst/>
            <a:rect l="l" t="t" r="r" b="b"/>
            <a:pathLst>
              <a:path w="455930" h="914400">
                <a:moveTo>
                  <a:pt x="455930" y="0"/>
                </a:moveTo>
                <a:lnTo>
                  <a:pt x="0" y="0"/>
                </a:lnTo>
                <a:lnTo>
                  <a:pt x="0" y="914400"/>
                </a:lnTo>
                <a:lnTo>
                  <a:pt x="455930" y="914400"/>
                </a:lnTo>
                <a:close/>
              </a:path>
            </a:pathLst>
          </a:custGeom>
          <a:solidFill>
            <a:srgbClr val="FF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29"/>
          <p:cNvSpPr/>
          <p:nvPr/>
        </p:nvSpPr>
        <p:spPr>
          <a:xfrm>
            <a:off x="1830071" y="1830071"/>
            <a:ext cx="455931" cy="914400"/>
          </a:xfrm>
          <a:custGeom>
            <a:avLst/>
            <a:gdLst/>
            <a:ahLst/>
            <a:cxnLst/>
            <a:rect l="l" t="t" r="r" b="b"/>
            <a:pathLst>
              <a:path w="455930" h="914400">
                <a:moveTo>
                  <a:pt x="228600" y="914400"/>
                </a:moveTo>
                <a:lnTo>
                  <a:pt x="0" y="914400"/>
                </a:lnTo>
                <a:lnTo>
                  <a:pt x="0" y="0"/>
                </a:lnTo>
                <a:lnTo>
                  <a:pt x="455930" y="0"/>
                </a:lnTo>
                <a:lnTo>
                  <a:pt x="455930" y="914400"/>
                </a:lnTo>
                <a:lnTo>
                  <a:pt x="228600" y="91440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30"/>
          <p:cNvSpPr/>
          <p:nvPr/>
        </p:nvSpPr>
        <p:spPr>
          <a:xfrm>
            <a:off x="2287271" y="2286002"/>
            <a:ext cx="455931" cy="3199131"/>
          </a:xfrm>
          <a:custGeom>
            <a:avLst/>
            <a:gdLst/>
            <a:ahLst/>
            <a:cxnLst/>
            <a:rect l="l" t="t" r="r" b="b"/>
            <a:pathLst>
              <a:path w="455930" h="3199129">
                <a:moveTo>
                  <a:pt x="455930" y="0"/>
                </a:moveTo>
                <a:lnTo>
                  <a:pt x="0" y="0"/>
                </a:lnTo>
                <a:lnTo>
                  <a:pt x="0" y="3199130"/>
                </a:lnTo>
                <a:lnTo>
                  <a:pt x="455930" y="3199130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31"/>
          <p:cNvSpPr/>
          <p:nvPr/>
        </p:nvSpPr>
        <p:spPr>
          <a:xfrm>
            <a:off x="2287271" y="2286002"/>
            <a:ext cx="455931" cy="3199131"/>
          </a:xfrm>
          <a:custGeom>
            <a:avLst/>
            <a:gdLst/>
            <a:ahLst/>
            <a:cxnLst/>
            <a:rect l="l" t="t" r="r" b="b"/>
            <a:pathLst>
              <a:path w="455930" h="3199129">
                <a:moveTo>
                  <a:pt x="227330" y="3199130"/>
                </a:moveTo>
                <a:lnTo>
                  <a:pt x="0" y="3199130"/>
                </a:lnTo>
                <a:lnTo>
                  <a:pt x="0" y="0"/>
                </a:lnTo>
                <a:lnTo>
                  <a:pt x="455930" y="0"/>
                </a:lnTo>
                <a:lnTo>
                  <a:pt x="455930" y="3199130"/>
                </a:lnTo>
                <a:lnTo>
                  <a:pt x="227330" y="319913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32"/>
          <p:cNvSpPr/>
          <p:nvPr/>
        </p:nvSpPr>
        <p:spPr>
          <a:xfrm>
            <a:off x="2743200" y="2743200"/>
            <a:ext cx="457200" cy="2286000"/>
          </a:xfrm>
          <a:custGeom>
            <a:avLst/>
            <a:gdLst/>
            <a:ahLst/>
            <a:cxnLst/>
            <a:rect l="l" t="t" r="r" b="b"/>
            <a:pathLst>
              <a:path w="457200" h="2286000">
                <a:moveTo>
                  <a:pt x="457200" y="0"/>
                </a:moveTo>
                <a:lnTo>
                  <a:pt x="0" y="0"/>
                </a:lnTo>
                <a:lnTo>
                  <a:pt x="0" y="2286000"/>
                </a:lnTo>
                <a:lnTo>
                  <a:pt x="457200" y="2286000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33"/>
          <p:cNvSpPr/>
          <p:nvPr/>
        </p:nvSpPr>
        <p:spPr>
          <a:xfrm>
            <a:off x="2743200" y="2743200"/>
            <a:ext cx="457200" cy="2286000"/>
          </a:xfrm>
          <a:custGeom>
            <a:avLst/>
            <a:gdLst/>
            <a:ahLst/>
            <a:cxnLst/>
            <a:rect l="l" t="t" r="r" b="b"/>
            <a:pathLst>
              <a:path w="457200" h="2286000">
                <a:moveTo>
                  <a:pt x="228600" y="2286000"/>
                </a:moveTo>
                <a:lnTo>
                  <a:pt x="0" y="2286000"/>
                </a:lnTo>
                <a:lnTo>
                  <a:pt x="0" y="0"/>
                </a:lnTo>
                <a:lnTo>
                  <a:pt x="457200" y="0"/>
                </a:lnTo>
                <a:lnTo>
                  <a:pt x="457200" y="2286000"/>
                </a:lnTo>
                <a:lnTo>
                  <a:pt x="228600" y="228600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34"/>
          <p:cNvSpPr/>
          <p:nvPr/>
        </p:nvSpPr>
        <p:spPr>
          <a:xfrm>
            <a:off x="3200400" y="2744473"/>
            <a:ext cx="457200" cy="3199765"/>
          </a:xfrm>
          <a:custGeom>
            <a:avLst/>
            <a:gdLst/>
            <a:ahLst/>
            <a:cxnLst/>
            <a:rect l="l" t="t" r="r" b="b"/>
            <a:pathLst>
              <a:path w="457200" h="3199129">
                <a:moveTo>
                  <a:pt x="457200" y="0"/>
                </a:moveTo>
                <a:lnTo>
                  <a:pt x="0" y="0"/>
                </a:lnTo>
                <a:lnTo>
                  <a:pt x="0" y="3199129"/>
                </a:lnTo>
                <a:lnTo>
                  <a:pt x="457200" y="3199129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35"/>
          <p:cNvSpPr/>
          <p:nvPr/>
        </p:nvSpPr>
        <p:spPr>
          <a:xfrm>
            <a:off x="3200400" y="2744471"/>
            <a:ext cx="457200" cy="3199131"/>
          </a:xfrm>
          <a:custGeom>
            <a:avLst/>
            <a:gdLst/>
            <a:ahLst/>
            <a:cxnLst/>
            <a:rect l="l" t="t" r="r" b="b"/>
            <a:pathLst>
              <a:path w="457200" h="3199129">
                <a:moveTo>
                  <a:pt x="228600" y="3199129"/>
                </a:moveTo>
                <a:lnTo>
                  <a:pt x="0" y="3199129"/>
                </a:lnTo>
                <a:lnTo>
                  <a:pt x="0" y="0"/>
                </a:lnTo>
                <a:lnTo>
                  <a:pt x="457200" y="0"/>
                </a:lnTo>
                <a:lnTo>
                  <a:pt x="457200" y="3199129"/>
                </a:lnTo>
                <a:lnTo>
                  <a:pt x="228600" y="3199129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36"/>
          <p:cNvSpPr/>
          <p:nvPr/>
        </p:nvSpPr>
        <p:spPr>
          <a:xfrm>
            <a:off x="3657600" y="3200400"/>
            <a:ext cx="457200" cy="2286000"/>
          </a:xfrm>
          <a:custGeom>
            <a:avLst/>
            <a:gdLst/>
            <a:ahLst/>
            <a:cxnLst/>
            <a:rect l="l" t="t" r="r" b="b"/>
            <a:pathLst>
              <a:path w="457200" h="2286000">
                <a:moveTo>
                  <a:pt x="457200" y="0"/>
                </a:moveTo>
                <a:lnTo>
                  <a:pt x="0" y="0"/>
                </a:lnTo>
                <a:lnTo>
                  <a:pt x="0" y="2286000"/>
                </a:lnTo>
                <a:lnTo>
                  <a:pt x="457200" y="2286000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37"/>
          <p:cNvSpPr/>
          <p:nvPr/>
        </p:nvSpPr>
        <p:spPr>
          <a:xfrm>
            <a:off x="3657600" y="3200400"/>
            <a:ext cx="457200" cy="2286000"/>
          </a:xfrm>
          <a:custGeom>
            <a:avLst/>
            <a:gdLst/>
            <a:ahLst/>
            <a:cxnLst/>
            <a:rect l="l" t="t" r="r" b="b"/>
            <a:pathLst>
              <a:path w="457200" h="2286000">
                <a:moveTo>
                  <a:pt x="228600" y="2286000"/>
                </a:moveTo>
                <a:lnTo>
                  <a:pt x="0" y="2286000"/>
                </a:lnTo>
                <a:lnTo>
                  <a:pt x="0" y="0"/>
                </a:lnTo>
                <a:lnTo>
                  <a:pt x="457200" y="0"/>
                </a:lnTo>
                <a:lnTo>
                  <a:pt x="457200" y="2286000"/>
                </a:lnTo>
                <a:lnTo>
                  <a:pt x="228600" y="228600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cxnSp>
        <p:nvCxnSpPr>
          <p:cNvPr id="63" name="直接连接符 62"/>
          <p:cNvCxnSpPr/>
          <p:nvPr/>
        </p:nvCxnSpPr>
        <p:spPr>
          <a:xfrm>
            <a:off x="232411" y="2057400"/>
            <a:ext cx="4102735" cy="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直接连接符 1"/>
          <p:cNvCxnSpPr/>
          <p:nvPr/>
        </p:nvCxnSpPr>
        <p:spPr>
          <a:xfrm>
            <a:off x="234951" y="2513331"/>
            <a:ext cx="4102735" cy="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object 39"/>
          <p:cNvSpPr txBox="1"/>
          <p:nvPr/>
        </p:nvSpPr>
        <p:spPr>
          <a:xfrm>
            <a:off x="9255127" y="1229996"/>
            <a:ext cx="2124075" cy="5345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84226" marR="5080" indent="-971526" algn="ctr">
              <a:lnSpc>
                <a:spcPct val="135000"/>
              </a:lnSpc>
              <a:spcBef>
                <a:spcPts val="1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楷体_GB2312" panose="02010609030101010101" charset="-122"/>
                <a:ea typeface="楷体_GB2312" panose="02010609030101010101" charset="-122"/>
                <a:cs typeface="Purisa" panose="02000603000000000000"/>
              </a:rPr>
              <a:t>如何处理？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4744088" y="1868173"/>
            <a:ext cx="7301231" cy="445904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latin typeface="楷体_GB2312" panose="02010609030101010101" charset="-122"/>
                <a:ea typeface="楷体_GB2312" panose="02010609030101010101" charset="-122"/>
                <a:cs typeface="楷体_GB2312" panose="02010609030101010101" charset="-122"/>
              </a:rPr>
              <a:t>如果没有可用的寄存器，可能需要</a:t>
            </a:r>
            <a:r>
              <a:rPr lang="zh-CN" altLang="en-US" sz="2400" b="1" dirty="0">
                <a:solidFill>
                  <a:srgbClr val="C00000"/>
                </a:solidFill>
                <a:latin typeface="楷体_GB2312" panose="02010609030101010101" charset="-122"/>
                <a:ea typeface="楷体_GB2312" panose="02010609030101010101" charset="-122"/>
                <a:cs typeface="楷体_GB2312" panose="02010609030101010101" charset="-122"/>
              </a:rPr>
              <a:t>溢出</a:t>
            </a:r>
            <a:r>
              <a:rPr lang="zh-CN" altLang="en-US" sz="2400" b="1" dirty="0">
                <a:latin typeface="楷体_GB2312" panose="02010609030101010101" charset="-122"/>
                <a:ea typeface="楷体_GB2312" panose="02010609030101010101" charset="-122"/>
                <a:cs typeface="楷体_GB2312" panose="02010609030101010101" charset="-122"/>
              </a:rPr>
              <a:t>一个变量</a:t>
            </a: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latin typeface="楷体_GB2312" panose="02010609030101010101" charset="-122"/>
                <a:ea typeface="楷体_GB2312" panose="02010609030101010101" charset="-122"/>
                <a:cs typeface="楷体_GB2312" panose="02010609030101010101" charset="-122"/>
              </a:rPr>
              <a:t>当变量溢出时，它存储在内存中而不是寄存器中</a:t>
            </a: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latin typeface="楷体_GB2312" panose="02010609030101010101" charset="-122"/>
                <a:ea typeface="楷体_GB2312" panose="02010609030101010101" charset="-122"/>
                <a:cs typeface="楷体_GB2312" panose="02010609030101010101" charset="-122"/>
              </a:rPr>
              <a:t>变量</a:t>
            </a:r>
            <a:r>
              <a:rPr lang="zh-CN" altLang="en-US" sz="2400" b="1" dirty="0">
                <a:solidFill>
                  <a:srgbClr val="C00000"/>
                </a:solidFill>
                <a:latin typeface="楷体_GB2312" panose="02010609030101010101" charset="-122"/>
                <a:ea typeface="楷体_GB2312" panose="02010609030101010101" charset="-122"/>
                <a:cs typeface="楷体_GB2312" panose="02010609030101010101" charset="-122"/>
              </a:rPr>
              <a:t>溢出</a:t>
            </a:r>
            <a:r>
              <a:rPr lang="en-US" altLang="zh-CN" sz="2400" b="1" dirty="0">
                <a:solidFill>
                  <a:srgbClr val="C00000"/>
                </a:solidFill>
                <a:latin typeface="Times New Roman" panose="02060603050605020204" pitchFamily="18" charset="0"/>
                <a:ea typeface="楷体_GB2312" panose="02010609030101010101" charset="-122"/>
                <a:cs typeface="Times New Roman" panose="02060603050605020204" pitchFamily="18" charset="0"/>
              </a:rPr>
              <a:t>(spilling)</a:t>
            </a:r>
            <a:r>
              <a:rPr lang="zh-CN" altLang="en-US" sz="2400" b="1" dirty="0">
                <a:latin typeface="楷体_GB2312" panose="02010609030101010101" charset="-122"/>
                <a:ea typeface="楷体_GB2312" panose="02010609030101010101" charset="-122"/>
                <a:cs typeface="楷体_GB2312" panose="02010609030101010101" charset="-122"/>
              </a:rPr>
              <a:t>操作：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latin typeface="楷体_GB2312" panose="02010609030101010101" charset="-122"/>
                <a:ea typeface="楷体_GB2312" panose="02010609030101010101" charset="-122"/>
                <a:cs typeface="楷体_GB2312" panose="02010609030101010101" charset="-122"/>
              </a:rPr>
              <a:t>    </a:t>
            </a:r>
            <a:r>
              <a:rPr lang="zh-CN" altLang="en-US" sz="2400" b="1" dirty="0">
                <a:latin typeface="楷体_GB2312" panose="02010609030101010101" charset="-122"/>
                <a:ea typeface="楷体_GB2312" panose="02010609030101010101" charset="-122"/>
                <a:cs typeface="楷体_GB2312" panose="02010609030101010101" charset="-122"/>
              </a:rPr>
              <a:t>更新寄存器与变量的对应关系表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latin typeface="楷体_GB2312" panose="02010609030101010101" charset="-122"/>
                <a:ea typeface="楷体_GB2312" panose="02010609030101010101" charset="-122"/>
                <a:cs typeface="楷体_GB2312" panose="02010609030101010101" charset="-122"/>
              </a:rPr>
              <a:t>        </a:t>
            </a:r>
            <a:r>
              <a:rPr lang="zh-CN" altLang="en-US" sz="2400" b="1" dirty="0">
                <a:latin typeface="楷体_GB2312" panose="02010609030101010101" charset="-122"/>
                <a:ea typeface="楷体_GB2312" panose="02010609030101010101" charset="-122"/>
                <a:cs typeface="楷体_GB2312" panose="02010609030101010101" charset="-122"/>
              </a:rPr>
              <a:t>将现有寄存器对应变量移出到内存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latin typeface="楷体_GB2312" panose="02010609030101010101" charset="-122"/>
                <a:ea typeface="楷体_GB2312" panose="02010609030101010101" charset="-122"/>
                <a:cs typeface="楷体_GB2312" panose="02010609030101010101" charset="-122"/>
              </a:rPr>
              <a:t>        </a:t>
            </a:r>
            <a:r>
              <a:rPr lang="zh-CN" altLang="en-US" sz="2400" b="1" dirty="0">
                <a:latin typeface="楷体_GB2312" panose="02010609030101010101" charset="-122"/>
                <a:ea typeface="楷体_GB2312" panose="02010609030101010101" charset="-122"/>
                <a:cs typeface="楷体_GB2312" panose="02010609030101010101" charset="-122"/>
              </a:rPr>
              <a:t>将要加载的变量移到寄存器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latin typeface="楷体_GB2312" panose="02010609030101010101" charset="-122"/>
                <a:ea typeface="楷体_GB2312" panose="02010609030101010101" charset="-122"/>
                <a:cs typeface="楷体_GB2312" panose="02010609030101010101" charset="-122"/>
              </a:rPr>
              <a:t>    </a:t>
            </a:r>
            <a:r>
              <a:rPr lang="zh-CN" altLang="en-US" sz="2400" b="1" dirty="0">
                <a:latin typeface="楷体_GB2312" panose="02010609030101010101" charset="-122"/>
                <a:ea typeface="楷体_GB2312" panose="02010609030101010101" charset="-122"/>
                <a:cs typeface="楷体_GB2312" panose="02010609030101010101" charset="-122"/>
              </a:rPr>
              <a:t>寄存器与变量数据交换</a:t>
            </a: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latin typeface="楷体_GB2312" panose="02010609030101010101" charset="-122"/>
                <a:ea typeface="楷体_GB2312" panose="02010609030101010101" charset="-122"/>
                <a:cs typeface="楷体_GB2312" panose="02010609030101010101" charset="-122"/>
              </a:rPr>
              <a:t>  </a:t>
            </a:r>
            <a:r>
              <a:rPr lang="en-US" altLang="zh-CN" sz="2400" b="1" dirty="0">
                <a:latin typeface="楷体_GB2312" panose="02010609030101010101" charset="-122"/>
                <a:ea typeface="楷体_GB2312" panose="02010609030101010101" charset="-122"/>
                <a:cs typeface="楷体_GB2312" panose="02010609030101010101" charset="-122"/>
              </a:rPr>
              <a:t>      </a:t>
            </a:r>
            <a:r>
              <a:rPr lang="zh-CN" altLang="en-US" sz="2400" b="1" dirty="0">
                <a:latin typeface="楷体_GB2312" panose="02010609030101010101" charset="-122"/>
                <a:ea typeface="楷体_GB2312" panose="02010609030101010101" charset="-122"/>
                <a:cs typeface="楷体_GB2312" panose="02010609030101010101" charset="-122"/>
              </a:rPr>
              <a:t>将原变量值写回内存，并加载新变量的值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9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b="1" dirty="0">
                <a:latin typeface="楷体_GB2312" panose="02010609030101010101" charset="-122"/>
                <a:ea typeface="楷体_GB2312" panose="02010609030101010101" charset="-122"/>
                <a:sym typeface="+mn-ea"/>
              </a:rPr>
              <a:t>寄存器分配示例</a:t>
            </a:r>
            <a:r>
              <a:rPr lang="en-US" altLang="zh-CN" b="1" dirty="0">
                <a:latin typeface="楷体_GB2312" panose="02010609030101010101" charset="-122"/>
                <a:ea typeface="楷体_GB2312" panose="02010609030101010101" charset="-122"/>
                <a:sym typeface="+mn-ea"/>
              </a:rPr>
              <a:t>2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33</a:t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object 3"/>
          <p:cNvSpPr txBox="1"/>
          <p:nvPr/>
        </p:nvSpPr>
        <p:spPr>
          <a:xfrm>
            <a:off x="6108703" y="1363816"/>
            <a:ext cx="408305" cy="3847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960"/>
              </a:lnSpc>
            </a:pPr>
            <a:r>
              <a:rPr sz="2600" b="1" spc="-5" dirty="0">
                <a:solidFill>
                  <a:srgbClr val="191919"/>
                </a:solidFill>
                <a:latin typeface="DejaVu Serif" panose="02060603050605020204"/>
                <a:cs typeface="DejaVu Serif" panose="02060603050605020204"/>
              </a:rPr>
              <a:t>R</a:t>
            </a:r>
            <a:r>
              <a:rPr sz="2251" b="1" spc="7" baseline="-31000" dirty="0">
                <a:solidFill>
                  <a:srgbClr val="191919"/>
                </a:solidFill>
                <a:latin typeface="DejaVu Serif" panose="02060603050605020204"/>
                <a:cs typeface="DejaVu Serif" panose="02060603050605020204"/>
              </a:rPr>
              <a:t>0</a:t>
            </a:r>
            <a:endParaRPr sz="2251" baseline="-31000">
              <a:latin typeface="DejaVu Serif" panose="02060603050605020204"/>
              <a:cs typeface="DejaVu Serif" panose="02060603050605020204"/>
            </a:endParaRPr>
          </a:p>
        </p:txBody>
      </p:sp>
      <p:sp>
        <p:nvSpPr>
          <p:cNvPr id="6" name="object 4"/>
          <p:cNvSpPr txBox="1"/>
          <p:nvPr/>
        </p:nvSpPr>
        <p:spPr>
          <a:xfrm>
            <a:off x="7023103" y="1363816"/>
            <a:ext cx="408305" cy="3847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960"/>
              </a:lnSpc>
            </a:pPr>
            <a:r>
              <a:rPr sz="2600" b="1" spc="-5" dirty="0">
                <a:solidFill>
                  <a:srgbClr val="191919"/>
                </a:solidFill>
                <a:latin typeface="DejaVu Serif" panose="02060603050605020204"/>
                <a:cs typeface="DejaVu Serif" panose="02060603050605020204"/>
              </a:rPr>
              <a:t>R</a:t>
            </a:r>
            <a:r>
              <a:rPr sz="2251" b="1" spc="7" baseline="-31000" dirty="0">
                <a:solidFill>
                  <a:srgbClr val="191919"/>
                </a:solidFill>
                <a:latin typeface="DejaVu Serif" panose="02060603050605020204"/>
                <a:cs typeface="DejaVu Serif" panose="02060603050605020204"/>
              </a:rPr>
              <a:t>1</a:t>
            </a:r>
            <a:endParaRPr sz="2251" baseline="-31000">
              <a:latin typeface="DejaVu Serif" panose="02060603050605020204"/>
              <a:cs typeface="DejaVu Serif" panose="02060603050605020204"/>
            </a:endParaRPr>
          </a:p>
        </p:txBody>
      </p:sp>
      <p:sp>
        <p:nvSpPr>
          <p:cNvPr id="14" name="object 5"/>
          <p:cNvSpPr txBox="1"/>
          <p:nvPr/>
        </p:nvSpPr>
        <p:spPr>
          <a:xfrm>
            <a:off x="7937503" y="1363816"/>
            <a:ext cx="408305" cy="3847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960"/>
              </a:lnSpc>
            </a:pPr>
            <a:r>
              <a:rPr sz="2600" b="1" spc="-5" dirty="0">
                <a:solidFill>
                  <a:srgbClr val="191919"/>
                </a:solidFill>
                <a:latin typeface="DejaVu Serif" panose="02060603050605020204"/>
                <a:cs typeface="DejaVu Serif" panose="02060603050605020204"/>
              </a:rPr>
              <a:t>R</a:t>
            </a:r>
            <a:r>
              <a:rPr sz="2251" b="1" spc="7" baseline="-31000" dirty="0">
                <a:solidFill>
                  <a:srgbClr val="191919"/>
                </a:solidFill>
                <a:latin typeface="DejaVu Serif" panose="02060603050605020204"/>
                <a:cs typeface="DejaVu Serif" panose="02060603050605020204"/>
              </a:rPr>
              <a:t>2</a:t>
            </a:r>
            <a:endParaRPr sz="2251" baseline="-31000">
              <a:latin typeface="DejaVu Serif" panose="02060603050605020204"/>
              <a:cs typeface="DejaVu Serif" panose="02060603050605020204"/>
            </a:endParaRPr>
          </a:p>
        </p:txBody>
      </p:sp>
      <p:graphicFrame>
        <p:nvGraphicFramePr>
          <p:cNvPr id="15" name="object 6"/>
          <p:cNvGraphicFramePr>
            <a:graphicFrameLocks noGrp="1"/>
          </p:cNvGraphicFramePr>
          <p:nvPr/>
        </p:nvGraphicFramePr>
        <p:xfrm>
          <a:off x="5854700" y="1366520"/>
          <a:ext cx="2743200" cy="45770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708">
                <a:tc>
                  <a:txBody>
                    <a:bodyPr/>
                    <a:lstStyle/>
                    <a:p>
                      <a:pPr marL="254000">
                        <a:lnSpc>
                          <a:spcPts val="2940"/>
                        </a:lnSpc>
                      </a:pPr>
                      <a:r>
                        <a:rPr sz="2700" b="1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R</a:t>
                      </a:r>
                      <a:r>
                        <a:rPr sz="2300" b="1" baseline="-31000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0</a:t>
                      </a:r>
                      <a:endParaRPr sz="2300" baseline="-31000">
                        <a:latin typeface="DejaVu Serif" panose="02060603050605020204"/>
                        <a:cs typeface="DejaVu Serif" panose="02060603050605020204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54000">
                        <a:lnSpc>
                          <a:spcPts val="2940"/>
                        </a:lnSpc>
                      </a:pPr>
                      <a:r>
                        <a:rPr sz="2700" b="1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R</a:t>
                      </a:r>
                      <a:r>
                        <a:rPr sz="2300" b="1" baseline="-31000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1</a:t>
                      </a:r>
                      <a:endParaRPr sz="2300" baseline="-31000">
                        <a:latin typeface="DejaVu Serif" panose="02060603050605020204"/>
                        <a:cs typeface="DejaVu Serif" panose="02060603050605020204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54000">
                        <a:lnSpc>
                          <a:spcPts val="2940"/>
                        </a:lnSpc>
                      </a:pPr>
                      <a:r>
                        <a:rPr sz="2700" b="1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R</a:t>
                      </a:r>
                      <a:r>
                        <a:rPr sz="2300" b="1" baseline="-31000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2</a:t>
                      </a:r>
                      <a:endParaRPr sz="2300" baseline="-31000">
                        <a:latin typeface="DejaVu Serif" panose="02060603050605020204"/>
                        <a:cs typeface="DejaVu Serif" panose="02060603050605020204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6" name="object 7"/>
          <p:cNvSpPr txBox="1"/>
          <p:nvPr/>
        </p:nvSpPr>
        <p:spPr>
          <a:xfrm>
            <a:off x="1524003" y="1456052"/>
            <a:ext cx="153035" cy="2789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65"/>
              </a:lnSpc>
            </a:pPr>
            <a:r>
              <a:rPr sz="2000" b="1" dirty="0">
                <a:solidFill>
                  <a:srgbClr val="191919"/>
                </a:solidFill>
                <a:latin typeface="Courier New" panose="02070409020205020404"/>
                <a:cs typeface="Courier New" panose="02070409020205020404"/>
              </a:rPr>
              <a:t>b</a:t>
            </a:r>
            <a:endParaRPr sz="2000">
              <a:latin typeface="Courier New" panose="02070409020205020404"/>
              <a:cs typeface="Courier New" panose="02070409020205020404"/>
            </a:endParaRPr>
          </a:p>
        </p:txBody>
      </p:sp>
      <p:sp>
        <p:nvSpPr>
          <p:cNvPr id="17" name="object 8"/>
          <p:cNvSpPr/>
          <p:nvPr/>
        </p:nvSpPr>
        <p:spPr>
          <a:xfrm>
            <a:off x="1372869" y="1371600"/>
            <a:ext cx="455931" cy="455931"/>
          </a:xfrm>
          <a:custGeom>
            <a:avLst/>
            <a:gdLst/>
            <a:ahLst/>
            <a:cxnLst/>
            <a:rect l="l" t="t" r="r" b="b"/>
            <a:pathLst>
              <a:path w="455930" h="455930">
                <a:moveTo>
                  <a:pt x="455930" y="0"/>
                </a:moveTo>
                <a:lnTo>
                  <a:pt x="0" y="0"/>
                </a:lnTo>
                <a:lnTo>
                  <a:pt x="0" y="455929"/>
                </a:lnTo>
                <a:lnTo>
                  <a:pt x="455930" y="45592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9"/>
          <p:cNvSpPr txBox="1"/>
          <p:nvPr/>
        </p:nvSpPr>
        <p:spPr>
          <a:xfrm>
            <a:off x="1066801" y="1456050"/>
            <a:ext cx="153035" cy="2789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65"/>
              </a:lnSpc>
            </a:pPr>
            <a:r>
              <a:rPr sz="2000" b="1" dirty="0">
                <a:solidFill>
                  <a:srgbClr val="191919"/>
                </a:solidFill>
                <a:latin typeface="Courier New" panose="02070409020205020404"/>
                <a:cs typeface="Courier New" panose="02070409020205020404"/>
              </a:rPr>
              <a:t>b</a:t>
            </a:r>
            <a:endParaRPr sz="2000">
              <a:latin typeface="Courier New" panose="02070409020205020404"/>
              <a:cs typeface="Courier New" panose="02070409020205020404"/>
            </a:endParaRPr>
          </a:p>
        </p:txBody>
      </p:sp>
      <p:sp>
        <p:nvSpPr>
          <p:cNvPr id="19" name="object 10"/>
          <p:cNvSpPr/>
          <p:nvPr/>
        </p:nvSpPr>
        <p:spPr>
          <a:xfrm>
            <a:off x="915669" y="1372869"/>
            <a:ext cx="455931" cy="455931"/>
          </a:xfrm>
          <a:custGeom>
            <a:avLst/>
            <a:gdLst/>
            <a:ahLst/>
            <a:cxnLst/>
            <a:rect l="l" t="t" r="r" b="b"/>
            <a:pathLst>
              <a:path w="455930" h="455930">
                <a:moveTo>
                  <a:pt x="455930" y="0"/>
                </a:moveTo>
                <a:lnTo>
                  <a:pt x="0" y="0"/>
                </a:lnTo>
                <a:lnTo>
                  <a:pt x="0" y="455929"/>
                </a:lnTo>
                <a:lnTo>
                  <a:pt x="455930" y="45592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11"/>
          <p:cNvSpPr txBox="1"/>
          <p:nvPr/>
        </p:nvSpPr>
        <p:spPr>
          <a:xfrm>
            <a:off x="3810003" y="1456052"/>
            <a:ext cx="153035" cy="2789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65"/>
              </a:lnSpc>
            </a:pPr>
            <a:r>
              <a:rPr sz="2000" b="1" dirty="0">
                <a:solidFill>
                  <a:srgbClr val="191919"/>
                </a:solidFill>
                <a:latin typeface="Courier New" panose="02070409020205020404"/>
                <a:cs typeface="Courier New" panose="02070409020205020404"/>
              </a:rPr>
              <a:t>b</a:t>
            </a:r>
            <a:endParaRPr sz="2000">
              <a:latin typeface="Courier New" panose="02070409020205020404"/>
              <a:cs typeface="Courier New" panose="02070409020205020404"/>
            </a:endParaRPr>
          </a:p>
        </p:txBody>
      </p:sp>
      <p:sp>
        <p:nvSpPr>
          <p:cNvPr id="21" name="object 12"/>
          <p:cNvSpPr/>
          <p:nvPr/>
        </p:nvSpPr>
        <p:spPr>
          <a:xfrm>
            <a:off x="3657600" y="1371602"/>
            <a:ext cx="457200" cy="455931"/>
          </a:xfrm>
          <a:custGeom>
            <a:avLst/>
            <a:gdLst/>
            <a:ahLst/>
            <a:cxnLst/>
            <a:rect l="l" t="t" r="r" b="b"/>
            <a:pathLst>
              <a:path w="457200" h="455930">
                <a:moveTo>
                  <a:pt x="457200" y="0"/>
                </a:moveTo>
                <a:lnTo>
                  <a:pt x="0" y="0"/>
                </a:lnTo>
                <a:lnTo>
                  <a:pt x="0" y="455929"/>
                </a:lnTo>
                <a:lnTo>
                  <a:pt x="457200" y="45592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13"/>
          <p:cNvSpPr txBox="1"/>
          <p:nvPr/>
        </p:nvSpPr>
        <p:spPr>
          <a:xfrm>
            <a:off x="2895603" y="1456052"/>
            <a:ext cx="153035" cy="2789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65"/>
              </a:lnSpc>
            </a:pPr>
            <a:r>
              <a:rPr sz="2000" b="1" dirty="0">
                <a:solidFill>
                  <a:srgbClr val="191919"/>
                </a:solidFill>
                <a:latin typeface="Courier New" panose="02070409020205020404"/>
                <a:cs typeface="Courier New" panose="02070409020205020404"/>
              </a:rPr>
              <a:t>b</a:t>
            </a:r>
            <a:endParaRPr sz="2000">
              <a:latin typeface="Courier New" panose="02070409020205020404"/>
              <a:cs typeface="Courier New" panose="02070409020205020404"/>
            </a:endParaRPr>
          </a:p>
        </p:txBody>
      </p:sp>
      <p:sp>
        <p:nvSpPr>
          <p:cNvPr id="28" name="object 14"/>
          <p:cNvSpPr/>
          <p:nvPr/>
        </p:nvSpPr>
        <p:spPr>
          <a:xfrm>
            <a:off x="2744471" y="1371602"/>
            <a:ext cx="455931" cy="455931"/>
          </a:xfrm>
          <a:custGeom>
            <a:avLst/>
            <a:gdLst/>
            <a:ahLst/>
            <a:cxnLst/>
            <a:rect l="l" t="t" r="r" b="b"/>
            <a:pathLst>
              <a:path w="455930" h="455930">
                <a:moveTo>
                  <a:pt x="455930" y="0"/>
                </a:moveTo>
                <a:lnTo>
                  <a:pt x="0" y="0"/>
                </a:lnTo>
                <a:lnTo>
                  <a:pt x="0" y="455929"/>
                </a:lnTo>
                <a:lnTo>
                  <a:pt x="455930" y="45592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15"/>
          <p:cNvSpPr txBox="1"/>
          <p:nvPr/>
        </p:nvSpPr>
        <p:spPr>
          <a:xfrm>
            <a:off x="3352803" y="1456052"/>
            <a:ext cx="153035" cy="2789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65"/>
              </a:lnSpc>
            </a:pPr>
            <a:r>
              <a:rPr sz="2000" b="1" dirty="0">
                <a:solidFill>
                  <a:srgbClr val="191919"/>
                </a:solidFill>
                <a:latin typeface="Courier New" panose="02070409020205020404"/>
                <a:cs typeface="Courier New" panose="02070409020205020404"/>
              </a:rPr>
              <a:t>b</a:t>
            </a:r>
            <a:endParaRPr sz="2000">
              <a:latin typeface="Courier New" panose="02070409020205020404"/>
              <a:cs typeface="Courier New" panose="02070409020205020404"/>
            </a:endParaRPr>
          </a:p>
        </p:txBody>
      </p:sp>
      <p:sp>
        <p:nvSpPr>
          <p:cNvPr id="30" name="object 16"/>
          <p:cNvSpPr/>
          <p:nvPr/>
        </p:nvSpPr>
        <p:spPr>
          <a:xfrm>
            <a:off x="3200400" y="1371602"/>
            <a:ext cx="457200" cy="455931"/>
          </a:xfrm>
          <a:custGeom>
            <a:avLst/>
            <a:gdLst/>
            <a:ahLst/>
            <a:cxnLst/>
            <a:rect l="l" t="t" r="r" b="b"/>
            <a:pathLst>
              <a:path w="457200" h="455930">
                <a:moveTo>
                  <a:pt x="457200" y="0"/>
                </a:moveTo>
                <a:lnTo>
                  <a:pt x="0" y="0"/>
                </a:lnTo>
                <a:lnTo>
                  <a:pt x="0" y="455929"/>
                </a:lnTo>
                <a:lnTo>
                  <a:pt x="457200" y="45592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17"/>
          <p:cNvSpPr txBox="1"/>
          <p:nvPr/>
        </p:nvSpPr>
        <p:spPr>
          <a:xfrm>
            <a:off x="2861313" y="1344930"/>
            <a:ext cx="1137285" cy="4129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600" b="1" dirty="0">
                <a:solidFill>
                  <a:srgbClr val="191919"/>
                </a:solidFill>
                <a:latin typeface="Courier New" panose="02070409020205020404"/>
                <a:cs typeface="Courier New" panose="02070409020205020404"/>
              </a:rPr>
              <a:t>e f</a:t>
            </a:r>
            <a:r>
              <a:rPr sz="2600" b="1" spc="840" dirty="0">
                <a:solidFill>
                  <a:srgbClr val="191919"/>
                </a:solidFill>
                <a:latin typeface="Courier New" panose="02070409020205020404"/>
                <a:cs typeface="Courier New" panose="02070409020205020404"/>
              </a:rPr>
              <a:t> </a:t>
            </a:r>
            <a:r>
              <a:rPr sz="2600" b="1" dirty="0">
                <a:solidFill>
                  <a:srgbClr val="191919"/>
                </a:solidFill>
                <a:latin typeface="Courier New" panose="02070409020205020404"/>
                <a:cs typeface="Courier New" panose="02070409020205020404"/>
              </a:rPr>
              <a:t>g</a:t>
            </a:r>
            <a:endParaRPr sz="2600">
              <a:latin typeface="Courier New" panose="02070409020205020404"/>
              <a:cs typeface="Courier New" panose="02070409020205020404"/>
            </a:endParaRPr>
          </a:p>
        </p:txBody>
      </p:sp>
      <p:sp>
        <p:nvSpPr>
          <p:cNvPr id="32" name="object 18"/>
          <p:cNvSpPr txBox="1"/>
          <p:nvPr/>
        </p:nvSpPr>
        <p:spPr>
          <a:xfrm>
            <a:off x="1032511" y="1346201"/>
            <a:ext cx="1137285" cy="4129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600" b="1" dirty="0">
                <a:solidFill>
                  <a:srgbClr val="191919"/>
                </a:solidFill>
                <a:latin typeface="Courier New" panose="02070409020205020404"/>
                <a:cs typeface="Courier New" panose="02070409020205020404"/>
              </a:rPr>
              <a:t>a b</a:t>
            </a:r>
            <a:r>
              <a:rPr sz="2600" b="1" spc="840" dirty="0">
                <a:solidFill>
                  <a:srgbClr val="191919"/>
                </a:solidFill>
                <a:latin typeface="Courier New" panose="02070409020205020404"/>
                <a:cs typeface="Courier New" panose="02070409020205020404"/>
              </a:rPr>
              <a:t> </a:t>
            </a:r>
            <a:r>
              <a:rPr sz="2600" b="1" dirty="0">
                <a:solidFill>
                  <a:srgbClr val="191919"/>
                </a:solidFill>
                <a:latin typeface="Courier New" panose="02070409020205020404"/>
                <a:cs typeface="Courier New" panose="02070409020205020404"/>
              </a:rPr>
              <a:t>c</a:t>
            </a:r>
            <a:endParaRPr sz="2600">
              <a:latin typeface="Courier New" panose="02070409020205020404"/>
              <a:cs typeface="Courier New" panose="02070409020205020404"/>
            </a:endParaRPr>
          </a:p>
        </p:txBody>
      </p:sp>
      <p:sp>
        <p:nvSpPr>
          <p:cNvPr id="33" name="object 19"/>
          <p:cNvSpPr txBox="1"/>
          <p:nvPr/>
        </p:nvSpPr>
        <p:spPr>
          <a:xfrm>
            <a:off x="2438403" y="1456052"/>
            <a:ext cx="153035" cy="2789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65"/>
              </a:lnSpc>
            </a:pPr>
            <a:r>
              <a:rPr sz="2000" b="1" dirty="0">
                <a:solidFill>
                  <a:srgbClr val="191919"/>
                </a:solidFill>
                <a:latin typeface="Courier New" panose="02070409020205020404"/>
                <a:cs typeface="Courier New" panose="02070409020205020404"/>
              </a:rPr>
              <a:t>b</a:t>
            </a:r>
            <a:endParaRPr sz="2000">
              <a:latin typeface="Courier New" panose="02070409020205020404"/>
              <a:cs typeface="Courier New" panose="02070409020205020404"/>
            </a:endParaRPr>
          </a:p>
        </p:txBody>
      </p:sp>
      <p:sp>
        <p:nvSpPr>
          <p:cNvPr id="34" name="object 20"/>
          <p:cNvSpPr/>
          <p:nvPr/>
        </p:nvSpPr>
        <p:spPr>
          <a:xfrm>
            <a:off x="2287271" y="1372871"/>
            <a:ext cx="455931" cy="455931"/>
          </a:xfrm>
          <a:custGeom>
            <a:avLst/>
            <a:gdLst/>
            <a:ahLst/>
            <a:cxnLst/>
            <a:rect l="l" t="t" r="r" b="b"/>
            <a:pathLst>
              <a:path w="455930" h="455930">
                <a:moveTo>
                  <a:pt x="455930" y="0"/>
                </a:moveTo>
                <a:lnTo>
                  <a:pt x="0" y="0"/>
                </a:lnTo>
                <a:lnTo>
                  <a:pt x="0" y="455929"/>
                </a:lnTo>
                <a:lnTo>
                  <a:pt x="455930" y="45592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21"/>
          <p:cNvSpPr txBox="1"/>
          <p:nvPr/>
        </p:nvSpPr>
        <p:spPr>
          <a:xfrm>
            <a:off x="2396491" y="1327153"/>
            <a:ext cx="239395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800" b="1" dirty="0">
                <a:solidFill>
                  <a:srgbClr val="191919"/>
                </a:solidFill>
                <a:latin typeface="Courier New" panose="02070409020205020404"/>
                <a:cs typeface="Courier New" panose="02070409020205020404"/>
              </a:rPr>
              <a:t>d</a:t>
            </a:r>
            <a:endParaRPr sz="2800">
              <a:latin typeface="Courier New" panose="02070409020205020404"/>
              <a:cs typeface="Courier New" panose="02070409020205020404"/>
            </a:endParaRPr>
          </a:p>
        </p:txBody>
      </p:sp>
      <p:sp>
        <p:nvSpPr>
          <p:cNvPr id="38" name="object 24"/>
          <p:cNvSpPr/>
          <p:nvPr/>
        </p:nvSpPr>
        <p:spPr>
          <a:xfrm>
            <a:off x="914400" y="1830069"/>
            <a:ext cx="457200" cy="4113531"/>
          </a:xfrm>
          <a:custGeom>
            <a:avLst/>
            <a:gdLst/>
            <a:ahLst/>
            <a:cxnLst/>
            <a:rect l="l" t="t" r="r" b="b"/>
            <a:pathLst>
              <a:path w="457200" h="4113529">
                <a:moveTo>
                  <a:pt x="457200" y="0"/>
                </a:moveTo>
                <a:lnTo>
                  <a:pt x="0" y="0"/>
                </a:lnTo>
                <a:lnTo>
                  <a:pt x="0" y="4113529"/>
                </a:lnTo>
                <a:lnTo>
                  <a:pt x="457200" y="4113529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25"/>
          <p:cNvSpPr/>
          <p:nvPr/>
        </p:nvSpPr>
        <p:spPr>
          <a:xfrm>
            <a:off x="914400" y="1830069"/>
            <a:ext cx="457200" cy="4113531"/>
          </a:xfrm>
          <a:custGeom>
            <a:avLst/>
            <a:gdLst/>
            <a:ahLst/>
            <a:cxnLst/>
            <a:rect l="l" t="t" r="r" b="b"/>
            <a:pathLst>
              <a:path w="457200" h="4113529">
                <a:moveTo>
                  <a:pt x="228600" y="4113529"/>
                </a:moveTo>
                <a:lnTo>
                  <a:pt x="0" y="4113529"/>
                </a:lnTo>
                <a:lnTo>
                  <a:pt x="0" y="0"/>
                </a:lnTo>
                <a:lnTo>
                  <a:pt x="457200" y="0"/>
                </a:lnTo>
                <a:lnTo>
                  <a:pt x="457200" y="4113529"/>
                </a:lnTo>
                <a:lnTo>
                  <a:pt x="228600" y="4113529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26"/>
          <p:cNvSpPr/>
          <p:nvPr/>
        </p:nvSpPr>
        <p:spPr>
          <a:xfrm>
            <a:off x="1372869" y="1828800"/>
            <a:ext cx="455931" cy="1371600"/>
          </a:xfrm>
          <a:custGeom>
            <a:avLst/>
            <a:gdLst/>
            <a:ahLst/>
            <a:cxnLst/>
            <a:rect l="l" t="t" r="r" b="b"/>
            <a:pathLst>
              <a:path w="455930" h="1371600">
                <a:moveTo>
                  <a:pt x="455930" y="0"/>
                </a:moveTo>
                <a:lnTo>
                  <a:pt x="0" y="0"/>
                </a:lnTo>
                <a:lnTo>
                  <a:pt x="0" y="1371600"/>
                </a:lnTo>
                <a:lnTo>
                  <a:pt x="455930" y="1371600"/>
                </a:lnTo>
                <a:close/>
              </a:path>
            </a:pathLst>
          </a:custGeom>
          <a:solidFill>
            <a:srgbClr val="00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27"/>
          <p:cNvSpPr/>
          <p:nvPr/>
        </p:nvSpPr>
        <p:spPr>
          <a:xfrm>
            <a:off x="1372869" y="1828800"/>
            <a:ext cx="455931" cy="1371600"/>
          </a:xfrm>
          <a:custGeom>
            <a:avLst/>
            <a:gdLst/>
            <a:ahLst/>
            <a:cxnLst/>
            <a:rect l="l" t="t" r="r" b="b"/>
            <a:pathLst>
              <a:path w="455930" h="1371600">
                <a:moveTo>
                  <a:pt x="228600" y="1371600"/>
                </a:moveTo>
                <a:lnTo>
                  <a:pt x="0" y="1371600"/>
                </a:lnTo>
                <a:lnTo>
                  <a:pt x="0" y="0"/>
                </a:lnTo>
                <a:lnTo>
                  <a:pt x="455930" y="0"/>
                </a:lnTo>
                <a:lnTo>
                  <a:pt x="455930" y="1371600"/>
                </a:lnTo>
                <a:lnTo>
                  <a:pt x="228600" y="137160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28"/>
          <p:cNvSpPr/>
          <p:nvPr/>
        </p:nvSpPr>
        <p:spPr>
          <a:xfrm>
            <a:off x="1830071" y="1830071"/>
            <a:ext cx="455931" cy="914400"/>
          </a:xfrm>
          <a:custGeom>
            <a:avLst/>
            <a:gdLst/>
            <a:ahLst/>
            <a:cxnLst/>
            <a:rect l="l" t="t" r="r" b="b"/>
            <a:pathLst>
              <a:path w="455930" h="914400">
                <a:moveTo>
                  <a:pt x="455930" y="0"/>
                </a:moveTo>
                <a:lnTo>
                  <a:pt x="0" y="0"/>
                </a:lnTo>
                <a:lnTo>
                  <a:pt x="0" y="914400"/>
                </a:lnTo>
                <a:lnTo>
                  <a:pt x="455930" y="914400"/>
                </a:lnTo>
                <a:close/>
              </a:path>
            </a:pathLst>
          </a:custGeom>
          <a:solidFill>
            <a:srgbClr val="FF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29"/>
          <p:cNvSpPr/>
          <p:nvPr/>
        </p:nvSpPr>
        <p:spPr>
          <a:xfrm>
            <a:off x="1830071" y="1830071"/>
            <a:ext cx="455931" cy="914400"/>
          </a:xfrm>
          <a:custGeom>
            <a:avLst/>
            <a:gdLst/>
            <a:ahLst/>
            <a:cxnLst/>
            <a:rect l="l" t="t" r="r" b="b"/>
            <a:pathLst>
              <a:path w="455930" h="914400">
                <a:moveTo>
                  <a:pt x="228600" y="914400"/>
                </a:moveTo>
                <a:lnTo>
                  <a:pt x="0" y="914400"/>
                </a:lnTo>
                <a:lnTo>
                  <a:pt x="0" y="0"/>
                </a:lnTo>
                <a:lnTo>
                  <a:pt x="455930" y="0"/>
                </a:lnTo>
                <a:lnTo>
                  <a:pt x="455930" y="914400"/>
                </a:lnTo>
                <a:lnTo>
                  <a:pt x="228600" y="91440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30"/>
          <p:cNvSpPr/>
          <p:nvPr/>
        </p:nvSpPr>
        <p:spPr>
          <a:xfrm>
            <a:off x="2287271" y="2286002"/>
            <a:ext cx="455931" cy="3199131"/>
          </a:xfrm>
          <a:custGeom>
            <a:avLst/>
            <a:gdLst/>
            <a:ahLst/>
            <a:cxnLst/>
            <a:rect l="l" t="t" r="r" b="b"/>
            <a:pathLst>
              <a:path w="455930" h="3199129">
                <a:moveTo>
                  <a:pt x="455930" y="0"/>
                </a:moveTo>
                <a:lnTo>
                  <a:pt x="0" y="0"/>
                </a:lnTo>
                <a:lnTo>
                  <a:pt x="0" y="3199130"/>
                </a:lnTo>
                <a:lnTo>
                  <a:pt x="455930" y="3199130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31"/>
          <p:cNvSpPr/>
          <p:nvPr/>
        </p:nvSpPr>
        <p:spPr>
          <a:xfrm>
            <a:off x="2287271" y="2286002"/>
            <a:ext cx="455931" cy="3199131"/>
          </a:xfrm>
          <a:custGeom>
            <a:avLst/>
            <a:gdLst/>
            <a:ahLst/>
            <a:cxnLst/>
            <a:rect l="l" t="t" r="r" b="b"/>
            <a:pathLst>
              <a:path w="455930" h="3199129">
                <a:moveTo>
                  <a:pt x="227330" y="3199130"/>
                </a:moveTo>
                <a:lnTo>
                  <a:pt x="0" y="3199130"/>
                </a:lnTo>
                <a:lnTo>
                  <a:pt x="0" y="0"/>
                </a:lnTo>
                <a:lnTo>
                  <a:pt x="455930" y="0"/>
                </a:lnTo>
                <a:lnTo>
                  <a:pt x="455930" y="3199130"/>
                </a:lnTo>
                <a:lnTo>
                  <a:pt x="227330" y="319913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32"/>
          <p:cNvSpPr/>
          <p:nvPr/>
        </p:nvSpPr>
        <p:spPr>
          <a:xfrm>
            <a:off x="2743200" y="2743200"/>
            <a:ext cx="457200" cy="2286000"/>
          </a:xfrm>
          <a:custGeom>
            <a:avLst/>
            <a:gdLst/>
            <a:ahLst/>
            <a:cxnLst/>
            <a:rect l="l" t="t" r="r" b="b"/>
            <a:pathLst>
              <a:path w="457200" h="2286000">
                <a:moveTo>
                  <a:pt x="457200" y="0"/>
                </a:moveTo>
                <a:lnTo>
                  <a:pt x="0" y="0"/>
                </a:lnTo>
                <a:lnTo>
                  <a:pt x="0" y="2286000"/>
                </a:lnTo>
                <a:lnTo>
                  <a:pt x="457200" y="2286000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33"/>
          <p:cNvSpPr/>
          <p:nvPr/>
        </p:nvSpPr>
        <p:spPr>
          <a:xfrm>
            <a:off x="2743200" y="2743200"/>
            <a:ext cx="457200" cy="2286000"/>
          </a:xfrm>
          <a:custGeom>
            <a:avLst/>
            <a:gdLst/>
            <a:ahLst/>
            <a:cxnLst/>
            <a:rect l="l" t="t" r="r" b="b"/>
            <a:pathLst>
              <a:path w="457200" h="2286000">
                <a:moveTo>
                  <a:pt x="228600" y="2286000"/>
                </a:moveTo>
                <a:lnTo>
                  <a:pt x="0" y="2286000"/>
                </a:lnTo>
                <a:lnTo>
                  <a:pt x="0" y="0"/>
                </a:lnTo>
                <a:lnTo>
                  <a:pt x="457200" y="0"/>
                </a:lnTo>
                <a:lnTo>
                  <a:pt x="457200" y="2286000"/>
                </a:lnTo>
                <a:lnTo>
                  <a:pt x="228600" y="228600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34"/>
          <p:cNvSpPr/>
          <p:nvPr/>
        </p:nvSpPr>
        <p:spPr>
          <a:xfrm>
            <a:off x="3200400" y="2744473"/>
            <a:ext cx="457200" cy="3199765"/>
          </a:xfrm>
          <a:custGeom>
            <a:avLst/>
            <a:gdLst/>
            <a:ahLst/>
            <a:cxnLst/>
            <a:rect l="l" t="t" r="r" b="b"/>
            <a:pathLst>
              <a:path w="457200" h="3199129">
                <a:moveTo>
                  <a:pt x="457200" y="0"/>
                </a:moveTo>
                <a:lnTo>
                  <a:pt x="0" y="0"/>
                </a:lnTo>
                <a:lnTo>
                  <a:pt x="0" y="3199129"/>
                </a:lnTo>
                <a:lnTo>
                  <a:pt x="457200" y="3199129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35"/>
          <p:cNvSpPr/>
          <p:nvPr/>
        </p:nvSpPr>
        <p:spPr>
          <a:xfrm>
            <a:off x="3200400" y="2744471"/>
            <a:ext cx="457200" cy="3199131"/>
          </a:xfrm>
          <a:custGeom>
            <a:avLst/>
            <a:gdLst/>
            <a:ahLst/>
            <a:cxnLst/>
            <a:rect l="l" t="t" r="r" b="b"/>
            <a:pathLst>
              <a:path w="457200" h="3199129">
                <a:moveTo>
                  <a:pt x="228600" y="3199129"/>
                </a:moveTo>
                <a:lnTo>
                  <a:pt x="0" y="3199129"/>
                </a:lnTo>
                <a:lnTo>
                  <a:pt x="0" y="0"/>
                </a:lnTo>
                <a:lnTo>
                  <a:pt x="457200" y="0"/>
                </a:lnTo>
                <a:lnTo>
                  <a:pt x="457200" y="3199129"/>
                </a:lnTo>
                <a:lnTo>
                  <a:pt x="228600" y="3199129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36"/>
          <p:cNvSpPr/>
          <p:nvPr/>
        </p:nvSpPr>
        <p:spPr>
          <a:xfrm>
            <a:off x="3657600" y="3200400"/>
            <a:ext cx="457200" cy="2286000"/>
          </a:xfrm>
          <a:custGeom>
            <a:avLst/>
            <a:gdLst/>
            <a:ahLst/>
            <a:cxnLst/>
            <a:rect l="l" t="t" r="r" b="b"/>
            <a:pathLst>
              <a:path w="457200" h="2286000">
                <a:moveTo>
                  <a:pt x="457200" y="0"/>
                </a:moveTo>
                <a:lnTo>
                  <a:pt x="0" y="0"/>
                </a:lnTo>
                <a:lnTo>
                  <a:pt x="0" y="2286000"/>
                </a:lnTo>
                <a:lnTo>
                  <a:pt x="457200" y="2286000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37"/>
          <p:cNvSpPr/>
          <p:nvPr/>
        </p:nvSpPr>
        <p:spPr>
          <a:xfrm>
            <a:off x="3657600" y="3200400"/>
            <a:ext cx="457200" cy="2286000"/>
          </a:xfrm>
          <a:custGeom>
            <a:avLst/>
            <a:gdLst/>
            <a:ahLst/>
            <a:cxnLst/>
            <a:rect l="l" t="t" r="r" b="b"/>
            <a:pathLst>
              <a:path w="457200" h="2286000">
                <a:moveTo>
                  <a:pt x="228600" y="2286000"/>
                </a:moveTo>
                <a:lnTo>
                  <a:pt x="0" y="2286000"/>
                </a:lnTo>
                <a:lnTo>
                  <a:pt x="0" y="0"/>
                </a:lnTo>
                <a:lnTo>
                  <a:pt x="457200" y="0"/>
                </a:lnTo>
                <a:lnTo>
                  <a:pt x="457200" y="2286000"/>
                </a:lnTo>
                <a:lnTo>
                  <a:pt x="228600" y="228600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cxnSp>
        <p:nvCxnSpPr>
          <p:cNvPr id="2" name="直接连接符 1"/>
          <p:cNvCxnSpPr/>
          <p:nvPr/>
        </p:nvCxnSpPr>
        <p:spPr>
          <a:xfrm>
            <a:off x="234951" y="2513331"/>
            <a:ext cx="4102735" cy="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object 39"/>
          <p:cNvSpPr txBox="1"/>
          <p:nvPr/>
        </p:nvSpPr>
        <p:spPr>
          <a:xfrm>
            <a:off x="9255127" y="1229996"/>
            <a:ext cx="2124075" cy="5345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84226" marR="5080" indent="-971526" algn="ctr">
              <a:lnSpc>
                <a:spcPct val="135000"/>
              </a:lnSpc>
              <a:spcBef>
                <a:spcPts val="1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楷体_GB2312" panose="02010609030101010101" charset="-122"/>
                <a:ea typeface="楷体_GB2312" panose="02010609030101010101" charset="-122"/>
                <a:cs typeface="Purisa" panose="02000603000000000000"/>
              </a:rPr>
              <a:t>如何处理？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4744088" y="1868171"/>
            <a:ext cx="7301231" cy="230832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latin typeface="楷体_GB2312" panose="02010609030101010101" charset="-122"/>
                <a:ea typeface="楷体_GB2312" panose="02010609030101010101" charset="-122"/>
                <a:cs typeface="楷体_GB2312" panose="02010609030101010101" charset="-122"/>
              </a:rPr>
              <a:t>选择策略？</a:t>
            </a: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latin typeface="楷体_GB2312" panose="02010609030101010101" charset="-122"/>
                <a:ea typeface="楷体_GB2312" panose="02010609030101010101" charset="-122"/>
                <a:cs typeface="楷体_GB2312" panose="02010609030101010101" charset="-122"/>
              </a:rPr>
              <a:t>根据变量的活跃间隔来决定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latin typeface="楷体_GB2312" panose="02010609030101010101" charset="-122"/>
                <a:ea typeface="楷体_GB2312" panose="02010609030101010101" charset="-122"/>
                <a:cs typeface="楷体_GB2312" panose="02010609030101010101" charset="-122"/>
              </a:rPr>
              <a:t>   </a:t>
            </a:r>
            <a:r>
              <a:rPr lang="zh-CN" altLang="en-US" sz="2400" b="1" dirty="0" smtClean="0">
                <a:latin typeface="楷体_GB2312" panose="02010609030101010101" charset="-122"/>
                <a:ea typeface="楷体_GB2312" panose="02010609030101010101" charset="-122"/>
                <a:cs typeface="楷体_GB2312" panose="02010609030101010101" charset="-122"/>
              </a:rPr>
              <a:t>溢出</a:t>
            </a:r>
            <a:r>
              <a:rPr lang="en-US" altLang="zh-CN" sz="2400" b="1" dirty="0" err="1">
                <a:solidFill>
                  <a:srgbClr val="C00000"/>
                </a:solidFill>
                <a:latin typeface="楷体_GB2312" panose="02010609030101010101" charset="-122"/>
                <a:ea typeface="楷体_GB2312" panose="02010609030101010101" charset="-122"/>
                <a:cs typeface="楷体_GB2312" panose="02010609030101010101" charset="-122"/>
              </a:rPr>
              <a:t>最后</a:t>
            </a:r>
            <a:r>
              <a:rPr lang="en-US" altLang="zh-CN" sz="2400" b="1" dirty="0" err="1">
                <a:latin typeface="楷体_GB2312" panose="02010609030101010101" charset="-122"/>
                <a:ea typeface="楷体_GB2312" panose="02010609030101010101" charset="-122"/>
                <a:cs typeface="楷体_GB2312" panose="02010609030101010101" charset="-122"/>
              </a:rPr>
              <a:t>结束的间隔</a:t>
            </a:r>
            <a:r>
              <a:rPr lang="en-US" altLang="zh-CN" sz="2400" b="1" dirty="0">
                <a:latin typeface="楷体_GB2312" panose="02010609030101010101" charset="-122"/>
                <a:ea typeface="楷体_GB2312" panose="02010609030101010101" charset="-122"/>
                <a:cs typeface="楷体_GB2312" panose="02010609030101010101" charset="-122"/>
              </a:rPr>
              <a:t>，</a:t>
            </a:r>
            <a:r>
              <a:rPr lang="zh-CN" altLang="en-US" sz="2400" b="1" dirty="0">
                <a:latin typeface="楷体_GB2312" panose="02010609030101010101" charset="-122"/>
                <a:ea typeface="楷体_GB2312" panose="02010609030101010101" charset="-122"/>
                <a:cs typeface="楷体_GB2312" panose="02010609030101010101" charset="-122"/>
              </a:rPr>
              <a:t>即</a:t>
            </a:r>
            <a:r>
              <a:rPr lang="en-US" altLang="zh-CN" sz="2400" b="1" dirty="0" err="1">
                <a:latin typeface="楷体_GB2312" panose="02010609030101010101" charset="-122"/>
                <a:ea typeface="楷体_GB2312" panose="02010609030101010101" charset="-122"/>
                <a:cs typeface="楷体_GB2312" panose="02010609030101010101" charset="-122"/>
              </a:rPr>
              <a:t>距离当前点</a:t>
            </a:r>
            <a:r>
              <a:rPr lang="en-US" altLang="zh-CN" sz="2400" b="1" dirty="0" err="1">
                <a:solidFill>
                  <a:srgbClr val="C00000"/>
                </a:solidFill>
                <a:latin typeface="楷体_GB2312" panose="02010609030101010101" charset="-122"/>
                <a:ea typeface="楷体_GB2312" panose="02010609030101010101" charset="-122"/>
                <a:cs typeface="楷体_GB2312" panose="02010609030101010101" charset="-122"/>
              </a:rPr>
              <a:t>最远</a:t>
            </a:r>
            <a:r>
              <a:rPr lang="zh-CN" altLang="en-US" sz="2400" b="1" dirty="0">
                <a:latin typeface="楷体_GB2312" panose="02010609030101010101" charset="-122"/>
                <a:ea typeface="楷体_GB2312" panose="02010609030101010101" charset="-122"/>
                <a:cs typeface="楷体_GB2312" panose="02010609030101010101" charset="-122"/>
              </a:rPr>
              <a:t>的间隔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latin typeface="楷体_GB2312" panose="02010609030101010101" charset="-122"/>
                <a:ea typeface="楷体_GB2312" panose="02010609030101010101" charset="-122"/>
                <a:cs typeface="楷体_GB2312" panose="02010609030101010101" charset="-122"/>
                <a:sym typeface="+mn-ea"/>
              </a:rPr>
              <a:t>   </a:t>
            </a:r>
            <a:r>
              <a:rPr lang="zh-CN" altLang="en-US" sz="2400" b="1" dirty="0" smtClean="0">
                <a:latin typeface="楷体_GB2312" panose="02010609030101010101" charset="-122"/>
                <a:ea typeface="楷体_GB2312" panose="02010609030101010101" charset="-122"/>
                <a:cs typeface="楷体_GB2312" panose="02010609030101010101" charset="-122"/>
                <a:sym typeface="+mn-ea"/>
              </a:rPr>
              <a:t>溢出</a:t>
            </a:r>
            <a:r>
              <a:rPr lang="en-US" altLang="zh-CN" sz="2400" b="1" dirty="0">
                <a:solidFill>
                  <a:srgbClr val="C00000"/>
                </a:solidFill>
                <a:latin typeface="楷体_GB2312" panose="02010609030101010101" charset="-122"/>
                <a:ea typeface="楷体_GB2312" panose="02010609030101010101" charset="-122"/>
                <a:cs typeface="楷体_GB2312" panose="02010609030101010101" charset="-122"/>
                <a:sym typeface="+mn-ea"/>
              </a:rPr>
              <a:t>最</a:t>
            </a:r>
            <a:r>
              <a:rPr lang="zh-CN" altLang="en-US" sz="2400" b="1" dirty="0">
                <a:solidFill>
                  <a:srgbClr val="C00000"/>
                </a:solidFill>
                <a:latin typeface="楷体_GB2312" panose="02010609030101010101" charset="-122"/>
                <a:ea typeface="楷体_GB2312" panose="02010609030101010101" charset="-122"/>
                <a:cs typeface="楷体_GB2312" panose="02010609030101010101" charset="-122"/>
                <a:sym typeface="+mn-ea"/>
              </a:rPr>
              <a:t>先</a:t>
            </a:r>
            <a:r>
              <a:rPr lang="en-US" altLang="zh-CN" sz="2400" b="1" dirty="0" err="1">
                <a:latin typeface="楷体_GB2312" panose="02010609030101010101" charset="-122"/>
                <a:ea typeface="楷体_GB2312" panose="02010609030101010101" charset="-122"/>
                <a:cs typeface="楷体_GB2312" panose="02010609030101010101" charset="-122"/>
                <a:sym typeface="+mn-ea"/>
              </a:rPr>
              <a:t>结束的间隔</a:t>
            </a:r>
            <a:r>
              <a:rPr lang="en-US" altLang="zh-CN" sz="2400" b="1" dirty="0">
                <a:latin typeface="楷体_GB2312" panose="02010609030101010101" charset="-122"/>
                <a:ea typeface="楷体_GB2312" panose="02010609030101010101" charset="-122"/>
                <a:cs typeface="楷体_GB2312" panose="02010609030101010101" charset="-122"/>
                <a:sym typeface="+mn-ea"/>
              </a:rPr>
              <a:t>，</a:t>
            </a:r>
            <a:r>
              <a:rPr lang="zh-CN" altLang="en-US" sz="2400" b="1" dirty="0">
                <a:latin typeface="楷体_GB2312" panose="02010609030101010101" charset="-122"/>
                <a:ea typeface="楷体_GB2312" panose="02010609030101010101" charset="-122"/>
                <a:cs typeface="楷体_GB2312" panose="02010609030101010101" charset="-122"/>
                <a:sym typeface="+mn-ea"/>
              </a:rPr>
              <a:t>即</a:t>
            </a:r>
            <a:r>
              <a:rPr lang="en-US" altLang="zh-CN" sz="2400" b="1" dirty="0" err="1">
                <a:latin typeface="楷体_GB2312" panose="02010609030101010101" charset="-122"/>
                <a:ea typeface="楷体_GB2312" panose="02010609030101010101" charset="-122"/>
                <a:cs typeface="楷体_GB2312" panose="02010609030101010101" charset="-122"/>
                <a:sym typeface="+mn-ea"/>
              </a:rPr>
              <a:t>距离当前点</a:t>
            </a:r>
            <a:r>
              <a:rPr lang="en-US" altLang="zh-CN" sz="2400" b="1" dirty="0" err="1">
                <a:solidFill>
                  <a:srgbClr val="C00000"/>
                </a:solidFill>
                <a:latin typeface="楷体_GB2312" panose="02010609030101010101" charset="-122"/>
                <a:ea typeface="楷体_GB2312" panose="02010609030101010101" charset="-122"/>
                <a:cs typeface="楷体_GB2312" panose="02010609030101010101" charset="-122"/>
                <a:sym typeface="+mn-ea"/>
              </a:rPr>
              <a:t>最</a:t>
            </a:r>
            <a:r>
              <a:rPr lang="zh-CN" altLang="en-US" sz="2400" b="1" dirty="0">
                <a:solidFill>
                  <a:srgbClr val="C00000"/>
                </a:solidFill>
                <a:latin typeface="楷体_GB2312" panose="02010609030101010101" charset="-122"/>
                <a:ea typeface="楷体_GB2312" panose="02010609030101010101" charset="-122"/>
                <a:cs typeface="楷体_GB2312" panose="02010609030101010101" charset="-122"/>
                <a:sym typeface="+mn-ea"/>
              </a:rPr>
              <a:t>近</a:t>
            </a:r>
            <a:r>
              <a:rPr lang="zh-CN" altLang="en-US" sz="2400" b="1" dirty="0">
                <a:latin typeface="楷体_GB2312" panose="02010609030101010101" charset="-122"/>
                <a:ea typeface="楷体_GB2312" panose="02010609030101010101" charset="-122"/>
                <a:cs typeface="楷体_GB2312" panose="02010609030101010101" charset="-122"/>
                <a:sym typeface="+mn-ea"/>
              </a:rPr>
              <a:t>的间隔</a:t>
            </a:r>
            <a:endParaRPr lang="zh-CN" altLang="en-US" sz="2400" b="1" dirty="0">
              <a:latin typeface="楷体_GB2312" panose="02010609030101010101" charset="-122"/>
              <a:ea typeface="楷体_GB2312" panose="02010609030101010101" charset="-122"/>
              <a:cs typeface="楷体_GB2312" panose="0201060903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C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8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  <p:set>
                                      <p:cBhvr>
                                        <p:cTn id="2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5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00"/>
                                      </p:to>
                                    </p:animClr>
                                    <p:set>
                                      <p:cBhvr>
                                        <p:cTn id="2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9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b="1" dirty="0">
                <a:latin typeface="楷体_GB2312" panose="02010609030101010101" charset="-122"/>
                <a:ea typeface="楷体_GB2312" panose="02010609030101010101" charset="-122"/>
                <a:sym typeface="+mn-ea"/>
              </a:rPr>
              <a:t>寄存器分配示例</a:t>
            </a:r>
            <a:r>
              <a:rPr lang="en-US" altLang="zh-CN" b="1" dirty="0">
                <a:latin typeface="楷体_GB2312" panose="02010609030101010101" charset="-122"/>
                <a:ea typeface="楷体_GB2312" panose="02010609030101010101" charset="-122"/>
                <a:sym typeface="+mn-ea"/>
              </a:rPr>
              <a:t>2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34</a:t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object 3"/>
          <p:cNvSpPr txBox="1"/>
          <p:nvPr/>
        </p:nvSpPr>
        <p:spPr>
          <a:xfrm>
            <a:off x="6108703" y="1363816"/>
            <a:ext cx="408305" cy="3847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960"/>
              </a:lnSpc>
            </a:pPr>
            <a:r>
              <a:rPr sz="2600" b="1" spc="-5" dirty="0">
                <a:solidFill>
                  <a:srgbClr val="191919"/>
                </a:solidFill>
                <a:latin typeface="DejaVu Serif" panose="02060603050605020204"/>
                <a:cs typeface="DejaVu Serif" panose="02060603050605020204"/>
              </a:rPr>
              <a:t>R</a:t>
            </a:r>
            <a:r>
              <a:rPr sz="2251" b="1" spc="7" baseline="-31000" dirty="0">
                <a:solidFill>
                  <a:srgbClr val="191919"/>
                </a:solidFill>
                <a:latin typeface="DejaVu Serif" panose="02060603050605020204"/>
                <a:cs typeface="DejaVu Serif" panose="02060603050605020204"/>
              </a:rPr>
              <a:t>0</a:t>
            </a:r>
            <a:endParaRPr sz="2251" baseline="-31000">
              <a:latin typeface="DejaVu Serif" panose="02060603050605020204"/>
              <a:cs typeface="DejaVu Serif" panose="02060603050605020204"/>
            </a:endParaRPr>
          </a:p>
        </p:txBody>
      </p:sp>
      <p:sp>
        <p:nvSpPr>
          <p:cNvPr id="6" name="object 4"/>
          <p:cNvSpPr txBox="1"/>
          <p:nvPr/>
        </p:nvSpPr>
        <p:spPr>
          <a:xfrm>
            <a:off x="7023103" y="1363816"/>
            <a:ext cx="408305" cy="3847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960"/>
              </a:lnSpc>
            </a:pPr>
            <a:r>
              <a:rPr sz="2600" b="1" spc="-5" dirty="0">
                <a:solidFill>
                  <a:srgbClr val="191919"/>
                </a:solidFill>
                <a:latin typeface="DejaVu Serif" panose="02060603050605020204"/>
                <a:cs typeface="DejaVu Serif" panose="02060603050605020204"/>
              </a:rPr>
              <a:t>R</a:t>
            </a:r>
            <a:r>
              <a:rPr sz="2251" b="1" spc="7" baseline="-31000" dirty="0">
                <a:solidFill>
                  <a:srgbClr val="191919"/>
                </a:solidFill>
                <a:latin typeface="DejaVu Serif" panose="02060603050605020204"/>
                <a:cs typeface="DejaVu Serif" panose="02060603050605020204"/>
              </a:rPr>
              <a:t>1</a:t>
            </a:r>
            <a:endParaRPr sz="2251" baseline="-31000">
              <a:latin typeface="DejaVu Serif" panose="02060603050605020204"/>
              <a:cs typeface="DejaVu Serif" panose="02060603050605020204"/>
            </a:endParaRPr>
          </a:p>
        </p:txBody>
      </p:sp>
      <p:sp>
        <p:nvSpPr>
          <p:cNvPr id="14" name="object 5"/>
          <p:cNvSpPr txBox="1"/>
          <p:nvPr/>
        </p:nvSpPr>
        <p:spPr>
          <a:xfrm>
            <a:off x="7937503" y="1363816"/>
            <a:ext cx="408305" cy="3847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960"/>
              </a:lnSpc>
            </a:pPr>
            <a:r>
              <a:rPr sz="2600" b="1" spc="-5" dirty="0">
                <a:solidFill>
                  <a:srgbClr val="191919"/>
                </a:solidFill>
                <a:latin typeface="DejaVu Serif" panose="02060603050605020204"/>
                <a:cs typeface="DejaVu Serif" panose="02060603050605020204"/>
              </a:rPr>
              <a:t>R</a:t>
            </a:r>
            <a:r>
              <a:rPr sz="2251" b="1" spc="7" baseline="-31000" dirty="0">
                <a:solidFill>
                  <a:srgbClr val="191919"/>
                </a:solidFill>
                <a:latin typeface="DejaVu Serif" panose="02060603050605020204"/>
                <a:cs typeface="DejaVu Serif" panose="02060603050605020204"/>
              </a:rPr>
              <a:t>2</a:t>
            </a:r>
            <a:endParaRPr sz="2251" baseline="-31000">
              <a:latin typeface="DejaVu Serif" panose="02060603050605020204"/>
              <a:cs typeface="DejaVu Serif" panose="02060603050605020204"/>
            </a:endParaRPr>
          </a:p>
        </p:txBody>
      </p:sp>
      <p:graphicFrame>
        <p:nvGraphicFramePr>
          <p:cNvPr id="15" name="object 6"/>
          <p:cNvGraphicFramePr>
            <a:graphicFrameLocks noGrp="1"/>
          </p:cNvGraphicFramePr>
          <p:nvPr/>
        </p:nvGraphicFramePr>
        <p:xfrm>
          <a:off x="5854700" y="1366520"/>
          <a:ext cx="2743200" cy="45770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708">
                <a:tc>
                  <a:txBody>
                    <a:bodyPr/>
                    <a:lstStyle/>
                    <a:p>
                      <a:pPr marL="254000">
                        <a:lnSpc>
                          <a:spcPts val="2940"/>
                        </a:lnSpc>
                      </a:pPr>
                      <a:r>
                        <a:rPr sz="2700" b="1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R</a:t>
                      </a:r>
                      <a:r>
                        <a:rPr sz="2300" b="1" baseline="-31000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0</a:t>
                      </a:r>
                      <a:endParaRPr sz="2300" baseline="-31000">
                        <a:latin typeface="DejaVu Serif" panose="02060603050605020204"/>
                        <a:cs typeface="DejaVu Serif" panose="02060603050605020204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54000">
                        <a:lnSpc>
                          <a:spcPts val="2940"/>
                        </a:lnSpc>
                      </a:pPr>
                      <a:r>
                        <a:rPr sz="2700" b="1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R</a:t>
                      </a:r>
                      <a:r>
                        <a:rPr sz="2300" b="1" baseline="-31000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1</a:t>
                      </a:r>
                      <a:endParaRPr sz="2300" baseline="-31000">
                        <a:latin typeface="DejaVu Serif" panose="02060603050605020204"/>
                        <a:cs typeface="DejaVu Serif" panose="02060603050605020204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54000">
                        <a:lnSpc>
                          <a:spcPts val="2940"/>
                        </a:lnSpc>
                      </a:pPr>
                      <a:r>
                        <a:rPr sz="2700" b="1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R</a:t>
                      </a:r>
                      <a:r>
                        <a:rPr sz="2300" b="1" baseline="-31000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2</a:t>
                      </a:r>
                      <a:endParaRPr sz="2300" baseline="-31000">
                        <a:latin typeface="DejaVu Serif" panose="02060603050605020204"/>
                        <a:cs typeface="DejaVu Serif" panose="02060603050605020204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F0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6" name="object 7"/>
          <p:cNvSpPr txBox="1"/>
          <p:nvPr/>
        </p:nvSpPr>
        <p:spPr>
          <a:xfrm>
            <a:off x="1524003" y="1456052"/>
            <a:ext cx="153035" cy="2789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65"/>
              </a:lnSpc>
            </a:pPr>
            <a:r>
              <a:rPr sz="2000" b="1" dirty="0">
                <a:solidFill>
                  <a:srgbClr val="191919"/>
                </a:solidFill>
                <a:latin typeface="Courier New" panose="02070409020205020404"/>
                <a:cs typeface="Courier New" panose="02070409020205020404"/>
              </a:rPr>
              <a:t>b</a:t>
            </a:r>
            <a:endParaRPr sz="2000">
              <a:latin typeface="Courier New" panose="02070409020205020404"/>
              <a:cs typeface="Courier New" panose="02070409020205020404"/>
            </a:endParaRPr>
          </a:p>
        </p:txBody>
      </p:sp>
      <p:sp>
        <p:nvSpPr>
          <p:cNvPr id="17" name="object 8"/>
          <p:cNvSpPr/>
          <p:nvPr/>
        </p:nvSpPr>
        <p:spPr>
          <a:xfrm>
            <a:off x="1372869" y="1371600"/>
            <a:ext cx="455931" cy="455931"/>
          </a:xfrm>
          <a:custGeom>
            <a:avLst/>
            <a:gdLst/>
            <a:ahLst/>
            <a:cxnLst/>
            <a:rect l="l" t="t" r="r" b="b"/>
            <a:pathLst>
              <a:path w="455930" h="455930">
                <a:moveTo>
                  <a:pt x="455930" y="0"/>
                </a:moveTo>
                <a:lnTo>
                  <a:pt x="0" y="0"/>
                </a:lnTo>
                <a:lnTo>
                  <a:pt x="0" y="455929"/>
                </a:lnTo>
                <a:lnTo>
                  <a:pt x="455930" y="45592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9"/>
          <p:cNvSpPr txBox="1"/>
          <p:nvPr/>
        </p:nvSpPr>
        <p:spPr>
          <a:xfrm>
            <a:off x="1066801" y="1456050"/>
            <a:ext cx="153035" cy="2789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65"/>
              </a:lnSpc>
            </a:pPr>
            <a:r>
              <a:rPr sz="2000" b="1" dirty="0">
                <a:solidFill>
                  <a:srgbClr val="191919"/>
                </a:solidFill>
                <a:latin typeface="Courier New" panose="02070409020205020404"/>
                <a:cs typeface="Courier New" panose="02070409020205020404"/>
              </a:rPr>
              <a:t>b</a:t>
            </a:r>
            <a:endParaRPr sz="2000">
              <a:latin typeface="Courier New" panose="02070409020205020404"/>
              <a:cs typeface="Courier New" panose="02070409020205020404"/>
            </a:endParaRPr>
          </a:p>
        </p:txBody>
      </p:sp>
      <p:sp>
        <p:nvSpPr>
          <p:cNvPr id="19" name="object 10"/>
          <p:cNvSpPr/>
          <p:nvPr/>
        </p:nvSpPr>
        <p:spPr>
          <a:xfrm>
            <a:off x="915669" y="1372869"/>
            <a:ext cx="455931" cy="455931"/>
          </a:xfrm>
          <a:custGeom>
            <a:avLst/>
            <a:gdLst/>
            <a:ahLst/>
            <a:cxnLst/>
            <a:rect l="l" t="t" r="r" b="b"/>
            <a:pathLst>
              <a:path w="455930" h="455930">
                <a:moveTo>
                  <a:pt x="455930" y="0"/>
                </a:moveTo>
                <a:lnTo>
                  <a:pt x="0" y="0"/>
                </a:lnTo>
                <a:lnTo>
                  <a:pt x="0" y="455929"/>
                </a:lnTo>
                <a:lnTo>
                  <a:pt x="455930" y="45592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11"/>
          <p:cNvSpPr txBox="1"/>
          <p:nvPr/>
        </p:nvSpPr>
        <p:spPr>
          <a:xfrm>
            <a:off x="3810003" y="1456052"/>
            <a:ext cx="153035" cy="2789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65"/>
              </a:lnSpc>
            </a:pPr>
            <a:r>
              <a:rPr sz="2000" b="1" dirty="0">
                <a:solidFill>
                  <a:srgbClr val="191919"/>
                </a:solidFill>
                <a:latin typeface="Courier New" panose="02070409020205020404"/>
                <a:cs typeface="Courier New" panose="02070409020205020404"/>
              </a:rPr>
              <a:t>b</a:t>
            </a:r>
            <a:endParaRPr sz="2000">
              <a:latin typeface="Courier New" panose="02070409020205020404"/>
              <a:cs typeface="Courier New" panose="02070409020205020404"/>
            </a:endParaRPr>
          </a:p>
        </p:txBody>
      </p:sp>
      <p:sp>
        <p:nvSpPr>
          <p:cNvPr id="21" name="object 12"/>
          <p:cNvSpPr/>
          <p:nvPr/>
        </p:nvSpPr>
        <p:spPr>
          <a:xfrm>
            <a:off x="3657600" y="1371602"/>
            <a:ext cx="457200" cy="455931"/>
          </a:xfrm>
          <a:custGeom>
            <a:avLst/>
            <a:gdLst/>
            <a:ahLst/>
            <a:cxnLst/>
            <a:rect l="l" t="t" r="r" b="b"/>
            <a:pathLst>
              <a:path w="457200" h="455930">
                <a:moveTo>
                  <a:pt x="457200" y="0"/>
                </a:moveTo>
                <a:lnTo>
                  <a:pt x="0" y="0"/>
                </a:lnTo>
                <a:lnTo>
                  <a:pt x="0" y="455929"/>
                </a:lnTo>
                <a:lnTo>
                  <a:pt x="457200" y="45592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13"/>
          <p:cNvSpPr txBox="1"/>
          <p:nvPr/>
        </p:nvSpPr>
        <p:spPr>
          <a:xfrm>
            <a:off x="2895603" y="1456052"/>
            <a:ext cx="153035" cy="2789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65"/>
              </a:lnSpc>
            </a:pPr>
            <a:r>
              <a:rPr sz="2000" b="1" dirty="0">
                <a:solidFill>
                  <a:srgbClr val="191919"/>
                </a:solidFill>
                <a:latin typeface="Courier New" panose="02070409020205020404"/>
                <a:cs typeface="Courier New" panose="02070409020205020404"/>
              </a:rPr>
              <a:t>b</a:t>
            </a:r>
            <a:endParaRPr sz="2000">
              <a:latin typeface="Courier New" panose="02070409020205020404"/>
              <a:cs typeface="Courier New" panose="02070409020205020404"/>
            </a:endParaRPr>
          </a:p>
        </p:txBody>
      </p:sp>
      <p:sp>
        <p:nvSpPr>
          <p:cNvPr id="28" name="object 14"/>
          <p:cNvSpPr/>
          <p:nvPr/>
        </p:nvSpPr>
        <p:spPr>
          <a:xfrm>
            <a:off x="2744471" y="1371602"/>
            <a:ext cx="455931" cy="455931"/>
          </a:xfrm>
          <a:custGeom>
            <a:avLst/>
            <a:gdLst/>
            <a:ahLst/>
            <a:cxnLst/>
            <a:rect l="l" t="t" r="r" b="b"/>
            <a:pathLst>
              <a:path w="455930" h="455930">
                <a:moveTo>
                  <a:pt x="455930" y="0"/>
                </a:moveTo>
                <a:lnTo>
                  <a:pt x="0" y="0"/>
                </a:lnTo>
                <a:lnTo>
                  <a:pt x="0" y="455929"/>
                </a:lnTo>
                <a:lnTo>
                  <a:pt x="455930" y="45592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15"/>
          <p:cNvSpPr txBox="1"/>
          <p:nvPr/>
        </p:nvSpPr>
        <p:spPr>
          <a:xfrm>
            <a:off x="3352803" y="1456052"/>
            <a:ext cx="153035" cy="2789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65"/>
              </a:lnSpc>
            </a:pPr>
            <a:r>
              <a:rPr sz="2000" b="1" dirty="0">
                <a:solidFill>
                  <a:srgbClr val="191919"/>
                </a:solidFill>
                <a:latin typeface="Courier New" panose="02070409020205020404"/>
                <a:cs typeface="Courier New" panose="02070409020205020404"/>
              </a:rPr>
              <a:t>b</a:t>
            </a:r>
            <a:endParaRPr sz="2000">
              <a:latin typeface="Courier New" panose="02070409020205020404"/>
              <a:cs typeface="Courier New" panose="02070409020205020404"/>
            </a:endParaRPr>
          </a:p>
        </p:txBody>
      </p:sp>
      <p:sp>
        <p:nvSpPr>
          <p:cNvPr id="30" name="object 16"/>
          <p:cNvSpPr/>
          <p:nvPr/>
        </p:nvSpPr>
        <p:spPr>
          <a:xfrm>
            <a:off x="3200400" y="1371602"/>
            <a:ext cx="457200" cy="455931"/>
          </a:xfrm>
          <a:custGeom>
            <a:avLst/>
            <a:gdLst/>
            <a:ahLst/>
            <a:cxnLst/>
            <a:rect l="l" t="t" r="r" b="b"/>
            <a:pathLst>
              <a:path w="457200" h="455930">
                <a:moveTo>
                  <a:pt x="457200" y="0"/>
                </a:moveTo>
                <a:lnTo>
                  <a:pt x="0" y="0"/>
                </a:lnTo>
                <a:lnTo>
                  <a:pt x="0" y="455929"/>
                </a:lnTo>
                <a:lnTo>
                  <a:pt x="457200" y="45592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17"/>
          <p:cNvSpPr txBox="1"/>
          <p:nvPr/>
        </p:nvSpPr>
        <p:spPr>
          <a:xfrm>
            <a:off x="2861313" y="1344930"/>
            <a:ext cx="1137285" cy="4129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600" b="1" dirty="0">
                <a:solidFill>
                  <a:srgbClr val="191919"/>
                </a:solidFill>
                <a:latin typeface="Courier New" panose="02070409020205020404"/>
                <a:cs typeface="Courier New" panose="02070409020205020404"/>
              </a:rPr>
              <a:t>e f</a:t>
            </a:r>
            <a:r>
              <a:rPr sz="2600" b="1" spc="840" dirty="0">
                <a:solidFill>
                  <a:srgbClr val="191919"/>
                </a:solidFill>
                <a:latin typeface="Courier New" panose="02070409020205020404"/>
                <a:cs typeface="Courier New" panose="02070409020205020404"/>
              </a:rPr>
              <a:t> </a:t>
            </a:r>
            <a:r>
              <a:rPr sz="2600" b="1" dirty="0">
                <a:solidFill>
                  <a:srgbClr val="191919"/>
                </a:solidFill>
                <a:latin typeface="Courier New" panose="02070409020205020404"/>
                <a:cs typeface="Courier New" panose="02070409020205020404"/>
              </a:rPr>
              <a:t>g</a:t>
            </a:r>
            <a:endParaRPr sz="2600">
              <a:latin typeface="Courier New" panose="02070409020205020404"/>
              <a:cs typeface="Courier New" panose="02070409020205020404"/>
            </a:endParaRPr>
          </a:p>
        </p:txBody>
      </p:sp>
      <p:sp>
        <p:nvSpPr>
          <p:cNvPr id="32" name="object 18"/>
          <p:cNvSpPr txBox="1"/>
          <p:nvPr/>
        </p:nvSpPr>
        <p:spPr>
          <a:xfrm>
            <a:off x="1032511" y="1346201"/>
            <a:ext cx="1137285" cy="4129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600" b="1" dirty="0">
                <a:solidFill>
                  <a:srgbClr val="191919"/>
                </a:solidFill>
                <a:latin typeface="Courier New" panose="02070409020205020404"/>
                <a:cs typeface="Courier New" panose="02070409020205020404"/>
              </a:rPr>
              <a:t>a b</a:t>
            </a:r>
            <a:r>
              <a:rPr sz="2600" b="1" spc="840" dirty="0">
                <a:solidFill>
                  <a:srgbClr val="191919"/>
                </a:solidFill>
                <a:latin typeface="Courier New" panose="02070409020205020404"/>
                <a:cs typeface="Courier New" panose="02070409020205020404"/>
              </a:rPr>
              <a:t> </a:t>
            </a:r>
            <a:r>
              <a:rPr sz="2600" b="1" dirty="0">
                <a:solidFill>
                  <a:srgbClr val="191919"/>
                </a:solidFill>
                <a:latin typeface="Courier New" panose="02070409020205020404"/>
                <a:cs typeface="Courier New" panose="02070409020205020404"/>
              </a:rPr>
              <a:t>c</a:t>
            </a:r>
            <a:endParaRPr sz="2600">
              <a:latin typeface="Courier New" panose="02070409020205020404"/>
              <a:cs typeface="Courier New" panose="02070409020205020404"/>
            </a:endParaRPr>
          </a:p>
        </p:txBody>
      </p:sp>
      <p:sp>
        <p:nvSpPr>
          <p:cNvPr id="33" name="object 19"/>
          <p:cNvSpPr txBox="1"/>
          <p:nvPr/>
        </p:nvSpPr>
        <p:spPr>
          <a:xfrm>
            <a:off x="2438403" y="1456052"/>
            <a:ext cx="153035" cy="2789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65"/>
              </a:lnSpc>
            </a:pPr>
            <a:r>
              <a:rPr sz="2000" b="1" dirty="0">
                <a:solidFill>
                  <a:srgbClr val="191919"/>
                </a:solidFill>
                <a:latin typeface="Courier New" panose="02070409020205020404"/>
                <a:cs typeface="Courier New" panose="02070409020205020404"/>
              </a:rPr>
              <a:t>b</a:t>
            </a:r>
            <a:endParaRPr sz="2000">
              <a:latin typeface="Courier New" panose="02070409020205020404"/>
              <a:cs typeface="Courier New" panose="02070409020205020404"/>
            </a:endParaRPr>
          </a:p>
        </p:txBody>
      </p:sp>
      <p:sp>
        <p:nvSpPr>
          <p:cNvPr id="34" name="object 20"/>
          <p:cNvSpPr/>
          <p:nvPr/>
        </p:nvSpPr>
        <p:spPr>
          <a:xfrm>
            <a:off x="2287271" y="1372871"/>
            <a:ext cx="455931" cy="455931"/>
          </a:xfrm>
          <a:custGeom>
            <a:avLst/>
            <a:gdLst/>
            <a:ahLst/>
            <a:cxnLst/>
            <a:rect l="l" t="t" r="r" b="b"/>
            <a:pathLst>
              <a:path w="455930" h="455930">
                <a:moveTo>
                  <a:pt x="455930" y="0"/>
                </a:moveTo>
                <a:lnTo>
                  <a:pt x="0" y="0"/>
                </a:lnTo>
                <a:lnTo>
                  <a:pt x="0" y="455929"/>
                </a:lnTo>
                <a:lnTo>
                  <a:pt x="455930" y="45592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21"/>
          <p:cNvSpPr txBox="1"/>
          <p:nvPr/>
        </p:nvSpPr>
        <p:spPr>
          <a:xfrm>
            <a:off x="2396491" y="1327153"/>
            <a:ext cx="239395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800" b="1" dirty="0">
                <a:solidFill>
                  <a:srgbClr val="191919"/>
                </a:solidFill>
                <a:latin typeface="Courier New" panose="02070409020205020404"/>
                <a:cs typeface="Courier New" panose="02070409020205020404"/>
              </a:rPr>
              <a:t>d</a:t>
            </a:r>
            <a:endParaRPr sz="2800">
              <a:latin typeface="Courier New" panose="02070409020205020404"/>
              <a:cs typeface="Courier New" panose="02070409020205020404"/>
            </a:endParaRPr>
          </a:p>
        </p:txBody>
      </p:sp>
      <p:sp>
        <p:nvSpPr>
          <p:cNvPr id="38" name="object 24"/>
          <p:cNvSpPr/>
          <p:nvPr/>
        </p:nvSpPr>
        <p:spPr>
          <a:xfrm>
            <a:off x="914400" y="1830069"/>
            <a:ext cx="457200" cy="4113531"/>
          </a:xfrm>
          <a:custGeom>
            <a:avLst/>
            <a:gdLst/>
            <a:ahLst/>
            <a:cxnLst/>
            <a:rect l="l" t="t" r="r" b="b"/>
            <a:pathLst>
              <a:path w="457200" h="4113529">
                <a:moveTo>
                  <a:pt x="457200" y="0"/>
                </a:moveTo>
                <a:lnTo>
                  <a:pt x="0" y="0"/>
                </a:lnTo>
                <a:lnTo>
                  <a:pt x="0" y="4113529"/>
                </a:lnTo>
                <a:lnTo>
                  <a:pt x="457200" y="411352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25"/>
          <p:cNvSpPr/>
          <p:nvPr/>
        </p:nvSpPr>
        <p:spPr>
          <a:xfrm>
            <a:off x="914400" y="1830069"/>
            <a:ext cx="457200" cy="4113531"/>
          </a:xfrm>
          <a:custGeom>
            <a:avLst/>
            <a:gdLst/>
            <a:ahLst/>
            <a:cxnLst/>
            <a:rect l="l" t="t" r="r" b="b"/>
            <a:pathLst>
              <a:path w="457200" h="4113529">
                <a:moveTo>
                  <a:pt x="228600" y="4113529"/>
                </a:moveTo>
                <a:lnTo>
                  <a:pt x="0" y="4113529"/>
                </a:lnTo>
                <a:lnTo>
                  <a:pt x="0" y="0"/>
                </a:lnTo>
                <a:lnTo>
                  <a:pt x="457200" y="0"/>
                </a:lnTo>
                <a:lnTo>
                  <a:pt x="457200" y="4113529"/>
                </a:lnTo>
                <a:lnTo>
                  <a:pt x="228600" y="4113529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26"/>
          <p:cNvSpPr/>
          <p:nvPr/>
        </p:nvSpPr>
        <p:spPr>
          <a:xfrm>
            <a:off x="1372869" y="1828800"/>
            <a:ext cx="455931" cy="1371600"/>
          </a:xfrm>
          <a:custGeom>
            <a:avLst/>
            <a:gdLst/>
            <a:ahLst/>
            <a:cxnLst/>
            <a:rect l="l" t="t" r="r" b="b"/>
            <a:pathLst>
              <a:path w="455930" h="1371600">
                <a:moveTo>
                  <a:pt x="455930" y="0"/>
                </a:moveTo>
                <a:lnTo>
                  <a:pt x="0" y="0"/>
                </a:lnTo>
                <a:lnTo>
                  <a:pt x="0" y="1371600"/>
                </a:lnTo>
                <a:lnTo>
                  <a:pt x="455930" y="1371600"/>
                </a:lnTo>
                <a:close/>
              </a:path>
            </a:pathLst>
          </a:custGeom>
          <a:solidFill>
            <a:srgbClr val="00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27"/>
          <p:cNvSpPr/>
          <p:nvPr/>
        </p:nvSpPr>
        <p:spPr>
          <a:xfrm>
            <a:off x="1372869" y="1828800"/>
            <a:ext cx="455931" cy="1371600"/>
          </a:xfrm>
          <a:custGeom>
            <a:avLst/>
            <a:gdLst/>
            <a:ahLst/>
            <a:cxnLst/>
            <a:rect l="l" t="t" r="r" b="b"/>
            <a:pathLst>
              <a:path w="455930" h="1371600">
                <a:moveTo>
                  <a:pt x="228600" y="1371600"/>
                </a:moveTo>
                <a:lnTo>
                  <a:pt x="0" y="1371600"/>
                </a:lnTo>
                <a:lnTo>
                  <a:pt x="0" y="0"/>
                </a:lnTo>
                <a:lnTo>
                  <a:pt x="455930" y="0"/>
                </a:lnTo>
                <a:lnTo>
                  <a:pt x="455930" y="1371600"/>
                </a:lnTo>
                <a:lnTo>
                  <a:pt x="228600" y="137160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28"/>
          <p:cNvSpPr/>
          <p:nvPr/>
        </p:nvSpPr>
        <p:spPr>
          <a:xfrm>
            <a:off x="1830071" y="1830071"/>
            <a:ext cx="455931" cy="914400"/>
          </a:xfrm>
          <a:custGeom>
            <a:avLst/>
            <a:gdLst/>
            <a:ahLst/>
            <a:cxnLst/>
            <a:rect l="l" t="t" r="r" b="b"/>
            <a:pathLst>
              <a:path w="455930" h="914400">
                <a:moveTo>
                  <a:pt x="455930" y="0"/>
                </a:moveTo>
                <a:lnTo>
                  <a:pt x="0" y="0"/>
                </a:lnTo>
                <a:lnTo>
                  <a:pt x="0" y="914400"/>
                </a:lnTo>
                <a:lnTo>
                  <a:pt x="455930" y="914400"/>
                </a:lnTo>
                <a:close/>
              </a:path>
            </a:pathLst>
          </a:custGeom>
          <a:solidFill>
            <a:srgbClr val="FF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29"/>
          <p:cNvSpPr/>
          <p:nvPr/>
        </p:nvSpPr>
        <p:spPr>
          <a:xfrm>
            <a:off x="1830071" y="1830071"/>
            <a:ext cx="455931" cy="914400"/>
          </a:xfrm>
          <a:custGeom>
            <a:avLst/>
            <a:gdLst/>
            <a:ahLst/>
            <a:cxnLst/>
            <a:rect l="l" t="t" r="r" b="b"/>
            <a:pathLst>
              <a:path w="455930" h="914400">
                <a:moveTo>
                  <a:pt x="228600" y="914400"/>
                </a:moveTo>
                <a:lnTo>
                  <a:pt x="0" y="914400"/>
                </a:lnTo>
                <a:lnTo>
                  <a:pt x="0" y="0"/>
                </a:lnTo>
                <a:lnTo>
                  <a:pt x="455930" y="0"/>
                </a:lnTo>
                <a:lnTo>
                  <a:pt x="455930" y="914400"/>
                </a:lnTo>
                <a:lnTo>
                  <a:pt x="228600" y="91440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30"/>
          <p:cNvSpPr/>
          <p:nvPr/>
        </p:nvSpPr>
        <p:spPr>
          <a:xfrm>
            <a:off x="2287271" y="2286002"/>
            <a:ext cx="455931" cy="3199131"/>
          </a:xfrm>
          <a:custGeom>
            <a:avLst/>
            <a:gdLst/>
            <a:ahLst/>
            <a:cxnLst/>
            <a:rect l="l" t="t" r="r" b="b"/>
            <a:pathLst>
              <a:path w="455930" h="3199129">
                <a:moveTo>
                  <a:pt x="455930" y="0"/>
                </a:moveTo>
                <a:lnTo>
                  <a:pt x="0" y="0"/>
                </a:lnTo>
                <a:lnTo>
                  <a:pt x="0" y="3199130"/>
                </a:lnTo>
                <a:lnTo>
                  <a:pt x="455930" y="319913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31"/>
          <p:cNvSpPr/>
          <p:nvPr/>
        </p:nvSpPr>
        <p:spPr>
          <a:xfrm>
            <a:off x="2287271" y="2286002"/>
            <a:ext cx="455931" cy="3199131"/>
          </a:xfrm>
          <a:custGeom>
            <a:avLst/>
            <a:gdLst/>
            <a:ahLst/>
            <a:cxnLst/>
            <a:rect l="l" t="t" r="r" b="b"/>
            <a:pathLst>
              <a:path w="455930" h="3199129">
                <a:moveTo>
                  <a:pt x="227330" y="3199130"/>
                </a:moveTo>
                <a:lnTo>
                  <a:pt x="0" y="3199130"/>
                </a:lnTo>
                <a:lnTo>
                  <a:pt x="0" y="0"/>
                </a:lnTo>
                <a:lnTo>
                  <a:pt x="455930" y="0"/>
                </a:lnTo>
                <a:lnTo>
                  <a:pt x="455930" y="3199130"/>
                </a:lnTo>
                <a:lnTo>
                  <a:pt x="227330" y="319913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32"/>
          <p:cNvSpPr/>
          <p:nvPr/>
        </p:nvSpPr>
        <p:spPr>
          <a:xfrm>
            <a:off x="2743200" y="2743200"/>
            <a:ext cx="457200" cy="2286000"/>
          </a:xfrm>
          <a:custGeom>
            <a:avLst/>
            <a:gdLst/>
            <a:ahLst/>
            <a:cxnLst/>
            <a:rect l="l" t="t" r="r" b="b"/>
            <a:pathLst>
              <a:path w="457200" h="2286000">
                <a:moveTo>
                  <a:pt x="457200" y="0"/>
                </a:moveTo>
                <a:lnTo>
                  <a:pt x="0" y="0"/>
                </a:lnTo>
                <a:lnTo>
                  <a:pt x="0" y="2286000"/>
                </a:lnTo>
                <a:lnTo>
                  <a:pt x="457200" y="2286000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33"/>
          <p:cNvSpPr/>
          <p:nvPr/>
        </p:nvSpPr>
        <p:spPr>
          <a:xfrm>
            <a:off x="2743200" y="2743200"/>
            <a:ext cx="457200" cy="2286000"/>
          </a:xfrm>
          <a:custGeom>
            <a:avLst/>
            <a:gdLst/>
            <a:ahLst/>
            <a:cxnLst/>
            <a:rect l="l" t="t" r="r" b="b"/>
            <a:pathLst>
              <a:path w="457200" h="2286000">
                <a:moveTo>
                  <a:pt x="228600" y="2286000"/>
                </a:moveTo>
                <a:lnTo>
                  <a:pt x="0" y="2286000"/>
                </a:lnTo>
                <a:lnTo>
                  <a:pt x="0" y="0"/>
                </a:lnTo>
                <a:lnTo>
                  <a:pt x="457200" y="0"/>
                </a:lnTo>
                <a:lnTo>
                  <a:pt x="457200" y="2286000"/>
                </a:lnTo>
                <a:lnTo>
                  <a:pt x="228600" y="228600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34"/>
          <p:cNvSpPr/>
          <p:nvPr/>
        </p:nvSpPr>
        <p:spPr>
          <a:xfrm>
            <a:off x="3200400" y="2744473"/>
            <a:ext cx="457200" cy="3199765"/>
          </a:xfrm>
          <a:custGeom>
            <a:avLst/>
            <a:gdLst/>
            <a:ahLst/>
            <a:cxnLst/>
            <a:rect l="l" t="t" r="r" b="b"/>
            <a:pathLst>
              <a:path w="457200" h="3199129">
                <a:moveTo>
                  <a:pt x="457200" y="0"/>
                </a:moveTo>
                <a:lnTo>
                  <a:pt x="0" y="0"/>
                </a:lnTo>
                <a:lnTo>
                  <a:pt x="0" y="3199129"/>
                </a:lnTo>
                <a:lnTo>
                  <a:pt x="457200" y="3199129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35"/>
          <p:cNvSpPr/>
          <p:nvPr/>
        </p:nvSpPr>
        <p:spPr>
          <a:xfrm>
            <a:off x="3200400" y="2744471"/>
            <a:ext cx="457200" cy="3199131"/>
          </a:xfrm>
          <a:custGeom>
            <a:avLst/>
            <a:gdLst/>
            <a:ahLst/>
            <a:cxnLst/>
            <a:rect l="l" t="t" r="r" b="b"/>
            <a:pathLst>
              <a:path w="457200" h="3199129">
                <a:moveTo>
                  <a:pt x="228600" y="3199129"/>
                </a:moveTo>
                <a:lnTo>
                  <a:pt x="0" y="3199129"/>
                </a:lnTo>
                <a:lnTo>
                  <a:pt x="0" y="0"/>
                </a:lnTo>
                <a:lnTo>
                  <a:pt x="457200" y="0"/>
                </a:lnTo>
                <a:lnTo>
                  <a:pt x="457200" y="3199129"/>
                </a:lnTo>
                <a:lnTo>
                  <a:pt x="228600" y="3199129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36"/>
          <p:cNvSpPr/>
          <p:nvPr/>
        </p:nvSpPr>
        <p:spPr>
          <a:xfrm>
            <a:off x="3657600" y="3200400"/>
            <a:ext cx="457200" cy="2286000"/>
          </a:xfrm>
          <a:custGeom>
            <a:avLst/>
            <a:gdLst/>
            <a:ahLst/>
            <a:cxnLst/>
            <a:rect l="l" t="t" r="r" b="b"/>
            <a:pathLst>
              <a:path w="457200" h="2286000">
                <a:moveTo>
                  <a:pt x="457200" y="0"/>
                </a:moveTo>
                <a:lnTo>
                  <a:pt x="0" y="0"/>
                </a:lnTo>
                <a:lnTo>
                  <a:pt x="0" y="2286000"/>
                </a:lnTo>
                <a:lnTo>
                  <a:pt x="457200" y="2286000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37"/>
          <p:cNvSpPr/>
          <p:nvPr/>
        </p:nvSpPr>
        <p:spPr>
          <a:xfrm>
            <a:off x="3657600" y="3200400"/>
            <a:ext cx="457200" cy="2286000"/>
          </a:xfrm>
          <a:custGeom>
            <a:avLst/>
            <a:gdLst/>
            <a:ahLst/>
            <a:cxnLst/>
            <a:rect l="l" t="t" r="r" b="b"/>
            <a:pathLst>
              <a:path w="457200" h="2286000">
                <a:moveTo>
                  <a:pt x="228600" y="2286000"/>
                </a:moveTo>
                <a:lnTo>
                  <a:pt x="0" y="2286000"/>
                </a:lnTo>
                <a:lnTo>
                  <a:pt x="0" y="0"/>
                </a:lnTo>
                <a:lnTo>
                  <a:pt x="457200" y="0"/>
                </a:lnTo>
                <a:lnTo>
                  <a:pt x="457200" y="2286000"/>
                </a:lnTo>
                <a:lnTo>
                  <a:pt x="228600" y="228600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cxnSp>
        <p:nvCxnSpPr>
          <p:cNvPr id="2" name="直接连接符 1"/>
          <p:cNvCxnSpPr/>
          <p:nvPr/>
        </p:nvCxnSpPr>
        <p:spPr>
          <a:xfrm>
            <a:off x="234951" y="3002280"/>
            <a:ext cx="4102735" cy="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object 39"/>
          <p:cNvSpPr txBox="1"/>
          <p:nvPr/>
        </p:nvSpPr>
        <p:spPr>
          <a:xfrm>
            <a:off x="9255127" y="1229996"/>
            <a:ext cx="2124075" cy="5345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84226" marR="5080" indent="-971526" algn="ctr">
              <a:lnSpc>
                <a:spcPct val="135000"/>
              </a:lnSpc>
              <a:spcBef>
                <a:spcPts val="1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楷体_GB2312" panose="02010609030101010101" charset="-122"/>
                <a:ea typeface="楷体_GB2312" panose="02010609030101010101" charset="-122"/>
                <a:cs typeface="Purisa" panose="02000603000000000000"/>
              </a:rPr>
              <a:t>如何处理？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4573907" y="1868171"/>
            <a:ext cx="7471411" cy="22430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latin typeface="楷体_GB2312" panose="02010609030101010101" charset="-122"/>
                <a:ea typeface="楷体_GB2312" panose="02010609030101010101" charset="-122"/>
                <a:cs typeface="楷体_GB2312" panose="02010609030101010101" charset="-122"/>
              </a:rPr>
              <a:t>选择策略？</a:t>
            </a: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latin typeface="楷体_GB2312" panose="02010609030101010101" charset="-122"/>
                <a:ea typeface="楷体_GB2312" panose="02010609030101010101" charset="-122"/>
                <a:cs typeface="楷体_GB2312" panose="02010609030101010101" charset="-122"/>
              </a:rPr>
              <a:t>根据变量的活跃间隔来决定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latin typeface="楷体_GB2312" panose="02010609030101010101" charset="-122"/>
                <a:ea typeface="楷体_GB2312" panose="02010609030101010101" charset="-122"/>
                <a:cs typeface="楷体_GB2312" panose="02010609030101010101" charset="-122"/>
              </a:rPr>
              <a:t>    </a:t>
            </a:r>
            <a:r>
              <a:rPr lang="zh-CN" altLang="en-US" sz="2400" b="1" dirty="0">
                <a:solidFill>
                  <a:srgbClr val="C00000"/>
                </a:solidFill>
                <a:latin typeface="楷体_GB2312" panose="02010609030101010101" charset="-122"/>
                <a:ea typeface="楷体_GB2312" panose="02010609030101010101" charset="-122"/>
                <a:cs typeface="楷体_GB2312" panose="02010609030101010101" charset="-122"/>
              </a:rPr>
              <a:t>溢出</a:t>
            </a:r>
            <a:r>
              <a:rPr lang="en-US" altLang="zh-CN" sz="2400" b="1" dirty="0" err="1">
                <a:solidFill>
                  <a:srgbClr val="C00000"/>
                </a:solidFill>
                <a:latin typeface="楷体_GB2312" panose="02010609030101010101" charset="-122"/>
                <a:ea typeface="楷体_GB2312" panose="02010609030101010101" charset="-122"/>
                <a:cs typeface="楷体_GB2312" panose="02010609030101010101" charset="-122"/>
              </a:rPr>
              <a:t>最后结束的间隔</a:t>
            </a:r>
            <a:r>
              <a:rPr lang="en-US" altLang="zh-CN" sz="2400" b="1" dirty="0">
                <a:solidFill>
                  <a:srgbClr val="C00000"/>
                </a:solidFill>
                <a:latin typeface="楷体_GB2312" panose="02010609030101010101" charset="-122"/>
                <a:ea typeface="楷体_GB2312" panose="02010609030101010101" charset="-122"/>
                <a:cs typeface="楷体_GB2312" panose="02010609030101010101" charset="-122"/>
              </a:rPr>
              <a:t>，</a:t>
            </a:r>
            <a:r>
              <a:rPr lang="zh-CN" altLang="en-US" sz="2400" b="1" dirty="0">
                <a:solidFill>
                  <a:srgbClr val="C00000"/>
                </a:solidFill>
                <a:latin typeface="楷体_GB2312" panose="02010609030101010101" charset="-122"/>
                <a:ea typeface="楷体_GB2312" panose="02010609030101010101" charset="-122"/>
                <a:cs typeface="楷体_GB2312" panose="02010609030101010101" charset="-122"/>
              </a:rPr>
              <a:t>即</a:t>
            </a:r>
            <a:r>
              <a:rPr lang="en-US" altLang="zh-CN" sz="2400" b="1" dirty="0" err="1">
                <a:solidFill>
                  <a:srgbClr val="C00000"/>
                </a:solidFill>
                <a:latin typeface="楷体_GB2312" panose="02010609030101010101" charset="-122"/>
                <a:ea typeface="楷体_GB2312" panose="02010609030101010101" charset="-122"/>
                <a:cs typeface="楷体_GB2312" panose="02010609030101010101" charset="-122"/>
              </a:rPr>
              <a:t>距离当前点最远</a:t>
            </a:r>
            <a:r>
              <a:rPr lang="zh-CN" altLang="en-US" sz="2400" b="1" dirty="0">
                <a:solidFill>
                  <a:srgbClr val="C00000"/>
                </a:solidFill>
                <a:latin typeface="楷体_GB2312" panose="02010609030101010101" charset="-122"/>
                <a:ea typeface="楷体_GB2312" panose="02010609030101010101" charset="-122"/>
                <a:cs typeface="楷体_GB2312" panose="02010609030101010101" charset="-122"/>
              </a:rPr>
              <a:t>的间隔</a:t>
            </a:r>
            <a:endParaRPr lang="zh-CN" altLang="en-US" sz="2400" b="1" dirty="0">
              <a:latin typeface="楷体_GB2312" panose="02010609030101010101" charset="-122"/>
              <a:ea typeface="楷体_GB2312" panose="02010609030101010101" charset="-122"/>
              <a:cs typeface="楷体_GB2312" panose="02010609030101010101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latin typeface="楷体_GB2312" panose="02010609030101010101" charset="-122"/>
                <a:ea typeface="楷体_GB2312" panose="02010609030101010101" charset="-122"/>
                <a:cs typeface="楷体_GB2312" panose="02010609030101010101" charset="-122"/>
                <a:sym typeface="+mn-ea"/>
              </a:rPr>
              <a:t>    </a:t>
            </a:r>
            <a:r>
              <a:rPr lang="zh-CN" altLang="en-US" sz="2400" b="1" dirty="0">
                <a:solidFill>
                  <a:schemeClr val="bg1">
                    <a:lumMod val="85000"/>
                  </a:schemeClr>
                </a:solidFill>
                <a:latin typeface="楷体_GB2312" panose="02010609030101010101" charset="-122"/>
                <a:ea typeface="楷体_GB2312" panose="02010609030101010101" charset="-122"/>
                <a:cs typeface="楷体_GB2312" panose="02010609030101010101" charset="-122"/>
                <a:sym typeface="+mn-ea"/>
              </a:rPr>
              <a:t>溢出</a:t>
            </a:r>
            <a:r>
              <a:rPr lang="en-US" altLang="zh-CN" sz="2400" b="1" dirty="0">
                <a:solidFill>
                  <a:schemeClr val="bg1">
                    <a:lumMod val="85000"/>
                  </a:schemeClr>
                </a:solidFill>
                <a:latin typeface="楷体_GB2312" panose="02010609030101010101" charset="-122"/>
                <a:ea typeface="楷体_GB2312" panose="02010609030101010101" charset="-122"/>
                <a:cs typeface="楷体_GB2312" panose="02010609030101010101" charset="-122"/>
                <a:sym typeface="+mn-ea"/>
              </a:rPr>
              <a:t>最</a:t>
            </a:r>
            <a:r>
              <a:rPr lang="zh-CN" altLang="en-US" sz="2400" b="1" dirty="0">
                <a:solidFill>
                  <a:schemeClr val="bg1">
                    <a:lumMod val="85000"/>
                  </a:schemeClr>
                </a:solidFill>
                <a:latin typeface="楷体_GB2312" panose="02010609030101010101" charset="-122"/>
                <a:ea typeface="楷体_GB2312" panose="02010609030101010101" charset="-122"/>
                <a:cs typeface="楷体_GB2312" panose="02010609030101010101" charset="-122"/>
                <a:sym typeface="+mn-ea"/>
              </a:rPr>
              <a:t>先</a:t>
            </a:r>
            <a:r>
              <a:rPr lang="en-US" altLang="zh-CN" sz="2400" b="1" dirty="0" err="1">
                <a:solidFill>
                  <a:schemeClr val="bg1">
                    <a:lumMod val="85000"/>
                  </a:schemeClr>
                </a:solidFill>
                <a:latin typeface="楷体_GB2312" panose="02010609030101010101" charset="-122"/>
                <a:ea typeface="楷体_GB2312" panose="02010609030101010101" charset="-122"/>
                <a:cs typeface="楷体_GB2312" panose="02010609030101010101" charset="-122"/>
                <a:sym typeface="+mn-ea"/>
              </a:rPr>
              <a:t>结束的间隔</a:t>
            </a:r>
            <a:r>
              <a:rPr lang="en-US" altLang="zh-CN" sz="2400" b="1" dirty="0">
                <a:solidFill>
                  <a:schemeClr val="bg1">
                    <a:lumMod val="85000"/>
                  </a:schemeClr>
                </a:solidFill>
                <a:latin typeface="楷体_GB2312" panose="02010609030101010101" charset="-122"/>
                <a:ea typeface="楷体_GB2312" panose="02010609030101010101" charset="-122"/>
                <a:cs typeface="楷体_GB2312" panose="02010609030101010101" charset="-122"/>
                <a:sym typeface="+mn-ea"/>
              </a:rPr>
              <a:t>，</a:t>
            </a:r>
            <a:r>
              <a:rPr lang="zh-CN" altLang="en-US" sz="2400" b="1" dirty="0">
                <a:solidFill>
                  <a:schemeClr val="bg1">
                    <a:lumMod val="85000"/>
                  </a:schemeClr>
                </a:solidFill>
                <a:latin typeface="楷体_GB2312" panose="02010609030101010101" charset="-122"/>
                <a:ea typeface="楷体_GB2312" panose="02010609030101010101" charset="-122"/>
                <a:cs typeface="楷体_GB2312" panose="02010609030101010101" charset="-122"/>
                <a:sym typeface="+mn-ea"/>
              </a:rPr>
              <a:t>即</a:t>
            </a:r>
            <a:r>
              <a:rPr lang="en-US" altLang="zh-CN" sz="2400" b="1" dirty="0" err="1">
                <a:solidFill>
                  <a:schemeClr val="bg1">
                    <a:lumMod val="85000"/>
                  </a:schemeClr>
                </a:solidFill>
                <a:latin typeface="楷体_GB2312" panose="02010609030101010101" charset="-122"/>
                <a:ea typeface="楷体_GB2312" panose="02010609030101010101" charset="-122"/>
                <a:cs typeface="楷体_GB2312" panose="02010609030101010101" charset="-122"/>
                <a:sym typeface="+mn-ea"/>
              </a:rPr>
              <a:t>距离当前点最</a:t>
            </a:r>
            <a:r>
              <a:rPr lang="zh-CN" altLang="en-US" sz="2400" b="1" dirty="0">
                <a:solidFill>
                  <a:schemeClr val="bg1">
                    <a:lumMod val="85000"/>
                  </a:schemeClr>
                </a:solidFill>
                <a:latin typeface="楷体_GB2312" panose="02010609030101010101" charset="-122"/>
                <a:ea typeface="楷体_GB2312" panose="02010609030101010101" charset="-122"/>
                <a:cs typeface="楷体_GB2312" panose="02010609030101010101" charset="-122"/>
                <a:sym typeface="+mn-ea"/>
              </a:rPr>
              <a:t>近的间隔</a:t>
            </a:r>
          </a:p>
        </p:txBody>
      </p:sp>
      <p:graphicFrame>
        <p:nvGraphicFramePr>
          <p:cNvPr id="11" name="object 6"/>
          <p:cNvGraphicFramePr>
            <a:graphicFrameLocks noGrp="1"/>
          </p:cNvGraphicFramePr>
          <p:nvPr/>
        </p:nvGraphicFramePr>
        <p:xfrm>
          <a:off x="7683500" y="1363980"/>
          <a:ext cx="914400" cy="45770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7708">
                <a:tc>
                  <a:txBody>
                    <a:bodyPr/>
                    <a:lstStyle/>
                    <a:p>
                      <a:pPr marL="254000">
                        <a:lnSpc>
                          <a:spcPts val="2940"/>
                        </a:lnSpc>
                      </a:pPr>
                      <a:r>
                        <a:rPr sz="2700" b="1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R</a:t>
                      </a:r>
                      <a:r>
                        <a:rPr sz="2300" b="1" baseline="-31000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2</a:t>
                      </a:r>
                      <a:endParaRPr sz="2300" baseline="-31000">
                        <a:latin typeface="DejaVu Serif" panose="02060603050605020204"/>
                        <a:cs typeface="DejaVu Serif" panose="02060603050605020204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2" name="直接连接符 11"/>
          <p:cNvCxnSpPr/>
          <p:nvPr/>
        </p:nvCxnSpPr>
        <p:spPr>
          <a:xfrm>
            <a:off x="228602" y="3369311"/>
            <a:ext cx="4102735" cy="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3" name="object 6"/>
          <p:cNvGraphicFramePr>
            <a:graphicFrameLocks noGrp="1"/>
          </p:cNvGraphicFramePr>
          <p:nvPr/>
        </p:nvGraphicFramePr>
        <p:xfrm>
          <a:off x="6770371" y="1363980"/>
          <a:ext cx="914400" cy="45770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7708">
                <a:tc>
                  <a:txBody>
                    <a:bodyPr/>
                    <a:lstStyle/>
                    <a:p>
                      <a:pPr marL="254000">
                        <a:lnSpc>
                          <a:spcPts val="2940"/>
                        </a:lnSpc>
                      </a:pPr>
                      <a:r>
                        <a:rPr sz="2700" b="1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R</a:t>
                      </a:r>
                      <a:r>
                        <a:rPr sz="2300" b="1" baseline="-31000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1</a:t>
                      </a:r>
                      <a:endParaRPr sz="2300" baseline="-31000">
                        <a:latin typeface="DejaVu Serif" panose="02060603050605020204"/>
                        <a:cs typeface="DejaVu Serif" panose="02060603050605020204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" name="object 28"/>
          <p:cNvSpPr/>
          <p:nvPr/>
        </p:nvSpPr>
        <p:spPr>
          <a:xfrm>
            <a:off x="3202307" y="5029203"/>
            <a:ext cx="455931" cy="915035"/>
          </a:xfrm>
          <a:custGeom>
            <a:avLst/>
            <a:gdLst/>
            <a:ahLst/>
            <a:cxnLst/>
            <a:rect l="l" t="t" r="r" b="b"/>
            <a:pathLst>
              <a:path w="455930" h="914400">
                <a:moveTo>
                  <a:pt x="455930" y="0"/>
                </a:moveTo>
                <a:lnTo>
                  <a:pt x="0" y="0"/>
                </a:lnTo>
                <a:lnTo>
                  <a:pt x="0" y="914400"/>
                </a:lnTo>
                <a:lnTo>
                  <a:pt x="455930" y="914400"/>
                </a:lnTo>
                <a:close/>
              </a:path>
            </a:pathLst>
          </a:custGeom>
          <a:solidFill>
            <a:srgbClr val="FF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cxnSp>
        <p:nvCxnSpPr>
          <p:cNvPr id="22" name="直接连接符 21"/>
          <p:cNvCxnSpPr/>
          <p:nvPr/>
        </p:nvCxnSpPr>
        <p:spPr>
          <a:xfrm>
            <a:off x="234951" y="5164455"/>
            <a:ext cx="4102735" cy="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/>
          <p:cNvCxnSpPr/>
          <p:nvPr/>
        </p:nvCxnSpPr>
        <p:spPr>
          <a:xfrm>
            <a:off x="234634" y="2524365"/>
            <a:ext cx="4102735" cy="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FF"/>
                                      </p:to>
                                    </p:animClr>
                                    <p:set>
                                      <p:cBhvr>
                                        <p:cTn id="7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FFFF"/>
                                      </p:to>
                                    </p:animClr>
                                    <p:set>
                                      <p:cBhvr>
                                        <p:cTn id="33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4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755D7F-6C9C-2321-C338-95F8612A42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楷体_GB2312" panose="02010609030101010101" charset="-122"/>
                <a:ea typeface="楷体_GB2312" panose="02010609030101010101" charset="-122"/>
                <a:sym typeface="+mn-ea"/>
              </a:rPr>
              <a:t>线性扫描算法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2F3B800-FFAB-7877-7BE0-3F5BD18243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923" y="1541466"/>
            <a:ext cx="11006159" cy="4948237"/>
          </a:xfrm>
        </p:spPr>
        <p:txBody>
          <a:bodyPr>
            <a:normAutofit/>
          </a:bodyPr>
          <a:lstStyle/>
          <a:p>
            <a:pPr marL="457189" indent="-457189">
              <a:buAutoNum type="arabicPeriod"/>
            </a:pPr>
            <a:r>
              <a:rPr lang="zh-CN" altLang="en-US" sz="3200" b="1" dirty="0"/>
              <a:t>计算出每个虚拟寄存器的活跃区间（</a:t>
            </a:r>
            <a:r>
              <a:rPr lang="en-US" altLang="zh-CN" sz="3200" b="1" dirty="0"/>
              <a:t>Live Interval</a:t>
            </a:r>
            <a:r>
              <a:rPr lang="zh-CN" altLang="en-US" sz="3200" b="1" dirty="0"/>
              <a:t>），根据活跃区间的起点进行排序</a:t>
            </a:r>
            <a:endParaRPr lang="en-US" altLang="zh-CN" sz="3200" b="1" dirty="0"/>
          </a:p>
          <a:p>
            <a:pPr marL="457189" indent="-457189">
              <a:buAutoNum type="arabicPeriod"/>
            </a:pPr>
            <a:r>
              <a:rPr lang="zh-CN" altLang="en-US" sz="3200" b="1" dirty="0"/>
              <a:t>扫描活跃区间列表</a:t>
            </a:r>
            <a:endParaRPr lang="en-US" altLang="zh-CN" sz="3200" b="1" dirty="0"/>
          </a:p>
          <a:p>
            <a:pPr marL="457189" indent="-457189">
              <a:buAutoNum type="arabicPeriod"/>
            </a:pPr>
            <a:r>
              <a:rPr lang="zh-CN" altLang="en-US" sz="3200" b="1" dirty="0"/>
              <a:t>进行分配并处理</a:t>
            </a:r>
            <a:r>
              <a:rPr lang="en-US" altLang="zh-CN" sz="3200" b="1" dirty="0"/>
              <a:t>spill</a:t>
            </a:r>
            <a:endParaRPr lang="zh-CN" altLang="en-US" sz="3200" b="1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DCEBCD0-17D5-75DE-B162-4F1D757C168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 defTabSz="914377" fontAlgn="base">
              <a:spcBef>
                <a:spcPct val="0"/>
              </a:spcBef>
              <a:spcAft>
                <a:spcPct val="0"/>
              </a:spcAft>
              <a:defRPr/>
            </a:pPr>
            <a:fld id="{DD1E6B75-A772-49D0-8FE5-A389934CEBC7}" type="slidenum">
              <a:rPr lang="zh-CN" altLang="en-US" b="1">
                <a:solidFill>
                  <a:schemeClr val="bg1"/>
                </a:solidFill>
                <a:latin typeface="Verdana" panose="020B0603030804020204" pitchFamily="34" charset="0"/>
                <a:ea typeface="宋体" panose="02010600030101010101" pitchFamily="2" charset="-122"/>
              </a:rPr>
              <a:pPr algn="ctr" defTabSz="914377" fontAlgn="base">
                <a:spcBef>
                  <a:spcPct val="0"/>
                </a:spcBef>
                <a:spcAft>
                  <a:spcPct val="0"/>
                </a:spcAft>
                <a:defRPr/>
              </a:pPr>
              <a:t>35</a:t>
            </a:fld>
            <a:endParaRPr lang="en-US" altLang="zh-CN" b="1">
              <a:solidFill>
                <a:schemeClr val="bg1"/>
              </a:solidFill>
              <a:latin typeface="Verdana" panose="020B0603030804020204" pitchFamily="34" charset="0"/>
              <a:ea typeface="宋体" panose="02010600030101010101" pitchFamily="2" charset="-122"/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DE2548C-F598-A6C5-3347-D1279050F9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 defTabSz="914377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 sz="1600" b="1" dirty="0">
              <a:solidFill>
                <a:srgbClr val="000066"/>
              </a:solidFill>
              <a:latin typeface="Times New Roman" panose="02060603050605020204" pitchFamily="18" charset="0"/>
              <a:ea typeface="宋体" panose="02010600030101010101" pitchFamily="2" charset="-122"/>
              <a:cs typeface="Times New Roman" panose="020606030506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0964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1E20D72-C2E2-CD9A-A480-E90326DB70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6185" y="1331595"/>
            <a:ext cx="7077116" cy="5523231"/>
          </a:xfrm>
        </p:spPr>
        <p:txBody>
          <a:bodyPr>
            <a:normAutofit fontScale="92500" lnSpcReduction="10000"/>
          </a:bodyPr>
          <a:lstStyle/>
          <a:p>
            <a:pPr>
              <a:spcAft>
                <a:spcPts val="1200"/>
              </a:spcAft>
            </a:pPr>
            <a:r>
              <a:rPr lang="zh-CN" altLang="en-US" sz="2800" b="1" dirty="0"/>
              <a:t>计算活跃区间</a:t>
            </a:r>
            <a:endParaRPr lang="en-US" altLang="zh-CN" sz="2800" b="1" dirty="0"/>
          </a:p>
          <a:p>
            <a:pPr marL="457189" lvl="1" indent="0">
              <a:spcAft>
                <a:spcPts val="1200"/>
              </a:spcAft>
              <a:buNone/>
            </a:pPr>
            <a:r>
              <a:rPr lang="en-US" altLang="zh-CN" sz="2400" b="1" dirty="0"/>
              <a:t>1. </a:t>
            </a:r>
            <a:r>
              <a:rPr lang="zh-CN" altLang="en-US" sz="2400" b="1" dirty="0"/>
              <a:t>首先需要对指令进行一个编号，一个简单的方法是对指令进行深度优先标号（</a:t>
            </a:r>
            <a:r>
              <a:rPr lang="en-US" altLang="zh-CN" sz="2400" b="1" dirty="0"/>
              <a:t>Deep First Numbering, DFN</a:t>
            </a:r>
            <a:r>
              <a:rPr lang="zh-CN" altLang="en-US" sz="2400" b="1" dirty="0"/>
              <a:t>）；</a:t>
            </a:r>
            <a:endParaRPr lang="en-US" altLang="zh-CN" sz="2400" b="1" dirty="0"/>
          </a:p>
          <a:p>
            <a:pPr marL="457189" lvl="1" indent="0">
              <a:spcAft>
                <a:spcPts val="1200"/>
              </a:spcAft>
              <a:buNone/>
            </a:pPr>
            <a:r>
              <a:rPr lang="en-US" altLang="zh-CN" sz="2400" b="1" dirty="0"/>
              <a:t>2. </a:t>
            </a:r>
            <a:r>
              <a:rPr lang="zh-CN" altLang="en-US" sz="2400" b="1" dirty="0"/>
              <a:t>通过活跃分析（</a:t>
            </a:r>
            <a:r>
              <a:rPr lang="en-US" altLang="zh-CN" sz="2400" b="1" dirty="0"/>
              <a:t>live analysis</a:t>
            </a:r>
            <a:r>
              <a:rPr lang="zh-CN" altLang="en-US" sz="2400" b="1" dirty="0"/>
              <a:t>）确定每个虚拟寄存器在程序的那些位置是活跃的；</a:t>
            </a:r>
            <a:endParaRPr lang="en-US" altLang="zh-CN" sz="2400" b="1" dirty="0"/>
          </a:p>
          <a:p>
            <a:pPr marL="457189" lvl="1" indent="0">
              <a:spcAft>
                <a:spcPts val="1200"/>
              </a:spcAft>
              <a:buNone/>
            </a:pPr>
            <a:r>
              <a:rPr lang="en-US" altLang="zh-CN" sz="2400" b="1" dirty="0"/>
              <a:t>3. </a:t>
            </a:r>
            <a:r>
              <a:rPr lang="zh-CN" altLang="en-US" sz="2400" b="1" dirty="0"/>
              <a:t>选出编号最大（</a:t>
            </a:r>
            <a:r>
              <a:rPr lang="en-US" altLang="zh-CN" sz="2400" b="1" dirty="0"/>
              <a:t>j</a:t>
            </a:r>
            <a:r>
              <a:rPr lang="zh-CN" altLang="en-US" sz="2400" b="1" dirty="0"/>
              <a:t>）和最小（</a:t>
            </a:r>
            <a:r>
              <a:rPr lang="en-US" altLang="zh-CN" sz="2400" b="1" dirty="0" err="1"/>
              <a:t>i</a:t>
            </a:r>
            <a:r>
              <a:rPr lang="zh-CN" altLang="en-US" sz="2400" b="1" dirty="0"/>
              <a:t>）的活跃点，组成活跃区间</a:t>
            </a:r>
            <a:r>
              <a:rPr lang="en-US" altLang="zh-CN" sz="2400" b="1" dirty="0"/>
              <a:t>[</a:t>
            </a:r>
            <a:r>
              <a:rPr lang="en-US" altLang="zh-CN" sz="2400" b="1" dirty="0" err="1"/>
              <a:t>i,j</a:t>
            </a:r>
            <a:r>
              <a:rPr lang="en-US" altLang="zh-CN" sz="2400" b="1" dirty="0"/>
              <a:t>]</a:t>
            </a:r>
            <a:r>
              <a:rPr lang="zh-CN" altLang="en-US" sz="2400" b="1" dirty="0"/>
              <a:t>。</a:t>
            </a:r>
            <a:r>
              <a:rPr lang="en-US" altLang="zh-CN" sz="2400" b="1" dirty="0"/>
              <a:t>v</a:t>
            </a:r>
            <a:r>
              <a:rPr lang="zh-CN" altLang="en-US" sz="2400" b="1" dirty="0"/>
              <a:t>的活跃区间只需要保证在这个区间之外</a:t>
            </a:r>
            <a:r>
              <a:rPr lang="en-US" altLang="zh-CN" sz="2400" b="1" dirty="0"/>
              <a:t>v</a:t>
            </a:r>
            <a:r>
              <a:rPr lang="zh-CN" altLang="en-US" sz="2400" b="1" dirty="0"/>
              <a:t>不会活跃就行了，不需要保证</a:t>
            </a:r>
            <a:r>
              <a:rPr lang="en-US" altLang="zh-CN" sz="2400" b="1" dirty="0"/>
              <a:t>v</a:t>
            </a:r>
            <a:r>
              <a:rPr lang="zh-CN" altLang="en-US" sz="2400" b="1" dirty="0"/>
              <a:t>在这个区间内是处处活跃的</a:t>
            </a:r>
            <a:endParaRPr lang="en-US" altLang="zh-CN" sz="2400" b="1" dirty="0"/>
          </a:p>
          <a:p>
            <a:pPr marL="0" indent="0">
              <a:spcBef>
                <a:spcPts val="0"/>
              </a:spcBef>
              <a:buNone/>
            </a:pPr>
            <a:r>
              <a:rPr lang="zh-CN" altLang="en-US" sz="2600" b="1" dirty="0"/>
              <a:t>注意：</a:t>
            </a:r>
            <a:r>
              <a:rPr lang="en-US" altLang="zh-CN" sz="2600" b="1" dirty="0"/>
              <a:t>1.</a:t>
            </a:r>
            <a:r>
              <a:rPr lang="zh-CN" altLang="en-US" sz="2600" b="1" dirty="0"/>
              <a:t>两个变量的活跃区间发生了重叠，称这两个变量存在冲突，产生了冲突的两个变量不可以使用同一个寄存器；</a:t>
            </a:r>
            <a:endParaRPr lang="en-US" altLang="zh-CN" sz="2600" b="1" dirty="0"/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600" b="1" dirty="0"/>
              <a:t>2.</a:t>
            </a:r>
            <a:r>
              <a:rPr lang="zh-CN" altLang="en-US" sz="2600" b="1" dirty="0"/>
              <a:t>不同的编号会影响变量活跃区间的计算</a:t>
            </a:r>
            <a:endParaRPr lang="en-US" altLang="zh-CN" sz="2600" b="1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2600" b="1" dirty="0"/>
              <a:t>3.</a:t>
            </a:r>
            <a:r>
              <a:rPr lang="zh-CN" altLang="en-US" sz="2600" b="1" dirty="0"/>
              <a:t>不考虑活跃区间的空洞，而是视为整体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0B654F9-43D3-5DAA-68C8-91677797A3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 defTabSz="914377" fontAlgn="base">
              <a:spcBef>
                <a:spcPct val="0"/>
              </a:spcBef>
              <a:spcAft>
                <a:spcPct val="0"/>
              </a:spcAft>
              <a:defRPr/>
            </a:pPr>
            <a:fld id="{DD1E6B75-A772-49D0-8FE5-A389934CEBC7}" type="slidenum">
              <a:rPr lang="zh-CN" altLang="en-US" b="1">
                <a:solidFill>
                  <a:schemeClr val="bg1"/>
                </a:solidFill>
                <a:latin typeface="Verdana" panose="020B0603030804020204" pitchFamily="34" charset="0"/>
                <a:ea typeface="宋体" panose="02010600030101010101" pitchFamily="2" charset="-122"/>
              </a:rPr>
              <a:pPr algn="ctr" defTabSz="914377" fontAlgn="base">
                <a:spcBef>
                  <a:spcPct val="0"/>
                </a:spcBef>
                <a:spcAft>
                  <a:spcPct val="0"/>
                </a:spcAft>
                <a:defRPr/>
              </a:pPr>
              <a:t>36</a:t>
            </a:fld>
            <a:endParaRPr lang="en-US" altLang="zh-CN" b="1">
              <a:solidFill>
                <a:schemeClr val="bg1"/>
              </a:solidFill>
              <a:latin typeface="Verdana" panose="020B0603030804020204" pitchFamily="34" charset="0"/>
              <a:ea typeface="宋体" panose="02010600030101010101" pitchFamily="2" charset="-122"/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8D6C529-9882-0A5A-9B83-8AEC56C2C9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 defTabSz="914377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 sz="1600" b="1" dirty="0">
              <a:solidFill>
                <a:srgbClr val="000066"/>
              </a:solidFill>
              <a:latin typeface="Times New Roman" panose="02060603050605020204" pitchFamily="18" charset="0"/>
              <a:ea typeface="宋体" panose="02010600030101010101" pitchFamily="2" charset="-122"/>
              <a:cs typeface="Times New Roman" panose="02060603050605020204" pitchFamily="18" charset="0"/>
            </a:endParaRPr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B5C3776F-FB39-9F4D-CD08-FAEE4BAA9E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635" y="136526"/>
            <a:ext cx="11498580" cy="1134111"/>
          </a:xfrm>
        </p:spPr>
        <p:txBody>
          <a:bodyPr/>
          <a:lstStyle/>
          <a:p>
            <a:r>
              <a:rPr lang="zh-CN" altLang="en-US" b="1" dirty="0">
                <a:latin typeface="楷体_GB2312" panose="02010609030101010101" charset="-122"/>
                <a:ea typeface="楷体_GB2312" panose="02010609030101010101" charset="-122"/>
                <a:sym typeface="+mn-ea"/>
              </a:rPr>
              <a:t>线性扫描算法</a:t>
            </a:r>
            <a:endParaRPr lang="zh-CN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623C3D05-3F0E-ED8B-47D8-21BC9B4F43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9933" y="143249"/>
            <a:ext cx="3306199" cy="4471240"/>
          </a:xfrm>
          <a:prstGeom prst="rect">
            <a:avLst/>
          </a:prstGeom>
        </p:spPr>
      </p:pic>
      <p:grpSp>
        <p:nvGrpSpPr>
          <p:cNvPr id="12" name="组合 11">
            <a:extLst>
              <a:ext uri="{FF2B5EF4-FFF2-40B4-BE49-F238E27FC236}">
                <a16:creationId xmlns:a16="http://schemas.microsoft.com/office/drawing/2014/main" id="{DEE73423-8E17-AA44-74CA-57A36444DFE7}"/>
              </a:ext>
            </a:extLst>
          </p:cNvPr>
          <p:cNvGrpSpPr/>
          <p:nvPr/>
        </p:nvGrpSpPr>
        <p:grpSpPr>
          <a:xfrm>
            <a:off x="7842422" y="4629468"/>
            <a:ext cx="4031908" cy="1715140"/>
            <a:chOff x="7842421" y="4629466"/>
            <a:chExt cx="4031908" cy="1715140"/>
          </a:xfrm>
        </p:grpSpPr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ADF02798-0689-9352-E9D3-665529C8C33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842421" y="4629466"/>
              <a:ext cx="3193708" cy="1715140"/>
            </a:xfrm>
            <a:prstGeom prst="rect">
              <a:avLst/>
            </a:prstGeom>
          </p:spPr>
        </p:pic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1BBAC247-7EBF-F890-DB9B-768B631BC309}"/>
                </a:ext>
              </a:extLst>
            </p:cNvPr>
            <p:cNvSpPr txBox="1"/>
            <p:nvPr/>
          </p:nvSpPr>
          <p:spPr>
            <a:xfrm>
              <a:off x="10197929" y="5745611"/>
              <a:ext cx="16764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/>
                <a:t>活跃区间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80638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BD3CB26-BCFC-D45C-91D9-D7239FF891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0525" y="1724026"/>
            <a:ext cx="10972800" cy="4948237"/>
          </a:xfrm>
        </p:spPr>
        <p:txBody>
          <a:bodyPr>
            <a:normAutofit/>
          </a:bodyPr>
          <a:lstStyle/>
          <a:p>
            <a:r>
              <a:rPr lang="zh-CN" altLang="en-US" sz="2800" b="1" dirty="0"/>
              <a:t>扫描活跃区间列表</a:t>
            </a:r>
            <a:endParaRPr lang="en-US" altLang="zh-CN" sz="2800" b="1" dirty="0"/>
          </a:p>
          <a:p>
            <a:pPr marL="457189" lvl="1" indent="0">
              <a:buNone/>
            </a:pPr>
            <a:r>
              <a:rPr lang="en-US" altLang="zh-CN" sz="2400" b="1" dirty="0"/>
              <a:t>1. </a:t>
            </a:r>
            <a:r>
              <a:rPr lang="zh-CN" altLang="en-US" sz="2400" b="1" dirty="0"/>
              <a:t>根据</a:t>
            </a:r>
            <a:r>
              <a:rPr lang="zh-CN" altLang="en-US" sz="2400" b="1" dirty="0">
                <a:solidFill>
                  <a:srgbClr val="C00000"/>
                </a:solidFill>
              </a:rPr>
              <a:t>区间开始点从低到高</a:t>
            </a:r>
            <a:r>
              <a:rPr lang="zh-CN" altLang="en-US" sz="2400" b="1" dirty="0"/>
              <a:t>对所有的活跃区间进行排序；</a:t>
            </a:r>
            <a:endParaRPr lang="en-US" altLang="zh-CN" sz="2400" b="1" dirty="0"/>
          </a:p>
          <a:p>
            <a:pPr lvl="1"/>
            <a:endParaRPr lang="en-US" altLang="zh-CN" sz="2400" b="1" dirty="0"/>
          </a:p>
          <a:p>
            <a:pPr marL="457189" lvl="1" indent="0">
              <a:buNone/>
            </a:pPr>
            <a:r>
              <a:rPr lang="en-US" altLang="zh-CN" sz="2400" b="1" dirty="0"/>
              <a:t>2. </a:t>
            </a:r>
            <a:r>
              <a:rPr lang="zh-CN" altLang="en-US" sz="2400" b="1" dirty="0"/>
              <a:t>若有</a:t>
            </a:r>
            <a:r>
              <a:rPr lang="en-US" altLang="zh-CN" sz="2400" b="1" dirty="0"/>
              <a:t>R</a:t>
            </a:r>
            <a:r>
              <a:rPr lang="zh-CN" altLang="en-US" sz="2400" b="1" dirty="0"/>
              <a:t>个可供分配的寄存器，建立一个链表</a:t>
            </a:r>
            <a:r>
              <a:rPr lang="en-US" altLang="zh-CN" sz="2400" b="1" dirty="0"/>
              <a:t>active</a:t>
            </a:r>
            <a:r>
              <a:rPr lang="zh-CN" altLang="en-US" sz="2400" b="1" dirty="0"/>
              <a:t>，对当前的活跃变量进行存放，</a:t>
            </a:r>
            <a:r>
              <a:rPr lang="en-US" altLang="zh-CN" sz="2400" b="1" dirty="0"/>
              <a:t>active</a:t>
            </a:r>
            <a:r>
              <a:rPr lang="zh-CN" altLang="en-US" sz="2400" b="1" dirty="0"/>
              <a:t>根据每个区间的终点从高到低对活跃变量进行排列（</a:t>
            </a:r>
            <a:r>
              <a:rPr lang="zh-CN" altLang="en-US" sz="2400" b="1" dirty="0">
                <a:solidFill>
                  <a:srgbClr val="C00000"/>
                </a:solidFill>
              </a:rPr>
              <a:t>也可以根据变量区间的终点由低到高排列</a:t>
            </a:r>
            <a:r>
              <a:rPr lang="zh-CN" altLang="en-US" sz="2400" b="1" dirty="0"/>
              <a:t>）；</a:t>
            </a:r>
            <a:endParaRPr lang="en-US" altLang="zh-CN" sz="2400" b="1" dirty="0"/>
          </a:p>
          <a:p>
            <a:pPr lvl="1"/>
            <a:endParaRPr lang="en-US" altLang="zh-CN" sz="2400" b="1" dirty="0"/>
          </a:p>
          <a:p>
            <a:pPr marL="457189" lvl="1" indent="0">
              <a:buNone/>
            </a:pPr>
            <a:r>
              <a:rPr lang="en-US" altLang="zh-CN" sz="2400" b="1" dirty="0"/>
              <a:t>3. </a:t>
            </a:r>
            <a:r>
              <a:rPr lang="zh-CN" altLang="en-US" sz="2400" b="1" dirty="0"/>
              <a:t>每次向前扫描可以遇到一个新的活跃区间</a:t>
            </a:r>
            <a:r>
              <a:rPr lang="en-US" altLang="zh-CN" sz="2400" b="1" dirty="0" err="1"/>
              <a:t>I_new</a:t>
            </a:r>
            <a:r>
              <a:rPr lang="zh-CN" altLang="en-US" sz="2400" b="1" dirty="0"/>
              <a:t>，用</a:t>
            </a:r>
            <a:r>
              <a:rPr lang="en-US" altLang="zh-CN" sz="2400" b="1" dirty="0" err="1"/>
              <a:t>I_new</a:t>
            </a:r>
            <a:r>
              <a:rPr lang="zh-CN" altLang="en-US" sz="2400" b="1" dirty="0"/>
              <a:t>的起点</a:t>
            </a:r>
            <a:r>
              <a:rPr lang="en-US" altLang="zh-CN" sz="2400" b="1" dirty="0" err="1"/>
              <a:t>i</a:t>
            </a:r>
            <a:r>
              <a:rPr lang="zh-CN" altLang="en-US" sz="2400" b="1" dirty="0"/>
              <a:t>和</a:t>
            </a:r>
            <a:r>
              <a:rPr lang="en-US" altLang="zh-CN" sz="2400" b="1" dirty="0"/>
              <a:t>active</a:t>
            </a:r>
            <a:r>
              <a:rPr lang="zh-CN" altLang="en-US" sz="2400" b="1" dirty="0"/>
              <a:t>链表中的每个区间</a:t>
            </a:r>
            <a:r>
              <a:rPr lang="en-US" altLang="zh-CN" sz="2400" b="1" dirty="0" err="1"/>
              <a:t>I_old</a:t>
            </a:r>
            <a:r>
              <a:rPr lang="zh-CN" altLang="en-US" sz="2400" b="1" dirty="0"/>
              <a:t>的终点</a:t>
            </a:r>
            <a:r>
              <a:rPr lang="en-US" altLang="zh-CN" sz="2400" b="1" dirty="0"/>
              <a:t>j</a:t>
            </a:r>
            <a:r>
              <a:rPr lang="zh-CN" altLang="en-US" sz="2400" b="1" dirty="0"/>
              <a:t>进行对比，如果出现了</a:t>
            </a:r>
            <a:r>
              <a:rPr lang="en-US" altLang="zh-CN" sz="2400" b="1" dirty="0" err="1"/>
              <a:t>j≤i</a:t>
            </a:r>
            <a:r>
              <a:rPr lang="zh-CN" altLang="en-US" sz="2400" b="1" dirty="0"/>
              <a:t>，那么就将</a:t>
            </a:r>
            <a:r>
              <a:rPr lang="en-US" altLang="zh-CN" sz="2400" b="1" dirty="0" err="1"/>
              <a:t>I_old</a:t>
            </a:r>
            <a:r>
              <a:rPr lang="zh-CN" altLang="en-US" sz="2400" b="1" dirty="0"/>
              <a:t>从</a:t>
            </a:r>
            <a:r>
              <a:rPr lang="en-US" altLang="zh-CN" sz="2400" b="1" dirty="0"/>
              <a:t>active</a:t>
            </a:r>
            <a:r>
              <a:rPr lang="zh-CN" altLang="en-US" sz="2400" b="1" dirty="0"/>
              <a:t>中移除，可以认为</a:t>
            </a:r>
            <a:r>
              <a:rPr lang="en-US" altLang="zh-CN" sz="2400" b="1" dirty="0" err="1"/>
              <a:t>I_old</a:t>
            </a:r>
            <a:r>
              <a:rPr lang="zh-CN" altLang="en-US" sz="2400" b="1" dirty="0"/>
              <a:t>以及被完全处理了</a:t>
            </a:r>
            <a:r>
              <a:rPr lang="zh-CN" altLang="en-US" sz="2400" b="1" dirty="0" smtClean="0"/>
              <a:t>；然后更新</a:t>
            </a:r>
            <a:r>
              <a:rPr lang="en-US" altLang="zh-CN" sz="2400" b="1" dirty="0" smtClean="0"/>
              <a:t>active</a:t>
            </a:r>
            <a:r>
              <a:rPr lang="zh-CN" altLang="en-US" sz="2400" b="1" dirty="0" smtClean="0"/>
              <a:t>表（</a:t>
            </a:r>
            <a:r>
              <a:rPr lang="en-US" altLang="zh-CN" sz="2400" b="1" dirty="0"/>
              <a:t> </a:t>
            </a:r>
            <a:r>
              <a:rPr lang="en-US" altLang="zh-CN" sz="2400" b="1" dirty="0">
                <a:solidFill>
                  <a:srgbClr val="C00000"/>
                </a:solidFill>
              </a:rPr>
              <a:t>active</a:t>
            </a:r>
            <a:r>
              <a:rPr lang="zh-CN" altLang="en-US" sz="2400" b="1" dirty="0">
                <a:solidFill>
                  <a:srgbClr val="C00000"/>
                </a:solidFill>
              </a:rPr>
              <a:t>根据每个区间的终点从高到低对活跃变量进行排列</a:t>
            </a:r>
            <a:r>
              <a:rPr lang="zh-CN" altLang="en-US" sz="2400" b="1" dirty="0" smtClean="0"/>
              <a:t>）</a:t>
            </a:r>
            <a:endParaRPr lang="en-US" altLang="zh-CN" sz="2400" b="1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E8DBF52-3D86-81E2-891B-7DE9E5895BA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 defTabSz="914377" fontAlgn="base">
              <a:spcBef>
                <a:spcPct val="0"/>
              </a:spcBef>
              <a:spcAft>
                <a:spcPct val="0"/>
              </a:spcAft>
              <a:defRPr/>
            </a:pPr>
            <a:fld id="{DD1E6B75-A772-49D0-8FE5-A389934CEBC7}" type="slidenum">
              <a:rPr lang="zh-CN" altLang="en-US" b="1">
                <a:solidFill>
                  <a:schemeClr val="bg1"/>
                </a:solidFill>
                <a:latin typeface="Verdana" panose="020B0603030804020204" pitchFamily="34" charset="0"/>
                <a:ea typeface="宋体" panose="02010600030101010101" pitchFamily="2" charset="-122"/>
              </a:rPr>
              <a:pPr algn="ctr" defTabSz="914377" fontAlgn="base">
                <a:spcBef>
                  <a:spcPct val="0"/>
                </a:spcBef>
                <a:spcAft>
                  <a:spcPct val="0"/>
                </a:spcAft>
                <a:defRPr/>
              </a:pPr>
              <a:t>37</a:t>
            </a:fld>
            <a:endParaRPr lang="en-US" altLang="zh-CN" b="1">
              <a:solidFill>
                <a:schemeClr val="bg1"/>
              </a:solidFill>
              <a:latin typeface="Verdana" panose="020B0603030804020204" pitchFamily="34" charset="0"/>
              <a:ea typeface="宋体" panose="02010600030101010101" pitchFamily="2" charset="-122"/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53ED047-2FCB-FDB6-FA1C-33A6079B8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 defTabSz="914377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 sz="1600" b="1" dirty="0">
              <a:solidFill>
                <a:srgbClr val="000066"/>
              </a:solidFill>
              <a:latin typeface="Times New Roman" panose="02060603050605020204" pitchFamily="18" charset="0"/>
              <a:ea typeface="宋体" panose="02010600030101010101" pitchFamily="2" charset="-122"/>
              <a:cs typeface="Times New Roman" panose="02060603050605020204" pitchFamily="18" charset="0"/>
            </a:endParaRPr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5070ED5E-5478-9F23-1CB9-C6815A686E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635" y="136526"/>
            <a:ext cx="11498580" cy="1134111"/>
          </a:xfrm>
        </p:spPr>
        <p:txBody>
          <a:bodyPr/>
          <a:lstStyle/>
          <a:p>
            <a:r>
              <a:rPr lang="zh-CN" altLang="en-US" b="1" dirty="0">
                <a:latin typeface="楷体_GB2312" panose="02010609030101010101" charset="-122"/>
                <a:ea typeface="楷体_GB2312" panose="02010609030101010101" charset="-122"/>
                <a:sym typeface="+mn-ea"/>
              </a:rPr>
              <a:t>线性扫描算法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22044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BD3CB26-BCFC-D45C-91D9-D7239FF891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5709" y="1541464"/>
            <a:ext cx="10972800" cy="4948237"/>
          </a:xfrm>
        </p:spPr>
        <p:txBody>
          <a:bodyPr>
            <a:normAutofit/>
          </a:bodyPr>
          <a:lstStyle/>
          <a:p>
            <a:r>
              <a:rPr lang="zh-CN" altLang="en-US" sz="3200" b="1" dirty="0"/>
              <a:t>进行分配并处理</a:t>
            </a:r>
            <a:r>
              <a:rPr lang="en-US" altLang="zh-CN" sz="3200" b="1" dirty="0"/>
              <a:t>spill</a:t>
            </a:r>
            <a:endParaRPr lang="en-US" altLang="zh-CN" sz="2800" b="1" dirty="0"/>
          </a:p>
          <a:p>
            <a:pPr marL="457189" lvl="1" indent="0">
              <a:buNone/>
            </a:pPr>
            <a:r>
              <a:rPr lang="en-US" altLang="zh-CN" sz="2800" b="1" dirty="0"/>
              <a:t>1. active</a:t>
            </a:r>
            <a:r>
              <a:rPr lang="zh-CN" altLang="en-US" sz="2800" b="1" dirty="0"/>
              <a:t>更新之后，如果</a:t>
            </a:r>
            <a:r>
              <a:rPr lang="en-US" altLang="zh-CN" sz="2800" b="1" dirty="0"/>
              <a:t>size(active)≥R</a:t>
            </a:r>
            <a:r>
              <a:rPr lang="zh-CN" altLang="en-US" sz="2800" b="1" dirty="0"/>
              <a:t>，则要将链表中的某个</a:t>
            </a:r>
            <a:r>
              <a:rPr lang="en-US" altLang="zh-CN" sz="2800" b="1" dirty="0" err="1"/>
              <a:t>I_old</a:t>
            </a:r>
            <a:r>
              <a:rPr lang="zh-CN" altLang="en-US" sz="2800" b="1" dirty="0"/>
              <a:t>或者刚已入的</a:t>
            </a:r>
            <a:r>
              <a:rPr lang="en-US" altLang="zh-CN" sz="2800" b="1" dirty="0" err="1"/>
              <a:t>I_new</a:t>
            </a:r>
            <a:r>
              <a:rPr lang="zh-CN" altLang="en-US" sz="2800" b="1" dirty="0"/>
              <a:t>进行</a:t>
            </a:r>
            <a:r>
              <a:rPr lang="en-US" altLang="zh-CN" sz="2800" b="1" dirty="0"/>
              <a:t>spill</a:t>
            </a:r>
            <a:r>
              <a:rPr lang="zh-CN" altLang="en-US" sz="2800" b="1" dirty="0"/>
              <a:t>；</a:t>
            </a:r>
            <a:endParaRPr lang="en-US" altLang="zh-CN" sz="2800" b="1" dirty="0"/>
          </a:p>
          <a:p>
            <a:pPr marL="457189" lvl="1" indent="0">
              <a:buNone/>
            </a:pPr>
            <a:r>
              <a:rPr lang="en-US" altLang="zh-CN" sz="2800" b="1" dirty="0">
                <a:solidFill>
                  <a:srgbClr val="C00000"/>
                </a:solidFill>
              </a:rPr>
              <a:t>	</a:t>
            </a:r>
            <a:r>
              <a:rPr lang="zh-CN" altLang="en-US" sz="2800" b="1" dirty="0"/>
              <a:t>一种启发式</a:t>
            </a:r>
            <a:r>
              <a:rPr lang="en-US" altLang="zh-CN" sz="2800" b="1" dirty="0"/>
              <a:t>spill</a:t>
            </a:r>
            <a:r>
              <a:rPr lang="zh-CN" altLang="en-US" sz="2800" b="1" dirty="0"/>
              <a:t>规则：使用结束位置最后的一个区间进行</a:t>
            </a:r>
            <a:r>
              <a:rPr lang="en-US" altLang="zh-CN" sz="2800" b="1" dirty="0"/>
              <a:t>spill </a:t>
            </a:r>
            <a:r>
              <a:rPr lang="zh-CN" altLang="en-US" sz="2800" b="1" dirty="0">
                <a:solidFill>
                  <a:srgbClr val="C00000"/>
                </a:solidFill>
              </a:rPr>
              <a:t>（结束位置最后的区间会导致后期有更多的区间溢出；结束位置最后的区间就是链表</a:t>
            </a:r>
            <a:r>
              <a:rPr lang="en-US" altLang="zh-CN" sz="2800" b="1" dirty="0">
                <a:solidFill>
                  <a:srgbClr val="C00000"/>
                </a:solidFill>
              </a:rPr>
              <a:t>active</a:t>
            </a:r>
            <a:r>
              <a:rPr lang="zh-CN" altLang="en-US" sz="2800" b="1" dirty="0">
                <a:solidFill>
                  <a:srgbClr val="C00000"/>
                </a:solidFill>
              </a:rPr>
              <a:t>中的第一个元素）</a:t>
            </a:r>
            <a:endParaRPr lang="en-US" altLang="zh-CN" sz="2800" b="1" dirty="0">
              <a:solidFill>
                <a:srgbClr val="C00000"/>
              </a:solidFill>
            </a:endParaRPr>
          </a:p>
          <a:p>
            <a:pPr marL="457189" lvl="1" indent="0">
              <a:buNone/>
            </a:pPr>
            <a:endParaRPr lang="zh-CN" altLang="en-US" sz="2800" b="1" dirty="0">
              <a:solidFill>
                <a:srgbClr val="C00000"/>
              </a:solidFill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E8DBF52-3D86-81E2-891B-7DE9E5895BA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 defTabSz="914377" fontAlgn="base">
              <a:spcBef>
                <a:spcPct val="0"/>
              </a:spcBef>
              <a:spcAft>
                <a:spcPct val="0"/>
              </a:spcAft>
              <a:defRPr/>
            </a:pPr>
            <a:fld id="{DD1E6B75-A772-49D0-8FE5-A389934CEBC7}" type="slidenum">
              <a:rPr lang="zh-CN" altLang="en-US" b="1">
                <a:solidFill>
                  <a:schemeClr val="bg1"/>
                </a:solidFill>
                <a:latin typeface="Verdana" panose="020B0603030804020204" pitchFamily="34" charset="0"/>
                <a:ea typeface="宋体" panose="02010600030101010101" pitchFamily="2" charset="-122"/>
              </a:rPr>
              <a:pPr algn="ctr" defTabSz="914377" fontAlgn="base">
                <a:spcBef>
                  <a:spcPct val="0"/>
                </a:spcBef>
                <a:spcAft>
                  <a:spcPct val="0"/>
                </a:spcAft>
                <a:defRPr/>
              </a:pPr>
              <a:t>38</a:t>
            </a:fld>
            <a:endParaRPr lang="en-US" altLang="zh-CN" b="1">
              <a:solidFill>
                <a:schemeClr val="bg1"/>
              </a:solidFill>
              <a:latin typeface="Verdana" panose="020B0603030804020204" pitchFamily="34" charset="0"/>
              <a:ea typeface="宋体" panose="02010600030101010101" pitchFamily="2" charset="-122"/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53ED047-2FCB-FDB6-FA1C-33A6079B8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 defTabSz="914377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 sz="1600" b="1" dirty="0">
              <a:solidFill>
                <a:srgbClr val="000066"/>
              </a:solidFill>
              <a:latin typeface="Times New Roman" panose="02060603050605020204" pitchFamily="18" charset="0"/>
              <a:ea typeface="宋体" panose="02010600030101010101" pitchFamily="2" charset="-122"/>
              <a:cs typeface="Times New Roman" panose="02060603050605020204" pitchFamily="18" charset="0"/>
            </a:endParaRPr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5070ED5E-5478-9F23-1CB9-C6815A686E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635" y="136526"/>
            <a:ext cx="11498580" cy="1134111"/>
          </a:xfrm>
        </p:spPr>
        <p:txBody>
          <a:bodyPr/>
          <a:lstStyle/>
          <a:p>
            <a:r>
              <a:rPr lang="zh-CN" altLang="en-US" b="1" dirty="0">
                <a:latin typeface="楷体_GB2312" panose="02010609030101010101" charset="-122"/>
                <a:ea typeface="楷体_GB2312" panose="02010609030101010101" charset="-122"/>
                <a:sym typeface="+mn-ea"/>
              </a:rPr>
              <a:t>线性扫描算法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73955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59DB1C-3770-BA46-4510-8BB46268FB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楷体_GB2312" panose="02010609030101010101" charset="-122"/>
                <a:ea typeface="楷体_GB2312" panose="02010609030101010101" charset="-122"/>
                <a:sym typeface="+mn-ea"/>
              </a:rPr>
              <a:t>线性扫描算法示例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3373F-A602-B076-5098-E67FC33A83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5709" y="1406050"/>
            <a:ext cx="10972800" cy="4948237"/>
          </a:xfrm>
        </p:spPr>
        <p:txBody>
          <a:bodyPr>
            <a:normAutofit/>
          </a:bodyPr>
          <a:lstStyle/>
          <a:p>
            <a:r>
              <a:rPr lang="zh-CN" altLang="en-US" sz="2800" b="1" dirty="0"/>
              <a:t>一共有两个可用的寄存器，</a:t>
            </a:r>
            <a:r>
              <a:rPr lang="en-US" altLang="zh-CN" sz="2800" b="1" dirty="0"/>
              <a:t>R=2</a:t>
            </a:r>
          </a:p>
          <a:p>
            <a:r>
              <a:rPr lang="zh-CN" altLang="en-US" sz="2800" b="1" dirty="0"/>
              <a:t>排序后的活跃区间如下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E9B2EB7-04A6-1D11-745C-FC5C6E4A10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 defTabSz="914377" fontAlgn="base">
              <a:spcBef>
                <a:spcPct val="0"/>
              </a:spcBef>
              <a:spcAft>
                <a:spcPct val="0"/>
              </a:spcAft>
              <a:defRPr/>
            </a:pPr>
            <a:fld id="{DD1E6B75-A772-49D0-8FE5-A389934CEBC7}" type="slidenum">
              <a:rPr lang="zh-CN" altLang="en-US" b="1">
                <a:solidFill>
                  <a:schemeClr val="bg1"/>
                </a:solidFill>
                <a:latin typeface="Verdana" panose="020B0603030804020204" pitchFamily="34" charset="0"/>
                <a:ea typeface="宋体" panose="02010600030101010101" pitchFamily="2" charset="-122"/>
              </a:rPr>
              <a:pPr algn="ctr" defTabSz="914377" fontAlgn="base">
                <a:spcBef>
                  <a:spcPct val="0"/>
                </a:spcBef>
                <a:spcAft>
                  <a:spcPct val="0"/>
                </a:spcAft>
                <a:defRPr/>
              </a:pPr>
              <a:t>39</a:t>
            </a:fld>
            <a:endParaRPr lang="en-US" altLang="zh-CN" b="1">
              <a:solidFill>
                <a:schemeClr val="bg1"/>
              </a:solidFill>
              <a:latin typeface="Verdana" panose="020B0603030804020204" pitchFamily="34" charset="0"/>
              <a:ea typeface="宋体" panose="02010600030101010101" pitchFamily="2" charset="-122"/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56E5C4A-8FBA-0432-88B2-107D63220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 defTabSz="914377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 sz="1600" b="1" dirty="0">
              <a:solidFill>
                <a:srgbClr val="000066"/>
              </a:solidFill>
              <a:latin typeface="Times New Roman" panose="02060603050605020204" pitchFamily="18" charset="0"/>
              <a:ea typeface="宋体" panose="02010600030101010101" pitchFamily="2" charset="-122"/>
              <a:cs typeface="Times New Roman" panose="02060603050605020204" pitchFamily="18" charset="0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763071EA-F908-9CBE-8312-BD8BD561541B}"/>
              </a:ext>
            </a:extLst>
          </p:cNvPr>
          <p:cNvGrpSpPr/>
          <p:nvPr/>
        </p:nvGrpSpPr>
        <p:grpSpPr>
          <a:xfrm>
            <a:off x="482976" y="2419053"/>
            <a:ext cx="4669093" cy="3179206"/>
            <a:chOff x="610466" y="2566742"/>
            <a:chExt cx="4685772" cy="3190565"/>
          </a:xfrm>
        </p:grpSpPr>
        <p:pic>
          <p:nvPicPr>
            <p:cNvPr id="1026" name="Picture 2" descr="image-20220408235832498">
              <a:extLst>
                <a:ext uri="{FF2B5EF4-FFF2-40B4-BE49-F238E27FC236}">
                  <a16:creationId xmlns:a16="http://schemas.microsoft.com/office/drawing/2014/main" id="{E0639049-92CC-C58F-5441-81C667763F1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753" r="29630"/>
            <a:stretch/>
          </p:blipFill>
          <p:spPr bwMode="auto">
            <a:xfrm>
              <a:off x="610466" y="2566742"/>
              <a:ext cx="4548177" cy="287481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665E7298-BDED-B21F-F926-BFFC95FBCCD8}"/>
                </a:ext>
              </a:extLst>
            </p:cNvPr>
            <p:cNvSpPr txBox="1"/>
            <p:nvPr/>
          </p:nvSpPr>
          <p:spPr>
            <a:xfrm>
              <a:off x="1183407" y="5386655"/>
              <a:ext cx="4112831" cy="37065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b="1" dirty="0">
                  <a:solidFill>
                    <a:srgbClr val="000000"/>
                  </a:solidFill>
                  <a:latin typeface="PingFang SC"/>
                </a:rPr>
                <a:t>五个活跃区间，</a:t>
              </a:r>
              <a:r>
                <a:rPr lang="en-US" altLang="zh-CN" b="1" dirty="0">
                  <a:solidFill>
                    <a:srgbClr val="000000"/>
                  </a:solidFill>
                  <a:latin typeface="PingFang SC"/>
                </a:rPr>
                <a:t>B</a:t>
              </a:r>
              <a:r>
                <a:rPr lang="zh-CN" altLang="en-US" b="1" dirty="0">
                  <a:solidFill>
                    <a:srgbClr val="000000"/>
                  </a:solidFill>
                  <a:latin typeface="PingFang SC"/>
                </a:rPr>
                <a:t>和</a:t>
              </a:r>
              <a:r>
                <a:rPr lang="en-US" altLang="zh-CN" b="1" dirty="0">
                  <a:solidFill>
                    <a:srgbClr val="000000"/>
                  </a:solidFill>
                  <a:latin typeface="PingFang SC"/>
                </a:rPr>
                <a:t>E</a:t>
              </a:r>
              <a:r>
                <a:rPr lang="zh-CN" altLang="en-US" b="1" dirty="0">
                  <a:solidFill>
                    <a:srgbClr val="000000"/>
                  </a:solidFill>
                  <a:latin typeface="PingFang SC"/>
                </a:rPr>
                <a:t>首位相连</a:t>
              </a:r>
              <a:endParaRPr lang="zh-CN" altLang="en-US" dirty="0"/>
            </a:p>
          </p:txBody>
        </p:sp>
      </p:grpSp>
      <p:graphicFrame>
        <p:nvGraphicFramePr>
          <p:cNvPr id="9" name="表格 9">
            <a:extLst>
              <a:ext uri="{FF2B5EF4-FFF2-40B4-BE49-F238E27FC236}">
                <a16:creationId xmlns:a16="http://schemas.microsoft.com/office/drawing/2014/main" id="{BCF9F55E-3294-2727-95C6-3C5445CA8D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7976350"/>
              </p:ext>
            </p:extLst>
          </p:nvPr>
        </p:nvGraphicFramePr>
        <p:xfrm>
          <a:off x="5289177" y="2011897"/>
          <a:ext cx="6419851" cy="33894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2475">
                  <a:extLst>
                    <a:ext uri="{9D8B030D-6E8A-4147-A177-3AD203B41FA5}">
                      <a16:colId xmlns:a16="http://schemas.microsoft.com/office/drawing/2014/main" val="1449504908"/>
                    </a:ext>
                  </a:extLst>
                </a:gridCol>
                <a:gridCol w="1604149">
                  <a:extLst>
                    <a:ext uri="{9D8B030D-6E8A-4147-A177-3AD203B41FA5}">
                      <a16:colId xmlns:a16="http://schemas.microsoft.com/office/drawing/2014/main" val="728330759"/>
                    </a:ext>
                  </a:extLst>
                </a:gridCol>
                <a:gridCol w="1435100">
                  <a:extLst>
                    <a:ext uri="{9D8B030D-6E8A-4147-A177-3AD203B41FA5}">
                      <a16:colId xmlns:a16="http://schemas.microsoft.com/office/drawing/2014/main" val="2020513096"/>
                    </a:ext>
                  </a:extLst>
                </a:gridCol>
                <a:gridCol w="1257300">
                  <a:extLst>
                    <a:ext uri="{9D8B030D-6E8A-4147-A177-3AD203B41FA5}">
                      <a16:colId xmlns:a16="http://schemas.microsoft.com/office/drawing/2014/main" val="2410062333"/>
                    </a:ext>
                  </a:extLst>
                </a:gridCol>
                <a:gridCol w="1370827">
                  <a:extLst>
                    <a:ext uri="{9D8B030D-6E8A-4147-A177-3AD203B41FA5}">
                      <a16:colId xmlns:a16="http://schemas.microsoft.com/office/drawing/2014/main" val="2155840355"/>
                    </a:ext>
                  </a:extLst>
                </a:gridCol>
              </a:tblGrid>
              <a:tr h="716357">
                <a:tc>
                  <a:txBody>
                    <a:bodyPr/>
                    <a:lstStyle/>
                    <a:p>
                      <a:pPr algn="ctr"/>
                      <a:endParaRPr lang="en-US" sz="1300" b="1" dirty="0">
                        <a:effectLst/>
                      </a:endParaRPr>
                    </a:p>
                  </a:txBody>
                  <a:tcPr marL="88900" marR="88900" marT="50800" marB="5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effectLst/>
                        </a:rPr>
                        <a:t>active intervals</a:t>
                      </a:r>
                    </a:p>
                  </a:txBody>
                  <a:tcPr marL="88900" marR="88900" marT="50800" marB="5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/>
                        <a:t>available registers</a:t>
                      </a:r>
                      <a:endParaRPr lang="zh-CN" altLang="en-US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/>
                        <a:t>spilled intervals</a:t>
                      </a:r>
                      <a:endParaRPr lang="zh-CN" altLang="en-US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/>
                        <a:t>allocation results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69779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300" b="1" dirty="0"/>
                        <a:t>初始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300" b="1" i="0" u="none" strike="noStrike" dirty="0" smtClean="0">
                          <a:effectLst/>
                          <a:latin typeface="MathJax_Main"/>
                        </a:rPr>
                        <a:t>{}</a:t>
                      </a:r>
                      <a:endParaRPr lang="zh-CN" altLang="en-US" sz="1300" b="1" dirty="0">
                        <a:effectLst/>
                      </a:endParaRPr>
                    </a:p>
                  </a:txBody>
                  <a:tcPr marL="88900" marR="88900" marT="50800" marB="5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i="0" u="none" strike="noStrike" dirty="0">
                          <a:effectLst/>
                        </a:rPr>
                        <a:t>{r1,r2}</a:t>
                      </a:r>
                      <a:endParaRPr lang="en-US" sz="1300" b="1" dirty="0">
                        <a:effectLst/>
                      </a:endParaRPr>
                    </a:p>
                  </a:txBody>
                  <a:tcPr marL="88900" marR="88900" marT="50800" marB="5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300" b="1" i="0" u="none" strike="noStrike" dirty="0" smtClean="0">
                          <a:effectLst/>
                          <a:latin typeface="MathJax_Main"/>
                        </a:rPr>
                        <a:t>{}</a:t>
                      </a:r>
                      <a:endParaRPr lang="zh-CN" altLang="en-US" sz="1300" b="1" dirty="0">
                        <a:effectLst/>
                      </a:endParaRPr>
                    </a:p>
                  </a:txBody>
                  <a:tcPr marL="88900" marR="88900" marT="50800" marB="5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300" b="1" i="0" u="none" strike="noStrike" dirty="0">
                          <a:effectLst/>
                          <a:latin typeface="MathJax_Main"/>
                        </a:rPr>
                        <a:t>{}</a:t>
                      </a:r>
                      <a:endParaRPr lang="zh-CN" altLang="en-US" sz="1300" b="1" dirty="0">
                        <a:effectLst/>
                      </a:endParaRPr>
                    </a:p>
                  </a:txBody>
                  <a:tcPr marL="88900" marR="88900" marT="50800" marB="50800" anchor="ctr"/>
                </a:tc>
                <a:extLst>
                  <a:ext uri="{0D108BD9-81ED-4DB2-BD59-A6C34878D82A}">
                    <a16:rowId xmlns:a16="http://schemas.microsoft.com/office/drawing/2014/main" val="21342113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300" b="1" dirty="0"/>
                        <a:t>A</a:t>
                      </a:r>
                      <a:endParaRPr lang="zh-CN" altLang="en-US" sz="13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i="0" u="none" strike="noStrike" dirty="0">
                          <a:effectLst/>
                        </a:rPr>
                        <a:t>{A=r1}</a:t>
                      </a:r>
                      <a:endParaRPr lang="en-US" sz="1300" b="1" dirty="0">
                        <a:effectLst/>
                      </a:endParaRPr>
                    </a:p>
                  </a:txBody>
                  <a:tcPr marL="88900" marR="88900" marT="50800" marB="5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i="0" u="none" strike="noStrike" dirty="0">
                          <a:effectLst/>
                        </a:rPr>
                        <a:t>{r2}</a:t>
                      </a:r>
                      <a:endParaRPr lang="en-US" sz="1300" b="1" dirty="0">
                        <a:effectLst/>
                      </a:endParaRPr>
                    </a:p>
                  </a:txBody>
                  <a:tcPr marL="88900" marR="88900" marT="50800" marB="5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300" b="1" i="0" u="none" strike="noStrike" dirty="0" smtClean="0">
                          <a:effectLst/>
                          <a:latin typeface="MathJax_Main"/>
                        </a:rPr>
                        <a:t>{}</a:t>
                      </a:r>
                      <a:endParaRPr lang="zh-CN" altLang="en-US" sz="1300" b="1" dirty="0">
                        <a:effectLst/>
                      </a:endParaRPr>
                    </a:p>
                  </a:txBody>
                  <a:tcPr marL="88900" marR="88900" marT="50800" marB="5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300" b="1" i="0" u="none" strike="noStrike" dirty="0">
                          <a:effectLst/>
                          <a:latin typeface="MathJax_Main"/>
                        </a:rPr>
                        <a:t>{}</a:t>
                      </a:r>
                      <a:endParaRPr lang="zh-CN" altLang="en-US" sz="1300" b="1" dirty="0">
                        <a:effectLst/>
                      </a:endParaRPr>
                    </a:p>
                  </a:txBody>
                  <a:tcPr marL="88900" marR="88900" marT="50800" marB="50800" anchor="ctr"/>
                </a:tc>
                <a:extLst>
                  <a:ext uri="{0D108BD9-81ED-4DB2-BD59-A6C34878D82A}">
                    <a16:rowId xmlns:a16="http://schemas.microsoft.com/office/drawing/2014/main" val="283715091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300" b="1" dirty="0"/>
                        <a:t>B</a:t>
                      </a:r>
                      <a:endParaRPr lang="zh-CN" altLang="en-US" sz="13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1" i="0" u="none" strike="noStrike" dirty="0">
                          <a:effectLst/>
                        </a:rPr>
                        <a:t>{A=r1,B=r2}</a:t>
                      </a:r>
                      <a:endParaRPr lang="pt-BR" sz="1300" b="1" dirty="0">
                        <a:effectLst/>
                      </a:endParaRPr>
                    </a:p>
                  </a:txBody>
                  <a:tcPr marL="88900" marR="88900" marT="50800" marB="5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300" b="1" i="0" u="none" strike="noStrike" dirty="0">
                          <a:effectLst/>
                        </a:rPr>
                        <a:t>{}</a:t>
                      </a:r>
                      <a:endParaRPr lang="zh-CN" altLang="en-US" sz="1300" b="1" dirty="0">
                        <a:effectLst/>
                      </a:endParaRPr>
                    </a:p>
                  </a:txBody>
                  <a:tcPr marL="88900" marR="88900" marT="50800" marB="5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300" b="1" i="0" u="none" strike="noStrike" dirty="0">
                          <a:effectLst/>
                        </a:rPr>
                        <a:t>{}</a:t>
                      </a:r>
                      <a:endParaRPr lang="zh-CN" altLang="en-US" sz="1300" b="1" dirty="0">
                        <a:effectLst/>
                      </a:endParaRPr>
                    </a:p>
                  </a:txBody>
                  <a:tcPr marL="88900" marR="88900" marT="50800" marB="5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300" b="1" i="0" u="none" strike="noStrike" dirty="0">
                          <a:effectLst/>
                          <a:latin typeface="MathJax_Main"/>
                        </a:rPr>
                        <a:t>{}</a:t>
                      </a:r>
                      <a:endParaRPr lang="zh-CN" altLang="en-US" sz="1300" b="1" dirty="0">
                        <a:effectLst/>
                      </a:endParaRPr>
                    </a:p>
                  </a:txBody>
                  <a:tcPr marL="88900" marR="88900" marT="50800" marB="50800" anchor="ctr"/>
                </a:tc>
                <a:extLst>
                  <a:ext uri="{0D108BD9-81ED-4DB2-BD59-A6C34878D82A}">
                    <a16:rowId xmlns:a16="http://schemas.microsoft.com/office/drawing/2014/main" val="107916318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300" b="1" dirty="0"/>
                        <a:t>C</a:t>
                      </a:r>
                      <a:endParaRPr lang="zh-CN" altLang="en-US" sz="13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1" i="0" u="none" strike="noStrike" dirty="0">
                          <a:effectLst/>
                        </a:rPr>
                        <a:t>{A=r1,B=r2}</a:t>
                      </a:r>
                      <a:endParaRPr lang="pt-BR" sz="1300" b="1" dirty="0">
                        <a:effectLst/>
                      </a:endParaRPr>
                    </a:p>
                  </a:txBody>
                  <a:tcPr marL="88900" marR="88900" marT="50800" marB="5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300" b="1" i="0" u="none" strike="noStrike" dirty="0">
                          <a:effectLst/>
                        </a:rPr>
                        <a:t>{}</a:t>
                      </a:r>
                      <a:endParaRPr lang="zh-CN" altLang="en-US" sz="1300" b="1" dirty="0">
                        <a:effectLst/>
                      </a:endParaRPr>
                    </a:p>
                  </a:txBody>
                  <a:tcPr marL="88900" marR="88900" marT="50800" marB="5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i="0" u="none" strike="noStrike" dirty="0">
                          <a:effectLst/>
                        </a:rPr>
                        <a:t>{C}</a:t>
                      </a:r>
                      <a:endParaRPr lang="en-US" sz="1300" b="1" dirty="0">
                        <a:effectLst/>
                      </a:endParaRPr>
                    </a:p>
                  </a:txBody>
                  <a:tcPr marL="88900" marR="88900" marT="50800" marB="5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300" b="1" i="0" u="none" strike="noStrike" dirty="0">
                          <a:effectLst/>
                          <a:latin typeface="MathJax_Main"/>
                        </a:rPr>
                        <a:t>{}</a:t>
                      </a:r>
                      <a:endParaRPr lang="zh-CN" altLang="en-US" sz="1300" b="1" dirty="0">
                        <a:effectLst/>
                      </a:endParaRPr>
                    </a:p>
                  </a:txBody>
                  <a:tcPr marL="88900" marR="88900" marT="50800" marB="50800" anchor="ctr"/>
                </a:tc>
                <a:extLst>
                  <a:ext uri="{0D108BD9-81ED-4DB2-BD59-A6C34878D82A}">
                    <a16:rowId xmlns:a16="http://schemas.microsoft.com/office/drawing/2014/main" val="370960326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300" b="1" dirty="0"/>
                        <a:t>D</a:t>
                      </a:r>
                      <a:endParaRPr lang="zh-CN" altLang="en-US" sz="13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1" i="0" u="none" strike="noStrike" dirty="0">
                          <a:effectLst/>
                        </a:rPr>
                        <a:t>{D=r1,B=r2}</a:t>
                      </a:r>
                      <a:endParaRPr lang="pt-BR" sz="1300" b="1" dirty="0">
                        <a:effectLst/>
                      </a:endParaRPr>
                    </a:p>
                  </a:txBody>
                  <a:tcPr marL="88900" marR="88900" marT="50800" marB="5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300" b="1" i="0" u="none" strike="noStrike" dirty="0">
                          <a:effectLst/>
                        </a:rPr>
                        <a:t>{}</a:t>
                      </a:r>
                      <a:endParaRPr lang="zh-CN" altLang="en-US" sz="1300" b="1" dirty="0">
                        <a:effectLst/>
                      </a:endParaRPr>
                    </a:p>
                  </a:txBody>
                  <a:tcPr marL="88900" marR="88900" marT="50800" marB="5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i="0" u="none" strike="noStrike" dirty="0">
                          <a:effectLst/>
                        </a:rPr>
                        <a:t>{C}</a:t>
                      </a:r>
                      <a:endParaRPr lang="en-US" sz="1300" b="1" dirty="0">
                        <a:effectLst/>
                      </a:endParaRPr>
                    </a:p>
                  </a:txBody>
                  <a:tcPr marL="88900" marR="88900" marT="50800" marB="5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i="0" u="none" strike="noStrike" dirty="0">
                          <a:effectLst/>
                          <a:latin typeface="MathJax_Main"/>
                        </a:rPr>
                        <a:t>{</a:t>
                      </a:r>
                      <a:r>
                        <a:rPr lang="en-US" sz="1300" b="1" i="0" u="none" strike="noStrike" dirty="0">
                          <a:effectLst/>
                          <a:latin typeface="MathJax_Math-italic"/>
                        </a:rPr>
                        <a:t>A</a:t>
                      </a:r>
                      <a:r>
                        <a:rPr lang="en-US" sz="1300" b="1" i="0" u="none" strike="noStrike" dirty="0">
                          <a:effectLst/>
                          <a:latin typeface="MathJax_Main"/>
                        </a:rPr>
                        <a:t>=</a:t>
                      </a:r>
                      <a:r>
                        <a:rPr lang="en-US" sz="1300" b="1" i="0" u="none" strike="noStrike" dirty="0">
                          <a:effectLst/>
                          <a:latin typeface="MathJax_Math-italic"/>
                        </a:rPr>
                        <a:t>r</a:t>
                      </a:r>
                      <a:r>
                        <a:rPr lang="en-US" sz="1300" b="1" i="0" u="none" strike="noStrike" dirty="0">
                          <a:effectLst/>
                          <a:latin typeface="MathJax_Main"/>
                        </a:rPr>
                        <a:t>1}</a:t>
                      </a:r>
                      <a:endParaRPr lang="en-US" sz="1300" b="1" dirty="0">
                        <a:effectLst/>
                      </a:endParaRPr>
                    </a:p>
                  </a:txBody>
                  <a:tcPr marL="88900" marR="88900" marT="50800" marB="50800" anchor="ctr"/>
                </a:tc>
                <a:extLst>
                  <a:ext uri="{0D108BD9-81ED-4DB2-BD59-A6C34878D82A}">
                    <a16:rowId xmlns:a16="http://schemas.microsoft.com/office/drawing/2014/main" val="114842825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300" b="1" dirty="0"/>
                        <a:t>E</a:t>
                      </a:r>
                      <a:endParaRPr lang="zh-CN" altLang="en-US" sz="13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1" i="0" u="none" strike="noStrike" dirty="0">
                          <a:effectLst/>
                        </a:rPr>
                        <a:t>{D=r1,E=r2}</a:t>
                      </a:r>
                      <a:endParaRPr lang="pt-BR" sz="1300" b="1" dirty="0">
                        <a:effectLst/>
                      </a:endParaRPr>
                    </a:p>
                  </a:txBody>
                  <a:tcPr marL="88900" marR="88900" marT="50800" marB="5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300" b="1" i="0" u="none" strike="noStrike" dirty="0">
                          <a:effectLst/>
                        </a:rPr>
                        <a:t>{}</a:t>
                      </a:r>
                      <a:endParaRPr lang="zh-CN" altLang="en-US" sz="1300" b="1" dirty="0">
                        <a:effectLst/>
                      </a:endParaRPr>
                    </a:p>
                  </a:txBody>
                  <a:tcPr marL="88900" marR="88900" marT="50800" marB="5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i="0" u="none" strike="noStrike" dirty="0">
                          <a:effectLst/>
                        </a:rPr>
                        <a:t>{C}</a:t>
                      </a:r>
                      <a:endParaRPr lang="en-US" sz="1300" b="1" dirty="0">
                        <a:effectLst/>
                      </a:endParaRPr>
                    </a:p>
                  </a:txBody>
                  <a:tcPr marL="88900" marR="88900" marT="50800" marB="5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i="0" u="none" strike="noStrike" dirty="0">
                          <a:effectLst/>
                          <a:latin typeface="MathJax_Main"/>
                        </a:rPr>
                        <a:t>{</a:t>
                      </a:r>
                      <a:r>
                        <a:rPr lang="en-US" sz="1300" b="1" i="0" u="none" strike="noStrike" dirty="0">
                          <a:effectLst/>
                          <a:latin typeface="MathJax_Math-italic"/>
                        </a:rPr>
                        <a:t>A</a:t>
                      </a:r>
                      <a:r>
                        <a:rPr lang="en-US" sz="1300" b="1" i="0" u="none" strike="noStrike" dirty="0">
                          <a:effectLst/>
                          <a:latin typeface="MathJax_Main"/>
                        </a:rPr>
                        <a:t>=</a:t>
                      </a:r>
                      <a:r>
                        <a:rPr lang="en-US" sz="1300" b="1" i="0" u="none" strike="noStrike" dirty="0">
                          <a:effectLst/>
                          <a:latin typeface="MathJax_Math-italic"/>
                        </a:rPr>
                        <a:t>r</a:t>
                      </a:r>
                      <a:r>
                        <a:rPr lang="en-US" sz="1300" b="1" i="0" u="none" strike="noStrike" dirty="0">
                          <a:effectLst/>
                          <a:latin typeface="MathJax_Main"/>
                        </a:rPr>
                        <a:t>1,</a:t>
                      </a:r>
                      <a:r>
                        <a:rPr lang="en-US" sz="1300" b="1" i="0" u="none" strike="noStrike" dirty="0">
                          <a:effectLst/>
                          <a:latin typeface="MathJax_Math-italic"/>
                        </a:rPr>
                        <a:t>B</a:t>
                      </a:r>
                      <a:r>
                        <a:rPr lang="en-US" sz="1300" b="1" i="0" u="none" strike="noStrike" dirty="0">
                          <a:effectLst/>
                          <a:latin typeface="MathJax_Main"/>
                        </a:rPr>
                        <a:t>=</a:t>
                      </a:r>
                      <a:r>
                        <a:rPr lang="en-US" sz="1300" b="1" i="0" u="none" strike="noStrike" dirty="0">
                          <a:effectLst/>
                          <a:latin typeface="MathJax_Math-italic"/>
                        </a:rPr>
                        <a:t>r</a:t>
                      </a:r>
                      <a:r>
                        <a:rPr lang="en-US" sz="1300" b="1" i="0" u="none" strike="noStrike" dirty="0">
                          <a:effectLst/>
                          <a:latin typeface="MathJax_Main"/>
                        </a:rPr>
                        <a:t>2}</a:t>
                      </a:r>
                      <a:endParaRPr lang="en-US" sz="1300" b="1" dirty="0">
                        <a:effectLst/>
                      </a:endParaRPr>
                    </a:p>
                  </a:txBody>
                  <a:tcPr marL="88900" marR="88900" marT="50800" marB="50800" anchor="ctr"/>
                </a:tc>
                <a:extLst>
                  <a:ext uri="{0D108BD9-81ED-4DB2-BD59-A6C34878D82A}">
                    <a16:rowId xmlns:a16="http://schemas.microsoft.com/office/drawing/2014/main" val="3238006420"/>
                  </a:ext>
                </a:extLst>
              </a:tr>
              <a:tr h="51308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300" b="1" dirty="0"/>
                        <a:t>结束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300" b="1" i="0" u="none" strike="noStrike" dirty="0">
                          <a:effectLst/>
                        </a:rPr>
                        <a:t>{}</a:t>
                      </a:r>
                      <a:endParaRPr lang="zh-CN" altLang="en-US" sz="1300" b="1" dirty="0">
                        <a:effectLst/>
                      </a:endParaRPr>
                    </a:p>
                  </a:txBody>
                  <a:tcPr marL="88900" marR="88900" marT="50800" marB="5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i="0" u="none" strike="noStrike" dirty="0">
                          <a:effectLst/>
                        </a:rPr>
                        <a:t>{r1,r2}</a:t>
                      </a:r>
                      <a:endParaRPr lang="en-US" sz="1300" b="1" dirty="0">
                        <a:effectLst/>
                      </a:endParaRPr>
                    </a:p>
                  </a:txBody>
                  <a:tcPr marL="88900" marR="88900" marT="50800" marB="5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i="0" u="none" strike="noStrike" dirty="0">
                          <a:effectLst/>
                        </a:rPr>
                        <a:t>{C}</a:t>
                      </a:r>
                      <a:endParaRPr lang="en-US" sz="1300" b="1" dirty="0">
                        <a:effectLst/>
                      </a:endParaRPr>
                    </a:p>
                  </a:txBody>
                  <a:tcPr marL="88900" marR="88900" marT="50800" marB="5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1" i="0" u="none" strike="noStrike" dirty="0">
                          <a:effectLst/>
                          <a:latin typeface="MathJax_Main"/>
                        </a:rPr>
                        <a:t>{</a:t>
                      </a:r>
                      <a:r>
                        <a:rPr lang="pt-BR" sz="1300" b="1" i="0" u="none" strike="noStrike" dirty="0">
                          <a:effectLst/>
                          <a:latin typeface="MathJax_Math-italic"/>
                        </a:rPr>
                        <a:t>A</a:t>
                      </a:r>
                      <a:r>
                        <a:rPr lang="pt-BR" sz="1300" b="1" i="0" u="none" strike="noStrike" dirty="0">
                          <a:effectLst/>
                          <a:latin typeface="MathJax_Main"/>
                        </a:rPr>
                        <a:t>=</a:t>
                      </a:r>
                      <a:r>
                        <a:rPr lang="pt-BR" sz="1300" b="1" i="0" u="none" strike="noStrike" dirty="0">
                          <a:effectLst/>
                          <a:latin typeface="MathJax_Math-italic"/>
                        </a:rPr>
                        <a:t>r</a:t>
                      </a:r>
                      <a:r>
                        <a:rPr lang="pt-BR" sz="1300" b="1" i="0" u="none" strike="noStrike" dirty="0">
                          <a:effectLst/>
                          <a:latin typeface="MathJax_Main"/>
                        </a:rPr>
                        <a:t>1,</a:t>
                      </a:r>
                      <a:r>
                        <a:rPr lang="pt-BR" sz="1300" b="1" i="0" u="none" strike="noStrike" dirty="0">
                          <a:effectLst/>
                          <a:latin typeface="MathJax_Math-italic"/>
                        </a:rPr>
                        <a:t>B</a:t>
                      </a:r>
                      <a:r>
                        <a:rPr lang="pt-BR" sz="1300" b="1" i="0" u="none" strike="noStrike" dirty="0">
                          <a:effectLst/>
                          <a:latin typeface="MathJax_Main"/>
                        </a:rPr>
                        <a:t>=</a:t>
                      </a:r>
                      <a:r>
                        <a:rPr lang="pt-BR" sz="1300" b="1" i="0" u="none" strike="noStrike" dirty="0">
                          <a:effectLst/>
                          <a:latin typeface="MathJax_Math-italic"/>
                        </a:rPr>
                        <a:t>r</a:t>
                      </a:r>
                      <a:r>
                        <a:rPr lang="pt-BR" sz="1300" b="1" i="0" u="none" strike="noStrike" dirty="0">
                          <a:effectLst/>
                          <a:latin typeface="MathJax_Main"/>
                        </a:rPr>
                        <a:t>2,</a:t>
                      </a:r>
                      <a:r>
                        <a:rPr lang="pt-BR" sz="1300" b="1" i="0" u="none" strike="noStrike" dirty="0">
                          <a:effectLst/>
                          <a:latin typeface="MathJax_Math-italic"/>
                        </a:rPr>
                        <a:t>D</a:t>
                      </a:r>
                      <a:r>
                        <a:rPr lang="pt-BR" sz="1300" b="1" i="0" u="none" strike="noStrike" dirty="0">
                          <a:effectLst/>
                          <a:latin typeface="MathJax_Main"/>
                        </a:rPr>
                        <a:t>=</a:t>
                      </a:r>
                      <a:r>
                        <a:rPr lang="pt-BR" sz="1300" b="1" i="0" u="none" strike="noStrike" dirty="0">
                          <a:effectLst/>
                          <a:latin typeface="MathJax_Math-italic"/>
                        </a:rPr>
                        <a:t>r</a:t>
                      </a:r>
                      <a:r>
                        <a:rPr lang="pt-BR" sz="1300" b="1" i="0" u="none" strike="noStrike" dirty="0">
                          <a:effectLst/>
                          <a:latin typeface="MathJax_Main"/>
                        </a:rPr>
                        <a:t>1,</a:t>
                      </a:r>
                      <a:r>
                        <a:rPr lang="pt-BR" sz="1300" b="1" i="0" u="none" strike="noStrike" dirty="0">
                          <a:effectLst/>
                          <a:latin typeface="MathJax_Math-italic"/>
                        </a:rPr>
                        <a:t>E</a:t>
                      </a:r>
                      <a:r>
                        <a:rPr lang="pt-BR" sz="1300" b="1" i="0" u="none" strike="noStrike" dirty="0">
                          <a:effectLst/>
                          <a:latin typeface="MathJax_Main"/>
                        </a:rPr>
                        <a:t>=</a:t>
                      </a:r>
                      <a:r>
                        <a:rPr lang="pt-BR" sz="1300" b="1" i="0" u="none" strike="noStrike" dirty="0">
                          <a:effectLst/>
                          <a:latin typeface="MathJax_Math-italic"/>
                        </a:rPr>
                        <a:t>r</a:t>
                      </a:r>
                      <a:r>
                        <a:rPr lang="pt-BR" sz="1300" b="1" i="0" u="none" strike="noStrike" dirty="0">
                          <a:effectLst/>
                          <a:latin typeface="MathJax_Main"/>
                        </a:rPr>
                        <a:t>2}</a:t>
                      </a:r>
                      <a:endParaRPr lang="pt-BR" sz="1300" b="1" dirty="0">
                        <a:effectLst/>
                      </a:endParaRPr>
                    </a:p>
                  </a:txBody>
                  <a:tcPr marL="88900" marR="88900" marT="50800" marB="50800" anchor="ctr"/>
                </a:tc>
                <a:extLst>
                  <a:ext uri="{0D108BD9-81ED-4DB2-BD59-A6C34878D82A}">
                    <a16:rowId xmlns:a16="http://schemas.microsoft.com/office/drawing/2014/main" val="35258299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89294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b="1" dirty="0">
                <a:latin typeface="楷体_GB2312" panose="02010609030101010101" charset="-122"/>
                <a:ea typeface="楷体_GB2312" panose="02010609030101010101" charset="-122"/>
                <a:sym typeface="+mn-ea"/>
              </a:rPr>
              <a:t>线性扫描算法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40</a:t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文本占位符 5"/>
          <p:cNvSpPr>
            <a:spLocks noGrp="1"/>
          </p:cNvSpPr>
          <p:nvPr>
            <p:ph type="body" idx="4294967295"/>
          </p:nvPr>
        </p:nvSpPr>
        <p:spPr>
          <a:xfrm>
            <a:off x="127636" y="1388112"/>
            <a:ext cx="11997691" cy="5091431"/>
          </a:xfrm>
        </p:spPr>
        <p:txBody>
          <a:bodyPr>
            <a:normAutofit/>
          </a:bodyPr>
          <a:lstStyle/>
          <a:p>
            <a:pPr marL="431789" indent="-323843" defTabSz="449569">
              <a:lnSpc>
                <a:spcPct val="100000"/>
              </a:lnSpc>
              <a:buSzPct val="45000"/>
              <a:buNone/>
              <a:tabLst>
                <a:tab pos="723882" algn="l"/>
                <a:tab pos="1447764" algn="l"/>
                <a:tab pos="2171646" algn="l"/>
                <a:tab pos="2895528" algn="l"/>
                <a:tab pos="3619410" algn="l"/>
                <a:tab pos="4343291" algn="l"/>
                <a:tab pos="5067173" algn="l"/>
                <a:tab pos="5791055" algn="l"/>
                <a:tab pos="6514937" algn="l"/>
                <a:tab pos="7238819" algn="l"/>
                <a:tab pos="7962701" algn="l"/>
                <a:tab pos="8686583" algn="l"/>
              </a:tabLst>
            </a:pPr>
            <a:r>
              <a:rPr sz="3200" b="1" dirty="0">
                <a:sym typeface="+mn-ea"/>
              </a:rPr>
              <a:t>优势</a:t>
            </a:r>
          </a:p>
          <a:p>
            <a:pPr marL="431789" indent="-323843" defTabSz="449569">
              <a:lnSpc>
                <a:spcPct val="100000"/>
              </a:lnSpc>
              <a:buSzPct val="45000"/>
              <a:buNone/>
              <a:tabLst>
                <a:tab pos="723882" algn="l"/>
                <a:tab pos="1447764" algn="l"/>
                <a:tab pos="2171646" algn="l"/>
                <a:tab pos="2895528" algn="l"/>
                <a:tab pos="3619410" algn="l"/>
                <a:tab pos="4343291" algn="l"/>
                <a:tab pos="5067173" algn="l"/>
                <a:tab pos="5791055" algn="l"/>
                <a:tab pos="6514937" algn="l"/>
                <a:tab pos="7238819" algn="l"/>
                <a:tab pos="7962701" algn="l"/>
                <a:tab pos="8686583" algn="l"/>
              </a:tabLst>
            </a:pPr>
            <a:r>
              <a:rPr lang="en-US" sz="3200" b="1" dirty="0">
                <a:sym typeface="+mn-ea"/>
              </a:rPr>
              <a:t>    </a:t>
            </a:r>
            <a:r>
              <a:rPr sz="3200" b="1" dirty="0">
                <a:sym typeface="+mn-ea"/>
              </a:rPr>
              <a:t>非常高效（计算有效间隔后，线性运行时间）</a:t>
            </a:r>
          </a:p>
          <a:p>
            <a:pPr marL="431789" indent="-323843" defTabSz="449569">
              <a:lnSpc>
                <a:spcPct val="100000"/>
              </a:lnSpc>
              <a:buSzPct val="45000"/>
              <a:buNone/>
              <a:tabLst>
                <a:tab pos="723882" algn="l"/>
                <a:tab pos="1447764" algn="l"/>
                <a:tab pos="2171646" algn="l"/>
                <a:tab pos="2895528" algn="l"/>
                <a:tab pos="3619410" algn="l"/>
                <a:tab pos="4343291" algn="l"/>
                <a:tab pos="5067173" algn="l"/>
                <a:tab pos="5791055" algn="l"/>
                <a:tab pos="6514937" algn="l"/>
                <a:tab pos="7238819" algn="l"/>
                <a:tab pos="7962701" algn="l"/>
                <a:tab pos="8686583" algn="l"/>
              </a:tabLst>
            </a:pPr>
            <a:r>
              <a:rPr lang="en-US" sz="3200" b="1" dirty="0">
                <a:sym typeface="+mn-ea"/>
              </a:rPr>
              <a:t>    </a:t>
            </a:r>
            <a:r>
              <a:rPr sz="3200" b="1" dirty="0">
                <a:sym typeface="+mn-ea"/>
              </a:rPr>
              <a:t>在许多情况下生成良好的代码</a:t>
            </a:r>
          </a:p>
          <a:p>
            <a:pPr marL="431789" indent="-323843" defTabSz="449569">
              <a:lnSpc>
                <a:spcPct val="100000"/>
              </a:lnSpc>
              <a:buSzPct val="45000"/>
              <a:buNone/>
              <a:tabLst>
                <a:tab pos="723882" algn="l"/>
                <a:tab pos="1447764" algn="l"/>
                <a:tab pos="2171646" algn="l"/>
                <a:tab pos="2895528" algn="l"/>
                <a:tab pos="3619410" algn="l"/>
                <a:tab pos="4343291" algn="l"/>
                <a:tab pos="5067173" algn="l"/>
                <a:tab pos="5791055" algn="l"/>
                <a:tab pos="6514937" algn="l"/>
                <a:tab pos="7238819" algn="l"/>
                <a:tab pos="7962701" algn="l"/>
                <a:tab pos="8686583" algn="l"/>
              </a:tabLst>
            </a:pPr>
            <a:r>
              <a:rPr lang="en-US" sz="3200" b="1" dirty="0">
                <a:sym typeface="+mn-ea"/>
              </a:rPr>
              <a:t>    </a:t>
            </a:r>
            <a:r>
              <a:rPr sz="3200" b="1" dirty="0">
                <a:sym typeface="+mn-ea"/>
              </a:rPr>
              <a:t>分配步骤一次完成</a:t>
            </a:r>
          </a:p>
          <a:p>
            <a:pPr marL="431789" indent="-323843" defTabSz="449569">
              <a:lnSpc>
                <a:spcPct val="100000"/>
              </a:lnSpc>
              <a:buSzPct val="45000"/>
              <a:buNone/>
              <a:tabLst>
                <a:tab pos="723882" algn="l"/>
                <a:tab pos="1447764" algn="l"/>
                <a:tab pos="2171646" algn="l"/>
                <a:tab pos="2895528" algn="l"/>
                <a:tab pos="3619410" algn="l"/>
                <a:tab pos="4343291" algn="l"/>
                <a:tab pos="5067173" algn="l"/>
                <a:tab pos="5791055" algn="l"/>
                <a:tab pos="6514937" algn="l"/>
                <a:tab pos="7238819" algn="l"/>
                <a:tab pos="7962701" algn="l"/>
                <a:tab pos="8686583" algn="l"/>
              </a:tabLst>
            </a:pPr>
            <a:r>
              <a:rPr lang="en-US" sz="3200" b="1" dirty="0">
                <a:sym typeface="+mn-ea"/>
              </a:rPr>
              <a:t>    </a:t>
            </a:r>
            <a:r>
              <a:rPr sz="3200" b="1" dirty="0">
                <a:sym typeface="+mn-ea"/>
              </a:rPr>
              <a:t>可以在运行期间生成代码迭代</a:t>
            </a:r>
          </a:p>
          <a:p>
            <a:pPr marL="431789" indent="-323843" defTabSz="449569">
              <a:lnSpc>
                <a:spcPct val="100000"/>
              </a:lnSpc>
              <a:buSzPct val="45000"/>
              <a:buNone/>
              <a:tabLst>
                <a:tab pos="723882" algn="l"/>
                <a:tab pos="1447764" algn="l"/>
                <a:tab pos="2171646" algn="l"/>
                <a:tab pos="2895528" algn="l"/>
                <a:tab pos="3619410" algn="l"/>
                <a:tab pos="4343291" algn="l"/>
                <a:tab pos="5067173" algn="l"/>
                <a:tab pos="5791055" algn="l"/>
                <a:tab pos="6514937" algn="l"/>
                <a:tab pos="7238819" algn="l"/>
                <a:tab pos="7962701" algn="l"/>
                <a:tab pos="8686583" algn="l"/>
              </a:tabLst>
            </a:pPr>
            <a:r>
              <a:rPr sz="3200" b="1" dirty="0">
                <a:sym typeface="+mn-ea"/>
              </a:rPr>
              <a:t>缺点</a:t>
            </a:r>
          </a:p>
          <a:p>
            <a:pPr marL="431789" indent="-323843" defTabSz="449569">
              <a:lnSpc>
                <a:spcPct val="100000"/>
              </a:lnSpc>
              <a:buSzPct val="45000"/>
              <a:buNone/>
              <a:tabLst>
                <a:tab pos="723882" algn="l"/>
                <a:tab pos="1447764" algn="l"/>
                <a:tab pos="2171646" algn="l"/>
                <a:tab pos="2895528" algn="l"/>
                <a:tab pos="3619410" algn="l"/>
                <a:tab pos="4343291" algn="l"/>
                <a:tab pos="5067173" algn="l"/>
                <a:tab pos="5791055" algn="l"/>
                <a:tab pos="6514937" algn="l"/>
                <a:tab pos="7238819" algn="l"/>
                <a:tab pos="7962701" algn="l"/>
                <a:tab pos="8686583" algn="l"/>
              </a:tabLst>
            </a:pPr>
            <a:r>
              <a:rPr lang="en-US" sz="3200" b="1" dirty="0">
                <a:sym typeface="+mn-ea"/>
              </a:rPr>
              <a:t>    </a:t>
            </a:r>
            <a:r>
              <a:rPr sz="3200" b="1" dirty="0">
                <a:sym typeface="+mn-ea"/>
              </a:rPr>
              <a:t>由于使用活动间隔而不是活动范围，因此不精确。</a:t>
            </a:r>
          </a:p>
          <a:p>
            <a:pPr marL="431789" indent="-323843" defTabSz="449569">
              <a:lnSpc>
                <a:spcPct val="100000"/>
              </a:lnSpc>
              <a:buSzPct val="45000"/>
              <a:buNone/>
              <a:tabLst>
                <a:tab pos="723882" algn="l"/>
                <a:tab pos="1447764" algn="l"/>
                <a:tab pos="2171646" algn="l"/>
                <a:tab pos="2895528" algn="l"/>
                <a:tab pos="3619410" algn="l"/>
                <a:tab pos="4343291" algn="l"/>
                <a:tab pos="5067173" algn="l"/>
                <a:tab pos="5791055" algn="l"/>
                <a:tab pos="6514937" algn="l"/>
                <a:tab pos="7238819" algn="l"/>
                <a:tab pos="7962701" algn="l"/>
                <a:tab pos="8686583" algn="l"/>
              </a:tabLst>
            </a:pPr>
            <a:r>
              <a:rPr lang="en-US" sz="3200" b="1" dirty="0">
                <a:sym typeface="+mn-ea"/>
              </a:rPr>
              <a:t>    </a:t>
            </a:r>
            <a:r>
              <a:rPr sz="3200" b="1" dirty="0">
                <a:sym typeface="+mn-ea"/>
              </a:rPr>
              <a:t>在许多情况下，效果不如其他方法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b="1" dirty="0">
                <a:latin typeface="楷体_GB2312" panose="02010609030101010101" charset="-122"/>
                <a:ea typeface="楷体_GB2312" panose="02010609030101010101" charset="-122"/>
                <a:sym typeface="+mn-ea"/>
              </a:rPr>
              <a:t>图着色算法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41</a:t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文本占位符 5"/>
          <p:cNvSpPr>
            <a:spLocks noGrp="1"/>
          </p:cNvSpPr>
          <p:nvPr>
            <p:ph type="body" idx="4294967295"/>
          </p:nvPr>
        </p:nvSpPr>
        <p:spPr>
          <a:xfrm>
            <a:off x="245746" y="1388111"/>
            <a:ext cx="6900545" cy="1321435"/>
          </a:xfrm>
        </p:spPr>
        <p:txBody>
          <a:bodyPr>
            <a:normAutofit/>
          </a:bodyPr>
          <a:lstStyle/>
          <a:p>
            <a:pPr marL="431789" indent="-323843" defTabSz="449569">
              <a:lnSpc>
                <a:spcPct val="100000"/>
              </a:lnSpc>
              <a:buSzPct val="45000"/>
              <a:buNone/>
              <a:tabLst>
                <a:tab pos="723882" algn="l"/>
                <a:tab pos="1447764" algn="l"/>
                <a:tab pos="2171646" algn="l"/>
                <a:tab pos="2895528" algn="l"/>
                <a:tab pos="3619410" algn="l"/>
                <a:tab pos="4343291" algn="l"/>
                <a:tab pos="5067173" algn="l"/>
                <a:tab pos="5791055" algn="l"/>
                <a:tab pos="6514937" algn="l"/>
                <a:tab pos="7238819" algn="l"/>
                <a:tab pos="7962701" algn="l"/>
                <a:tab pos="8686583" algn="l"/>
              </a:tabLst>
            </a:pPr>
            <a:r>
              <a:rPr lang="zh-CN" altLang="en-US" sz="3200" b="1" dirty="0">
                <a:sym typeface="+mn-ea"/>
              </a:rPr>
              <a:t>线性扫描使用的信息为“活跃间隔”</a:t>
            </a:r>
            <a:endParaRPr sz="3200" b="1" dirty="0">
              <a:sym typeface="+mn-ea"/>
            </a:endParaRPr>
          </a:p>
          <a:p>
            <a:pPr marL="431789" indent="-323843" defTabSz="449569">
              <a:lnSpc>
                <a:spcPct val="100000"/>
              </a:lnSpc>
              <a:buSzPct val="45000"/>
              <a:buNone/>
              <a:tabLst>
                <a:tab pos="723882" algn="l"/>
                <a:tab pos="1447764" algn="l"/>
                <a:tab pos="2171646" algn="l"/>
                <a:tab pos="2895528" algn="l"/>
                <a:tab pos="3619410" algn="l"/>
                <a:tab pos="4343291" algn="l"/>
                <a:tab pos="5067173" algn="l"/>
                <a:tab pos="5791055" algn="l"/>
                <a:tab pos="6514937" algn="l"/>
                <a:tab pos="7238819" algn="l"/>
                <a:tab pos="7962701" algn="l"/>
                <a:tab pos="8686583" algn="l"/>
              </a:tabLst>
            </a:pPr>
            <a:r>
              <a:rPr lang="zh-CN" altLang="en-US" sz="3200" b="1" dirty="0">
                <a:sym typeface="+mn-ea"/>
              </a:rPr>
              <a:t>能否直接使用活跃信息？</a:t>
            </a:r>
            <a:endParaRPr sz="3200" b="1" dirty="0">
              <a:sym typeface="+mn-e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907655" y="121285"/>
            <a:ext cx="2514600" cy="914400"/>
          </a:xfrm>
          <a:custGeom>
            <a:avLst/>
            <a:gdLst/>
            <a:ahLst/>
            <a:cxnLst/>
            <a:rect l="l" t="t" r="r" b="b"/>
            <a:pathLst>
              <a:path w="2514600" h="914400">
                <a:moveTo>
                  <a:pt x="2514600" y="0"/>
                </a:moveTo>
                <a:lnTo>
                  <a:pt x="0" y="0"/>
                </a:lnTo>
                <a:lnTo>
                  <a:pt x="0" y="914400"/>
                </a:lnTo>
                <a:lnTo>
                  <a:pt x="2514600" y="9144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919085" y="168276"/>
            <a:ext cx="2514600" cy="88614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7620" rIns="0" bIns="0" rtlCol="0">
            <a:spAutoFit/>
          </a:bodyPr>
          <a:lstStyle/>
          <a:p>
            <a:pPr marL="190495" marR="182875" algn="ctr">
              <a:lnSpc>
                <a:spcPts val="2260"/>
              </a:lnSpc>
              <a:spcBef>
                <a:spcPts val="60"/>
              </a:spcBef>
            </a:pPr>
            <a:r>
              <a:rPr sz="2000" b="1" dirty="0">
                <a:solidFill>
                  <a:srgbClr val="FF0000"/>
                </a:solidFill>
                <a:latin typeface="Courier New" panose="02070409020205020404"/>
                <a:cs typeface="Courier New" panose="02070409020205020404"/>
              </a:rPr>
              <a:t>{ </a:t>
            </a:r>
            <a:r>
              <a:rPr sz="2000" b="1" spc="-5" dirty="0">
                <a:solidFill>
                  <a:srgbClr val="FF0000"/>
                </a:solidFill>
                <a:latin typeface="Courier New" panose="02070409020205020404"/>
                <a:cs typeface="Courier New" panose="02070409020205020404"/>
              </a:rPr>
              <a:t>a, b, c, </a:t>
            </a:r>
            <a:r>
              <a:rPr sz="2000" b="1" dirty="0">
                <a:solidFill>
                  <a:srgbClr val="FF0000"/>
                </a:solidFill>
                <a:latin typeface="Courier New" panose="02070409020205020404"/>
                <a:cs typeface="Courier New" panose="02070409020205020404"/>
              </a:rPr>
              <a:t>d</a:t>
            </a:r>
            <a:r>
              <a:rPr sz="2000" b="1" spc="-95" dirty="0">
                <a:solidFill>
                  <a:srgbClr val="FF0000"/>
                </a:solidFill>
                <a:latin typeface="Courier New" panose="02070409020205020404"/>
                <a:cs typeface="Courier New" panose="02070409020205020404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ourier New" panose="02070409020205020404"/>
                <a:cs typeface="Courier New" panose="02070409020205020404"/>
              </a:rPr>
              <a:t>}  </a:t>
            </a:r>
            <a:r>
              <a:rPr sz="2000" b="1" dirty="0">
                <a:solidFill>
                  <a:srgbClr val="191919"/>
                </a:solidFill>
                <a:latin typeface="Courier New" panose="02070409020205020404"/>
                <a:cs typeface="Courier New" panose="02070409020205020404"/>
              </a:rPr>
              <a:t>e = d +</a:t>
            </a:r>
            <a:r>
              <a:rPr sz="2000" b="1" spc="-85" dirty="0">
                <a:solidFill>
                  <a:srgbClr val="191919"/>
                </a:solidFill>
                <a:latin typeface="Courier New" panose="02070409020205020404"/>
                <a:cs typeface="Courier New" panose="02070409020205020404"/>
              </a:rPr>
              <a:t> </a:t>
            </a:r>
            <a:r>
              <a:rPr sz="2000" b="1" dirty="0">
                <a:solidFill>
                  <a:srgbClr val="191919"/>
                </a:solidFill>
                <a:latin typeface="Courier New" panose="02070409020205020404"/>
                <a:cs typeface="Courier New" panose="02070409020205020404"/>
              </a:rPr>
              <a:t>a</a:t>
            </a:r>
            <a:endParaRPr sz="2000">
              <a:latin typeface="Courier New" panose="02070409020205020404"/>
              <a:cs typeface="Courier New" panose="02070409020205020404"/>
            </a:endParaRPr>
          </a:p>
          <a:p>
            <a:pPr algn="ctr">
              <a:lnSpc>
                <a:spcPts val="2220"/>
              </a:lnSpc>
            </a:pPr>
            <a:r>
              <a:rPr sz="2000" b="1" dirty="0">
                <a:solidFill>
                  <a:srgbClr val="FF0000"/>
                </a:solidFill>
                <a:latin typeface="Courier New" panose="02070409020205020404"/>
                <a:cs typeface="Courier New" panose="02070409020205020404"/>
              </a:rPr>
              <a:t>{ </a:t>
            </a:r>
            <a:r>
              <a:rPr sz="2000" b="1" spc="-5" dirty="0">
                <a:solidFill>
                  <a:srgbClr val="FF0000"/>
                </a:solidFill>
                <a:latin typeface="Courier New" panose="02070409020205020404"/>
                <a:cs typeface="Courier New" panose="02070409020205020404"/>
              </a:rPr>
              <a:t>b, c, </a:t>
            </a:r>
            <a:r>
              <a:rPr sz="2000" b="1" dirty="0">
                <a:solidFill>
                  <a:srgbClr val="FF0000"/>
                </a:solidFill>
                <a:latin typeface="Courier New" panose="02070409020205020404"/>
                <a:cs typeface="Courier New" panose="02070409020205020404"/>
              </a:rPr>
              <a:t>e</a:t>
            </a:r>
            <a:r>
              <a:rPr sz="2000" b="1" spc="-65" dirty="0">
                <a:solidFill>
                  <a:srgbClr val="FF0000"/>
                </a:solidFill>
                <a:latin typeface="Courier New" panose="02070409020205020404"/>
                <a:cs typeface="Courier New" panose="02070409020205020404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ourier New" panose="02070409020205020404"/>
                <a:cs typeface="Courier New" panose="02070409020205020404"/>
              </a:rPr>
              <a:t>}</a:t>
            </a:r>
            <a:endParaRPr sz="2000">
              <a:latin typeface="Courier New" panose="02070409020205020404"/>
              <a:cs typeface="Courier New" panose="02070409020205020404"/>
            </a:endParaRPr>
          </a:p>
        </p:txBody>
      </p:sp>
      <p:sp>
        <p:nvSpPr>
          <p:cNvPr id="2" name="object 5"/>
          <p:cNvSpPr txBox="1"/>
          <p:nvPr/>
        </p:nvSpPr>
        <p:spPr>
          <a:xfrm>
            <a:off x="7907655" y="1492885"/>
            <a:ext cx="2514600" cy="88614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7620" rIns="0" bIns="0" rtlCol="0">
            <a:spAutoFit/>
          </a:bodyPr>
          <a:lstStyle/>
          <a:p>
            <a:pPr marL="571486" marR="411470" indent="-152396">
              <a:lnSpc>
                <a:spcPts val="2260"/>
              </a:lnSpc>
              <a:spcBef>
                <a:spcPts val="60"/>
              </a:spcBef>
            </a:pPr>
            <a:r>
              <a:rPr sz="2000" b="1" dirty="0">
                <a:solidFill>
                  <a:srgbClr val="FF0000"/>
                </a:solidFill>
                <a:latin typeface="Courier New" panose="02070409020205020404"/>
                <a:cs typeface="Courier New" panose="02070409020205020404"/>
              </a:rPr>
              <a:t>{ </a:t>
            </a:r>
            <a:r>
              <a:rPr sz="2000" b="1" spc="-5" dirty="0">
                <a:solidFill>
                  <a:srgbClr val="FF0000"/>
                </a:solidFill>
                <a:latin typeface="Courier New" panose="02070409020205020404"/>
                <a:cs typeface="Courier New" panose="02070409020205020404"/>
              </a:rPr>
              <a:t>b, c, </a:t>
            </a:r>
            <a:r>
              <a:rPr sz="2000" b="1" dirty="0">
                <a:solidFill>
                  <a:srgbClr val="FF0000"/>
                </a:solidFill>
                <a:latin typeface="Courier New" panose="02070409020205020404"/>
                <a:cs typeface="Courier New" panose="02070409020205020404"/>
              </a:rPr>
              <a:t>e</a:t>
            </a:r>
            <a:r>
              <a:rPr sz="2000" b="1" spc="-100" dirty="0">
                <a:solidFill>
                  <a:srgbClr val="FF0000"/>
                </a:solidFill>
                <a:latin typeface="Courier New" panose="02070409020205020404"/>
                <a:cs typeface="Courier New" panose="02070409020205020404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ourier New" panose="02070409020205020404"/>
                <a:cs typeface="Courier New" panose="02070409020205020404"/>
              </a:rPr>
              <a:t>}  </a:t>
            </a:r>
            <a:r>
              <a:rPr sz="2000" b="1" dirty="0">
                <a:solidFill>
                  <a:srgbClr val="191919"/>
                </a:solidFill>
                <a:latin typeface="Courier New" panose="02070409020205020404"/>
                <a:cs typeface="Courier New" panose="02070409020205020404"/>
              </a:rPr>
              <a:t>f = b +</a:t>
            </a:r>
            <a:r>
              <a:rPr sz="2000" b="1" spc="-100" dirty="0">
                <a:solidFill>
                  <a:srgbClr val="191919"/>
                </a:solidFill>
                <a:latin typeface="Courier New" panose="02070409020205020404"/>
                <a:cs typeface="Courier New" panose="02070409020205020404"/>
              </a:rPr>
              <a:t> </a:t>
            </a:r>
            <a:r>
              <a:rPr sz="2000" b="1" dirty="0">
                <a:solidFill>
                  <a:srgbClr val="191919"/>
                </a:solidFill>
                <a:latin typeface="Courier New" panose="02070409020205020404"/>
                <a:cs typeface="Courier New" panose="02070409020205020404"/>
              </a:rPr>
              <a:t>c</a:t>
            </a:r>
            <a:endParaRPr sz="2000">
              <a:latin typeface="Courier New" panose="02070409020205020404"/>
              <a:cs typeface="Courier New" panose="02070409020205020404"/>
            </a:endParaRPr>
          </a:p>
          <a:p>
            <a:pPr marL="495288">
              <a:lnSpc>
                <a:spcPts val="2220"/>
              </a:lnSpc>
            </a:pPr>
            <a:r>
              <a:rPr sz="2000" b="1" dirty="0">
                <a:solidFill>
                  <a:srgbClr val="FF0000"/>
                </a:solidFill>
                <a:latin typeface="Courier New" panose="02070409020205020404"/>
                <a:cs typeface="Courier New" panose="02070409020205020404"/>
              </a:rPr>
              <a:t>{ </a:t>
            </a:r>
            <a:r>
              <a:rPr sz="2000" b="1" spc="-5" dirty="0">
                <a:solidFill>
                  <a:srgbClr val="FF0000"/>
                </a:solidFill>
                <a:latin typeface="Courier New" panose="02070409020205020404"/>
                <a:cs typeface="Courier New" panose="02070409020205020404"/>
              </a:rPr>
              <a:t>b, e,</a:t>
            </a:r>
            <a:r>
              <a:rPr sz="2000" b="1" spc="-55" dirty="0">
                <a:solidFill>
                  <a:srgbClr val="FF0000"/>
                </a:solidFill>
                <a:latin typeface="Courier New" panose="02070409020205020404"/>
                <a:cs typeface="Courier New" panose="02070409020205020404"/>
              </a:rPr>
              <a:t> </a:t>
            </a:r>
            <a:r>
              <a:rPr sz="2000" b="1" spc="-5" dirty="0">
                <a:solidFill>
                  <a:srgbClr val="FF0000"/>
                </a:solidFill>
                <a:latin typeface="Courier New" panose="02070409020205020404"/>
                <a:cs typeface="Courier New" panose="02070409020205020404"/>
              </a:rPr>
              <a:t>f}</a:t>
            </a:r>
            <a:endParaRPr sz="2000">
              <a:latin typeface="Courier New" panose="02070409020205020404"/>
              <a:cs typeface="Courier New" panose="02070409020205020404"/>
            </a:endParaRPr>
          </a:p>
        </p:txBody>
      </p:sp>
      <p:sp>
        <p:nvSpPr>
          <p:cNvPr id="10" name="object 6"/>
          <p:cNvSpPr txBox="1"/>
          <p:nvPr/>
        </p:nvSpPr>
        <p:spPr>
          <a:xfrm>
            <a:off x="7907655" y="2864486"/>
            <a:ext cx="2514600" cy="88614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7620" rIns="0" bIns="0" rtlCol="0">
            <a:spAutoFit/>
          </a:bodyPr>
          <a:lstStyle/>
          <a:p>
            <a:pPr marL="419090" marR="411470" algn="ctr">
              <a:lnSpc>
                <a:spcPts val="2260"/>
              </a:lnSpc>
              <a:spcBef>
                <a:spcPts val="60"/>
              </a:spcBef>
            </a:pPr>
            <a:r>
              <a:rPr sz="2000" b="1" dirty="0">
                <a:solidFill>
                  <a:srgbClr val="FF0000"/>
                </a:solidFill>
                <a:latin typeface="Courier New" panose="02070409020205020404"/>
                <a:cs typeface="Courier New" panose="02070409020205020404"/>
              </a:rPr>
              <a:t>{ </a:t>
            </a:r>
            <a:r>
              <a:rPr sz="2000" b="1" spc="-5" dirty="0">
                <a:solidFill>
                  <a:srgbClr val="FF0000"/>
                </a:solidFill>
                <a:latin typeface="Courier New" panose="02070409020205020404"/>
                <a:cs typeface="Courier New" panose="02070409020205020404"/>
              </a:rPr>
              <a:t>b, e, </a:t>
            </a:r>
            <a:r>
              <a:rPr sz="2000" b="1" dirty="0">
                <a:solidFill>
                  <a:srgbClr val="FF0000"/>
                </a:solidFill>
                <a:latin typeface="Courier New" panose="02070409020205020404"/>
                <a:cs typeface="Courier New" panose="02070409020205020404"/>
              </a:rPr>
              <a:t>f</a:t>
            </a:r>
            <a:r>
              <a:rPr sz="2000" b="1" spc="-100" dirty="0">
                <a:solidFill>
                  <a:srgbClr val="FF0000"/>
                </a:solidFill>
                <a:latin typeface="Courier New" panose="02070409020205020404"/>
                <a:cs typeface="Courier New" panose="02070409020205020404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ourier New" panose="02070409020205020404"/>
                <a:cs typeface="Courier New" panose="02070409020205020404"/>
              </a:rPr>
              <a:t>}  </a:t>
            </a:r>
            <a:r>
              <a:rPr sz="2000" b="1" dirty="0">
                <a:solidFill>
                  <a:srgbClr val="191919"/>
                </a:solidFill>
                <a:latin typeface="Courier New" panose="02070409020205020404"/>
                <a:cs typeface="Courier New" panose="02070409020205020404"/>
              </a:rPr>
              <a:t>f = f +</a:t>
            </a:r>
            <a:r>
              <a:rPr sz="2000" b="1" spc="-100" dirty="0">
                <a:solidFill>
                  <a:srgbClr val="191919"/>
                </a:solidFill>
                <a:latin typeface="Courier New" panose="02070409020205020404"/>
                <a:cs typeface="Courier New" panose="02070409020205020404"/>
              </a:rPr>
              <a:t> </a:t>
            </a:r>
            <a:r>
              <a:rPr sz="2000" b="1" dirty="0">
                <a:solidFill>
                  <a:srgbClr val="191919"/>
                </a:solidFill>
                <a:latin typeface="Courier New" panose="02070409020205020404"/>
                <a:cs typeface="Courier New" panose="02070409020205020404"/>
              </a:rPr>
              <a:t>b</a:t>
            </a:r>
            <a:endParaRPr sz="2000">
              <a:latin typeface="Courier New" panose="02070409020205020404"/>
              <a:cs typeface="Courier New" panose="02070409020205020404"/>
            </a:endParaRPr>
          </a:p>
          <a:p>
            <a:pPr algn="ctr">
              <a:lnSpc>
                <a:spcPts val="2220"/>
              </a:lnSpc>
            </a:pPr>
            <a:r>
              <a:rPr sz="2000" b="1" dirty="0">
                <a:solidFill>
                  <a:srgbClr val="FF0000"/>
                </a:solidFill>
                <a:latin typeface="Courier New" panose="02070409020205020404"/>
                <a:cs typeface="Courier New" panose="02070409020205020404"/>
              </a:rPr>
              <a:t>{ </a:t>
            </a:r>
            <a:r>
              <a:rPr sz="2000" b="1" spc="-5" dirty="0">
                <a:solidFill>
                  <a:srgbClr val="FF0000"/>
                </a:solidFill>
                <a:latin typeface="Courier New" panose="02070409020205020404"/>
                <a:cs typeface="Courier New" panose="02070409020205020404"/>
              </a:rPr>
              <a:t>e, </a:t>
            </a:r>
            <a:r>
              <a:rPr sz="2000" b="1" dirty="0">
                <a:solidFill>
                  <a:srgbClr val="FF0000"/>
                </a:solidFill>
                <a:latin typeface="Courier New" panose="02070409020205020404"/>
                <a:cs typeface="Courier New" panose="02070409020205020404"/>
              </a:rPr>
              <a:t>f</a:t>
            </a:r>
            <a:r>
              <a:rPr sz="2000" b="1" spc="-51" dirty="0">
                <a:solidFill>
                  <a:srgbClr val="FF0000"/>
                </a:solidFill>
                <a:latin typeface="Courier New" panose="02070409020205020404"/>
                <a:cs typeface="Courier New" panose="02070409020205020404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ourier New" panose="02070409020205020404"/>
                <a:cs typeface="Courier New" panose="02070409020205020404"/>
              </a:rPr>
              <a:t>}</a:t>
            </a:r>
            <a:endParaRPr sz="2000">
              <a:latin typeface="Courier New" panose="02070409020205020404"/>
              <a:cs typeface="Courier New" panose="02070409020205020404"/>
            </a:endParaRPr>
          </a:p>
        </p:txBody>
      </p:sp>
      <p:sp>
        <p:nvSpPr>
          <p:cNvPr id="11" name="object 7"/>
          <p:cNvSpPr txBox="1"/>
          <p:nvPr/>
        </p:nvSpPr>
        <p:spPr>
          <a:xfrm>
            <a:off x="6993255" y="4236086"/>
            <a:ext cx="1600200" cy="88614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7620" rIns="0" bIns="0" rtlCol="0">
            <a:spAutoFit/>
          </a:bodyPr>
          <a:lstStyle/>
          <a:p>
            <a:pPr marL="114297" marR="106677" algn="ctr">
              <a:lnSpc>
                <a:spcPts val="2260"/>
              </a:lnSpc>
              <a:spcBef>
                <a:spcPts val="60"/>
              </a:spcBef>
            </a:pPr>
            <a:r>
              <a:rPr sz="2000" b="1" dirty="0">
                <a:solidFill>
                  <a:srgbClr val="FF0000"/>
                </a:solidFill>
                <a:latin typeface="Courier New" panose="02070409020205020404"/>
                <a:cs typeface="Courier New" panose="02070409020205020404"/>
              </a:rPr>
              <a:t>{ </a:t>
            </a:r>
            <a:r>
              <a:rPr sz="2000" b="1" spc="-5" dirty="0">
                <a:solidFill>
                  <a:srgbClr val="FF0000"/>
                </a:solidFill>
                <a:latin typeface="Courier New" panose="02070409020205020404"/>
                <a:cs typeface="Courier New" panose="02070409020205020404"/>
              </a:rPr>
              <a:t>e, </a:t>
            </a:r>
            <a:r>
              <a:rPr sz="2000" b="1" dirty="0">
                <a:solidFill>
                  <a:srgbClr val="FF0000"/>
                </a:solidFill>
                <a:latin typeface="Courier New" panose="02070409020205020404"/>
                <a:cs typeface="Courier New" panose="02070409020205020404"/>
              </a:rPr>
              <a:t>f }  </a:t>
            </a:r>
            <a:r>
              <a:rPr sz="2000" b="1" dirty="0">
                <a:solidFill>
                  <a:srgbClr val="191919"/>
                </a:solidFill>
                <a:latin typeface="Courier New" panose="02070409020205020404"/>
                <a:cs typeface="Courier New" panose="02070409020205020404"/>
              </a:rPr>
              <a:t>d = e +</a:t>
            </a:r>
            <a:r>
              <a:rPr sz="2000" b="1" spc="-120" dirty="0">
                <a:solidFill>
                  <a:srgbClr val="191919"/>
                </a:solidFill>
                <a:latin typeface="Courier New" panose="02070409020205020404"/>
                <a:cs typeface="Courier New" panose="02070409020205020404"/>
              </a:rPr>
              <a:t> </a:t>
            </a:r>
            <a:r>
              <a:rPr sz="2000" b="1" dirty="0">
                <a:solidFill>
                  <a:srgbClr val="191919"/>
                </a:solidFill>
                <a:latin typeface="Courier New" panose="02070409020205020404"/>
                <a:cs typeface="Courier New" panose="02070409020205020404"/>
              </a:rPr>
              <a:t>f</a:t>
            </a:r>
            <a:endParaRPr sz="2000">
              <a:latin typeface="Courier New" panose="02070409020205020404"/>
              <a:cs typeface="Courier New" panose="02070409020205020404"/>
            </a:endParaRPr>
          </a:p>
          <a:p>
            <a:pPr algn="ctr">
              <a:lnSpc>
                <a:spcPts val="2220"/>
              </a:lnSpc>
            </a:pPr>
            <a:r>
              <a:rPr sz="2000" b="1" dirty="0">
                <a:solidFill>
                  <a:srgbClr val="FF0000"/>
                </a:solidFill>
                <a:latin typeface="Courier New" panose="02070409020205020404"/>
                <a:cs typeface="Courier New" panose="02070409020205020404"/>
              </a:rPr>
              <a:t>{ d</a:t>
            </a:r>
            <a:r>
              <a:rPr sz="2000" b="1" spc="-55" dirty="0">
                <a:solidFill>
                  <a:srgbClr val="FF0000"/>
                </a:solidFill>
                <a:latin typeface="Courier New" panose="02070409020205020404"/>
                <a:cs typeface="Courier New" panose="02070409020205020404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ourier New" panose="02070409020205020404"/>
                <a:cs typeface="Courier New" panose="02070409020205020404"/>
              </a:rPr>
              <a:t>}</a:t>
            </a:r>
            <a:endParaRPr sz="2000">
              <a:latin typeface="Courier New" panose="02070409020205020404"/>
              <a:cs typeface="Courier New" panose="02070409020205020404"/>
            </a:endParaRPr>
          </a:p>
        </p:txBody>
      </p:sp>
      <p:sp>
        <p:nvSpPr>
          <p:cNvPr id="12" name="object 8"/>
          <p:cNvSpPr txBox="1"/>
          <p:nvPr/>
        </p:nvSpPr>
        <p:spPr>
          <a:xfrm>
            <a:off x="9736455" y="4236086"/>
            <a:ext cx="1600200" cy="88614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7620" rIns="0" bIns="0" rtlCol="0">
            <a:spAutoFit/>
          </a:bodyPr>
          <a:lstStyle/>
          <a:p>
            <a:pPr marL="114297" marR="106677" algn="ctr">
              <a:lnSpc>
                <a:spcPts val="2260"/>
              </a:lnSpc>
              <a:spcBef>
                <a:spcPts val="60"/>
              </a:spcBef>
            </a:pPr>
            <a:r>
              <a:rPr sz="2000" b="1" dirty="0">
                <a:solidFill>
                  <a:srgbClr val="FF0000"/>
                </a:solidFill>
                <a:latin typeface="Courier New" panose="02070409020205020404"/>
                <a:cs typeface="Courier New" panose="02070409020205020404"/>
              </a:rPr>
              <a:t>{ </a:t>
            </a:r>
            <a:r>
              <a:rPr sz="2000" b="1" spc="-5" dirty="0">
                <a:solidFill>
                  <a:srgbClr val="FF0000"/>
                </a:solidFill>
                <a:latin typeface="Courier New" panose="02070409020205020404"/>
                <a:cs typeface="Courier New" panose="02070409020205020404"/>
              </a:rPr>
              <a:t>e, </a:t>
            </a:r>
            <a:r>
              <a:rPr sz="2000" b="1" dirty="0">
                <a:solidFill>
                  <a:srgbClr val="FF0000"/>
                </a:solidFill>
                <a:latin typeface="Courier New" panose="02070409020205020404"/>
                <a:cs typeface="Courier New" panose="02070409020205020404"/>
              </a:rPr>
              <a:t>f }  </a:t>
            </a:r>
            <a:r>
              <a:rPr sz="2000" b="1" dirty="0">
                <a:solidFill>
                  <a:srgbClr val="191919"/>
                </a:solidFill>
                <a:latin typeface="Courier New" panose="02070409020205020404"/>
                <a:cs typeface="Courier New" panose="02070409020205020404"/>
              </a:rPr>
              <a:t>d = e –</a:t>
            </a:r>
            <a:r>
              <a:rPr sz="2000" b="1" spc="-120" dirty="0">
                <a:solidFill>
                  <a:srgbClr val="191919"/>
                </a:solidFill>
                <a:latin typeface="Courier New" panose="02070409020205020404"/>
                <a:cs typeface="Courier New" panose="02070409020205020404"/>
              </a:rPr>
              <a:t> </a:t>
            </a:r>
            <a:r>
              <a:rPr sz="2000" b="1" dirty="0">
                <a:solidFill>
                  <a:srgbClr val="191919"/>
                </a:solidFill>
                <a:latin typeface="Courier New" panose="02070409020205020404"/>
                <a:cs typeface="Courier New" panose="02070409020205020404"/>
              </a:rPr>
              <a:t>f</a:t>
            </a:r>
            <a:endParaRPr sz="2000">
              <a:latin typeface="Courier New" panose="02070409020205020404"/>
              <a:cs typeface="Courier New" panose="02070409020205020404"/>
            </a:endParaRPr>
          </a:p>
          <a:p>
            <a:pPr algn="ctr">
              <a:lnSpc>
                <a:spcPts val="2220"/>
              </a:lnSpc>
            </a:pPr>
            <a:r>
              <a:rPr sz="2000" b="1" dirty="0">
                <a:solidFill>
                  <a:srgbClr val="FF0000"/>
                </a:solidFill>
                <a:latin typeface="Courier New" panose="02070409020205020404"/>
                <a:cs typeface="Courier New" panose="02070409020205020404"/>
              </a:rPr>
              <a:t>{ d</a:t>
            </a:r>
            <a:r>
              <a:rPr sz="2000" b="1" spc="-55" dirty="0">
                <a:solidFill>
                  <a:srgbClr val="FF0000"/>
                </a:solidFill>
                <a:latin typeface="Courier New" panose="02070409020205020404"/>
                <a:cs typeface="Courier New" panose="02070409020205020404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ourier New" panose="02070409020205020404"/>
                <a:cs typeface="Courier New" panose="02070409020205020404"/>
              </a:rPr>
              <a:t>}</a:t>
            </a:r>
            <a:endParaRPr sz="2000">
              <a:latin typeface="Courier New" panose="02070409020205020404"/>
              <a:cs typeface="Courier New" panose="02070409020205020404"/>
            </a:endParaRPr>
          </a:p>
        </p:txBody>
      </p:sp>
      <p:grpSp>
        <p:nvGrpSpPr>
          <p:cNvPr id="13" name="object 9"/>
          <p:cNvGrpSpPr/>
          <p:nvPr/>
        </p:nvGrpSpPr>
        <p:grpSpPr>
          <a:xfrm>
            <a:off x="9110347" y="1035051"/>
            <a:ext cx="107951" cy="457835"/>
            <a:chOff x="2574289" y="1828164"/>
            <a:chExt cx="107950" cy="457834"/>
          </a:xfrm>
        </p:grpSpPr>
        <p:sp>
          <p:nvSpPr>
            <p:cNvPr id="14" name="object 10"/>
            <p:cNvSpPr/>
            <p:nvPr/>
          </p:nvSpPr>
          <p:spPr>
            <a:xfrm>
              <a:off x="2628899" y="1828799"/>
              <a:ext cx="0" cy="302260"/>
            </a:xfrm>
            <a:custGeom>
              <a:avLst/>
              <a:gdLst/>
              <a:ahLst/>
              <a:cxnLst/>
              <a:rect l="l" t="t" r="r" b="b"/>
              <a:pathLst>
                <a:path h="302260">
                  <a:moveTo>
                    <a:pt x="0" y="0"/>
                  </a:moveTo>
                  <a:lnTo>
                    <a:pt x="0" y="30226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1"/>
            <p:cNvSpPr/>
            <p:nvPr/>
          </p:nvSpPr>
          <p:spPr>
            <a:xfrm>
              <a:off x="2574289" y="2123439"/>
              <a:ext cx="107950" cy="162560"/>
            </a:xfrm>
            <a:custGeom>
              <a:avLst/>
              <a:gdLst/>
              <a:ahLst/>
              <a:cxnLst/>
              <a:rect l="l" t="t" r="r" b="b"/>
              <a:pathLst>
                <a:path w="107950" h="162560">
                  <a:moveTo>
                    <a:pt x="107950" y="0"/>
                  </a:moveTo>
                  <a:lnTo>
                    <a:pt x="0" y="0"/>
                  </a:lnTo>
                  <a:lnTo>
                    <a:pt x="54610" y="162560"/>
                  </a:lnTo>
                  <a:lnTo>
                    <a:pt x="10795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12"/>
          <p:cNvGrpSpPr/>
          <p:nvPr/>
        </p:nvGrpSpPr>
        <p:grpSpPr>
          <a:xfrm>
            <a:off x="9110347" y="2407285"/>
            <a:ext cx="107951" cy="457200"/>
            <a:chOff x="2574289" y="3200400"/>
            <a:chExt cx="107950" cy="457200"/>
          </a:xfrm>
        </p:grpSpPr>
        <p:sp>
          <p:nvSpPr>
            <p:cNvPr id="17" name="object 13"/>
            <p:cNvSpPr/>
            <p:nvPr/>
          </p:nvSpPr>
          <p:spPr>
            <a:xfrm>
              <a:off x="2628899" y="3200400"/>
              <a:ext cx="0" cy="302260"/>
            </a:xfrm>
            <a:custGeom>
              <a:avLst/>
              <a:gdLst/>
              <a:ahLst/>
              <a:cxnLst/>
              <a:rect l="l" t="t" r="r" b="b"/>
              <a:pathLst>
                <a:path h="302260">
                  <a:moveTo>
                    <a:pt x="0" y="0"/>
                  </a:moveTo>
                  <a:lnTo>
                    <a:pt x="0" y="30226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4"/>
            <p:cNvSpPr/>
            <p:nvPr/>
          </p:nvSpPr>
          <p:spPr>
            <a:xfrm>
              <a:off x="2574289" y="3495040"/>
              <a:ext cx="107950" cy="162560"/>
            </a:xfrm>
            <a:custGeom>
              <a:avLst/>
              <a:gdLst/>
              <a:ahLst/>
              <a:cxnLst/>
              <a:rect l="l" t="t" r="r" b="b"/>
              <a:pathLst>
                <a:path w="107950" h="162560">
                  <a:moveTo>
                    <a:pt x="107950" y="0"/>
                  </a:moveTo>
                  <a:lnTo>
                    <a:pt x="0" y="0"/>
                  </a:lnTo>
                  <a:lnTo>
                    <a:pt x="54610" y="162560"/>
                  </a:lnTo>
                  <a:lnTo>
                    <a:pt x="10795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9" name="object 15"/>
          <p:cNvGrpSpPr/>
          <p:nvPr/>
        </p:nvGrpSpPr>
        <p:grpSpPr>
          <a:xfrm>
            <a:off x="7793355" y="3778251"/>
            <a:ext cx="2743200" cy="457835"/>
            <a:chOff x="1257300" y="4571365"/>
            <a:chExt cx="2743200" cy="457834"/>
          </a:xfrm>
        </p:grpSpPr>
        <p:sp>
          <p:nvSpPr>
            <p:cNvPr id="20" name="object 16"/>
            <p:cNvSpPr/>
            <p:nvPr/>
          </p:nvSpPr>
          <p:spPr>
            <a:xfrm>
              <a:off x="1404620" y="4572000"/>
              <a:ext cx="1224280" cy="407670"/>
            </a:xfrm>
            <a:custGeom>
              <a:avLst/>
              <a:gdLst/>
              <a:ahLst/>
              <a:cxnLst/>
              <a:rect l="l" t="t" r="r" b="b"/>
              <a:pathLst>
                <a:path w="1224280" h="407670">
                  <a:moveTo>
                    <a:pt x="1224280" y="0"/>
                  </a:moveTo>
                  <a:lnTo>
                    <a:pt x="0" y="40766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17"/>
            <p:cNvSpPr/>
            <p:nvPr/>
          </p:nvSpPr>
          <p:spPr>
            <a:xfrm>
              <a:off x="1257300" y="4926330"/>
              <a:ext cx="170180" cy="102870"/>
            </a:xfrm>
            <a:custGeom>
              <a:avLst/>
              <a:gdLst/>
              <a:ahLst/>
              <a:cxnLst/>
              <a:rect l="l" t="t" r="r" b="b"/>
              <a:pathLst>
                <a:path w="170180" h="102870">
                  <a:moveTo>
                    <a:pt x="135890" y="0"/>
                  </a:moveTo>
                  <a:lnTo>
                    <a:pt x="0" y="102870"/>
                  </a:lnTo>
                  <a:lnTo>
                    <a:pt x="170180" y="102870"/>
                  </a:lnTo>
                  <a:lnTo>
                    <a:pt x="13589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18"/>
            <p:cNvSpPr/>
            <p:nvPr/>
          </p:nvSpPr>
          <p:spPr>
            <a:xfrm>
              <a:off x="2628900" y="4572000"/>
              <a:ext cx="1224280" cy="407670"/>
            </a:xfrm>
            <a:custGeom>
              <a:avLst/>
              <a:gdLst/>
              <a:ahLst/>
              <a:cxnLst/>
              <a:rect l="l" t="t" r="r" b="b"/>
              <a:pathLst>
                <a:path w="1224279" h="407670">
                  <a:moveTo>
                    <a:pt x="0" y="0"/>
                  </a:moveTo>
                  <a:lnTo>
                    <a:pt x="1224279" y="40766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19"/>
            <p:cNvSpPr/>
            <p:nvPr/>
          </p:nvSpPr>
          <p:spPr>
            <a:xfrm>
              <a:off x="3829050" y="4926330"/>
              <a:ext cx="171450" cy="102870"/>
            </a:xfrm>
            <a:custGeom>
              <a:avLst/>
              <a:gdLst/>
              <a:ahLst/>
              <a:cxnLst/>
              <a:rect l="l" t="t" r="r" b="b"/>
              <a:pathLst>
                <a:path w="171450" h="102870">
                  <a:moveTo>
                    <a:pt x="34289" y="0"/>
                  </a:moveTo>
                  <a:lnTo>
                    <a:pt x="0" y="102870"/>
                  </a:lnTo>
                  <a:lnTo>
                    <a:pt x="171450" y="102870"/>
                  </a:lnTo>
                  <a:lnTo>
                    <a:pt x="3428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4" name="object 20"/>
          <p:cNvGrpSpPr/>
          <p:nvPr/>
        </p:nvGrpSpPr>
        <p:grpSpPr>
          <a:xfrm>
            <a:off x="7792721" y="5149853"/>
            <a:ext cx="2744471" cy="1372235"/>
            <a:chOff x="1256664" y="5942965"/>
            <a:chExt cx="2744470" cy="1372235"/>
          </a:xfrm>
        </p:grpSpPr>
        <p:sp>
          <p:nvSpPr>
            <p:cNvPr id="25" name="object 21"/>
            <p:cNvSpPr/>
            <p:nvPr/>
          </p:nvSpPr>
          <p:spPr>
            <a:xfrm>
              <a:off x="1828799" y="6400800"/>
              <a:ext cx="1600200" cy="914400"/>
            </a:xfrm>
            <a:custGeom>
              <a:avLst/>
              <a:gdLst/>
              <a:ahLst/>
              <a:cxnLst/>
              <a:rect l="l" t="t" r="r" b="b"/>
              <a:pathLst>
                <a:path w="1600200" h="914400">
                  <a:moveTo>
                    <a:pt x="800100" y="914400"/>
                  </a:moveTo>
                  <a:lnTo>
                    <a:pt x="0" y="914400"/>
                  </a:lnTo>
                  <a:lnTo>
                    <a:pt x="0" y="0"/>
                  </a:lnTo>
                  <a:lnTo>
                    <a:pt x="1600200" y="0"/>
                  </a:lnTo>
                  <a:lnTo>
                    <a:pt x="1600200" y="914400"/>
                  </a:lnTo>
                  <a:lnTo>
                    <a:pt x="800100" y="91440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2"/>
            <p:cNvSpPr/>
            <p:nvPr/>
          </p:nvSpPr>
          <p:spPr>
            <a:xfrm>
              <a:off x="1257299" y="5943600"/>
              <a:ext cx="1224280" cy="407670"/>
            </a:xfrm>
            <a:custGeom>
              <a:avLst/>
              <a:gdLst/>
              <a:ahLst/>
              <a:cxnLst/>
              <a:rect l="l" t="t" r="r" b="b"/>
              <a:pathLst>
                <a:path w="1224280" h="407670">
                  <a:moveTo>
                    <a:pt x="0" y="0"/>
                  </a:moveTo>
                  <a:lnTo>
                    <a:pt x="1224280" y="40766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3"/>
            <p:cNvSpPr/>
            <p:nvPr/>
          </p:nvSpPr>
          <p:spPr>
            <a:xfrm>
              <a:off x="2457450" y="6297930"/>
              <a:ext cx="171450" cy="102870"/>
            </a:xfrm>
            <a:custGeom>
              <a:avLst/>
              <a:gdLst/>
              <a:ahLst/>
              <a:cxnLst/>
              <a:rect l="l" t="t" r="r" b="b"/>
              <a:pathLst>
                <a:path w="171450" h="102870">
                  <a:moveTo>
                    <a:pt x="34289" y="0"/>
                  </a:moveTo>
                  <a:lnTo>
                    <a:pt x="0" y="102870"/>
                  </a:lnTo>
                  <a:lnTo>
                    <a:pt x="171450" y="102870"/>
                  </a:lnTo>
                  <a:lnTo>
                    <a:pt x="3428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4"/>
            <p:cNvSpPr/>
            <p:nvPr/>
          </p:nvSpPr>
          <p:spPr>
            <a:xfrm>
              <a:off x="2776219" y="5943600"/>
              <a:ext cx="1224280" cy="407670"/>
            </a:xfrm>
            <a:custGeom>
              <a:avLst/>
              <a:gdLst/>
              <a:ahLst/>
              <a:cxnLst/>
              <a:rect l="l" t="t" r="r" b="b"/>
              <a:pathLst>
                <a:path w="1224279" h="407670">
                  <a:moveTo>
                    <a:pt x="1224280" y="0"/>
                  </a:moveTo>
                  <a:lnTo>
                    <a:pt x="0" y="40766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5"/>
            <p:cNvSpPr/>
            <p:nvPr/>
          </p:nvSpPr>
          <p:spPr>
            <a:xfrm>
              <a:off x="2628900" y="6297930"/>
              <a:ext cx="170180" cy="102870"/>
            </a:xfrm>
            <a:custGeom>
              <a:avLst/>
              <a:gdLst/>
              <a:ahLst/>
              <a:cxnLst/>
              <a:rect l="l" t="t" r="r" b="b"/>
              <a:pathLst>
                <a:path w="170180" h="102870">
                  <a:moveTo>
                    <a:pt x="135889" y="0"/>
                  </a:moveTo>
                  <a:lnTo>
                    <a:pt x="0" y="102870"/>
                  </a:lnTo>
                  <a:lnTo>
                    <a:pt x="170180" y="102870"/>
                  </a:lnTo>
                  <a:lnTo>
                    <a:pt x="13588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8771255" y="5621017"/>
            <a:ext cx="787400" cy="8624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5"/>
              </a:lnSpc>
            </a:pPr>
            <a:r>
              <a:rPr sz="2000" b="1" dirty="0">
                <a:solidFill>
                  <a:srgbClr val="FF0000"/>
                </a:solidFill>
                <a:latin typeface="Courier New" panose="02070409020205020404"/>
                <a:cs typeface="Courier New" panose="02070409020205020404"/>
              </a:rPr>
              <a:t>{ d</a:t>
            </a:r>
            <a:r>
              <a:rPr sz="2000" b="1" spc="-111" dirty="0">
                <a:solidFill>
                  <a:srgbClr val="FF0000"/>
                </a:solidFill>
                <a:latin typeface="Courier New" panose="02070409020205020404"/>
                <a:cs typeface="Courier New" panose="02070409020205020404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ourier New" panose="02070409020205020404"/>
                <a:cs typeface="Courier New" panose="02070409020205020404"/>
              </a:rPr>
              <a:t>}</a:t>
            </a:r>
            <a:endParaRPr sz="2000">
              <a:latin typeface="Courier New" panose="02070409020205020404"/>
              <a:cs typeface="Courier New" panose="02070409020205020404"/>
            </a:endParaRPr>
          </a:p>
          <a:p>
            <a:pPr marL="12700">
              <a:lnSpc>
                <a:spcPts val="2265"/>
              </a:lnSpc>
            </a:pPr>
            <a:r>
              <a:rPr sz="2000" b="1" dirty="0">
                <a:solidFill>
                  <a:srgbClr val="191919"/>
                </a:solidFill>
                <a:latin typeface="Courier New" panose="02070409020205020404"/>
                <a:cs typeface="Courier New" panose="02070409020205020404"/>
              </a:rPr>
              <a:t>g =</a:t>
            </a:r>
            <a:r>
              <a:rPr sz="2000" b="1" spc="-111" dirty="0">
                <a:solidFill>
                  <a:srgbClr val="191919"/>
                </a:solidFill>
                <a:latin typeface="Courier New" panose="02070409020205020404"/>
                <a:cs typeface="Courier New" panose="02070409020205020404"/>
              </a:rPr>
              <a:t> </a:t>
            </a:r>
            <a:r>
              <a:rPr sz="2000" b="1" dirty="0">
                <a:solidFill>
                  <a:srgbClr val="191919"/>
                </a:solidFill>
                <a:latin typeface="Courier New" panose="02070409020205020404"/>
                <a:cs typeface="Courier New" panose="02070409020205020404"/>
              </a:rPr>
              <a:t>d</a:t>
            </a:r>
            <a:endParaRPr sz="2000">
              <a:latin typeface="Courier New" panose="02070409020205020404"/>
              <a:cs typeface="Courier New" panose="02070409020205020404"/>
            </a:endParaRPr>
          </a:p>
          <a:p>
            <a:pPr marL="12700">
              <a:lnSpc>
                <a:spcPts val="2335"/>
              </a:lnSpc>
            </a:pPr>
            <a:r>
              <a:rPr sz="2000" b="1" dirty="0">
                <a:solidFill>
                  <a:srgbClr val="FF0000"/>
                </a:solidFill>
                <a:latin typeface="Courier New" panose="02070409020205020404"/>
                <a:cs typeface="Courier New" panose="02070409020205020404"/>
              </a:rPr>
              <a:t>{ g</a:t>
            </a:r>
            <a:r>
              <a:rPr sz="2000" b="1" spc="-111" dirty="0">
                <a:solidFill>
                  <a:srgbClr val="FF0000"/>
                </a:solidFill>
                <a:latin typeface="Courier New" panose="02070409020205020404"/>
                <a:cs typeface="Courier New" panose="02070409020205020404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ourier New" panose="02070409020205020404"/>
                <a:cs typeface="Courier New" panose="02070409020205020404"/>
              </a:rPr>
              <a:t>}</a:t>
            </a:r>
            <a:endParaRPr sz="2000">
              <a:latin typeface="Courier New" panose="02070409020205020404"/>
              <a:cs typeface="Courier New" panose="02070409020205020404"/>
            </a:endParaRPr>
          </a:p>
        </p:txBody>
      </p:sp>
      <p:grpSp>
        <p:nvGrpSpPr>
          <p:cNvPr id="46" name="组合 45"/>
          <p:cNvGrpSpPr/>
          <p:nvPr/>
        </p:nvGrpSpPr>
        <p:grpSpPr>
          <a:xfrm>
            <a:off x="1216025" y="2656206"/>
            <a:ext cx="3657600" cy="3225800"/>
            <a:chOff x="1915" y="4701"/>
            <a:chExt cx="5760" cy="5080"/>
          </a:xfrm>
        </p:grpSpPr>
        <p:sp>
          <p:nvSpPr>
            <p:cNvPr id="31" name="object 25"/>
            <p:cNvSpPr/>
            <p:nvPr/>
          </p:nvSpPr>
          <p:spPr>
            <a:xfrm>
              <a:off x="1915" y="6181"/>
              <a:ext cx="720" cy="72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275614" y="4509"/>
                  </a:lnTo>
                  <a:lnTo>
                    <a:pt x="318968" y="17502"/>
                  </a:lnTo>
                  <a:lnTo>
                    <a:pt x="357857" y="38174"/>
                  </a:lnTo>
                  <a:lnTo>
                    <a:pt x="391477" y="65722"/>
                  </a:lnTo>
                  <a:lnTo>
                    <a:pt x="419025" y="99342"/>
                  </a:lnTo>
                  <a:lnTo>
                    <a:pt x="439697" y="138231"/>
                  </a:lnTo>
                  <a:lnTo>
                    <a:pt x="452690" y="181585"/>
                  </a:lnTo>
                  <a:lnTo>
                    <a:pt x="457200" y="228600"/>
                  </a:lnTo>
                  <a:lnTo>
                    <a:pt x="452690" y="275614"/>
                  </a:lnTo>
                  <a:lnTo>
                    <a:pt x="439697" y="318968"/>
                  </a:lnTo>
                  <a:lnTo>
                    <a:pt x="419025" y="357857"/>
                  </a:lnTo>
                  <a:lnTo>
                    <a:pt x="391477" y="391477"/>
                  </a:lnTo>
                  <a:lnTo>
                    <a:pt x="357857" y="419025"/>
                  </a:lnTo>
                  <a:lnTo>
                    <a:pt x="318968" y="439697"/>
                  </a:lnTo>
                  <a:lnTo>
                    <a:pt x="275614" y="452690"/>
                  </a:lnTo>
                  <a:lnTo>
                    <a:pt x="228600" y="457200"/>
                  </a:lnTo>
                  <a:lnTo>
                    <a:pt x="181585" y="452690"/>
                  </a:lnTo>
                  <a:lnTo>
                    <a:pt x="138231" y="439697"/>
                  </a:lnTo>
                  <a:lnTo>
                    <a:pt x="99342" y="419025"/>
                  </a:lnTo>
                  <a:lnTo>
                    <a:pt x="65722" y="391477"/>
                  </a:lnTo>
                  <a:lnTo>
                    <a:pt x="38174" y="357857"/>
                  </a:lnTo>
                  <a:lnTo>
                    <a:pt x="17502" y="318968"/>
                  </a:lnTo>
                  <a:lnTo>
                    <a:pt x="4509" y="275614"/>
                  </a:lnTo>
                  <a:lnTo>
                    <a:pt x="0" y="228600"/>
                  </a:lnTo>
                  <a:lnTo>
                    <a:pt x="4509" y="181585"/>
                  </a:lnTo>
                  <a:lnTo>
                    <a:pt x="17502" y="138231"/>
                  </a:lnTo>
                  <a:lnTo>
                    <a:pt x="38174" y="99342"/>
                  </a:lnTo>
                  <a:lnTo>
                    <a:pt x="65722" y="65722"/>
                  </a:lnTo>
                  <a:lnTo>
                    <a:pt x="99342" y="38174"/>
                  </a:lnTo>
                  <a:lnTo>
                    <a:pt x="138231" y="17502"/>
                  </a:lnTo>
                  <a:lnTo>
                    <a:pt x="181585" y="4509"/>
                  </a:lnTo>
                  <a:lnTo>
                    <a:pt x="228600" y="0"/>
                  </a:lnTo>
                  <a:close/>
                </a:path>
                <a:path w="457200" h="457200">
                  <a:moveTo>
                    <a:pt x="0" y="0"/>
                  </a:moveTo>
                  <a:lnTo>
                    <a:pt x="0" y="0"/>
                  </a:lnTo>
                </a:path>
                <a:path w="457200" h="457200">
                  <a:moveTo>
                    <a:pt x="457200" y="457200"/>
                  </a:moveTo>
                  <a:lnTo>
                    <a:pt x="457200" y="45720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26"/>
            <p:cNvSpPr txBox="1"/>
            <p:nvPr/>
          </p:nvSpPr>
          <p:spPr>
            <a:xfrm>
              <a:off x="2099" y="6141"/>
              <a:ext cx="353" cy="65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spcBef>
                  <a:spcPts val="100"/>
                </a:spcBef>
              </a:pPr>
              <a:r>
                <a:rPr sz="2600" b="1" dirty="0">
                  <a:solidFill>
                    <a:srgbClr val="191919"/>
                  </a:solidFill>
                  <a:latin typeface="Courier New" panose="02070409020205020404"/>
                  <a:cs typeface="Courier New" panose="02070409020205020404"/>
                </a:rPr>
                <a:t>a</a:t>
              </a:r>
              <a:endParaRPr sz="2600">
                <a:latin typeface="Courier New" panose="02070409020205020404"/>
                <a:cs typeface="Courier New" panose="02070409020205020404"/>
              </a:endParaRPr>
            </a:p>
          </p:txBody>
        </p:sp>
        <p:sp>
          <p:nvSpPr>
            <p:cNvPr id="33" name="object 27"/>
            <p:cNvSpPr/>
            <p:nvPr/>
          </p:nvSpPr>
          <p:spPr>
            <a:xfrm>
              <a:off x="3355" y="4741"/>
              <a:ext cx="720" cy="72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275614" y="4509"/>
                  </a:lnTo>
                  <a:lnTo>
                    <a:pt x="318968" y="17502"/>
                  </a:lnTo>
                  <a:lnTo>
                    <a:pt x="357857" y="38174"/>
                  </a:lnTo>
                  <a:lnTo>
                    <a:pt x="391477" y="65722"/>
                  </a:lnTo>
                  <a:lnTo>
                    <a:pt x="419025" y="99342"/>
                  </a:lnTo>
                  <a:lnTo>
                    <a:pt x="439697" y="138231"/>
                  </a:lnTo>
                  <a:lnTo>
                    <a:pt x="452690" y="181585"/>
                  </a:lnTo>
                  <a:lnTo>
                    <a:pt x="457200" y="228600"/>
                  </a:lnTo>
                  <a:lnTo>
                    <a:pt x="452690" y="275614"/>
                  </a:lnTo>
                  <a:lnTo>
                    <a:pt x="439697" y="318968"/>
                  </a:lnTo>
                  <a:lnTo>
                    <a:pt x="419025" y="357857"/>
                  </a:lnTo>
                  <a:lnTo>
                    <a:pt x="391477" y="391477"/>
                  </a:lnTo>
                  <a:lnTo>
                    <a:pt x="357857" y="419025"/>
                  </a:lnTo>
                  <a:lnTo>
                    <a:pt x="318968" y="439697"/>
                  </a:lnTo>
                  <a:lnTo>
                    <a:pt x="275614" y="452690"/>
                  </a:lnTo>
                  <a:lnTo>
                    <a:pt x="228600" y="457200"/>
                  </a:lnTo>
                  <a:lnTo>
                    <a:pt x="181585" y="452690"/>
                  </a:lnTo>
                  <a:lnTo>
                    <a:pt x="138231" y="439697"/>
                  </a:lnTo>
                  <a:lnTo>
                    <a:pt x="99342" y="419025"/>
                  </a:lnTo>
                  <a:lnTo>
                    <a:pt x="65722" y="391477"/>
                  </a:lnTo>
                  <a:lnTo>
                    <a:pt x="38174" y="357857"/>
                  </a:lnTo>
                  <a:lnTo>
                    <a:pt x="17502" y="318968"/>
                  </a:lnTo>
                  <a:lnTo>
                    <a:pt x="4509" y="275614"/>
                  </a:lnTo>
                  <a:lnTo>
                    <a:pt x="0" y="228600"/>
                  </a:lnTo>
                  <a:lnTo>
                    <a:pt x="4509" y="181585"/>
                  </a:lnTo>
                  <a:lnTo>
                    <a:pt x="17502" y="138231"/>
                  </a:lnTo>
                  <a:lnTo>
                    <a:pt x="38174" y="99342"/>
                  </a:lnTo>
                  <a:lnTo>
                    <a:pt x="65722" y="65722"/>
                  </a:lnTo>
                  <a:lnTo>
                    <a:pt x="99342" y="38174"/>
                  </a:lnTo>
                  <a:lnTo>
                    <a:pt x="138231" y="17502"/>
                  </a:lnTo>
                  <a:lnTo>
                    <a:pt x="181585" y="4509"/>
                  </a:lnTo>
                  <a:lnTo>
                    <a:pt x="228600" y="0"/>
                  </a:lnTo>
                  <a:close/>
                </a:path>
                <a:path w="457200" h="457200">
                  <a:moveTo>
                    <a:pt x="0" y="0"/>
                  </a:moveTo>
                  <a:lnTo>
                    <a:pt x="0" y="0"/>
                  </a:lnTo>
                </a:path>
                <a:path w="457200" h="457200">
                  <a:moveTo>
                    <a:pt x="457200" y="457200"/>
                  </a:moveTo>
                  <a:lnTo>
                    <a:pt x="457200" y="45720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28"/>
            <p:cNvSpPr txBox="1"/>
            <p:nvPr/>
          </p:nvSpPr>
          <p:spPr>
            <a:xfrm>
              <a:off x="3539" y="4701"/>
              <a:ext cx="353" cy="65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spcBef>
                  <a:spcPts val="100"/>
                </a:spcBef>
              </a:pPr>
              <a:r>
                <a:rPr sz="2600" b="1" dirty="0">
                  <a:solidFill>
                    <a:srgbClr val="191919"/>
                  </a:solidFill>
                  <a:latin typeface="Courier New" panose="02070409020205020404"/>
                  <a:cs typeface="Courier New" panose="02070409020205020404"/>
                </a:rPr>
                <a:t>b</a:t>
              </a:r>
              <a:endParaRPr sz="2600">
                <a:latin typeface="Courier New" panose="02070409020205020404"/>
                <a:cs typeface="Courier New" panose="02070409020205020404"/>
              </a:endParaRPr>
            </a:p>
          </p:txBody>
        </p:sp>
        <p:sp>
          <p:nvSpPr>
            <p:cNvPr id="35" name="object 29"/>
            <p:cNvSpPr/>
            <p:nvPr/>
          </p:nvSpPr>
          <p:spPr>
            <a:xfrm>
              <a:off x="5515" y="4741"/>
              <a:ext cx="720" cy="72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275614" y="4509"/>
                  </a:lnTo>
                  <a:lnTo>
                    <a:pt x="318968" y="17502"/>
                  </a:lnTo>
                  <a:lnTo>
                    <a:pt x="357857" y="38174"/>
                  </a:lnTo>
                  <a:lnTo>
                    <a:pt x="391477" y="65722"/>
                  </a:lnTo>
                  <a:lnTo>
                    <a:pt x="419025" y="99342"/>
                  </a:lnTo>
                  <a:lnTo>
                    <a:pt x="439697" y="138231"/>
                  </a:lnTo>
                  <a:lnTo>
                    <a:pt x="452690" y="181585"/>
                  </a:lnTo>
                  <a:lnTo>
                    <a:pt x="457200" y="228600"/>
                  </a:lnTo>
                  <a:lnTo>
                    <a:pt x="452690" y="275614"/>
                  </a:lnTo>
                  <a:lnTo>
                    <a:pt x="439697" y="318968"/>
                  </a:lnTo>
                  <a:lnTo>
                    <a:pt x="419025" y="357857"/>
                  </a:lnTo>
                  <a:lnTo>
                    <a:pt x="391477" y="391477"/>
                  </a:lnTo>
                  <a:lnTo>
                    <a:pt x="357857" y="419025"/>
                  </a:lnTo>
                  <a:lnTo>
                    <a:pt x="318968" y="439697"/>
                  </a:lnTo>
                  <a:lnTo>
                    <a:pt x="275614" y="452690"/>
                  </a:lnTo>
                  <a:lnTo>
                    <a:pt x="228600" y="457200"/>
                  </a:lnTo>
                  <a:lnTo>
                    <a:pt x="181585" y="452690"/>
                  </a:lnTo>
                  <a:lnTo>
                    <a:pt x="138231" y="439697"/>
                  </a:lnTo>
                  <a:lnTo>
                    <a:pt x="99342" y="419025"/>
                  </a:lnTo>
                  <a:lnTo>
                    <a:pt x="65722" y="391477"/>
                  </a:lnTo>
                  <a:lnTo>
                    <a:pt x="38174" y="357857"/>
                  </a:lnTo>
                  <a:lnTo>
                    <a:pt x="17502" y="318968"/>
                  </a:lnTo>
                  <a:lnTo>
                    <a:pt x="4509" y="275614"/>
                  </a:lnTo>
                  <a:lnTo>
                    <a:pt x="0" y="228600"/>
                  </a:lnTo>
                  <a:lnTo>
                    <a:pt x="4509" y="181585"/>
                  </a:lnTo>
                  <a:lnTo>
                    <a:pt x="17502" y="138231"/>
                  </a:lnTo>
                  <a:lnTo>
                    <a:pt x="38174" y="99342"/>
                  </a:lnTo>
                  <a:lnTo>
                    <a:pt x="65722" y="65722"/>
                  </a:lnTo>
                  <a:lnTo>
                    <a:pt x="99342" y="38174"/>
                  </a:lnTo>
                  <a:lnTo>
                    <a:pt x="138231" y="17502"/>
                  </a:lnTo>
                  <a:lnTo>
                    <a:pt x="181585" y="4509"/>
                  </a:lnTo>
                  <a:lnTo>
                    <a:pt x="228600" y="0"/>
                  </a:lnTo>
                  <a:close/>
                </a:path>
                <a:path w="457200" h="457200">
                  <a:moveTo>
                    <a:pt x="0" y="0"/>
                  </a:moveTo>
                  <a:lnTo>
                    <a:pt x="0" y="0"/>
                  </a:lnTo>
                </a:path>
                <a:path w="457200" h="457200">
                  <a:moveTo>
                    <a:pt x="457200" y="457200"/>
                  </a:moveTo>
                  <a:lnTo>
                    <a:pt x="457200" y="45720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0"/>
            <p:cNvSpPr txBox="1"/>
            <p:nvPr/>
          </p:nvSpPr>
          <p:spPr>
            <a:xfrm>
              <a:off x="5699" y="4701"/>
              <a:ext cx="353" cy="65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spcBef>
                  <a:spcPts val="100"/>
                </a:spcBef>
              </a:pPr>
              <a:r>
                <a:rPr sz="2600" b="1" dirty="0">
                  <a:solidFill>
                    <a:srgbClr val="191919"/>
                  </a:solidFill>
                  <a:latin typeface="Courier New" panose="02070409020205020404"/>
                  <a:cs typeface="Courier New" panose="02070409020205020404"/>
                </a:rPr>
                <a:t>c</a:t>
              </a:r>
              <a:endParaRPr sz="2600">
                <a:latin typeface="Courier New" panose="02070409020205020404"/>
                <a:cs typeface="Courier New" panose="02070409020205020404"/>
              </a:endParaRPr>
            </a:p>
          </p:txBody>
        </p:sp>
        <p:sp>
          <p:nvSpPr>
            <p:cNvPr id="37" name="object 31"/>
            <p:cNvSpPr/>
            <p:nvPr/>
          </p:nvSpPr>
          <p:spPr>
            <a:xfrm>
              <a:off x="6955" y="6181"/>
              <a:ext cx="720" cy="72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275614" y="4509"/>
                  </a:lnTo>
                  <a:lnTo>
                    <a:pt x="318968" y="17502"/>
                  </a:lnTo>
                  <a:lnTo>
                    <a:pt x="357857" y="38174"/>
                  </a:lnTo>
                  <a:lnTo>
                    <a:pt x="391477" y="65722"/>
                  </a:lnTo>
                  <a:lnTo>
                    <a:pt x="419025" y="99342"/>
                  </a:lnTo>
                  <a:lnTo>
                    <a:pt x="439697" y="138231"/>
                  </a:lnTo>
                  <a:lnTo>
                    <a:pt x="452690" y="181585"/>
                  </a:lnTo>
                  <a:lnTo>
                    <a:pt x="457200" y="228600"/>
                  </a:lnTo>
                  <a:lnTo>
                    <a:pt x="452690" y="275614"/>
                  </a:lnTo>
                  <a:lnTo>
                    <a:pt x="439697" y="318968"/>
                  </a:lnTo>
                  <a:lnTo>
                    <a:pt x="419025" y="357857"/>
                  </a:lnTo>
                  <a:lnTo>
                    <a:pt x="391477" y="391477"/>
                  </a:lnTo>
                  <a:lnTo>
                    <a:pt x="357857" y="419025"/>
                  </a:lnTo>
                  <a:lnTo>
                    <a:pt x="318968" y="439697"/>
                  </a:lnTo>
                  <a:lnTo>
                    <a:pt x="275614" y="452690"/>
                  </a:lnTo>
                  <a:lnTo>
                    <a:pt x="228600" y="457200"/>
                  </a:lnTo>
                  <a:lnTo>
                    <a:pt x="181585" y="452690"/>
                  </a:lnTo>
                  <a:lnTo>
                    <a:pt x="138231" y="439697"/>
                  </a:lnTo>
                  <a:lnTo>
                    <a:pt x="99342" y="419025"/>
                  </a:lnTo>
                  <a:lnTo>
                    <a:pt x="65722" y="391477"/>
                  </a:lnTo>
                  <a:lnTo>
                    <a:pt x="38174" y="357857"/>
                  </a:lnTo>
                  <a:lnTo>
                    <a:pt x="17502" y="318968"/>
                  </a:lnTo>
                  <a:lnTo>
                    <a:pt x="4509" y="275614"/>
                  </a:lnTo>
                  <a:lnTo>
                    <a:pt x="0" y="228600"/>
                  </a:lnTo>
                  <a:lnTo>
                    <a:pt x="4509" y="181585"/>
                  </a:lnTo>
                  <a:lnTo>
                    <a:pt x="17502" y="138231"/>
                  </a:lnTo>
                  <a:lnTo>
                    <a:pt x="38174" y="99342"/>
                  </a:lnTo>
                  <a:lnTo>
                    <a:pt x="65722" y="65722"/>
                  </a:lnTo>
                  <a:lnTo>
                    <a:pt x="99342" y="38174"/>
                  </a:lnTo>
                  <a:lnTo>
                    <a:pt x="138231" y="17502"/>
                  </a:lnTo>
                  <a:lnTo>
                    <a:pt x="181585" y="4509"/>
                  </a:lnTo>
                  <a:lnTo>
                    <a:pt x="228600" y="0"/>
                  </a:lnTo>
                  <a:close/>
                </a:path>
                <a:path w="457200" h="457200">
                  <a:moveTo>
                    <a:pt x="0" y="0"/>
                  </a:moveTo>
                  <a:lnTo>
                    <a:pt x="0" y="0"/>
                  </a:lnTo>
                </a:path>
                <a:path w="457200" h="457200">
                  <a:moveTo>
                    <a:pt x="457200" y="457200"/>
                  </a:moveTo>
                  <a:lnTo>
                    <a:pt x="457200" y="45720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2"/>
            <p:cNvSpPr txBox="1"/>
            <p:nvPr/>
          </p:nvSpPr>
          <p:spPr>
            <a:xfrm>
              <a:off x="7139" y="6141"/>
              <a:ext cx="353" cy="65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spcBef>
                  <a:spcPts val="100"/>
                </a:spcBef>
              </a:pPr>
              <a:r>
                <a:rPr sz="2600" b="1" dirty="0">
                  <a:solidFill>
                    <a:srgbClr val="191919"/>
                  </a:solidFill>
                  <a:latin typeface="Courier New" panose="02070409020205020404"/>
                  <a:cs typeface="Courier New" panose="02070409020205020404"/>
                </a:rPr>
                <a:t>d</a:t>
              </a:r>
              <a:endParaRPr sz="2600">
                <a:latin typeface="Courier New" panose="02070409020205020404"/>
                <a:cs typeface="Courier New" panose="02070409020205020404"/>
              </a:endParaRPr>
            </a:p>
          </p:txBody>
        </p:sp>
        <p:sp>
          <p:nvSpPr>
            <p:cNvPr id="39" name="object 33"/>
            <p:cNvSpPr/>
            <p:nvPr/>
          </p:nvSpPr>
          <p:spPr>
            <a:xfrm>
              <a:off x="6235" y="7981"/>
              <a:ext cx="720" cy="72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275614" y="4509"/>
                  </a:lnTo>
                  <a:lnTo>
                    <a:pt x="318968" y="17502"/>
                  </a:lnTo>
                  <a:lnTo>
                    <a:pt x="357857" y="38174"/>
                  </a:lnTo>
                  <a:lnTo>
                    <a:pt x="391477" y="65722"/>
                  </a:lnTo>
                  <a:lnTo>
                    <a:pt x="419025" y="99342"/>
                  </a:lnTo>
                  <a:lnTo>
                    <a:pt x="439697" y="138231"/>
                  </a:lnTo>
                  <a:lnTo>
                    <a:pt x="452690" y="181585"/>
                  </a:lnTo>
                  <a:lnTo>
                    <a:pt x="457200" y="228600"/>
                  </a:lnTo>
                  <a:lnTo>
                    <a:pt x="452690" y="275614"/>
                  </a:lnTo>
                  <a:lnTo>
                    <a:pt x="439697" y="318968"/>
                  </a:lnTo>
                  <a:lnTo>
                    <a:pt x="419025" y="357857"/>
                  </a:lnTo>
                  <a:lnTo>
                    <a:pt x="391477" y="391477"/>
                  </a:lnTo>
                  <a:lnTo>
                    <a:pt x="357857" y="419025"/>
                  </a:lnTo>
                  <a:lnTo>
                    <a:pt x="318968" y="439697"/>
                  </a:lnTo>
                  <a:lnTo>
                    <a:pt x="275614" y="452690"/>
                  </a:lnTo>
                  <a:lnTo>
                    <a:pt x="228600" y="457200"/>
                  </a:lnTo>
                  <a:lnTo>
                    <a:pt x="181585" y="452690"/>
                  </a:lnTo>
                  <a:lnTo>
                    <a:pt x="138231" y="439697"/>
                  </a:lnTo>
                  <a:lnTo>
                    <a:pt x="99342" y="419025"/>
                  </a:lnTo>
                  <a:lnTo>
                    <a:pt x="65722" y="391477"/>
                  </a:lnTo>
                  <a:lnTo>
                    <a:pt x="38174" y="357857"/>
                  </a:lnTo>
                  <a:lnTo>
                    <a:pt x="17502" y="318968"/>
                  </a:lnTo>
                  <a:lnTo>
                    <a:pt x="4509" y="275614"/>
                  </a:lnTo>
                  <a:lnTo>
                    <a:pt x="0" y="228600"/>
                  </a:lnTo>
                  <a:lnTo>
                    <a:pt x="4509" y="181585"/>
                  </a:lnTo>
                  <a:lnTo>
                    <a:pt x="17502" y="138231"/>
                  </a:lnTo>
                  <a:lnTo>
                    <a:pt x="38174" y="99342"/>
                  </a:lnTo>
                  <a:lnTo>
                    <a:pt x="65722" y="65722"/>
                  </a:lnTo>
                  <a:lnTo>
                    <a:pt x="99342" y="38174"/>
                  </a:lnTo>
                  <a:lnTo>
                    <a:pt x="138231" y="17502"/>
                  </a:lnTo>
                  <a:lnTo>
                    <a:pt x="181585" y="4509"/>
                  </a:lnTo>
                  <a:lnTo>
                    <a:pt x="228600" y="0"/>
                  </a:lnTo>
                  <a:close/>
                </a:path>
                <a:path w="457200" h="457200">
                  <a:moveTo>
                    <a:pt x="0" y="0"/>
                  </a:moveTo>
                  <a:lnTo>
                    <a:pt x="0" y="0"/>
                  </a:lnTo>
                </a:path>
                <a:path w="457200" h="457200">
                  <a:moveTo>
                    <a:pt x="457200" y="457200"/>
                  </a:moveTo>
                  <a:lnTo>
                    <a:pt x="457200" y="45720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34"/>
            <p:cNvSpPr txBox="1"/>
            <p:nvPr/>
          </p:nvSpPr>
          <p:spPr>
            <a:xfrm>
              <a:off x="6419" y="7941"/>
              <a:ext cx="353" cy="65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spcBef>
                  <a:spcPts val="100"/>
                </a:spcBef>
              </a:pPr>
              <a:r>
                <a:rPr sz="2600" b="1" dirty="0">
                  <a:solidFill>
                    <a:srgbClr val="191919"/>
                  </a:solidFill>
                  <a:latin typeface="Courier New" panose="02070409020205020404"/>
                  <a:cs typeface="Courier New" panose="02070409020205020404"/>
                </a:rPr>
                <a:t>e</a:t>
              </a:r>
              <a:endParaRPr sz="2600">
                <a:latin typeface="Courier New" panose="02070409020205020404"/>
                <a:cs typeface="Courier New" panose="02070409020205020404"/>
              </a:endParaRPr>
            </a:p>
          </p:txBody>
        </p:sp>
        <p:sp>
          <p:nvSpPr>
            <p:cNvPr id="41" name="object 35"/>
            <p:cNvSpPr/>
            <p:nvPr/>
          </p:nvSpPr>
          <p:spPr>
            <a:xfrm>
              <a:off x="4435" y="9061"/>
              <a:ext cx="720" cy="72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275614" y="4509"/>
                  </a:lnTo>
                  <a:lnTo>
                    <a:pt x="318968" y="17502"/>
                  </a:lnTo>
                  <a:lnTo>
                    <a:pt x="357857" y="38174"/>
                  </a:lnTo>
                  <a:lnTo>
                    <a:pt x="391477" y="65722"/>
                  </a:lnTo>
                  <a:lnTo>
                    <a:pt x="419025" y="99342"/>
                  </a:lnTo>
                  <a:lnTo>
                    <a:pt x="439697" y="138231"/>
                  </a:lnTo>
                  <a:lnTo>
                    <a:pt x="452690" y="181585"/>
                  </a:lnTo>
                  <a:lnTo>
                    <a:pt x="457200" y="228600"/>
                  </a:lnTo>
                  <a:lnTo>
                    <a:pt x="452690" y="275614"/>
                  </a:lnTo>
                  <a:lnTo>
                    <a:pt x="439697" y="318968"/>
                  </a:lnTo>
                  <a:lnTo>
                    <a:pt x="419025" y="357857"/>
                  </a:lnTo>
                  <a:lnTo>
                    <a:pt x="391477" y="391477"/>
                  </a:lnTo>
                  <a:lnTo>
                    <a:pt x="357857" y="419025"/>
                  </a:lnTo>
                  <a:lnTo>
                    <a:pt x="318968" y="439697"/>
                  </a:lnTo>
                  <a:lnTo>
                    <a:pt x="275614" y="452690"/>
                  </a:lnTo>
                  <a:lnTo>
                    <a:pt x="228600" y="457200"/>
                  </a:lnTo>
                  <a:lnTo>
                    <a:pt x="181585" y="452690"/>
                  </a:lnTo>
                  <a:lnTo>
                    <a:pt x="138231" y="439697"/>
                  </a:lnTo>
                  <a:lnTo>
                    <a:pt x="99342" y="419025"/>
                  </a:lnTo>
                  <a:lnTo>
                    <a:pt x="65722" y="391477"/>
                  </a:lnTo>
                  <a:lnTo>
                    <a:pt x="38174" y="357857"/>
                  </a:lnTo>
                  <a:lnTo>
                    <a:pt x="17502" y="318968"/>
                  </a:lnTo>
                  <a:lnTo>
                    <a:pt x="4509" y="275614"/>
                  </a:lnTo>
                  <a:lnTo>
                    <a:pt x="0" y="228600"/>
                  </a:lnTo>
                  <a:lnTo>
                    <a:pt x="4509" y="181585"/>
                  </a:lnTo>
                  <a:lnTo>
                    <a:pt x="17502" y="138231"/>
                  </a:lnTo>
                  <a:lnTo>
                    <a:pt x="38174" y="99342"/>
                  </a:lnTo>
                  <a:lnTo>
                    <a:pt x="65722" y="65722"/>
                  </a:lnTo>
                  <a:lnTo>
                    <a:pt x="99342" y="38174"/>
                  </a:lnTo>
                  <a:lnTo>
                    <a:pt x="138231" y="17502"/>
                  </a:lnTo>
                  <a:lnTo>
                    <a:pt x="181585" y="4509"/>
                  </a:lnTo>
                  <a:lnTo>
                    <a:pt x="228600" y="0"/>
                  </a:lnTo>
                  <a:close/>
                </a:path>
                <a:path w="457200" h="457200">
                  <a:moveTo>
                    <a:pt x="0" y="0"/>
                  </a:moveTo>
                  <a:lnTo>
                    <a:pt x="0" y="0"/>
                  </a:lnTo>
                </a:path>
                <a:path w="457200" h="457200">
                  <a:moveTo>
                    <a:pt x="457200" y="457200"/>
                  </a:moveTo>
                  <a:lnTo>
                    <a:pt x="457200" y="45720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36"/>
            <p:cNvSpPr txBox="1"/>
            <p:nvPr/>
          </p:nvSpPr>
          <p:spPr>
            <a:xfrm>
              <a:off x="4619" y="9021"/>
              <a:ext cx="353" cy="65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spcBef>
                  <a:spcPts val="100"/>
                </a:spcBef>
              </a:pPr>
              <a:r>
                <a:rPr sz="2600" b="1" dirty="0">
                  <a:solidFill>
                    <a:srgbClr val="191919"/>
                  </a:solidFill>
                  <a:latin typeface="Courier New" panose="02070409020205020404"/>
                  <a:cs typeface="Courier New" panose="02070409020205020404"/>
                </a:rPr>
                <a:t>f</a:t>
              </a:r>
              <a:endParaRPr sz="2600">
                <a:latin typeface="Courier New" panose="02070409020205020404"/>
                <a:cs typeface="Courier New" panose="02070409020205020404"/>
              </a:endParaRPr>
            </a:p>
          </p:txBody>
        </p:sp>
        <p:sp>
          <p:nvSpPr>
            <p:cNvPr id="43" name="object 37"/>
            <p:cNvSpPr/>
            <p:nvPr/>
          </p:nvSpPr>
          <p:spPr>
            <a:xfrm>
              <a:off x="2635" y="7981"/>
              <a:ext cx="720" cy="72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275614" y="4509"/>
                  </a:lnTo>
                  <a:lnTo>
                    <a:pt x="318968" y="17502"/>
                  </a:lnTo>
                  <a:lnTo>
                    <a:pt x="357857" y="38174"/>
                  </a:lnTo>
                  <a:lnTo>
                    <a:pt x="391477" y="65722"/>
                  </a:lnTo>
                  <a:lnTo>
                    <a:pt x="419025" y="99342"/>
                  </a:lnTo>
                  <a:lnTo>
                    <a:pt x="439697" y="138231"/>
                  </a:lnTo>
                  <a:lnTo>
                    <a:pt x="452690" y="181585"/>
                  </a:lnTo>
                  <a:lnTo>
                    <a:pt x="457200" y="228600"/>
                  </a:lnTo>
                  <a:lnTo>
                    <a:pt x="452690" y="275614"/>
                  </a:lnTo>
                  <a:lnTo>
                    <a:pt x="439697" y="318968"/>
                  </a:lnTo>
                  <a:lnTo>
                    <a:pt x="419025" y="357857"/>
                  </a:lnTo>
                  <a:lnTo>
                    <a:pt x="391477" y="391477"/>
                  </a:lnTo>
                  <a:lnTo>
                    <a:pt x="357857" y="419025"/>
                  </a:lnTo>
                  <a:lnTo>
                    <a:pt x="318968" y="439697"/>
                  </a:lnTo>
                  <a:lnTo>
                    <a:pt x="275614" y="452690"/>
                  </a:lnTo>
                  <a:lnTo>
                    <a:pt x="228600" y="457200"/>
                  </a:lnTo>
                  <a:lnTo>
                    <a:pt x="181585" y="452690"/>
                  </a:lnTo>
                  <a:lnTo>
                    <a:pt x="138231" y="439697"/>
                  </a:lnTo>
                  <a:lnTo>
                    <a:pt x="99342" y="419025"/>
                  </a:lnTo>
                  <a:lnTo>
                    <a:pt x="65722" y="391477"/>
                  </a:lnTo>
                  <a:lnTo>
                    <a:pt x="38174" y="357857"/>
                  </a:lnTo>
                  <a:lnTo>
                    <a:pt x="17502" y="318968"/>
                  </a:lnTo>
                  <a:lnTo>
                    <a:pt x="4509" y="275614"/>
                  </a:lnTo>
                  <a:lnTo>
                    <a:pt x="0" y="228600"/>
                  </a:lnTo>
                  <a:lnTo>
                    <a:pt x="4509" y="181585"/>
                  </a:lnTo>
                  <a:lnTo>
                    <a:pt x="17502" y="138231"/>
                  </a:lnTo>
                  <a:lnTo>
                    <a:pt x="38174" y="99342"/>
                  </a:lnTo>
                  <a:lnTo>
                    <a:pt x="65722" y="65722"/>
                  </a:lnTo>
                  <a:lnTo>
                    <a:pt x="99342" y="38174"/>
                  </a:lnTo>
                  <a:lnTo>
                    <a:pt x="138231" y="17502"/>
                  </a:lnTo>
                  <a:lnTo>
                    <a:pt x="181585" y="4509"/>
                  </a:lnTo>
                  <a:lnTo>
                    <a:pt x="228600" y="0"/>
                  </a:lnTo>
                  <a:close/>
                </a:path>
                <a:path w="457200" h="457200">
                  <a:moveTo>
                    <a:pt x="0" y="0"/>
                  </a:moveTo>
                  <a:lnTo>
                    <a:pt x="0" y="0"/>
                  </a:lnTo>
                </a:path>
                <a:path w="457200" h="457200">
                  <a:moveTo>
                    <a:pt x="457200" y="457200"/>
                  </a:moveTo>
                  <a:lnTo>
                    <a:pt x="457200" y="45720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38"/>
            <p:cNvSpPr txBox="1"/>
            <p:nvPr/>
          </p:nvSpPr>
          <p:spPr>
            <a:xfrm>
              <a:off x="2819" y="7941"/>
              <a:ext cx="353" cy="65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spcBef>
                  <a:spcPts val="100"/>
                </a:spcBef>
              </a:pPr>
              <a:r>
                <a:rPr sz="2600" b="1" dirty="0">
                  <a:solidFill>
                    <a:srgbClr val="191919"/>
                  </a:solidFill>
                  <a:latin typeface="Courier New" panose="02070409020205020404"/>
                  <a:cs typeface="Courier New" panose="02070409020205020404"/>
                </a:rPr>
                <a:t>g</a:t>
              </a:r>
              <a:endParaRPr sz="2600">
                <a:latin typeface="Courier New" panose="02070409020205020404"/>
                <a:cs typeface="Courier New" panose="02070409020205020404"/>
              </a:endParaRPr>
            </a:p>
          </p:txBody>
        </p:sp>
      </p:grpSp>
      <p:sp>
        <p:nvSpPr>
          <p:cNvPr id="45" name="object 39"/>
          <p:cNvSpPr/>
          <p:nvPr/>
        </p:nvSpPr>
        <p:spPr>
          <a:xfrm>
            <a:off x="1606551" y="2943225"/>
            <a:ext cx="2877820" cy="914400"/>
          </a:xfrm>
          <a:custGeom>
            <a:avLst/>
            <a:gdLst/>
            <a:ahLst/>
            <a:cxnLst/>
            <a:rect l="l" t="t" r="r" b="b"/>
            <a:pathLst>
              <a:path w="2877820" h="914400">
                <a:moveTo>
                  <a:pt x="0" y="753110"/>
                </a:moveTo>
                <a:lnTo>
                  <a:pt x="591820" y="161289"/>
                </a:lnTo>
              </a:path>
              <a:path w="2877820" h="914400">
                <a:moveTo>
                  <a:pt x="981710" y="0"/>
                </a:moveTo>
                <a:lnTo>
                  <a:pt x="1896110" y="0"/>
                </a:lnTo>
              </a:path>
              <a:path w="2877820" h="914400">
                <a:moveTo>
                  <a:pt x="2286000" y="161289"/>
                </a:moveTo>
                <a:lnTo>
                  <a:pt x="2877819" y="753110"/>
                </a:lnTo>
              </a:path>
              <a:path w="2877820" h="914400">
                <a:moveTo>
                  <a:pt x="67310" y="914400"/>
                </a:moveTo>
                <a:lnTo>
                  <a:pt x="2810510" y="914400"/>
                </a:lnTo>
              </a:path>
              <a:path w="2877820" h="914400">
                <a:moveTo>
                  <a:pt x="1963419" y="161289"/>
                </a:moveTo>
                <a:lnTo>
                  <a:pt x="67310" y="914400"/>
                </a:lnTo>
              </a:path>
              <a:path w="2877820" h="914400">
                <a:moveTo>
                  <a:pt x="914400" y="161289"/>
                </a:moveTo>
                <a:lnTo>
                  <a:pt x="2810510" y="91440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cxnSp>
        <p:nvCxnSpPr>
          <p:cNvPr id="47" name="直接连接符 46"/>
          <p:cNvCxnSpPr/>
          <p:nvPr/>
        </p:nvCxnSpPr>
        <p:spPr>
          <a:xfrm>
            <a:off x="2406653" y="3139441"/>
            <a:ext cx="1623695" cy="16687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/>
          <p:cNvCxnSpPr/>
          <p:nvPr/>
        </p:nvCxnSpPr>
        <p:spPr>
          <a:xfrm>
            <a:off x="3741422" y="3148967"/>
            <a:ext cx="369571" cy="159575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连接符 48"/>
          <p:cNvCxnSpPr/>
          <p:nvPr/>
        </p:nvCxnSpPr>
        <p:spPr>
          <a:xfrm>
            <a:off x="2298700" y="3148965"/>
            <a:ext cx="746760" cy="22504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连接符 49"/>
          <p:cNvCxnSpPr/>
          <p:nvPr/>
        </p:nvCxnSpPr>
        <p:spPr>
          <a:xfrm flipH="1">
            <a:off x="3290573" y="5168902"/>
            <a:ext cx="739775" cy="40576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7" name="object 57"/>
          <p:cNvGraphicFramePr>
            <a:graphicFrameLocks noGrp="1"/>
          </p:cNvGraphicFramePr>
          <p:nvPr/>
        </p:nvGraphicFramePr>
        <p:xfrm>
          <a:off x="1216025" y="6022975"/>
          <a:ext cx="3657600" cy="45770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708">
                <a:tc>
                  <a:txBody>
                    <a:bodyPr/>
                    <a:lstStyle/>
                    <a:p>
                      <a:pPr marL="254000">
                        <a:lnSpc>
                          <a:spcPts val="2940"/>
                        </a:lnSpc>
                      </a:pPr>
                      <a:r>
                        <a:rPr sz="2700" b="1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R</a:t>
                      </a:r>
                      <a:r>
                        <a:rPr sz="2300" b="1" baseline="-31000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0</a:t>
                      </a:r>
                      <a:endParaRPr sz="2300" baseline="-31000">
                        <a:latin typeface="DejaVu Serif" panose="02060603050605020204"/>
                        <a:cs typeface="DejaVu Serif" panose="02060603050605020204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254000">
                        <a:lnSpc>
                          <a:spcPts val="2940"/>
                        </a:lnSpc>
                      </a:pPr>
                      <a:r>
                        <a:rPr sz="2700" b="1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R</a:t>
                      </a:r>
                      <a:r>
                        <a:rPr sz="2300" b="1" baseline="-31000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1</a:t>
                      </a:r>
                      <a:endParaRPr sz="2300" baseline="-31000">
                        <a:latin typeface="DejaVu Serif" panose="02060603050605020204"/>
                        <a:cs typeface="DejaVu Serif" panose="02060603050605020204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254000">
                        <a:lnSpc>
                          <a:spcPts val="2940"/>
                        </a:lnSpc>
                      </a:pPr>
                      <a:r>
                        <a:rPr sz="2700" b="1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R</a:t>
                      </a:r>
                      <a:r>
                        <a:rPr sz="2300" b="1" baseline="-31000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2</a:t>
                      </a:r>
                      <a:endParaRPr sz="2300" baseline="-31000">
                        <a:latin typeface="DejaVu Serif" panose="02060603050605020204"/>
                        <a:cs typeface="DejaVu Serif" panose="02060603050605020204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F00FF"/>
                    </a:solidFill>
                  </a:tcPr>
                </a:tc>
                <a:tc>
                  <a:txBody>
                    <a:bodyPr/>
                    <a:lstStyle/>
                    <a:p>
                      <a:pPr marL="254000">
                        <a:lnSpc>
                          <a:spcPts val="2940"/>
                        </a:lnSpc>
                      </a:pPr>
                      <a:r>
                        <a:rPr sz="2700" b="1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R</a:t>
                      </a:r>
                      <a:r>
                        <a:rPr sz="2300" b="1" baseline="-31000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3</a:t>
                      </a:r>
                      <a:endParaRPr sz="2300" baseline="-31000" dirty="0">
                        <a:latin typeface="DejaVu Serif" panose="02060603050605020204"/>
                        <a:cs typeface="DejaVu Serif" panose="02060603050605020204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E5E5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bldLvl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b="1" dirty="0">
                <a:latin typeface="楷体_GB2312" panose="02010609030101010101" charset="-122"/>
                <a:ea typeface="楷体_GB2312" panose="02010609030101010101" charset="-122"/>
                <a:sym typeface="+mn-ea"/>
              </a:rPr>
              <a:t>图着色算法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42</a:t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文本占位符 5"/>
          <p:cNvSpPr>
            <a:spLocks noGrp="1"/>
          </p:cNvSpPr>
          <p:nvPr>
            <p:ph type="body" idx="4294967295"/>
          </p:nvPr>
        </p:nvSpPr>
        <p:spPr>
          <a:xfrm>
            <a:off x="245746" y="1388111"/>
            <a:ext cx="6900545" cy="1321435"/>
          </a:xfrm>
        </p:spPr>
        <p:txBody>
          <a:bodyPr>
            <a:normAutofit/>
          </a:bodyPr>
          <a:lstStyle/>
          <a:p>
            <a:pPr marL="431789" indent="-323843" defTabSz="449569">
              <a:lnSpc>
                <a:spcPct val="100000"/>
              </a:lnSpc>
              <a:buSzPct val="45000"/>
              <a:buNone/>
              <a:tabLst>
                <a:tab pos="723882" algn="l"/>
                <a:tab pos="1447764" algn="l"/>
                <a:tab pos="2171646" algn="l"/>
                <a:tab pos="2895528" algn="l"/>
                <a:tab pos="3619410" algn="l"/>
                <a:tab pos="4343291" algn="l"/>
                <a:tab pos="5067173" algn="l"/>
                <a:tab pos="5791055" algn="l"/>
                <a:tab pos="6514937" algn="l"/>
                <a:tab pos="7238819" algn="l"/>
                <a:tab pos="7962701" algn="l"/>
                <a:tab pos="8686583" algn="l"/>
              </a:tabLst>
            </a:pPr>
            <a:r>
              <a:rPr lang="zh-CN" altLang="en-US" sz="3200" b="1" dirty="0">
                <a:sym typeface="+mn-ea"/>
              </a:rPr>
              <a:t>线性扫描使用的信息为“活跃间隔”</a:t>
            </a:r>
            <a:endParaRPr sz="3200" b="1" dirty="0">
              <a:sym typeface="+mn-ea"/>
            </a:endParaRPr>
          </a:p>
          <a:p>
            <a:pPr marL="431789" indent="-323843" defTabSz="449569">
              <a:lnSpc>
                <a:spcPct val="100000"/>
              </a:lnSpc>
              <a:buSzPct val="45000"/>
              <a:buNone/>
              <a:tabLst>
                <a:tab pos="723882" algn="l"/>
                <a:tab pos="1447764" algn="l"/>
                <a:tab pos="2171646" algn="l"/>
                <a:tab pos="2895528" algn="l"/>
                <a:tab pos="3619410" algn="l"/>
                <a:tab pos="4343291" algn="l"/>
                <a:tab pos="5067173" algn="l"/>
                <a:tab pos="5791055" algn="l"/>
                <a:tab pos="6514937" algn="l"/>
                <a:tab pos="7238819" algn="l"/>
                <a:tab pos="7962701" algn="l"/>
                <a:tab pos="8686583" algn="l"/>
              </a:tabLst>
            </a:pPr>
            <a:r>
              <a:rPr lang="zh-CN" altLang="en-US" sz="3200" b="1" dirty="0">
                <a:sym typeface="+mn-ea"/>
              </a:rPr>
              <a:t>能否直接使用活跃信息？</a:t>
            </a:r>
            <a:endParaRPr sz="3200" b="1" dirty="0">
              <a:sym typeface="+mn-e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907655" y="121285"/>
            <a:ext cx="2514600" cy="914400"/>
          </a:xfrm>
          <a:custGeom>
            <a:avLst/>
            <a:gdLst/>
            <a:ahLst/>
            <a:cxnLst/>
            <a:rect l="l" t="t" r="r" b="b"/>
            <a:pathLst>
              <a:path w="2514600" h="914400">
                <a:moveTo>
                  <a:pt x="2514600" y="0"/>
                </a:moveTo>
                <a:lnTo>
                  <a:pt x="0" y="0"/>
                </a:lnTo>
                <a:lnTo>
                  <a:pt x="0" y="914400"/>
                </a:lnTo>
                <a:lnTo>
                  <a:pt x="2514600" y="9144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919085" y="168276"/>
            <a:ext cx="2514600" cy="88614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7620" rIns="0" bIns="0" rtlCol="0">
            <a:spAutoFit/>
          </a:bodyPr>
          <a:lstStyle/>
          <a:p>
            <a:pPr marL="190495" marR="182875" algn="ctr">
              <a:lnSpc>
                <a:spcPts val="2260"/>
              </a:lnSpc>
              <a:spcBef>
                <a:spcPts val="60"/>
              </a:spcBef>
            </a:pPr>
            <a:r>
              <a:rPr sz="2000" b="1" dirty="0">
                <a:solidFill>
                  <a:srgbClr val="FF0000"/>
                </a:solidFill>
                <a:latin typeface="Courier New" panose="02070409020205020404"/>
                <a:cs typeface="Courier New" panose="02070409020205020404"/>
              </a:rPr>
              <a:t>{ </a:t>
            </a:r>
            <a:r>
              <a:rPr sz="2000" b="1" spc="-5" dirty="0">
                <a:solidFill>
                  <a:srgbClr val="FF0000"/>
                </a:solidFill>
                <a:latin typeface="Courier New" panose="02070409020205020404"/>
                <a:cs typeface="Courier New" panose="02070409020205020404"/>
              </a:rPr>
              <a:t>a, b, c, </a:t>
            </a:r>
            <a:r>
              <a:rPr sz="2000" b="1" dirty="0">
                <a:solidFill>
                  <a:srgbClr val="FF0000"/>
                </a:solidFill>
                <a:latin typeface="Courier New" panose="02070409020205020404"/>
                <a:cs typeface="Courier New" panose="02070409020205020404"/>
              </a:rPr>
              <a:t>d</a:t>
            </a:r>
            <a:r>
              <a:rPr sz="2000" b="1" spc="-95" dirty="0">
                <a:solidFill>
                  <a:srgbClr val="FF0000"/>
                </a:solidFill>
                <a:latin typeface="Courier New" panose="02070409020205020404"/>
                <a:cs typeface="Courier New" panose="02070409020205020404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ourier New" panose="02070409020205020404"/>
                <a:cs typeface="Courier New" panose="02070409020205020404"/>
              </a:rPr>
              <a:t>}  </a:t>
            </a:r>
            <a:r>
              <a:rPr sz="2000" b="1" dirty="0">
                <a:solidFill>
                  <a:srgbClr val="191919"/>
                </a:solidFill>
                <a:latin typeface="Courier New" panose="02070409020205020404"/>
                <a:cs typeface="Courier New" panose="02070409020205020404"/>
              </a:rPr>
              <a:t>e = d +</a:t>
            </a:r>
            <a:r>
              <a:rPr sz="2000" b="1" spc="-85" dirty="0">
                <a:solidFill>
                  <a:srgbClr val="191919"/>
                </a:solidFill>
                <a:latin typeface="Courier New" panose="02070409020205020404"/>
                <a:cs typeface="Courier New" panose="02070409020205020404"/>
              </a:rPr>
              <a:t> </a:t>
            </a:r>
            <a:r>
              <a:rPr sz="2000" b="1" dirty="0">
                <a:solidFill>
                  <a:srgbClr val="191919"/>
                </a:solidFill>
                <a:latin typeface="Courier New" panose="02070409020205020404"/>
                <a:cs typeface="Courier New" panose="02070409020205020404"/>
              </a:rPr>
              <a:t>a</a:t>
            </a:r>
            <a:endParaRPr sz="2000">
              <a:latin typeface="Courier New" panose="02070409020205020404"/>
              <a:cs typeface="Courier New" panose="02070409020205020404"/>
            </a:endParaRPr>
          </a:p>
          <a:p>
            <a:pPr algn="ctr">
              <a:lnSpc>
                <a:spcPts val="2220"/>
              </a:lnSpc>
            </a:pPr>
            <a:r>
              <a:rPr sz="2000" b="1" dirty="0">
                <a:solidFill>
                  <a:srgbClr val="FF0000"/>
                </a:solidFill>
                <a:latin typeface="Courier New" panose="02070409020205020404"/>
                <a:cs typeface="Courier New" panose="02070409020205020404"/>
              </a:rPr>
              <a:t>{ </a:t>
            </a:r>
            <a:r>
              <a:rPr sz="2000" b="1" spc="-5" dirty="0">
                <a:solidFill>
                  <a:srgbClr val="FF0000"/>
                </a:solidFill>
                <a:latin typeface="Courier New" panose="02070409020205020404"/>
                <a:cs typeface="Courier New" panose="02070409020205020404"/>
              </a:rPr>
              <a:t>b, c, </a:t>
            </a:r>
            <a:r>
              <a:rPr sz="2000" b="1" dirty="0">
                <a:solidFill>
                  <a:srgbClr val="FF0000"/>
                </a:solidFill>
                <a:latin typeface="Courier New" panose="02070409020205020404"/>
                <a:cs typeface="Courier New" panose="02070409020205020404"/>
              </a:rPr>
              <a:t>e</a:t>
            </a:r>
            <a:r>
              <a:rPr sz="2000" b="1" spc="-65" dirty="0">
                <a:solidFill>
                  <a:srgbClr val="FF0000"/>
                </a:solidFill>
                <a:latin typeface="Courier New" panose="02070409020205020404"/>
                <a:cs typeface="Courier New" panose="02070409020205020404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ourier New" panose="02070409020205020404"/>
                <a:cs typeface="Courier New" panose="02070409020205020404"/>
              </a:rPr>
              <a:t>}</a:t>
            </a:r>
            <a:endParaRPr sz="2000">
              <a:latin typeface="Courier New" panose="02070409020205020404"/>
              <a:cs typeface="Courier New" panose="02070409020205020404"/>
            </a:endParaRPr>
          </a:p>
        </p:txBody>
      </p:sp>
      <p:sp>
        <p:nvSpPr>
          <p:cNvPr id="2" name="object 5"/>
          <p:cNvSpPr txBox="1"/>
          <p:nvPr/>
        </p:nvSpPr>
        <p:spPr>
          <a:xfrm>
            <a:off x="7907655" y="1492885"/>
            <a:ext cx="2514600" cy="88614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7620" rIns="0" bIns="0" rtlCol="0">
            <a:spAutoFit/>
          </a:bodyPr>
          <a:lstStyle/>
          <a:p>
            <a:pPr marL="571486" marR="411470" indent="-152396">
              <a:lnSpc>
                <a:spcPts val="2260"/>
              </a:lnSpc>
              <a:spcBef>
                <a:spcPts val="60"/>
              </a:spcBef>
            </a:pPr>
            <a:r>
              <a:rPr sz="2000" b="1" dirty="0">
                <a:solidFill>
                  <a:srgbClr val="FF0000"/>
                </a:solidFill>
                <a:latin typeface="Courier New" panose="02070409020205020404"/>
                <a:cs typeface="Courier New" panose="02070409020205020404"/>
              </a:rPr>
              <a:t>{ </a:t>
            </a:r>
            <a:r>
              <a:rPr sz="2000" b="1" spc="-5" dirty="0">
                <a:solidFill>
                  <a:srgbClr val="FF0000"/>
                </a:solidFill>
                <a:latin typeface="Courier New" panose="02070409020205020404"/>
                <a:cs typeface="Courier New" panose="02070409020205020404"/>
              </a:rPr>
              <a:t>b, c, </a:t>
            </a:r>
            <a:r>
              <a:rPr sz="2000" b="1" dirty="0">
                <a:solidFill>
                  <a:srgbClr val="FF0000"/>
                </a:solidFill>
                <a:latin typeface="Courier New" panose="02070409020205020404"/>
                <a:cs typeface="Courier New" panose="02070409020205020404"/>
              </a:rPr>
              <a:t>e</a:t>
            </a:r>
            <a:r>
              <a:rPr sz="2000" b="1" spc="-100" dirty="0">
                <a:solidFill>
                  <a:srgbClr val="FF0000"/>
                </a:solidFill>
                <a:latin typeface="Courier New" panose="02070409020205020404"/>
                <a:cs typeface="Courier New" panose="02070409020205020404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ourier New" panose="02070409020205020404"/>
                <a:cs typeface="Courier New" panose="02070409020205020404"/>
              </a:rPr>
              <a:t>}  </a:t>
            </a:r>
            <a:r>
              <a:rPr sz="2000" b="1" dirty="0">
                <a:solidFill>
                  <a:srgbClr val="191919"/>
                </a:solidFill>
                <a:latin typeface="Courier New" panose="02070409020205020404"/>
                <a:cs typeface="Courier New" panose="02070409020205020404"/>
              </a:rPr>
              <a:t>f = b +</a:t>
            </a:r>
            <a:r>
              <a:rPr sz="2000" b="1" spc="-100" dirty="0">
                <a:solidFill>
                  <a:srgbClr val="191919"/>
                </a:solidFill>
                <a:latin typeface="Courier New" panose="02070409020205020404"/>
                <a:cs typeface="Courier New" panose="02070409020205020404"/>
              </a:rPr>
              <a:t> </a:t>
            </a:r>
            <a:r>
              <a:rPr sz="2000" b="1" dirty="0">
                <a:solidFill>
                  <a:srgbClr val="191919"/>
                </a:solidFill>
                <a:latin typeface="Courier New" panose="02070409020205020404"/>
                <a:cs typeface="Courier New" panose="02070409020205020404"/>
              </a:rPr>
              <a:t>c</a:t>
            </a:r>
            <a:endParaRPr sz="2000">
              <a:latin typeface="Courier New" panose="02070409020205020404"/>
              <a:cs typeface="Courier New" panose="02070409020205020404"/>
            </a:endParaRPr>
          </a:p>
          <a:p>
            <a:pPr marL="495288">
              <a:lnSpc>
                <a:spcPts val="2220"/>
              </a:lnSpc>
            </a:pPr>
            <a:r>
              <a:rPr sz="2000" b="1" dirty="0">
                <a:solidFill>
                  <a:srgbClr val="FF0000"/>
                </a:solidFill>
                <a:latin typeface="Courier New" panose="02070409020205020404"/>
                <a:cs typeface="Courier New" panose="02070409020205020404"/>
              </a:rPr>
              <a:t>{ </a:t>
            </a:r>
            <a:r>
              <a:rPr sz="2000" b="1" spc="-5" dirty="0">
                <a:solidFill>
                  <a:srgbClr val="FF0000"/>
                </a:solidFill>
                <a:latin typeface="Courier New" panose="02070409020205020404"/>
                <a:cs typeface="Courier New" panose="02070409020205020404"/>
              </a:rPr>
              <a:t>b, e,</a:t>
            </a:r>
            <a:r>
              <a:rPr sz="2000" b="1" spc="-55" dirty="0">
                <a:solidFill>
                  <a:srgbClr val="FF0000"/>
                </a:solidFill>
                <a:latin typeface="Courier New" panose="02070409020205020404"/>
                <a:cs typeface="Courier New" panose="02070409020205020404"/>
              </a:rPr>
              <a:t> </a:t>
            </a:r>
            <a:r>
              <a:rPr sz="2000" b="1" spc="-5" dirty="0">
                <a:solidFill>
                  <a:srgbClr val="FF0000"/>
                </a:solidFill>
                <a:latin typeface="Courier New" panose="02070409020205020404"/>
                <a:cs typeface="Courier New" panose="02070409020205020404"/>
              </a:rPr>
              <a:t>f}</a:t>
            </a:r>
            <a:endParaRPr sz="2000">
              <a:latin typeface="Courier New" panose="02070409020205020404"/>
              <a:cs typeface="Courier New" panose="02070409020205020404"/>
            </a:endParaRPr>
          </a:p>
        </p:txBody>
      </p:sp>
      <p:sp>
        <p:nvSpPr>
          <p:cNvPr id="10" name="object 6"/>
          <p:cNvSpPr txBox="1"/>
          <p:nvPr/>
        </p:nvSpPr>
        <p:spPr>
          <a:xfrm>
            <a:off x="7907655" y="2864486"/>
            <a:ext cx="2514600" cy="88614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7620" rIns="0" bIns="0" rtlCol="0">
            <a:spAutoFit/>
          </a:bodyPr>
          <a:lstStyle/>
          <a:p>
            <a:pPr marL="419090" marR="411470" algn="ctr">
              <a:lnSpc>
                <a:spcPts val="2260"/>
              </a:lnSpc>
              <a:spcBef>
                <a:spcPts val="60"/>
              </a:spcBef>
            </a:pPr>
            <a:r>
              <a:rPr sz="2000" b="1" dirty="0">
                <a:solidFill>
                  <a:srgbClr val="FF0000"/>
                </a:solidFill>
                <a:latin typeface="Courier New" panose="02070409020205020404"/>
                <a:cs typeface="Courier New" panose="02070409020205020404"/>
              </a:rPr>
              <a:t>{ </a:t>
            </a:r>
            <a:r>
              <a:rPr sz="2000" b="1" spc="-5" dirty="0">
                <a:solidFill>
                  <a:srgbClr val="FF0000"/>
                </a:solidFill>
                <a:latin typeface="Courier New" panose="02070409020205020404"/>
                <a:cs typeface="Courier New" panose="02070409020205020404"/>
              </a:rPr>
              <a:t>b, e, </a:t>
            </a:r>
            <a:r>
              <a:rPr sz="2000" b="1" dirty="0">
                <a:solidFill>
                  <a:srgbClr val="FF0000"/>
                </a:solidFill>
                <a:latin typeface="Courier New" panose="02070409020205020404"/>
                <a:cs typeface="Courier New" panose="02070409020205020404"/>
              </a:rPr>
              <a:t>f</a:t>
            </a:r>
            <a:r>
              <a:rPr sz="2000" b="1" spc="-100" dirty="0">
                <a:solidFill>
                  <a:srgbClr val="FF0000"/>
                </a:solidFill>
                <a:latin typeface="Courier New" panose="02070409020205020404"/>
                <a:cs typeface="Courier New" panose="02070409020205020404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ourier New" panose="02070409020205020404"/>
                <a:cs typeface="Courier New" panose="02070409020205020404"/>
              </a:rPr>
              <a:t>}  </a:t>
            </a:r>
            <a:r>
              <a:rPr sz="2000" b="1" dirty="0">
                <a:solidFill>
                  <a:srgbClr val="191919"/>
                </a:solidFill>
                <a:latin typeface="Courier New" panose="02070409020205020404"/>
                <a:cs typeface="Courier New" panose="02070409020205020404"/>
              </a:rPr>
              <a:t>f = f +</a:t>
            </a:r>
            <a:r>
              <a:rPr sz="2000" b="1" spc="-100" dirty="0">
                <a:solidFill>
                  <a:srgbClr val="191919"/>
                </a:solidFill>
                <a:latin typeface="Courier New" panose="02070409020205020404"/>
                <a:cs typeface="Courier New" panose="02070409020205020404"/>
              </a:rPr>
              <a:t> </a:t>
            </a:r>
            <a:r>
              <a:rPr sz="2000" b="1" dirty="0">
                <a:solidFill>
                  <a:srgbClr val="191919"/>
                </a:solidFill>
                <a:latin typeface="Courier New" panose="02070409020205020404"/>
                <a:cs typeface="Courier New" panose="02070409020205020404"/>
              </a:rPr>
              <a:t>b</a:t>
            </a:r>
            <a:endParaRPr sz="2000">
              <a:latin typeface="Courier New" panose="02070409020205020404"/>
              <a:cs typeface="Courier New" panose="02070409020205020404"/>
            </a:endParaRPr>
          </a:p>
          <a:p>
            <a:pPr algn="ctr">
              <a:lnSpc>
                <a:spcPts val="2220"/>
              </a:lnSpc>
            </a:pPr>
            <a:r>
              <a:rPr sz="2000" b="1" dirty="0">
                <a:solidFill>
                  <a:srgbClr val="FF0000"/>
                </a:solidFill>
                <a:latin typeface="Courier New" panose="02070409020205020404"/>
                <a:cs typeface="Courier New" panose="02070409020205020404"/>
              </a:rPr>
              <a:t>{ </a:t>
            </a:r>
            <a:r>
              <a:rPr sz="2000" b="1" spc="-5" dirty="0">
                <a:solidFill>
                  <a:srgbClr val="FF0000"/>
                </a:solidFill>
                <a:latin typeface="Courier New" panose="02070409020205020404"/>
                <a:cs typeface="Courier New" panose="02070409020205020404"/>
              </a:rPr>
              <a:t>e, </a:t>
            </a:r>
            <a:r>
              <a:rPr sz="2000" b="1" dirty="0">
                <a:solidFill>
                  <a:srgbClr val="FF0000"/>
                </a:solidFill>
                <a:latin typeface="Courier New" panose="02070409020205020404"/>
                <a:cs typeface="Courier New" panose="02070409020205020404"/>
              </a:rPr>
              <a:t>f</a:t>
            </a:r>
            <a:r>
              <a:rPr sz="2000" b="1" spc="-51" dirty="0">
                <a:solidFill>
                  <a:srgbClr val="FF0000"/>
                </a:solidFill>
                <a:latin typeface="Courier New" panose="02070409020205020404"/>
                <a:cs typeface="Courier New" panose="02070409020205020404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ourier New" panose="02070409020205020404"/>
                <a:cs typeface="Courier New" panose="02070409020205020404"/>
              </a:rPr>
              <a:t>}</a:t>
            </a:r>
            <a:endParaRPr sz="2000">
              <a:latin typeface="Courier New" panose="02070409020205020404"/>
              <a:cs typeface="Courier New" panose="02070409020205020404"/>
            </a:endParaRPr>
          </a:p>
        </p:txBody>
      </p:sp>
      <p:sp>
        <p:nvSpPr>
          <p:cNvPr id="11" name="object 7"/>
          <p:cNvSpPr txBox="1"/>
          <p:nvPr/>
        </p:nvSpPr>
        <p:spPr>
          <a:xfrm>
            <a:off x="6993255" y="4236086"/>
            <a:ext cx="1600200" cy="88614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7620" rIns="0" bIns="0" rtlCol="0">
            <a:spAutoFit/>
          </a:bodyPr>
          <a:lstStyle/>
          <a:p>
            <a:pPr marL="114297" marR="106677" algn="ctr">
              <a:lnSpc>
                <a:spcPts val="2260"/>
              </a:lnSpc>
              <a:spcBef>
                <a:spcPts val="60"/>
              </a:spcBef>
            </a:pPr>
            <a:r>
              <a:rPr sz="2000" b="1" dirty="0">
                <a:solidFill>
                  <a:srgbClr val="FF0000"/>
                </a:solidFill>
                <a:latin typeface="Courier New" panose="02070409020205020404"/>
                <a:cs typeface="Courier New" panose="02070409020205020404"/>
              </a:rPr>
              <a:t>{ </a:t>
            </a:r>
            <a:r>
              <a:rPr sz="2000" b="1" spc="-5" dirty="0">
                <a:solidFill>
                  <a:srgbClr val="FF0000"/>
                </a:solidFill>
                <a:latin typeface="Courier New" panose="02070409020205020404"/>
                <a:cs typeface="Courier New" panose="02070409020205020404"/>
              </a:rPr>
              <a:t>e, </a:t>
            </a:r>
            <a:r>
              <a:rPr sz="2000" b="1" dirty="0">
                <a:solidFill>
                  <a:srgbClr val="FF0000"/>
                </a:solidFill>
                <a:latin typeface="Courier New" panose="02070409020205020404"/>
                <a:cs typeface="Courier New" panose="02070409020205020404"/>
              </a:rPr>
              <a:t>f }  </a:t>
            </a:r>
            <a:r>
              <a:rPr sz="2000" b="1" dirty="0">
                <a:solidFill>
                  <a:srgbClr val="191919"/>
                </a:solidFill>
                <a:latin typeface="Courier New" panose="02070409020205020404"/>
                <a:cs typeface="Courier New" panose="02070409020205020404"/>
              </a:rPr>
              <a:t>d = e +</a:t>
            </a:r>
            <a:r>
              <a:rPr sz="2000" b="1" spc="-120" dirty="0">
                <a:solidFill>
                  <a:srgbClr val="191919"/>
                </a:solidFill>
                <a:latin typeface="Courier New" panose="02070409020205020404"/>
                <a:cs typeface="Courier New" panose="02070409020205020404"/>
              </a:rPr>
              <a:t> </a:t>
            </a:r>
            <a:r>
              <a:rPr sz="2000" b="1" dirty="0">
                <a:solidFill>
                  <a:srgbClr val="191919"/>
                </a:solidFill>
                <a:latin typeface="Courier New" panose="02070409020205020404"/>
                <a:cs typeface="Courier New" panose="02070409020205020404"/>
              </a:rPr>
              <a:t>f</a:t>
            </a:r>
            <a:endParaRPr sz="2000">
              <a:latin typeface="Courier New" panose="02070409020205020404"/>
              <a:cs typeface="Courier New" panose="02070409020205020404"/>
            </a:endParaRPr>
          </a:p>
          <a:p>
            <a:pPr algn="ctr">
              <a:lnSpc>
                <a:spcPts val="2220"/>
              </a:lnSpc>
            </a:pPr>
            <a:r>
              <a:rPr sz="2000" b="1" dirty="0">
                <a:solidFill>
                  <a:srgbClr val="FF0000"/>
                </a:solidFill>
                <a:latin typeface="Courier New" panose="02070409020205020404"/>
                <a:cs typeface="Courier New" panose="02070409020205020404"/>
              </a:rPr>
              <a:t>{ d</a:t>
            </a:r>
            <a:r>
              <a:rPr sz="2000" b="1" spc="-55" dirty="0">
                <a:solidFill>
                  <a:srgbClr val="FF0000"/>
                </a:solidFill>
                <a:latin typeface="Courier New" panose="02070409020205020404"/>
                <a:cs typeface="Courier New" panose="02070409020205020404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ourier New" panose="02070409020205020404"/>
                <a:cs typeface="Courier New" panose="02070409020205020404"/>
              </a:rPr>
              <a:t>}</a:t>
            </a:r>
            <a:endParaRPr sz="2000">
              <a:latin typeface="Courier New" panose="02070409020205020404"/>
              <a:cs typeface="Courier New" panose="02070409020205020404"/>
            </a:endParaRPr>
          </a:p>
        </p:txBody>
      </p:sp>
      <p:sp>
        <p:nvSpPr>
          <p:cNvPr id="12" name="object 8"/>
          <p:cNvSpPr txBox="1"/>
          <p:nvPr/>
        </p:nvSpPr>
        <p:spPr>
          <a:xfrm>
            <a:off x="9736455" y="4236086"/>
            <a:ext cx="1600200" cy="88614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7620" rIns="0" bIns="0" rtlCol="0">
            <a:spAutoFit/>
          </a:bodyPr>
          <a:lstStyle/>
          <a:p>
            <a:pPr marL="114297" marR="106677" algn="ctr">
              <a:lnSpc>
                <a:spcPts val="2260"/>
              </a:lnSpc>
              <a:spcBef>
                <a:spcPts val="60"/>
              </a:spcBef>
            </a:pPr>
            <a:r>
              <a:rPr sz="2000" b="1" dirty="0">
                <a:solidFill>
                  <a:srgbClr val="FF0000"/>
                </a:solidFill>
                <a:latin typeface="Courier New" panose="02070409020205020404"/>
                <a:cs typeface="Courier New" panose="02070409020205020404"/>
              </a:rPr>
              <a:t>{ </a:t>
            </a:r>
            <a:r>
              <a:rPr sz="2000" b="1" spc="-5" dirty="0">
                <a:solidFill>
                  <a:srgbClr val="FF0000"/>
                </a:solidFill>
                <a:latin typeface="Courier New" panose="02070409020205020404"/>
                <a:cs typeface="Courier New" panose="02070409020205020404"/>
              </a:rPr>
              <a:t>e, </a:t>
            </a:r>
            <a:r>
              <a:rPr sz="2000" b="1" dirty="0">
                <a:solidFill>
                  <a:srgbClr val="FF0000"/>
                </a:solidFill>
                <a:latin typeface="Courier New" panose="02070409020205020404"/>
                <a:cs typeface="Courier New" panose="02070409020205020404"/>
              </a:rPr>
              <a:t>f }  </a:t>
            </a:r>
            <a:r>
              <a:rPr sz="2000" b="1" dirty="0">
                <a:solidFill>
                  <a:srgbClr val="191919"/>
                </a:solidFill>
                <a:latin typeface="Courier New" panose="02070409020205020404"/>
                <a:cs typeface="Courier New" panose="02070409020205020404"/>
              </a:rPr>
              <a:t>d = e –</a:t>
            </a:r>
            <a:r>
              <a:rPr sz="2000" b="1" spc="-120" dirty="0">
                <a:solidFill>
                  <a:srgbClr val="191919"/>
                </a:solidFill>
                <a:latin typeface="Courier New" panose="02070409020205020404"/>
                <a:cs typeface="Courier New" panose="02070409020205020404"/>
              </a:rPr>
              <a:t> </a:t>
            </a:r>
            <a:r>
              <a:rPr sz="2000" b="1" dirty="0">
                <a:solidFill>
                  <a:srgbClr val="191919"/>
                </a:solidFill>
                <a:latin typeface="Courier New" panose="02070409020205020404"/>
                <a:cs typeface="Courier New" panose="02070409020205020404"/>
              </a:rPr>
              <a:t>f</a:t>
            </a:r>
            <a:endParaRPr sz="2000">
              <a:latin typeface="Courier New" panose="02070409020205020404"/>
              <a:cs typeface="Courier New" panose="02070409020205020404"/>
            </a:endParaRPr>
          </a:p>
          <a:p>
            <a:pPr algn="ctr">
              <a:lnSpc>
                <a:spcPts val="2220"/>
              </a:lnSpc>
            </a:pPr>
            <a:r>
              <a:rPr sz="2000" b="1" dirty="0">
                <a:solidFill>
                  <a:srgbClr val="FF0000"/>
                </a:solidFill>
                <a:latin typeface="Courier New" panose="02070409020205020404"/>
                <a:cs typeface="Courier New" panose="02070409020205020404"/>
              </a:rPr>
              <a:t>{ d</a:t>
            </a:r>
            <a:r>
              <a:rPr sz="2000" b="1" spc="-55" dirty="0">
                <a:solidFill>
                  <a:srgbClr val="FF0000"/>
                </a:solidFill>
                <a:latin typeface="Courier New" panose="02070409020205020404"/>
                <a:cs typeface="Courier New" panose="02070409020205020404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ourier New" panose="02070409020205020404"/>
                <a:cs typeface="Courier New" panose="02070409020205020404"/>
              </a:rPr>
              <a:t>}</a:t>
            </a:r>
            <a:endParaRPr sz="2000">
              <a:latin typeface="Courier New" panose="02070409020205020404"/>
              <a:cs typeface="Courier New" panose="02070409020205020404"/>
            </a:endParaRPr>
          </a:p>
        </p:txBody>
      </p:sp>
      <p:grpSp>
        <p:nvGrpSpPr>
          <p:cNvPr id="13" name="object 9"/>
          <p:cNvGrpSpPr/>
          <p:nvPr/>
        </p:nvGrpSpPr>
        <p:grpSpPr>
          <a:xfrm>
            <a:off x="9110347" y="1035051"/>
            <a:ext cx="107951" cy="457835"/>
            <a:chOff x="2574289" y="1828164"/>
            <a:chExt cx="107950" cy="457834"/>
          </a:xfrm>
        </p:grpSpPr>
        <p:sp>
          <p:nvSpPr>
            <p:cNvPr id="14" name="object 10"/>
            <p:cNvSpPr/>
            <p:nvPr/>
          </p:nvSpPr>
          <p:spPr>
            <a:xfrm>
              <a:off x="2628899" y="1828799"/>
              <a:ext cx="0" cy="302260"/>
            </a:xfrm>
            <a:custGeom>
              <a:avLst/>
              <a:gdLst/>
              <a:ahLst/>
              <a:cxnLst/>
              <a:rect l="l" t="t" r="r" b="b"/>
              <a:pathLst>
                <a:path h="302260">
                  <a:moveTo>
                    <a:pt x="0" y="0"/>
                  </a:moveTo>
                  <a:lnTo>
                    <a:pt x="0" y="30226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1"/>
            <p:cNvSpPr/>
            <p:nvPr/>
          </p:nvSpPr>
          <p:spPr>
            <a:xfrm>
              <a:off x="2574289" y="2123439"/>
              <a:ext cx="107950" cy="162560"/>
            </a:xfrm>
            <a:custGeom>
              <a:avLst/>
              <a:gdLst/>
              <a:ahLst/>
              <a:cxnLst/>
              <a:rect l="l" t="t" r="r" b="b"/>
              <a:pathLst>
                <a:path w="107950" h="162560">
                  <a:moveTo>
                    <a:pt x="107950" y="0"/>
                  </a:moveTo>
                  <a:lnTo>
                    <a:pt x="0" y="0"/>
                  </a:lnTo>
                  <a:lnTo>
                    <a:pt x="54610" y="162560"/>
                  </a:lnTo>
                  <a:lnTo>
                    <a:pt x="10795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12"/>
          <p:cNvGrpSpPr/>
          <p:nvPr/>
        </p:nvGrpSpPr>
        <p:grpSpPr>
          <a:xfrm>
            <a:off x="9110347" y="2407285"/>
            <a:ext cx="107951" cy="457200"/>
            <a:chOff x="2574289" y="3200400"/>
            <a:chExt cx="107950" cy="457200"/>
          </a:xfrm>
        </p:grpSpPr>
        <p:sp>
          <p:nvSpPr>
            <p:cNvPr id="17" name="object 13"/>
            <p:cNvSpPr/>
            <p:nvPr/>
          </p:nvSpPr>
          <p:spPr>
            <a:xfrm>
              <a:off x="2628899" y="3200400"/>
              <a:ext cx="0" cy="302260"/>
            </a:xfrm>
            <a:custGeom>
              <a:avLst/>
              <a:gdLst/>
              <a:ahLst/>
              <a:cxnLst/>
              <a:rect l="l" t="t" r="r" b="b"/>
              <a:pathLst>
                <a:path h="302260">
                  <a:moveTo>
                    <a:pt x="0" y="0"/>
                  </a:moveTo>
                  <a:lnTo>
                    <a:pt x="0" y="30226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4"/>
            <p:cNvSpPr/>
            <p:nvPr/>
          </p:nvSpPr>
          <p:spPr>
            <a:xfrm>
              <a:off x="2574289" y="3495040"/>
              <a:ext cx="107950" cy="162560"/>
            </a:xfrm>
            <a:custGeom>
              <a:avLst/>
              <a:gdLst/>
              <a:ahLst/>
              <a:cxnLst/>
              <a:rect l="l" t="t" r="r" b="b"/>
              <a:pathLst>
                <a:path w="107950" h="162560">
                  <a:moveTo>
                    <a:pt x="107950" y="0"/>
                  </a:moveTo>
                  <a:lnTo>
                    <a:pt x="0" y="0"/>
                  </a:lnTo>
                  <a:lnTo>
                    <a:pt x="54610" y="162560"/>
                  </a:lnTo>
                  <a:lnTo>
                    <a:pt x="10795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9" name="object 15"/>
          <p:cNvGrpSpPr/>
          <p:nvPr/>
        </p:nvGrpSpPr>
        <p:grpSpPr>
          <a:xfrm>
            <a:off x="7793355" y="3778251"/>
            <a:ext cx="2743200" cy="457835"/>
            <a:chOff x="1257300" y="4571365"/>
            <a:chExt cx="2743200" cy="457834"/>
          </a:xfrm>
        </p:grpSpPr>
        <p:sp>
          <p:nvSpPr>
            <p:cNvPr id="20" name="object 16"/>
            <p:cNvSpPr/>
            <p:nvPr/>
          </p:nvSpPr>
          <p:spPr>
            <a:xfrm>
              <a:off x="1404620" y="4572000"/>
              <a:ext cx="1224280" cy="407670"/>
            </a:xfrm>
            <a:custGeom>
              <a:avLst/>
              <a:gdLst/>
              <a:ahLst/>
              <a:cxnLst/>
              <a:rect l="l" t="t" r="r" b="b"/>
              <a:pathLst>
                <a:path w="1224280" h="407670">
                  <a:moveTo>
                    <a:pt x="1224280" y="0"/>
                  </a:moveTo>
                  <a:lnTo>
                    <a:pt x="0" y="40766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17"/>
            <p:cNvSpPr/>
            <p:nvPr/>
          </p:nvSpPr>
          <p:spPr>
            <a:xfrm>
              <a:off x="1257300" y="4926330"/>
              <a:ext cx="170180" cy="102870"/>
            </a:xfrm>
            <a:custGeom>
              <a:avLst/>
              <a:gdLst/>
              <a:ahLst/>
              <a:cxnLst/>
              <a:rect l="l" t="t" r="r" b="b"/>
              <a:pathLst>
                <a:path w="170180" h="102870">
                  <a:moveTo>
                    <a:pt x="135890" y="0"/>
                  </a:moveTo>
                  <a:lnTo>
                    <a:pt x="0" y="102870"/>
                  </a:lnTo>
                  <a:lnTo>
                    <a:pt x="170180" y="102870"/>
                  </a:lnTo>
                  <a:lnTo>
                    <a:pt x="13589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18"/>
            <p:cNvSpPr/>
            <p:nvPr/>
          </p:nvSpPr>
          <p:spPr>
            <a:xfrm>
              <a:off x="2628900" y="4572000"/>
              <a:ext cx="1224280" cy="407670"/>
            </a:xfrm>
            <a:custGeom>
              <a:avLst/>
              <a:gdLst/>
              <a:ahLst/>
              <a:cxnLst/>
              <a:rect l="l" t="t" r="r" b="b"/>
              <a:pathLst>
                <a:path w="1224279" h="407670">
                  <a:moveTo>
                    <a:pt x="0" y="0"/>
                  </a:moveTo>
                  <a:lnTo>
                    <a:pt x="1224279" y="40766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19"/>
            <p:cNvSpPr/>
            <p:nvPr/>
          </p:nvSpPr>
          <p:spPr>
            <a:xfrm>
              <a:off x="3829050" y="4926330"/>
              <a:ext cx="171450" cy="102870"/>
            </a:xfrm>
            <a:custGeom>
              <a:avLst/>
              <a:gdLst/>
              <a:ahLst/>
              <a:cxnLst/>
              <a:rect l="l" t="t" r="r" b="b"/>
              <a:pathLst>
                <a:path w="171450" h="102870">
                  <a:moveTo>
                    <a:pt x="34289" y="0"/>
                  </a:moveTo>
                  <a:lnTo>
                    <a:pt x="0" y="102870"/>
                  </a:lnTo>
                  <a:lnTo>
                    <a:pt x="171450" y="102870"/>
                  </a:lnTo>
                  <a:lnTo>
                    <a:pt x="3428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4" name="object 20"/>
          <p:cNvGrpSpPr/>
          <p:nvPr/>
        </p:nvGrpSpPr>
        <p:grpSpPr>
          <a:xfrm>
            <a:off x="7792721" y="5149853"/>
            <a:ext cx="2744471" cy="1372235"/>
            <a:chOff x="1256664" y="5942965"/>
            <a:chExt cx="2744470" cy="1372235"/>
          </a:xfrm>
        </p:grpSpPr>
        <p:sp>
          <p:nvSpPr>
            <p:cNvPr id="25" name="object 21"/>
            <p:cNvSpPr/>
            <p:nvPr/>
          </p:nvSpPr>
          <p:spPr>
            <a:xfrm>
              <a:off x="1828799" y="6400800"/>
              <a:ext cx="1600200" cy="914400"/>
            </a:xfrm>
            <a:custGeom>
              <a:avLst/>
              <a:gdLst/>
              <a:ahLst/>
              <a:cxnLst/>
              <a:rect l="l" t="t" r="r" b="b"/>
              <a:pathLst>
                <a:path w="1600200" h="914400">
                  <a:moveTo>
                    <a:pt x="800100" y="914400"/>
                  </a:moveTo>
                  <a:lnTo>
                    <a:pt x="0" y="914400"/>
                  </a:lnTo>
                  <a:lnTo>
                    <a:pt x="0" y="0"/>
                  </a:lnTo>
                  <a:lnTo>
                    <a:pt x="1600200" y="0"/>
                  </a:lnTo>
                  <a:lnTo>
                    <a:pt x="1600200" y="914400"/>
                  </a:lnTo>
                  <a:lnTo>
                    <a:pt x="800100" y="91440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2"/>
            <p:cNvSpPr/>
            <p:nvPr/>
          </p:nvSpPr>
          <p:spPr>
            <a:xfrm>
              <a:off x="1257299" y="5943600"/>
              <a:ext cx="1224280" cy="407670"/>
            </a:xfrm>
            <a:custGeom>
              <a:avLst/>
              <a:gdLst/>
              <a:ahLst/>
              <a:cxnLst/>
              <a:rect l="l" t="t" r="r" b="b"/>
              <a:pathLst>
                <a:path w="1224280" h="407670">
                  <a:moveTo>
                    <a:pt x="0" y="0"/>
                  </a:moveTo>
                  <a:lnTo>
                    <a:pt x="1224280" y="40766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3"/>
            <p:cNvSpPr/>
            <p:nvPr/>
          </p:nvSpPr>
          <p:spPr>
            <a:xfrm>
              <a:off x="2457450" y="6297930"/>
              <a:ext cx="171450" cy="102870"/>
            </a:xfrm>
            <a:custGeom>
              <a:avLst/>
              <a:gdLst/>
              <a:ahLst/>
              <a:cxnLst/>
              <a:rect l="l" t="t" r="r" b="b"/>
              <a:pathLst>
                <a:path w="171450" h="102870">
                  <a:moveTo>
                    <a:pt x="34289" y="0"/>
                  </a:moveTo>
                  <a:lnTo>
                    <a:pt x="0" y="102870"/>
                  </a:lnTo>
                  <a:lnTo>
                    <a:pt x="171450" y="102870"/>
                  </a:lnTo>
                  <a:lnTo>
                    <a:pt x="3428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4"/>
            <p:cNvSpPr/>
            <p:nvPr/>
          </p:nvSpPr>
          <p:spPr>
            <a:xfrm>
              <a:off x="2776219" y="5943600"/>
              <a:ext cx="1224280" cy="407670"/>
            </a:xfrm>
            <a:custGeom>
              <a:avLst/>
              <a:gdLst/>
              <a:ahLst/>
              <a:cxnLst/>
              <a:rect l="l" t="t" r="r" b="b"/>
              <a:pathLst>
                <a:path w="1224279" h="407670">
                  <a:moveTo>
                    <a:pt x="1224280" y="0"/>
                  </a:moveTo>
                  <a:lnTo>
                    <a:pt x="0" y="40766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5"/>
            <p:cNvSpPr/>
            <p:nvPr/>
          </p:nvSpPr>
          <p:spPr>
            <a:xfrm>
              <a:off x="2628900" y="6297930"/>
              <a:ext cx="170180" cy="102870"/>
            </a:xfrm>
            <a:custGeom>
              <a:avLst/>
              <a:gdLst/>
              <a:ahLst/>
              <a:cxnLst/>
              <a:rect l="l" t="t" r="r" b="b"/>
              <a:pathLst>
                <a:path w="170180" h="102870">
                  <a:moveTo>
                    <a:pt x="135889" y="0"/>
                  </a:moveTo>
                  <a:lnTo>
                    <a:pt x="0" y="102870"/>
                  </a:lnTo>
                  <a:lnTo>
                    <a:pt x="170180" y="102870"/>
                  </a:lnTo>
                  <a:lnTo>
                    <a:pt x="13588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8771255" y="5621017"/>
            <a:ext cx="787400" cy="8624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5"/>
              </a:lnSpc>
            </a:pPr>
            <a:r>
              <a:rPr sz="2000" b="1" dirty="0">
                <a:solidFill>
                  <a:srgbClr val="FF0000"/>
                </a:solidFill>
                <a:latin typeface="Courier New" panose="02070409020205020404"/>
                <a:cs typeface="Courier New" panose="02070409020205020404"/>
              </a:rPr>
              <a:t>{ d</a:t>
            </a:r>
            <a:r>
              <a:rPr sz="2000" b="1" spc="-111" dirty="0">
                <a:solidFill>
                  <a:srgbClr val="FF0000"/>
                </a:solidFill>
                <a:latin typeface="Courier New" panose="02070409020205020404"/>
                <a:cs typeface="Courier New" panose="02070409020205020404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ourier New" panose="02070409020205020404"/>
                <a:cs typeface="Courier New" panose="02070409020205020404"/>
              </a:rPr>
              <a:t>}</a:t>
            </a:r>
            <a:endParaRPr sz="2000">
              <a:latin typeface="Courier New" panose="02070409020205020404"/>
              <a:cs typeface="Courier New" panose="02070409020205020404"/>
            </a:endParaRPr>
          </a:p>
          <a:p>
            <a:pPr marL="12700">
              <a:lnSpc>
                <a:spcPts val="2265"/>
              </a:lnSpc>
            </a:pPr>
            <a:r>
              <a:rPr sz="2000" b="1" dirty="0">
                <a:solidFill>
                  <a:srgbClr val="191919"/>
                </a:solidFill>
                <a:latin typeface="Courier New" panose="02070409020205020404"/>
                <a:cs typeface="Courier New" panose="02070409020205020404"/>
              </a:rPr>
              <a:t>g =</a:t>
            </a:r>
            <a:r>
              <a:rPr sz="2000" b="1" spc="-111" dirty="0">
                <a:solidFill>
                  <a:srgbClr val="191919"/>
                </a:solidFill>
                <a:latin typeface="Courier New" panose="02070409020205020404"/>
                <a:cs typeface="Courier New" panose="02070409020205020404"/>
              </a:rPr>
              <a:t> </a:t>
            </a:r>
            <a:r>
              <a:rPr sz="2000" b="1" dirty="0">
                <a:solidFill>
                  <a:srgbClr val="191919"/>
                </a:solidFill>
                <a:latin typeface="Courier New" panose="02070409020205020404"/>
                <a:cs typeface="Courier New" panose="02070409020205020404"/>
              </a:rPr>
              <a:t>d</a:t>
            </a:r>
            <a:endParaRPr sz="2000">
              <a:latin typeface="Courier New" panose="02070409020205020404"/>
              <a:cs typeface="Courier New" panose="02070409020205020404"/>
            </a:endParaRPr>
          </a:p>
          <a:p>
            <a:pPr marL="12700">
              <a:lnSpc>
                <a:spcPts val="2335"/>
              </a:lnSpc>
            </a:pPr>
            <a:r>
              <a:rPr sz="2000" b="1" dirty="0">
                <a:solidFill>
                  <a:srgbClr val="FF0000"/>
                </a:solidFill>
                <a:latin typeface="Courier New" panose="02070409020205020404"/>
                <a:cs typeface="Courier New" panose="02070409020205020404"/>
              </a:rPr>
              <a:t>{ g</a:t>
            </a:r>
            <a:r>
              <a:rPr sz="2000" b="1" spc="-111" dirty="0">
                <a:solidFill>
                  <a:srgbClr val="FF0000"/>
                </a:solidFill>
                <a:latin typeface="Courier New" panose="02070409020205020404"/>
                <a:cs typeface="Courier New" panose="02070409020205020404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ourier New" panose="02070409020205020404"/>
                <a:cs typeface="Courier New" panose="02070409020205020404"/>
              </a:rPr>
              <a:t>}</a:t>
            </a:r>
            <a:endParaRPr sz="2000">
              <a:latin typeface="Courier New" panose="02070409020205020404"/>
              <a:cs typeface="Courier New" panose="02070409020205020404"/>
            </a:endParaRPr>
          </a:p>
        </p:txBody>
      </p:sp>
      <p:grpSp>
        <p:nvGrpSpPr>
          <p:cNvPr id="46" name="组合 45"/>
          <p:cNvGrpSpPr/>
          <p:nvPr/>
        </p:nvGrpSpPr>
        <p:grpSpPr>
          <a:xfrm>
            <a:off x="1216025" y="2656206"/>
            <a:ext cx="3657600" cy="3225800"/>
            <a:chOff x="1915" y="4701"/>
            <a:chExt cx="5760" cy="5080"/>
          </a:xfrm>
        </p:grpSpPr>
        <p:sp>
          <p:nvSpPr>
            <p:cNvPr id="31" name="object 25"/>
            <p:cNvSpPr/>
            <p:nvPr/>
          </p:nvSpPr>
          <p:spPr>
            <a:xfrm>
              <a:off x="1915" y="6181"/>
              <a:ext cx="720" cy="72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275614" y="4509"/>
                  </a:lnTo>
                  <a:lnTo>
                    <a:pt x="318968" y="17502"/>
                  </a:lnTo>
                  <a:lnTo>
                    <a:pt x="357857" y="38174"/>
                  </a:lnTo>
                  <a:lnTo>
                    <a:pt x="391477" y="65722"/>
                  </a:lnTo>
                  <a:lnTo>
                    <a:pt x="419025" y="99342"/>
                  </a:lnTo>
                  <a:lnTo>
                    <a:pt x="439697" y="138231"/>
                  </a:lnTo>
                  <a:lnTo>
                    <a:pt x="452690" y="181585"/>
                  </a:lnTo>
                  <a:lnTo>
                    <a:pt x="457200" y="228600"/>
                  </a:lnTo>
                  <a:lnTo>
                    <a:pt x="452690" y="275614"/>
                  </a:lnTo>
                  <a:lnTo>
                    <a:pt x="439697" y="318968"/>
                  </a:lnTo>
                  <a:lnTo>
                    <a:pt x="419025" y="357857"/>
                  </a:lnTo>
                  <a:lnTo>
                    <a:pt x="391477" y="391477"/>
                  </a:lnTo>
                  <a:lnTo>
                    <a:pt x="357857" y="419025"/>
                  </a:lnTo>
                  <a:lnTo>
                    <a:pt x="318968" y="439697"/>
                  </a:lnTo>
                  <a:lnTo>
                    <a:pt x="275614" y="452690"/>
                  </a:lnTo>
                  <a:lnTo>
                    <a:pt x="228600" y="457200"/>
                  </a:lnTo>
                  <a:lnTo>
                    <a:pt x="181585" y="452690"/>
                  </a:lnTo>
                  <a:lnTo>
                    <a:pt x="138231" y="439697"/>
                  </a:lnTo>
                  <a:lnTo>
                    <a:pt x="99342" y="419025"/>
                  </a:lnTo>
                  <a:lnTo>
                    <a:pt x="65722" y="391477"/>
                  </a:lnTo>
                  <a:lnTo>
                    <a:pt x="38174" y="357857"/>
                  </a:lnTo>
                  <a:lnTo>
                    <a:pt x="17502" y="318968"/>
                  </a:lnTo>
                  <a:lnTo>
                    <a:pt x="4509" y="275614"/>
                  </a:lnTo>
                  <a:lnTo>
                    <a:pt x="0" y="228600"/>
                  </a:lnTo>
                  <a:lnTo>
                    <a:pt x="4509" y="181585"/>
                  </a:lnTo>
                  <a:lnTo>
                    <a:pt x="17502" y="138231"/>
                  </a:lnTo>
                  <a:lnTo>
                    <a:pt x="38174" y="99342"/>
                  </a:lnTo>
                  <a:lnTo>
                    <a:pt x="65722" y="65722"/>
                  </a:lnTo>
                  <a:lnTo>
                    <a:pt x="99342" y="38174"/>
                  </a:lnTo>
                  <a:lnTo>
                    <a:pt x="138231" y="17502"/>
                  </a:lnTo>
                  <a:lnTo>
                    <a:pt x="181585" y="4509"/>
                  </a:lnTo>
                  <a:lnTo>
                    <a:pt x="228600" y="0"/>
                  </a:lnTo>
                  <a:close/>
                </a:path>
                <a:path w="457200" h="457200">
                  <a:moveTo>
                    <a:pt x="0" y="0"/>
                  </a:moveTo>
                  <a:lnTo>
                    <a:pt x="0" y="0"/>
                  </a:lnTo>
                </a:path>
                <a:path w="457200" h="457200">
                  <a:moveTo>
                    <a:pt x="457200" y="457200"/>
                  </a:moveTo>
                  <a:lnTo>
                    <a:pt x="457200" y="457200"/>
                  </a:lnTo>
                </a:path>
              </a:pathLst>
            </a:custGeom>
            <a:solidFill>
              <a:srgbClr val="FFFF00"/>
            </a:solidFill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26"/>
            <p:cNvSpPr txBox="1"/>
            <p:nvPr/>
          </p:nvSpPr>
          <p:spPr>
            <a:xfrm>
              <a:off x="2099" y="6141"/>
              <a:ext cx="353" cy="65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spcBef>
                  <a:spcPts val="100"/>
                </a:spcBef>
              </a:pPr>
              <a:r>
                <a:rPr sz="2600" b="1" dirty="0">
                  <a:solidFill>
                    <a:srgbClr val="191919"/>
                  </a:solidFill>
                  <a:latin typeface="Courier New" panose="02070409020205020404"/>
                  <a:cs typeface="Courier New" panose="02070409020205020404"/>
                </a:rPr>
                <a:t>a</a:t>
              </a:r>
              <a:endParaRPr sz="2600">
                <a:latin typeface="Courier New" panose="02070409020205020404"/>
                <a:cs typeface="Courier New" panose="02070409020205020404"/>
              </a:endParaRPr>
            </a:p>
          </p:txBody>
        </p:sp>
        <p:sp>
          <p:nvSpPr>
            <p:cNvPr id="33" name="object 27"/>
            <p:cNvSpPr/>
            <p:nvPr/>
          </p:nvSpPr>
          <p:spPr>
            <a:xfrm>
              <a:off x="3355" y="4741"/>
              <a:ext cx="720" cy="72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275614" y="4509"/>
                  </a:lnTo>
                  <a:lnTo>
                    <a:pt x="318968" y="17502"/>
                  </a:lnTo>
                  <a:lnTo>
                    <a:pt x="357857" y="38174"/>
                  </a:lnTo>
                  <a:lnTo>
                    <a:pt x="391477" y="65722"/>
                  </a:lnTo>
                  <a:lnTo>
                    <a:pt x="419025" y="99342"/>
                  </a:lnTo>
                  <a:lnTo>
                    <a:pt x="439697" y="138231"/>
                  </a:lnTo>
                  <a:lnTo>
                    <a:pt x="452690" y="181585"/>
                  </a:lnTo>
                  <a:lnTo>
                    <a:pt x="457200" y="228600"/>
                  </a:lnTo>
                  <a:lnTo>
                    <a:pt x="452690" y="275614"/>
                  </a:lnTo>
                  <a:lnTo>
                    <a:pt x="439697" y="318968"/>
                  </a:lnTo>
                  <a:lnTo>
                    <a:pt x="419025" y="357857"/>
                  </a:lnTo>
                  <a:lnTo>
                    <a:pt x="391477" y="391477"/>
                  </a:lnTo>
                  <a:lnTo>
                    <a:pt x="357857" y="419025"/>
                  </a:lnTo>
                  <a:lnTo>
                    <a:pt x="318968" y="439697"/>
                  </a:lnTo>
                  <a:lnTo>
                    <a:pt x="275614" y="452690"/>
                  </a:lnTo>
                  <a:lnTo>
                    <a:pt x="228600" y="457200"/>
                  </a:lnTo>
                  <a:lnTo>
                    <a:pt x="181585" y="452690"/>
                  </a:lnTo>
                  <a:lnTo>
                    <a:pt x="138231" y="439697"/>
                  </a:lnTo>
                  <a:lnTo>
                    <a:pt x="99342" y="419025"/>
                  </a:lnTo>
                  <a:lnTo>
                    <a:pt x="65722" y="391477"/>
                  </a:lnTo>
                  <a:lnTo>
                    <a:pt x="38174" y="357857"/>
                  </a:lnTo>
                  <a:lnTo>
                    <a:pt x="17502" y="318968"/>
                  </a:lnTo>
                  <a:lnTo>
                    <a:pt x="4509" y="275614"/>
                  </a:lnTo>
                  <a:lnTo>
                    <a:pt x="0" y="228600"/>
                  </a:lnTo>
                  <a:lnTo>
                    <a:pt x="4509" y="181585"/>
                  </a:lnTo>
                  <a:lnTo>
                    <a:pt x="17502" y="138231"/>
                  </a:lnTo>
                  <a:lnTo>
                    <a:pt x="38174" y="99342"/>
                  </a:lnTo>
                  <a:lnTo>
                    <a:pt x="65722" y="65722"/>
                  </a:lnTo>
                  <a:lnTo>
                    <a:pt x="99342" y="38174"/>
                  </a:lnTo>
                  <a:lnTo>
                    <a:pt x="138231" y="17502"/>
                  </a:lnTo>
                  <a:lnTo>
                    <a:pt x="181585" y="4509"/>
                  </a:lnTo>
                  <a:lnTo>
                    <a:pt x="228600" y="0"/>
                  </a:lnTo>
                  <a:close/>
                </a:path>
                <a:path w="457200" h="457200">
                  <a:moveTo>
                    <a:pt x="0" y="0"/>
                  </a:moveTo>
                  <a:lnTo>
                    <a:pt x="0" y="0"/>
                  </a:lnTo>
                </a:path>
                <a:path w="457200" h="457200">
                  <a:moveTo>
                    <a:pt x="457200" y="457200"/>
                  </a:moveTo>
                  <a:lnTo>
                    <a:pt x="457200" y="457200"/>
                  </a:lnTo>
                </a:path>
              </a:pathLst>
            </a:custGeom>
            <a:solidFill>
              <a:srgbClr val="00FFFF"/>
            </a:solidFill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28"/>
            <p:cNvSpPr txBox="1"/>
            <p:nvPr/>
          </p:nvSpPr>
          <p:spPr>
            <a:xfrm>
              <a:off x="3539" y="4701"/>
              <a:ext cx="353" cy="65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spcBef>
                  <a:spcPts val="100"/>
                </a:spcBef>
              </a:pPr>
              <a:r>
                <a:rPr sz="2600" b="1" dirty="0">
                  <a:solidFill>
                    <a:srgbClr val="191919"/>
                  </a:solidFill>
                  <a:latin typeface="Courier New" panose="02070409020205020404"/>
                  <a:cs typeface="Courier New" panose="02070409020205020404"/>
                </a:rPr>
                <a:t>b</a:t>
              </a:r>
              <a:endParaRPr sz="2600">
                <a:latin typeface="Courier New" panose="02070409020205020404"/>
                <a:cs typeface="Courier New" panose="02070409020205020404"/>
              </a:endParaRPr>
            </a:p>
          </p:txBody>
        </p:sp>
        <p:sp>
          <p:nvSpPr>
            <p:cNvPr id="35" name="object 29"/>
            <p:cNvSpPr/>
            <p:nvPr/>
          </p:nvSpPr>
          <p:spPr>
            <a:xfrm>
              <a:off x="5515" y="4741"/>
              <a:ext cx="720" cy="72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275614" y="4509"/>
                  </a:lnTo>
                  <a:lnTo>
                    <a:pt x="318968" y="17502"/>
                  </a:lnTo>
                  <a:lnTo>
                    <a:pt x="357857" y="38174"/>
                  </a:lnTo>
                  <a:lnTo>
                    <a:pt x="391477" y="65722"/>
                  </a:lnTo>
                  <a:lnTo>
                    <a:pt x="419025" y="99342"/>
                  </a:lnTo>
                  <a:lnTo>
                    <a:pt x="439697" y="138231"/>
                  </a:lnTo>
                  <a:lnTo>
                    <a:pt x="452690" y="181585"/>
                  </a:lnTo>
                  <a:lnTo>
                    <a:pt x="457200" y="228600"/>
                  </a:lnTo>
                  <a:lnTo>
                    <a:pt x="452690" y="275614"/>
                  </a:lnTo>
                  <a:lnTo>
                    <a:pt x="439697" y="318968"/>
                  </a:lnTo>
                  <a:lnTo>
                    <a:pt x="419025" y="357857"/>
                  </a:lnTo>
                  <a:lnTo>
                    <a:pt x="391477" y="391477"/>
                  </a:lnTo>
                  <a:lnTo>
                    <a:pt x="357857" y="419025"/>
                  </a:lnTo>
                  <a:lnTo>
                    <a:pt x="318968" y="439697"/>
                  </a:lnTo>
                  <a:lnTo>
                    <a:pt x="275614" y="452690"/>
                  </a:lnTo>
                  <a:lnTo>
                    <a:pt x="228600" y="457200"/>
                  </a:lnTo>
                  <a:lnTo>
                    <a:pt x="181585" y="452690"/>
                  </a:lnTo>
                  <a:lnTo>
                    <a:pt x="138231" y="439697"/>
                  </a:lnTo>
                  <a:lnTo>
                    <a:pt x="99342" y="419025"/>
                  </a:lnTo>
                  <a:lnTo>
                    <a:pt x="65722" y="391477"/>
                  </a:lnTo>
                  <a:lnTo>
                    <a:pt x="38174" y="357857"/>
                  </a:lnTo>
                  <a:lnTo>
                    <a:pt x="17502" y="318968"/>
                  </a:lnTo>
                  <a:lnTo>
                    <a:pt x="4509" y="275614"/>
                  </a:lnTo>
                  <a:lnTo>
                    <a:pt x="0" y="228600"/>
                  </a:lnTo>
                  <a:lnTo>
                    <a:pt x="4509" y="181585"/>
                  </a:lnTo>
                  <a:lnTo>
                    <a:pt x="17502" y="138231"/>
                  </a:lnTo>
                  <a:lnTo>
                    <a:pt x="38174" y="99342"/>
                  </a:lnTo>
                  <a:lnTo>
                    <a:pt x="65722" y="65722"/>
                  </a:lnTo>
                  <a:lnTo>
                    <a:pt x="99342" y="38174"/>
                  </a:lnTo>
                  <a:lnTo>
                    <a:pt x="138231" y="17502"/>
                  </a:lnTo>
                  <a:lnTo>
                    <a:pt x="181585" y="4509"/>
                  </a:lnTo>
                  <a:lnTo>
                    <a:pt x="228600" y="0"/>
                  </a:lnTo>
                  <a:close/>
                </a:path>
                <a:path w="457200" h="457200">
                  <a:moveTo>
                    <a:pt x="0" y="0"/>
                  </a:moveTo>
                  <a:lnTo>
                    <a:pt x="0" y="0"/>
                  </a:lnTo>
                </a:path>
                <a:path w="457200" h="457200">
                  <a:moveTo>
                    <a:pt x="457200" y="457200"/>
                  </a:moveTo>
                  <a:lnTo>
                    <a:pt x="457200" y="457200"/>
                  </a:lnTo>
                </a:path>
              </a:pathLst>
            </a:custGeom>
            <a:solidFill>
              <a:srgbClr val="FF00FF"/>
            </a:solidFill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0"/>
            <p:cNvSpPr txBox="1"/>
            <p:nvPr/>
          </p:nvSpPr>
          <p:spPr>
            <a:xfrm>
              <a:off x="5699" y="4701"/>
              <a:ext cx="353" cy="65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spcBef>
                  <a:spcPts val="100"/>
                </a:spcBef>
              </a:pPr>
              <a:r>
                <a:rPr sz="2600" b="1" dirty="0">
                  <a:solidFill>
                    <a:srgbClr val="191919"/>
                  </a:solidFill>
                  <a:latin typeface="Courier New" panose="02070409020205020404"/>
                  <a:cs typeface="Courier New" panose="02070409020205020404"/>
                </a:rPr>
                <a:t>c</a:t>
              </a:r>
              <a:endParaRPr sz="2600">
                <a:latin typeface="Courier New" panose="02070409020205020404"/>
                <a:cs typeface="Courier New" panose="02070409020205020404"/>
              </a:endParaRPr>
            </a:p>
          </p:txBody>
        </p:sp>
        <p:sp>
          <p:nvSpPr>
            <p:cNvPr id="37" name="object 31"/>
            <p:cNvSpPr/>
            <p:nvPr/>
          </p:nvSpPr>
          <p:spPr>
            <a:xfrm>
              <a:off x="6955" y="6181"/>
              <a:ext cx="720" cy="72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275614" y="4509"/>
                  </a:lnTo>
                  <a:lnTo>
                    <a:pt x="318968" y="17502"/>
                  </a:lnTo>
                  <a:lnTo>
                    <a:pt x="357857" y="38174"/>
                  </a:lnTo>
                  <a:lnTo>
                    <a:pt x="391477" y="65722"/>
                  </a:lnTo>
                  <a:lnTo>
                    <a:pt x="419025" y="99342"/>
                  </a:lnTo>
                  <a:lnTo>
                    <a:pt x="439697" y="138231"/>
                  </a:lnTo>
                  <a:lnTo>
                    <a:pt x="452690" y="181585"/>
                  </a:lnTo>
                  <a:lnTo>
                    <a:pt x="457200" y="228600"/>
                  </a:lnTo>
                  <a:lnTo>
                    <a:pt x="452690" y="275614"/>
                  </a:lnTo>
                  <a:lnTo>
                    <a:pt x="439697" y="318968"/>
                  </a:lnTo>
                  <a:lnTo>
                    <a:pt x="419025" y="357857"/>
                  </a:lnTo>
                  <a:lnTo>
                    <a:pt x="391477" y="391477"/>
                  </a:lnTo>
                  <a:lnTo>
                    <a:pt x="357857" y="419025"/>
                  </a:lnTo>
                  <a:lnTo>
                    <a:pt x="318968" y="439697"/>
                  </a:lnTo>
                  <a:lnTo>
                    <a:pt x="275614" y="452690"/>
                  </a:lnTo>
                  <a:lnTo>
                    <a:pt x="228600" y="457200"/>
                  </a:lnTo>
                  <a:lnTo>
                    <a:pt x="181585" y="452690"/>
                  </a:lnTo>
                  <a:lnTo>
                    <a:pt x="138231" y="439697"/>
                  </a:lnTo>
                  <a:lnTo>
                    <a:pt x="99342" y="419025"/>
                  </a:lnTo>
                  <a:lnTo>
                    <a:pt x="65722" y="391477"/>
                  </a:lnTo>
                  <a:lnTo>
                    <a:pt x="38174" y="357857"/>
                  </a:lnTo>
                  <a:lnTo>
                    <a:pt x="17502" y="318968"/>
                  </a:lnTo>
                  <a:lnTo>
                    <a:pt x="4509" y="275614"/>
                  </a:lnTo>
                  <a:lnTo>
                    <a:pt x="0" y="228600"/>
                  </a:lnTo>
                  <a:lnTo>
                    <a:pt x="4509" y="181585"/>
                  </a:lnTo>
                  <a:lnTo>
                    <a:pt x="17502" y="138231"/>
                  </a:lnTo>
                  <a:lnTo>
                    <a:pt x="38174" y="99342"/>
                  </a:lnTo>
                  <a:lnTo>
                    <a:pt x="65722" y="65722"/>
                  </a:lnTo>
                  <a:lnTo>
                    <a:pt x="99342" y="38174"/>
                  </a:lnTo>
                  <a:lnTo>
                    <a:pt x="138231" y="17502"/>
                  </a:lnTo>
                  <a:lnTo>
                    <a:pt x="181585" y="4509"/>
                  </a:lnTo>
                  <a:lnTo>
                    <a:pt x="228600" y="0"/>
                  </a:lnTo>
                  <a:close/>
                </a:path>
                <a:path w="457200" h="457200">
                  <a:moveTo>
                    <a:pt x="0" y="0"/>
                  </a:moveTo>
                  <a:lnTo>
                    <a:pt x="0" y="0"/>
                  </a:lnTo>
                </a:path>
                <a:path w="457200" h="457200">
                  <a:moveTo>
                    <a:pt x="457200" y="457200"/>
                  </a:moveTo>
                  <a:lnTo>
                    <a:pt x="457200" y="457200"/>
                  </a:lnTo>
                </a:path>
              </a:pathLst>
            </a:custGeom>
            <a:solidFill>
              <a:schemeClr val="bg1">
                <a:lumMod val="75000"/>
              </a:schemeClr>
            </a:solidFill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2"/>
            <p:cNvSpPr txBox="1"/>
            <p:nvPr/>
          </p:nvSpPr>
          <p:spPr>
            <a:xfrm>
              <a:off x="7139" y="6141"/>
              <a:ext cx="353" cy="65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spcBef>
                  <a:spcPts val="100"/>
                </a:spcBef>
              </a:pPr>
              <a:r>
                <a:rPr sz="2600" b="1" dirty="0">
                  <a:solidFill>
                    <a:srgbClr val="191919"/>
                  </a:solidFill>
                  <a:latin typeface="Courier New" panose="02070409020205020404"/>
                  <a:cs typeface="Courier New" panose="02070409020205020404"/>
                </a:rPr>
                <a:t>d</a:t>
              </a:r>
              <a:endParaRPr sz="2600">
                <a:latin typeface="Courier New" panose="02070409020205020404"/>
                <a:cs typeface="Courier New" panose="02070409020205020404"/>
              </a:endParaRPr>
            </a:p>
          </p:txBody>
        </p:sp>
        <p:sp>
          <p:nvSpPr>
            <p:cNvPr id="39" name="object 33"/>
            <p:cNvSpPr/>
            <p:nvPr/>
          </p:nvSpPr>
          <p:spPr>
            <a:xfrm>
              <a:off x="6235" y="7981"/>
              <a:ext cx="720" cy="72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275614" y="4509"/>
                  </a:lnTo>
                  <a:lnTo>
                    <a:pt x="318968" y="17502"/>
                  </a:lnTo>
                  <a:lnTo>
                    <a:pt x="357857" y="38174"/>
                  </a:lnTo>
                  <a:lnTo>
                    <a:pt x="391477" y="65722"/>
                  </a:lnTo>
                  <a:lnTo>
                    <a:pt x="419025" y="99342"/>
                  </a:lnTo>
                  <a:lnTo>
                    <a:pt x="439697" y="138231"/>
                  </a:lnTo>
                  <a:lnTo>
                    <a:pt x="452690" y="181585"/>
                  </a:lnTo>
                  <a:lnTo>
                    <a:pt x="457200" y="228600"/>
                  </a:lnTo>
                  <a:lnTo>
                    <a:pt x="452690" y="275614"/>
                  </a:lnTo>
                  <a:lnTo>
                    <a:pt x="439697" y="318968"/>
                  </a:lnTo>
                  <a:lnTo>
                    <a:pt x="419025" y="357857"/>
                  </a:lnTo>
                  <a:lnTo>
                    <a:pt x="391477" y="391477"/>
                  </a:lnTo>
                  <a:lnTo>
                    <a:pt x="357857" y="419025"/>
                  </a:lnTo>
                  <a:lnTo>
                    <a:pt x="318968" y="439697"/>
                  </a:lnTo>
                  <a:lnTo>
                    <a:pt x="275614" y="452690"/>
                  </a:lnTo>
                  <a:lnTo>
                    <a:pt x="228600" y="457200"/>
                  </a:lnTo>
                  <a:lnTo>
                    <a:pt x="181585" y="452690"/>
                  </a:lnTo>
                  <a:lnTo>
                    <a:pt x="138231" y="439697"/>
                  </a:lnTo>
                  <a:lnTo>
                    <a:pt x="99342" y="419025"/>
                  </a:lnTo>
                  <a:lnTo>
                    <a:pt x="65722" y="391477"/>
                  </a:lnTo>
                  <a:lnTo>
                    <a:pt x="38174" y="357857"/>
                  </a:lnTo>
                  <a:lnTo>
                    <a:pt x="17502" y="318968"/>
                  </a:lnTo>
                  <a:lnTo>
                    <a:pt x="4509" y="275614"/>
                  </a:lnTo>
                  <a:lnTo>
                    <a:pt x="0" y="228600"/>
                  </a:lnTo>
                  <a:lnTo>
                    <a:pt x="4509" y="181585"/>
                  </a:lnTo>
                  <a:lnTo>
                    <a:pt x="17502" y="138231"/>
                  </a:lnTo>
                  <a:lnTo>
                    <a:pt x="38174" y="99342"/>
                  </a:lnTo>
                  <a:lnTo>
                    <a:pt x="65722" y="65722"/>
                  </a:lnTo>
                  <a:lnTo>
                    <a:pt x="99342" y="38174"/>
                  </a:lnTo>
                  <a:lnTo>
                    <a:pt x="138231" y="17502"/>
                  </a:lnTo>
                  <a:lnTo>
                    <a:pt x="181585" y="4509"/>
                  </a:lnTo>
                  <a:lnTo>
                    <a:pt x="228600" y="0"/>
                  </a:lnTo>
                  <a:close/>
                </a:path>
                <a:path w="457200" h="457200">
                  <a:moveTo>
                    <a:pt x="0" y="0"/>
                  </a:moveTo>
                  <a:lnTo>
                    <a:pt x="0" y="0"/>
                  </a:lnTo>
                </a:path>
                <a:path w="457200" h="457200">
                  <a:moveTo>
                    <a:pt x="457200" y="457200"/>
                  </a:moveTo>
                  <a:lnTo>
                    <a:pt x="457200" y="457200"/>
                  </a:lnTo>
                </a:path>
              </a:pathLst>
            </a:custGeom>
            <a:solidFill>
              <a:srgbClr val="FFFF00"/>
            </a:solidFill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34"/>
            <p:cNvSpPr txBox="1"/>
            <p:nvPr/>
          </p:nvSpPr>
          <p:spPr>
            <a:xfrm>
              <a:off x="6419" y="7941"/>
              <a:ext cx="353" cy="65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spcBef>
                  <a:spcPts val="100"/>
                </a:spcBef>
              </a:pPr>
              <a:r>
                <a:rPr sz="2600" b="1" dirty="0">
                  <a:solidFill>
                    <a:srgbClr val="191919"/>
                  </a:solidFill>
                  <a:latin typeface="Courier New" panose="02070409020205020404"/>
                  <a:cs typeface="Courier New" panose="02070409020205020404"/>
                </a:rPr>
                <a:t>e</a:t>
              </a:r>
              <a:endParaRPr sz="2600">
                <a:latin typeface="Courier New" panose="02070409020205020404"/>
                <a:cs typeface="Courier New" panose="02070409020205020404"/>
              </a:endParaRPr>
            </a:p>
          </p:txBody>
        </p:sp>
        <p:sp>
          <p:nvSpPr>
            <p:cNvPr id="41" name="object 35"/>
            <p:cNvSpPr/>
            <p:nvPr/>
          </p:nvSpPr>
          <p:spPr>
            <a:xfrm>
              <a:off x="4435" y="9061"/>
              <a:ext cx="720" cy="72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275614" y="4509"/>
                  </a:lnTo>
                  <a:lnTo>
                    <a:pt x="318968" y="17502"/>
                  </a:lnTo>
                  <a:lnTo>
                    <a:pt x="357857" y="38174"/>
                  </a:lnTo>
                  <a:lnTo>
                    <a:pt x="391477" y="65722"/>
                  </a:lnTo>
                  <a:lnTo>
                    <a:pt x="419025" y="99342"/>
                  </a:lnTo>
                  <a:lnTo>
                    <a:pt x="439697" y="138231"/>
                  </a:lnTo>
                  <a:lnTo>
                    <a:pt x="452690" y="181585"/>
                  </a:lnTo>
                  <a:lnTo>
                    <a:pt x="457200" y="228600"/>
                  </a:lnTo>
                  <a:lnTo>
                    <a:pt x="452690" y="275614"/>
                  </a:lnTo>
                  <a:lnTo>
                    <a:pt x="439697" y="318968"/>
                  </a:lnTo>
                  <a:lnTo>
                    <a:pt x="419025" y="357857"/>
                  </a:lnTo>
                  <a:lnTo>
                    <a:pt x="391477" y="391477"/>
                  </a:lnTo>
                  <a:lnTo>
                    <a:pt x="357857" y="419025"/>
                  </a:lnTo>
                  <a:lnTo>
                    <a:pt x="318968" y="439697"/>
                  </a:lnTo>
                  <a:lnTo>
                    <a:pt x="275614" y="452690"/>
                  </a:lnTo>
                  <a:lnTo>
                    <a:pt x="228600" y="457200"/>
                  </a:lnTo>
                  <a:lnTo>
                    <a:pt x="181585" y="452690"/>
                  </a:lnTo>
                  <a:lnTo>
                    <a:pt x="138231" y="439697"/>
                  </a:lnTo>
                  <a:lnTo>
                    <a:pt x="99342" y="419025"/>
                  </a:lnTo>
                  <a:lnTo>
                    <a:pt x="65722" y="391477"/>
                  </a:lnTo>
                  <a:lnTo>
                    <a:pt x="38174" y="357857"/>
                  </a:lnTo>
                  <a:lnTo>
                    <a:pt x="17502" y="318968"/>
                  </a:lnTo>
                  <a:lnTo>
                    <a:pt x="4509" y="275614"/>
                  </a:lnTo>
                  <a:lnTo>
                    <a:pt x="0" y="228600"/>
                  </a:lnTo>
                  <a:lnTo>
                    <a:pt x="4509" y="181585"/>
                  </a:lnTo>
                  <a:lnTo>
                    <a:pt x="17502" y="138231"/>
                  </a:lnTo>
                  <a:lnTo>
                    <a:pt x="38174" y="99342"/>
                  </a:lnTo>
                  <a:lnTo>
                    <a:pt x="65722" y="65722"/>
                  </a:lnTo>
                  <a:lnTo>
                    <a:pt x="99342" y="38174"/>
                  </a:lnTo>
                  <a:lnTo>
                    <a:pt x="138231" y="17502"/>
                  </a:lnTo>
                  <a:lnTo>
                    <a:pt x="181585" y="4509"/>
                  </a:lnTo>
                  <a:lnTo>
                    <a:pt x="228600" y="0"/>
                  </a:lnTo>
                  <a:close/>
                </a:path>
                <a:path w="457200" h="457200">
                  <a:moveTo>
                    <a:pt x="0" y="0"/>
                  </a:moveTo>
                  <a:lnTo>
                    <a:pt x="0" y="0"/>
                  </a:lnTo>
                </a:path>
                <a:path w="457200" h="457200">
                  <a:moveTo>
                    <a:pt x="457200" y="457200"/>
                  </a:moveTo>
                  <a:lnTo>
                    <a:pt x="457200" y="457200"/>
                  </a:lnTo>
                </a:path>
              </a:pathLst>
            </a:custGeom>
            <a:solidFill>
              <a:schemeClr val="bg1">
                <a:lumMod val="85000"/>
              </a:schemeClr>
            </a:solidFill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36"/>
            <p:cNvSpPr txBox="1"/>
            <p:nvPr/>
          </p:nvSpPr>
          <p:spPr>
            <a:xfrm>
              <a:off x="4619" y="9021"/>
              <a:ext cx="353" cy="65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spcBef>
                  <a:spcPts val="100"/>
                </a:spcBef>
              </a:pPr>
              <a:r>
                <a:rPr sz="2600" b="1" dirty="0">
                  <a:solidFill>
                    <a:srgbClr val="191919"/>
                  </a:solidFill>
                  <a:latin typeface="Courier New" panose="02070409020205020404"/>
                  <a:cs typeface="Courier New" panose="02070409020205020404"/>
                </a:rPr>
                <a:t>f</a:t>
              </a:r>
              <a:endParaRPr sz="2600">
                <a:latin typeface="Courier New" panose="02070409020205020404"/>
                <a:cs typeface="Courier New" panose="02070409020205020404"/>
              </a:endParaRPr>
            </a:p>
          </p:txBody>
        </p:sp>
        <p:sp>
          <p:nvSpPr>
            <p:cNvPr id="43" name="object 37"/>
            <p:cNvSpPr/>
            <p:nvPr/>
          </p:nvSpPr>
          <p:spPr>
            <a:xfrm>
              <a:off x="2635" y="7981"/>
              <a:ext cx="720" cy="72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275614" y="4509"/>
                  </a:lnTo>
                  <a:lnTo>
                    <a:pt x="318968" y="17502"/>
                  </a:lnTo>
                  <a:lnTo>
                    <a:pt x="357857" y="38174"/>
                  </a:lnTo>
                  <a:lnTo>
                    <a:pt x="391477" y="65722"/>
                  </a:lnTo>
                  <a:lnTo>
                    <a:pt x="419025" y="99342"/>
                  </a:lnTo>
                  <a:lnTo>
                    <a:pt x="439697" y="138231"/>
                  </a:lnTo>
                  <a:lnTo>
                    <a:pt x="452690" y="181585"/>
                  </a:lnTo>
                  <a:lnTo>
                    <a:pt x="457200" y="228600"/>
                  </a:lnTo>
                  <a:lnTo>
                    <a:pt x="452690" y="275614"/>
                  </a:lnTo>
                  <a:lnTo>
                    <a:pt x="439697" y="318968"/>
                  </a:lnTo>
                  <a:lnTo>
                    <a:pt x="419025" y="357857"/>
                  </a:lnTo>
                  <a:lnTo>
                    <a:pt x="391477" y="391477"/>
                  </a:lnTo>
                  <a:lnTo>
                    <a:pt x="357857" y="419025"/>
                  </a:lnTo>
                  <a:lnTo>
                    <a:pt x="318968" y="439697"/>
                  </a:lnTo>
                  <a:lnTo>
                    <a:pt x="275614" y="452690"/>
                  </a:lnTo>
                  <a:lnTo>
                    <a:pt x="228600" y="457200"/>
                  </a:lnTo>
                  <a:lnTo>
                    <a:pt x="181585" y="452690"/>
                  </a:lnTo>
                  <a:lnTo>
                    <a:pt x="138231" y="439697"/>
                  </a:lnTo>
                  <a:lnTo>
                    <a:pt x="99342" y="419025"/>
                  </a:lnTo>
                  <a:lnTo>
                    <a:pt x="65722" y="391477"/>
                  </a:lnTo>
                  <a:lnTo>
                    <a:pt x="38174" y="357857"/>
                  </a:lnTo>
                  <a:lnTo>
                    <a:pt x="17502" y="318968"/>
                  </a:lnTo>
                  <a:lnTo>
                    <a:pt x="4509" y="275614"/>
                  </a:lnTo>
                  <a:lnTo>
                    <a:pt x="0" y="228600"/>
                  </a:lnTo>
                  <a:lnTo>
                    <a:pt x="4509" y="181585"/>
                  </a:lnTo>
                  <a:lnTo>
                    <a:pt x="17502" y="138231"/>
                  </a:lnTo>
                  <a:lnTo>
                    <a:pt x="38174" y="99342"/>
                  </a:lnTo>
                  <a:lnTo>
                    <a:pt x="65722" y="65722"/>
                  </a:lnTo>
                  <a:lnTo>
                    <a:pt x="99342" y="38174"/>
                  </a:lnTo>
                  <a:lnTo>
                    <a:pt x="138231" y="17502"/>
                  </a:lnTo>
                  <a:lnTo>
                    <a:pt x="181585" y="4509"/>
                  </a:lnTo>
                  <a:lnTo>
                    <a:pt x="228600" y="0"/>
                  </a:lnTo>
                  <a:close/>
                </a:path>
                <a:path w="457200" h="457200">
                  <a:moveTo>
                    <a:pt x="0" y="0"/>
                  </a:moveTo>
                  <a:lnTo>
                    <a:pt x="0" y="0"/>
                  </a:lnTo>
                </a:path>
                <a:path w="457200" h="457200">
                  <a:moveTo>
                    <a:pt x="457200" y="457200"/>
                  </a:moveTo>
                  <a:lnTo>
                    <a:pt x="457200" y="457200"/>
                  </a:lnTo>
                </a:path>
              </a:pathLst>
            </a:custGeom>
            <a:solidFill>
              <a:srgbClr val="FFFF00"/>
            </a:solidFill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38"/>
            <p:cNvSpPr txBox="1"/>
            <p:nvPr/>
          </p:nvSpPr>
          <p:spPr>
            <a:xfrm>
              <a:off x="2819" y="7941"/>
              <a:ext cx="353" cy="65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spcBef>
                  <a:spcPts val="100"/>
                </a:spcBef>
              </a:pPr>
              <a:r>
                <a:rPr sz="2600" b="1" dirty="0">
                  <a:solidFill>
                    <a:srgbClr val="191919"/>
                  </a:solidFill>
                  <a:latin typeface="Courier New" panose="02070409020205020404"/>
                  <a:cs typeface="Courier New" panose="02070409020205020404"/>
                </a:rPr>
                <a:t>g</a:t>
              </a:r>
              <a:endParaRPr sz="2600">
                <a:latin typeface="Courier New" panose="02070409020205020404"/>
                <a:cs typeface="Courier New" panose="02070409020205020404"/>
              </a:endParaRPr>
            </a:p>
          </p:txBody>
        </p:sp>
      </p:grpSp>
      <p:sp>
        <p:nvSpPr>
          <p:cNvPr id="45" name="object 39"/>
          <p:cNvSpPr/>
          <p:nvPr/>
        </p:nvSpPr>
        <p:spPr>
          <a:xfrm>
            <a:off x="1606551" y="2943225"/>
            <a:ext cx="2877820" cy="914400"/>
          </a:xfrm>
          <a:custGeom>
            <a:avLst/>
            <a:gdLst/>
            <a:ahLst/>
            <a:cxnLst/>
            <a:rect l="l" t="t" r="r" b="b"/>
            <a:pathLst>
              <a:path w="2877820" h="914400">
                <a:moveTo>
                  <a:pt x="0" y="753110"/>
                </a:moveTo>
                <a:lnTo>
                  <a:pt x="591820" y="161289"/>
                </a:lnTo>
              </a:path>
              <a:path w="2877820" h="914400">
                <a:moveTo>
                  <a:pt x="981710" y="0"/>
                </a:moveTo>
                <a:lnTo>
                  <a:pt x="1896110" y="0"/>
                </a:lnTo>
              </a:path>
              <a:path w="2877820" h="914400">
                <a:moveTo>
                  <a:pt x="2286000" y="161289"/>
                </a:moveTo>
                <a:lnTo>
                  <a:pt x="2877819" y="753110"/>
                </a:lnTo>
              </a:path>
              <a:path w="2877820" h="914400">
                <a:moveTo>
                  <a:pt x="67310" y="914400"/>
                </a:moveTo>
                <a:lnTo>
                  <a:pt x="2810510" y="914400"/>
                </a:lnTo>
              </a:path>
              <a:path w="2877820" h="914400">
                <a:moveTo>
                  <a:pt x="1963419" y="161289"/>
                </a:moveTo>
                <a:lnTo>
                  <a:pt x="67310" y="914400"/>
                </a:lnTo>
              </a:path>
              <a:path w="2877820" h="914400">
                <a:moveTo>
                  <a:pt x="914400" y="161289"/>
                </a:moveTo>
                <a:lnTo>
                  <a:pt x="2810510" y="91440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cxnSp>
        <p:nvCxnSpPr>
          <p:cNvPr id="47" name="直接连接符 46"/>
          <p:cNvCxnSpPr/>
          <p:nvPr/>
        </p:nvCxnSpPr>
        <p:spPr>
          <a:xfrm>
            <a:off x="2406653" y="3139441"/>
            <a:ext cx="1623695" cy="16687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/>
          <p:cNvCxnSpPr/>
          <p:nvPr/>
        </p:nvCxnSpPr>
        <p:spPr>
          <a:xfrm>
            <a:off x="3741422" y="3148967"/>
            <a:ext cx="369571" cy="159575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连接符 48"/>
          <p:cNvCxnSpPr/>
          <p:nvPr/>
        </p:nvCxnSpPr>
        <p:spPr>
          <a:xfrm>
            <a:off x="2298700" y="3148965"/>
            <a:ext cx="746760" cy="22504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连接符 49"/>
          <p:cNvCxnSpPr/>
          <p:nvPr/>
        </p:nvCxnSpPr>
        <p:spPr>
          <a:xfrm flipH="1">
            <a:off x="3290573" y="5168902"/>
            <a:ext cx="739775" cy="40576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7" name="object 57"/>
          <p:cNvGraphicFramePr>
            <a:graphicFrameLocks noGrp="1"/>
          </p:cNvGraphicFramePr>
          <p:nvPr/>
        </p:nvGraphicFramePr>
        <p:xfrm>
          <a:off x="1216025" y="6022975"/>
          <a:ext cx="3657600" cy="45770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708">
                <a:tc>
                  <a:txBody>
                    <a:bodyPr/>
                    <a:lstStyle/>
                    <a:p>
                      <a:pPr marL="254000">
                        <a:lnSpc>
                          <a:spcPts val="2940"/>
                        </a:lnSpc>
                      </a:pPr>
                      <a:r>
                        <a:rPr sz="2700" b="1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R</a:t>
                      </a:r>
                      <a:r>
                        <a:rPr sz="2300" b="1" baseline="-31000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0</a:t>
                      </a:r>
                      <a:endParaRPr sz="2300" baseline="-31000">
                        <a:latin typeface="DejaVu Serif" panose="02060603050605020204"/>
                        <a:cs typeface="DejaVu Serif" panose="02060603050605020204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254000">
                        <a:lnSpc>
                          <a:spcPts val="2940"/>
                        </a:lnSpc>
                      </a:pPr>
                      <a:r>
                        <a:rPr sz="2700" b="1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R</a:t>
                      </a:r>
                      <a:r>
                        <a:rPr sz="2300" b="1" baseline="-31000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1</a:t>
                      </a:r>
                      <a:endParaRPr sz="2300" baseline="-31000">
                        <a:latin typeface="DejaVu Serif" panose="02060603050605020204"/>
                        <a:cs typeface="DejaVu Serif" panose="02060603050605020204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254000">
                        <a:lnSpc>
                          <a:spcPts val="2940"/>
                        </a:lnSpc>
                      </a:pPr>
                      <a:r>
                        <a:rPr sz="2700" b="1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R</a:t>
                      </a:r>
                      <a:r>
                        <a:rPr sz="2300" b="1" baseline="-31000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2</a:t>
                      </a:r>
                      <a:endParaRPr sz="2300" baseline="-31000">
                        <a:latin typeface="DejaVu Serif" panose="02060603050605020204"/>
                        <a:cs typeface="DejaVu Serif" panose="02060603050605020204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F00FF"/>
                    </a:solidFill>
                  </a:tcPr>
                </a:tc>
                <a:tc>
                  <a:txBody>
                    <a:bodyPr/>
                    <a:lstStyle/>
                    <a:p>
                      <a:pPr marL="254000">
                        <a:lnSpc>
                          <a:spcPts val="2940"/>
                        </a:lnSpc>
                      </a:pPr>
                      <a:r>
                        <a:rPr sz="2700" b="1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R</a:t>
                      </a:r>
                      <a:r>
                        <a:rPr sz="2300" b="1" baseline="-31000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3</a:t>
                      </a:r>
                      <a:endParaRPr sz="2300" baseline="-31000">
                        <a:latin typeface="DejaVu Serif" panose="02060603050605020204"/>
                        <a:cs typeface="DejaVu Serif" panose="02060603050605020204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E5E5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b="1" dirty="0">
                <a:latin typeface="楷体_GB2312" panose="02010609030101010101" charset="-122"/>
                <a:ea typeface="楷体_GB2312" panose="02010609030101010101" charset="-122"/>
                <a:sym typeface="+mn-ea"/>
              </a:rPr>
              <a:t>图着色算法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43</a:t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文本占位符 5"/>
          <p:cNvSpPr>
            <a:spLocks noGrp="1"/>
          </p:cNvSpPr>
          <p:nvPr>
            <p:ph type="body" idx="4294967295"/>
          </p:nvPr>
        </p:nvSpPr>
        <p:spPr>
          <a:xfrm>
            <a:off x="127636" y="1388112"/>
            <a:ext cx="11997691" cy="5091431"/>
          </a:xfrm>
        </p:spPr>
        <p:txBody>
          <a:bodyPr>
            <a:normAutofit/>
          </a:bodyPr>
          <a:lstStyle/>
          <a:p>
            <a:pPr marL="431789" indent="-323843" defTabSz="449569">
              <a:lnSpc>
                <a:spcPct val="100000"/>
              </a:lnSpc>
              <a:buSzPct val="45000"/>
              <a:buNone/>
              <a:tabLst>
                <a:tab pos="723882" algn="l"/>
                <a:tab pos="1447764" algn="l"/>
                <a:tab pos="2171646" algn="l"/>
                <a:tab pos="2895528" algn="l"/>
                <a:tab pos="3619410" algn="l"/>
                <a:tab pos="4343291" algn="l"/>
                <a:tab pos="5067173" algn="l"/>
                <a:tab pos="5791055" algn="l"/>
                <a:tab pos="6514937" algn="l"/>
                <a:tab pos="7238819" algn="l"/>
                <a:tab pos="7962701" algn="l"/>
                <a:tab pos="8686583" algn="l"/>
              </a:tabLst>
            </a:pPr>
            <a:r>
              <a:rPr lang="zh-CN" altLang="en-US" sz="3200" b="1" dirty="0">
                <a:sym typeface="+mn-ea"/>
              </a:rPr>
              <a:t>寄存器干涉图</a:t>
            </a:r>
            <a:r>
              <a:rPr sz="3200" b="1" spc="-15" dirty="0">
                <a:solidFill>
                  <a:srgbClr val="0000FF"/>
                </a:solidFill>
                <a:latin typeface="DejaVu Serif" panose="02060603050605020204"/>
                <a:cs typeface="DejaVu Serif" panose="02060603050605020204"/>
                <a:sym typeface="+mn-ea"/>
              </a:rPr>
              <a:t> </a:t>
            </a:r>
            <a:r>
              <a:rPr sz="3200" spc="-15" dirty="0">
                <a:solidFill>
                  <a:srgbClr val="191919"/>
                </a:solidFill>
                <a:latin typeface="DejaVu Serif" panose="02060603050605020204"/>
                <a:cs typeface="DejaVu Serif" panose="02060603050605020204"/>
                <a:sym typeface="+mn-ea"/>
              </a:rPr>
              <a:t>(</a:t>
            </a:r>
            <a:r>
              <a:rPr sz="3200" b="1" spc="-15" dirty="0">
                <a:solidFill>
                  <a:srgbClr val="0000FF"/>
                </a:solidFill>
                <a:latin typeface="DejaVu Serif" panose="02060603050605020204"/>
                <a:cs typeface="DejaVu Serif" panose="02060603050605020204"/>
                <a:sym typeface="+mn-ea"/>
              </a:rPr>
              <a:t>register interference graph</a:t>
            </a:r>
            <a:r>
              <a:rPr lang="zh-CN" altLang="en-US" sz="3200" b="1" spc="-15" dirty="0">
                <a:solidFill>
                  <a:srgbClr val="0000FF"/>
                </a:solidFill>
                <a:latin typeface="DejaVu Serif" panose="02060603050605020204"/>
                <a:cs typeface="DejaVu Serif" panose="02060603050605020204"/>
                <a:sym typeface="+mn-ea"/>
              </a:rPr>
              <a:t>，</a:t>
            </a:r>
            <a:r>
              <a:rPr sz="3200" spc="-15" dirty="0">
                <a:solidFill>
                  <a:srgbClr val="191919"/>
                </a:solidFill>
                <a:latin typeface="DejaVu Serif" panose="02060603050605020204"/>
                <a:cs typeface="DejaVu Serif" panose="02060603050605020204"/>
                <a:sym typeface="+mn-ea"/>
              </a:rPr>
              <a:t>RIG)</a:t>
            </a:r>
            <a:endParaRPr sz="3200" b="1" dirty="0">
              <a:sym typeface="+mn-ea"/>
            </a:endParaRPr>
          </a:p>
          <a:p>
            <a:pPr marL="431789" indent="-323843" defTabSz="449569">
              <a:lnSpc>
                <a:spcPct val="100000"/>
              </a:lnSpc>
              <a:buSzPct val="45000"/>
              <a:buNone/>
              <a:tabLst>
                <a:tab pos="723882" algn="l"/>
                <a:tab pos="1447764" algn="l"/>
                <a:tab pos="2171646" algn="l"/>
                <a:tab pos="2895528" algn="l"/>
                <a:tab pos="3619410" algn="l"/>
                <a:tab pos="4343291" algn="l"/>
                <a:tab pos="5067173" algn="l"/>
                <a:tab pos="5791055" algn="l"/>
                <a:tab pos="6514937" algn="l"/>
                <a:tab pos="7238819" algn="l"/>
                <a:tab pos="7962701" algn="l"/>
                <a:tab pos="8686583" algn="l"/>
              </a:tabLst>
            </a:pPr>
            <a:r>
              <a:rPr lang="en-US" sz="3200" b="1" dirty="0">
                <a:sym typeface="+mn-ea"/>
              </a:rPr>
              <a:t>    </a:t>
            </a:r>
            <a:r>
              <a:rPr sz="3200" b="1" dirty="0">
                <a:sym typeface="+mn-ea"/>
              </a:rPr>
              <a:t>节点</a:t>
            </a:r>
            <a:r>
              <a:rPr lang="zh-CN" altLang="en-US" sz="3200" b="1" dirty="0">
                <a:sym typeface="+mn-ea"/>
              </a:rPr>
              <a:t>为</a:t>
            </a:r>
            <a:r>
              <a:rPr sz="3200" b="1" dirty="0">
                <a:sym typeface="+mn-ea"/>
              </a:rPr>
              <a:t>一个变量</a:t>
            </a:r>
          </a:p>
          <a:p>
            <a:pPr marL="431789" indent="-323843" defTabSz="449569">
              <a:lnSpc>
                <a:spcPct val="100000"/>
              </a:lnSpc>
              <a:buSzPct val="45000"/>
              <a:buNone/>
              <a:tabLst>
                <a:tab pos="723882" algn="l"/>
                <a:tab pos="1447764" algn="l"/>
                <a:tab pos="2171646" algn="l"/>
                <a:tab pos="2895528" algn="l"/>
                <a:tab pos="3619410" algn="l"/>
                <a:tab pos="4343291" algn="l"/>
                <a:tab pos="5067173" algn="l"/>
                <a:tab pos="5791055" algn="l"/>
                <a:tab pos="6514937" algn="l"/>
                <a:tab pos="7238819" algn="l"/>
                <a:tab pos="7962701" algn="l"/>
                <a:tab pos="8686583" algn="l"/>
              </a:tabLst>
            </a:pPr>
            <a:r>
              <a:rPr sz="3200" b="1" dirty="0">
                <a:sym typeface="+mn-ea"/>
              </a:rPr>
              <a:t> </a:t>
            </a:r>
            <a:r>
              <a:rPr lang="en-US" sz="3200" b="1" dirty="0">
                <a:sym typeface="+mn-ea"/>
              </a:rPr>
              <a:t>   </a:t>
            </a:r>
            <a:r>
              <a:rPr sz="3200" b="1" dirty="0">
                <a:sym typeface="+mn-ea"/>
              </a:rPr>
              <a:t>在同一程序点上</a:t>
            </a:r>
            <a:r>
              <a:rPr lang="zh-CN" altLang="en-US" sz="3200" b="1" dirty="0">
                <a:sym typeface="+mn-ea"/>
              </a:rPr>
              <a:t>活跃</a:t>
            </a:r>
            <a:r>
              <a:rPr sz="3200" b="1" dirty="0">
                <a:sym typeface="+mn-ea"/>
              </a:rPr>
              <a:t>的两个变量间有一条边</a:t>
            </a:r>
          </a:p>
          <a:p>
            <a:pPr marL="431789" indent="-323843" defTabSz="449569">
              <a:lnSpc>
                <a:spcPct val="100000"/>
              </a:lnSpc>
              <a:buSzPct val="45000"/>
              <a:buNone/>
              <a:tabLst>
                <a:tab pos="723882" algn="l"/>
                <a:tab pos="1447764" algn="l"/>
                <a:tab pos="2171646" algn="l"/>
                <a:tab pos="2895528" algn="l"/>
                <a:tab pos="3619410" algn="l"/>
                <a:tab pos="4343291" algn="l"/>
                <a:tab pos="5067173" algn="l"/>
                <a:tab pos="5791055" algn="l"/>
                <a:tab pos="6514937" algn="l"/>
                <a:tab pos="7238819" algn="l"/>
                <a:tab pos="7962701" algn="l"/>
                <a:tab pos="8686583" algn="l"/>
              </a:tabLst>
            </a:pPr>
            <a:r>
              <a:rPr lang="zh-CN" altLang="en-US" sz="3200" b="1" dirty="0">
                <a:sym typeface="+mn-ea"/>
              </a:rPr>
              <a:t>问题转换</a:t>
            </a:r>
          </a:p>
          <a:p>
            <a:pPr marL="431789" indent="-323843" defTabSz="449569">
              <a:lnSpc>
                <a:spcPct val="100000"/>
              </a:lnSpc>
              <a:buSzPct val="45000"/>
              <a:buNone/>
              <a:tabLst>
                <a:tab pos="723882" algn="l"/>
                <a:tab pos="1447764" algn="l"/>
                <a:tab pos="2171646" algn="l"/>
                <a:tab pos="2895528" algn="l"/>
                <a:tab pos="3619410" algn="l"/>
                <a:tab pos="4343291" algn="l"/>
                <a:tab pos="5067173" algn="l"/>
                <a:tab pos="5791055" algn="l"/>
                <a:tab pos="6514937" algn="l"/>
                <a:tab pos="7238819" algn="l"/>
                <a:tab pos="7962701" algn="l"/>
                <a:tab pos="8686583" algn="l"/>
              </a:tabLst>
            </a:pPr>
            <a:r>
              <a:rPr lang="zh-CN" altLang="en-US" sz="3200" b="1" dirty="0">
                <a:sym typeface="+mn-ea"/>
              </a:rPr>
              <a:t> </a:t>
            </a:r>
            <a:r>
              <a:rPr lang="en-US" altLang="zh-CN" sz="3200" b="1" dirty="0">
                <a:sym typeface="+mn-ea"/>
              </a:rPr>
              <a:t>   </a:t>
            </a:r>
            <a:r>
              <a:rPr sz="3200" b="1" dirty="0">
                <a:sym typeface="+mn-ea"/>
              </a:rPr>
              <a:t>为每个变量分配一个与其所有相邻变量不同的寄存器</a:t>
            </a:r>
          </a:p>
          <a:p>
            <a:pPr marL="431789" indent="-323843" defTabSz="449569">
              <a:lnSpc>
                <a:spcPct val="100000"/>
              </a:lnSpc>
              <a:buSzPct val="45000"/>
              <a:buNone/>
              <a:tabLst>
                <a:tab pos="723882" algn="l"/>
                <a:tab pos="1447764" algn="l"/>
                <a:tab pos="2171646" algn="l"/>
                <a:tab pos="2895528" algn="l"/>
                <a:tab pos="3619410" algn="l"/>
                <a:tab pos="4343291" algn="l"/>
                <a:tab pos="5067173" algn="l"/>
                <a:tab pos="5791055" algn="l"/>
                <a:tab pos="6514937" algn="l"/>
                <a:tab pos="7238819" algn="l"/>
                <a:tab pos="7962701" algn="l"/>
                <a:tab pos="8686583" algn="l"/>
              </a:tabLst>
            </a:pPr>
            <a:r>
              <a:rPr lang="en-US" altLang="zh-CN" sz="3200" b="1" dirty="0">
                <a:sym typeface="+mn-ea"/>
              </a:rPr>
              <a:t>    </a:t>
            </a:r>
            <a:r>
              <a:rPr lang="zh-CN" altLang="en-US" sz="3200" b="1" dirty="0">
                <a:sym typeface="+mn-ea"/>
              </a:rPr>
              <a:t>该</a:t>
            </a:r>
            <a:r>
              <a:rPr sz="3200" b="1" dirty="0">
                <a:sym typeface="+mn-ea"/>
              </a:rPr>
              <a:t>问题等价于图着色，如果至少有三个寄存器，</a:t>
            </a:r>
            <a:r>
              <a:rPr lang="zh-CN" altLang="en-US" sz="3200" b="1" dirty="0">
                <a:sym typeface="+mn-ea"/>
              </a:rPr>
              <a:t>便</a:t>
            </a:r>
            <a:r>
              <a:rPr sz="3200" b="1" dirty="0">
                <a:sym typeface="+mn-ea"/>
              </a:rPr>
              <a:t>是</a:t>
            </a:r>
            <a:r>
              <a:rPr sz="3200" b="1" dirty="0">
                <a:latin typeface="Times New Roman" panose="02060603050605020204" pitchFamily="18" charset="0"/>
                <a:cs typeface="Times New Roman" panose="02060603050605020204" pitchFamily="18" charset="0"/>
                <a:sym typeface="+mn-ea"/>
              </a:rPr>
              <a:t>NP</a:t>
            </a:r>
            <a:r>
              <a:rPr sz="3200" b="1" dirty="0">
                <a:sym typeface="+mn-ea"/>
              </a:rPr>
              <a:t>难题</a:t>
            </a:r>
          </a:p>
          <a:p>
            <a:pPr marL="431789" indent="-323843" defTabSz="449569">
              <a:lnSpc>
                <a:spcPct val="100000"/>
              </a:lnSpc>
              <a:buSzPct val="45000"/>
              <a:buNone/>
              <a:tabLst>
                <a:tab pos="723882" algn="l"/>
                <a:tab pos="1447764" algn="l"/>
                <a:tab pos="2171646" algn="l"/>
                <a:tab pos="2895528" algn="l"/>
                <a:tab pos="3619410" algn="l"/>
                <a:tab pos="4343291" algn="l"/>
                <a:tab pos="5067173" algn="l"/>
                <a:tab pos="5791055" algn="l"/>
                <a:tab pos="6514937" algn="l"/>
                <a:tab pos="7238819" algn="l"/>
                <a:tab pos="7962701" algn="l"/>
                <a:tab pos="8686583" algn="l"/>
              </a:tabLst>
            </a:pPr>
            <a:r>
              <a:rPr lang="en-US" sz="3200" b="1" dirty="0">
                <a:sym typeface="+mn-ea"/>
              </a:rPr>
              <a:t>    </a:t>
            </a:r>
            <a:r>
              <a:rPr sz="3200" b="1" dirty="0">
                <a:sym typeface="+mn-ea"/>
              </a:rPr>
              <a:t>没有好的多项式时间算法（甚至是好的近似算法！）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b="1" dirty="0">
                <a:latin typeface="楷体_GB2312" panose="02010609030101010101" charset="-122"/>
                <a:ea typeface="楷体_GB2312" panose="02010609030101010101" charset="-122"/>
                <a:sym typeface="+mn-ea"/>
              </a:rPr>
              <a:t>图着色算法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44</a:t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文本占位符 5"/>
          <p:cNvSpPr>
            <a:spLocks noGrp="1"/>
          </p:cNvSpPr>
          <p:nvPr>
            <p:ph type="body" idx="4294967295"/>
          </p:nvPr>
        </p:nvSpPr>
        <p:spPr>
          <a:xfrm>
            <a:off x="127636" y="1388112"/>
            <a:ext cx="11997691" cy="5091431"/>
          </a:xfrm>
        </p:spPr>
        <p:txBody>
          <a:bodyPr>
            <a:normAutofit/>
          </a:bodyPr>
          <a:lstStyle/>
          <a:p>
            <a:pPr marL="431789" indent="-323843" defTabSz="449569">
              <a:lnSpc>
                <a:spcPct val="100000"/>
              </a:lnSpc>
              <a:buSzPct val="45000"/>
              <a:buNone/>
              <a:tabLst>
                <a:tab pos="723882" algn="l"/>
                <a:tab pos="1447764" algn="l"/>
                <a:tab pos="2171646" algn="l"/>
                <a:tab pos="2895528" algn="l"/>
                <a:tab pos="3619410" algn="l"/>
                <a:tab pos="4343291" algn="l"/>
                <a:tab pos="5067173" algn="l"/>
                <a:tab pos="5791055" algn="l"/>
                <a:tab pos="6514937" algn="l"/>
                <a:tab pos="7238819" algn="l"/>
                <a:tab pos="7962701" algn="l"/>
                <a:tab pos="8686583" algn="l"/>
              </a:tabLst>
            </a:pPr>
            <a:r>
              <a:rPr lang="zh-CN" altLang="en-US" sz="3200" b="1" dirty="0">
                <a:sym typeface="+mn-ea"/>
              </a:rPr>
              <a:t>启发式算法</a:t>
            </a:r>
            <a:r>
              <a:rPr lang="en-US" sz="3200" b="1" dirty="0">
                <a:sym typeface="+mn-ea"/>
              </a:rPr>
              <a:t>    </a:t>
            </a:r>
            <a:endParaRPr sz="3200" b="1" dirty="0">
              <a:sym typeface="+mn-ea"/>
            </a:endParaRPr>
          </a:p>
          <a:p>
            <a:pPr marL="431789" indent="-323843" defTabSz="449569">
              <a:lnSpc>
                <a:spcPct val="100000"/>
              </a:lnSpc>
              <a:buSzPct val="45000"/>
              <a:buNone/>
              <a:tabLst>
                <a:tab pos="723882" algn="l"/>
                <a:tab pos="1447764" algn="l"/>
                <a:tab pos="2171646" algn="l"/>
                <a:tab pos="2895528" algn="l"/>
                <a:tab pos="3619410" algn="l"/>
                <a:tab pos="4343291" algn="l"/>
                <a:tab pos="5067173" algn="l"/>
                <a:tab pos="5791055" algn="l"/>
                <a:tab pos="6514937" algn="l"/>
                <a:tab pos="7238819" algn="l"/>
                <a:tab pos="7962701" algn="l"/>
                <a:tab pos="8686583" algn="l"/>
              </a:tabLst>
            </a:pPr>
            <a:r>
              <a:rPr lang="en-US" sz="3200" b="1" dirty="0">
                <a:sym typeface="+mn-ea"/>
              </a:rPr>
              <a:t>    假设对一个图进行 k 着色，</a:t>
            </a:r>
            <a:r>
              <a:rPr lang="zh-CN" altLang="en-US" sz="3200" b="1" dirty="0">
                <a:sym typeface="+mn-ea"/>
              </a:rPr>
              <a:t>先</a:t>
            </a:r>
            <a:r>
              <a:rPr lang="en-US" sz="3200" b="1" dirty="0">
                <a:sym typeface="+mn-ea"/>
              </a:rPr>
              <a:t>找到一个少于 k 个边的节点</a:t>
            </a:r>
          </a:p>
          <a:p>
            <a:pPr marL="431789" indent="-323843" defTabSz="449569">
              <a:lnSpc>
                <a:spcPct val="100000"/>
              </a:lnSpc>
              <a:buSzPct val="45000"/>
              <a:buNone/>
              <a:tabLst>
                <a:tab pos="723882" algn="l"/>
                <a:tab pos="1447764" algn="l"/>
                <a:tab pos="2171646" algn="l"/>
                <a:tab pos="2895528" algn="l"/>
                <a:tab pos="3619410" algn="l"/>
                <a:tab pos="4343291" algn="l"/>
                <a:tab pos="5067173" algn="l"/>
                <a:tab pos="5791055" algn="l"/>
                <a:tab pos="6514937" algn="l"/>
                <a:tab pos="7238819" algn="l"/>
                <a:tab pos="7962701" algn="l"/>
                <a:tab pos="8686583" algn="l"/>
              </a:tabLst>
            </a:pPr>
            <a:r>
              <a:rPr lang="en-US" sz="3200" b="1" dirty="0">
                <a:sym typeface="+mn-ea"/>
              </a:rPr>
              <a:t>    如果从图中删除该节点并对剩下的部分着色</a:t>
            </a:r>
          </a:p>
          <a:p>
            <a:pPr marL="431789" indent="-323843" defTabSz="449569">
              <a:lnSpc>
                <a:spcPct val="100000"/>
              </a:lnSpc>
              <a:buSzPct val="45000"/>
              <a:buNone/>
              <a:tabLst>
                <a:tab pos="723882" algn="l"/>
                <a:tab pos="1447764" algn="l"/>
                <a:tab pos="2171646" algn="l"/>
                <a:tab pos="2895528" algn="l"/>
                <a:tab pos="3619410" algn="l"/>
                <a:tab pos="4343291" algn="l"/>
                <a:tab pos="5067173" algn="l"/>
                <a:tab pos="5791055" algn="l"/>
                <a:tab pos="6514937" algn="l"/>
                <a:tab pos="7238819" algn="l"/>
                <a:tab pos="7962701" algn="l"/>
                <a:tab pos="8686583" algn="l"/>
              </a:tabLst>
            </a:pPr>
            <a:r>
              <a:rPr lang="en-US" sz="3200" b="1" dirty="0">
                <a:sym typeface="+mn-ea"/>
              </a:rPr>
              <a:t>        </a:t>
            </a:r>
            <a:r>
              <a:rPr lang="zh-CN" altLang="en-US" sz="3200" b="1" dirty="0">
                <a:sym typeface="+mn-ea"/>
              </a:rPr>
              <a:t>之后再</a:t>
            </a:r>
            <a:r>
              <a:rPr lang="en-US" sz="3200" b="1" dirty="0">
                <a:sym typeface="+mn-ea"/>
              </a:rPr>
              <a:t>重新添加它，</a:t>
            </a:r>
            <a:r>
              <a:rPr lang="zh-CN" altLang="en-US" sz="3200" b="1" dirty="0">
                <a:sym typeface="+mn-ea"/>
              </a:rPr>
              <a:t>便</a:t>
            </a:r>
            <a:r>
              <a:rPr lang="en-US" sz="3200" b="1" dirty="0">
                <a:sym typeface="+mn-ea"/>
              </a:rPr>
              <a:t>可以找到这个节点的颜色</a:t>
            </a:r>
          </a:p>
          <a:p>
            <a:pPr marL="431789" indent="-323843" defTabSz="449569">
              <a:lnSpc>
                <a:spcPct val="100000"/>
              </a:lnSpc>
              <a:buSzPct val="45000"/>
              <a:buNone/>
              <a:tabLst>
                <a:tab pos="723882" algn="l"/>
                <a:tab pos="1447764" algn="l"/>
                <a:tab pos="2171646" algn="l"/>
                <a:tab pos="2895528" algn="l"/>
                <a:tab pos="3619410" algn="l"/>
                <a:tab pos="4343291" algn="l"/>
                <a:tab pos="5067173" algn="l"/>
                <a:tab pos="5791055" algn="l"/>
                <a:tab pos="6514937" algn="l"/>
                <a:tab pos="7238819" algn="l"/>
                <a:tab pos="7962701" algn="l"/>
                <a:tab pos="8686583" algn="l"/>
              </a:tabLst>
            </a:pPr>
            <a:r>
              <a:rPr lang="en-US" sz="3200" b="1" dirty="0">
                <a:sym typeface="+mn-ea"/>
              </a:rPr>
              <a:t>    原因：少于 k 个邻居，一定有颜色剩余 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b="1" dirty="0">
                <a:latin typeface="楷体_GB2312" panose="02010609030101010101" charset="-122"/>
                <a:ea typeface="楷体_GB2312" panose="02010609030101010101" charset="-122"/>
                <a:sym typeface="+mn-ea"/>
              </a:rPr>
              <a:t>图着色算法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45</a:t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文本占位符 5"/>
          <p:cNvSpPr>
            <a:spLocks noGrp="1"/>
          </p:cNvSpPr>
          <p:nvPr>
            <p:ph type="body" idx="4294967295"/>
          </p:nvPr>
        </p:nvSpPr>
        <p:spPr>
          <a:xfrm>
            <a:off x="127636" y="1388112"/>
            <a:ext cx="11997691" cy="5091431"/>
          </a:xfrm>
        </p:spPr>
        <p:txBody>
          <a:bodyPr>
            <a:normAutofit/>
          </a:bodyPr>
          <a:lstStyle/>
          <a:p>
            <a:pPr marL="431789" indent="-323843" defTabSz="449569">
              <a:lnSpc>
                <a:spcPct val="100000"/>
              </a:lnSpc>
              <a:buSzPct val="45000"/>
              <a:buNone/>
              <a:tabLst>
                <a:tab pos="723882" algn="l"/>
                <a:tab pos="1447764" algn="l"/>
                <a:tab pos="2171646" algn="l"/>
                <a:tab pos="2895528" algn="l"/>
                <a:tab pos="3619410" algn="l"/>
                <a:tab pos="4343291" algn="l"/>
                <a:tab pos="5067173" algn="l"/>
                <a:tab pos="5791055" algn="l"/>
                <a:tab pos="6514937" algn="l"/>
                <a:tab pos="7238819" algn="l"/>
                <a:tab pos="7962701" algn="l"/>
                <a:tab pos="8686583" algn="l"/>
              </a:tabLst>
            </a:pPr>
            <a:r>
              <a:rPr lang="zh-CN" altLang="en-US" sz="3200" b="1" dirty="0">
                <a:sym typeface="+mn-ea"/>
              </a:rPr>
              <a:t>启发式算法</a:t>
            </a:r>
            <a:r>
              <a:rPr lang="en-US" sz="3200" b="1" dirty="0">
                <a:sym typeface="+mn-ea"/>
              </a:rPr>
              <a:t>    </a:t>
            </a:r>
            <a:endParaRPr sz="3200" b="1" dirty="0">
              <a:sym typeface="+mn-ea"/>
            </a:endParaRPr>
          </a:p>
          <a:p>
            <a:pPr marL="431789" indent="-323843" defTabSz="449569">
              <a:lnSpc>
                <a:spcPct val="100000"/>
              </a:lnSpc>
              <a:buSzPct val="45000"/>
              <a:buNone/>
              <a:tabLst>
                <a:tab pos="723882" algn="l"/>
                <a:tab pos="1447764" algn="l"/>
                <a:tab pos="2171646" algn="l"/>
                <a:tab pos="2895528" algn="l"/>
                <a:tab pos="3619410" algn="l"/>
                <a:tab pos="4343291" algn="l"/>
                <a:tab pos="5067173" algn="l"/>
                <a:tab pos="5791055" algn="l"/>
                <a:tab pos="6514937" algn="l"/>
                <a:tab pos="7238819" algn="l"/>
                <a:tab pos="7962701" algn="l"/>
                <a:tab pos="8686583" algn="l"/>
              </a:tabLst>
            </a:pPr>
            <a:r>
              <a:rPr lang="en-US" sz="3200" b="1" dirty="0">
                <a:sym typeface="+mn-ea"/>
              </a:rPr>
              <a:t>    从图中找到一个边少于 k 的节点</a:t>
            </a:r>
            <a:r>
              <a:rPr lang="zh-CN" altLang="en-US" sz="3200" b="1" dirty="0">
                <a:sym typeface="+mn-ea"/>
              </a:rPr>
              <a:t>，</a:t>
            </a:r>
            <a:r>
              <a:rPr lang="en-US" sz="3200" b="1" dirty="0">
                <a:sym typeface="+mn-ea"/>
              </a:rPr>
              <a:t>删除它</a:t>
            </a:r>
          </a:p>
          <a:p>
            <a:pPr marL="431789" indent="-323843" defTabSz="449569">
              <a:lnSpc>
                <a:spcPct val="100000"/>
              </a:lnSpc>
              <a:buSzPct val="45000"/>
              <a:buNone/>
              <a:tabLst>
                <a:tab pos="723882" algn="l"/>
                <a:tab pos="1447764" algn="l"/>
                <a:tab pos="2171646" algn="l"/>
                <a:tab pos="2895528" algn="l"/>
                <a:tab pos="3619410" algn="l"/>
                <a:tab pos="4343291" algn="l"/>
                <a:tab pos="5067173" algn="l"/>
                <a:tab pos="5791055" algn="l"/>
                <a:tab pos="6514937" algn="l"/>
                <a:tab pos="7238819" algn="l"/>
                <a:tab pos="7962701" algn="l"/>
                <a:tab pos="8686583" algn="l"/>
              </a:tabLst>
            </a:pPr>
            <a:r>
              <a:rPr lang="en-US" sz="3200" b="1" dirty="0">
                <a:sym typeface="+mn-ea"/>
              </a:rPr>
              <a:t>    递归地为图形的其余部分着色</a:t>
            </a:r>
          </a:p>
          <a:p>
            <a:pPr marL="431789" indent="-323843" defTabSz="449569">
              <a:lnSpc>
                <a:spcPct val="100000"/>
              </a:lnSpc>
              <a:buSzPct val="45000"/>
              <a:buNone/>
              <a:tabLst>
                <a:tab pos="723882" algn="l"/>
                <a:tab pos="1447764" algn="l"/>
                <a:tab pos="2171646" algn="l"/>
                <a:tab pos="2895528" algn="l"/>
                <a:tab pos="3619410" algn="l"/>
                <a:tab pos="4343291" algn="l"/>
                <a:tab pos="5067173" algn="l"/>
                <a:tab pos="5791055" algn="l"/>
                <a:tab pos="6514937" algn="l"/>
                <a:tab pos="7238819" algn="l"/>
                <a:tab pos="7962701" algn="l"/>
                <a:tab pos="8686583" algn="l"/>
              </a:tabLst>
            </a:pPr>
            <a:r>
              <a:rPr lang="en-US" sz="3200" b="1" dirty="0">
                <a:sym typeface="+mn-ea"/>
              </a:rPr>
              <a:t>    重新添加</a:t>
            </a:r>
            <a:r>
              <a:rPr lang="zh-CN" altLang="en-US" sz="3200" b="1" dirty="0">
                <a:sym typeface="+mn-ea"/>
              </a:rPr>
              <a:t>被删除</a:t>
            </a:r>
            <a:r>
              <a:rPr lang="en-US" sz="3200" b="1" dirty="0">
                <a:sym typeface="+mn-ea"/>
              </a:rPr>
              <a:t>节点</a:t>
            </a:r>
            <a:r>
              <a:rPr lang="zh-CN" altLang="en-US" sz="3200" b="1" dirty="0">
                <a:sym typeface="+mn-ea"/>
              </a:rPr>
              <a:t>，</a:t>
            </a:r>
            <a:r>
              <a:rPr lang="en-US" sz="3200" b="1" dirty="0">
                <a:sym typeface="+mn-ea"/>
              </a:rPr>
              <a:t>为其指定有效颜色  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" name="object 5"/>
          <p:cNvGrpSpPr/>
          <p:nvPr/>
        </p:nvGrpSpPr>
        <p:grpSpPr>
          <a:xfrm>
            <a:off x="3530600" y="2653665"/>
            <a:ext cx="457200" cy="457200"/>
            <a:chOff x="3429000" y="2286000"/>
            <a:chExt cx="457200" cy="457200"/>
          </a:xfrm>
        </p:grpSpPr>
        <p:sp>
          <p:nvSpPr>
            <p:cNvPr id="96" name="object 6"/>
            <p:cNvSpPr/>
            <p:nvPr/>
          </p:nvSpPr>
          <p:spPr>
            <a:xfrm>
              <a:off x="3429000" y="2286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1585" y="4509"/>
                  </a:lnTo>
                  <a:lnTo>
                    <a:pt x="138231" y="17502"/>
                  </a:lnTo>
                  <a:lnTo>
                    <a:pt x="99342" y="38174"/>
                  </a:lnTo>
                  <a:lnTo>
                    <a:pt x="65722" y="65722"/>
                  </a:lnTo>
                  <a:lnTo>
                    <a:pt x="38174" y="99342"/>
                  </a:lnTo>
                  <a:lnTo>
                    <a:pt x="17502" y="138231"/>
                  </a:lnTo>
                  <a:lnTo>
                    <a:pt x="4509" y="181585"/>
                  </a:lnTo>
                  <a:lnTo>
                    <a:pt x="0" y="228600"/>
                  </a:lnTo>
                  <a:lnTo>
                    <a:pt x="4509" y="275614"/>
                  </a:lnTo>
                  <a:lnTo>
                    <a:pt x="17502" y="318968"/>
                  </a:lnTo>
                  <a:lnTo>
                    <a:pt x="38174" y="357857"/>
                  </a:lnTo>
                  <a:lnTo>
                    <a:pt x="65722" y="391477"/>
                  </a:lnTo>
                  <a:lnTo>
                    <a:pt x="99342" y="419025"/>
                  </a:lnTo>
                  <a:lnTo>
                    <a:pt x="138231" y="439697"/>
                  </a:lnTo>
                  <a:lnTo>
                    <a:pt x="181585" y="452690"/>
                  </a:lnTo>
                  <a:lnTo>
                    <a:pt x="228600" y="457200"/>
                  </a:lnTo>
                  <a:lnTo>
                    <a:pt x="275614" y="452690"/>
                  </a:lnTo>
                  <a:lnTo>
                    <a:pt x="318968" y="439697"/>
                  </a:lnTo>
                  <a:lnTo>
                    <a:pt x="357857" y="419025"/>
                  </a:lnTo>
                  <a:lnTo>
                    <a:pt x="391477" y="391477"/>
                  </a:lnTo>
                  <a:lnTo>
                    <a:pt x="419025" y="357857"/>
                  </a:lnTo>
                  <a:lnTo>
                    <a:pt x="439697" y="318968"/>
                  </a:lnTo>
                  <a:lnTo>
                    <a:pt x="452690" y="275614"/>
                  </a:lnTo>
                  <a:lnTo>
                    <a:pt x="457200" y="228600"/>
                  </a:lnTo>
                  <a:lnTo>
                    <a:pt x="452690" y="181585"/>
                  </a:lnTo>
                  <a:lnTo>
                    <a:pt x="439697" y="138231"/>
                  </a:lnTo>
                  <a:lnTo>
                    <a:pt x="419025" y="99342"/>
                  </a:lnTo>
                  <a:lnTo>
                    <a:pt x="391477" y="65722"/>
                  </a:lnTo>
                  <a:lnTo>
                    <a:pt x="357857" y="38174"/>
                  </a:lnTo>
                  <a:lnTo>
                    <a:pt x="318968" y="17502"/>
                  </a:lnTo>
                  <a:lnTo>
                    <a:pt x="275614" y="4509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7"/>
            <p:cNvSpPr/>
            <p:nvPr/>
          </p:nvSpPr>
          <p:spPr>
            <a:xfrm>
              <a:off x="3429000" y="2286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275614" y="4509"/>
                  </a:lnTo>
                  <a:lnTo>
                    <a:pt x="318968" y="17502"/>
                  </a:lnTo>
                  <a:lnTo>
                    <a:pt x="357857" y="38174"/>
                  </a:lnTo>
                  <a:lnTo>
                    <a:pt x="391477" y="65722"/>
                  </a:lnTo>
                  <a:lnTo>
                    <a:pt x="419025" y="99342"/>
                  </a:lnTo>
                  <a:lnTo>
                    <a:pt x="439697" y="138231"/>
                  </a:lnTo>
                  <a:lnTo>
                    <a:pt x="452690" y="181585"/>
                  </a:lnTo>
                  <a:lnTo>
                    <a:pt x="457200" y="228600"/>
                  </a:lnTo>
                  <a:lnTo>
                    <a:pt x="452690" y="275614"/>
                  </a:lnTo>
                  <a:lnTo>
                    <a:pt x="439697" y="318968"/>
                  </a:lnTo>
                  <a:lnTo>
                    <a:pt x="419025" y="357857"/>
                  </a:lnTo>
                  <a:lnTo>
                    <a:pt x="391477" y="391477"/>
                  </a:lnTo>
                  <a:lnTo>
                    <a:pt x="357857" y="419025"/>
                  </a:lnTo>
                  <a:lnTo>
                    <a:pt x="318968" y="439697"/>
                  </a:lnTo>
                  <a:lnTo>
                    <a:pt x="275614" y="452690"/>
                  </a:lnTo>
                  <a:lnTo>
                    <a:pt x="228600" y="457200"/>
                  </a:lnTo>
                  <a:lnTo>
                    <a:pt x="181585" y="452690"/>
                  </a:lnTo>
                  <a:lnTo>
                    <a:pt x="138231" y="439697"/>
                  </a:lnTo>
                  <a:lnTo>
                    <a:pt x="99342" y="419025"/>
                  </a:lnTo>
                  <a:lnTo>
                    <a:pt x="65722" y="391477"/>
                  </a:lnTo>
                  <a:lnTo>
                    <a:pt x="38174" y="357857"/>
                  </a:lnTo>
                  <a:lnTo>
                    <a:pt x="17502" y="318968"/>
                  </a:lnTo>
                  <a:lnTo>
                    <a:pt x="4509" y="275614"/>
                  </a:lnTo>
                  <a:lnTo>
                    <a:pt x="0" y="228600"/>
                  </a:lnTo>
                  <a:lnTo>
                    <a:pt x="4509" y="181585"/>
                  </a:lnTo>
                  <a:lnTo>
                    <a:pt x="17502" y="138231"/>
                  </a:lnTo>
                  <a:lnTo>
                    <a:pt x="38174" y="99342"/>
                  </a:lnTo>
                  <a:lnTo>
                    <a:pt x="65722" y="65722"/>
                  </a:lnTo>
                  <a:lnTo>
                    <a:pt x="99342" y="38174"/>
                  </a:lnTo>
                  <a:lnTo>
                    <a:pt x="138231" y="17502"/>
                  </a:lnTo>
                  <a:lnTo>
                    <a:pt x="181585" y="4509"/>
                  </a:lnTo>
                  <a:lnTo>
                    <a:pt x="228600" y="0"/>
                  </a:lnTo>
                  <a:close/>
                </a:path>
                <a:path w="457200" h="457200">
                  <a:moveTo>
                    <a:pt x="0" y="0"/>
                  </a:moveTo>
                  <a:lnTo>
                    <a:pt x="0" y="0"/>
                  </a:lnTo>
                </a:path>
                <a:path w="457200" h="457200">
                  <a:moveTo>
                    <a:pt x="457200" y="457200"/>
                  </a:moveTo>
                  <a:lnTo>
                    <a:pt x="457200" y="45720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0" name="object 5"/>
          <p:cNvGrpSpPr/>
          <p:nvPr/>
        </p:nvGrpSpPr>
        <p:grpSpPr>
          <a:xfrm>
            <a:off x="2843531" y="1514475"/>
            <a:ext cx="457200" cy="457200"/>
            <a:chOff x="3429000" y="2286000"/>
            <a:chExt cx="457200" cy="457200"/>
          </a:xfrm>
        </p:grpSpPr>
        <p:sp>
          <p:nvSpPr>
            <p:cNvPr id="91" name="object 6"/>
            <p:cNvSpPr/>
            <p:nvPr/>
          </p:nvSpPr>
          <p:spPr>
            <a:xfrm>
              <a:off x="3429000" y="2286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1585" y="4509"/>
                  </a:lnTo>
                  <a:lnTo>
                    <a:pt x="138231" y="17502"/>
                  </a:lnTo>
                  <a:lnTo>
                    <a:pt x="99342" y="38174"/>
                  </a:lnTo>
                  <a:lnTo>
                    <a:pt x="65722" y="65722"/>
                  </a:lnTo>
                  <a:lnTo>
                    <a:pt x="38174" y="99342"/>
                  </a:lnTo>
                  <a:lnTo>
                    <a:pt x="17502" y="138231"/>
                  </a:lnTo>
                  <a:lnTo>
                    <a:pt x="4509" y="181585"/>
                  </a:lnTo>
                  <a:lnTo>
                    <a:pt x="0" y="228600"/>
                  </a:lnTo>
                  <a:lnTo>
                    <a:pt x="4509" y="275614"/>
                  </a:lnTo>
                  <a:lnTo>
                    <a:pt x="17502" y="318968"/>
                  </a:lnTo>
                  <a:lnTo>
                    <a:pt x="38174" y="357857"/>
                  </a:lnTo>
                  <a:lnTo>
                    <a:pt x="65722" y="391477"/>
                  </a:lnTo>
                  <a:lnTo>
                    <a:pt x="99342" y="419025"/>
                  </a:lnTo>
                  <a:lnTo>
                    <a:pt x="138231" y="439697"/>
                  </a:lnTo>
                  <a:lnTo>
                    <a:pt x="181585" y="452690"/>
                  </a:lnTo>
                  <a:lnTo>
                    <a:pt x="228600" y="457200"/>
                  </a:lnTo>
                  <a:lnTo>
                    <a:pt x="275614" y="452690"/>
                  </a:lnTo>
                  <a:lnTo>
                    <a:pt x="318968" y="439697"/>
                  </a:lnTo>
                  <a:lnTo>
                    <a:pt x="357857" y="419025"/>
                  </a:lnTo>
                  <a:lnTo>
                    <a:pt x="391477" y="391477"/>
                  </a:lnTo>
                  <a:lnTo>
                    <a:pt x="419025" y="357857"/>
                  </a:lnTo>
                  <a:lnTo>
                    <a:pt x="439697" y="318968"/>
                  </a:lnTo>
                  <a:lnTo>
                    <a:pt x="452690" y="275614"/>
                  </a:lnTo>
                  <a:lnTo>
                    <a:pt x="457200" y="228600"/>
                  </a:lnTo>
                  <a:lnTo>
                    <a:pt x="452690" y="181585"/>
                  </a:lnTo>
                  <a:lnTo>
                    <a:pt x="439697" y="138231"/>
                  </a:lnTo>
                  <a:lnTo>
                    <a:pt x="419025" y="99342"/>
                  </a:lnTo>
                  <a:lnTo>
                    <a:pt x="391477" y="65722"/>
                  </a:lnTo>
                  <a:lnTo>
                    <a:pt x="357857" y="38174"/>
                  </a:lnTo>
                  <a:lnTo>
                    <a:pt x="318968" y="17502"/>
                  </a:lnTo>
                  <a:lnTo>
                    <a:pt x="275614" y="4509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7"/>
            <p:cNvSpPr/>
            <p:nvPr/>
          </p:nvSpPr>
          <p:spPr>
            <a:xfrm>
              <a:off x="3429000" y="2286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275614" y="4509"/>
                  </a:lnTo>
                  <a:lnTo>
                    <a:pt x="318968" y="17502"/>
                  </a:lnTo>
                  <a:lnTo>
                    <a:pt x="357857" y="38174"/>
                  </a:lnTo>
                  <a:lnTo>
                    <a:pt x="391477" y="65722"/>
                  </a:lnTo>
                  <a:lnTo>
                    <a:pt x="419025" y="99342"/>
                  </a:lnTo>
                  <a:lnTo>
                    <a:pt x="439697" y="138231"/>
                  </a:lnTo>
                  <a:lnTo>
                    <a:pt x="452690" y="181585"/>
                  </a:lnTo>
                  <a:lnTo>
                    <a:pt x="457200" y="228600"/>
                  </a:lnTo>
                  <a:lnTo>
                    <a:pt x="452690" y="275614"/>
                  </a:lnTo>
                  <a:lnTo>
                    <a:pt x="439697" y="318968"/>
                  </a:lnTo>
                  <a:lnTo>
                    <a:pt x="419025" y="357857"/>
                  </a:lnTo>
                  <a:lnTo>
                    <a:pt x="391477" y="391477"/>
                  </a:lnTo>
                  <a:lnTo>
                    <a:pt x="357857" y="419025"/>
                  </a:lnTo>
                  <a:lnTo>
                    <a:pt x="318968" y="439697"/>
                  </a:lnTo>
                  <a:lnTo>
                    <a:pt x="275614" y="452690"/>
                  </a:lnTo>
                  <a:lnTo>
                    <a:pt x="228600" y="457200"/>
                  </a:lnTo>
                  <a:lnTo>
                    <a:pt x="181585" y="452690"/>
                  </a:lnTo>
                  <a:lnTo>
                    <a:pt x="138231" y="439697"/>
                  </a:lnTo>
                  <a:lnTo>
                    <a:pt x="99342" y="419025"/>
                  </a:lnTo>
                  <a:lnTo>
                    <a:pt x="65722" y="391477"/>
                  </a:lnTo>
                  <a:lnTo>
                    <a:pt x="38174" y="357857"/>
                  </a:lnTo>
                  <a:lnTo>
                    <a:pt x="17502" y="318968"/>
                  </a:lnTo>
                  <a:lnTo>
                    <a:pt x="4509" y="275614"/>
                  </a:lnTo>
                  <a:lnTo>
                    <a:pt x="0" y="228600"/>
                  </a:lnTo>
                  <a:lnTo>
                    <a:pt x="4509" y="181585"/>
                  </a:lnTo>
                  <a:lnTo>
                    <a:pt x="17502" y="138231"/>
                  </a:lnTo>
                  <a:lnTo>
                    <a:pt x="38174" y="99342"/>
                  </a:lnTo>
                  <a:lnTo>
                    <a:pt x="65722" y="65722"/>
                  </a:lnTo>
                  <a:lnTo>
                    <a:pt x="99342" y="38174"/>
                  </a:lnTo>
                  <a:lnTo>
                    <a:pt x="138231" y="17502"/>
                  </a:lnTo>
                  <a:lnTo>
                    <a:pt x="181585" y="4509"/>
                  </a:lnTo>
                  <a:lnTo>
                    <a:pt x="228600" y="0"/>
                  </a:lnTo>
                  <a:close/>
                </a:path>
                <a:path w="457200" h="457200">
                  <a:moveTo>
                    <a:pt x="0" y="0"/>
                  </a:moveTo>
                  <a:lnTo>
                    <a:pt x="0" y="0"/>
                  </a:lnTo>
                </a:path>
                <a:path w="457200" h="457200">
                  <a:moveTo>
                    <a:pt x="457200" y="457200"/>
                  </a:moveTo>
                  <a:lnTo>
                    <a:pt x="457200" y="45720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5" name="object 7"/>
          <p:cNvGrpSpPr/>
          <p:nvPr/>
        </p:nvGrpSpPr>
        <p:grpSpPr>
          <a:xfrm>
            <a:off x="4214495" y="1514475"/>
            <a:ext cx="457200" cy="457200"/>
            <a:chOff x="4800600" y="2286000"/>
            <a:chExt cx="457200" cy="457200"/>
          </a:xfrm>
        </p:grpSpPr>
        <p:sp>
          <p:nvSpPr>
            <p:cNvPr id="86" name="object 8"/>
            <p:cNvSpPr/>
            <p:nvPr/>
          </p:nvSpPr>
          <p:spPr>
            <a:xfrm>
              <a:off x="4800600" y="2286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1585" y="4509"/>
                  </a:lnTo>
                  <a:lnTo>
                    <a:pt x="138231" y="17502"/>
                  </a:lnTo>
                  <a:lnTo>
                    <a:pt x="99342" y="38174"/>
                  </a:lnTo>
                  <a:lnTo>
                    <a:pt x="65722" y="65722"/>
                  </a:lnTo>
                  <a:lnTo>
                    <a:pt x="38174" y="99342"/>
                  </a:lnTo>
                  <a:lnTo>
                    <a:pt x="17502" y="138231"/>
                  </a:lnTo>
                  <a:lnTo>
                    <a:pt x="4509" y="181585"/>
                  </a:lnTo>
                  <a:lnTo>
                    <a:pt x="0" y="228600"/>
                  </a:lnTo>
                  <a:lnTo>
                    <a:pt x="4509" y="275614"/>
                  </a:lnTo>
                  <a:lnTo>
                    <a:pt x="17502" y="318968"/>
                  </a:lnTo>
                  <a:lnTo>
                    <a:pt x="38174" y="357857"/>
                  </a:lnTo>
                  <a:lnTo>
                    <a:pt x="65722" y="391477"/>
                  </a:lnTo>
                  <a:lnTo>
                    <a:pt x="99342" y="419025"/>
                  </a:lnTo>
                  <a:lnTo>
                    <a:pt x="138231" y="439697"/>
                  </a:lnTo>
                  <a:lnTo>
                    <a:pt x="181585" y="452690"/>
                  </a:lnTo>
                  <a:lnTo>
                    <a:pt x="228600" y="457200"/>
                  </a:lnTo>
                  <a:lnTo>
                    <a:pt x="275614" y="452690"/>
                  </a:lnTo>
                  <a:lnTo>
                    <a:pt x="318968" y="439697"/>
                  </a:lnTo>
                  <a:lnTo>
                    <a:pt x="357857" y="419025"/>
                  </a:lnTo>
                  <a:lnTo>
                    <a:pt x="391477" y="391477"/>
                  </a:lnTo>
                  <a:lnTo>
                    <a:pt x="419025" y="357857"/>
                  </a:lnTo>
                  <a:lnTo>
                    <a:pt x="439697" y="318968"/>
                  </a:lnTo>
                  <a:lnTo>
                    <a:pt x="452690" y="275614"/>
                  </a:lnTo>
                  <a:lnTo>
                    <a:pt x="457200" y="228600"/>
                  </a:lnTo>
                  <a:lnTo>
                    <a:pt x="452690" y="181585"/>
                  </a:lnTo>
                  <a:lnTo>
                    <a:pt x="439697" y="138231"/>
                  </a:lnTo>
                  <a:lnTo>
                    <a:pt x="419025" y="99342"/>
                  </a:lnTo>
                  <a:lnTo>
                    <a:pt x="391477" y="65722"/>
                  </a:lnTo>
                  <a:lnTo>
                    <a:pt x="357857" y="38174"/>
                  </a:lnTo>
                  <a:lnTo>
                    <a:pt x="318968" y="17502"/>
                  </a:lnTo>
                  <a:lnTo>
                    <a:pt x="275614" y="4509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9"/>
            <p:cNvSpPr/>
            <p:nvPr/>
          </p:nvSpPr>
          <p:spPr>
            <a:xfrm>
              <a:off x="4800600" y="2286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275614" y="4509"/>
                  </a:lnTo>
                  <a:lnTo>
                    <a:pt x="318968" y="17502"/>
                  </a:lnTo>
                  <a:lnTo>
                    <a:pt x="357857" y="38174"/>
                  </a:lnTo>
                  <a:lnTo>
                    <a:pt x="391477" y="65722"/>
                  </a:lnTo>
                  <a:lnTo>
                    <a:pt x="419025" y="99342"/>
                  </a:lnTo>
                  <a:lnTo>
                    <a:pt x="439697" y="138231"/>
                  </a:lnTo>
                  <a:lnTo>
                    <a:pt x="452690" y="181585"/>
                  </a:lnTo>
                  <a:lnTo>
                    <a:pt x="457200" y="228600"/>
                  </a:lnTo>
                  <a:lnTo>
                    <a:pt x="452690" y="275614"/>
                  </a:lnTo>
                  <a:lnTo>
                    <a:pt x="439697" y="318968"/>
                  </a:lnTo>
                  <a:lnTo>
                    <a:pt x="419025" y="357857"/>
                  </a:lnTo>
                  <a:lnTo>
                    <a:pt x="391477" y="391477"/>
                  </a:lnTo>
                  <a:lnTo>
                    <a:pt x="357857" y="419025"/>
                  </a:lnTo>
                  <a:lnTo>
                    <a:pt x="318968" y="439697"/>
                  </a:lnTo>
                  <a:lnTo>
                    <a:pt x="275614" y="452690"/>
                  </a:lnTo>
                  <a:lnTo>
                    <a:pt x="228600" y="457200"/>
                  </a:lnTo>
                  <a:lnTo>
                    <a:pt x="181585" y="452690"/>
                  </a:lnTo>
                  <a:lnTo>
                    <a:pt x="138231" y="439697"/>
                  </a:lnTo>
                  <a:lnTo>
                    <a:pt x="99342" y="419025"/>
                  </a:lnTo>
                  <a:lnTo>
                    <a:pt x="65722" y="391477"/>
                  </a:lnTo>
                  <a:lnTo>
                    <a:pt x="38174" y="357857"/>
                  </a:lnTo>
                  <a:lnTo>
                    <a:pt x="17502" y="318968"/>
                  </a:lnTo>
                  <a:lnTo>
                    <a:pt x="4509" y="275614"/>
                  </a:lnTo>
                  <a:lnTo>
                    <a:pt x="0" y="228600"/>
                  </a:lnTo>
                  <a:lnTo>
                    <a:pt x="4509" y="181585"/>
                  </a:lnTo>
                  <a:lnTo>
                    <a:pt x="17502" y="138231"/>
                  </a:lnTo>
                  <a:lnTo>
                    <a:pt x="38174" y="99342"/>
                  </a:lnTo>
                  <a:lnTo>
                    <a:pt x="65722" y="65722"/>
                  </a:lnTo>
                  <a:lnTo>
                    <a:pt x="99342" y="38174"/>
                  </a:lnTo>
                  <a:lnTo>
                    <a:pt x="138231" y="17502"/>
                  </a:lnTo>
                  <a:lnTo>
                    <a:pt x="181585" y="4509"/>
                  </a:lnTo>
                  <a:lnTo>
                    <a:pt x="228600" y="0"/>
                  </a:lnTo>
                  <a:close/>
                </a:path>
                <a:path w="457200" h="457200">
                  <a:moveTo>
                    <a:pt x="0" y="0"/>
                  </a:moveTo>
                  <a:lnTo>
                    <a:pt x="0" y="0"/>
                  </a:lnTo>
                </a:path>
                <a:path w="457200" h="457200">
                  <a:moveTo>
                    <a:pt x="457200" y="457200"/>
                  </a:moveTo>
                  <a:lnTo>
                    <a:pt x="457200" y="45720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b="1" dirty="0">
                <a:latin typeface="楷体_GB2312" panose="02010609030101010101" charset="-122"/>
                <a:ea typeface="楷体_GB2312" panose="02010609030101010101" charset="-122"/>
                <a:sym typeface="+mn-ea"/>
              </a:rPr>
              <a:t>图着色算法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46</a:t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graphicFrame>
        <p:nvGraphicFramePr>
          <p:cNvPr id="57" name="object 57"/>
          <p:cNvGraphicFramePr>
            <a:graphicFrameLocks noGrp="1"/>
          </p:cNvGraphicFramePr>
          <p:nvPr/>
        </p:nvGraphicFramePr>
        <p:xfrm>
          <a:off x="1928495" y="4679315"/>
          <a:ext cx="3657600" cy="45770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708">
                <a:tc>
                  <a:txBody>
                    <a:bodyPr/>
                    <a:lstStyle/>
                    <a:p>
                      <a:pPr marL="254000">
                        <a:lnSpc>
                          <a:spcPts val="2940"/>
                        </a:lnSpc>
                      </a:pPr>
                      <a:r>
                        <a:rPr sz="2700" b="1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R</a:t>
                      </a:r>
                      <a:r>
                        <a:rPr sz="2300" b="1" baseline="-31000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0</a:t>
                      </a:r>
                      <a:endParaRPr sz="2300" baseline="-31000">
                        <a:latin typeface="DejaVu Serif" panose="02060603050605020204"/>
                        <a:cs typeface="DejaVu Serif" panose="02060603050605020204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254000">
                        <a:lnSpc>
                          <a:spcPts val="2940"/>
                        </a:lnSpc>
                      </a:pPr>
                      <a:r>
                        <a:rPr sz="2700" b="1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R</a:t>
                      </a:r>
                      <a:r>
                        <a:rPr sz="2300" b="1" baseline="-31000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1</a:t>
                      </a:r>
                      <a:endParaRPr sz="2300" baseline="-31000">
                        <a:latin typeface="DejaVu Serif" panose="02060603050605020204"/>
                        <a:cs typeface="DejaVu Serif" panose="02060603050605020204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254000">
                        <a:lnSpc>
                          <a:spcPts val="2940"/>
                        </a:lnSpc>
                      </a:pPr>
                      <a:r>
                        <a:rPr sz="2700" b="1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R</a:t>
                      </a:r>
                      <a:r>
                        <a:rPr sz="2300" b="1" baseline="-31000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2</a:t>
                      </a:r>
                      <a:endParaRPr sz="2300" baseline="-31000">
                        <a:latin typeface="DejaVu Serif" panose="02060603050605020204"/>
                        <a:cs typeface="DejaVu Serif" panose="02060603050605020204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F00FF"/>
                    </a:solidFill>
                  </a:tcPr>
                </a:tc>
                <a:tc>
                  <a:txBody>
                    <a:bodyPr/>
                    <a:lstStyle/>
                    <a:p>
                      <a:pPr marL="254000">
                        <a:lnSpc>
                          <a:spcPts val="2940"/>
                        </a:lnSpc>
                      </a:pPr>
                      <a:r>
                        <a:rPr sz="2700" b="1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R</a:t>
                      </a:r>
                      <a:r>
                        <a:rPr sz="2300" b="1" baseline="-31000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3</a:t>
                      </a:r>
                      <a:endParaRPr sz="2300" baseline="-31000">
                        <a:latin typeface="DejaVu Serif" panose="02060603050605020204"/>
                        <a:cs typeface="DejaVu Serif" panose="02060603050605020204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E5E5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6" name="object 3"/>
          <p:cNvSpPr/>
          <p:nvPr/>
        </p:nvSpPr>
        <p:spPr>
          <a:xfrm>
            <a:off x="1928495" y="265366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4"/>
          <p:cNvSpPr txBox="1"/>
          <p:nvPr/>
        </p:nvSpPr>
        <p:spPr>
          <a:xfrm>
            <a:off x="2052958" y="2646045"/>
            <a:ext cx="20891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b="1" dirty="0">
                <a:solidFill>
                  <a:srgbClr val="191919"/>
                </a:solidFill>
                <a:latin typeface="Courier New" panose="02070409020205020404"/>
                <a:cs typeface="Courier New" panose="02070409020205020404"/>
              </a:rPr>
              <a:t>a</a:t>
            </a:r>
            <a:endParaRPr sz="2400">
              <a:latin typeface="Courier New" panose="02070409020205020404"/>
              <a:cs typeface="Courier New" panose="02070409020205020404"/>
            </a:endParaRPr>
          </a:p>
        </p:txBody>
      </p:sp>
      <p:sp>
        <p:nvSpPr>
          <p:cNvPr id="59" name="object 5"/>
          <p:cNvSpPr/>
          <p:nvPr/>
        </p:nvSpPr>
        <p:spPr>
          <a:xfrm>
            <a:off x="2842895" y="151066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"/>
          <p:cNvSpPr txBox="1"/>
          <p:nvPr/>
        </p:nvSpPr>
        <p:spPr>
          <a:xfrm>
            <a:off x="2967357" y="1503045"/>
            <a:ext cx="20891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b="1" dirty="0">
                <a:solidFill>
                  <a:srgbClr val="191919"/>
                </a:solidFill>
                <a:latin typeface="Courier New" panose="02070409020205020404"/>
                <a:cs typeface="Courier New" panose="02070409020205020404"/>
              </a:rPr>
              <a:t>b</a:t>
            </a:r>
            <a:endParaRPr sz="2400">
              <a:latin typeface="Courier New" panose="02070409020205020404"/>
              <a:cs typeface="Courier New" panose="02070409020205020404"/>
            </a:endParaRPr>
          </a:p>
        </p:txBody>
      </p:sp>
      <p:sp>
        <p:nvSpPr>
          <p:cNvPr id="61" name="object 7"/>
          <p:cNvSpPr/>
          <p:nvPr/>
        </p:nvSpPr>
        <p:spPr>
          <a:xfrm>
            <a:off x="4213225" y="152336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8"/>
          <p:cNvSpPr txBox="1"/>
          <p:nvPr/>
        </p:nvSpPr>
        <p:spPr>
          <a:xfrm>
            <a:off x="4338957" y="1503045"/>
            <a:ext cx="20891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b="1" dirty="0">
                <a:solidFill>
                  <a:srgbClr val="191919"/>
                </a:solidFill>
                <a:latin typeface="Courier New" panose="02070409020205020404"/>
                <a:cs typeface="Courier New" panose="02070409020205020404"/>
              </a:rPr>
              <a:t>c</a:t>
            </a:r>
            <a:endParaRPr sz="2400">
              <a:latin typeface="Courier New" panose="02070409020205020404"/>
              <a:cs typeface="Courier New" panose="02070409020205020404"/>
            </a:endParaRPr>
          </a:p>
        </p:txBody>
      </p:sp>
      <p:sp>
        <p:nvSpPr>
          <p:cNvPr id="63" name="object 9"/>
          <p:cNvSpPr/>
          <p:nvPr/>
        </p:nvSpPr>
        <p:spPr>
          <a:xfrm>
            <a:off x="3528695" y="265366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10"/>
          <p:cNvSpPr txBox="1"/>
          <p:nvPr/>
        </p:nvSpPr>
        <p:spPr>
          <a:xfrm>
            <a:off x="3653157" y="2646045"/>
            <a:ext cx="20891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b="1" dirty="0">
                <a:solidFill>
                  <a:srgbClr val="191919"/>
                </a:solidFill>
                <a:latin typeface="Courier New" panose="02070409020205020404"/>
                <a:cs typeface="Courier New" panose="02070409020205020404"/>
              </a:rPr>
              <a:t>d</a:t>
            </a:r>
            <a:endParaRPr sz="2400">
              <a:latin typeface="Courier New" panose="02070409020205020404"/>
              <a:cs typeface="Courier New" panose="02070409020205020404"/>
            </a:endParaRPr>
          </a:p>
        </p:txBody>
      </p:sp>
      <p:sp>
        <p:nvSpPr>
          <p:cNvPr id="65" name="object 11"/>
          <p:cNvSpPr/>
          <p:nvPr/>
        </p:nvSpPr>
        <p:spPr>
          <a:xfrm>
            <a:off x="5128895" y="265366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12"/>
          <p:cNvSpPr txBox="1"/>
          <p:nvPr/>
        </p:nvSpPr>
        <p:spPr>
          <a:xfrm>
            <a:off x="5253357" y="2646045"/>
            <a:ext cx="20891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b="1" dirty="0">
                <a:solidFill>
                  <a:srgbClr val="191919"/>
                </a:solidFill>
                <a:latin typeface="Courier New" panose="02070409020205020404"/>
                <a:cs typeface="Courier New" panose="02070409020205020404"/>
              </a:rPr>
              <a:t>e</a:t>
            </a:r>
            <a:endParaRPr sz="2400">
              <a:latin typeface="Courier New" panose="02070409020205020404"/>
              <a:cs typeface="Courier New" panose="02070409020205020404"/>
            </a:endParaRPr>
          </a:p>
        </p:txBody>
      </p:sp>
      <p:sp>
        <p:nvSpPr>
          <p:cNvPr id="67" name="object 13"/>
          <p:cNvSpPr/>
          <p:nvPr/>
        </p:nvSpPr>
        <p:spPr>
          <a:xfrm>
            <a:off x="2842895" y="379666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14"/>
          <p:cNvSpPr txBox="1"/>
          <p:nvPr/>
        </p:nvSpPr>
        <p:spPr>
          <a:xfrm>
            <a:off x="2967357" y="3789045"/>
            <a:ext cx="20891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b="1" dirty="0">
                <a:solidFill>
                  <a:srgbClr val="191919"/>
                </a:solidFill>
                <a:latin typeface="Courier New" panose="02070409020205020404"/>
                <a:cs typeface="Courier New" panose="02070409020205020404"/>
              </a:rPr>
              <a:t>g</a:t>
            </a:r>
            <a:endParaRPr sz="2400">
              <a:latin typeface="Courier New" panose="02070409020205020404"/>
              <a:cs typeface="Courier New" panose="02070409020205020404"/>
            </a:endParaRPr>
          </a:p>
        </p:txBody>
      </p:sp>
      <p:sp>
        <p:nvSpPr>
          <p:cNvPr id="69" name="object 15"/>
          <p:cNvSpPr/>
          <p:nvPr/>
        </p:nvSpPr>
        <p:spPr>
          <a:xfrm>
            <a:off x="4214495" y="379666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16"/>
          <p:cNvSpPr txBox="1"/>
          <p:nvPr/>
        </p:nvSpPr>
        <p:spPr>
          <a:xfrm>
            <a:off x="4338957" y="3789045"/>
            <a:ext cx="20891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b="1" dirty="0">
                <a:solidFill>
                  <a:srgbClr val="191919"/>
                </a:solidFill>
                <a:latin typeface="Courier New" panose="02070409020205020404"/>
                <a:cs typeface="Courier New" panose="02070409020205020404"/>
              </a:rPr>
              <a:t>f</a:t>
            </a:r>
            <a:endParaRPr sz="2400">
              <a:latin typeface="Courier New" panose="02070409020205020404"/>
              <a:cs typeface="Courier New" panose="02070409020205020404"/>
            </a:endParaRPr>
          </a:p>
        </p:txBody>
      </p:sp>
      <p:cxnSp>
        <p:nvCxnSpPr>
          <p:cNvPr id="72" name="直接连接符 71"/>
          <p:cNvCxnSpPr/>
          <p:nvPr/>
        </p:nvCxnSpPr>
        <p:spPr>
          <a:xfrm>
            <a:off x="2262508" y="3126108"/>
            <a:ext cx="631191" cy="69405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接连接符 72"/>
          <p:cNvCxnSpPr>
            <a:endCxn id="58" idx="0"/>
          </p:cNvCxnSpPr>
          <p:nvPr/>
        </p:nvCxnSpPr>
        <p:spPr>
          <a:xfrm flipH="1">
            <a:off x="2157414" y="1890397"/>
            <a:ext cx="709612" cy="75564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接连接符 73"/>
          <p:cNvCxnSpPr/>
          <p:nvPr/>
        </p:nvCxnSpPr>
        <p:spPr>
          <a:xfrm flipH="1">
            <a:off x="3354072" y="1710055"/>
            <a:ext cx="8293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接连接符 74"/>
          <p:cNvCxnSpPr>
            <a:endCxn id="66" idx="0"/>
          </p:cNvCxnSpPr>
          <p:nvPr/>
        </p:nvCxnSpPr>
        <p:spPr>
          <a:xfrm>
            <a:off x="4670425" y="1881508"/>
            <a:ext cx="687388" cy="76453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接连接符 75"/>
          <p:cNvCxnSpPr/>
          <p:nvPr/>
        </p:nvCxnSpPr>
        <p:spPr>
          <a:xfrm flipH="1">
            <a:off x="3912873" y="1980568"/>
            <a:ext cx="495935" cy="65849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接连接符 76"/>
          <p:cNvCxnSpPr/>
          <p:nvPr/>
        </p:nvCxnSpPr>
        <p:spPr>
          <a:xfrm>
            <a:off x="3146428" y="1962788"/>
            <a:ext cx="433071" cy="68516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接连接符 77"/>
          <p:cNvCxnSpPr/>
          <p:nvPr/>
        </p:nvCxnSpPr>
        <p:spPr>
          <a:xfrm>
            <a:off x="3281683" y="1881507"/>
            <a:ext cx="1839595" cy="83883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接连接符 78"/>
          <p:cNvCxnSpPr>
            <a:endCxn id="70" idx="0"/>
          </p:cNvCxnSpPr>
          <p:nvPr/>
        </p:nvCxnSpPr>
        <p:spPr>
          <a:xfrm>
            <a:off x="3921761" y="3062605"/>
            <a:ext cx="521652" cy="7264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连接符 79"/>
          <p:cNvCxnSpPr>
            <a:endCxn id="68" idx="0"/>
          </p:cNvCxnSpPr>
          <p:nvPr/>
        </p:nvCxnSpPr>
        <p:spPr>
          <a:xfrm flipH="1">
            <a:off x="3071815" y="3081021"/>
            <a:ext cx="534353" cy="70802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接连接符 80"/>
          <p:cNvCxnSpPr/>
          <p:nvPr/>
        </p:nvCxnSpPr>
        <p:spPr>
          <a:xfrm flipH="1">
            <a:off x="2416177" y="2846705"/>
            <a:ext cx="107315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接连接符 81"/>
          <p:cNvCxnSpPr/>
          <p:nvPr/>
        </p:nvCxnSpPr>
        <p:spPr>
          <a:xfrm flipH="1" flipV="1">
            <a:off x="2361568" y="3017521"/>
            <a:ext cx="1794511" cy="8661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接连接符 82"/>
          <p:cNvCxnSpPr/>
          <p:nvPr/>
        </p:nvCxnSpPr>
        <p:spPr>
          <a:xfrm flipH="1">
            <a:off x="4643124" y="3126105"/>
            <a:ext cx="658495" cy="7213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接连接符 83"/>
          <p:cNvCxnSpPr/>
          <p:nvPr/>
        </p:nvCxnSpPr>
        <p:spPr>
          <a:xfrm flipH="1">
            <a:off x="3290573" y="2900682"/>
            <a:ext cx="1812925" cy="96456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object 23"/>
          <p:cNvSpPr/>
          <p:nvPr/>
        </p:nvSpPr>
        <p:spPr>
          <a:xfrm>
            <a:off x="7543800" y="4572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24"/>
          <p:cNvSpPr txBox="1"/>
          <p:nvPr/>
        </p:nvSpPr>
        <p:spPr>
          <a:xfrm>
            <a:off x="7660642" y="4546600"/>
            <a:ext cx="224155" cy="4129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600" b="1" dirty="0">
                <a:solidFill>
                  <a:srgbClr val="191919"/>
                </a:solidFill>
                <a:latin typeface="Courier New" panose="02070409020205020404"/>
                <a:cs typeface="Courier New" panose="02070409020205020404"/>
              </a:rPr>
              <a:t>c</a:t>
            </a:r>
            <a:endParaRPr sz="2600">
              <a:latin typeface="Courier New" panose="02070409020205020404"/>
              <a:cs typeface="Courier New" panose="02070409020205020404"/>
            </a:endParaRPr>
          </a:p>
        </p:txBody>
      </p:sp>
      <p:sp>
        <p:nvSpPr>
          <p:cNvPr id="93" name="object 23"/>
          <p:cNvSpPr/>
          <p:nvPr/>
        </p:nvSpPr>
        <p:spPr>
          <a:xfrm>
            <a:off x="7555231" y="4103371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24"/>
          <p:cNvSpPr txBox="1"/>
          <p:nvPr/>
        </p:nvSpPr>
        <p:spPr>
          <a:xfrm>
            <a:off x="7672071" y="4077969"/>
            <a:ext cx="224155" cy="4129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sz="2600" b="1" dirty="0">
                <a:solidFill>
                  <a:srgbClr val="191919"/>
                </a:solidFill>
                <a:latin typeface="Courier New" panose="02070409020205020404"/>
                <a:cs typeface="Courier New" panose="02070409020205020404"/>
              </a:rPr>
              <a:t>b</a:t>
            </a:r>
          </a:p>
        </p:txBody>
      </p:sp>
      <p:sp>
        <p:nvSpPr>
          <p:cNvPr id="98" name="object 23"/>
          <p:cNvSpPr/>
          <p:nvPr/>
        </p:nvSpPr>
        <p:spPr>
          <a:xfrm>
            <a:off x="7543165" y="36353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object 24"/>
          <p:cNvSpPr txBox="1"/>
          <p:nvPr/>
        </p:nvSpPr>
        <p:spPr>
          <a:xfrm>
            <a:off x="7660007" y="3609975"/>
            <a:ext cx="224155" cy="4129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sz="2600" b="1" dirty="0">
                <a:solidFill>
                  <a:srgbClr val="191919"/>
                </a:solidFill>
                <a:latin typeface="Courier New" panose="02070409020205020404"/>
                <a:cs typeface="Courier New" panose="02070409020205020404"/>
              </a:rPr>
              <a:t>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  <p:set>
                                      <p:cBhvr>
                                        <p:cTn id="20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  <p:set>
                                      <p:cBhvr>
                                        <p:cTn id="23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  <p:set>
                                      <p:cBhvr>
                                        <p:cTn id="26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  <p:set>
                                      <p:cBhvr>
                                        <p:cTn id="29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1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4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1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  <p:set>
                                      <p:cBhvr>
                                        <p:cTn id="55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7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  <p:set>
                                      <p:cBhvr>
                                        <p:cTn id="58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0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  <p:set>
                                      <p:cBhvr>
                                        <p:cTn id="61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3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  <p:set>
                                      <p:cBhvr>
                                        <p:cTn id="64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6" dur="500" fill="hold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1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6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9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83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6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  <p:set>
                                      <p:cBhvr>
                                        <p:cTn id="87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9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  <p:set>
                                      <p:cBhvr>
                                        <p:cTn id="90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2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  <p:set>
                                      <p:cBhvr>
                                        <p:cTn id="93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5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  <p:set>
                                      <p:cBhvr>
                                        <p:cTn id="96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8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/>
      <p:bldP spid="64" grpId="0"/>
      <p:bldP spid="88" grpId="0" animBg="1"/>
      <p:bldP spid="89" grpId="0"/>
      <p:bldP spid="93" grpId="0" bldLvl="0" animBg="1"/>
      <p:bldP spid="94" grpId="0"/>
      <p:bldP spid="98" grpId="0" bldLvl="0" animBg="1"/>
      <p:bldP spid="99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object 15"/>
          <p:cNvGrpSpPr/>
          <p:nvPr/>
        </p:nvGrpSpPr>
        <p:grpSpPr>
          <a:xfrm>
            <a:off x="5129531" y="2646045"/>
            <a:ext cx="457200" cy="457200"/>
            <a:chOff x="5715000" y="3429000"/>
            <a:chExt cx="457200" cy="457200"/>
          </a:xfrm>
        </p:grpSpPr>
        <p:sp>
          <p:nvSpPr>
            <p:cNvPr id="28" name="object 16"/>
            <p:cNvSpPr/>
            <p:nvPr/>
          </p:nvSpPr>
          <p:spPr>
            <a:xfrm>
              <a:off x="5715000" y="3429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1585" y="4509"/>
                  </a:lnTo>
                  <a:lnTo>
                    <a:pt x="138231" y="17502"/>
                  </a:lnTo>
                  <a:lnTo>
                    <a:pt x="99342" y="38174"/>
                  </a:lnTo>
                  <a:lnTo>
                    <a:pt x="65722" y="65722"/>
                  </a:lnTo>
                  <a:lnTo>
                    <a:pt x="38174" y="99342"/>
                  </a:lnTo>
                  <a:lnTo>
                    <a:pt x="17502" y="138231"/>
                  </a:lnTo>
                  <a:lnTo>
                    <a:pt x="4509" y="181585"/>
                  </a:lnTo>
                  <a:lnTo>
                    <a:pt x="0" y="228600"/>
                  </a:lnTo>
                  <a:lnTo>
                    <a:pt x="4509" y="275614"/>
                  </a:lnTo>
                  <a:lnTo>
                    <a:pt x="17502" y="318968"/>
                  </a:lnTo>
                  <a:lnTo>
                    <a:pt x="38174" y="357857"/>
                  </a:lnTo>
                  <a:lnTo>
                    <a:pt x="65722" y="391477"/>
                  </a:lnTo>
                  <a:lnTo>
                    <a:pt x="99342" y="419025"/>
                  </a:lnTo>
                  <a:lnTo>
                    <a:pt x="138231" y="439697"/>
                  </a:lnTo>
                  <a:lnTo>
                    <a:pt x="181585" y="452690"/>
                  </a:lnTo>
                  <a:lnTo>
                    <a:pt x="228600" y="457200"/>
                  </a:lnTo>
                  <a:lnTo>
                    <a:pt x="275614" y="452690"/>
                  </a:lnTo>
                  <a:lnTo>
                    <a:pt x="318968" y="439697"/>
                  </a:lnTo>
                  <a:lnTo>
                    <a:pt x="357857" y="419025"/>
                  </a:lnTo>
                  <a:lnTo>
                    <a:pt x="391477" y="391477"/>
                  </a:lnTo>
                  <a:lnTo>
                    <a:pt x="419025" y="357857"/>
                  </a:lnTo>
                  <a:lnTo>
                    <a:pt x="439697" y="318968"/>
                  </a:lnTo>
                  <a:lnTo>
                    <a:pt x="452690" y="275614"/>
                  </a:lnTo>
                  <a:lnTo>
                    <a:pt x="457200" y="228600"/>
                  </a:lnTo>
                  <a:lnTo>
                    <a:pt x="452690" y="181585"/>
                  </a:lnTo>
                  <a:lnTo>
                    <a:pt x="439697" y="138231"/>
                  </a:lnTo>
                  <a:lnTo>
                    <a:pt x="419025" y="99342"/>
                  </a:lnTo>
                  <a:lnTo>
                    <a:pt x="391477" y="65722"/>
                  </a:lnTo>
                  <a:lnTo>
                    <a:pt x="357857" y="38174"/>
                  </a:lnTo>
                  <a:lnTo>
                    <a:pt x="318968" y="17502"/>
                  </a:lnTo>
                  <a:lnTo>
                    <a:pt x="275614" y="4509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FF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17"/>
            <p:cNvSpPr/>
            <p:nvPr/>
          </p:nvSpPr>
          <p:spPr>
            <a:xfrm>
              <a:off x="5715000" y="3429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275614" y="4509"/>
                  </a:lnTo>
                  <a:lnTo>
                    <a:pt x="318968" y="17502"/>
                  </a:lnTo>
                  <a:lnTo>
                    <a:pt x="357857" y="38174"/>
                  </a:lnTo>
                  <a:lnTo>
                    <a:pt x="391477" y="65722"/>
                  </a:lnTo>
                  <a:lnTo>
                    <a:pt x="419025" y="99342"/>
                  </a:lnTo>
                  <a:lnTo>
                    <a:pt x="439697" y="138231"/>
                  </a:lnTo>
                  <a:lnTo>
                    <a:pt x="452690" y="181585"/>
                  </a:lnTo>
                  <a:lnTo>
                    <a:pt x="457200" y="228600"/>
                  </a:lnTo>
                  <a:lnTo>
                    <a:pt x="452690" y="275614"/>
                  </a:lnTo>
                  <a:lnTo>
                    <a:pt x="439697" y="318968"/>
                  </a:lnTo>
                  <a:lnTo>
                    <a:pt x="419025" y="357857"/>
                  </a:lnTo>
                  <a:lnTo>
                    <a:pt x="391477" y="391477"/>
                  </a:lnTo>
                  <a:lnTo>
                    <a:pt x="357857" y="419025"/>
                  </a:lnTo>
                  <a:lnTo>
                    <a:pt x="318968" y="439697"/>
                  </a:lnTo>
                  <a:lnTo>
                    <a:pt x="275614" y="452690"/>
                  </a:lnTo>
                  <a:lnTo>
                    <a:pt x="228600" y="457200"/>
                  </a:lnTo>
                  <a:lnTo>
                    <a:pt x="181585" y="452690"/>
                  </a:lnTo>
                  <a:lnTo>
                    <a:pt x="138231" y="439697"/>
                  </a:lnTo>
                  <a:lnTo>
                    <a:pt x="99342" y="419025"/>
                  </a:lnTo>
                  <a:lnTo>
                    <a:pt x="65722" y="391477"/>
                  </a:lnTo>
                  <a:lnTo>
                    <a:pt x="38174" y="357857"/>
                  </a:lnTo>
                  <a:lnTo>
                    <a:pt x="17502" y="318968"/>
                  </a:lnTo>
                  <a:lnTo>
                    <a:pt x="4509" y="275614"/>
                  </a:lnTo>
                  <a:lnTo>
                    <a:pt x="0" y="228600"/>
                  </a:lnTo>
                  <a:lnTo>
                    <a:pt x="4509" y="181585"/>
                  </a:lnTo>
                  <a:lnTo>
                    <a:pt x="17502" y="138231"/>
                  </a:lnTo>
                  <a:lnTo>
                    <a:pt x="38174" y="99342"/>
                  </a:lnTo>
                  <a:lnTo>
                    <a:pt x="65722" y="65722"/>
                  </a:lnTo>
                  <a:lnTo>
                    <a:pt x="99342" y="38174"/>
                  </a:lnTo>
                  <a:lnTo>
                    <a:pt x="138231" y="17502"/>
                  </a:lnTo>
                  <a:lnTo>
                    <a:pt x="181585" y="4509"/>
                  </a:lnTo>
                  <a:lnTo>
                    <a:pt x="228600" y="0"/>
                  </a:lnTo>
                  <a:close/>
                </a:path>
                <a:path w="457200" h="457200">
                  <a:moveTo>
                    <a:pt x="0" y="0"/>
                  </a:moveTo>
                  <a:lnTo>
                    <a:pt x="0" y="0"/>
                  </a:lnTo>
                </a:path>
                <a:path w="457200" h="457200">
                  <a:moveTo>
                    <a:pt x="457200" y="457200"/>
                  </a:moveTo>
                  <a:lnTo>
                    <a:pt x="457200" y="45720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9" name="object 19"/>
          <p:cNvGrpSpPr/>
          <p:nvPr/>
        </p:nvGrpSpPr>
        <p:grpSpPr>
          <a:xfrm>
            <a:off x="4215131" y="3789045"/>
            <a:ext cx="457200" cy="457200"/>
            <a:chOff x="4800600" y="4572000"/>
            <a:chExt cx="457200" cy="457200"/>
          </a:xfrm>
        </p:grpSpPr>
        <p:sp>
          <p:nvSpPr>
            <p:cNvPr id="20" name="object 20"/>
            <p:cNvSpPr/>
            <p:nvPr/>
          </p:nvSpPr>
          <p:spPr>
            <a:xfrm>
              <a:off x="4800600" y="4572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1585" y="4509"/>
                  </a:lnTo>
                  <a:lnTo>
                    <a:pt x="138231" y="17502"/>
                  </a:lnTo>
                  <a:lnTo>
                    <a:pt x="99342" y="38174"/>
                  </a:lnTo>
                  <a:lnTo>
                    <a:pt x="65722" y="65722"/>
                  </a:lnTo>
                  <a:lnTo>
                    <a:pt x="38174" y="99342"/>
                  </a:lnTo>
                  <a:lnTo>
                    <a:pt x="17502" y="138231"/>
                  </a:lnTo>
                  <a:lnTo>
                    <a:pt x="4509" y="181585"/>
                  </a:lnTo>
                  <a:lnTo>
                    <a:pt x="0" y="228600"/>
                  </a:lnTo>
                  <a:lnTo>
                    <a:pt x="4509" y="275614"/>
                  </a:lnTo>
                  <a:lnTo>
                    <a:pt x="17502" y="318968"/>
                  </a:lnTo>
                  <a:lnTo>
                    <a:pt x="38174" y="357857"/>
                  </a:lnTo>
                  <a:lnTo>
                    <a:pt x="65722" y="391477"/>
                  </a:lnTo>
                  <a:lnTo>
                    <a:pt x="99342" y="419025"/>
                  </a:lnTo>
                  <a:lnTo>
                    <a:pt x="138231" y="439697"/>
                  </a:lnTo>
                  <a:lnTo>
                    <a:pt x="181585" y="452690"/>
                  </a:lnTo>
                  <a:lnTo>
                    <a:pt x="228600" y="457200"/>
                  </a:lnTo>
                  <a:lnTo>
                    <a:pt x="275614" y="452690"/>
                  </a:lnTo>
                  <a:lnTo>
                    <a:pt x="318968" y="439697"/>
                  </a:lnTo>
                  <a:lnTo>
                    <a:pt x="357857" y="419025"/>
                  </a:lnTo>
                  <a:lnTo>
                    <a:pt x="391477" y="391477"/>
                  </a:lnTo>
                  <a:lnTo>
                    <a:pt x="419025" y="357857"/>
                  </a:lnTo>
                  <a:lnTo>
                    <a:pt x="439697" y="318968"/>
                  </a:lnTo>
                  <a:lnTo>
                    <a:pt x="452690" y="275614"/>
                  </a:lnTo>
                  <a:lnTo>
                    <a:pt x="457200" y="228600"/>
                  </a:lnTo>
                  <a:lnTo>
                    <a:pt x="452690" y="181585"/>
                  </a:lnTo>
                  <a:lnTo>
                    <a:pt x="439697" y="138231"/>
                  </a:lnTo>
                  <a:lnTo>
                    <a:pt x="419025" y="99342"/>
                  </a:lnTo>
                  <a:lnTo>
                    <a:pt x="391477" y="65722"/>
                  </a:lnTo>
                  <a:lnTo>
                    <a:pt x="357857" y="38174"/>
                  </a:lnTo>
                  <a:lnTo>
                    <a:pt x="318968" y="17502"/>
                  </a:lnTo>
                  <a:lnTo>
                    <a:pt x="275614" y="4509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800600" y="4572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275614" y="4509"/>
                  </a:lnTo>
                  <a:lnTo>
                    <a:pt x="318968" y="17502"/>
                  </a:lnTo>
                  <a:lnTo>
                    <a:pt x="357857" y="38174"/>
                  </a:lnTo>
                  <a:lnTo>
                    <a:pt x="391477" y="65722"/>
                  </a:lnTo>
                  <a:lnTo>
                    <a:pt x="419025" y="99342"/>
                  </a:lnTo>
                  <a:lnTo>
                    <a:pt x="439697" y="138231"/>
                  </a:lnTo>
                  <a:lnTo>
                    <a:pt x="452690" y="181585"/>
                  </a:lnTo>
                  <a:lnTo>
                    <a:pt x="457200" y="228600"/>
                  </a:lnTo>
                  <a:lnTo>
                    <a:pt x="452690" y="275614"/>
                  </a:lnTo>
                  <a:lnTo>
                    <a:pt x="439697" y="318968"/>
                  </a:lnTo>
                  <a:lnTo>
                    <a:pt x="419025" y="357857"/>
                  </a:lnTo>
                  <a:lnTo>
                    <a:pt x="391477" y="391477"/>
                  </a:lnTo>
                  <a:lnTo>
                    <a:pt x="357857" y="419025"/>
                  </a:lnTo>
                  <a:lnTo>
                    <a:pt x="318968" y="439697"/>
                  </a:lnTo>
                  <a:lnTo>
                    <a:pt x="275614" y="452690"/>
                  </a:lnTo>
                  <a:lnTo>
                    <a:pt x="228600" y="457200"/>
                  </a:lnTo>
                  <a:lnTo>
                    <a:pt x="181585" y="452690"/>
                  </a:lnTo>
                  <a:lnTo>
                    <a:pt x="138231" y="439697"/>
                  </a:lnTo>
                  <a:lnTo>
                    <a:pt x="99342" y="419025"/>
                  </a:lnTo>
                  <a:lnTo>
                    <a:pt x="65722" y="391477"/>
                  </a:lnTo>
                  <a:lnTo>
                    <a:pt x="38174" y="357857"/>
                  </a:lnTo>
                  <a:lnTo>
                    <a:pt x="17502" y="318968"/>
                  </a:lnTo>
                  <a:lnTo>
                    <a:pt x="4509" y="275614"/>
                  </a:lnTo>
                  <a:lnTo>
                    <a:pt x="0" y="228600"/>
                  </a:lnTo>
                  <a:lnTo>
                    <a:pt x="4509" y="181585"/>
                  </a:lnTo>
                  <a:lnTo>
                    <a:pt x="17502" y="138231"/>
                  </a:lnTo>
                  <a:lnTo>
                    <a:pt x="38174" y="99342"/>
                  </a:lnTo>
                  <a:lnTo>
                    <a:pt x="65722" y="65722"/>
                  </a:lnTo>
                  <a:lnTo>
                    <a:pt x="99342" y="38174"/>
                  </a:lnTo>
                  <a:lnTo>
                    <a:pt x="138231" y="17502"/>
                  </a:lnTo>
                  <a:lnTo>
                    <a:pt x="181585" y="4509"/>
                  </a:lnTo>
                  <a:lnTo>
                    <a:pt x="228600" y="0"/>
                  </a:lnTo>
                  <a:close/>
                </a:path>
                <a:path w="457200" h="457200">
                  <a:moveTo>
                    <a:pt x="0" y="0"/>
                  </a:moveTo>
                  <a:lnTo>
                    <a:pt x="0" y="0"/>
                  </a:lnTo>
                </a:path>
                <a:path w="457200" h="457200">
                  <a:moveTo>
                    <a:pt x="457200" y="457200"/>
                  </a:moveTo>
                  <a:lnTo>
                    <a:pt x="457200" y="45720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2843531" y="3789045"/>
            <a:ext cx="457200" cy="457200"/>
            <a:chOff x="3429000" y="4572000"/>
            <a:chExt cx="457200" cy="457200"/>
          </a:xfrm>
        </p:grpSpPr>
        <p:sp>
          <p:nvSpPr>
            <p:cNvPr id="16" name="object 16"/>
            <p:cNvSpPr/>
            <p:nvPr/>
          </p:nvSpPr>
          <p:spPr>
            <a:xfrm>
              <a:off x="3429000" y="4572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1585" y="4509"/>
                  </a:lnTo>
                  <a:lnTo>
                    <a:pt x="138231" y="17502"/>
                  </a:lnTo>
                  <a:lnTo>
                    <a:pt x="99342" y="38174"/>
                  </a:lnTo>
                  <a:lnTo>
                    <a:pt x="65722" y="65722"/>
                  </a:lnTo>
                  <a:lnTo>
                    <a:pt x="38174" y="99342"/>
                  </a:lnTo>
                  <a:lnTo>
                    <a:pt x="17502" y="138231"/>
                  </a:lnTo>
                  <a:lnTo>
                    <a:pt x="4509" y="181585"/>
                  </a:lnTo>
                  <a:lnTo>
                    <a:pt x="0" y="228600"/>
                  </a:lnTo>
                  <a:lnTo>
                    <a:pt x="4509" y="275614"/>
                  </a:lnTo>
                  <a:lnTo>
                    <a:pt x="17502" y="318968"/>
                  </a:lnTo>
                  <a:lnTo>
                    <a:pt x="38174" y="357857"/>
                  </a:lnTo>
                  <a:lnTo>
                    <a:pt x="65722" y="391477"/>
                  </a:lnTo>
                  <a:lnTo>
                    <a:pt x="99342" y="419025"/>
                  </a:lnTo>
                  <a:lnTo>
                    <a:pt x="138231" y="439697"/>
                  </a:lnTo>
                  <a:lnTo>
                    <a:pt x="181585" y="452690"/>
                  </a:lnTo>
                  <a:lnTo>
                    <a:pt x="228600" y="457200"/>
                  </a:lnTo>
                  <a:lnTo>
                    <a:pt x="275614" y="452690"/>
                  </a:lnTo>
                  <a:lnTo>
                    <a:pt x="318968" y="439697"/>
                  </a:lnTo>
                  <a:lnTo>
                    <a:pt x="357857" y="419025"/>
                  </a:lnTo>
                  <a:lnTo>
                    <a:pt x="391477" y="391477"/>
                  </a:lnTo>
                  <a:lnTo>
                    <a:pt x="419025" y="357857"/>
                  </a:lnTo>
                  <a:lnTo>
                    <a:pt x="439697" y="318968"/>
                  </a:lnTo>
                  <a:lnTo>
                    <a:pt x="452690" y="275614"/>
                  </a:lnTo>
                  <a:lnTo>
                    <a:pt x="457200" y="228600"/>
                  </a:lnTo>
                  <a:lnTo>
                    <a:pt x="452690" y="181585"/>
                  </a:lnTo>
                  <a:lnTo>
                    <a:pt x="439697" y="138231"/>
                  </a:lnTo>
                  <a:lnTo>
                    <a:pt x="419025" y="99342"/>
                  </a:lnTo>
                  <a:lnTo>
                    <a:pt x="391477" y="65722"/>
                  </a:lnTo>
                  <a:lnTo>
                    <a:pt x="357857" y="38174"/>
                  </a:lnTo>
                  <a:lnTo>
                    <a:pt x="318968" y="17502"/>
                  </a:lnTo>
                  <a:lnTo>
                    <a:pt x="275614" y="4509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429000" y="4572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275614" y="4509"/>
                  </a:lnTo>
                  <a:lnTo>
                    <a:pt x="318968" y="17502"/>
                  </a:lnTo>
                  <a:lnTo>
                    <a:pt x="357857" y="38174"/>
                  </a:lnTo>
                  <a:lnTo>
                    <a:pt x="391477" y="65722"/>
                  </a:lnTo>
                  <a:lnTo>
                    <a:pt x="419025" y="99342"/>
                  </a:lnTo>
                  <a:lnTo>
                    <a:pt x="439697" y="138231"/>
                  </a:lnTo>
                  <a:lnTo>
                    <a:pt x="452690" y="181585"/>
                  </a:lnTo>
                  <a:lnTo>
                    <a:pt x="457200" y="228600"/>
                  </a:lnTo>
                  <a:lnTo>
                    <a:pt x="452690" y="275614"/>
                  </a:lnTo>
                  <a:lnTo>
                    <a:pt x="439697" y="318968"/>
                  </a:lnTo>
                  <a:lnTo>
                    <a:pt x="419025" y="357857"/>
                  </a:lnTo>
                  <a:lnTo>
                    <a:pt x="391477" y="391477"/>
                  </a:lnTo>
                  <a:lnTo>
                    <a:pt x="357857" y="419025"/>
                  </a:lnTo>
                  <a:lnTo>
                    <a:pt x="318968" y="439697"/>
                  </a:lnTo>
                  <a:lnTo>
                    <a:pt x="275614" y="452690"/>
                  </a:lnTo>
                  <a:lnTo>
                    <a:pt x="228600" y="457200"/>
                  </a:lnTo>
                  <a:lnTo>
                    <a:pt x="181585" y="452690"/>
                  </a:lnTo>
                  <a:lnTo>
                    <a:pt x="138231" y="439697"/>
                  </a:lnTo>
                  <a:lnTo>
                    <a:pt x="99342" y="419025"/>
                  </a:lnTo>
                  <a:lnTo>
                    <a:pt x="65722" y="391477"/>
                  </a:lnTo>
                  <a:lnTo>
                    <a:pt x="38174" y="357857"/>
                  </a:lnTo>
                  <a:lnTo>
                    <a:pt x="17502" y="318968"/>
                  </a:lnTo>
                  <a:lnTo>
                    <a:pt x="4509" y="275614"/>
                  </a:lnTo>
                  <a:lnTo>
                    <a:pt x="0" y="228600"/>
                  </a:lnTo>
                  <a:lnTo>
                    <a:pt x="4509" y="181585"/>
                  </a:lnTo>
                  <a:lnTo>
                    <a:pt x="17502" y="138231"/>
                  </a:lnTo>
                  <a:lnTo>
                    <a:pt x="38174" y="99342"/>
                  </a:lnTo>
                  <a:lnTo>
                    <a:pt x="65722" y="65722"/>
                  </a:lnTo>
                  <a:lnTo>
                    <a:pt x="99342" y="38174"/>
                  </a:lnTo>
                  <a:lnTo>
                    <a:pt x="138231" y="17502"/>
                  </a:lnTo>
                  <a:lnTo>
                    <a:pt x="181585" y="4509"/>
                  </a:lnTo>
                  <a:lnTo>
                    <a:pt x="228600" y="0"/>
                  </a:lnTo>
                  <a:close/>
                </a:path>
                <a:path w="457200" h="457200">
                  <a:moveTo>
                    <a:pt x="0" y="0"/>
                  </a:moveTo>
                  <a:lnTo>
                    <a:pt x="0" y="0"/>
                  </a:lnTo>
                </a:path>
                <a:path w="457200" h="457200">
                  <a:moveTo>
                    <a:pt x="457200" y="457200"/>
                  </a:moveTo>
                  <a:lnTo>
                    <a:pt x="457200" y="45720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" name="object 3"/>
          <p:cNvGrpSpPr/>
          <p:nvPr/>
        </p:nvGrpSpPr>
        <p:grpSpPr>
          <a:xfrm>
            <a:off x="1928495" y="2653665"/>
            <a:ext cx="457200" cy="457200"/>
            <a:chOff x="2514600" y="3429000"/>
            <a:chExt cx="457200" cy="457200"/>
          </a:xfrm>
        </p:grpSpPr>
        <p:sp>
          <p:nvSpPr>
            <p:cNvPr id="4" name="object 4"/>
            <p:cNvSpPr/>
            <p:nvPr/>
          </p:nvSpPr>
          <p:spPr>
            <a:xfrm>
              <a:off x="2514600" y="3429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1585" y="4509"/>
                  </a:lnTo>
                  <a:lnTo>
                    <a:pt x="138231" y="17502"/>
                  </a:lnTo>
                  <a:lnTo>
                    <a:pt x="99342" y="38174"/>
                  </a:lnTo>
                  <a:lnTo>
                    <a:pt x="65722" y="65722"/>
                  </a:lnTo>
                  <a:lnTo>
                    <a:pt x="38174" y="99342"/>
                  </a:lnTo>
                  <a:lnTo>
                    <a:pt x="17502" y="138231"/>
                  </a:lnTo>
                  <a:lnTo>
                    <a:pt x="4509" y="181585"/>
                  </a:lnTo>
                  <a:lnTo>
                    <a:pt x="0" y="228600"/>
                  </a:lnTo>
                  <a:lnTo>
                    <a:pt x="4509" y="275614"/>
                  </a:lnTo>
                  <a:lnTo>
                    <a:pt x="17502" y="318968"/>
                  </a:lnTo>
                  <a:lnTo>
                    <a:pt x="38174" y="357857"/>
                  </a:lnTo>
                  <a:lnTo>
                    <a:pt x="65722" y="391477"/>
                  </a:lnTo>
                  <a:lnTo>
                    <a:pt x="99342" y="419025"/>
                  </a:lnTo>
                  <a:lnTo>
                    <a:pt x="138231" y="439697"/>
                  </a:lnTo>
                  <a:lnTo>
                    <a:pt x="181585" y="452690"/>
                  </a:lnTo>
                  <a:lnTo>
                    <a:pt x="228600" y="457200"/>
                  </a:lnTo>
                  <a:lnTo>
                    <a:pt x="275614" y="452690"/>
                  </a:lnTo>
                  <a:lnTo>
                    <a:pt x="318968" y="439697"/>
                  </a:lnTo>
                  <a:lnTo>
                    <a:pt x="357857" y="419025"/>
                  </a:lnTo>
                  <a:lnTo>
                    <a:pt x="391477" y="391477"/>
                  </a:lnTo>
                  <a:lnTo>
                    <a:pt x="419025" y="357857"/>
                  </a:lnTo>
                  <a:lnTo>
                    <a:pt x="439697" y="318968"/>
                  </a:lnTo>
                  <a:lnTo>
                    <a:pt x="452690" y="275614"/>
                  </a:lnTo>
                  <a:lnTo>
                    <a:pt x="457200" y="228600"/>
                  </a:lnTo>
                  <a:lnTo>
                    <a:pt x="452690" y="181585"/>
                  </a:lnTo>
                  <a:lnTo>
                    <a:pt x="439697" y="138231"/>
                  </a:lnTo>
                  <a:lnTo>
                    <a:pt x="419025" y="99342"/>
                  </a:lnTo>
                  <a:lnTo>
                    <a:pt x="391477" y="65722"/>
                  </a:lnTo>
                  <a:lnTo>
                    <a:pt x="357857" y="38174"/>
                  </a:lnTo>
                  <a:lnTo>
                    <a:pt x="318968" y="17502"/>
                  </a:lnTo>
                  <a:lnTo>
                    <a:pt x="275614" y="4509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FF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" name="object 5"/>
            <p:cNvSpPr/>
            <p:nvPr/>
          </p:nvSpPr>
          <p:spPr>
            <a:xfrm>
              <a:off x="2514600" y="3429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275614" y="4509"/>
                  </a:lnTo>
                  <a:lnTo>
                    <a:pt x="318968" y="17502"/>
                  </a:lnTo>
                  <a:lnTo>
                    <a:pt x="357857" y="38174"/>
                  </a:lnTo>
                  <a:lnTo>
                    <a:pt x="391477" y="65722"/>
                  </a:lnTo>
                  <a:lnTo>
                    <a:pt x="419025" y="99342"/>
                  </a:lnTo>
                  <a:lnTo>
                    <a:pt x="439697" y="138231"/>
                  </a:lnTo>
                  <a:lnTo>
                    <a:pt x="452690" y="181585"/>
                  </a:lnTo>
                  <a:lnTo>
                    <a:pt x="457200" y="228600"/>
                  </a:lnTo>
                  <a:lnTo>
                    <a:pt x="452690" y="275614"/>
                  </a:lnTo>
                  <a:lnTo>
                    <a:pt x="439697" y="318968"/>
                  </a:lnTo>
                  <a:lnTo>
                    <a:pt x="419025" y="357857"/>
                  </a:lnTo>
                  <a:lnTo>
                    <a:pt x="391477" y="391477"/>
                  </a:lnTo>
                  <a:lnTo>
                    <a:pt x="357857" y="419025"/>
                  </a:lnTo>
                  <a:lnTo>
                    <a:pt x="318968" y="439697"/>
                  </a:lnTo>
                  <a:lnTo>
                    <a:pt x="275614" y="452690"/>
                  </a:lnTo>
                  <a:lnTo>
                    <a:pt x="228600" y="457200"/>
                  </a:lnTo>
                  <a:lnTo>
                    <a:pt x="181585" y="452690"/>
                  </a:lnTo>
                  <a:lnTo>
                    <a:pt x="138231" y="439697"/>
                  </a:lnTo>
                  <a:lnTo>
                    <a:pt x="99342" y="419025"/>
                  </a:lnTo>
                  <a:lnTo>
                    <a:pt x="65722" y="391477"/>
                  </a:lnTo>
                  <a:lnTo>
                    <a:pt x="38174" y="357857"/>
                  </a:lnTo>
                  <a:lnTo>
                    <a:pt x="17502" y="318968"/>
                  </a:lnTo>
                  <a:lnTo>
                    <a:pt x="4509" y="275614"/>
                  </a:lnTo>
                  <a:lnTo>
                    <a:pt x="0" y="228600"/>
                  </a:lnTo>
                  <a:lnTo>
                    <a:pt x="4509" y="181585"/>
                  </a:lnTo>
                  <a:lnTo>
                    <a:pt x="17502" y="138231"/>
                  </a:lnTo>
                  <a:lnTo>
                    <a:pt x="38174" y="99342"/>
                  </a:lnTo>
                  <a:lnTo>
                    <a:pt x="65722" y="65722"/>
                  </a:lnTo>
                  <a:lnTo>
                    <a:pt x="99342" y="38174"/>
                  </a:lnTo>
                  <a:lnTo>
                    <a:pt x="138231" y="17502"/>
                  </a:lnTo>
                  <a:lnTo>
                    <a:pt x="181585" y="4509"/>
                  </a:lnTo>
                  <a:lnTo>
                    <a:pt x="228600" y="0"/>
                  </a:lnTo>
                  <a:close/>
                </a:path>
                <a:path w="457200" h="457200">
                  <a:moveTo>
                    <a:pt x="0" y="0"/>
                  </a:moveTo>
                  <a:lnTo>
                    <a:pt x="0" y="0"/>
                  </a:lnTo>
                </a:path>
                <a:path w="457200" h="457200">
                  <a:moveTo>
                    <a:pt x="457200" y="457200"/>
                  </a:moveTo>
                  <a:lnTo>
                    <a:pt x="457200" y="45720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b="1" dirty="0">
                <a:latin typeface="楷体_GB2312" panose="02010609030101010101" charset="-122"/>
                <a:ea typeface="楷体_GB2312" panose="02010609030101010101" charset="-122"/>
                <a:sym typeface="+mn-ea"/>
              </a:rPr>
              <a:t>图着色算法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47</a:t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graphicFrame>
        <p:nvGraphicFramePr>
          <p:cNvPr id="57" name="object 57"/>
          <p:cNvGraphicFramePr>
            <a:graphicFrameLocks noGrp="1"/>
          </p:cNvGraphicFramePr>
          <p:nvPr/>
        </p:nvGraphicFramePr>
        <p:xfrm>
          <a:off x="1928495" y="4679315"/>
          <a:ext cx="3657600" cy="45770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708">
                <a:tc>
                  <a:txBody>
                    <a:bodyPr/>
                    <a:lstStyle/>
                    <a:p>
                      <a:pPr marL="254000">
                        <a:lnSpc>
                          <a:spcPts val="2940"/>
                        </a:lnSpc>
                      </a:pPr>
                      <a:r>
                        <a:rPr sz="2700" b="1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R</a:t>
                      </a:r>
                      <a:r>
                        <a:rPr sz="2300" b="1" baseline="-31000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0</a:t>
                      </a:r>
                      <a:endParaRPr sz="2300" baseline="-31000">
                        <a:latin typeface="DejaVu Serif" panose="02060603050605020204"/>
                        <a:cs typeface="DejaVu Serif" panose="02060603050605020204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254000">
                        <a:lnSpc>
                          <a:spcPts val="2940"/>
                        </a:lnSpc>
                      </a:pPr>
                      <a:r>
                        <a:rPr sz="2700" b="1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R</a:t>
                      </a:r>
                      <a:r>
                        <a:rPr sz="2300" b="1" baseline="-31000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1</a:t>
                      </a:r>
                      <a:endParaRPr sz="2300" baseline="-31000">
                        <a:latin typeface="DejaVu Serif" panose="02060603050605020204"/>
                        <a:cs typeface="DejaVu Serif" panose="02060603050605020204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254000">
                        <a:lnSpc>
                          <a:spcPts val="2940"/>
                        </a:lnSpc>
                      </a:pPr>
                      <a:r>
                        <a:rPr sz="2700" b="1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R</a:t>
                      </a:r>
                      <a:r>
                        <a:rPr sz="2300" b="1" baseline="-31000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2</a:t>
                      </a:r>
                      <a:endParaRPr sz="2300" baseline="-31000">
                        <a:latin typeface="DejaVu Serif" panose="02060603050605020204"/>
                        <a:cs typeface="DejaVu Serif" panose="02060603050605020204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F00FF"/>
                    </a:solidFill>
                  </a:tcPr>
                </a:tc>
                <a:tc>
                  <a:txBody>
                    <a:bodyPr/>
                    <a:lstStyle/>
                    <a:p>
                      <a:pPr marL="254000">
                        <a:lnSpc>
                          <a:spcPts val="2940"/>
                        </a:lnSpc>
                      </a:pPr>
                      <a:r>
                        <a:rPr sz="2700" b="1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R</a:t>
                      </a:r>
                      <a:r>
                        <a:rPr sz="2300" b="1" baseline="-31000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3</a:t>
                      </a:r>
                      <a:endParaRPr sz="2300" baseline="-31000">
                        <a:latin typeface="DejaVu Serif" panose="02060603050605020204"/>
                        <a:cs typeface="DejaVu Serif" panose="02060603050605020204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E5E5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6" name="object 3"/>
          <p:cNvSpPr/>
          <p:nvPr/>
        </p:nvSpPr>
        <p:spPr>
          <a:xfrm>
            <a:off x="1928495" y="265366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4"/>
          <p:cNvSpPr txBox="1"/>
          <p:nvPr/>
        </p:nvSpPr>
        <p:spPr>
          <a:xfrm>
            <a:off x="2052958" y="2646045"/>
            <a:ext cx="20891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b="1" dirty="0">
                <a:solidFill>
                  <a:srgbClr val="191919"/>
                </a:solidFill>
                <a:latin typeface="Courier New" panose="02070409020205020404"/>
                <a:cs typeface="Courier New" panose="02070409020205020404"/>
              </a:rPr>
              <a:t>a</a:t>
            </a:r>
            <a:endParaRPr sz="2400">
              <a:latin typeface="Courier New" panose="02070409020205020404"/>
              <a:cs typeface="Courier New" panose="02070409020205020404"/>
            </a:endParaRPr>
          </a:p>
        </p:txBody>
      </p:sp>
      <p:sp>
        <p:nvSpPr>
          <p:cNvPr id="59" name="object 5"/>
          <p:cNvSpPr/>
          <p:nvPr/>
        </p:nvSpPr>
        <p:spPr>
          <a:xfrm>
            <a:off x="2824480" y="14700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ln w="3175"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60" name="object 6"/>
          <p:cNvSpPr txBox="1"/>
          <p:nvPr/>
        </p:nvSpPr>
        <p:spPr>
          <a:xfrm>
            <a:off x="2967357" y="1503045"/>
            <a:ext cx="208915" cy="382156"/>
          </a:xfrm>
          <a:prstGeom prst="rect">
            <a:avLst/>
          </a:prstGeom>
          <a:ln>
            <a:noFill/>
          </a:ln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b="1" dirty="0">
                <a:solidFill>
                  <a:schemeClr val="bg1">
                    <a:lumMod val="75000"/>
                  </a:schemeClr>
                </a:solidFill>
                <a:latin typeface="Courier New" panose="02070409020205020404"/>
                <a:cs typeface="Courier New" panose="02070409020205020404"/>
              </a:rPr>
              <a:t>b</a:t>
            </a:r>
          </a:p>
        </p:txBody>
      </p:sp>
      <p:sp>
        <p:nvSpPr>
          <p:cNvPr id="61" name="object 7"/>
          <p:cNvSpPr/>
          <p:nvPr/>
        </p:nvSpPr>
        <p:spPr>
          <a:xfrm>
            <a:off x="4215131" y="150558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ln w="3175"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62" name="object 8"/>
          <p:cNvSpPr txBox="1"/>
          <p:nvPr/>
        </p:nvSpPr>
        <p:spPr>
          <a:xfrm>
            <a:off x="4338957" y="1503045"/>
            <a:ext cx="208915" cy="382156"/>
          </a:xfrm>
          <a:prstGeom prst="rect">
            <a:avLst/>
          </a:prstGeom>
          <a:ln>
            <a:noFill/>
          </a:ln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b="1" dirty="0">
                <a:solidFill>
                  <a:schemeClr val="bg1">
                    <a:lumMod val="75000"/>
                  </a:schemeClr>
                </a:solidFill>
                <a:latin typeface="Courier New" panose="02070409020205020404"/>
                <a:cs typeface="Courier New" panose="02070409020205020404"/>
              </a:rPr>
              <a:t>c</a:t>
            </a:r>
          </a:p>
        </p:txBody>
      </p:sp>
      <p:sp>
        <p:nvSpPr>
          <p:cNvPr id="63" name="object 9"/>
          <p:cNvSpPr/>
          <p:nvPr/>
        </p:nvSpPr>
        <p:spPr>
          <a:xfrm>
            <a:off x="3528695" y="260540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ln w="3175"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10"/>
          <p:cNvSpPr txBox="1"/>
          <p:nvPr/>
        </p:nvSpPr>
        <p:spPr>
          <a:xfrm>
            <a:off x="3653157" y="2646045"/>
            <a:ext cx="208915" cy="382156"/>
          </a:xfrm>
          <a:prstGeom prst="rect">
            <a:avLst/>
          </a:prstGeom>
          <a:ln>
            <a:noFill/>
          </a:ln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b="1" dirty="0">
                <a:solidFill>
                  <a:schemeClr val="bg1">
                    <a:lumMod val="75000"/>
                  </a:schemeClr>
                </a:solidFill>
                <a:latin typeface="Courier New" panose="02070409020205020404"/>
                <a:cs typeface="Courier New" panose="02070409020205020404"/>
              </a:rPr>
              <a:t>d</a:t>
            </a:r>
          </a:p>
        </p:txBody>
      </p:sp>
      <p:sp>
        <p:nvSpPr>
          <p:cNvPr id="65" name="object 11"/>
          <p:cNvSpPr/>
          <p:nvPr/>
        </p:nvSpPr>
        <p:spPr>
          <a:xfrm>
            <a:off x="5128895" y="265366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12"/>
          <p:cNvSpPr txBox="1"/>
          <p:nvPr/>
        </p:nvSpPr>
        <p:spPr>
          <a:xfrm>
            <a:off x="5253357" y="2646045"/>
            <a:ext cx="20891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b="1" dirty="0">
                <a:solidFill>
                  <a:srgbClr val="191919"/>
                </a:solidFill>
                <a:latin typeface="Courier New" panose="02070409020205020404"/>
                <a:cs typeface="Courier New" panose="02070409020205020404"/>
              </a:rPr>
              <a:t>e</a:t>
            </a:r>
            <a:endParaRPr sz="2400">
              <a:latin typeface="Courier New" panose="02070409020205020404"/>
              <a:cs typeface="Courier New" panose="02070409020205020404"/>
            </a:endParaRPr>
          </a:p>
        </p:txBody>
      </p:sp>
      <p:sp>
        <p:nvSpPr>
          <p:cNvPr id="67" name="object 13"/>
          <p:cNvSpPr/>
          <p:nvPr/>
        </p:nvSpPr>
        <p:spPr>
          <a:xfrm>
            <a:off x="2842895" y="379666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14"/>
          <p:cNvSpPr txBox="1"/>
          <p:nvPr/>
        </p:nvSpPr>
        <p:spPr>
          <a:xfrm>
            <a:off x="2967357" y="3789045"/>
            <a:ext cx="20891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b="1" dirty="0">
                <a:solidFill>
                  <a:srgbClr val="191919"/>
                </a:solidFill>
                <a:latin typeface="Courier New" panose="02070409020205020404"/>
                <a:cs typeface="Courier New" panose="02070409020205020404"/>
              </a:rPr>
              <a:t>g</a:t>
            </a:r>
            <a:endParaRPr sz="2400">
              <a:latin typeface="Courier New" panose="02070409020205020404"/>
              <a:cs typeface="Courier New" panose="02070409020205020404"/>
            </a:endParaRPr>
          </a:p>
        </p:txBody>
      </p:sp>
      <p:sp>
        <p:nvSpPr>
          <p:cNvPr id="69" name="object 15"/>
          <p:cNvSpPr/>
          <p:nvPr/>
        </p:nvSpPr>
        <p:spPr>
          <a:xfrm>
            <a:off x="4214495" y="379666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16"/>
          <p:cNvSpPr txBox="1"/>
          <p:nvPr/>
        </p:nvSpPr>
        <p:spPr>
          <a:xfrm>
            <a:off x="4338957" y="3789045"/>
            <a:ext cx="20891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b="1" dirty="0">
                <a:solidFill>
                  <a:srgbClr val="191919"/>
                </a:solidFill>
                <a:latin typeface="Courier New" panose="02070409020205020404"/>
                <a:cs typeface="Courier New" panose="02070409020205020404"/>
              </a:rPr>
              <a:t>f</a:t>
            </a:r>
            <a:endParaRPr sz="2400">
              <a:latin typeface="Courier New" panose="02070409020205020404"/>
              <a:cs typeface="Courier New" panose="02070409020205020404"/>
            </a:endParaRPr>
          </a:p>
        </p:txBody>
      </p:sp>
      <p:cxnSp>
        <p:nvCxnSpPr>
          <p:cNvPr id="72" name="直接连接符 71"/>
          <p:cNvCxnSpPr/>
          <p:nvPr/>
        </p:nvCxnSpPr>
        <p:spPr>
          <a:xfrm>
            <a:off x="2262508" y="3126108"/>
            <a:ext cx="631191" cy="69405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接连接符 72"/>
          <p:cNvCxnSpPr>
            <a:endCxn id="58" idx="0"/>
          </p:cNvCxnSpPr>
          <p:nvPr/>
        </p:nvCxnSpPr>
        <p:spPr>
          <a:xfrm flipH="1">
            <a:off x="2157414" y="1890397"/>
            <a:ext cx="709612" cy="75564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接连接符 73"/>
          <p:cNvCxnSpPr/>
          <p:nvPr/>
        </p:nvCxnSpPr>
        <p:spPr>
          <a:xfrm flipH="1">
            <a:off x="3354072" y="1710055"/>
            <a:ext cx="829311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接连接符 74"/>
          <p:cNvCxnSpPr>
            <a:endCxn id="66" idx="0"/>
          </p:cNvCxnSpPr>
          <p:nvPr/>
        </p:nvCxnSpPr>
        <p:spPr>
          <a:xfrm>
            <a:off x="4670425" y="1881508"/>
            <a:ext cx="687388" cy="764539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接连接符 75"/>
          <p:cNvCxnSpPr/>
          <p:nvPr/>
        </p:nvCxnSpPr>
        <p:spPr>
          <a:xfrm flipH="1">
            <a:off x="3912873" y="1980568"/>
            <a:ext cx="495935" cy="658495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接连接符 76"/>
          <p:cNvCxnSpPr/>
          <p:nvPr/>
        </p:nvCxnSpPr>
        <p:spPr>
          <a:xfrm>
            <a:off x="3146428" y="1962788"/>
            <a:ext cx="433071" cy="685165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接连接符 77"/>
          <p:cNvCxnSpPr/>
          <p:nvPr/>
        </p:nvCxnSpPr>
        <p:spPr>
          <a:xfrm>
            <a:off x="3281683" y="1881507"/>
            <a:ext cx="1839595" cy="838835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接连接符 78"/>
          <p:cNvCxnSpPr>
            <a:endCxn id="70" idx="0"/>
          </p:cNvCxnSpPr>
          <p:nvPr/>
        </p:nvCxnSpPr>
        <p:spPr>
          <a:xfrm>
            <a:off x="3921761" y="3062605"/>
            <a:ext cx="521652" cy="72644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连接符 79"/>
          <p:cNvCxnSpPr>
            <a:endCxn id="68" idx="0"/>
          </p:cNvCxnSpPr>
          <p:nvPr/>
        </p:nvCxnSpPr>
        <p:spPr>
          <a:xfrm flipH="1">
            <a:off x="3071815" y="3081021"/>
            <a:ext cx="534353" cy="708024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接连接符 80"/>
          <p:cNvCxnSpPr/>
          <p:nvPr/>
        </p:nvCxnSpPr>
        <p:spPr>
          <a:xfrm flipH="1">
            <a:off x="2416177" y="2846705"/>
            <a:ext cx="1073151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接连接符 81"/>
          <p:cNvCxnSpPr/>
          <p:nvPr/>
        </p:nvCxnSpPr>
        <p:spPr>
          <a:xfrm flipH="1" flipV="1">
            <a:off x="2361568" y="3017521"/>
            <a:ext cx="1794511" cy="8661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接连接符 82"/>
          <p:cNvCxnSpPr/>
          <p:nvPr/>
        </p:nvCxnSpPr>
        <p:spPr>
          <a:xfrm flipH="1">
            <a:off x="4643124" y="3126105"/>
            <a:ext cx="658495" cy="7213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接连接符 83"/>
          <p:cNvCxnSpPr/>
          <p:nvPr/>
        </p:nvCxnSpPr>
        <p:spPr>
          <a:xfrm flipH="1">
            <a:off x="3290573" y="2900682"/>
            <a:ext cx="1812925" cy="96456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object 23"/>
          <p:cNvSpPr/>
          <p:nvPr/>
        </p:nvSpPr>
        <p:spPr>
          <a:xfrm>
            <a:off x="7543800" y="4572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24"/>
          <p:cNvSpPr txBox="1"/>
          <p:nvPr/>
        </p:nvSpPr>
        <p:spPr>
          <a:xfrm>
            <a:off x="7660642" y="4546600"/>
            <a:ext cx="224155" cy="4129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600" b="1" dirty="0">
                <a:solidFill>
                  <a:srgbClr val="191919"/>
                </a:solidFill>
                <a:latin typeface="Courier New" panose="02070409020205020404"/>
                <a:cs typeface="Courier New" panose="02070409020205020404"/>
              </a:rPr>
              <a:t>c</a:t>
            </a:r>
            <a:endParaRPr sz="2600">
              <a:latin typeface="Courier New" panose="02070409020205020404"/>
              <a:cs typeface="Courier New" panose="02070409020205020404"/>
            </a:endParaRPr>
          </a:p>
        </p:txBody>
      </p:sp>
      <p:sp>
        <p:nvSpPr>
          <p:cNvPr id="93" name="object 23"/>
          <p:cNvSpPr/>
          <p:nvPr/>
        </p:nvSpPr>
        <p:spPr>
          <a:xfrm>
            <a:off x="7555231" y="4103371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24"/>
          <p:cNvSpPr txBox="1"/>
          <p:nvPr/>
        </p:nvSpPr>
        <p:spPr>
          <a:xfrm>
            <a:off x="7672071" y="4077969"/>
            <a:ext cx="224155" cy="4129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sz="2600" b="1" dirty="0">
                <a:solidFill>
                  <a:srgbClr val="191919"/>
                </a:solidFill>
                <a:latin typeface="Courier New" panose="02070409020205020404"/>
                <a:cs typeface="Courier New" panose="02070409020205020404"/>
              </a:rPr>
              <a:t>b</a:t>
            </a:r>
          </a:p>
        </p:txBody>
      </p:sp>
      <p:sp>
        <p:nvSpPr>
          <p:cNvPr id="98" name="object 23"/>
          <p:cNvSpPr/>
          <p:nvPr/>
        </p:nvSpPr>
        <p:spPr>
          <a:xfrm>
            <a:off x="7543165" y="36353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object 24"/>
          <p:cNvSpPr txBox="1"/>
          <p:nvPr/>
        </p:nvSpPr>
        <p:spPr>
          <a:xfrm>
            <a:off x="7660007" y="3609975"/>
            <a:ext cx="224155" cy="4129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sz="2600" b="1" dirty="0">
                <a:solidFill>
                  <a:srgbClr val="191919"/>
                </a:solidFill>
                <a:latin typeface="Courier New" panose="02070409020205020404"/>
                <a:cs typeface="Courier New" panose="02070409020205020404"/>
              </a:rPr>
              <a:t>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object 11"/>
          <p:cNvGrpSpPr/>
          <p:nvPr/>
        </p:nvGrpSpPr>
        <p:grpSpPr>
          <a:xfrm>
            <a:off x="3530600" y="2613025"/>
            <a:ext cx="457200" cy="457200"/>
            <a:chOff x="4114800" y="3429000"/>
            <a:chExt cx="457200" cy="457200"/>
          </a:xfrm>
        </p:grpSpPr>
        <p:sp>
          <p:nvSpPr>
            <p:cNvPr id="31" name="object 12"/>
            <p:cNvSpPr/>
            <p:nvPr/>
          </p:nvSpPr>
          <p:spPr>
            <a:xfrm>
              <a:off x="4114800" y="3429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1585" y="4509"/>
                  </a:lnTo>
                  <a:lnTo>
                    <a:pt x="138231" y="17502"/>
                  </a:lnTo>
                  <a:lnTo>
                    <a:pt x="99342" y="38174"/>
                  </a:lnTo>
                  <a:lnTo>
                    <a:pt x="65722" y="65722"/>
                  </a:lnTo>
                  <a:lnTo>
                    <a:pt x="38174" y="99342"/>
                  </a:lnTo>
                  <a:lnTo>
                    <a:pt x="17502" y="138231"/>
                  </a:lnTo>
                  <a:lnTo>
                    <a:pt x="4509" y="181585"/>
                  </a:lnTo>
                  <a:lnTo>
                    <a:pt x="0" y="228600"/>
                  </a:lnTo>
                  <a:lnTo>
                    <a:pt x="4509" y="275614"/>
                  </a:lnTo>
                  <a:lnTo>
                    <a:pt x="17502" y="318968"/>
                  </a:lnTo>
                  <a:lnTo>
                    <a:pt x="38174" y="357857"/>
                  </a:lnTo>
                  <a:lnTo>
                    <a:pt x="65722" y="391477"/>
                  </a:lnTo>
                  <a:lnTo>
                    <a:pt x="99342" y="419025"/>
                  </a:lnTo>
                  <a:lnTo>
                    <a:pt x="138231" y="439697"/>
                  </a:lnTo>
                  <a:lnTo>
                    <a:pt x="181585" y="452690"/>
                  </a:lnTo>
                  <a:lnTo>
                    <a:pt x="228600" y="457200"/>
                  </a:lnTo>
                  <a:lnTo>
                    <a:pt x="275614" y="452690"/>
                  </a:lnTo>
                  <a:lnTo>
                    <a:pt x="318968" y="439697"/>
                  </a:lnTo>
                  <a:lnTo>
                    <a:pt x="357857" y="419025"/>
                  </a:lnTo>
                  <a:lnTo>
                    <a:pt x="391477" y="391477"/>
                  </a:lnTo>
                  <a:lnTo>
                    <a:pt x="419025" y="357857"/>
                  </a:lnTo>
                  <a:lnTo>
                    <a:pt x="439697" y="318968"/>
                  </a:lnTo>
                  <a:lnTo>
                    <a:pt x="452690" y="275614"/>
                  </a:lnTo>
                  <a:lnTo>
                    <a:pt x="457200" y="228600"/>
                  </a:lnTo>
                  <a:lnTo>
                    <a:pt x="452690" y="181585"/>
                  </a:lnTo>
                  <a:lnTo>
                    <a:pt x="439697" y="138231"/>
                  </a:lnTo>
                  <a:lnTo>
                    <a:pt x="419025" y="99342"/>
                  </a:lnTo>
                  <a:lnTo>
                    <a:pt x="391477" y="65722"/>
                  </a:lnTo>
                  <a:lnTo>
                    <a:pt x="357857" y="38174"/>
                  </a:lnTo>
                  <a:lnTo>
                    <a:pt x="318968" y="17502"/>
                  </a:lnTo>
                  <a:lnTo>
                    <a:pt x="275614" y="4509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E5E5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13"/>
            <p:cNvSpPr/>
            <p:nvPr/>
          </p:nvSpPr>
          <p:spPr>
            <a:xfrm>
              <a:off x="4114800" y="3429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275614" y="4509"/>
                  </a:lnTo>
                  <a:lnTo>
                    <a:pt x="318968" y="17502"/>
                  </a:lnTo>
                  <a:lnTo>
                    <a:pt x="357857" y="38174"/>
                  </a:lnTo>
                  <a:lnTo>
                    <a:pt x="391477" y="65722"/>
                  </a:lnTo>
                  <a:lnTo>
                    <a:pt x="419025" y="99342"/>
                  </a:lnTo>
                  <a:lnTo>
                    <a:pt x="439697" y="138231"/>
                  </a:lnTo>
                  <a:lnTo>
                    <a:pt x="452690" y="181585"/>
                  </a:lnTo>
                  <a:lnTo>
                    <a:pt x="457200" y="228600"/>
                  </a:lnTo>
                  <a:lnTo>
                    <a:pt x="452690" y="275614"/>
                  </a:lnTo>
                  <a:lnTo>
                    <a:pt x="439697" y="318968"/>
                  </a:lnTo>
                  <a:lnTo>
                    <a:pt x="419025" y="357857"/>
                  </a:lnTo>
                  <a:lnTo>
                    <a:pt x="391477" y="391477"/>
                  </a:lnTo>
                  <a:lnTo>
                    <a:pt x="357857" y="419025"/>
                  </a:lnTo>
                  <a:lnTo>
                    <a:pt x="318968" y="439697"/>
                  </a:lnTo>
                  <a:lnTo>
                    <a:pt x="275614" y="452690"/>
                  </a:lnTo>
                  <a:lnTo>
                    <a:pt x="228600" y="457200"/>
                  </a:lnTo>
                  <a:lnTo>
                    <a:pt x="181585" y="452690"/>
                  </a:lnTo>
                  <a:lnTo>
                    <a:pt x="138231" y="439697"/>
                  </a:lnTo>
                  <a:lnTo>
                    <a:pt x="99342" y="419025"/>
                  </a:lnTo>
                  <a:lnTo>
                    <a:pt x="65722" y="391477"/>
                  </a:lnTo>
                  <a:lnTo>
                    <a:pt x="38174" y="357857"/>
                  </a:lnTo>
                  <a:lnTo>
                    <a:pt x="17502" y="318968"/>
                  </a:lnTo>
                  <a:lnTo>
                    <a:pt x="4509" y="275614"/>
                  </a:lnTo>
                  <a:lnTo>
                    <a:pt x="0" y="228600"/>
                  </a:lnTo>
                  <a:lnTo>
                    <a:pt x="4509" y="181585"/>
                  </a:lnTo>
                  <a:lnTo>
                    <a:pt x="17502" y="138231"/>
                  </a:lnTo>
                  <a:lnTo>
                    <a:pt x="38174" y="99342"/>
                  </a:lnTo>
                  <a:lnTo>
                    <a:pt x="65722" y="65722"/>
                  </a:lnTo>
                  <a:lnTo>
                    <a:pt x="99342" y="38174"/>
                  </a:lnTo>
                  <a:lnTo>
                    <a:pt x="138231" y="17502"/>
                  </a:lnTo>
                  <a:lnTo>
                    <a:pt x="181585" y="4509"/>
                  </a:lnTo>
                  <a:lnTo>
                    <a:pt x="228600" y="0"/>
                  </a:lnTo>
                  <a:close/>
                </a:path>
                <a:path w="457200" h="457200">
                  <a:moveTo>
                    <a:pt x="0" y="0"/>
                  </a:moveTo>
                  <a:lnTo>
                    <a:pt x="0" y="0"/>
                  </a:lnTo>
                </a:path>
                <a:path w="457200" h="457200">
                  <a:moveTo>
                    <a:pt x="457200" y="457200"/>
                  </a:moveTo>
                  <a:lnTo>
                    <a:pt x="457200" y="45720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7" name="object 15"/>
          <p:cNvGrpSpPr/>
          <p:nvPr/>
        </p:nvGrpSpPr>
        <p:grpSpPr>
          <a:xfrm>
            <a:off x="5129531" y="2646045"/>
            <a:ext cx="457200" cy="457200"/>
            <a:chOff x="5715000" y="3429000"/>
            <a:chExt cx="457200" cy="457200"/>
          </a:xfrm>
        </p:grpSpPr>
        <p:sp>
          <p:nvSpPr>
            <p:cNvPr id="28" name="object 16"/>
            <p:cNvSpPr/>
            <p:nvPr/>
          </p:nvSpPr>
          <p:spPr>
            <a:xfrm>
              <a:off x="5715000" y="3429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1585" y="4509"/>
                  </a:lnTo>
                  <a:lnTo>
                    <a:pt x="138231" y="17502"/>
                  </a:lnTo>
                  <a:lnTo>
                    <a:pt x="99342" y="38174"/>
                  </a:lnTo>
                  <a:lnTo>
                    <a:pt x="65722" y="65722"/>
                  </a:lnTo>
                  <a:lnTo>
                    <a:pt x="38174" y="99342"/>
                  </a:lnTo>
                  <a:lnTo>
                    <a:pt x="17502" y="138231"/>
                  </a:lnTo>
                  <a:lnTo>
                    <a:pt x="4509" y="181585"/>
                  </a:lnTo>
                  <a:lnTo>
                    <a:pt x="0" y="228600"/>
                  </a:lnTo>
                  <a:lnTo>
                    <a:pt x="4509" y="275614"/>
                  </a:lnTo>
                  <a:lnTo>
                    <a:pt x="17502" y="318968"/>
                  </a:lnTo>
                  <a:lnTo>
                    <a:pt x="38174" y="357857"/>
                  </a:lnTo>
                  <a:lnTo>
                    <a:pt x="65722" y="391477"/>
                  </a:lnTo>
                  <a:lnTo>
                    <a:pt x="99342" y="419025"/>
                  </a:lnTo>
                  <a:lnTo>
                    <a:pt x="138231" y="439697"/>
                  </a:lnTo>
                  <a:lnTo>
                    <a:pt x="181585" y="452690"/>
                  </a:lnTo>
                  <a:lnTo>
                    <a:pt x="228600" y="457200"/>
                  </a:lnTo>
                  <a:lnTo>
                    <a:pt x="275614" y="452690"/>
                  </a:lnTo>
                  <a:lnTo>
                    <a:pt x="318968" y="439697"/>
                  </a:lnTo>
                  <a:lnTo>
                    <a:pt x="357857" y="419025"/>
                  </a:lnTo>
                  <a:lnTo>
                    <a:pt x="391477" y="391477"/>
                  </a:lnTo>
                  <a:lnTo>
                    <a:pt x="419025" y="357857"/>
                  </a:lnTo>
                  <a:lnTo>
                    <a:pt x="439697" y="318968"/>
                  </a:lnTo>
                  <a:lnTo>
                    <a:pt x="452690" y="275614"/>
                  </a:lnTo>
                  <a:lnTo>
                    <a:pt x="457200" y="228600"/>
                  </a:lnTo>
                  <a:lnTo>
                    <a:pt x="452690" y="181585"/>
                  </a:lnTo>
                  <a:lnTo>
                    <a:pt x="439697" y="138231"/>
                  </a:lnTo>
                  <a:lnTo>
                    <a:pt x="419025" y="99342"/>
                  </a:lnTo>
                  <a:lnTo>
                    <a:pt x="391477" y="65722"/>
                  </a:lnTo>
                  <a:lnTo>
                    <a:pt x="357857" y="38174"/>
                  </a:lnTo>
                  <a:lnTo>
                    <a:pt x="318968" y="17502"/>
                  </a:lnTo>
                  <a:lnTo>
                    <a:pt x="275614" y="4509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FF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17"/>
            <p:cNvSpPr/>
            <p:nvPr/>
          </p:nvSpPr>
          <p:spPr>
            <a:xfrm>
              <a:off x="5715000" y="3429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275614" y="4509"/>
                  </a:lnTo>
                  <a:lnTo>
                    <a:pt x="318968" y="17502"/>
                  </a:lnTo>
                  <a:lnTo>
                    <a:pt x="357857" y="38174"/>
                  </a:lnTo>
                  <a:lnTo>
                    <a:pt x="391477" y="65722"/>
                  </a:lnTo>
                  <a:lnTo>
                    <a:pt x="419025" y="99342"/>
                  </a:lnTo>
                  <a:lnTo>
                    <a:pt x="439697" y="138231"/>
                  </a:lnTo>
                  <a:lnTo>
                    <a:pt x="452690" y="181585"/>
                  </a:lnTo>
                  <a:lnTo>
                    <a:pt x="457200" y="228600"/>
                  </a:lnTo>
                  <a:lnTo>
                    <a:pt x="452690" y="275614"/>
                  </a:lnTo>
                  <a:lnTo>
                    <a:pt x="439697" y="318968"/>
                  </a:lnTo>
                  <a:lnTo>
                    <a:pt x="419025" y="357857"/>
                  </a:lnTo>
                  <a:lnTo>
                    <a:pt x="391477" y="391477"/>
                  </a:lnTo>
                  <a:lnTo>
                    <a:pt x="357857" y="419025"/>
                  </a:lnTo>
                  <a:lnTo>
                    <a:pt x="318968" y="439697"/>
                  </a:lnTo>
                  <a:lnTo>
                    <a:pt x="275614" y="452690"/>
                  </a:lnTo>
                  <a:lnTo>
                    <a:pt x="228600" y="457200"/>
                  </a:lnTo>
                  <a:lnTo>
                    <a:pt x="181585" y="452690"/>
                  </a:lnTo>
                  <a:lnTo>
                    <a:pt x="138231" y="439697"/>
                  </a:lnTo>
                  <a:lnTo>
                    <a:pt x="99342" y="419025"/>
                  </a:lnTo>
                  <a:lnTo>
                    <a:pt x="65722" y="391477"/>
                  </a:lnTo>
                  <a:lnTo>
                    <a:pt x="38174" y="357857"/>
                  </a:lnTo>
                  <a:lnTo>
                    <a:pt x="17502" y="318968"/>
                  </a:lnTo>
                  <a:lnTo>
                    <a:pt x="4509" y="275614"/>
                  </a:lnTo>
                  <a:lnTo>
                    <a:pt x="0" y="228600"/>
                  </a:lnTo>
                  <a:lnTo>
                    <a:pt x="4509" y="181585"/>
                  </a:lnTo>
                  <a:lnTo>
                    <a:pt x="17502" y="138231"/>
                  </a:lnTo>
                  <a:lnTo>
                    <a:pt x="38174" y="99342"/>
                  </a:lnTo>
                  <a:lnTo>
                    <a:pt x="65722" y="65722"/>
                  </a:lnTo>
                  <a:lnTo>
                    <a:pt x="99342" y="38174"/>
                  </a:lnTo>
                  <a:lnTo>
                    <a:pt x="138231" y="17502"/>
                  </a:lnTo>
                  <a:lnTo>
                    <a:pt x="181585" y="4509"/>
                  </a:lnTo>
                  <a:lnTo>
                    <a:pt x="228600" y="0"/>
                  </a:lnTo>
                  <a:close/>
                </a:path>
                <a:path w="457200" h="457200">
                  <a:moveTo>
                    <a:pt x="0" y="0"/>
                  </a:moveTo>
                  <a:lnTo>
                    <a:pt x="0" y="0"/>
                  </a:lnTo>
                </a:path>
                <a:path w="457200" h="457200">
                  <a:moveTo>
                    <a:pt x="457200" y="457200"/>
                  </a:moveTo>
                  <a:lnTo>
                    <a:pt x="457200" y="45720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9" name="object 19"/>
          <p:cNvGrpSpPr/>
          <p:nvPr/>
        </p:nvGrpSpPr>
        <p:grpSpPr>
          <a:xfrm>
            <a:off x="4215131" y="3789045"/>
            <a:ext cx="457200" cy="457200"/>
            <a:chOff x="4800600" y="4572000"/>
            <a:chExt cx="457200" cy="457200"/>
          </a:xfrm>
        </p:grpSpPr>
        <p:sp>
          <p:nvSpPr>
            <p:cNvPr id="20" name="object 20"/>
            <p:cNvSpPr/>
            <p:nvPr/>
          </p:nvSpPr>
          <p:spPr>
            <a:xfrm>
              <a:off x="4800600" y="4572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1585" y="4509"/>
                  </a:lnTo>
                  <a:lnTo>
                    <a:pt x="138231" y="17502"/>
                  </a:lnTo>
                  <a:lnTo>
                    <a:pt x="99342" y="38174"/>
                  </a:lnTo>
                  <a:lnTo>
                    <a:pt x="65722" y="65722"/>
                  </a:lnTo>
                  <a:lnTo>
                    <a:pt x="38174" y="99342"/>
                  </a:lnTo>
                  <a:lnTo>
                    <a:pt x="17502" y="138231"/>
                  </a:lnTo>
                  <a:lnTo>
                    <a:pt x="4509" y="181585"/>
                  </a:lnTo>
                  <a:lnTo>
                    <a:pt x="0" y="228600"/>
                  </a:lnTo>
                  <a:lnTo>
                    <a:pt x="4509" y="275614"/>
                  </a:lnTo>
                  <a:lnTo>
                    <a:pt x="17502" y="318968"/>
                  </a:lnTo>
                  <a:lnTo>
                    <a:pt x="38174" y="357857"/>
                  </a:lnTo>
                  <a:lnTo>
                    <a:pt x="65722" y="391477"/>
                  </a:lnTo>
                  <a:lnTo>
                    <a:pt x="99342" y="419025"/>
                  </a:lnTo>
                  <a:lnTo>
                    <a:pt x="138231" y="439697"/>
                  </a:lnTo>
                  <a:lnTo>
                    <a:pt x="181585" y="452690"/>
                  </a:lnTo>
                  <a:lnTo>
                    <a:pt x="228600" y="457200"/>
                  </a:lnTo>
                  <a:lnTo>
                    <a:pt x="275614" y="452690"/>
                  </a:lnTo>
                  <a:lnTo>
                    <a:pt x="318968" y="439697"/>
                  </a:lnTo>
                  <a:lnTo>
                    <a:pt x="357857" y="419025"/>
                  </a:lnTo>
                  <a:lnTo>
                    <a:pt x="391477" y="391477"/>
                  </a:lnTo>
                  <a:lnTo>
                    <a:pt x="419025" y="357857"/>
                  </a:lnTo>
                  <a:lnTo>
                    <a:pt x="439697" y="318968"/>
                  </a:lnTo>
                  <a:lnTo>
                    <a:pt x="452690" y="275614"/>
                  </a:lnTo>
                  <a:lnTo>
                    <a:pt x="457200" y="228600"/>
                  </a:lnTo>
                  <a:lnTo>
                    <a:pt x="452690" y="181585"/>
                  </a:lnTo>
                  <a:lnTo>
                    <a:pt x="439697" y="138231"/>
                  </a:lnTo>
                  <a:lnTo>
                    <a:pt x="419025" y="99342"/>
                  </a:lnTo>
                  <a:lnTo>
                    <a:pt x="391477" y="65722"/>
                  </a:lnTo>
                  <a:lnTo>
                    <a:pt x="357857" y="38174"/>
                  </a:lnTo>
                  <a:lnTo>
                    <a:pt x="318968" y="17502"/>
                  </a:lnTo>
                  <a:lnTo>
                    <a:pt x="275614" y="4509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800600" y="4572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275614" y="4509"/>
                  </a:lnTo>
                  <a:lnTo>
                    <a:pt x="318968" y="17502"/>
                  </a:lnTo>
                  <a:lnTo>
                    <a:pt x="357857" y="38174"/>
                  </a:lnTo>
                  <a:lnTo>
                    <a:pt x="391477" y="65722"/>
                  </a:lnTo>
                  <a:lnTo>
                    <a:pt x="419025" y="99342"/>
                  </a:lnTo>
                  <a:lnTo>
                    <a:pt x="439697" y="138231"/>
                  </a:lnTo>
                  <a:lnTo>
                    <a:pt x="452690" y="181585"/>
                  </a:lnTo>
                  <a:lnTo>
                    <a:pt x="457200" y="228600"/>
                  </a:lnTo>
                  <a:lnTo>
                    <a:pt x="452690" y="275614"/>
                  </a:lnTo>
                  <a:lnTo>
                    <a:pt x="439697" y="318968"/>
                  </a:lnTo>
                  <a:lnTo>
                    <a:pt x="419025" y="357857"/>
                  </a:lnTo>
                  <a:lnTo>
                    <a:pt x="391477" y="391477"/>
                  </a:lnTo>
                  <a:lnTo>
                    <a:pt x="357857" y="419025"/>
                  </a:lnTo>
                  <a:lnTo>
                    <a:pt x="318968" y="439697"/>
                  </a:lnTo>
                  <a:lnTo>
                    <a:pt x="275614" y="452690"/>
                  </a:lnTo>
                  <a:lnTo>
                    <a:pt x="228600" y="457200"/>
                  </a:lnTo>
                  <a:lnTo>
                    <a:pt x="181585" y="452690"/>
                  </a:lnTo>
                  <a:lnTo>
                    <a:pt x="138231" y="439697"/>
                  </a:lnTo>
                  <a:lnTo>
                    <a:pt x="99342" y="419025"/>
                  </a:lnTo>
                  <a:lnTo>
                    <a:pt x="65722" y="391477"/>
                  </a:lnTo>
                  <a:lnTo>
                    <a:pt x="38174" y="357857"/>
                  </a:lnTo>
                  <a:lnTo>
                    <a:pt x="17502" y="318968"/>
                  </a:lnTo>
                  <a:lnTo>
                    <a:pt x="4509" y="275614"/>
                  </a:lnTo>
                  <a:lnTo>
                    <a:pt x="0" y="228600"/>
                  </a:lnTo>
                  <a:lnTo>
                    <a:pt x="4509" y="181585"/>
                  </a:lnTo>
                  <a:lnTo>
                    <a:pt x="17502" y="138231"/>
                  </a:lnTo>
                  <a:lnTo>
                    <a:pt x="38174" y="99342"/>
                  </a:lnTo>
                  <a:lnTo>
                    <a:pt x="65722" y="65722"/>
                  </a:lnTo>
                  <a:lnTo>
                    <a:pt x="99342" y="38174"/>
                  </a:lnTo>
                  <a:lnTo>
                    <a:pt x="138231" y="17502"/>
                  </a:lnTo>
                  <a:lnTo>
                    <a:pt x="181585" y="4509"/>
                  </a:lnTo>
                  <a:lnTo>
                    <a:pt x="228600" y="0"/>
                  </a:lnTo>
                  <a:close/>
                </a:path>
                <a:path w="457200" h="457200">
                  <a:moveTo>
                    <a:pt x="0" y="0"/>
                  </a:moveTo>
                  <a:lnTo>
                    <a:pt x="0" y="0"/>
                  </a:lnTo>
                </a:path>
                <a:path w="457200" h="457200">
                  <a:moveTo>
                    <a:pt x="457200" y="457200"/>
                  </a:moveTo>
                  <a:lnTo>
                    <a:pt x="457200" y="45720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2843531" y="3789045"/>
            <a:ext cx="457200" cy="457200"/>
            <a:chOff x="3429000" y="4572000"/>
            <a:chExt cx="457200" cy="457200"/>
          </a:xfrm>
        </p:grpSpPr>
        <p:sp>
          <p:nvSpPr>
            <p:cNvPr id="16" name="object 16"/>
            <p:cNvSpPr/>
            <p:nvPr/>
          </p:nvSpPr>
          <p:spPr>
            <a:xfrm>
              <a:off x="3429000" y="4572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1585" y="4509"/>
                  </a:lnTo>
                  <a:lnTo>
                    <a:pt x="138231" y="17502"/>
                  </a:lnTo>
                  <a:lnTo>
                    <a:pt x="99342" y="38174"/>
                  </a:lnTo>
                  <a:lnTo>
                    <a:pt x="65722" y="65722"/>
                  </a:lnTo>
                  <a:lnTo>
                    <a:pt x="38174" y="99342"/>
                  </a:lnTo>
                  <a:lnTo>
                    <a:pt x="17502" y="138231"/>
                  </a:lnTo>
                  <a:lnTo>
                    <a:pt x="4509" y="181585"/>
                  </a:lnTo>
                  <a:lnTo>
                    <a:pt x="0" y="228600"/>
                  </a:lnTo>
                  <a:lnTo>
                    <a:pt x="4509" y="275614"/>
                  </a:lnTo>
                  <a:lnTo>
                    <a:pt x="17502" y="318968"/>
                  </a:lnTo>
                  <a:lnTo>
                    <a:pt x="38174" y="357857"/>
                  </a:lnTo>
                  <a:lnTo>
                    <a:pt x="65722" y="391477"/>
                  </a:lnTo>
                  <a:lnTo>
                    <a:pt x="99342" y="419025"/>
                  </a:lnTo>
                  <a:lnTo>
                    <a:pt x="138231" y="439697"/>
                  </a:lnTo>
                  <a:lnTo>
                    <a:pt x="181585" y="452690"/>
                  </a:lnTo>
                  <a:lnTo>
                    <a:pt x="228600" y="457200"/>
                  </a:lnTo>
                  <a:lnTo>
                    <a:pt x="275614" y="452690"/>
                  </a:lnTo>
                  <a:lnTo>
                    <a:pt x="318968" y="439697"/>
                  </a:lnTo>
                  <a:lnTo>
                    <a:pt x="357857" y="419025"/>
                  </a:lnTo>
                  <a:lnTo>
                    <a:pt x="391477" y="391477"/>
                  </a:lnTo>
                  <a:lnTo>
                    <a:pt x="419025" y="357857"/>
                  </a:lnTo>
                  <a:lnTo>
                    <a:pt x="439697" y="318968"/>
                  </a:lnTo>
                  <a:lnTo>
                    <a:pt x="452690" y="275614"/>
                  </a:lnTo>
                  <a:lnTo>
                    <a:pt x="457200" y="228600"/>
                  </a:lnTo>
                  <a:lnTo>
                    <a:pt x="452690" y="181585"/>
                  </a:lnTo>
                  <a:lnTo>
                    <a:pt x="439697" y="138231"/>
                  </a:lnTo>
                  <a:lnTo>
                    <a:pt x="419025" y="99342"/>
                  </a:lnTo>
                  <a:lnTo>
                    <a:pt x="391477" y="65722"/>
                  </a:lnTo>
                  <a:lnTo>
                    <a:pt x="357857" y="38174"/>
                  </a:lnTo>
                  <a:lnTo>
                    <a:pt x="318968" y="17502"/>
                  </a:lnTo>
                  <a:lnTo>
                    <a:pt x="275614" y="4509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429000" y="4572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275614" y="4509"/>
                  </a:lnTo>
                  <a:lnTo>
                    <a:pt x="318968" y="17502"/>
                  </a:lnTo>
                  <a:lnTo>
                    <a:pt x="357857" y="38174"/>
                  </a:lnTo>
                  <a:lnTo>
                    <a:pt x="391477" y="65722"/>
                  </a:lnTo>
                  <a:lnTo>
                    <a:pt x="419025" y="99342"/>
                  </a:lnTo>
                  <a:lnTo>
                    <a:pt x="439697" y="138231"/>
                  </a:lnTo>
                  <a:lnTo>
                    <a:pt x="452690" y="181585"/>
                  </a:lnTo>
                  <a:lnTo>
                    <a:pt x="457200" y="228600"/>
                  </a:lnTo>
                  <a:lnTo>
                    <a:pt x="452690" y="275614"/>
                  </a:lnTo>
                  <a:lnTo>
                    <a:pt x="439697" y="318968"/>
                  </a:lnTo>
                  <a:lnTo>
                    <a:pt x="419025" y="357857"/>
                  </a:lnTo>
                  <a:lnTo>
                    <a:pt x="391477" y="391477"/>
                  </a:lnTo>
                  <a:lnTo>
                    <a:pt x="357857" y="419025"/>
                  </a:lnTo>
                  <a:lnTo>
                    <a:pt x="318968" y="439697"/>
                  </a:lnTo>
                  <a:lnTo>
                    <a:pt x="275614" y="452690"/>
                  </a:lnTo>
                  <a:lnTo>
                    <a:pt x="228600" y="457200"/>
                  </a:lnTo>
                  <a:lnTo>
                    <a:pt x="181585" y="452690"/>
                  </a:lnTo>
                  <a:lnTo>
                    <a:pt x="138231" y="439697"/>
                  </a:lnTo>
                  <a:lnTo>
                    <a:pt x="99342" y="419025"/>
                  </a:lnTo>
                  <a:lnTo>
                    <a:pt x="65722" y="391477"/>
                  </a:lnTo>
                  <a:lnTo>
                    <a:pt x="38174" y="357857"/>
                  </a:lnTo>
                  <a:lnTo>
                    <a:pt x="17502" y="318968"/>
                  </a:lnTo>
                  <a:lnTo>
                    <a:pt x="4509" y="275614"/>
                  </a:lnTo>
                  <a:lnTo>
                    <a:pt x="0" y="228600"/>
                  </a:lnTo>
                  <a:lnTo>
                    <a:pt x="4509" y="181585"/>
                  </a:lnTo>
                  <a:lnTo>
                    <a:pt x="17502" y="138231"/>
                  </a:lnTo>
                  <a:lnTo>
                    <a:pt x="38174" y="99342"/>
                  </a:lnTo>
                  <a:lnTo>
                    <a:pt x="65722" y="65722"/>
                  </a:lnTo>
                  <a:lnTo>
                    <a:pt x="99342" y="38174"/>
                  </a:lnTo>
                  <a:lnTo>
                    <a:pt x="138231" y="17502"/>
                  </a:lnTo>
                  <a:lnTo>
                    <a:pt x="181585" y="4509"/>
                  </a:lnTo>
                  <a:lnTo>
                    <a:pt x="228600" y="0"/>
                  </a:lnTo>
                  <a:close/>
                </a:path>
                <a:path w="457200" h="457200">
                  <a:moveTo>
                    <a:pt x="0" y="0"/>
                  </a:moveTo>
                  <a:lnTo>
                    <a:pt x="0" y="0"/>
                  </a:lnTo>
                </a:path>
                <a:path w="457200" h="457200">
                  <a:moveTo>
                    <a:pt x="457200" y="457200"/>
                  </a:moveTo>
                  <a:lnTo>
                    <a:pt x="457200" y="45720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" name="object 3"/>
          <p:cNvGrpSpPr/>
          <p:nvPr/>
        </p:nvGrpSpPr>
        <p:grpSpPr>
          <a:xfrm>
            <a:off x="1928495" y="2653665"/>
            <a:ext cx="457200" cy="457200"/>
            <a:chOff x="2514600" y="3429000"/>
            <a:chExt cx="457200" cy="457200"/>
          </a:xfrm>
        </p:grpSpPr>
        <p:sp>
          <p:nvSpPr>
            <p:cNvPr id="4" name="object 4"/>
            <p:cNvSpPr/>
            <p:nvPr/>
          </p:nvSpPr>
          <p:spPr>
            <a:xfrm>
              <a:off x="2514600" y="3429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1585" y="4509"/>
                  </a:lnTo>
                  <a:lnTo>
                    <a:pt x="138231" y="17502"/>
                  </a:lnTo>
                  <a:lnTo>
                    <a:pt x="99342" y="38174"/>
                  </a:lnTo>
                  <a:lnTo>
                    <a:pt x="65722" y="65722"/>
                  </a:lnTo>
                  <a:lnTo>
                    <a:pt x="38174" y="99342"/>
                  </a:lnTo>
                  <a:lnTo>
                    <a:pt x="17502" y="138231"/>
                  </a:lnTo>
                  <a:lnTo>
                    <a:pt x="4509" y="181585"/>
                  </a:lnTo>
                  <a:lnTo>
                    <a:pt x="0" y="228600"/>
                  </a:lnTo>
                  <a:lnTo>
                    <a:pt x="4509" y="275614"/>
                  </a:lnTo>
                  <a:lnTo>
                    <a:pt x="17502" y="318968"/>
                  </a:lnTo>
                  <a:lnTo>
                    <a:pt x="38174" y="357857"/>
                  </a:lnTo>
                  <a:lnTo>
                    <a:pt x="65722" y="391477"/>
                  </a:lnTo>
                  <a:lnTo>
                    <a:pt x="99342" y="419025"/>
                  </a:lnTo>
                  <a:lnTo>
                    <a:pt x="138231" y="439697"/>
                  </a:lnTo>
                  <a:lnTo>
                    <a:pt x="181585" y="452690"/>
                  </a:lnTo>
                  <a:lnTo>
                    <a:pt x="228600" y="457200"/>
                  </a:lnTo>
                  <a:lnTo>
                    <a:pt x="275614" y="452690"/>
                  </a:lnTo>
                  <a:lnTo>
                    <a:pt x="318968" y="439697"/>
                  </a:lnTo>
                  <a:lnTo>
                    <a:pt x="357857" y="419025"/>
                  </a:lnTo>
                  <a:lnTo>
                    <a:pt x="391477" y="391477"/>
                  </a:lnTo>
                  <a:lnTo>
                    <a:pt x="419025" y="357857"/>
                  </a:lnTo>
                  <a:lnTo>
                    <a:pt x="439697" y="318968"/>
                  </a:lnTo>
                  <a:lnTo>
                    <a:pt x="452690" y="275614"/>
                  </a:lnTo>
                  <a:lnTo>
                    <a:pt x="457200" y="228600"/>
                  </a:lnTo>
                  <a:lnTo>
                    <a:pt x="452690" y="181585"/>
                  </a:lnTo>
                  <a:lnTo>
                    <a:pt x="439697" y="138231"/>
                  </a:lnTo>
                  <a:lnTo>
                    <a:pt x="419025" y="99342"/>
                  </a:lnTo>
                  <a:lnTo>
                    <a:pt x="391477" y="65722"/>
                  </a:lnTo>
                  <a:lnTo>
                    <a:pt x="357857" y="38174"/>
                  </a:lnTo>
                  <a:lnTo>
                    <a:pt x="318968" y="17502"/>
                  </a:lnTo>
                  <a:lnTo>
                    <a:pt x="275614" y="4509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FF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" name="object 5"/>
            <p:cNvSpPr/>
            <p:nvPr/>
          </p:nvSpPr>
          <p:spPr>
            <a:xfrm>
              <a:off x="2514600" y="3429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275614" y="4509"/>
                  </a:lnTo>
                  <a:lnTo>
                    <a:pt x="318968" y="17502"/>
                  </a:lnTo>
                  <a:lnTo>
                    <a:pt x="357857" y="38174"/>
                  </a:lnTo>
                  <a:lnTo>
                    <a:pt x="391477" y="65722"/>
                  </a:lnTo>
                  <a:lnTo>
                    <a:pt x="419025" y="99342"/>
                  </a:lnTo>
                  <a:lnTo>
                    <a:pt x="439697" y="138231"/>
                  </a:lnTo>
                  <a:lnTo>
                    <a:pt x="452690" y="181585"/>
                  </a:lnTo>
                  <a:lnTo>
                    <a:pt x="457200" y="228600"/>
                  </a:lnTo>
                  <a:lnTo>
                    <a:pt x="452690" y="275614"/>
                  </a:lnTo>
                  <a:lnTo>
                    <a:pt x="439697" y="318968"/>
                  </a:lnTo>
                  <a:lnTo>
                    <a:pt x="419025" y="357857"/>
                  </a:lnTo>
                  <a:lnTo>
                    <a:pt x="391477" y="391477"/>
                  </a:lnTo>
                  <a:lnTo>
                    <a:pt x="357857" y="419025"/>
                  </a:lnTo>
                  <a:lnTo>
                    <a:pt x="318968" y="439697"/>
                  </a:lnTo>
                  <a:lnTo>
                    <a:pt x="275614" y="452690"/>
                  </a:lnTo>
                  <a:lnTo>
                    <a:pt x="228600" y="457200"/>
                  </a:lnTo>
                  <a:lnTo>
                    <a:pt x="181585" y="452690"/>
                  </a:lnTo>
                  <a:lnTo>
                    <a:pt x="138231" y="439697"/>
                  </a:lnTo>
                  <a:lnTo>
                    <a:pt x="99342" y="419025"/>
                  </a:lnTo>
                  <a:lnTo>
                    <a:pt x="65722" y="391477"/>
                  </a:lnTo>
                  <a:lnTo>
                    <a:pt x="38174" y="357857"/>
                  </a:lnTo>
                  <a:lnTo>
                    <a:pt x="17502" y="318968"/>
                  </a:lnTo>
                  <a:lnTo>
                    <a:pt x="4509" y="275614"/>
                  </a:lnTo>
                  <a:lnTo>
                    <a:pt x="0" y="228600"/>
                  </a:lnTo>
                  <a:lnTo>
                    <a:pt x="4509" y="181585"/>
                  </a:lnTo>
                  <a:lnTo>
                    <a:pt x="17502" y="138231"/>
                  </a:lnTo>
                  <a:lnTo>
                    <a:pt x="38174" y="99342"/>
                  </a:lnTo>
                  <a:lnTo>
                    <a:pt x="65722" y="65722"/>
                  </a:lnTo>
                  <a:lnTo>
                    <a:pt x="99342" y="38174"/>
                  </a:lnTo>
                  <a:lnTo>
                    <a:pt x="138231" y="17502"/>
                  </a:lnTo>
                  <a:lnTo>
                    <a:pt x="181585" y="4509"/>
                  </a:lnTo>
                  <a:lnTo>
                    <a:pt x="228600" y="0"/>
                  </a:lnTo>
                  <a:close/>
                </a:path>
                <a:path w="457200" h="457200">
                  <a:moveTo>
                    <a:pt x="0" y="0"/>
                  </a:moveTo>
                  <a:lnTo>
                    <a:pt x="0" y="0"/>
                  </a:lnTo>
                </a:path>
                <a:path w="457200" h="457200">
                  <a:moveTo>
                    <a:pt x="457200" y="457200"/>
                  </a:moveTo>
                  <a:lnTo>
                    <a:pt x="457200" y="45720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b="1" dirty="0">
                <a:latin typeface="楷体_GB2312" panose="02010609030101010101" charset="-122"/>
                <a:ea typeface="楷体_GB2312" panose="02010609030101010101" charset="-122"/>
                <a:sym typeface="+mn-ea"/>
              </a:rPr>
              <a:t>图着色算法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48</a:t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graphicFrame>
        <p:nvGraphicFramePr>
          <p:cNvPr id="57" name="object 57"/>
          <p:cNvGraphicFramePr>
            <a:graphicFrameLocks noGrp="1"/>
          </p:cNvGraphicFramePr>
          <p:nvPr/>
        </p:nvGraphicFramePr>
        <p:xfrm>
          <a:off x="1928495" y="4679315"/>
          <a:ext cx="3657600" cy="45770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708">
                <a:tc>
                  <a:txBody>
                    <a:bodyPr/>
                    <a:lstStyle/>
                    <a:p>
                      <a:pPr marL="254000">
                        <a:lnSpc>
                          <a:spcPts val="2940"/>
                        </a:lnSpc>
                      </a:pPr>
                      <a:r>
                        <a:rPr sz="2700" b="1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R</a:t>
                      </a:r>
                      <a:r>
                        <a:rPr sz="2300" b="1" baseline="-31000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0</a:t>
                      </a:r>
                      <a:endParaRPr sz="2300" baseline="-31000">
                        <a:latin typeface="DejaVu Serif" panose="02060603050605020204"/>
                        <a:cs typeface="DejaVu Serif" panose="02060603050605020204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254000">
                        <a:lnSpc>
                          <a:spcPts val="2940"/>
                        </a:lnSpc>
                      </a:pPr>
                      <a:r>
                        <a:rPr sz="2700" b="1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R</a:t>
                      </a:r>
                      <a:r>
                        <a:rPr sz="2300" b="1" baseline="-31000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1</a:t>
                      </a:r>
                      <a:endParaRPr sz="2300" baseline="-31000">
                        <a:latin typeface="DejaVu Serif" panose="02060603050605020204"/>
                        <a:cs typeface="DejaVu Serif" panose="02060603050605020204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254000">
                        <a:lnSpc>
                          <a:spcPts val="2940"/>
                        </a:lnSpc>
                      </a:pPr>
                      <a:r>
                        <a:rPr sz="2700" b="1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R</a:t>
                      </a:r>
                      <a:r>
                        <a:rPr sz="2300" b="1" baseline="-31000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2</a:t>
                      </a:r>
                      <a:endParaRPr sz="2300" baseline="-31000">
                        <a:latin typeface="DejaVu Serif" panose="02060603050605020204"/>
                        <a:cs typeface="DejaVu Serif" panose="02060603050605020204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F00FF"/>
                    </a:solidFill>
                  </a:tcPr>
                </a:tc>
                <a:tc>
                  <a:txBody>
                    <a:bodyPr/>
                    <a:lstStyle/>
                    <a:p>
                      <a:pPr marL="254000">
                        <a:lnSpc>
                          <a:spcPts val="2940"/>
                        </a:lnSpc>
                      </a:pPr>
                      <a:r>
                        <a:rPr sz="2700" b="1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R</a:t>
                      </a:r>
                      <a:r>
                        <a:rPr sz="2300" b="1" baseline="-31000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3</a:t>
                      </a:r>
                      <a:endParaRPr sz="2300" baseline="-31000">
                        <a:latin typeface="DejaVu Serif" panose="02060603050605020204"/>
                        <a:cs typeface="DejaVu Serif" panose="02060603050605020204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E5E5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6" name="object 3"/>
          <p:cNvSpPr/>
          <p:nvPr/>
        </p:nvSpPr>
        <p:spPr>
          <a:xfrm>
            <a:off x="1928495" y="265366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4"/>
          <p:cNvSpPr txBox="1"/>
          <p:nvPr/>
        </p:nvSpPr>
        <p:spPr>
          <a:xfrm>
            <a:off x="2052958" y="2646045"/>
            <a:ext cx="20891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b="1" dirty="0">
                <a:solidFill>
                  <a:srgbClr val="191919"/>
                </a:solidFill>
                <a:latin typeface="Courier New" panose="02070409020205020404"/>
                <a:cs typeface="Courier New" panose="02070409020205020404"/>
              </a:rPr>
              <a:t>a</a:t>
            </a:r>
            <a:endParaRPr sz="2400">
              <a:latin typeface="Courier New" panose="02070409020205020404"/>
              <a:cs typeface="Courier New" panose="02070409020205020404"/>
            </a:endParaRPr>
          </a:p>
        </p:txBody>
      </p:sp>
      <p:sp>
        <p:nvSpPr>
          <p:cNvPr id="59" name="object 5"/>
          <p:cNvSpPr/>
          <p:nvPr/>
        </p:nvSpPr>
        <p:spPr>
          <a:xfrm>
            <a:off x="2824480" y="14700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ln w="3175"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60" name="object 6"/>
          <p:cNvSpPr txBox="1"/>
          <p:nvPr/>
        </p:nvSpPr>
        <p:spPr>
          <a:xfrm>
            <a:off x="2967357" y="1503045"/>
            <a:ext cx="208915" cy="382156"/>
          </a:xfrm>
          <a:prstGeom prst="rect">
            <a:avLst/>
          </a:prstGeom>
          <a:ln>
            <a:noFill/>
          </a:ln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b="1" dirty="0">
                <a:solidFill>
                  <a:schemeClr val="bg1">
                    <a:lumMod val="75000"/>
                  </a:schemeClr>
                </a:solidFill>
                <a:latin typeface="Courier New" panose="02070409020205020404"/>
                <a:cs typeface="Courier New" panose="02070409020205020404"/>
              </a:rPr>
              <a:t>b</a:t>
            </a:r>
          </a:p>
        </p:txBody>
      </p:sp>
      <p:sp>
        <p:nvSpPr>
          <p:cNvPr id="61" name="object 7"/>
          <p:cNvSpPr/>
          <p:nvPr/>
        </p:nvSpPr>
        <p:spPr>
          <a:xfrm>
            <a:off x="4215131" y="150558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ln w="3175"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62" name="object 8"/>
          <p:cNvSpPr txBox="1"/>
          <p:nvPr/>
        </p:nvSpPr>
        <p:spPr>
          <a:xfrm>
            <a:off x="4338957" y="1503045"/>
            <a:ext cx="208915" cy="382156"/>
          </a:xfrm>
          <a:prstGeom prst="rect">
            <a:avLst/>
          </a:prstGeom>
          <a:ln>
            <a:noFill/>
          </a:ln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b="1" dirty="0">
                <a:solidFill>
                  <a:schemeClr val="bg1">
                    <a:lumMod val="75000"/>
                  </a:schemeClr>
                </a:solidFill>
                <a:latin typeface="Courier New" panose="02070409020205020404"/>
                <a:cs typeface="Courier New" panose="02070409020205020404"/>
              </a:rPr>
              <a:t>c</a:t>
            </a:r>
          </a:p>
        </p:txBody>
      </p:sp>
      <p:sp>
        <p:nvSpPr>
          <p:cNvPr id="63" name="object 9"/>
          <p:cNvSpPr/>
          <p:nvPr/>
        </p:nvSpPr>
        <p:spPr>
          <a:xfrm>
            <a:off x="3528695" y="260540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ln w="3175">
            <a:solidFill>
              <a:schemeClr val="tx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10"/>
          <p:cNvSpPr txBox="1"/>
          <p:nvPr/>
        </p:nvSpPr>
        <p:spPr>
          <a:xfrm>
            <a:off x="3653157" y="2646045"/>
            <a:ext cx="208915" cy="382156"/>
          </a:xfrm>
          <a:prstGeom prst="rect">
            <a:avLst/>
          </a:prstGeom>
          <a:ln>
            <a:noFill/>
          </a:ln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b="1" dirty="0">
                <a:latin typeface="Courier New" panose="02070409020205020404"/>
                <a:cs typeface="Courier New" panose="02070409020205020404"/>
              </a:rPr>
              <a:t>d</a:t>
            </a:r>
          </a:p>
        </p:txBody>
      </p:sp>
      <p:sp>
        <p:nvSpPr>
          <p:cNvPr id="65" name="object 11"/>
          <p:cNvSpPr/>
          <p:nvPr/>
        </p:nvSpPr>
        <p:spPr>
          <a:xfrm>
            <a:off x="5128895" y="265366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12"/>
          <p:cNvSpPr txBox="1"/>
          <p:nvPr/>
        </p:nvSpPr>
        <p:spPr>
          <a:xfrm>
            <a:off x="5253357" y="2646045"/>
            <a:ext cx="20891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b="1" dirty="0">
                <a:solidFill>
                  <a:srgbClr val="191919"/>
                </a:solidFill>
                <a:latin typeface="Courier New" panose="02070409020205020404"/>
                <a:cs typeface="Courier New" panose="02070409020205020404"/>
              </a:rPr>
              <a:t>e</a:t>
            </a:r>
            <a:endParaRPr sz="2400">
              <a:latin typeface="Courier New" panose="02070409020205020404"/>
              <a:cs typeface="Courier New" panose="02070409020205020404"/>
            </a:endParaRPr>
          </a:p>
        </p:txBody>
      </p:sp>
      <p:sp>
        <p:nvSpPr>
          <p:cNvPr id="67" name="object 13"/>
          <p:cNvSpPr/>
          <p:nvPr/>
        </p:nvSpPr>
        <p:spPr>
          <a:xfrm>
            <a:off x="2842895" y="379666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14"/>
          <p:cNvSpPr txBox="1"/>
          <p:nvPr/>
        </p:nvSpPr>
        <p:spPr>
          <a:xfrm>
            <a:off x="2967357" y="3789045"/>
            <a:ext cx="20891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b="1" dirty="0">
                <a:solidFill>
                  <a:srgbClr val="191919"/>
                </a:solidFill>
                <a:latin typeface="Courier New" panose="02070409020205020404"/>
                <a:cs typeface="Courier New" panose="02070409020205020404"/>
              </a:rPr>
              <a:t>g</a:t>
            </a:r>
            <a:endParaRPr sz="2400">
              <a:latin typeface="Courier New" panose="02070409020205020404"/>
              <a:cs typeface="Courier New" panose="02070409020205020404"/>
            </a:endParaRPr>
          </a:p>
        </p:txBody>
      </p:sp>
      <p:sp>
        <p:nvSpPr>
          <p:cNvPr id="69" name="object 15"/>
          <p:cNvSpPr/>
          <p:nvPr/>
        </p:nvSpPr>
        <p:spPr>
          <a:xfrm>
            <a:off x="4214495" y="379666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16"/>
          <p:cNvSpPr txBox="1"/>
          <p:nvPr/>
        </p:nvSpPr>
        <p:spPr>
          <a:xfrm>
            <a:off x="4338957" y="3789045"/>
            <a:ext cx="20891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b="1" dirty="0">
                <a:solidFill>
                  <a:srgbClr val="191919"/>
                </a:solidFill>
                <a:latin typeface="Courier New" panose="02070409020205020404"/>
                <a:cs typeface="Courier New" panose="02070409020205020404"/>
              </a:rPr>
              <a:t>f</a:t>
            </a:r>
            <a:endParaRPr sz="2400">
              <a:latin typeface="Courier New" panose="02070409020205020404"/>
              <a:cs typeface="Courier New" panose="02070409020205020404"/>
            </a:endParaRPr>
          </a:p>
        </p:txBody>
      </p:sp>
      <p:cxnSp>
        <p:nvCxnSpPr>
          <p:cNvPr id="72" name="直接连接符 71"/>
          <p:cNvCxnSpPr/>
          <p:nvPr/>
        </p:nvCxnSpPr>
        <p:spPr>
          <a:xfrm>
            <a:off x="2262508" y="3126108"/>
            <a:ext cx="631191" cy="69405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接连接符 72"/>
          <p:cNvCxnSpPr>
            <a:endCxn id="58" idx="0"/>
          </p:cNvCxnSpPr>
          <p:nvPr/>
        </p:nvCxnSpPr>
        <p:spPr>
          <a:xfrm flipH="1">
            <a:off x="2157414" y="1890397"/>
            <a:ext cx="709612" cy="75564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接连接符 73"/>
          <p:cNvCxnSpPr/>
          <p:nvPr/>
        </p:nvCxnSpPr>
        <p:spPr>
          <a:xfrm flipH="1">
            <a:off x="3354072" y="1710055"/>
            <a:ext cx="829311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接连接符 74"/>
          <p:cNvCxnSpPr>
            <a:endCxn id="66" idx="0"/>
          </p:cNvCxnSpPr>
          <p:nvPr/>
        </p:nvCxnSpPr>
        <p:spPr>
          <a:xfrm>
            <a:off x="4670425" y="1881508"/>
            <a:ext cx="687388" cy="764539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接连接符 75"/>
          <p:cNvCxnSpPr/>
          <p:nvPr/>
        </p:nvCxnSpPr>
        <p:spPr>
          <a:xfrm flipH="1">
            <a:off x="3912873" y="1980568"/>
            <a:ext cx="495935" cy="658495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接连接符 76"/>
          <p:cNvCxnSpPr/>
          <p:nvPr/>
        </p:nvCxnSpPr>
        <p:spPr>
          <a:xfrm>
            <a:off x="3146428" y="1962788"/>
            <a:ext cx="433071" cy="685165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接连接符 77"/>
          <p:cNvCxnSpPr/>
          <p:nvPr/>
        </p:nvCxnSpPr>
        <p:spPr>
          <a:xfrm>
            <a:off x="3281683" y="1881507"/>
            <a:ext cx="1839595" cy="838835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接连接符 78"/>
          <p:cNvCxnSpPr>
            <a:endCxn id="70" idx="0"/>
          </p:cNvCxnSpPr>
          <p:nvPr/>
        </p:nvCxnSpPr>
        <p:spPr>
          <a:xfrm>
            <a:off x="3921761" y="3062605"/>
            <a:ext cx="521652" cy="7264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连接符 79"/>
          <p:cNvCxnSpPr>
            <a:endCxn id="68" idx="0"/>
          </p:cNvCxnSpPr>
          <p:nvPr/>
        </p:nvCxnSpPr>
        <p:spPr>
          <a:xfrm flipH="1">
            <a:off x="3071815" y="3081021"/>
            <a:ext cx="534353" cy="70802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接连接符 80"/>
          <p:cNvCxnSpPr/>
          <p:nvPr/>
        </p:nvCxnSpPr>
        <p:spPr>
          <a:xfrm flipH="1">
            <a:off x="2416177" y="2846705"/>
            <a:ext cx="107315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接连接符 81"/>
          <p:cNvCxnSpPr/>
          <p:nvPr/>
        </p:nvCxnSpPr>
        <p:spPr>
          <a:xfrm flipH="1" flipV="1">
            <a:off x="2361568" y="3017521"/>
            <a:ext cx="1794511" cy="8661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接连接符 82"/>
          <p:cNvCxnSpPr/>
          <p:nvPr/>
        </p:nvCxnSpPr>
        <p:spPr>
          <a:xfrm flipH="1">
            <a:off x="4643124" y="3126105"/>
            <a:ext cx="658495" cy="7213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接连接符 83"/>
          <p:cNvCxnSpPr/>
          <p:nvPr/>
        </p:nvCxnSpPr>
        <p:spPr>
          <a:xfrm flipH="1">
            <a:off x="3290573" y="2900682"/>
            <a:ext cx="1812925" cy="96456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object 23"/>
          <p:cNvSpPr/>
          <p:nvPr/>
        </p:nvSpPr>
        <p:spPr>
          <a:xfrm>
            <a:off x="7543800" y="4572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24"/>
          <p:cNvSpPr txBox="1"/>
          <p:nvPr/>
        </p:nvSpPr>
        <p:spPr>
          <a:xfrm>
            <a:off x="7660642" y="4546600"/>
            <a:ext cx="224155" cy="4129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600" b="1" dirty="0">
                <a:solidFill>
                  <a:srgbClr val="191919"/>
                </a:solidFill>
                <a:latin typeface="Courier New" panose="02070409020205020404"/>
                <a:cs typeface="Courier New" panose="02070409020205020404"/>
              </a:rPr>
              <a:t>c</a:t>
            </a:r>
            <a:endParaRPr sz="2600">
              <a:latin typeface="Courier New" panose="02070409020205020404"/>
              <a:cs typeface="Courier New" panose="02070409020205020404"/>
            </a:endParaRPr>
          </a:p>
        </p:txBody>
      </p:sp>
      <p:sp>
        <p:nvSpPr>
          <p:cNvPr id="93" name="object 23"/>
          <p:cNvSpPr/>
          <p:nvPr/>
        </p:nvSpPr>
        <p:spPr>
          <a:xfrm>
            <a:off x="7555231" y="4103371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24"/>
          <p:cNvSpPr txBox="1"/>
          <p:nvPr/>
        </p:nvSpPr>
        <p:spPr>
          <a:xfrm>
            <a:off x="7672071" y="4077969"/>
            <a:ext cx="224155" cy="4129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sz="2600" b="1" dirty="0">
                <a:solidFill>
                  <a:srgbClr val="191919"/>
                </a:solidFill>
                <a:latin typeface="Courier New" panose="02070409020205020404"/>
                <a:cs typeface="Courier New" panose="02070409020205020404"/>
              </a:rPr>
              <a:t>b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object 19"/>
          <p:cNvGrpSpPr/>
          <p:nvPr/>
        </p:nvGrpSpPr>
        <p:grpSpPr>
          <a:xfrm>
            <a:off x="2824480" y="1470025"/>
            <a:ext cx="457200" cy="457200"/>
            <a:chOff x="4800600" y="4572000"/>
            <a:chExt cx="457200" cy="457200"/>
          </a:xfrm>
        </p:grpSpPr>
        <p:sp>
          <p:nvSpPr>
            <p:cNvPr id="25" name="object 20"/>
            <p:cNvSpPr/>
            <p:nvPr/>
          </p:nvSpPr>
          <p:spPr>
            <a:xfrm>
              <a:off x="4800600" y="4572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1585" y="4509"/>
                  </a:lnTo>
                  <a:lnTo>
                    <a:pt x="138231" y="17502"/>
                  </a:lnTo>
                  <a:lnTo>
                    <a:pt x="99342" y="38174"/>
                  </a:lnTo>
                  <a:lnTo>
                    <a:pt x="65722" y="65722"/>
                  </a:lnTo>
                  <a:lnTo>
                    <a:pt x="38174" y="99342"/>
                  </a:lnTo>
                  <a:lnTo>
                    <a:pt x="17502" y="138231"/>
                  </a:lnTo>
                  <a:lnTo>
                    <a:pt x="4509" y="181585"/>
                  </a:lnTo>
                  <a:lnTo>
                    <a:pt x="0" y="228600"/>
                  </a:lnTo>
                  <a:lnTo>
                    <a:pt x="4509" y="275614"/>
                  </a:lnTo>
                  <a:lnTo>
                    <a:pt x="17502" y="318968"/>
                  </a:lnTo>
                  <a:lnTo>
                    <a:pt x="38174" y="357857"/>
                  </a:lnTo>
                  <a:lnTo>
                    <a:pt x="65722" y="391477"/>
                  </a:lnTo>
                  <a:lnTo>
                    <a:pt x="99342" y="419025"/>
                  </a:lnTo>
                  <a:lnTo>
                    <a:pt x="138231" y="439697"/>
                  </a:lnTo>
                  <a:lnTo>
                    <a:pt x="181585" y="452690"/>
                  </a:lnTo>
                  <a:lnTo>
                    <a:pt x="228600" y="457200"/>
                  </a:lnTo>
                  <a:lnTo>
                    <a:pt x="275614" y="452690"/>
                  </a:lnTo>
                  <a:lnTo>
                    <a:pt x="318968" y="439697"/>
                  </a:lnTo>
                  <a:lnTo>
                    <a:pt x="357857" y="419025"/>
                  </a:lnTo>
                  <a:lnTo>
                    <a:pt x="391477" y="391477"/>
                  </a:lnTo>
                  <a:lnTo>
                    <a:pt x="419025" y="357857"/>
                  </a:lnTo>
                  <a:lnTo>
                    <a:pt x="439697" y="318968"/>
                  </a:lnTo>
                  <a:lnTo>
                    <a:pt x="452690" y="275614"/>
                  </a:lnTo>
                  <a:lnTo>
                    <a:pt x="457200" y="228600"/>
                  </a:lnTo>
                  <a:lnTo>
                    <a:pt x="452690" y="181585"/>
                  </a:lnTo>
                  <a:lnTo>
                    <a:pt x="439697" y="138231"/>
                  </a:lnTo>
                  <a:lnTo>
                    <a:pt x="419025" y="99342"/>
                  </a:lnTo>
                  <a:lnTo>
                    <a:pt x="391477" y="65722"/>
                  </a:lnTo>
                  <a:lnTo>
                    <a:pt x="357857" y="38174"/>
                  </a:lnTo>
                  <a:lnTo>
                    <a:pt x="318968" y="17502"/>
                  </a:lnTo>
                  <a:lnTo>
                    <a:pt x="275614" y="4509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1"/>
            <p:cNvSpPr/>
            <p:nvPr/>
          </p:nvSpPr>
          <p:spPr>
            <a:xfrm>
              <a:off x="4800600" y="4572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275614" y="4509"/>
                  </a:lnTo>
                  <a:lnTo>
                    <a:pt x="318968" y="17502"/>
                  </a:lnTo>
                  <a:lnTo>
                    <a:pt x="357857" y="38174"/>
                  </a:lnTo>
                  <a:lnTo>
                    <a:pt x="391477" y="65722"/>
                  </a:lnTo>
                  <a:lnTo>
                    <a:pt x="419025" y="99342"/>
                  </a:lnTo>
                  <a:lnTo>
                    <a:pt x="439697" y="138231"/>
                  </a:lnTo>
                  <a:lnTo>
                    <a:pt x="452690" y="181585"/>
                  </a:lnTo>
                  <a:lnTo>
                    <a:pt x="457200" y="228600"/>
                  </a:lnTo>
                  <a:lnTo>
                    <a:pt x="452690" y="275614"/>
                  </a:lnTo>
                  <a:lnTo>
                    <a:pt x="439697" y="318968"/>
                  </a:lnTo>
                  <a:lnTo>
                    <a:pt x="419025" y="357857"/>
                  </a:lnTo>
                  <a:lnTo>
                    <a:pt x="391477" y="391477"/>
                  </a:lnTo>
                  <a:lnTo>
                    <a:pt x="357857" y="419025"/>
                  </a:lnTo>
                  <a:lnTo>
                    <a:pt x="318968" y="439697"/>
                  </a:lnTo>
                  <a:lnTo>
                    <a:pt x="275614" y="452690"/>
                  </a:lnTo>
                  <a:lnTo>
                    <a:pt x="228600" y="457200"/>
                  </a:lnTo>
                  <a:lnTo>
                    <a:pt x="181585" y="452690"/>
                  </a:lnTo>
                  <a:lnTo>
                    <a:pt x="138231" y="439697"/>
                  </a:lnTo>
                  <a:lnTo>
                    <a:pt x="99342" y="419025"/>
                  </a:lnTo>
                  <a:lnTo>
                    <a:pt x="65722" y="391477"/>
                  </a:lnTo>
                  <a:lnTo>
                    <a:pt x="38174" y="357857"/>
                  </a:lnTo>
                  <a:lnTo>
                    <a:pt x="17502" y="318968"/>
                  </a:lnTo>
                  <a:lnTo>
                    <a:pt x="4509" y="275614"/>
                  </a:lnTo>
                  <a:lnTo>
                    <a:pt x="0" y="228600"/>
                  </a:lnTo>
                  <a:lnTo>
                    <a:pt x="4509" y="181585"/>
                  </a:lnTo>
                  <a:lnTo>
                    <a:pt x="17502" y="138231"/>
                  </a:lnTo>
                  <a:lnTo>
                    <a:pt x="38174" y="99342"/>
                  </a:lnTo>
                  <a:lnTo>
                    <a:pt x="65722" y="65722"/>
                  </a:lnTo>
                  <a:lnTo>
                    <a:pt x="99342" y="38174"/>
                  </a:lnTo>
                  <a:lnTo>
                    <a:pt x="138231" y="17502"/>
                  </a:lnTo>
                  <a:lnTo>
                    <a:pt x="181585" y="4509"/>
                  </a:lnTo>
                  <a:lnTo>
                    <a:pt x="228600" y="0"/>
                  </a:lnTo>
                  <a:close/>
                </a:path>
                <a:path w="457200" h="457200">
                  <a:moveTo>
                    <a:pt x="0" y="0"/>
                  </a:moveTo>
                  <a:lnTo>
                    <a:pt x="0" y="0"/>
                  </a:lnTo>
                </a:path>
                <a:path w="457200" h="457200">
                  <a:moveTo>
                    <a:pt x="457200" y="457200"/>
                  </a:moveTo>
                  <a:lnTo>
                    <a:pt x="457200" y="45720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0" name="object 11"/>
          <p:cNvGrpSpPr/>
          <p:nvPr/>
        </p:nvGrpSpPr>
        <p:grpSpPr>
          <a:xfrm>
            <a:off x="3530600" y="2613025"/>
            <a:ext cx="457200" cy="457200"/>
            <a:chOff x="4114800" y="3429000"/>
            <a:chExt cx="457200" cy="457200"/>
          </a:xfrm>
        </p:grpSpPr>
        <p:sp>
          <p:nvSpPr>
            <p:cNvPr id="31" name="object 12"/>
            <p:cNvSpPr/>
            <p:nvPr/>
          </p:nvSpPr>
          <p:spPr>
            <a:xfrm>
              <a:off x="4114800" y="3429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1585" y="4509"/>
                  </a:lnTo>
                  <a:lnTo>
                    <a:pt x="138231" y="17502"/>
                  </a:lnTo>
                  <a:lnTo>
                    <a:pt x="99342" y="38174"/>
                  </a:lnTo>
                  <a:lnTo>
                    <a:pt x="65722" y="65722"/>
                  </a:lnTo>
                  <a:lnTo>
                    <a:pt x="38174" y="99342"/>
                  </a:lnTo>
                  <a:lnTo>
                    <a:pt x="17502" y="138231"/>
                  </a:lnTo>
                  <a:lnTo>
                    <a:pt x="4509" y="181585"/>
                  </a:lnTo>
                  <a:lnTo>
                    <a:pt x="0" y="228600"/>
                  </a:lnTo>
                  <a:lnTo>
                    <a:pt x="4509" y="275614"/>
                  </a:lnTo>
                  <a:lnTo>
                    <a:pt x="17502" y="318968"/>
                  </a:lnTo>
                  <a:lnTo>
                    <a:pt x="38174" y="357857"/>
                  </a:lnTo>
                  <a:lnTo>
                    <a:pt x="65722" y="391477"/>
                  </a:lnTo>
                  <a:lnTo>
                    <a:pt x="99342" y="419025"/>
                  </a:lnTo>
                  <a:lnTo>
                    <a:pt x="138231" y="439697"/>
                  </a:lnTo>
                  <a:lnTo>
                    <a:pt x="181585" y="452690"/>
                  </a:lnTo>
                  <a:lnTo>
                    <a:pt x="228600" y="457200"/>
                  </a:lnTo>
                  <a:lnTo>
                    <a:pt x="275614" y="452690"/>
                  </a:lnTo>
                  <a:lnTo>
                    <a:pt x="318968" y="439697"/>
                  </a:lnTo>
                  <a:lnTo>
                    <a:pt x="357857" y="419025"/>
                  </a:lnTo>
                  <a:lnTo>
                    <a:pt x="391477" y="391477"/>
                  </a:lnTo>
                  <a:lnTo>
                    <a:pt x="419025" y="357857"/>
                  </a:lnTo>
                  <a:lnTo>
                    <a:pt x="439697" y="318968"/>
                  </a:lnTo>
                  <a:lnTo>
                    <a:pt x="452690" y="275614"/>
                  </a:lnTo>
                  <a:lnTo>
                    <a:pt x="457200" y="228600"/>
                  </a:lnTo>
                  <a:lnTo>
                    <a:pt x="452690" y="181585"/>
                  </a:lnTo>
                  <a:lnTo>
                    <a:pt x="439697" y="138231"/>
                  </a:lnTo>
                  <a:lnTo>
                    <a:pt x="419025" y="99342"/>
                  </a:lnTo>
                  <a:lnTo>
                    <a:pt x="391477" y="65722"/>
                  </a:lnTo>
                  <a:lnTo>
                    <a:pt x="357857" y="38174"/>
                  </a:lnTo>
                  <a:lnTo>
                    <a:pt x="318968" y="17502"/>
                  </a:lnTo>
                  <a:lnTo>
                    <a:pt x="275614" y="4509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E5E5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13"/>
            <p:cNvSpPr/>
            <p:nvPr/>
          </p:nvSpPr>
          <p:spPr>
            <a:xfrm>
              <a:off x="4114800" y="3429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275614" y="4509"/>
                  </a:lnTo>
                  <a:lnTo>
                    <a:pt x="318968" y="17502"/>
                  </a:lnTo>
                  <a:lnTo>
                    <a:pt x="357857" y="38174"/>
                  </a:lnTo>
                  <a:lnTo>
                    <a:pt x="391477" y="65722"/>
                  </a:lnTo>
                  <a:lnTo>
                    <a:pt x="419025" y="99342"/>
                  </a:lnTo>
                  <a:lnTo>
                    <a:pt x="439697" y="138231"/>
                  </a:lnTo>
                  <a:lnTo>
                    <a:pt x="452690" y="181585"/>
                  </a:lnTo>
                  <a:lnTo>
                    <a:pt x="457200" y="228600"/>
                  </a:lnTo>
                  <a:lnTo>
                    <a:pt x="452690" y="275614"/>
                  </a:lnTo>
                  <a:lnTo>
                    <a:pt x="439697" y="318968"/>
                  </a:lnTo>
                  <a:lnTo>
                    <a:pt x="419025" y="357857"/>
                  </a:lnTo>
                  <a:lnTo>
                    <a:pt x="391477" y="391477"/>
                  </a:lnTo>
                  <a:lnTo>
                    <a:pt x="357857" y="419025"/>
                  </a:lnTo>
                  <a:lnTo>
                    <a:pt x="318968" y="439697"/>
                  </a:lnTo>
                  <a:lnTo>
                    <a:pt x="275614" y="452690"/>
                  </a:lnTo>
                  <a:lnTo>
                    <a:pt x="228600" y="457200"/>
                  </a:lnTo>
                  <a:lnTo>
                    <a:pt x="181585" y="452690"/>
                  </a:lnTo>
                  <a:lnTo>
                    <a:pt x="138231" y="439697"/>
                  </a:lnTo>
                  <a:lnTo>
                    <a:pt x="99342" y="419025"/>
                  </a:lnTo>
                  <a:lnTo>
                    <a:pt x="65722" y="391477"/>
                  </a:lnTo>
                  <a:lnTo>
                    <a:pt x="38174" y="357857"/>
                  </a:lnTo>
                  <a:lnTo>
                    <a:pt x="17502" y="318968"/>
                  </a:lnTo>
                  <a:lnTo>
                    <a:pt x="4509" y="275614"/>
                  </a:lnTo>
                  <a:lnTo>
                    <a:pt x="0" y="228600"/>
                  </a:lnTo>
                  <a:lnTo>
                    <a:pt x="4509" y="181585"/>
                  </a:lnTo>
                  <a:lnTo>
                    <a:pt x="17502" y="138231"/>
                  </a:lnTo>
                  <a:lnTo>
                    <a:pt x="38174" y="99342"/>
                  </a:lnTo>
                  <a:lnTo>
                    <a:pt x="65722" y="65722"/>
                  </a:lnTo>
                  <a:lnTo>
                    <a:pt x="99342" y="38174"/>
                  </a:lnTo>
                  <a:lnTo>
                    <a:pt x="138231" y="17502"/>
                  </a:lnTo>
                  <a:lnTo>
                    <a:pt x="181585" y="4509"/>
                  </a:lnTo>
                  <a:lnTo>
                    <a:pt x="228600" y="0"/>
                  </a:lnTo>
                  <a:close/>
                </a:path>
                <a:path w="457200" h="457200">
                  <a:moveTo>
                    <a:pt x="0" y="0"/>
                  </a:moveTo>
                  <a:lnTo>
                    <a:pt x="0" y="0"/>
                  </a:lnTo>
                </a:path>
                <a:path w="457200" h="457200">
                  <a:moveTo>
                    <a:pt x="457200" y="457200"/>
                  </a:moveTo>
                  <a:lnTo>
                    <a:pt x="457200" y="45720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7" name="object 15"/>
          <p:cNvGrpSpPr/>
          <p:nvPr/>
        </p:nvGrpSpPr>
        <p:grpSpPr>
          <a:xfrm>
            <a:off x="5129531" y="2646045"/>
            <a:ext cx="457200" cy="457200"/>
            <a:chOff x="5715000" y="3429000"/>
            <a:chExt cx="457200" cy="457200"/>
          </a:xfrm>
        </p:grpSpPr>
        <p:sp>
          <p:nvSpPr>
            <p:cNvPr id="28" name="object 16"/>
            <p:cNvSpPr/>
            <p:nvPr/>
          </p:nvSpPr>
          <p:spPr>
            <a:xfrm>
              <a:off x="5715000" y="3429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1585" y="4509"/>
                  </a:lnTo>
                  <a:lnTo>
                    <a:pt x="138231" y="17502"/>
                  </a:lnTo>
                  <a:lnTo>
                    <a:pt x="99342" y="38174"/>
                  </a:lnTo>
                  <a:lnTo>
                    <a:pt x="65722" y="65722"/>
                  </a:lnTo>
                  <a:lnTo>
                    <a:pt x="38174" y="99342"/>
                  </a:lnTo>
                  <a:lnTo>
                    <a:pt x="17502" y="138231"/>
                  </a:lnTo>
                  <a:lnTo>
                    <a:pt x="4509" y="181585"/>
                  </a:lnTo>
                  <a:lnTo>
                    <a:pt x="0" y="228600"/>
                  </a:lnTo>
                  <a:lnTo>
                    <a:pt x="4509" y="275614"/>
                  </a:lnTo>
                  <a:lnTo>
                    <a:pt x="17502" y="318968"/>
                  </a:lnTo>
                  <a:lnTo>
                    <a:pt x="38174" y="357857"/>
                  </a:lnTo>
                  <a:lnTo>
                    <a:pt x="65722" y="391477"/>
                  </a:lnTo>
                  <a:lnTo>
                    <a:pt x="99342" y="419025"/>
                  </a:lnTo>
                  <a:lnTo>
                    <a:pt x="138231" y="439697"/>
                  </a:lnTo>
                  <a:lnTo>
                    <a:pt x="181585" y="452690"/>
                  </a:lnTo>
                  <a:lnTo>
                    <a:pt x="228600" y="457200"/>
                  </a:lnTo>
                  <a:lnTo>
                    <a:pt x="275614" y="452690"/>
                  </a:lnTo>
                  <a:lnTo>
                    <a:pt x="318968" y="439697"/>
                  </a:lnTo>
                  <a:lnTo>
                    <a:pt x="357857" y="419025"/>
                  </a:lnTo>
                  <a:lnTo>
                    <a:pt x="391477" y="391477"/>
                  </a:lnTo>
                  <a:lnTo>
                    <a:pt x="419025" y="357857"/>
                  </a:lnTo>
                  <a:lnTo>
                    <a:pt x="439697" y="318968"/>
                  </a:lnTo>
                  <a:lnTo>
                    <a:pt x="452690" y="275614"/>
                  </a:lnTo>
                  <a:lnTo>
                    <a:pt x="457200" y="228600"/>
                  </a:lnTo>
                  <a:lnTo>
                    <a:pt x="452690" y="181585"/>
                  </a:lnTo>
                  <a:lnTo>
                    <a:pt x="439697" y="138231"/>
                  </a:lnTo>
                  <a:lnTo>
                    <a:pt x="419025" y="99342"/>
                  </a:lnTo>
                  <a:lnTo>
                    <a:pt x="391477" y="65722"/>
                  </a:lnTo>
                  <a:lnTo>
                    <a:pt x="357857" y="38174"/>
                  </a:lnTo>
                  <a:lnTo>
                    <a:pt x="318968" y="17502"/>
                  </a:lnTo>
                  <a:lnTo>
                    <a:pt x="275614" y="4509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FF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17"/>
            <p:cNvSpPr/>
            <p:nvPr/>
          </p:nvSpPr>
          <p:spPr>
            <a:xfrm>
              <a:off x="5715000" y="3429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275614" y="4509"/>
                  </a:lnTo>
                  <a:lnTo>
                    <a:pt x="318968" y="17502"/>
                  </a:lnTo>
                  <a:lnTo>
                    <a:pt x="357857" y="38174"/>
                  </a:lnTo>
                  <a:lnTo>
                    <a:pt x="391477" y="65722"/>
                  </a:lnTo>
                  <a:lnTo>
                    <a:pt x="419025" y="99342"/>
                  </a:lnTo>
                  <a:lnTo>
                    <a:pt x="439697" y="138231"/>
                  </a:lnTo>
                  <a:lnTo>
                    <a:pt x="452690" y="181585"/>
                  </a:lnTo>
                  <a:lnTo>
                    <a:pt x="457200" y="228600"/>
                  </a:lnTo>
                  <a:lnTo>
                    <a:pt x="452690" y="275614"/>
                  </a:lnTo>
                  <a:lnTo>
                    <a:pt x="439697" y="318968"/>
                  </a:lnTo>
                  <a:lnTo>
                    <a:pt x="419025" y="357857"/>
                  </a:lnTo>
                  <a:lnTo>
                    <a:pt x="391477" y="391477"/>
                  </a:lnTo>
                  <a:lnTo>
                    <a:pt x="357857" y="419025"/>
                  </a:lnTo>
                  <a:lnTo>
                    <a:pt x="318968" y="439697"/>
                  </a:lnTo>
                  <a:lnTo>
                    <a:pt x="275614" y="452690"/>
                  </a:lnTo>
                  <a:lnTo>
                    <a:pt x="228600" y="457200"/>
                  </a:lnTo>
                  <a:lnTo>
                    <a:pt x="181585" y="452690"/>
                  </a:lnTo>
                  <a:lnTo>
                    <a:pt x="138231" y="439697"/>
                  </a:lnTo>
                  <a:lnTo>
                    <a:pt x="99342" y="419025"/>
                  </a:lnTo>
                  <a:lnTo>
                    <a:pt x="65722" y="391477"/>
                  </a:lnTo>
                  <a:lnTo>
                    <a:pt x="38174" y="357857"/>
                  </a:lnTo>
                  <a:lnTo>
                    <a:pt x="17502" y="318968"/>
                  </a:lnTo>
                  <a:lnTo>
                    <a:pt x="4509" y="275614"/>
                  </a:lnTo>
                  <a:lnTo>
                    <a:pt x="0" y="228600"/>
                  </a:lnTo>
                  <a:lnTo>
                    <a:pt x="4509" y="181585"/>
                  </a:lnTo>
                  <a:lnTo>
                    <a:pt x="17502" y="138231"/>
                  </a:lnTo>
                  <a:lnTo>
                    <a:pt x="38174" y="99342"/>
                  </a:lnTo>
                  <a:lnTo>
                    <a:pt x="65722" y="65722"/>
                  </a:lnTo>
                  <a:lnTo>
                    <a:pt x="99342" y="38174"/>
                  </a:lnTo>
                  <a:lnTo>
                    <a:pt x="138231" y="17502"/>
                  </a:lnTo>
                  <a:lnTo>
                    <a:pt x="181585" y="4509"/>
                  </a:lnTo>
                  <a:lnTo>
                    <a:pt x="228600" y="0"/>
                  </a:lnTo>
                  <a:close/>
                </a:path>
                <a:path w="457200" h="457200">
                  <a:moveTo>
                    <a:pt x="0" y="0"/>
                  </a:moveTo>
                  <a:lnTo>
                    <a:pt x="0" y="0"/>
                  </a:lnTo>
                </a:path>
                <a:path w="457200" h="457200">
                  <a:moveTo>
                    <a:pt x="457200" y="457200"/>
                  </a:moveTo>
                  <a:lnTo>
                    <a:pt x="457200" y="45720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9" name="object 19"/>
          <p:cNvGrpSpPr/>
          <p:nvPr/>
        </p:nvGrpSpPr>
        <p:grpSpPr>
          <a:xfrm>
            <a:off x="4215131" y="3789045"/>
            <a:ext cx="457200" cy="457200"/>
            <a:chOff x="4800600" y="4572000"/>
            <a:chExt cx="457200" cy="457200"/>
          </a:xfrm>
        </p:grpSpPr>
        <p:sp>
          <p:nvSpPr>
            <p:cNvPr id="20" name="object 20"/>
            <p:cNvSpPr/>
            <p:nvPr/>
          </p:nvSpPr>
          <p:spPr>
            <a:xfrm>
              <a:off x="4800600" y="4572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1585" y="4509"/>
                  </a:lnTo>
                  <a:lnTo>
                    <a:pt x="138231" y="17502"/>
                  </a:lnTo>
                  <a:lnTo>
                    <a:pt x="99342" y="38174"/>
                  </a:lnTo>
                  <a:lnTo>
                    <a:pt x="65722" y="65722"/>
                  </a:lnTo>
                  <a:lnTo>
                    <a:pt x="38174" y="99342"/>
                  </a:lnTo>
                  <a:lnTo>
                    <a:pt x="17502" y="138231"/>
                  </a:lnTo>
                  <a:lnTo>
                    <a:pt x="4509" y="181585"/>
                  </a:lnTo>
                  <a:lnTo>
                    <a:pt x="0" y="228600"/>
                  </a:lnTo>
                  <a:lnTo>
                    <a:pt x="4509" y="275614"/>
                  </a:lnTo>
                  <a:lnTo>
                    <a:pt x="17502" y="318968"/>
                  </a:lnTo>
                  <a:lnTo>
                    <a:pt x="38174" y="357857"/>
                  </a:lnTo>
                  <a:lnTo>
                    <a:pt x="65722" y="391477"/>
                  </a:lnTo>
                  <a:lnTo>
                    <a:pt x="99342" y="419025"/>
                  </a:lnTo>
                  <a:lnTo>
                    <a:pt x="138231" y="439697"/>
                  </a:lnTo>
                  <a:lnTo>
                    <a:pt x="181585" y="452690"/>
                  </a:lnTo>
                  <a:lnTo>
                    <a:pt x="228600" y="457200"/>
                  </a:lnTo>
                  <a:lnTo>
                    <a:pt x="275614" y="452690"/>
                  </a:lnTo>
                  <a:lnTo>
                    <a:pt x="318968" y="439697"/>
                  </a:lnTo>
                  <a:lnTo>
                    <a:pt x="357857" y="419025"/>
                  </a:lnTo>
                  <a:lnTo>
                    <a:pt x="391477" y="391477"/>
                  </a:lnTo>
                  <a:lnTo>
                    <a:pt x="419025" y="357857"/>
                  </a:lnTo>
                  <a:lnTo>
                    <a:pt x="439697" y="318968"/>
                  </a:lnTo>
                  <a:lnTo>
                    <a:pt x="452690" y="275614"/>
                  </a:lnTo>
                  <a:lnTo>
                    <a:pt x="457200" y="228600"/>
                  </a:lnTo>
                  <a:lnTo>
                    <a:pt x="452690" y="181585"/>
                  </a:lnTo>
                  <a:lnTo>
                    <a:pt x="439697" y="138231"/>
                  </a:lnTo>
                  <a:lnTo>
                    <a:pt x="419025" y="99342"/>
                  </a:lnTo>
                  <a:lnTo>
                    <a:pt x="391477" y="65722"/>
                  </a:lnTo>
                  <a:lnTo>
                    <a:pt x="357857" y="38174"/>
                  </a:lnTo>
                  <a:lnTo>
                    <a:pt x="318968" y="17502"/>
                  </a:lnTo>
                  <a:lnTo>
                    <a:pt x="275614" y="4509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800600" y="4572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275614" y="4509"/>
                  </a:lnTo>
                  <a:lnTo>
                    <a:pt x="318968" y="17502"/>
                  </a:lnTo>
                  <a:lnTo>
                    <a:pt x="357857" y="38174"/>
                  </a:lnTo>
                  <a:lnTo>
                    <a:pt x="391477" y="65722"/>
                  </a:lnTo>
                  <a:lnTo>
                    <a:pt x="419025" y="99342"/>
                  </a:lnTo>
                  <a:lnTo>
                    <a:pt x="439697" y="138231"/>
                  </a:lnTo>
                  <a:lnTo>
                    <a:pt x="452690" y="181585"/>
                  </a:lnTo>
                  <a:lnTo>
                    <a:pt x="457200" y="228600"/>
                  </a:lnTo>
                  <a:lnTo>
                    <a:pt x="452690" y="275614"/>
                  </a:lnTo>
                  <a:lnTo>
                    <a:pt x="439697" y="318968"/>
                  </a:lnTo>
                  <a:lnTo>
                    <a:pt x="419025" y="357857"/>
                  </a:lnTo>
                  <a:lnTo>
                    <a:pt x="391477" y="391477"/>
                  </a:lnTo>
                  <a:lnTo>
                    <a:pt x="357857" y="419025"/>
                  </a:lnTo>
                  <a:lnTo>
                    <a:pt x="318968" y="439697"/>
                  </a:lnTo>
                  <a:lnTo>
                    <a:pt x="275614" y="452690"/>
                  </a:lnTo>
                  <a:lnTo>
                    <a:pt x="228600" y="457200"/>
                  </a:lnTo>
                  <a:lnTo>
                    <a:pt x="181585" y="452690"/>
                  </a:lnTo>
                  <a:lnTo>
                    <a:pt x="138231" y="439697"/>
                  </a:lnTo>
                  <a:lnTo>
                    <a:pt x="99342" y="419025"/>
                  </a:lnTo>
                  <a:lnTo>
                    <a:pt x="65722" y="391477"/>
                  </a:lnTo>
                  <a:lnTo>
                    <a:pt x="38174" y="357857"/>
                  </a:lnTo>
                  <a:lnTo>
                    <a:pt x="17502" y="318968"/>
                  </a:lnTo>
                  <a:lnTo>
                    <a:pt x="4509" y="275614"/>
                  </a:lnTo>
                  <a:lnTo>
                    <a:pt x="0" y="228600"/>
                  </a:lnTo>
                  <a:lnTo>
                    <a:pt x="4509" y="181585"/>
                  </a:lnTo>
                  <a:lnTo>
                    <a:pt x="17502" y="138231"/>
                  </a:lnTo>
                  <a:lnTo>
                    <a:pt x="38174" y="99342"/>
                  </a:lnTo>
                  <a:lnTo>
                    <a:pt x="65722" y="65722"/>
                  </a:lnTo>
                  <a:lnTo>
                    <a:pt x="99342" y="38174"/>
                  </a:lnTo>
                  <a:lnTo>
                    <a:pt x="138231" y="17502"/>
                  </a:lnTo>
                  <a:lnTo>
                    <a:pt x="181585" y="4509"/>
                  </a:lnTo>
                  <a:lnTo>
                    <a:pt x="228600" y="0"/>
                  </a:lnTo>
                  <a:close/>
                </a:path>
                <a:path w="457200" h="457200">
                  <a:moveTo>
                    <a:pt x="0" y="0"/>
                  </a:moveTo>
                  <a:lnTo>
                    <a:pt x="0" y="0"/>
                  </a:lnTo>
                </a:path>
                <a:path w="457200" h="457200">
                  <a:moveTo>
                    <a:pt x="457200" y="457200"/>
                  </a:moveTo>
                  <a:lnTo>
                    <a:pt x="457200" y="45720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2843531" y="3789045"/>
            <a:ext cx="457200" cy="457200"/>
            <a:chOff x="3429000" y="4572000"/>
            <a:chExt cx="457200" cy="457200"/>
          </a:xfrm>
        </p:grpSpPr>
        <p:sp>
          <p:nvSpPr>
            <p:cNvPr id="16" name="object 16"/>
            <p:cNvSpPr/>
            <p:nvPr/>
          </p:nvSpPr>
          <p:spPr>
            <a:xfrm>
              <a:off x="3429000" y="4572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1585" y="4509"/>
                  </a:lnTo>
                  <a:lnTo>
                    <a:pt x="138231" y="17502"/>
                  </a:lnTo>
                  <a:lnTo>
                    <a:pt x="99342" y="38174"/>
                  </a:lnTo>
                  <a:lnTo>
                    <a:pt x="65722" y="65722"/>
                  </a:lnTo>
                  <a:lnTo>
                    <a:pt x="38174" y="99342"/>
                  </a:lnTo>
                  <a:lnTo>
                    <a:pt x="17502" y="138231"/>
                  </a:lnTo>
                  <a:lnTo>
                    <a:pt x="4509" y="181585"/>
                  </a:lnTo>
                  <a:lnTo>
                    <a:pt x="0" y="228600"/>
                  </a:lnTo>
                  <a:lnTo>
                    <a:pt x="4509" y="275614"/>
                  </a:lnTo>
                  <a:lnTo>
                    <a:pt x="17502" y="318968"/>
                  </a:lnTo>
                  <a:lnTo>
                    <a:pt x="38174" y="357857"/>
                  </a:lnTo>
                  <a:lnTo>
                    <a:pt x="65722" y="391477"/>
                  </a:lnTo>
                  <a:lnTo>
                    <a:pt x="99342" y="419025"/>
                  </a:lnTo>
                  <a:lnTo>
                    <a:pt x="138231" y="439697"/>
                  </a:lnTo>
                  <a:lnTo>
                    <a:pt x="181585" y="452690"/>
                  </a:lnTo>
                  <a:lnTo>
                    <a:pt x="228600" y="457200"/>
                  </a:lnTo>
                  <a:lnTo>
                    <a:pt x="275614" y="452690"/>
                  </a:lnTo>
                  <a:lnTo>
                    <a:pt x="318968" y="439697"/>
                  </a:lnTo>
                  <a:lnTo>
                    <a:pt x="357857" y="419025"/>
                  </a:lnTo>
                  <a:lnTo>
                    <a:pt x="391477" y="391477"/>
                  </a:lnTo>
                  <a:lnTo>
                    <a:pt x="419025" y="357857"/>
                  </a:lnTo>
                  <a:lnTo>
                    <a:pt x="439697" y="318968"/>
                  </a:lnTo>
                  <a:lnTo>
                    <a:pt x="452690" y="275614"/>
                  </a:lnTo>
                  <a:lnTo>
                    <a:pt x="457200" y="228600"/>
                  </a:lnTo>
                  <a:lnTo>
                    <a:pt x="452690" y="181585"/>
                  </a:lnTo>
                  <a:lnTo>
                    <a:pt x="439697" y="138231"/>
                  </a:lnTo>
                  <a:lnTo>
                    <a:pt x="419025" y="99342"/>
                  </a:lnTo>
                  <a:lnTo>
                    <a:pt x="391477" y="65722"/>
                  </a:lnTo>
                  <a:lnTo>
                    <a:pt x="357857" y="38174"/>
                  </a:lnTo>
                  <a:lnTo>
                    <a:pt x="318968" y="17502"/>
                  </a:lnTo>
                  <a:lnTo>
                    <a:pt x="275614" y="4509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429000" y="4572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275614" y="4509"/>
                  </a:lnTo>
                  <a:lnTo>
                    <a:pt x="318968" y="17502"/>
                  </a:lnTo>
                  <a:lnTo>
                    <a:pt x="357857" y="38174"/>
                  </a:lnTo>
                  <a:lnTo>
                    <a:pt x="391477" y="65722"/>
                  </a:lnTo>
                  <a:lnTo>
                    <a:pt x="419025" y="99342"/>
                  </a:lnTo>
                  <a:lnTo>
                    <a:pt x="439697" y="138231"/>
                  </a:lnTo>
                  <a:lnTo>
                    <a:pt x="452690" y="181585"/>
                  </a:lnTo>
                  <a:lnTo>
                    <a:pt x="457200" y="228600"/>
                  </a:lnTo>
                  <a:lnTo>
                    <a:pt x="452690" y="275614"/>
                  </a:lnTo>
                  <a:lnTo>
                    <a:pt x="439697" y="318968"/>
                  </a:lnTo>
                  <a:lnTo>
                    <a:pt x="419025" y="357857"/>
                  </a:lnTo>
                  <a:lnTo>
                    <a:pt x="391477" y="391477"/>
                  </a:lnTo>
                  <a:lnTo>
                    <a:pt x="357857" y="419025"/>
                  </a:lnTo>
                  <a:lnTo>
                    <a:pt x="318968" y="439697"/>
                  </a:lnTo>
                  <a:lnTo>
                    <a:pt x="275614" y="452690"/>
                  </a:lnTo>
                  <a:lnTo>
                    <a:pt x="228600" y="457200"/>
                  </a:lnTo>
                  <a:lnTo>
                    <a:pt x="181585" y="452690"/>
                  </a:lnTo>
                  <a:lnTo>
                    <a:pt x="138231" y="439697"/>
                  </a:lnTo>
                  <a:lnTo>
                    <a:pt x="99342" y="419025"/>
                  </a:lnTo>
                  <a:lnTo>
                    <a:pt x="65722" y="391477"/>
                  </a:lnTo>
                  <a:lnTo>
                    <a:pt x="38174" y="357857"/>
                  </a:lnTo>
                  <a:lnTo>
                    <a:pt x="17502" y="318968"/>
                  </a:lnTo>
                  <a:lnTo>
                    <a:pt x="4509" y="275614"/>
                  </a:lnTo>
                  <a:lnTo>
                    <a:pt x="0" y="228600"/>
                  </a:lnTo>
                  <a:lnTo>
                    <a:pt x="4509" y="181585"/>
                  </a:lnTo>
                  <a:lnTo>
                    <a:pt x="17502" y="138231"/>
                  </a:lnTo>
                  <a:lnTo>
                    <a:pt x="38174" y="99342"/>
                  </a:lnTo>
                  <a:lnTo>
                    <a:pt x="65722" y="65722"/>
                  </a:lnTo>
                  <a:lnTo>
                    <a:pt x="99342" y="38174"/>
                  </a:lnTo>
                  <a:lnTo>
                    <a:pt x="138231" y="17502"/>
                  </a:lnTo>
                  <a:lnTo>
                    <a:pt x="181585" y="4509"/>
                  </a:lnTo>
                  <a:lnTo>
                    <a:pt x="228600" y="0"/>
                  </a:lnTo>
                  <a:close/>
                </a:path>
                <a:path w="457200" h="457200">
                  <a:moveTo>
                    <a:pt x="0" y="0"/>
                  </a:moveTo>
                  <a:lnTo>
                    <a:pt x="0" y="0"/>
                  </a:lnTo>
                </a:path>
                <a:path w="457200" h="457200">
                  <a:moveTo>
                    <a:pt x="457200" y="457200"/>
                  </a:moveTo>
                  <a:lnTo>
                    <a:pt x="457200" y="45720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" name="object 3"/>
          <p:cNvGrpSpPr/>
          <p:nvPr/>
        </p:nvGrpSpPr>
        <p:grpSpPr>
          <a:xfrm>
            <a:off x="1928495" y="2653665"/>
            <a:ext cx="457200" cy="457200"/>
            <a:chOff x="2514600" y="3429000"/>
            <a:chExt cx="457200" cy="457200"/>
          </a:xfrm>
        </p:grpSpPr>
        <p:sp>
          <p:nvSpPr>
            <p:cNvPr id="4" name="object 4"/>
            <p:cNvSpPr/>
            <p:nvPr/>
          </p:nvSpPr>
          <p:spPr>
            <a:xfrm>
              <a:off x="2514600" y="3429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1585" y="4509"/>
                  </a:lnTo>
                  <a:lnTo>
                    <a:pt x="138231" y="17502"/>
                  </a:lnTo>
                  <a:lnTo>
                    <a:pt x="99342" y="38174"/>
                  </a:lnTo>
                  <a:lnTo>
                    <a:pt x="65722" y="65722"/>
                  </a:lnTo>
                  <a:lnTo>
                    <a:pt x="38174" y="99342"/>
                  </a:lnTo>
                  <a:lnTo>
                    <a:pt x="17502" y="138231"/>
                  </a:lnTo>
                  <a:lnTo>
                    <a:pt x="4509" y="181585"/>
                  </a:lnTo>
                  <a:lnTo>
                    <a:pt x="0" y="228600"/>
                  </a:lnTo>
                  <a:lnTo>
                    <a:pt x="4509" y="275614"/>
                  </a:lnTo>
                  <a:lnTo>
                    <a:pt x="17502" y="318968"/>
                  </a:lnTo>
                  <a:lnTo>
                    <a:pt x="38174" y="357857"/>
                  </a:lnTo>
                  <a:lnTo>
                    <a:pt x="65722" y="391477"/>
                  </a:lnTo>
                  <a:lnTo>
                    <a:pt x="99342" y="419025"/>
                  </a:lnTo>
                  <a:lnTo>
                    <a:pt x="138231" y="439697"/>
                  </a:lnTo>
                  <a:lnTo>
                    <a:pt x="181585" y="452690"/>
                  </a:lnTo>
                  <a:lnTo>
                    <a:pt x="228600" y="457200"/>
                  </a:lnTo>
                  <a:lnTo>
                    <a:pt x="275614" y="452690"/>
                  </a:lnTo>
                  <a:lnTo>
                    <a:pt x="318968" y="439697"/>
                  </a:lnTo>
                  <a:lnTo>
                    <a:pt x="357857" y="419025"/>
                  </a:lnTo>
                  <a:lnTo>
                    <a:pt x="391477" y="391477"/>
                  </a:lnTo>
                  <a:lnTo>
                    <a:pt x="419025" y="357857"/>
                  </a:lnTo>
                  <a:lnTo>
                    <a:pt x="439697" y="318968"/>
                  </a:lnTo>
                  <a:lnTo>
                    <a:pt x="452690" y="275614"/>
                  </a:lnTo>
                  <a:lnTo>
                    <a:pt x="457200" y="228600"/>
                  </a:lnTo>
                  <a:lnTo>
                    <a:pt x="452690" y="181585"/>
                  </a:lnTo>
                  <a:lnTo>
                    <a:pt x="439697" y="138231"/>
                  </a:lnTo>
                  <a:lnTo>
                    <a:pt x="419025" y="99342"/>
                  </a:lnTo>
                  <a:lnTo>
                    <a:pt x="391477" y="65722"/>
                  </a:lnTo>
                  <a:lnTo>
                    <a:pt x="357857" y="38174"/>
                  </a:lnTo>
                  <a:lnTo>
                    <a:pt x="318968" y="17502"/>
                  </a:lnTo>
                  <a:lnTo>
                    <a:pt x="275614" y="4509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FF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" name="object 5"/>
            <p:cNvSpPr/>
            <p:nvPr/>
          </p:nvSpPr>
          <p:spPr>
            <a:xfrm>
              <a:off x="2514600" y="3429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275614" y="4509"/>
                  </a:lnTo>
                  <a:lnTo>
                    <a:pt x="318968" y="17502"/>
                  </a:lnTo>
                  <a:lnTo>
                    <a:pt x="357857" y="38174"/>
                  </a:lnTo>
                  <a:lnTo>
                    <a:pt x="391477" y="65722"/>
                  </a:lnTo>
                  <a:lnTo>
                    <a:pt x="419025" y="99342"/>
                  </a:lnTo>
                  <a:lnTo>
                    <a:pt x="439697" y="138231"/>
                  </a:lnTo>
                  <a:lnTo>
                    <a:pt x="452690" y="181585"/>
                  </a:lnTo>
                  <a:lnTo>
                    <a:pt x="457200" y="228600"/>
                  </a:lnTo>
                  <a:lnTo>
                    <a:pt x="452690" y="275614"/>
                  </a:lnTo>
                  <a:lnTo>
                    <a:pt x="439697" y="318968"/>
                  </a:lnTo>
                  <a:lnTo>
                    <a:pt x="419025" y="357857"/>
                  </a:lnTo>
                  <a:lnTo>
                    <a:pt x="391477" y="391477"/>
                  </a:lnTo>
                  <a:lnTo>
                    <a:pt x="357857" y="419025"/>
                  </a:lnTo>
                  <a:lnTo>
                    <a:pt x="318968" y="439697"/>
                  </a:lnTo>
                  <a:lnTo>
                    <a:pt x="275614" y="452690"/>
                  </a:lnTo>
                  <a:lnTo>
                    <a:pt x="228600" y="457200"/>
                  </a:lnTo>
                  <a:lnTo>
                    <a:pt x="181585" y="452690"/>
                  </a:lnTo>
                  <a:lnTo>
                    <a:pt x="138231" y="439697"/>
                  </a:lnTo>
                  <a:lnTo>
                    <a:pt x="99342" y="419025"/>
                  </a:lnTo>
                  <a:lnTo>
                    <a:pt x="65722" y="391477"/>
                  </a:lnTo>
                  <a:lnTo>
                    <a:pt x="38174" y="357857"/>
                  </a:lnTo>
                  <a:lnTo>
                    <a:pt x="17502" y="318968"/>
                  </a:lnTo>
                  <a:lnTo>
                    <a:pt x="4509" y="275614"/>
                  </a:lnTo>
                  <a:lnTo>
                    <a:pt x="0" y="228600"/>
                  </a:lnTo>
                  <a:lnTo>
                    <a:pt x="4509" y="181585"/>
                  </a:lnTo>
                  <a:lnTo>
                    <a:pt x="17502" y="138231"/>
                  </a:lnTo>
                  <a:lnTo>
                    <a:pt x="38174" y="99342"/>
                  </a:lnTo>
                  <a:lnTo>
                    <a:pt x="65722" y="65722"/>
                  </a:lnTo>
                  <a:lnTo>
                    <a:pt x="99342" y="38174"/>
                  </a:lnTo>
                  <a:lnTo>
                    <a:pt x="138231" y="17502"/>
                  </a:lnTo>
                  <a:lnTo>
                    <a:pt x="181585" y="4509"/>
                  </a:lnTo>
                  <a:lnTo>
                    <a:pt x="228600" y="0"/>
                  </a:lnTo>
                  <a:close/>
                </a:path>
                <a:path w="457200" h="457200">
                  <a:moveTo>
                    <a:pt x="0" y="0"/>
                  </a:moveTo>
                  <a:lnTo>
                    <a:pt x="0" y="0"/>
                  </a:lnTo>
                </a:path>
                <a:path w="457200" h="457200">
                  <a:moveTo>
                    <a:pt x="457200" y="457200"/>
                  </a:moveTo>
                  <a:lnTo>
                    <a:pt x="457200" y="45720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b="1" dirty="0">
                <a:latin typeface="楷体_GB2312" panose="02010609030101010101" charset="-122"/>
                <a:ea typeface="楷体_GB2312" panose="02010609030101010101" charset="-122"/>
                <a:sym typeface="+mn-ea"/>
              </a:rPr>
              <a:t>图着色算法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49</a:t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graphicFrame>
        <p:nvGraphicFramePr>
          <p:cNvPr id="57" name="object 57"/>
          <p:cNvGraphicFramePr>
            <a:graphicFrameLocks noGrp="1"/>
          </p:cNvGraphicFramePr>
          <p:nvPr/>
        </p:nvGraphicFramePr>
        <p:xfrm>
          <a:off x="1928495" y="4679315"/>
          <a:ext cx="3657600" cy="45770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708">
                <a:tc>
                  <a:txBody>
                    <a:bodyPr/>
                    <a:lstStyle/>
                    <a:p>
                      <a:pPr marL="254000">
                        <a:lnSpc>
                          <a:spcPts val="2940"/>
                        </a:lnSpc>
                      </a:pPr>
                      <a:r>
                        <a:rPr sz="2700" b="1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R</a:t>
                      </a:r>
                      <a:r>
                        <a:rPr sz="2300" b="1" baseline="-31000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0</a:t>
                      </a:r>
                      <a:endParaRPr sz="2300" baseline="-31000">
                        <a:latin typeface="DejaVu Serif" panose="02060603050605020204"/>
                        <a:cs typeface="DejaVu Serif" panose="02060603050605020204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254000">
                        <a:lnSpc>
                          <a:spcPts val="2940"/>
                        </a:lnSpc>
                      </a:pPr>
                      <a:r>
                        <a:rPr sz="2700" b="1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R</a:t>
                      </a:r>
                      <a:r>
                        <a:rPr sz="2300" b="1" baseline="-31000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1</a:t>
                      </a:r>
                      <a:endParaRPr sz="2300" baseline="-31000">
                        <a:latin typeface="DejaVu Serif" panose="02060603050605020204"/>
                        <a:cs typeface="DejaVu Serif" panose="02060603050605020204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254000">
                        <a:lnSpc>
                          <a:spcPts val="2940"/>
                        </a:lnSpc>
                      </a:pPr>
                      <a:r>
                        <a:rPr sz="2700" b="1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R</a:t>
                      </a:r>
                      <a:r>
                        <a:rPr sz="2300" b="1" baseline="-31000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2</a:t>
                      </a:r>
                      <a:endParaRPr sz="2300" baseline="-31000">
                        <a:latin typeface="DejaVu Serif" panose="02060603050605020204"/>
                        <a:cs typeface="DejaVu Serif" panose="02060603050605020204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F00FF"/>
                    </a:solidFill>
                  </a:tcPr>
                </a:tc>
                <a:tc>
                  <a:txBody>
                    <a:bodyPr/>
                    <a:lstStyle/>
                    <a:p>
                      <a:pPr marL="254000">
                        <a:lnSpc>
                          <a:spcPts val="2940"/>
                        </a:lnSpc>
                      </a:pPr>
                      <a:r>
                        <a:rPr sz="2700" b="1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R</a:t>
                      </a:r>
                      <a:r>
                        <a:rPr sz="2300" b="1" baseline="-31000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3</a:t>
                      </a:r>
                      <a:endParaRPr sz="2300" baseline="-31000">
                        <a:latin typeface="DejaVu Serif" panose="02060603050605020204"/>
                        <a:cs typeface="DejaVu Serif" panose="02060603050605020204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E5E5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6" name="object 3"/>
          <p:cNvSpPr/>
          <p:nvPr/>
        </p:nvSpPr>
        <p:spPr>
          <a:xfrm>
            <a:off x="1928495" y="265366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4"/>
          <p:cNvSpPr txBox="1"/>
          <p:nvPr/>
        </p:nvSpPr>
        <p:spPr>
          <a:xfrm>
            <a:off x="2052958" y="2646045"/>
            <a:ext cx="20891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b="1" dirty="0">
                <a:solidFill>
                  <a:srgbClr val="191919"/>
                </a:solidFill>
                <a:latin typeface="Courier New" panose="02070409020205020404"/>
                <a:cs typeface="Courier New" panose="02070409020205020404"/>
              </a:rPr>
              <a:t>a</a:t>
            </a:r>
            <a:endParaRPr sz="2400">
              <a:latin typeface="Courier New" panose="02070409020205020404"/>
              <a:cs typeface="Courier New" panose="02070409020205020404"/>
            </a:endParaRPr>
          </a:p>
        </p:txBody>
      </p:sp>
      <p:sp>
        <p:nvSpPr>
          <p:cNvPr id="59" name="object 5"/>
          <p:cNvSpPr/>
          <p:nvPr/>
        </p:nvSpPr>
        <p:spPr>
          <a:xfrm>
            <a:off x="2824480" y="14700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ln w="3175">
            <a:solidFill>
              <a:schemeClr val="tx1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60" name="object 6"/>
          <p:cNvSpPr txBox="1"/>
          <p:nvPr/>
        </p:nvSpPr>
        <p:spPr>
          <a:xfrm>
            <a:off x="2967357" y="1503045"/>
            <a:ext cx="208915" cy="382156"/>
          </a:xfrm>
          <a:prstGeom prst="rect">
            <a:avLst/>
          </a:prstGeom>
          <a:ln>
            <a:noFill/>
          </a:ln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b="1" dirty="0">
                <a:latin typeface="Courier New" panose="02070409020205020404"/>
                <a:cs typeface="Courier New" panose="02070409020205020404"/>
              </a:rPr>
              <a:t>b</a:t>
            </a:r>
          </a:p>
        </p:txBody>
      </p:sp>
      <p:sp>
        <p:nvSpPr>
          <p:cNvPr id="61" name="object 7"/>
          <p:cNvSpPr/>
          <p:nvPr/>
        </p:nvSpPr>
        <p:spPr>
          <a:xfrm>
            <a:off x="4215131" y="150558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ln w="3175"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62" name="object 8"/>
          <p:cNvSpPr txBox="1"/>
          <p:nvPr/>
        </p:nvSpPr>
        <p:spPr>
          <a:xfrm>
            <a:off x="4338957" y="1503045"/>
            <a:ext cx="208915" cy="382156"/>
          </a:xfrm>
          <a:prstGeom prst="rect">
            <a:avLst/>
          </a:prstGeom>
          <a:ln>
            <a:noFill/>
          </a:ln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b="1" dirty="0">
                <a:solidFill>
                  <a:schemeClr val="bg1">
                    <a:lumMod val="75000"/>
                  </a:schemeClr>
                </a:solidFill>
                <a:latin typeface="Courier New" panose="02070409020205020404"/>
                <a:cs typeface="Courier New" panose="02070409020205020404"/>
              </a:rPr>
              <a:t>c</a:t>
            </a:r>
          </a:p>
        </p:txBody>
      </p:sp>
      <p:sp>
        <p:nvSpPr>
          <p:cNvPr id="63" name="object 9"/>
          <p:cNvSpPr/>
          <p:nvPr/>
        </p:nvSpPr>
        <p:spPr>
          <a:xfrm>
            <a:off x="3528695" y="260540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ln w="3175">
            <a:solidFill>
              <a:schemeClr val="tx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10"/>
          <p:cNvSpPr txBox="1"/>
          <p:nvPr/>
        </p:nvSpPr>
        <p:spPr>
          <a:xfrm>
            <a:off x="3653157" y="2646045"/>
            <a:ext cx="208915" cy="382156"/>
          </a:xfrm>
          <a:prstGeom prst="rect">
            <a:avLst/>
          </a:prstGeom>
          <a:ln>
            <a:noFill/>
          </a:ln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b="1" dirty="0">
                <a:latin typeface="Courier New" panose="02070409020205020404"/>
                <a:cs typeface="Courier New" panose="02070409020205020404"/>
              </a:rPr>
              <a:t>d</a:t>
            </a:r>
          </a:p>
        </p:txBody>
      </p:sp>
      <p:sp>
        <p:nvSpPr>
          <p:cNvPr id="65" name="object 11"/>
          <p:cNvSpPr/>
          <p:nvPr/>
        </p:nvSpPr>
        <p:spPr>
          <a:xfrm>
            <a:off x="5128895" y="265366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12"/>
          <p:cNvSpPr txBox="1"/>
          <p:nvPr/>
        </p:nvSpPr>
        <p:spPr>
          <a:xfrm>
            <a:off x="5253357" y="2646045"/>
            <a:ext cx="20891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b="1" dirty="0">
                <a:solidFill>
                  <a:srgbClr val="191919"/>
                </a:solidFill>
                <a:latin typeface="Courier New" panose="02070409020205020404"/>
                <a:cs typeface="Courier New" panose="02070409020205020404"/>
              </a:rPr>
              <a:t>e</a:t>
            </a:r>
            <a:endParaRPr sz="2400">
              <a:latin typeface="Courier New" panose="02070409020205020404"/>
              <a:cs typeface="Courier New" panose="02070409020205020404"/>
            </a:endParaRPr>
          </a:p>
        </p:txBody>
      </p:sp>
      <p:sp>
        <p:nvSpPr>
          <p:cNvPr id="67" name="object 13"/>
          <p:cNvSpPr/>
          <p:nvPr/>
        </p:nvSpPr>
        <p:spPr>
          <a:xfrm>
            <a:off x="2842895" y="379666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14"/>
          <p:cNvSpPr txBox="1"/>
          <p:nvPr/>
        </p:nvSpPr>
        <p:spPr>
          <a:xfrm>
            <a:off x="2967357" y="3789045"/>
            <a:ext cx="20891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b="1" dirty="0">
                <a:solidFill>
                  <a:srgbClr val="191919"/>
                </a:solidFill>
                <a:latin typeface="Courier New" panose="02070409020205020404"/>
                <a:cs typeface="Courier New" panose="02070409020205020404"/>
              </a:rPr>
              <a:t>g</a:t>
            </a:r>
            <a:endParaRPr sz="2400">
              <a:latin typeface="Courier New" panose="02070409020205020404"/>
              <a:cs typeface="Courier New" panose="02070409020205020404"/>
            </a:endParaRPr>
          </a:p>
        </p:txBody>
      </p:sp>
      <p:sp>
        <p:nvSpPr>
          <p:cNvPr id="69" name="object 15"/>
          <p:cNvSpPr/>
          <p:nvPr/>
        </p:nvSpPr>
        <p:spPr>
          <a:xfrm>
            <a:off x="4214495" y="379666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16"/>
          <p:cNvSpPr txBox="1"/>
          <p:nvPr/>
        </p:nvSpPr>
        <p:spPr>
          <a:xfrm>
            <a:off x="4338957" y="3789045"/>
            <a:ext cx="20891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b="1" dirty="0">
                <a:solidFill>
                  <a:srgbClr val="191919"/>
                </a:solidFill>
                <a:latin typeface="Courier New" panose="02070409020205020404"/>
                <a:cs typeface="Courier New" panose="02070409020205020404"/>
              </a:rPr>
              <a:t>f</a:t>
            </a:r>
            <a:endParaRPr sz="2400">
              <a:latin typeface="Courier New" panose="02070409020205020404"/>
              <a:cs typeface="Courier New" panose="02070409020205020404"/>
            </a:endParaRPr>
          </a:p>
        </p:txBody>
      </p:sp>
      <p:cxnSp>
        <p:nvCxnSpPr>
          <p:cNvPr id="72" name="直接连接符 71"/>
          <p:cNvCxnSpPr/>
          <p:nvPr/>
        </p:nvCxnSpPr>
        <p:spPr>
          <a:xfrm>
            <a:off x="2262508" y="3126108"/>
            <a:ext cx="631191" cy="69405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接连接符 72"/>
          <p:cNvCxnSpPr>
            <a:endCxn id="58" idx="0"/>
          </p:cNvCxnSpPr>
          <p:nvPr/>
        </p:nvCxnSpPr>
        <p:spPr>
          <a:xfrm flipH="1">
            <a:off x="2157414" y="1890397"/>
            <a:ext cx="709612" cy="75564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接连接符 73"/>
          <p:cNvCxnSpPr/>
          <p:nvPr/>
        </p:nvCxnSpPr>
        <p:spPr>
          <a:xfrm flipH="1">
            <a:off x="3354072" y="1710055"/>
            <a:ext cx="829311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接连接符 74"/>
          <p:cNvCxnSpPr>
            <a:endCxn id="66" idx="0"/>
          </p:cNvCxnSpPr>
          <p:nvPr/>
        </p:nvCxnSpPr>
        <p:spPr>
          <a:xfrm>
            <a:off x="4670425" y="1881508"/>
            <a:ext cx="687388" cy="764539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接连接符 75"/>
          <p:cNvCxnSpPr/>
          <p:nvPr/>
        </p:nvCxnSpPr>
        <p:spPr>
          <a:xfrm flipH="1">
            <a:off x="3912873" y="1980568"/>
            <a:ext cx="495935" cy="658495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接连接符 76"/>
          <p:cNvCxnSpPr/>
          <p:nvPr/>
        </p:nvCxnSpPr>
        <p:spPr>
          <a:xfrm>
            <a:off x="3146428" y="1962788"/>
            <a:ext cx="433071" cy="68516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接连接符 77"/>
          <p:cNvCxnSpPr/>
          <p:nvPr/>
        </p:nvCxnSpPr>
        <p:spPr>
          <a:xfrm>
            <a:off x="3281683" y="1881507"/>
            <a:ext cx="1839595" cy="83883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接连接符 78"/>
          <p:cNvCxnSpPr>
            <a:endCxn id="70" idx="0"/>
          </p:cNvCxnSpPr>
          <p:nvPr/>
        </p:nvCxnSpPr>
        <p:spPr>
          <a:xfrm>
            <a:off x="3921761" y="3062605"/>
            <a:ext cx="521652" cy="7264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连接符 79"/>
          <p:cNvCxnSpPr>
            <a:endCxn id="68" idx="0"/>
          </p:cNvCxnSpPr>
          <p:nvPr/>
        </p:nvCxnSpPr>
        <p:spPr>
          <a:xfrm flipH="1">
            <a:off x="3071815" y="3081021"/>
            <a:ext cx="534353" cy="70802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接连接符 80"/>
          <p:cNvCxnSpPr/>
          <p:nvPr/>
        </p:nvCxnSpPr>
        <p:spPr>
          <a:xfrm flipH="1">
            <a:off x="2416177" y="2846705"/>
            <a:ext cx="107315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接连接符 81"/>
          <p:cNvCxnSpPr/>
          <p:nvPr/>
        </p:nvCxnSpPr>
        <p:spPr>
          <a:xfrm flipH="1" flipV="1">
            <a:off x="2361568" y="3017521"/>
            <a:ext cx="1794511" cy="8661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接连接符 82"/>
          <p:cNvCxnSpPr/>
          <p:nvPr/>
        </p:nvCxnSpPr>
        <p:spPr>
          <a:xfrm flipH="1">
            <a:off x="4643124" y="3126105"/>
            <a:ext cx="658495" cy="7213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接连接符 83"/>
          <p:cNvCxnSpPr/>
          <p:nvPr/>
        </p:nvCxnSpPr>
        <p:spPr>
          <a:xfrm flipH="1">
            <a:off x="3290573" y="2900682"/>
            <a:ext cx="1812925" cy="96456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object 23"/>
          <p:cNvSpPr/>
          <p:nvPr/>
        </p:nvSpPr>
        <p:spPr>
          <a:xfrm>
            <a:off x="7543800" y="4572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24"/>
          <p:cNvSpPr txBox="1"/>
          <p:nvPr/>
        </p:nvSpPr>
        <p:spPr>
          <a:xfrm>
            <a:off x="7660642" y="4546600"/>
            <a:ext cx="224155" cy="4129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600" b="1" dirty="0">
                <a:solidFill>
                  <a:srgbClr val="191919"/>
                </a:solidFill>
                <a:latin typeface="Courier New" panose="02070409020205020404"/>
                <a:cs typeface="Courier New" panose="02070409020205020404"/>
              </a:rPr>
              <a:t>c</a:t>
            </a:r>
            <a:endParaRPr sz="2600">
              <a:latin typeface="Courier New" panose="02070409020205020404"/>
              <a:cs typeface="Courier New" panose="020704090202050204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object 15"/>
          <p:cNvGrpSpPr/>
          <p:nvPr/>
        </p:nvGrpSpPr>
        <p:grpSpPr>
          <a:xfrm>
            <a:off x="4213225" y="1503045"/>
            <a:ext cx="457200" cy="457200"/>
            <a:chOff x="3429000" y="4572000"/>
            <a:chExt cx="457200" cy="457200"/>
          </a:xfrm>
        </p:grpSpPr>
        <p:sp>
          <p:nvSpPr>
            <p:cNvPr id="22" name="object 16"/>
            <p:cNvSpPr/>
            <p:nvPr/>
          </p:nvSpPr>
          <p:spPr>
            <a:xfrm>
              <a:off x="3429000" y="4572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1585" y="4509"/>
                  </a:lnTo>
                  <a:lnTo>
                    <a:pt x="138231" y="17502"/>
                  </a:lnTo>
                  <a:lnTo>
                    <a:pt x="99342" y="38174"/>
                  </a:lnTo>
                  <a:lnTo>
                    <a:pt x="65722" y="65722"/>
                  </a:lnTo>
                  <a:lnTo>
                    <a:pt x="38174" y="99342"/>
                  </a:lnTo>
                  <a:lnTo>
                    <a:pt x="17502" y="138231"/>
                  </a:lnTo>
                  <a:lnTo>
                    <a:pt x="4509" y="181585"/>
                  </a:lnTo>
                  <a:lnTo>
                    <a:pt x="0" y="228600"/>
                  </a:lnTo>
                  <a:lnTo>
                    <a:pt x="4509" y="275614"/>
                  </a:lnTo>
                  <a:lnTo>
                    <a:pt x="17502" y="318968"/>
                  </a:lnTo>
                  <a:lnTo>
                    <a:pt x="38174" y="357857"/>
                  </a:lnTo>
                  <a:lnTo>
                    <a:pt x="65722" y="391477"/>
                  </a:lnTo>
                  <a:lnTo>
                    <a:pt x="99342" y="419025"/>
                  </a:lnTo>
                  <a:lnTo>
                    <a:pt x="138231" y="439697"/>
                  </a:lnTo>
                  <a:lnTo>
                    <a:pt x="181585" y="452690"/>
                  </a:lnTo>
                  <a:lnTo>
                    <a:pt x="228600" y="457200"/>
                  </a:lnTo>
                  <a:lnTo>
                    <a:pt x="275614" y="452690"/>
                  </a:lnTo>
                  <a:lnTo>
                    <a:pt x="318968" y="439697"/>
                  </a:lnTo>
                  <a:lnTo>
                    <a:pt x="357857" y="419025"/>
                  </a:lnTo>
                  <a:lnTo>
                    <a:pt x="391477" y="391477"/>
                  </a:lnTo>
                  <a:lnTo>
                    <a:pt x="419025" y="357857"/>
                  </a:lnTo>
                  <a:lnTo>
                    <a:pt x="439697" y="318968"/>
                  </a:lnTo>
                  <a:lnTo>
                    <a:pt x="452690" y="275614"/>
                  </a:lnTo>
                  <a:lnTo>
                    <a:pt x="457200" y="228600"/>
                  </a:lnTo>
                  <a:lnTo>
                    <a:pt x="452690" y="181585"/>
                  </a:lnTo>
                  <a:lnTo>
                    <a:pt x="439697" y="138231"/>
                  </a:lnTo>
                  <a:lnTo>
                    <a:pt x="419025" y="99342"/>
                  </a:lnTo>
                  <a:lnTo>
                    <a:pt x="391477" y="65722"/>
                  </a:lnTo>
                  <a:lnTo>
                    <a:pt x="357857" y="38174"/>
                  </a:lnTo>
                  <a:lnTo>
                    <a:pt x="318968" y="17502"/>
                  </a:lnTo>
                  <a:lnTo>
                    <a:pt x="275614" y="4509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17"/>
            <p:cNvSpPr/>
            <p:nvPr/>
          </p:nvSpPr>
          <p:spPr>
            <a:xfrm>
              <a:off x="3429000" y="4572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275614" y="4509"/>
                  </a:lnTo>
                  <a:lnTo>
                    <a:pt x="318968" y="17502"/>
                  </a:lnTo>
                  <a:lnTo>
                    <a:pt x="357857" y="38174"/>
                  </a:lnTo>
                  <a:lnTo>
                    <a:pt x="391477" y="65722"/>
                  </a:lnTo>
                  <a:lnTo>
                    <a:pt x="419025" y="99342"/>
                  </a:lnTo>
                  <a:lnTo>
                    <a:pt x="439697" y="138231"/>
                  </a:lnTo>
                  <a:lnTo>
                    <a:pt x="452690" y="181585"/>
                  </a:lnTo>
                  <a:lnTo>
                    <a:pt x="457200" y="228600"/>
                  </a:lnTo>
                  <a:lnTo>
                    <a:pt x="452690" y="275614"/>
                  </a:lnTo>
                  <a:lnTo>
                    <a:pt x="439697" y="318968"/>
                  </a:lnTo>
                  <a:lnTo>
                    <a:pt x="419025" y="357857"/>
                  </a:lnTo>
                  <a:lnTo>
                    <a:pt x="391477" y="391477"/>
                  </a:lnTo>
                  <a:lnTo>
                    <a:pt x="357857" y="419025"/>
                  </a:lnTo>
                  <a:lnTo>
                    <a:pt x="318968" y="439697"/>
                  </a:lnTo>
                  <a:lnTo>
                    <a:pt x="275614" y="452690"/>
                  </a:lnTo>
                  <a:lnTo>
                    <a:pt x="228600" y="457200"/>
                  </a:lnTo>
                  <a:lnTo>
                    <a:pt x="181585" y="452690"/>
                  </a:lnTo>
                  <a:lnTo>
                    <a:pt x="138231" y="439697"/>
                  </a:lnTo>
                  <a:lnTo>
                    <a:pt x="99342" y="419025"/>
                  </a:lnTo>
                  <a:lnTo>
                    <a:pt x="65722" y="391477"/>
                  </a:lnTo>
                  <a:lnTo>
                    <a:pt x="38174" y="357857"/>
                  </a:lnTo>
                  <a:lnTo>
                    <a:pt x="17502" y="318968"/>
                  </a:lnTo>
                  <a:lnTo>
                    <a:pt x="4509" y="275614"/>
                  </a:lnTo>
                  <a:lnTo>
                    <a:pt x="0" y="228600"/>
                  </a:lnTo>
                  <a:lnTo>
                    <a:pt x="4509" y="181585"/>
                  </a:lnTo>
                  <a:lnTo>
                    <a:pt x="17502" y="138231"/>
                  </a:lnTo>
                  <a:lnTo>
                    <a:pt x="38174" y="99342"/>
                  </a:lnTo>
                  <a:lnTo>
                    <a:pt x="65722" y="65722"/>
                  </a:lnTo>
                  <a:lnTo>
                    <a:pt x="99342" y="38174"/>
                  </a:lnTo>
                  <a:lnTo>
                    <a:pt x="138231" y="17502"/>
                  </a:lnTo>
                  <a:lnTo>
                    <a:pt x="181585" y="4509"/>
                  </a:lnTo>
                  <a:lnTo>
                    <a:pt x="228600" y="0"/>
                  </a:lnTo>
                  <a:close/>
                </a:path>
                <a:path w="457200" h="457200">
                  <a:moveTo>
                    <a:pt x="0" y="0"/>
                  </a:moveTo>
                  <a:lnTo>
                    <a:pt x="0" y="0"/>
                  </a:lnTo>
                </a:path>
                <a:path w="457200" h="457200">
                  <a:moveTo>
                    <a:pt x="457200" y="457200"/>
                  </a:moveTo>
                  <a:lnTo>
                    <a:pt x="457200" y="45720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4" name="object 19"/>
          <p:cNvGrpSpPr/>
          <p:nvPr/>
        </p:nvGrpSpPr>
        <p:grpSpPr>
          <a:xfrm>
            <a:off x="2824480" y="1470025"/>
            <a:ext cx="457200" cy="457200"/>
            <a:chOff x="4800600" y="4572000"/>
            <a:chExt cx="457200" cy="457200"/>
          </a:xfrm>
        </p:grpSpPr>
        <p:sp>
          <p:nvSpPr>
            <p:cNvPr id="25" name="object 20"/>
            <p:cNvSpPr/>
            <p:nvPr/>
          </p:nvSpPr>
          <p:spPr>
            <a:xfrm>
              <a:off x="4800600" y="4572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1585" y="4509"/>
                  </a:lnTo>
                  <a:lnTo>
                    <a:pt x="138231" y="17502"/>
                  </a:lnTo>
                  <a:lnTo>
                    <a:pt x="99342" y="38174"/>
                  </a:lnTo>
                  <a:lnTo>
                    <a:pt x="65722" y="65722"/>
                  </a:lnTo>
                  <a:lnTo>
                    <a:pt x="38174" y="99342"/>
                  </a:lnTo>
                  <a:lnTo>
                    <a:pt x="17502" y="138231"/>
                  </a:lnTo>
                  <a:lnTo>
                    <a:pt x="4509" y="181585"/>
                  </a:lnTo>
                  <a:lnTo>
                    <a:pt x="0" y="228600"/>
                  </a:lnTo>
                  <a:lnTo>
                    <a:pt x="4509" y="275614"/>
                  </a:lnTo>
                  <a:lnTo>
                    <a:pt x="17502" y="318968"/>
                  </a:lnTo>
                  <a:lnTo>
                    <a:pt x="38174" y="357857"/>
                  </a:lnTo>
                  <a:lnTo>
                    <a:pt x="65722" y="391477"/>
                  </a:lnTo>
                  <a:lnTo>
                    <a:pt x="99342" y="419025"/>
                  </a:lnTo>
                  <a:lnTo>
                    <a:pt x="138231" y="439697"/>
                  </a:lnTo>
                  <a:lnTo>
                    <a:pt x="181585" y="452690"/>
                  </a:lnTo>
                  <a:lnTo>
                    <a:pt x="228600" y="457200"/>
                  </a:lnTo>
                  <a:lnTo>
                    <a:pt x="275614" y="452690"/>
                  </a:lnTo>
                  <a:lnTo>
                    <a:pt x="318968" y="439697"/>
                  </a:lnTo>
                  <a:lnTo>
                    <a:pt x="357857" y="419025"/>
                  </a:lnTo>
                  <a:lnTo>
                    <a:pt x="391477" y="391477"/>
                  </a:lnTo>
                  <a:lnTo>
                    <a:pt x="419025" y="357857"/>
                  </a:lnTo>
                  <a:lnTo>
                    <a:pt x="439697" y="318968"/>
                  </a:lnTo>
                  <a:lnTo>
                    <a:pt x="452690" y="275614"/>
                  </a:lnTo>
                  <a:lnTo>
                    <a:pt x="457200" y="228600"/>
                  </a:lnTo>
                  <a:lnTo>
                    <a:pt x="452690" y="181585"/>
                  </a:lnTo>
                  <a:lnTo>
                    <a:pt x="439697" y="138231"/>
                  </a:lnTo>
                  <a:lnTo>
                    <a:pt x="419025" y="99342"/>
                  </a:lnTo>
                  <a:lnTo>
                    <a:pt x="391477" y="65722"/>
                  </a:lnTo>
                  <a:lnTo>
                    <a:pt x="357857" y="38174"/>
                  </a:lnTo>
                  <a:lnTo>
                    <a:pt x="318968" y="17502"/>
                  </a:lnTo>
                  <a:lnTo>
                    <a:pt x="275614" y="4509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1"/>
            <p:cNvSpPr/>
            <p:nvPr/>
          </p:nvSpPr>
          <p:spPr>
            <a:xfrm>
              <a:off x="4800600" y="4572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275614" y="4509"/>
                  </a:lnTo>
                  <a:lnTo>
                    <a:pt x="318968" y="17502"/>
                  </a:lnTo>
                  <a:lnTo>
                    <a:pt x="357857" y="38174"/>
                  </a:lnTo>
                  <a:lnTo>
                    <a:pt x="391477" y="65722"/>
                  </a:lnTo>
                  <a:lnTo>
                    <a:pt x="419025" y="99342"/>
                  </a:lnTo>
                  <a:lnTo>
                    <a:pt x="439697" y="138231"/>
                  </a:lnTo>
                  <a:lnTo>
                    <a:pt x="452690" y="181585"/>
                  </a:lnTo>
                  <a:lnTo>
                    <a:pt x="457200" y="228600"/>
                  </a:lnTo>
                  <a:lnTo>
                    <a:pt x="452690" y="275614"/>
                  </a:lnTo>
                  <a:lnTo>
                    <a:pt x="439697" y="318968"/>
                  </a:lnTo>
                  <a:lnTo>
                    <a:pt x="419025" y="357857"/>
                  </a:lnTo>
                  <a:lnTo>
                    <a:pt x="391477" y="391477"/>
                  </a:lnTo>
                  <a:lnTo>
                    <a:pt x="357857" y="419025"/>
                  </a:lnTo>
                  <a:lnTo>
                    <a:pt x="318968" y="439697"/>
                  </a:lnTo>
                  <a:lnTo>
                    <a:pt x="275614" y="452690"/>
                  </a:lnTo>
                  <a:lnTo>
                    <a:pt x="228600" y="457200"/>
                  </a:lnTo>
                  <a:lnTo>
                    <a:pt x="181585" y="452690"/>
                  </a:lnTo>
                  <a:lnTo>
                    <a:pt x="138231" y="439697"/>
                  </a:lnTo>
                  <a:lnTo>
                    <a:pt x="99342" y="419025"/>
                  </a:lnTo>
                  <a:lnTo>
                    <a:pt x="65722" y="391477"/>
                  </a:lnTo>
                  <a:lnTo>
                    <a:pt x="38174" y="357857"/>
                  </a:lnTo>
                  <a:lnTo>
                    <a:pt x="17502" y="318968"/>
                  </a:lnTo>
                  <a:lnTo>
                    <a:pt x="4509" y="275614"/>
                  </a:lnTo>
                  <a:lnTo>
                    <a:pt x="0" y="228600"/>
                  </a:lnTo>
                  <a:lnTo>
                    <a:pt x="4509" y="181585"/>
                  </a:lnTo>
                  <a:lnTo>
                    <a:pt x="17502" y="138231"/>
                  </a:lnTo>
                  <a:lnTo>
                    <a:pt x="38174" y="99342"/>
                  </a:lnTo>
                  <a:lnTo>
                    <a:pt x="65722" y="65722"/>
                  </a:lnTo>
                  <a:lnTo>
                    <a:pt x="99342" y="38174"/>
                  </a:lnTo>
                  <a:lnTo>
                    <a:pt x="138231" y="17502"/>
                  </a:lnTo>
                  <a:lnTo>
                    <a:pt x="181585" y="4509"/>
                  </a:lnTo>
                  <a:lnTo>
                    <a:pt x="228600" y="0"/>
                  </a:lnTo>
                  <a:close/>
                </a:path>
                <a:path w="457200" h="457200">
                  <a:moveTo>
                    <a:pt x="0" y="0"/>
                  </a:moveTo>
                  <a:lnTo>
                    <a:pt x="0" y="0"/>
                  </a:lnTo>
                </a:path>
                <a:path w="457200" h="457200">
                  <a:moveTo>
                    <a:pt x="457200" y="457200"/>
                  </a:moveTo>
                  <a:lnTo>
                    <a:pt x="457200" y="45720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0" name="object 11"/>
          <p:cNvGrpSpPr/>
          <p:nvPr/>
        </p:nvGrpSpPr>
        <p:grpSpPr>
          <a:xfrm>
            <a:off x="3530600" y="2613025"/>
            <a:ext cx="457200" cy="457200"/>
            <a:chOff x="4114800" y="3429000"/>
            <a:chExt cx="457200" cy="457200"/>
          </a:xfrm>
        </p:grpSpPr>
        <p:sp>
          <p:nvSpPr>
            <p:cNvPr id="31" name="object 12"/>
            <p:cNvSpPr/>
            <p:nvPr/>
          </p:nvSpPr>
          <p:spPr>
            <a:xfrm>
              <a:off x="4114800" y="3429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1585" y="4509"/>
                  </a:lnTo>
                  <a:lnTo>
                    <a:pt x="138231" y="17502"/>
                  </a:lnTo>
                  <a:lnTo>
                    <a:pt x="99342" y="38174"/>
                  </a:lnTo>
                  <a:lnTo>
                    <a:pt x="65722" y="65722"/>
                  </a:lnTo>
                  <a:lnTo>
                    <a:pt x="38174" y="99342"/>
                  </a:lnTo>
                  <a:lnTo>
                    <a:pt x="17502" y="138231"/>
                  </a:lnTo>
                  <a:lnTo>
                    <a:pt x="4509" y="181585"/>
                  </a:lnTo>
                  <a:lnTo>
                    <a:pt x="0" y="228600"/>
                  </a:lnTo>
                  <a:lnTo>
                    <a:pt x="4509" y="275614"/>
                  </a:lnTo>
                  <a:lnTo>
                    <a:pt x="17502" y="318968"/>
                  </a:lnTo>
                  <a:lnTo>
                    <a:pt x="38174" y="357857"/>
                  </a:lnTo>
                  <a:lnTo>
                    <a:pt x="65722" y="391477"/>
                  </a:lnTo>
                  <a:lnTo>
                    <a:pt x="99342" y="419025"/>
                  </a:lnTo>
                  <a:lnTo>
                    <a:pt x="138231" y="439697"/>
                  </a:lnTo>
                  <a:lnTo>
                    <a:pt x="181585" y="452690"/>
                  </a:lnTo>
                  <a:lnTo>
                    <a:pt x="228600" y="457200"/>
                  </a:lnTo>
                  <a:lnTo>
                    <a:pt x="275614" y="452690"/>
                  </a:lnTo>
                  <a:lnTo>
                    <a:pt x="318968" y="439697"/>
                  </a:lnTo>
                  <a:lnTo>
                    <a:pt x="357857" y="419025"/>
                  </a:lnTo>
                  <a:lnTo>
                    <a:pt x="391477" y="391477"/>
                  </a:lnTo>
                  <a:lnTo>
                    <a:pt x="419025" y="357857"/>
                  </a:lnTo>
                  <a:lnTo>
                    <a:pt x="439697" y="318968"/>
                  </a:lnTo>
                  <a:lnTo>
                    <a:pt x="452690" y="275614"/>
                  </a:lnTo>
                  <a:lnTo>
                    <a:pt x="457200" y="228600"/>
                  </a:lnTo>
                  <a:lnTo>
                    <a:pt x="452690" y="181585"/>
                  </a:lnTo>
                  <a:lnTo>
                    <a:pt x="439697" y="138231"/>
                  </a:lnTo>
                  <a:lnTo>
                    <a:pt x="419025" y="99342"/>
                  </a:lnTo>
                  <a:lnTo>
                    <a:pt x="391477" y="65722"/>
                  </a:lnTo>
                  <a:lnTo>
                    <a:pt x="357857" y="38174"/>
                  </a:lnTo>
                  <a:lnTo>
                    <a:pt x="318968" y="17502"/>
                  </a:lnTo>
                  <a:lnTo>
                    <a:pt x="275614" y="4509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E5E5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13"/>
            <p:cNvSpPr/>
            <p:nvPr/>
          </p:nvSpPr>
          <p:spPr>
            <a:xfrm>
              <a:off x="4114800" y="3429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275614" y="4509"/>
                  </a:lnTo>
                  <a:lnTo>
                    <a:pt x="318968" y="17502"/>
                  </a:lnTo>
                  <a:lnTo>
                    <a:pt x="357857" y="38174"/>
                  </a:lnTo>
                  <a:lnTo>
                    <a:pt x="391477" y="65722"/>
                  </a:lnTo>
                  <a:lnTo>
                    <a:pt x="419025" y="99342"/>
                  </a:lnTo>
                  <a:lnTo>
                    <a:pt x="439697" y="138231"/>
                  </a:lnTo>
                  <a:lnTo>
                    <a:pt x="452690" y="181585"/>
                  </a:lnTo>
                  <a:lnTo>
                    <a:pt x="457200" y="228600"/>
                  </a:lnTo>
                  <a:lnTo>
                    <a:pt x="452690" y="275614"/>
                  </a:lnTo>
                  <a:lnTo>
                    <a:pt x="439697" y="318968"/>
                  </a:lnTo>
                  <a:lnTo>
                    <a:pt x="419025" y="357857"/>
                  </a:lnTo>
                  <a:lnTo>
                    <a:pt x="391477" y="391477"/>
                  </a:lnTo>
                  <a:lnTo>
                    <a:pt x="357857" y="419025"/>
                  </a:lnTo>
                  <a:lnTo>
                    <a:pt x="318968" y="439697"/>
                  </a:lnTo>
                  <a:lnTo>
                    <a:pt x="275614" y="452690"/>
                  </a:lnTo>
                  <a:lnTo>
                    <a:pt x="228600" y="457200"/>
                  </a:lnTo>
                  <a:lnTo>
                    <a:pt x="181585" y="452690"/>
                  </a:lnTo>
                  <a:lnTo>
                    <a:pt x="138231" y="439697"/>
                  </a:lnTo>
                  <a:lnTo>
                    <a:pt x="99342" y="419025"/>
                  </a:lnTo>
                  <a:lnTo>
                    <a:pt x="65722" y="391477"/>
                  </a:lnTo>
                  <a:lnTo>
                    <a:pt x="38174" y="357857"/>
                  </a:lnTo>
                  <a:lnTo>
                    <a:pt x="17502" y="318968"/>
                  </a:lnTo>
                  <a:lnTo>
                    <a:pt x="4509" y="275614"/>
                  </a:lnTo>
                  <a:lnTo>
                    <a:pt x="0" y="228600"/>
                  </a:lnTo>
                  <a:lnTo>
                    <a:pt x="4509" y="181585"/>
                  </a:lnTo>
                  <a:lnTo>
                    <a:pt x="17502" y="138231"/>
                  </a:lnTo>
                  <a:lnTo>
                    <a:pt x="38174" y="99342"/>
                  </a:lnTo>
                  <a:lnTo>
                    <a:pt x="65722" y="65722"/>
                  </a:lnTo>
                  <a:lnTo>
                    <a:pt x="99342" y="38174"/>
                  </a:lnTo>
                  <a:lnTo>
                    <a:pt x="138231" y="17502"/>
                  </a:lnTo>
                  <a:lnTo>
                    <a:pt x="181585" y="4509"/>
                  </a:lnTo>
                  <a:lnTo>
                    <a:pt x="228600" y="0"/>
                  </a:lnTo>
                  <a:close/>
                </a:path>
                <a:path w="457200" h="457200">
                  <a:moveTo>
                    <a:pt x="0" y="0"/>
                  </a:moveTo>
                  <a:lnTo>
                    <a:pt x="0" y="0"/>
                  </a:lnTo>
                </a:path>
                <a:path w="457200" h="457200">
                  <a:moveTo>
                    <a:pt x="457200" y="457200"/>
                  </a:moveTo>
                  <a:lnTo>
                    <a:pt x="457200" y="45720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7" name="object 15"/>
          <p:cNvGrpSpPr/>
          <p:nvPr/>
        </p:nvGrpSpPr>
        <p:grpSpPr>
          <a:xfrm>
            <a:off x="5129531" y="2646045"/>
            <a:ext cx="457200" cy="457200"/>
            <a:chOff x="5715000" y="3429000"/>
            <a:chExt cx="457200" cy="457200"/>
          </a:xfrm>
        </p:grpSpPr>
        <p:sp>
          <p:nvSpPr>
            <p:cNvPr id="28" name="object 16"/>
            <p:cNvSpPr/>
            <p:nvPr/>
          </p:nvSpPr>
          <p:spPr>
            <a:xfrm>
              <a:off x="5715000" y="3429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1585" y="4509"/>
                  </a:lnTo>
                  <a:lnTo>
                    <a:pt x="138231" y="17502"/>
                  </a:lnTo>
                  <a:lnTo>
                    <a:pt x="99342" y="38174"/>
                  </a:lnTo>
                  <a:lnTo>
                    <a:pt x="65722" y="65722"/>
                  </a:lnTo>
                  <a:lnTo>
                    <a:pt x="38174" y="99342"/>
                  </a:lnTo>
                  <a:lnTo>
                    <a:pt x="17502" y="138231"/>
                  </a:lnTo>
                  <a:lnTo>
                    <a:pt x="4509" y="181585"/>
                  </a:lnTo>
                  <a:lnTo>
                    <a:pt x="0" y="228600"/>
                  </a:lnTo>
                  <a:lnTo>
                    <a:pt x="4509" y="275614"/>
                  </a:lnTo>
                  <a:lnTo>
                    <a:pt x="17502" y="318968"/>
                  </a:lnTo>
                  <a:lnTo>
                    <a:pt x="38174" y="357857"/>
                  </a:lnTo>
                  <a:lnTo>
                    <a:pt x="65722" y="391477"/>
                  </a:lnTo>
                  <a:lnTo>
                    <a:pt x="99342" y="419025"/>
                  </a:lnTo>
                  <a:lnTo>
                    <a:pt x="138231" y="439697"/>
                  </a:lnTo>
                  <a:lnTo>
                    <a:pt x="181585" y="452690"/>
                  </a:lnTo>
                  <a:lnTo>
                    <a:pt x="228600" y="457200"/>
                  </a:lnTo>
                  <a:lnTo>
                    <a:pt x="275614" y="452690"/>
                  </a:lnTo>
                  <a:lnTo>
                    <a:pt x="318968" y="439697"/>
                  </a:lnTo>
                  <a:lnTo>
                    <a:pt x="357857" y="419025"/>
                  </a:lnTo>
                  <a:lnTo>
                    <a:pt x="391477" y="391477"/>
                  </a:lnTo>
                  <a:lnTo>
                    <a:pt x="419025" y="357857"/>
                  </a:lnTo>
                  <a:lnTo>
                    <a:pt x="439697" y="318968"/>
                  </a:lnTo>
                  <a:lnTo>
                    <a:pt x="452690" y="275614"/>
                  </a:lnTo>
                  <a:lnTo>
                    <a:pt x="457200" y="228600"/>
                  </a:lnTo>
                  <a:lnTo>
                    <a:pt x="452690" y="181585"/>
                  </a:lnTo>
                  <a:lnTo>
                    <a:pt x="439697" y="138231"/>
                  </a:lnTo>
                  <a:lnTo>
                    <a:pt x="419025" y="99342"/>
                  </a:lnTo>
                  <a:lnTo>
                    <a:pt x="391477" y="65722"/>
                  </a:lnTo>
                  <a:lnTo>
                    <a:pt x="357857" y="38174"/>
                  </a:lnTo>
                  <a:lnTo>
                    <a:pt x="318968" y="17502"/>
                  </a:lnTo>
                  <a:lnTo>
                    <a:pt x="275614" y="4509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FF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17"/>
            <p:cNvSpPr/>
            <p:nvPr/>
          </p:nvSpPr>
          <p:spPr>
            <a:xfrm>
              <a:off x="5715000" y="3429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275614" y="4509"/>
                  </a:lnTo>
                  <a:lnTo>
                    <a:pt x="318968" y="17502"/>
                  </a:lnTo>
                  <a:lnTo>
                    <a:pt x="357857" y="38174"/>
                  </a:lnTo>
                  <a:lnTo>
                    <a:pt x="391477" y="65722"/>
                  </a:lnTo>
                  <a:lnTo>
                    <a:pt x="419025" y="99342"/>
                  </a:lnTo>
                  <a:lnTo>
                    <a:pt x="439697" y="138231"/>
                  </a:lnTo>
                  <a:lnTo>
                    <a:pt x="452690" y="181585"/>
                  </a:lnTo>
                  <a:lnTo>
                    <a:pt x="457200" y="228600"/>
                  </a:lnTo>
                  <a:lnTo>
                    <a:pt x="452690" y="275614"/>
                  </a:lnTo>
                  <a:lnTo>
                    <a:pt x="439697" y="318968"/>
                  </a:lnTo>
                  <a:lnTo>
                    <a:pt x="419025" y="357857"/>
                  </a:lnTo>
                  <a:lnTo>
                    <a:pt x="391477" y="391477"/>
                  </a:lnTo>
                  <a:lnTo>
                    <a:pt x="357857" y="419025"/>
                  </a:lnTo>
                  <a:lnTo>
                    <a:pt x="318968" y="439697"/>
                  </a:lnTo>
                  <a:lnTo>
                    <a:pt x="275614" y="452690"/>
                  </a:lnTo>
                  <a:lnTo>
                    <a:pt x="228600" y="457200"/>
                  </a:lnTo>
                  <a:lnTo>
                    <a:pt x="181585" y="452690"/>
                  </a:lnTo>
                  <a:lnTo>
                    <a:pt x="138231" y="439697"/>
                  </a:lnTo>
                  <a:lnTo>
                    <a:pt x="99342" y="419025"/>
                  </a:lnTo>
                  <a:lnTo>
                    <a:pt x="65722" y="391477"/>
                  </a:lnTo>
                  <a:lnTo>
                    <a:pt x="38174" y="357857"/>
                  </a:lnTo>
                  <a:lnTo>
                    <a:pt x="17502" y="318968"/>
                  </a:lnTo>
                  <a:lnTo>
                    <a:pt x="4509" y="275614"/>
                  </a:lnTo>
                  <a:lnTo>
                    <a:pt x="0" y="228600"/>
                  </a:lnTo>
                  <a:lnTo>
                    <a:pt x="4509" y="181585"/>
                  </a:lnTo>
                  <a:lnTo>
                    <a:pt x="17502" y="138231"/>
                  </a:lnTo>
                  <a:lnTo>
                    <a:pt x="38174" y="99342"/>
                  </a:lnTo>
                  <a:lnTo>
                    <a:pt x="65722" y="65722"/>
                  </a:lnTo>
                  <a:lnTo>
                    <a:pt x="99342" y="38174"/>
                  </a:lnTo>
                  <a:lnTo>
                    <a:pt x="138231" y="17502"/>
                  </a:lnTo>
                  <a:lnTo>
                    <a:pt x="181585" y="4509"/>
                  </a:lnTo>
                  <a:lnTo>
                    <a:pt x="228600" y="0"/>
                  </a:lnTo>
                  <a:close/>
                </a:path>
                <a:path w="457200" h="457200">
                  <a:moveTo>
                    <a:pt x="0" y="0"/>
                  </a:moveTo>
                  <a:lnTo>
                    <a:pt x="0" y="0"/>
                  </a:lnTo>
                </a:path>
                <a:path w="457200" h="457200">
                  <a:moveTo>
                    <a:pt x="457200" y="457200"/>
                  </a:moveTo>
                  <a:lnTo>
                    <a:pt x="457200" y="45720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9" name="object 19"/>
          <p:cNvGrpSpPr/>
          <p:nvPr/>
        </p:nvGrpSpPr>
        <p:grpSpPr>
          <a:xfrm>
            <a:off x="4215131" y="3789045"/>
            <a:ext cx="457200" cy="457200"/>
            <a:chOff x="4800600" y="4572000"/>
            <a:chExt cx="457200" cy="457200"/>
          </a:xfrm>
        </p:grpSpPr>
        <p:sp>
          <p:nvSpPr>
            <p:cNvPr id="20" name="object 20"/>
            <p:cNvSpPr/>
            <p:nvPr/>
          </p:nvSpPr>
          <p:spPr>
            <a:xfrm>
              <a:off x="4800600" y="4572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1585" y="4509"/>
                  </a:lnTo>
                  <a:lnTo>
                    <a:pt x="138231" y="17502"/>
                  </a:lnTo>
                  <a:lnTo>
                    <a:pt x="99342" y="38174"/>
                  </a:lnTo>
                  <a:lnTo>
                    <a:pt x="65722" y="65722"/>
                  </a:lnTo>
                  <a:lnTo>
                    <a:pt x="38174" y="99342"/>
                  </a:lnTo>
                  <a:lnTo>
                    <a:pt x="17502" y="138231"/>
                  </a:lnTo>
                  <a:lnTo>
                    <a:pt x="4509" y="181585"/>
                  </a:lnTo>
                  <a:lnTo>
                    <a:pt x="0" y="228600"/>
                  </a:lnTo>
                  <a:lnTo>
                    <a:pt x="4509" y="275614"/>
                  </a:lnTo>
                  <a:lnTo>
                    <a:pt x="17502" y="318968"/>
                  </a:lnTo>
                  <a:lnTo>
                    <a:pt x="38174" y="357857"/>
                  </a:lnTo>
                  <a:lnTo>
                    <a:pt x="65722" y="391477"/>
                  </a:lnTo>
                  <a:lnTo>
                    <a:pt x="99342" y="419025"/>
                  </a:lnTo>
                  <a:lnTo>
                    <a:pt x="138231" y="439697"/>
                  </a:lnTo>
                  <a:lnTo>
                    <a:pt x="181585" y="452690"/>
                  </a:lnTo>
                  <a:lnTo>
                    <a:pt x="228600" y="457200"/>
                  </a:lnTo>
                  <a:lnTo>
                    <a:pt x="275614" y="452690"/>
                  </a:lnTo>
                  <a:lnTo>
                    <a:pt x="318968" y="439697"/>
                  </a:lnTo>
                  <a:lnTo>
                    <a:pt x="357857" y="419025"/>
                  </a:lnTo>
                  <a:lnTo>
                    <a:pt x="391477" y="391477"/>
                  </a:lnTo>
                  <a:lnTo>
                    <a:pt x="419025" y="357857"/>
                  </a:lnTo>
                  <a:lnTo>
                    <a:pt x="439697" y="318968"/>
                  </a:lnTo>
                  <a:lnTo>
                    <a:pt x="452690" y="275614"/>
                  </a:lnTo>
                  <a:lnTo>
                    <a:pt x="457200" y="228600"/>
                  </a:lnTo>
                  <a:lnTo>
                    <a:pt x="452690" y="181585"/>
                  </a:lnTo>
                  <a:lnTo>
                    <a:pt x="439697" y="138231"/>
                  </a:lnTo>
                  <a:lnTo>
                    <a:pt x="419025" y="99342"/>
                  </a:lnTo>
                  <a:lnTo>
                    <a:pt x="391477" y="65722"/>
                  </a:lnTo>
                  <a:lnTo>
                    <a:pt x="357857" y="38174"/>
                  </a:lnTo>
                  <a:lnTo>
                    <a:pt x="318968" y="17502"/>
                  </a:lnTo>
                  <a:lnTo>
                    <a:pt x="275614" y="4509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800600" y="4572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275614" y="4509"/>
                  </a:lnTo>
                  <a:lnTo>
                    <a:pt x="318968" y="17502"/>
                  </a:lnTo>
                  <a:lnTo>
                    <a:pt x="357857" y="38174"/>
                  </a:lnTo>
                  <a:lnTo>
                    <a:pt x="391477" y="65722"/>
                  </a:lnTo>
                  <a:lnTo>
                    <a:pt x="419025" y="99342"/>
                  </a:lnTo>
                  <a:lnTo>
                    <a:pt x="439697" y="138231"/>
                  </a:lnTo>
                  <a:lnTo>
                    <a:pt x="452690" y="181585"/>
                  </a:lnTo>
                  <a:lnTo>
                    <a:pt x="457200" y="228600"/>
                  </a:lnTo>
                  <a:lnTo>
                    <a:pt x="452690" y="275614"/>
                  </a:lnTo>
                  <a:lnTo>
                    <a:pt x="439697" y="318968"/>
                  </a:lnTo>
                  <a:lnTo>
                    <a:pt x="419025" y="357857"/>
                  </a:lnTo>
                  <a:lnTo>
                    <a:pt x="391477" y="391477"/>
                  </a:lnTo>
                  <a:lnTo>
                    <a:pt x="357857" y="419025"/>
                  </a:lnTo>
                  <a:lnTo>
                    <a:pt x="318968" y="439697"/>
                  </a:lnTo>
                  <a:lnTo>
                    <a:pt x="275614" y="452690"/>
                  </a:lnTo>
                  <a:lnTo>
                    <a:pt x="228600" y="457200"/>
                  </a:lnTo>
                  <a:lnTo>
                    <a:pt x="181585" y="452690"/>
                  </a:lnTo>
                  <a:lnTo>
                    <a:pt x="138231" y="439697"/>
                  </a:lnTo>
                  <a:lnTo>
                    <a:pt x="99342" y="419025"/>
                  </a:lnTo>
                  <a:lnTo>
                    <a:pt x="65722" y="391477"/>
                  </a:lnTo>
                  <a:lnTo>
                    <a:pt x="38174" y="357857"/>
                  </a:lnTo>
                  <a:lnTo>
                    <a:pt x="17502" y="318968"/>
                  </a:lnTo>
                  <a:lnTo>
                    <a:pt x="4509" y="275614"/>
                  </a:lnTo>
                  <a:lnTo>
                    <a:pt x="0" y="228600"/>
                  </a:lnTo>
                  <a:lnTo>
                    <a:pt x="4509" y="181585"/>
                  </a:lnTo>
                  <a:lnTo>
                    <a:pt x="17502" y="138231"/>
                  </a:lnTo>
                  <a:lnTo>
                    <a:pt x="38174" y="99342"/>
                  </a:lnTo>
                  <a:lnTo>
                    <a:pt x="65722" y="65722"/>
                  </a:lnTo>
                  <a:lnTo>
                    <a:pt x="99342" y="38174"/>
                  </a:lnTo>
                  <a:lnTo>
                    <a:pt x="138231" y="17502"/>
                  </a:lnTo>
                  <a:lnTo>
                    <a:pt x="181585" y="4509"/>
                  </a:lnTo>
                  <a:lnTo>
                    <a:pt x="228600" y="0"/>
                  </a:lnTo>
                  <a:close/>
                </a:path>
                <a:path w="457200" h="457200">
                  <a:moveTo>
                    <a:pt x="0" y="0"/>
                  </a:moveTo>
                  <a:lnTo>
                    <a:pt x="0" y="0"/>
                  </a:lnTo>
                </a:path>
                <a:path w="457200" h="457200">
                  <a:moveTo>
                    <a:pt x="457200" y="457200"/>
                  </a:moveTo>
                  <a:lnTo>
                    <a:pt x="457200" y="45720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2843531" y="3789045"/>
            <a:ext cx="457200" cy="457200"/>
            <a:chOff x="3429000" y="4572000"/>
            <a:chExt cx="457200" cy="457200"/>
          </a:xfrm>
        </p:grpSpPr>
        <p:sp>
          <p:nvSpPr>
            <p:cNvPr id="16" name="object 16"/>
            <p:cNvSpPr/>
            <p:nvPr/>
          </p:nvSpPr>
          <p:spPr>
            <a:xfrm>
              <a:off x="3429000" y="4572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1585" y="4509"/>
                  </a:lnTo>
                  <a:lnTo>
                    <a:pt x="138231" y="17502"/>
                  </a:lnTo>
                  <a:lnTo>
                    <a:pt x="99342" y="38174"/>
                  </a:lnTo>
                  <a:lnTo>
                    <a:pt x="65722" y="65722"/>
                  </a:lnTo>
                  <a:lnTo>
                    <a:pt x="38174" y="99342"/>
                  </a:lnTo>
                  <a:lnTo>
                    <a:pt x="17502" y="138231"/>
                  </a:lnTo>
                  <a:lnTo>
                    <a:pt x="4509" y="181585"/>
                  </a:lnTo>
                  <a:lnTo>
                    <a:pt x="0" y="228600"/>
                  </a:lnTo>
                  <a:lnTo>
                    <a:pt x="4509" y="275614"/>
                  </a:lnTo>
                  <a:lnTo>
                    <a:pt x="17502" y="318968"/>
                  </a:lnTo>
                  <a:lnTo>
                    <a:pt x="38174" y="357857"/>
                  </a:lnTo>
                  <a:lnTo>
                    <a:pt x="65722" y="391477"/>
                  </a:lnTo>
                  <a:lnTo>
                    <a:pt x="99342" y="419025"/>
                  </a:lnTo>
                  <a:lnTo>
                    <a:pt x="138231" y="439697"/>
                  </a:lnTo>
                  <a:lnTo>
                    <a:pt x="181585" y="452690"/>
                  </a:lnTo>
                  <a:lnTo>
                    <a:pt x="228600" y="457200"/>
                  </a:lnTo>
                  <a:lnTo>
                    <a:pt x="275614" y="452690"/>
                  </a:lnTo>
                  <a:lnTo>
                    <a:pt x="318968" y="439697"/>
                  </a:lnTo>
                  <a:lnTo>
                    <a:pt x="357857" y="419025"/>
                  </a:lnTo>
                  <a:lnTo>
                    <a:pt x="391477" y="391477"/>
                  </a:lnTo>
                  <a:lnTo>
                    <a:pt x="419025" y="357857"/>
                  </a:lnTo>
                  <a:lnTo>
                    <a:pt x="439697" y="318968"/>
                  </a:lnTo>
                  <a:lnTo>
                    <a:pt x="452690" y="275614"/>
                  </a:lnTo>
                  <a:lnTo>
                    <a:pt x="457200" y="228600"/>
                  </a:lnTo>
                  <a:lnTo>
                    <a:pt x="452690" y="181585"/>
                  </a:lnTo>
                  <a:lnTo>
                    <a:pt x="439697" y="138231"/>
                  </a:lnTo>
                  <a:lnTo>
                    <a:pt x="419025" y="99342"/>
                  </a:lnTo>
                  <a:lnTo>
                    <a:pt x="391477" y="65722"/>
                  </a:lnTo>
                  <a:lnTo>
                    <a:pt x="357857" y="38174"/>
                  </a:lnTo>
                  <a:lnTo>
                    <a:pt x="318968" y="17502"/>
                  </a:lnTo>
                  <a:lnTo>
                    <a:pt x="275614" y="4509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429000" y="4572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275614" y="4509"/>
                  </a:lnTo>
                  <a:lnTo>
                    <a:pt x="318968" y="17502"/>
                  </a:lnTo>
                  <a:lnTo>
                    <a:pt x="357857" y="38174"/>
                  </a:lnTo>
                  <a:lnTo>
                    <a:pt x="391477" y="65722"/>
                  </a:lnTo>
                  <a:lnTo>
                    <a:pt x="419025" y="99342"/>
                  </a:lnTo>
                  <a:lnTo>
                    <a:pt x="439697" y="138231"/>
                  </a:lnTo>
                  <a:lnTo>
                    <a:pt x="452690" y="181585"/>
                  </a:lnTo>
                  <a:lnTo>
                    <a:pt x="457200" y="228600"/>
                  </a:lnTo>
                  <a:lnTo>
                    <a:pt x="452690" y="275614"/>
                  </a:lnTo>
                  <a:lnTo>
                    <a:pt x="439697" y="318968"/>
                  </a:lnTo>
                  <a:lnTo>
                    <a:pt x="419025" y="357857"/>
                  </a:lnTo>
                  <a:lnTo>
                    <a:pt x="391477" y="391477"/>
                  </a:lnTo>
                  <a:lnTo>
                    <a:pt x="357857" y="419025"/>
                  </a:lnTo>
                  <a:lnTo>
                    <a:pt x="318968" y="439697"/>
                  </a:lnTo>
                  <a:lnTo>
                    <a:pt x="275614" y="452690"/>
                  </a:lnTo>
                  <a:lnTo>
                    <a:pt x="228600" y="457200"/>
                  </a:lnTo>
                  <a:lnTo>
                    <a:pt x="181585" y="452690"/>
                  </a:lnTo>
                  <a:lnTo>
                    <a:pt x="138231" y="439697"/>
                  </a:lnTo>
                  <a:lnTo>
                    <a:pt x="99342" y="419025"/>
                  </a:lnTo>
                  <a:lnTo>
                    <a:pt x="65722" y="391477"/>
                  </a:lnTo>
                  <a:lnTo>
                    <a:pt x="38174" y="357857"/>
                  </a:lnTo>
                  <a:lnTo>
                    <a:pt x="17502" y="318968"/>
                  </a:lnTo>
                  <a:lnTo>
                    <a:pt x="4509" y="275614"/>
                  </a:lnTo>
                  <a:lnTo>
                    <a:pt x="0" y="228600"/>
                  </a:lnTo>
                  <a:lnTo>
                    <a:pt x="4509" y="181585"/>
                  </a:lnTo>
                  <a:lnTo>
                    <a:pt x="17502" y="138231"/>
                  </a:lnTo>
                  <a:lnTo>
                    <a:pt x="38174" y="99342"/>
                  </a:lnTo>
                  <a:lnTo>
                    <a:pt x="65722" y="65722"/>
                  </a:lnTo>
                  <a:lnTo>
                    <a:pt x="99342" y="38174"/>
                  </a:lnTo>
                  <a:lnTo>
                    <a:pt x="138231" y="17502"/>
                  </a:lnTo>
                  <a:lnTo>
                    <a:pt x="181585" y="4509"/>
                  </a:lnTo>
                  <a:lnTo>
                    <a:pt x="228600" y="0"/>
                  </a:lnTo>
                  <a:close/>
                </a:path>
                <a:path w="457200" h="457200">
                  <a:moveTo>
                    <a:pt x="0" y="0"/>
                  </a:moveTo>
                  <a:lnTo>
                    <a:pt x="0" y="0"/>
                  </a:lnTo>
                </a:path>
                <a:path w="457200" h="457200">
                  <a:moveTo>
                    <a:pt x="457200" y="457200"/>
                  </a:moveTo>
                  <a:lnTo>
                    <a:pt x="457200" y="45720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" name="object 3"/>
          <p:cNvGrpSpPr/>
          <p:nvPr/>
        </p:nvGrpSpPr>
        <p:grpSpPr>
          <a:xfrm>
            <a:off x="1928495" y="2653665"/>
            <a:ext cx="457200" cy="457200"/>
            <a:chOff x="2514600" y="3429000"/>
            <a:chExt cx="457200" cy="457200"/>
          </a:xfrm>
        </p:grpSpPr>
        <p:sp>
          <p:nvSpPr>
            <p:cNvPr id="4" name="object 4"/>
            <p:cNvSpPr/>
            <p:nvPr/>
          </p:nvSpPr>
          <p:spPr>
            <a:xfrm>
              <a:off x="2514600" y="3429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1585" y="4509"/>
                  </a:lnTo>
                  <a:lnTo>
                    <a:pt x="138231" y="17502"/>
                  </a:lnTo>
                  <a:lnTo>
                    <a:pt x="99342" y="38174"/>
                  </a:lnTo>
                  <a:lnTo>
                    <a:pt x="65722" y="65722"/>
                  </a:lnTo>
                  <a:lnTo>
                    <a:pt x="38174" y="99342"/>
                  </a:lnTo>
                  <a:lnTo>
                    <a:pt x="17502" y="138231"/>
                  </a:lnTo>
                  <a:lnTo>
                    <a:pt x="4509" y="181585"/>
                  </a:lnTo>
                  <a:lnTo>
                    <a:pt x="0" y="228600"/>
                  </a:lnTo>
                  <a:lnTo>
                    <a:pt x="4509" y="275614"/>
                  </a:lnTo>
                  <a:lnTo>
                    <a:pt x="17502" y="318968"/>
                  </a:lnTo>
                  <a:lnTo>
                    <a:pt x="38174" y="357857"/>
                  </a:lnTo>
                  <a:lnTo>
                    <a:pt x="65722" y="391477"/>
                  </a:lnTo>
                  <a:lnTo>
                    <a:pt x="99342" y="419025"/>
                  </a:lnTo>
                  <a:lnTo>
                    <a:pt x="138231" y="439697"/>
                  </a:lnTo>
                  <a:lnTo>
                    <a:pt x="181585" y="452690"/>
                  </a:lnTo>
                  <a:lnTo>
                    <a:pt x="228600" y="457200"/>
                  </a:lnTo>
                  <a:lnTo>
                    <a:pt x="275614" y="452690"/>
                  </a:lnTo>
                  <a:lnTo>
                    <a:pt x="318968" y="439697"/>
                  </a:lnTo>
                  <a:lnTo>
                    <a:pt x="357857" y="419025"/>
                  </a:lnTo>
                  <a:lnTo>
                    <a:pt x="391477" y="391477"/>
                  </a:lnTo>
                  <a:lnTo>
                    <a:pt x="419025" y="357857"/>
                  </a:lnTo>
                  <a:lnTo>
                    <a:pt x="439697" y="318968"/>
                  </a:lnTo>
                  <a:lnTo>
                    <a:pt x="452690" y="275614"/>
                  </a:lnTo>
                  <a:lnTo>
                    <a:pt x="457200" y="228600"/>
                  </a:lnTo>
                  <a:lnTo>
                    <a:pt x="452690" y="181585"/>
                  </a:lnTo>
                  <a:lnTo>
                    <a:pt x="439697" y="138231"/>
                  </a:lnTo>
                  <a:lnTo>
                    <a:pt x="419025" y="99342"/>
                  </a:lnTo>
                  <a:lnTo>
                    <a:pt x="391477" y="65722"/>
                  </a:lnTo>
                  <a:lnTo>
                    <a:pt x="357857" y="38174"/>
                  </a:lnTo>
                  <a:lnTo>
                    <a:pt x="318968" y="17502"/>
                  </a:lnTo>
                  <a:lnTo>
                    <a:pt x="275614" y="4509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FF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" name="object 5"/>
            <p:cNvSpPr/>
            <p:nvPr/>
          </p:nvSpPr>
          <p:spPr>
            <a:xfrm>
              <a:off x="2514600" y="3429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275614" y="4509"/>
                  </a:lnTo>
                  <a:lnTo>
                    <a:pt x="318968" y="17502"/>
                  </a:lnTo>
                  <a:lnTo>
                    <a:pt x="357857" y="38174"/>
                  </a:lnTo>
                  <a:lnTo>
                    <a:pt x="391477" y="65722"/>
                  </a:lnTo>
                  <a:lnTo>
                    <a:pt x="419025" y="99342"/>
                  </a:lnTo>
                  <a:lnTo>
                    <a:pt x="439697" y="138231"/>
                  </a:lnTo>
                  <a:lnTo>
                    <a:pt x="452690" y="181585"/>
                  </a:lnTo>
                  <a:lnTo>
                    <a:pt x="457200" y="228600"/>
                  </a:lnTo>
                  <a:lnTo>
                    <a:pt x="452690" y="275614"/>
                  </a:lnTo>
                  <a:lnTo>
                    <a:pt x="439697" y="318968"/>
                  </a:lnTo>
                  <a:lnTo>
                    <a:pt x="419025" y="357857"/>
                  </a:lnTo>
                  <a:lnTo>
                    <a:pt x="391477" y="391477"/>
                  </a:lnTo>
                  <a:lnTo>
                    <a:pt x="357857" y="419025"/>
                  </a:lnTo>
                  <a:lnTo>
                    <a:pt x="318968" y="439697"/>
                  </a:lnTo>
                  <a:lnTo>
                    <a:pt x="275614" y="452690"/>
                  </a:lnTo>
                  <a:lnTo>
                    <a:pt x="228600" y="457200"/>
                  </a:lnTo>
                  <a:lnTo>
                    <a:pt x="181585" y="452690"/>
                  </a:lnTo>
                  <a:lnTo>
                    <a:pt x="138231" y="439697"/>
                  </a:lnTo>
                  <a:lnTo>
                    <a:pt x="99342" y="419025"/>
                  </a:lnTo>
                  <a:lnTo>
                    <a:pt x="65722" y="391477"/>
                  </a:lnTo>
                  <a:lnTo>
                    <a:pt x="38174" y="357857"/>
                  </a:lnTo>
                  <a:lnTo>
                    <a:pt x="17502" y="318968"/>
                  </a:lnTo>
                  <a:lnTo>
                    <a:pt x="4509" y="275614"/>
                  </a:lnTo>
                  <a:lnTo>
                    <a:pt x="0" y="228600"/>
                  </a:lnTo>
                  <a:lnTo>
                    <a:pt x="4509" y="181585"/>
                  </a:lnTo>
                  <a:lnTo>
                    <a:pt x="17502" y="138231"/>
                  </a:lnTo>
                  <a:lnTo>
                    <a:pt x="38174" y="99342"/>
                  </a:lnTo>
                  <a:lnTo>
                    <a:pt x="65722" y="65722"/>
                  </a:lnTo>
                  <a:lnTo>
                    <a:pt x="99342" y="38174"/>
                  </a:lnTo>
                  <a:lnTo>
                    <a:pt x="138231" y="17502"/>
                  </a:lnTo>
                  <a:lnTo>
                    <a:pt x="181585" y="4509"/>
                  </a:lnTo>
                  <a:lnTo>
                    <a:pt x="228600" y="0"/>
                  </a:lnTo>
                  <a:close/>
                </a:path>
                <a:path w="457200" h="457200">
                  <a:moveTo>
                    <a:pt x="0" y="0"/>
                  </a:moveTo>
                  <a:lnTo>
                    <a:pt x="0" y="0"/>
                  </a:lnTo>
                </a:path>
                <a:path w="457200" h="457200">
                  <a:moveTo>
                    <a:pt x="457200" y="457200"/>
                  </a:moveTo>
                  <a:lnTo>
                    <a:pt x="457200" y="45720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b="1" dirty="0">
                <a:latin typeface="楷体_GB2312" panose="02010609030101010101" charset="-122"/>
                <a:ea typeface="楷体_GB2312" panose="02010609030101010101" charset="-122"/>
                <a:sym typeface="+mn-ea"/>
              </a:rPr>
              <a:t>图着色算法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50</a:t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graphicFrame>
        <p:nvGraphicFramePr>
          <p:cNvPr id="57" name="object 57"/>
          <p:cNvGraphicFramePr>
            <a:graphicFrameLocks noGrp="1"/>
          </p:cNvGraphicFramePr>
          <p:nvPr/>
        </p:nvGraphicFramePr>
        <p:xfrm>
          <a:off x="1928495" y="4679315"/>
          <a:ext cx="3657600" cy="45770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708">
                <a:tc>
                  <a:txBody>
                    <a:bodyPr/>
                    <a:lstStyle/>
                    <a:p>
                      <a:pPr marL="254000">
                        <a:lnSpc>
                          <a:spcPts val="2940"/>
                        </a:lnSpc>
                      </a:pPr>
                      <a:r>
                        <a:rPr sz="2700" b="1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R</a:t>
                      </a:r>
                      <a:r>
                        <a:rPr sz="2300" b="1" baseline="-31000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0</a:t>
                      </a:r>
                      <a:endParaRPr sz="2300" baseline="-31000">
                        <a:latin typeface="DejaVu Serif" panose="02060603050605020204"/>
                        <a:cs typeface="DejaVu Serif" panose="02060603050605020204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254000">
                        <a:lnSpc>
                          <a:spcPts val="2940"/>
                        </a:lnSpc>
                      </a:pPr>
                      <a:r>
                        <a:rPr sz="2700" b="1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R</a:t>
                      </a:r>
                      <a:r>
                        <a:rPr sz="2300" b="1" baseline="-31000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1</a:t>
                      </a:r>
                      <a:endParaRPr sz="2300" baseline="-31000">
                        <a:latin typeface="DejaVu Serif" panose="02060603050605020204"/>
                        <a:cs typeface="DejaVu Serif" panose="02060603050605020204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254000">
                        <a:lnSpc>
                          <a:spcPts val="2940"/>
                        </a:lnSpc>
                      </a:pPr>
                      <a:r>
                        <a:rPr sz="2700" b="1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R</a:t>
                      </a:r>
                      <a:r>
                        <a:rPr sz="2300" b="1" baseline="-31000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2</a:t>
                      </a:r>
                      <a:endParaRPr sz="2300" baseline="-31000">
                        <a:latin typeface="DejaVu Serif" panose="02060603050605020204"/>
                        <a:cs typeface="DejaVu Serif" panose="02060603050605020204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F00FF"/>
                    </a:solidFill>
                  </a:tcPr>
                </a:tc>
                <a:tc>
                  <a:txBody>
                    <a:bodyPr/>
                    <a:lstStyle/>
                    <a:p>
                      <a:pPr marL="254000">
                        <a:lnSpc>
                          <a:spcPts val="2940"/>
                        </a:lnSpc>
                      </a:pPr>
                      <a:r>
                        <a:rPr sz="2700" b="1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R</a:t>
                      </a:r>
                      <a:r>
                        <a:rPr sz="2300" b="1" baseline="-31000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3</a:t>
                      </a:r>
                      <a:endParaRPr sz="2300" baseline="-31000">
                        <a:latin typeface="DejaVu Serif" panose="02060603050605020204"/>
                        <a:cs typeface="DejaVu Serif" panose="02060603050605020204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E5E5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6" name="object 3"/>
          <p:cNvSpPr/>
          <p:nvPr/>
        </p:nvSpPr>
        <p:spPr>
          <a:xfrm>
            <a:off x="1928495" y="265366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4"/>
          <p:cNvSpPr txBox="1"/>
          <p:nvPr/>
        </p:nvSpPr>
        <p:spPr>
          <a:xfrm>
            <a:off x="2052958" y="2646045"/>
            <a:ext cx="20891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b="1" dirty="0">
                <a:solidFill>
                  <a:srgbClr val="191919"/>
                </a:solidFill>
                <a:latin typeface="Courier New" panose="02070409020205020404"/>
                <a:cs typeface="Courier New" panose="02070409020205020404"/>
              </a:rPr>
              <a:t>a</a:t>
            </a:r>
            <a:endParaRPr sz="2400">
              <a:latin typeface="Courier New" panose="02070409020205020404"/>
              <a:cs typeface="Courier New" panose="02070409020205020404"/>
            </a:endParaRPr>
          </a:p>
        </p:txBody>
      </p:sp>
      <p:sp>
        <p:nvSpPr>
          <p:cNvPr id="59" name="object 5"/>
          <p:cNvSpPr/>
          <p:nvPr/>
        </p:nvSpPr>
        <p:spPr>
          <a:xfrm>
            <a:off x="2824480" y="14700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ln w="3175">
            <a:solidFill>
              <a:schemeClr val="tx1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60" name="object 6"/>
          <p:cNvSpPr txBox="1"/>
          <p:nvPr/>
        </p:nvSpPr>
        <p:spPr>
          <a:xfrm>
            <a:off x="2967357" y="1503045"/>
            <a:ext cx="208915" cy="382156"/>
          </a:xfrm>
          <a:prstGeom prst="rect">
            <a:avLst/>
          </a:prstGeom>
          <a:ln>
            <a:noFill/>
          </a:ln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b="1" dirty="0">
                <a:latin typeface="Courier New" panose="02070409020205020404"/>
                <a:cs typeface="Courier New" panose="02070409020205020404"/>
              </a:rPr>
              <a:t>b</a:t>
            </a:r>
          </a:p>
        </p:txBody>
      </p:sp>
      <p:sp>
        <p:nvSpPr>
          <p:cNvPr id="61" name="object 7"/>
          <p:cNvSpPr/>
          <p:nvPr/>
        </p:nvSpPr>
        <p:spPr>
          <a:xfrm>
            <a:off x="4215131" y="150558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ln w="3175">
            <a:solidFill>
              <a:schemeClr val="tx1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62" name="object 8"/>
          <p:cNvSpPr txBox="1"/>
          <p:nvPr/>
        </p:nvSpPr>
        <p:spPr>
          <a:xfrm>
            <a:off x="4338957" y="1503045"/>
            <a:ext cx="208915" cy="382156"/>
          </a:xfrm>
          <a:prstGeom prst="rect">
            <a:avLst/>
          </a:prstGeom>
          <a:ln>
            <a:noFill/>
          </a:ln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b="1" dirty="0">
                <a:latin typeface="Courier New" panose="02070409020205020404"/>
                <a:cs typeface="Courier New" panose="02070409020205020404"/>
              </a:rPr>
              <a:t>c</a:t>
            </a:r>
          </a:p>
        </p:txBody>
      </p:sp>
      <p:sp>
        <p:nvSpPr>
          <p:cNvPr id="63" name="object 9"/>
          <p:cNvSpPr/>
          <p:nvPr/>
        </p:nvSpPr>
        <p:spPr>
          <a:xfrm>
            <a:off x="3528695" y="260540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ln w="3175">
            <a:solidFill>
              <a:schemeClr val="tx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10"/>
          <p:cNvSpPr txBox="1"/>
          <p:nvPr/>
        </p:nvSpPr>
        <p:spPr>
          <a:xfrm>
            <a:off x="3653157" y="2646045"/>
            <a:ext cx="208915" cy="382156"/>
          </a:xfrm>
          <a:prstGeom prst="rect">
            <a:avLst/>
          </a:prstGeom>
          <a:ln>
            <a:noFill/>
          </a:ln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b="1" dirty="0">
                <a:latin typeface="Courier New" panose="02070409020205020404"/>
                <a:cs typeface="Courier New" panose="02070409020205020404"/>
              </a:rPr>
              <a:t>d</a:t>
            </a:r>
          </a:p>
        </p:txBody>
      </p:sp>
      <p:sp>
        <p:nvSpPr>
          <p:cNvPr id="65" name="object 11"/>
          <p:cNvSpPr/>
          <p:nvPr/>
        </p:nvSpPr>
        <p:spPr>
          <a:xfrm>
            <a:off x="5128895" y="265366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12"/>
          <p:cNvSpPr txBox="1"/>
          <p:nvPr/>
        </p:nvSpPr>
        <p:spPr>
          <a:xfrm>
            <a:off x="5253357" y="2646045"/>
            <a:ext cx="20891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b="1" dirty="0">
                <a:solidFill>
                  <a:srgbClr val="191919"/>
                </a:solidFill>
                <a:latin typeface="Courier New" panose="02070409020205020404"/>
                <a:cs typeface="Courier New" panose="02070409020205020404"/>
              </a:rPr>
              <a:t>e</a:t>
            </a:r>
            <a:endParaRPr sz="2400">
              <a:latin typeface="Courier New" panose="02070409020205020404"/>
              <a:cs typeface="Courier New" panose="02070409020205020404"/>
            </a:endParaRPr>
          </a:p>
        </p:txBody>
      </p:sp>
      <p:sp>
        <p:nvSpPr>
          <p:cNvPr id="67" name="object 13"/>
          <p:cNvSpPr/>
          <p:nvPr/>
        </p:nvSpPr>
        <p:spPr>
          <a:xfrm>
            <a:off x="2842895" y="379666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14"/>
          <p:cNvSpPr txBox="1"/>
          <p:nvPr/>
        </p:nvSpPr>
        <p:spPr>
          <a:xfrm>
            <a:off x="2967357" y="3789045"/>
            <a:ext cx="20891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b="1" dirty="0">
                <a:solidFill>
                  <a:srgbClr val="191919"/>
                </a:solidFill>
                <a:latin typeface="Courier New" panose="02070409020205020404"/>
                <a:cs typeface="Courier New" panose="02070409020205020404"/>
              </a:rPr>
              <a:t>g</a:t>
            </a:r>
            <a:endParaRPr sz="2400">
              <a:latin typeface="Courier New" panose="02070409020205020404"/>
              <a:cs typeface="Courier New" panose="02070409020205020404"/>
            </a:endParaRPr>
          </a:p>
        </p:txBody>
      </p:sp>
      <p:sp>
        <p:nvSpPr>
          <p:cNvPr id="69" name="object 15"/>
          <p:cNvSpPr/>
          <p:nvPr/>
        </p:nvSpPr>
        <p:spPr>
          <a:xfrm>
            <a:off x="4214495" y="379666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16"/>
          <p:cNvSpPr txBox="1"/>
          <p:nvPr/>
        </p:nvSpPr>
        <p:spPr>
          <a:xfrm>
            <a:off x="4338957" y="3789045"/>
            <a:ext cx="20891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b="1" dirty="0">
                <a:solidFill>
                  <a:srgbClr val="191919"/>
                </a:solidFill>
                <a:latin typeface="Courier New" panose="02070409020205020404"/>
                <a:cs typeface="Courier New" panose="02070409020205020404"/>
              </a:rPr>
              <a:t>f</a:t>
            </a:r>
            <a:endParaRPr sz="2400">
              <a:latin typeface="Courier New" panose="02070409020205020404"/>
              <a:cs typeface="Courier New" panose="02070409020205020404"/>
            </a:endParaRPr>
          </a:p>
        </p:txBody>
      </p:sp>
      <p:cxnSp>
        <p:nvCxnSpPr>
          <p:cNvPr id="72" name="直接连接符 71"/>
          <p:cNvCxnSpPr/>
          <p:nvPr/>
        </p:nvCxnSpPr>
        <p:spPr>
          <a:xfrm>
            <a:off x="2262508" y="3126108"/>
            <a:ext cx="631191" cy="69405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接连接符 72"/>
          <p:cNvCxnSpPr>
            <a:endCxn id="58" idx="0"/>
          </p:cNvCxnSpPr>
          <p:nvPr/>
        </p:nvCxnSpPr>
        <p:spPr>
          <a:xfrm flipH="1">
            <a:off x="2157414" y="1890397"/>
            <a:ext cx="709612" cy="75564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接连接符 73"/>
          <p:cNvCxnSpPr/>
          <p:nvPr/>
        </p:nvCxnSpPr>
        <p:spPr>
          <a:xfrm flipH="1">
            <a:off x="3354072" y="1710055"/>
            <a:ext cx="8293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接连接符 74"/>
          <p:cNvCxnSpPr>
            <a:endCxn id="66" idx="0"/>
          </p:cNvCxnSpPr>
          <p:nvPr/>
        </p:nvCxnSpPr>
        <p:spPr>
          <a:xfrm>
            <a:off x="4670425" y="1881508"/>
            <a:ext cx="687388" cy="76453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接连接符 75"/>
          <p:cNvCxnSpPr/>
          <p:nvPr/>
        </p:nvCxnSpPr>
        <p:spPr>
          <a:xfrm flipH="1">
            <a:off x="3912873" y="1980568"/>
            <a:ext cx="495935" cy="65849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接连接符 76"/>
          <p:cNvCxnSpPr/>
          <p:nvPr/>
        </p:nvCxnSpPr>
        <p:spPr>
          <a:xfrm>
            <a:off x="3146428" y="1962788"/>
            <a:ext cx="433071" cy="68516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接连接符 77"/>
          <p:cNvCxnSpPr/>
          <p:nvPr/>
        </p:nvCxnSpPr>
        <p:spPr>
          <a:xfrm>
            <a:off x="3281683" y="1881507"/>
            <a:ext cx="1839595" cy="83883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接连接符 78"/>
          <p:cNvCxnSpPr>
            <a:endCxn id="70" idx="0"/>
          </p:cNvCxnSpPr>
          <p:nvPr/>
        </p:nvCxnSpPr>
        <p:spPr>
          <a:xfrm>
            <a:off x="3921761" y="3062605"/>
            <a:ext cx="521652" cy="7264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连接符 79"/>
          <p:cNvCxnSpPr>
            <a:endCxn id="68" idx="0"/>
          </p:cNvCxnSpPr>
          <p:nvPr/>
        </p:nvCxnSpPr>
        <p:spPr>
          <a:xfrm flipH="1">
            <a:off x="3071815" y="3081021"/>
            <a:ext cx="534353" cy="70802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接连接符 80"/>
          <p:cNvCxnSpPr/>
          <p:nvPr/>
        </p:nvCxnSpPr>
        <p:spPr>
          <a:xfrm flipH="1">
            <a:off x="2416177" y="2846705"/>
            <a:ext cx="107315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接连接符 81"/>
          <p:cNvCxnSpPr/>
          <p:nvPr/>
        </p:nvCxnSpPr>
        <p:spPr>
          <a:xfrm flipH="1" flipV="1">
            <a:off x="2361568" y="3017521"/>
            <a:ext cx="1794511" cy="8661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接连接符 82"/>
          <p:cNvCxnSpPr/>
          <p:nvPr/>
        </p:nvCxnSpPr>
        <p:spPr>
          <a:xfrm flipH="1">
            <a:off x="4643124" y="3126105"/>
            <a:ext cx="658495" cy="7213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接连接符 83"/>
          <p:cNvCxnSpPr/>
          <p:nvPr/>
        </p:nvCxnSpPr>
        <p:spPr>
          <a:xfrm flipH="1">
            <a:off x="3290573" y="2900682"/>
            <a:ext cx="1812925" cy="96456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b="1" dirty="0">
                <a:latin typeface="楷体_GB2312" panose="02010609030101010101" charset="-122"/>
                <a:ea typeface="楷体_GB2312" panose="02010609030101010101" charset="-122"/>
                <a:sym typeface="+mn-ea"/>
              </a:rPr>
              <a:t>图着色算法示例</a:t>
            </a:r>
            <a:r>
              <a:rPr lang="en-US" altLang="zh-CN" b="1" dirty="0">
                <a:latin typeface="楷体_GB2312" panose="02010609030101010101" charset="-122"/>
                <a:ea typeface="楷体_GB2312" panose="02010609030101010101" charset="-122"/>
                <a:sym typeface="+mn-ea"/>
              </a:rPr>
              <a:t>2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51</a:t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object 25"/>
          <p:cNvSpPr/>
          <p:nvPr/>
        </p:nvSpPr>
        <p:spPr>
          <a:xfrm>
            <a:off x="1074420" y="269938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noFill/>
          <a:ln w="3175">
            <a:solidFill>
              <a:srgbClr val="0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</a:extLst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26"/>
          <p:cNvSpPr txBox="1"/>
          <p:nvPr/>
        </p:nvSpPr>
        <p:spPr>
          <a:xfrm>
            <a:off x="1191261" y="2673985"/>
            <a:ext cx="224155" cy="4129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600" b="1" dirty="0">
                <a:solidFill>
                  <a:srgbClr val="191919"/>
                </a:solidFill>
                <a:latin typeface="Courier New" panose="02070409020205020404"/>
                <a:cs typeface="Courier New" panose="02070409020205020404"/>
              </a:rPr>
              <a:t>a</a:t>
            </a:r>
            <a:endParaRPr sz="2600">
              <a:latin typeface="Courier New" panose="02070409020205020404"/>
              <a:cs typeface="Courier New" panose="02070409020205020404"/>
            </a:endParaRPr>
          </a:p>
        </p:txBody>
      </p:sp>
      <p:sp>
        <p:nvSpPr>
          <p:cNvPr id="33" name="object 27"/>
          <p:cNvSpPr/>
          <p:nvPr/>
        </p:nvSpPr>
        <p:spPr>
          <a:xfrm>
            <a:off x="1988820" y="178498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noFill/>
          <a:ln w="3175">
            <a:solidFill>
              <a:srgbClr val="0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00FFFF"/>
                </a:solidFill>
              </a14:hiddenFill>
            </a:ext>
          </a:extLst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28"/>
          <p:cNvSpPr txBox="1"/>
          <p:nvPr/>
        </p:nvSpPr>
        <p:spPr>
          <a:xfrm>
            <a:off x="2105663" y="1759585"/>
            <a:ext cx="224155" cy="4129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600" b="1" dirty="0">
                <a:solidFill>
                  <a:srgbClr val="191919"/>
                </a:solidFill>
                <a:latin typeface="Courier New" panose="02070409020205020404"/>
                <a:cs typeface="Courier New" panose="02070409020205020404"/>
              </a:rPr>
              <a:t>b</a:t>
            </a:r>
            <a:endParaRPr sz="2600">
              <a:latin typeface="Courier New" panose="02070409020205020404"/>
              <a:cs typeface="Courier New" panose="02070409020205020404"/>
            </a:endParaRPr>
          </a:p>
        </p:txBody>
      </p:sp>
      <p:sp>
        <p:nvSpPr>
          <p:cNvPr id="35" name="object 29"/>
          <p:cNvSpPr/>
          <p:nvPr/>
        </p:nvSpPr>
        <p:spPr>
          <a:xfrm>
            <a:off x="3360420" y="178498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noFill/>
          <a:ln w="3175">
            <a:solidFill>
              <a:srgbClr val="0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00FF"/>
                </a:solidFill>
              </a14:hiddenFill>
            </a:ext>
          </a:extLst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0"/>
          <p:cNvSpPr txBox="1"/>
          <p:nvPr/>
        </p:nvSpPr>
        <p:spPr>
          <a:xfrm>
            <a:off x="3477263" y="1759585"/>
            <a:ext cx="224155" cy="4129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600" b="1" dirty="0">
                <a:solidFill>
                  <a:srgbClr val="191919"/>
                </a:solidFill>
                <a:latin typeface="Courier New" panose="02070409020205020404"/>
                <a:cs typeface="Courier New" panose="02070409020205020404"/>
              </a:rPr>
              <a:t>c</a:t>
            </a:r>
            <a:endParaRPr sz="2600">
              <a:latin typeface="Courier New" panose="02070409020205020404"/>
              <a:cs typeface="Courier New" panose="02070409020205020404"/>
            </a:endParaRPr>
          </a:p>
        </p:txBody>
      </p:sp>
      <p:sp>
        <p:nvSpPr>
          <p:cNvPr id="37" name="object 31"/>
          <p:cNvSpPr/>
          <p:nvPr/>
        </p:nvSpPr>
        <p:spPr>
          <a:xfrm>
            <a:off x="4274820" y="269938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noFill/>
          <a:ln w="3175">
            <a:solidFill>
              <a:srgbClr val="0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75000"/>
                  </a:schemeClr>
                </a:solidFill>
              </a14:hiddenFill>
            </a:ext>
          </a:extLst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2"/>
          <p:cNvSpPr txBox="1"/>
          <p:nvPr/>
        </p:nvSpPr>
        <p:spPr>
          <a:xfrm>
            <a:off x="4391663" y="2673985"/>
            <a:ext cx="224155" cy="4129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600" b="1" dirty="0">
                <a:solidFill>
                  <a:srgbClr val="191919"/>
                </a:solidFill>
                <a:latin typeface="Courier New" panose="02070409020205020404"/>
                <a:cs typeface="Courier New" panose="02070409020205020404"/>
              </a:rPr>
              <a:t>d</a:t>
            </a:r>
            <a:endParaRPr sz="2600">
              <a:latin typeface="Courier New" panose="02070409020205020404"/>
              <a:cs typeface="Courier New" panose="02070409020205020404"/>
            </a:endParaRPr>
          </a:p>
        </p:txBody>
      </p:sp>
      <p:sp>
        <p:nvSpPr>
          <p:cNvPr id="39" name="object 33"/>
          <p:cNvSpPr/>
          <p:nvPr/>
        </p:nvSpPr>
        <p:spPr>
          <a:xfrm>
            <a:off x="3817620" y="384238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noFill/>
          <a:ln w="3175">
            <a:solidFill>
              <a:srgbClr val="0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</a:extLst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34"/>
          <p:cNvSpPr txBox="1"/>
          <p:nvPr/>
        </p:nvSpPr>
        <p:spPr>
          <a:xfrm>
            <a:off x="3934463" y="3816985"/>
            <a:ext cx="224155" cy="4129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600" b="1" dirty="0">
                <a:solidFill>
                  <a:srgbClr val="191919"/>
                </a:solidFill>
                <a:latin typeface="Courier New" panose="02070409020205020404"/>
                <a:cs typeface="Courier New" panose="02070409020205020404"/>
              </a:rPr>
              <a:t>e</a:t>
            </a:r>
            <a:endParaRPr sz="2600">
              <a:latin typeface="Courier New" panose="02070409020205020404"/>
              <a:cs typeface="Courier New" panose="02070409020205020404"/>
            </a:endParaRPr>
          </a:p>
        </p:txBody>
      </p:sp>
      <p:sp>
        <p:nvSpPr>
          <p:cNvPr id="41" name="object 35"/>
          <p:cNvSpPr/>
          <p:nvPr/>
        </p:nvSpPr>
        <p:spPr>
          <a:xfrm>
            <a:off x="2674620" y="452818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noFill/>
          <a:ln w="3175">
            <a:solidFill>
              <a:srgbClr val="0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85000"/>
                  </a:schemeClr>
                </a:solidFill>
              </a14:hiddenFill>
            </a:ext>
          </a:extLst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36"/>
          <p:cNvSpPr txBox="1"/>
          <p:nvPr/>
        </p:nvSpPr>
        <p:spPr>
          <a:xfrm>
            <a:off x="2791463" y="4502785"/>
            <a:ext cx="224155" cy="4129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600" b="1" dirty="0">
                <a:solidFill>
                  <a:srgbClr val="191919"/>
                </a:solidFill>
                <a:latin typeface="Courier New" panose="02070409020205020404"/>
                <a:cs typeface="Courier New" panose="02070409020205020404"/>
              </a:rPr>
              <a:t>f</a:t>
            </a:r>
            <a:endParaRPr sz="2600">
              <a:latin typeface="Courier New" panose="02070409020205020404"/>
              <a:cs typeface="Courier New" panose="02070409020205020404"/>
            </a:endParaRPr>
          </a:p>
        </p:txBody>
      </p:sp>
      <p:sp>
        <p:nvSpPr>
          <p:cNvPr id="43" name="object 37"/>
          <p:cNvSpPr/>
          <p:nvPr/>
        </p:nvSpPr>
        <p:spPr>
          <a:xfrm>
            <a:off x="1531620" y="384238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noFill/>
          <a:ln w="3175">
            <a:solidFill>
              <a:srgbClr val="0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</a:extLst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38"/>
          <p:cNvSpPr txBox="1"/>
          <p:nvPr/>
        </p:nvSpPr>
        <p:spPr>
          <a:xfrm>
            <a:off x="1648463" y="3816985"/>
            <a:ext cx="224155" cy="4129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600" b="1" dirty="0">
                <a:solidFill>
                  <a:srgbClr val="191919"/>
                </a:solidFill>
                <a:latin typeface="Courier New" panose="02070409020205020404"/>
                <a:cs typeface="Courier New" panose="02070409020205020404"/>
              </a:rPr>
              <a:t>g</a:t>
            </a:r>
            <a:endParaRPr sz="2600">
              <a:latin typeface="Courier New" panose="02070409020205020404"/>
              <a:cs typeface="Courier New" panose="02070409020205020404"/>
            </a:endParaRPr>
          </a:p>
        </p:txBody>
      </p:sp>
      <p:cxnSp>
        <p:nvCxnSpPr>
          <p:cNvPr id="47" name="直接连接符 46"/>
          <p:cNvCxnSpPr/>
          <p:nvPr/>
        </p:nvCxnSpPr>
        <p:spPr>
          <a:xfrm>
            <a:off x="2265048" y="2242821"/>
            <a:ext cx="1623695" cy="16687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/>
          <p:cNvCxnSpPr/>
          <p:nvPr/>
        </p:nvCxnSpPr>
        <p:spPr>
          <a:xfrm>
            <a:off x="3599817" y="2252347"/>
            <a:ext cx="369571" cy="159575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连接符 48"/>
          <p:cNvCxnSpPr/>
          <p:nvPr/>
        </p:nvCxnSpPr>
        <p:spPr>
          <a:xfrm>
            <a:off x="2157095" y="2252345"/>
            <a:ext cx="746760" cy="22504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连接符 49"/>
          <p:cNvCxnSpPr/>
          <p:nvPr/>
        </p:nvCxnSpPr>
        <p:spPr>
          <a:xfrm flipH="1">
            <a:off x="3148968" y="4272282"/>
            <a:ext cx="739775" cy="40576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object 57"/>
          <p:cNvGraphicFramePr>
            <a:graphicFrameLocks noGrp="1"/>
          </p:cNvGraphicFramePr>
          <p:nvPr/>
        </p:nvGraphicFramePr>
        <p:xfrm>
          <a:off x="1447800" y="5366385"/>
          <a:ext cx="2743200" cy="45770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708">
                <a:tc>
                  <a:txBody>
                    <a:bodyPr/>
                    <a:lstStyle/>
                    <a:p>
                      <a:pPr marL="254000">
                        <a:lnSpc>
                          <a:spcPts val="2940"/>
                        </a:lnSpc>
                      </a:pPr>
                      <a:r>
                        <a:rPr sz="2700" b="1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R</a:t>
                      </a:r>
                      <a:r>
                        <a:rPr sz="2300" b="1" baseline="-31000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0</a:t>
                      </a:r>
                      <a:endParaRPr sz="2300" baseline="-31000">
                        <a:latin typeface="DejaVu Serif" panose="02060603050605020204"/>
                        <a:cs typeface="DejaVu Serif" panose="02060603050605020204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254000">
                        <a:lnSpc>
                          <a:spcPts val="2940"/>
                        </a:lnSpc>
                      </a:pPr>
                      <a:r>
                        <a:rPr sz="2700" b="1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R</a:t>
                      </a:r>
                      <a:r>
                        <a:rPr sz="2300" b="1" baseline="-31000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1</a:t>
                      </a:r>
                      <a:endParaRPr sz="2300" baseline="-31000">
                        <a:latin typeface="DejaVu Serif" panose="02060603050605020204"/>
                        <a:cs typeface="DejaVu Serif" panose="02060603050605020204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254000">
                        <a:lnSpc>
                          <a:spcPts val="2940"/>
                        </a:lnSpc>
                      </a:pPr>
                      <a:r>
                        <a:rPr sz="2700" b="1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R</a:t>
                      </a:r>
                      <a:r>
                        <a:rPr sz="2300" b="1" baseline="-31000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2</a:t>
                      </a:r>
                      <a:endParaRPr sz="2300" baseline="-31000">
                        <a:latin typeface="DejaVu Serif" panose="02060603050605020204"/>
                        <a:cs typeface="DejaVu Serif" panose="02060603050605020204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F0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2" name="直接连接符 11"/>
          <p:cNvCxnSpPr/>
          <p:nvPr/>
        </p:nvCxnSpPr>
        <p:spPr>
          <a:xfrm flipH="1">
            <a:off x="1417956" y="2148842"/>
            <a:ext cx="594995" cy="57721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 flipH="1">
            <a:off x="1544959" y="2851788"/>
            <a:ext cx="2704465" cy="127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 flipH="1" flipV="1">
            <a:off x="3771904" y="2184400"/>
            <a:ext cx="577215" cy="5232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连接符 50"/>
          <p:cNvCxnSpPr/>
          <p:nvPr/>
        </p:nvCxnSpPr>
        <p:spPr>
          <a:xfrm flipH="1">
            <a:off x="2463803" y="1968500"/>
            <a:ext cx="87503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连接符 51"/>
          <p:cNvCxnSpPr/>
          <p:nvPr/>
        </p:nvCxnSpPr>
        <p:spPr>
          <a:xfrm flipH="1">
            <a:off x="1499236" y="2184401"/>
            <a:ext cx="1929765" cy="6223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连接符 52"/>
          <p:cNvCxnSpPr/>
          <p:nvPr/>
        </p:nvCxnSpPr>
        <p:spPr>
          <a:xfrm flipH="1" flipV="1">
            <a:off x="2428241" y="2130428"/>
            <a:ext cx="1902460" cy="6673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object 37"/>
          <p:cNvSpPr/>
          <p:nvPr/>
        </p:nvSpPr>
        <p:spPr>
          <a:xfrm>
            <a:off x="7498399" y="458914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noFill/>
          <a:ln w="3175">
            <a:solidFill>
              <a:srgbClr val="0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</a:extLst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38"/>
          <p:cNvSpPr txBox="1"/>
          <p:nvPr/>
        </p:nvSpPr>
        <p:spPr>
          <a:xfrm>
            <a:off x="7614923" y="4563745"/>
            <a:ext cx="224155" cy="4129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600" b="1" dirty="0">
                <a:solidFill>
                  <a:srgbClr val="191919"/>
                </a:solidFill>
                <a:latin typeface="Courier New" panose="02070409020205020404"/>
                <a:cs typeface="Courier New" panose="02070409020205020404"/>
              </a:rPr>
              <a:t>g</a:t>
            </a:r>
            <a:endParaRPr sz="2600">
              <a:latin typeface="Courier New" panose="02070409020205020404"/>
              <a:cs typeface="Courier New" panose="02070409020205020404"/>
            </a:endParaRPr>
          </a:p>
        </p:txBody>
      </p:sp>
      <p:sp>
        <p:nvSpPr>
          <p:cNvPr id="71" name="object 35"/>
          <p:cNvSpPr/>
          <p:nvPr/>
        </p:nvSpPr>
        <p:spPr>
          <a:xfrm>
            <a:off x="7498399" y="413194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noFill/>
          <a:ln w="3175">
            <a:solidFill>
              <a:srgbClr val="0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85000"/>
                  </a:schemeClr>
                </a:solidFill>
              </a14:hiddenFill>
            </a:ext>
          </a:extLst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36"/>
          <p:cNvSpPr txBox="1"/>
          <p:nvPr/>
        </p:nvSpPr>
        <p:spPr>
          <a:xfrm>
            <a:off x="7614923" y="4106545"/>
            <a:ext cx="224155" cy="4129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600" b="1" dirty="0">
                <a:solidFill>
                  <a:srgbClr val="191919"/>
                </a:solidFill>
                <a:latin typeface="Courier New" panose="02070409020205020404"/>
                <a:cs typeface="Courier New" panose="02070409020205020404"/>
              </a:rPr>
              <a:t>f</a:t>
            </a:r>
            <a:endParaRPr sz="2600">
              <a:latin typeface="Courier New" panose="02070409020205020404"/>
              <a:cs typeface="Courier New" panose="02070409020205020404"/>
            </a:endParaRPr>
          </a:p>
        </p:txBody>
      </p:sp>
      <p:sp>
        <p:nvSpPr>
          <p:cNvPr id="91" name="object 35"/>
          <p:cNvSpPr/>
          <p:nvPr/>
        </p:nvSpPr>
        <p:spPr>
          <a:xfrm>
            <a:off x="7498399" y="367220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noFill/>
          <a:ln w="3175">
            <a:solidFill>
              <a:srgbClr val="0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85000"/>
                  </a:schemeClr>
                </a:solidFill>
              </a14:hiddenFill>
            </a:ext>
          </a:extLst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36"/>
          <p:cNvSpPr txBox="1"/>
          <p:nvPr/>
        </p:nvSpPr>
        <p:spPr>
          <a:xfrm>
            <a:off x="7614923" y="3646805"/>
            <a:ext cx="224155" cy="4129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sz="2600" b="1" dirty="0">
                <a:solidFill>
                  <a:srgbClr val="191919"/>
                </a:solidFill>
                <a:latin typeface="Courier New" panose="02070409020205020404"/>
                <a:cs typeface="Courier New" panose="02070409020205020404"/>
              </a:rPr>
              <a:t>e</a:t>
            </a:r>
          </a:p>
        </p:txBody>
      </p:sp>
      <p:sp>
        <p:nvSpPr>
          <p:cNvPr id="93" name="object 35"/>
          <p:cNvSpPr/>
          <p:nvPr/>
        </p:nvSpPr>
        <p:spPr>
          <a:xfrm>
            <a:off x="7498399" y="321246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noFill/>
          <a:ln w="3175">
            <a:solidFill>
              <a:srgbClr val="0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85000"/>
                  </a:schemeClr>
                </a:solidFill>
              </a14:hiddenFill>
            </a:ext>
          </a:extLst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36"/>
          <p:cNvSpPr txBox="1"/>
          <p:nvPr/>
        </p:nvSpPr>
        <p:spPr>
          <a:xfrm>
            <a:off x="7614923" y="3187065"/>
            <a:ext cx="224155" cy="4129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sz="2600" b="1" dirty="0">
                <a:solidFill>
                  <a:srgbClr val="191919"/>
                </a:solidFill>
                <a:latin typeface="Courier New" panose="02070409020205020404"/>
                <a:cs typeface="Courier New" panose="02070409020205020404"/>
              </a:rPr>
              <a:t>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  <p:set>
                                      <p:cBhvr>
                                        <p:cTn id="13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" dur="500" fill="hold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  <p:set>
                                      <p:cBhvr>
                                        <p:cTn id="2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  <p:set>
                                      <p:cBhvr>
                                        <p:cTn id="31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  <p:set>
                                      <p:cBhvr>
                                        <p:cTn id="34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6" dur="50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  <p:set>
                                      <p:cBhvr>
                                        <p:cTn id="4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1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  <p:set>
                                      <p:cBhvr>
                                        <p:cTn id="5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  <p:set>
                                      <p:cBhvr>
                                        <p:cTn id="55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  <p:set>
                                      <p:cBhvr>
                                        <p:cTn id="70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  <p:set>
                                      <p:cBhvr>
                                        <p:cTn id="7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5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  <p:set>
                                      <p:cBhvr>
                                        <p:cTn id="76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  <p:set>
                                      <p:cBhvr>
                                        <p:cTn id="7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00"/>
                            </p:stCondLst>
                            <p:childTnLst>
                              <p:par>
                                <p:cTn id="81" presetID="3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2" dur="5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  <p:bldP spid="54" grpId="0" bldLvl="0" animBg="1"/>
      <p:bldP spid="55" grpId="0"/>
      <p:bldP spid="71" grpId="0" bldLvl="0" animBg="1"/>
      <p:bldP spid="85" grpId="0"/>
      <p:bldP spid="91" grpId="0" bldLvl="0" animBg="1"/>
      <p:bldP spid="92" grpId="0"/>
      <p:bldP spid="93" grpId="0" bldLvl="0" animBg="1"/>
      <p:bldP spid="94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object 3"/>
          <p:cNvGrpSpPr/>
          <p:nvPr/>
        </p:nvGrpSpPr>
        <p:grpSpPr>
          <a:xfrm>
            <a:off x="1074420" y="2707640"/>
            <a:ext cx="457200" cy="457200"/>
            <a:chOff x="2514600" y="3429000"/>
            <a:chExt cx="457200" cy="457200"/>
          </a:xfrm>
          <a:solidFill>
            <a:srgbClr val="FFFF00"/>
          </a:solidFill>
        </p:grpSpPr>
        <p:sp>
          <p:nvSpPr>
            <p:cNvPr id="28" name="object 4"/>
            <p:cNvSpPr/>
            <p:nvPr/>
          </p:nvSpPr>
          <p:spPr>
            <a:xfrm>
              <a:off x="2514600" y="3429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1585" y="4509"/>
                  </a:lnTo>
                  <a:lnTo>
                    <a:pt x="138231" y="17502"/>
                  </a:lnTo>
                  <a:lnTo>
                    <a:pt x="99342" y="38174"/>
                  </a:lnTo>
                  <a:lnTo>
                    <a:pt x="65722" y="65722"/>
                  </a:lnTo>
                  <a:lnTo>
                    <a:pt x="38174" y="99342"/>
                  </a:lnTo>
                  <a:lnTo>
                    <a:pt x="17502" y="138231"/>
                  </a:lnTo>
                  <a:lnTo>
                    <a:pt x="4509" y="181585"/>
                  </a:lnTo>
                  <a:lnTo>
                    <a:pt x="0" y="228600"/>
                  </a:lnTo>
                  <a:lnTo>
                    <a:pt x="4509" y="275614"/>
                  </a:lnTo>
                  <a:lnTo>
                    <a:pt x="17502" y="318968"/>
                  </a:lnTo>
                  <a:lnTo>
                    <a:pt x="38174" y="357857"/>
                  </a:lnTo>
                  <a:lnTo>
                    <a:pt x="65722" y="391477"/>
                  </a:lnTo>
                  <a:lnTo>
                    <a:pt x="99342" y="419025"/>
                  </a:lnTo>
                  <a:lnTo>
                    <a:pt x="138231" y="439697"/>
                  </a:lnTo>
                  <a:lnTo>
                    <a:pt x="181585" y="452690"/>
                  </a:lnTo>
                  <a:lnTo>
                    <a:pt x="228600" y="457200"/>
                  </a:lnTo>
                  <a:lnTo>
                    <a:pt x="275614" y="452690"/>
                  </a:lnTo>
                  <a:lnTo>
                    <a:pt x="318968" y="439697"/>
                  </a:lnTo>
                  <a:lnTo>
                    <a:pt x="357857" y="419025"/>
                  </a:lnTo>
                  <a:lnTo>
                    <a:pt x="391477" y="391477"/>
                  </a:lnTo>
                  <a:lnTo>
                    <a:pt x="419025" y="357857"/>
                  </a:lnTo>
                  <a:lnTo>
                    <a:pt x="439697" y="318968"/>
                  </a:lnTo>
                  <a:lnTo>
                    <a:pt x="452690" y="275614"/>
                  </a:lnTo>
                  <a:lnTo>
                    <a:pt x="457200" y="228600"/>
                  </a:lnTo>
                  <a:lnTo>
                    <a:pt x="452690" y="181585"/>
                  </a:lnTo>
                  <a:lnTo>
                    <a:pt x="439697" y="138231"/>
                  </a:lnTo>
                  <a:lnTo>
                    <a:pt x="419025" y="99342"/>
                  </a:lnTo>
                  <a:lnTo>
                    <a:pt x="391477" y="65722"/>
                  </a:lnTo>
                  <a:lnTo>
                    <a:pt x="357857" y="38174"/>
                  </a:lnTo>
                  <a:lnTo>
                    <a:pt x="318968" y="17502"/>
                  </a:lnTo>
                  <a:lnTo>
                    <a:pt x="275614" y="4509"/>
                  </a:lnTo>
                  <a:lnTo>
                    <a:pt x="228600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5"/>
            <p:cNvSpPr/>
            <p:nvPr/>
          </p:nvSpPr>
          <p:spPr>
            <a:xfrm>
              <a:off x="2514600" y="3429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275614" y="4509"/>
                  </a:lnTo>
                  <a:lnTo>
                    <a:pt x="318968" y="17502"/>
                  </a:lnTo>
                  <a:lnTo>
                    <a:pt x="357857" y="38174"/>
                  </a:lnTo>
                  <a:lnTo>
                    <a:pt x="391477" y="65722"/>
                  </a:lnTo>
                  <a:lnTo>
                    <a:pt x="419025" y="99342"/>
                  </a:lnTo>
                  <a:lnTo>
                    <a:pt x="439697" y="138231"/>
                  </a:lnTo>
                  <a:lnTo>
                    <a:pt x="452690" y="181585"/>
                  </a:lnTo>
                  <a:lnTo>
                    <a:pt x="457200" y="228600"/>
                  </a:lnTo>
                  <a:lnTo>
                    <a:pt x="452690" y="275614"/>
                  </a:lnTo>
                  <a:lnTo>
                    <a:pt x="439697" y="318968"/>
                  </a:lnTo>
                  <a:lnTo>
                    <a:pt x="419025" y="357857"/>
                  </a:lnTo>
                  <a:lnTo>
                    <a:pt x="391477" y="391477"/>
                  </a:lnTo>
                  <a:lnTo>
                    <a:pt x="357857" y="419025"/>
                  </a:lnTo>
                  <a:lnTo>
                    <a:pt x="318968" y="439697"/>
                  </a:lnTo>
                  <a:lnTo>
                    <a:pt x="275614" y="452690"/>
                  </a:lnTo>
                  <a:lnTo>
                    <a:pt x="228600" y="457200"/>
                  </a:lnTo>
                  <a:lnTo>
                    <a:pt x="181585" y="452690"/>
                  </a:lnTo>
                  <a:lnTo>
                    <a:pt x="138231" y="439697"/>
                  </a:lnTo>
                  <a:lnTo>
                    <a:pt x="99342" y="419025"/>
                  </a:lnTo>
                  <a:lnTo>
                    <a:pt x="65722" y="391477"/>
                  </a:lnTo>
                  <a:lnTo>
                    <a:pt x="38174" y="357857"/>
                  </a:lnTo>
                  <a:lnTo>
                    <a:pt x="17502" y="318968"/>
                  </a:lnTo>
                  <a:lnTo>
                    <a:pt x="4509" y="275614"/>
                  </a:lnTo>
                  <a:lnTo>
                    <a:pt x="0" y="228600"/>
                  </a:lnTo>
                  <a:lnTo>
                    <a:pt x="4509" y="181585"/>
                  </a:lnTo>
                  <a:lnTo>
                    <a:pt x="17502" y="138231"/>
                  </a:lnTo>
                  <a:lnTo>
                    <a:pt x="38174" y="99342"/>
                  </a:lnTo>
                  <a:lnTo>
                    <a:pt x="65722" y="65722"/>
                  </a:lnTo>
                  <a:lnTo>
                    <a:pt x="99342" y="38174"/>
                  </a:lnTo>
                  <a:lnTo>
                    <a:pt x="138231" y="17502"/>
                  </a:lnTo>
                  <a:lnTo>
                    <a:pt x="181585" y="4509"/>
                  </a:lnTo>
                  <a:lnTo>
                    <a:pt x="228600" y="0"/>
                  </a:lnTo>
                  <a:close/>
                </a:path>
                <a:path w="457200" h="457200">
                  <a:moveTo>
                    <a:pt x="0" y="0"/>
                  </a:moveTo>
                  <a:lnTo>
                    <a:pt x="0" y="0"/>
                  </a:lnTo>
                </a:path>
                <a:path w="457200" h="457200">
                  <a:moveTo>
                    <a:pt x="457200" y="457200"/>
                  </a:moveTo>
                  <a:lnTo>
                    <a:pt x="457200" y="457200"/>
                  </a:lnTo>
                </a:path>
              </a:pathLst>
            </a:custGeom>
            <a:grpFill/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4" name="object 3"/>
          <p:cNvGrpSpPr/>
          <p:nvPr/>
        </p:nvGrpSpPr>
        <p:grpSpPr>
          <a:xfrm>
            <a:off x="1988820" y="1795145"/>
            <a:ext cx="457200" cy="457200"/>
            <a:chOff x="2514600" y="3429000"/>
            <a:chExt cx="457200" cy="457200"/>
          </a:xfrm>
          <a:solidFill>
            <a:srgbClr val="00FFFF"/>
          </a:solidFill>
        </p:grpSpPr>
        <p:sp>
          <p:nvSpPr>
            <p:cNvPr id="25" name="object 4"/>
            <p:cNvSpPr/>
            <p:nvPr/>
          </p:nvSpPr>
          <p:spPr>
            <a:xfrm>
              <a:off x="2514600" y="3429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1585" y="4509"/>
                  </a:lnTo>
                  <a:lnTo>
                    <a:pt x="138231" y="17502"/>
                  </a:lnTo>
                  <a:lnTo>
                    <a:pt x="99342" y="38174"/>
                  </a:lnTo>
                  <a:lnTo>
                    <a:pt x="65722" y="65722"/>
                  </a:lnTo>
                  <a:lnTo>
                    <a:pt x="38174" y="99342"/>
                  </a:lnTo>
                  <a:lnTo>
                    <a:pt x="17502" y="138231"/>
                  </a:lnTo>
                  <a:lnTo>
                    <a:pt x="4509" y="181585"/>
                  </a:lnTo>
                  <a:lnTo>
                    <a:pt x="0" y="228600"/>
                  </a:lnTo>
                  <a:lnTo>
                    <a:pt x="4509" y="275614"/>
                  </a:lnTo>
                  <a:lnTo>
                    <a:pt x="17502" y="318968"/>
                  </a:lnTo>
                  <a:lnTo>
                    <a:pt x="38174" y="357857"/>
                  </a:lnTo>
                  <a:lnTo>
                    <a:pt x="65722" y="391477"/>
                  </a:lnTo>
                  <a:lnTo>
                    <a:pt x="99342" y="419025"/>
                  </a:lnTo>
                  <a:lnTo>
                    <a:pt x="138231" y="439697"/>
                  </a:lnTo>
                  <a:lnTo>
                    <a:pt x="181585" y="452690"/>
                  </a:lnTo>
                  <a:lnTo>
                    <a:pt x="228600" y="457200"/>
                  </a:lnTo>
                  <a:lnTo>
                    <a:pt x="275614" y="452690"/>
                  </a:lnTo>
                  <a:lnTo>
                    <a:pt x="318968" y="439697"/>
                  </a:lnTo>
                  <a:lnTo>
                    <a:pt x="357857" y="419025"/>
                  </a:lnTo>
                  <a:lnTo>
                    <a:pt x="391477" y="391477"/>
                  </a:lnTo>
                  <a:lnTo>
                    <a:pt x="419025" y="357857"/>
                  </a:lnTo>
                  <a:lnTo>
                    <a:pt x="439697" y="318968"/>
                  </a:lnTo>
                  <a:lnTo>
                    <a:pt x="452690" y="275614"/>
                  </a:lnTo>
                  <a:lnTo>
                    <a:pt x="457200" y="228600"/>
                  </a:lnTo>
                  <a:lnTo>
                    <a:pt x="452690" y="181585"/>
                  </a:lnTo>
                  <a:lnTo>
                    <a:pt x="439697" y="138231"/>
                  </a:lnTo>
                  <a:lnTo>
                    <a:pt x="419025" y="99342"/>
                  </a:lnTo>
                  <a:lnTo>
                    <a:pt x="391477" y="65722"/>
                  </a:lnTo>
                  <a:lnTo>
                    <a:pt x="357857" y="38174"/>
                  </a:lnTo>
                  <a:lnTo>
                    <a:pt x="318968" y="17502"/>
                  </a:lnTo>
                  <a:lnTo>
                    <a:pt x="275614" y="4509"/>
                  </a:lnTo>
                  <a:lnTo>
                    <a:pt x="228600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5"/>
            <p:cNvSpPr/>
            <p:nvPr/>
          </p:nvSpPr>
          <p:spPr>
            <a:xfrm>
              <a:off x="2514600" y="3429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275614" y="4509"/>
                  </a:lnTo>
                  <a:lnTo>
                    <a:pt x="318968" y="17502"/>
                  </a:lnTo>
                  <a:lnTo>
                    <a:pt x="357857" y="38174"/>
                  </a:lnTo>
                  <a:lnTo>
                    <a:pt x="391477" y="65722"/>
                  </a:lnTo>
                  <a:lnTo>
                    <a:pt x="419025" y="99342"/>
                  </a:lnTo>
                  <a:lnTo>
                    <a:pt x="439697" y="138231"/>
                  </a:lnTo>
                  <a:lnTo>
                    <a:pt x="452690" y="181585"/>
                  </a:lnTo>
                  <a:lnTo>
                    <a:pt x="457200" y="228600"/>
                  </a:lnTo>
                  <a:lnTo>
                    <a:pt x="452690" y="275614"/>
                  </a:lnTo>
                  <a:lnTo>
                    <a:pt x="439697" y="318968"/>
                  </a:lnTo>
                  <a:lnTo>
                    <a:pt x="419025" y="357857"/>
                  </a:lnTo>
                  <a:lnTo>
                    <a:pt x="391477" y="391477"/>
                  </a:lnTo>
                  <a:lnTo>
                    <a:pt x="357857" y="419025"/>
                  </a:lnTo>
                  <a:lnTo>
                    <a:pt x="318968" y="439697"/>
                  </a:lnTo>
                  <a:lnTo>
                    <a:pt x="275614" y="452690"/>
                  </a:lnTo>
                  <a:lnTo>
                    <a:pt x="228600" y="457200"/>
                  </a:lnTo>
                  <a:lnTo>
                    <a:pt x="181585" y="452690"/>
                  </a:lnTo>
                  <a:lnTo>
                    <a:pt x="138231" y="439697"/>
                  </a:lnTo>
                  <a:lnTo>
                    <a:pt x="99342" y="419025"/>
                  </a:lnTo>
                  <a:lnTo>
                    <a:pt x="65722" y="391477"/>
                  </a:lnTo>
                  <a:lnTo>
                    <a:pt x="38174" y="357857"/>
                  </a:lnTo>
                  <a:lnTo>
                    <a:pt x="17502" y="318968"/>
                  </a:lnTo>
                  <a:lnTo>
                    <a:pt x="4509" y="275614"/>
                  </a:lnTo>
                  <a:lnTo>
                    <a:pt x="0" y="228600"/>
                  </a:lnTo>
                  <a:lnTo>
                    <a:pt x="4509" y="181585"/>
                  </a:lnTo>
                  <a:lnTo>
                    <a:pt x="17502" y="138231"/>
                  </a:lnTo>
                  <a:lnTo>
                    <a:pt x="38174" y="99342"/>
                  </a:lnTo>
                  <a:lnTo>
                    <a:pt x="65722" y="65722"/>
                  </a:lnTo>
                  <a:lnTo>
                    <a:pt x="99342" y="38174"/>
                  </a:lnTo>
                  <a:lnTo>
                    <a:pt x="138231" y="17502"/>
                  </a:lnTo>
                  <a:lnTo>
                    <a:pt x="181585" y="4509"/>
                  </a:lnTo>
                  <a:lnTo>
                    <a:pt x="228600" y="0"/>
                  </a:lnTo>
                  <a:close/>
                </a:path>
                <a:path w="457200" h="457200">
                  <a:moveTo>
                    <a:pt x="0" y="0"/>
                  </a:moveTo>
                  <a:lnTo>
                    <a:pt x="0" y="0"/>
                  </a:lnTo>
                </a:path>
                <a:path w="457200" h="457200">
                  <a:moveTo>
                    <a:pt x="457200" y="457200"/>
                  </a:moveTo>
                  <a:lnTo>
                    <a:pt x="457200" y="457200"/>
                  </a:lnTo>
                </a:path>
              </a:pathLst>
            </a:custGeom>
            <a:grpFill/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1" name="object 3"/>
          <p:cNvGrpSpPr/>
          <p:nvPr/>
        </p:nvGrpSpPr>
        <p:grpSpPr>
          <a:xfrm>
            <a:off x="3361055" y="1795145"/>
            <a:ext cx="457200" cy="457200"/>
            <a:chOff x="2514600" y="3429000"/>
            <a:chExt cx="457200" cy="457200"/>
          </a:xfrm>
        </p:grpSpPr>
        <p:sp>
          <p:nvSpPr>
            <p:cNvPr id="22" name="object 4"/>
            <p:cNvSpPr/>
            <p:nvPr/>
          </p:nvSpPr>
          <p:spPr>
            <a:xfrm>
              <a:off x="2514600" y="3429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1585" y="4509"/>
                  </a:lnTo>
                  <a:lnTo>
                    <a:pt x="138231" y="17502"/>
                  </a:lnTo>
                  <a:lnTo>
                    <a:pt x="99342" y="38174"/>
                  </a:lnTo>
                  <a:lnTo>
                    <a:pt x="65722" y="65722"/>
                  </a:lnTo>
                  <a:lnTo>
                    <a:pt x="38174" y="99342"/>
                  </a:lnTo>
                  <a:lnTo>
                    <a:pt x="17502" y="138231"/>
                  </a:lnTo>
                  <a:lnTo>
                    <a:pt x="4509" y="181585"/>
                  </a:lnTo>
                  <a:lnTo>
                    <a:pt x="0" y="228600"/>
                  </a:lnTo>
                  <a:lnTo>
                    <a:pt x="4509" y="275614"/>
                  </a:lnTo>
                  <a:lnTo>
                    <a:pt x="17502" y="318968"/>
                  </a:lnTo>
                  <a:lnTo>
                    <a:pt x="38174" y="357857"/>
                  </a:lnTo>
                  <a:lnTo>
                    <a:pt x="65722" y="391477"/>
                  </a:lnTo>
                  <a:lnTo>
                    <a:pt x="99342" y="419025"/>
                  </a:lnTo>
                  <a:lnTo>
                    <a:pt x="138231" y="439697"/>
                  </a:lnTo>
                  <a:lnTo>
                    <a:pt x="181585" y="452690"/>
                  </a:lnTo>
                  <a:lnTo>
                    <a:pt x="228600" y="457200"/>
                  </a:lnTo>
                  <a:lnTo>
                    <a:pt x="275614" y="452690"/>
                  </a:lnTo>
                  <a:lnTo>
                    <a:pt x="318968" y="439697"/>
                  </a:lnTo>
                  <a:lnTo>
                    <a:pt x="357857" y="419025"/>
                  </a:lnTo>
                  <a:lnTo>
                    <a:pt x="391477" y="391477"/>
                  </a:lnTo>
                  <a:lnTo>
                    <a:pt x="419025" y="357857"/>
                  </a:lnTo>
                  <a:lnTo>
                    <a:pt x="439697" y="318968"/>
                  </a:lnTo>
                  <a:lnTo>
                    <a:pt x="452690" y="275614"/>
                  </a:lnTo>
                  <a:lnTo>
                    <a:pt x="457200" y="228600"/>
                  </a:lnTo>
                  <a:lnTo>
                    <a:pt x="452690" y="181585"/>
                  </a:lnTo>
                  <a:lnTo>
                    <a:pt x="439697" y="138231"/>
                  </a:lnTo>
                  <a:lnTo>
                    <a:pt x="419025" y="99342"/>
                  </a:lnTo>
                  <a:lnTo>
                    <a:pt x="391477" y="65722"/>
                  </a:lnTo>
                  <a:lnTo>
                    <a:pt x="357857" y="38174"/>
                  </a:lnTo>
                  <a:lnTo>
                    <a:pt x="318968" y="17502"/>
                  </a:lnTo>
                  <a:lnTo>
                    <a:pt x="275614" y="4509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FF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5"/>
            <p:cNvSpPr/>
            <p:nvPr/>
          </p:nvSpPr>
          <p:spPr>
            <a:xfrm>
              <a:off x="2514600" y="3429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275614" y="4509"/>
                  </a:lnTo>
                  <a:lnTo>
                    <a:pt x="318968" y="17502"/>
                  </a:lnTo>
                  <a:lnTo>
                    <a:pt x="357857" y="38174"/>
                  </a:lnTo>
                  <a:lnTo>
                    <a:pt x="391477" y="65722"/>
                  </a:lnTo>
                  <a:lnTo>
                    <a:pt x="419025" y="99342"/>
                  </a:lnTo>
                  <a:lnTo>
                    <a:pt x="439697" y="138231"/>
                  </a:lnTo>
                  <a:lnTo>
                    <a:pt x="452690" y="181585"/>
                  </a:lnTo>
                  <a:lnTo>
                    <a:pt x="457200" y="228600"/>
                  </a:lnTo>
                  <a:lnTo>
                    <a:pt x="452690" y="275614"/>
                  </a:lnTo>
                  <a:lnTo>
                    <a:pt x="439697" y="318968"/>
                  </a:lnTo>
                  <a:lnTo>
                    <a:pt x="419025" y="357857"/>
                  </a:lnTo>
                  <a:lnTo>
                    <a:pt x="391477" y="391477"/>
                  </a:lnTo>
                  <a:lnTo>
                    <a:pt x="357857" y="419025"/>
                  </a:lnTo>
                  <a:lnTo>
                    <a:pt x="318968" y="439697"/>
                  </a:lnTo>
                  <a:lnTo>
                    <a:pt x="275614" y="452690"/>
                  </a:lnTo>
                  <a:lnTo>
                    <a:pt x="228600" y="457200"/>
                  </a:lnTo>
                  <a:lnTo>
                    <a:pt x="181585" y="452690"/>
                  </a:lnTo>
                  <a:lnTo>
                    <a:pt x="138231" y="439697"/>
                  </a:lnTo>
                  <a:lnTo>
                    <a:pt x="99342" y="419025"/>
                  </a:lnTo>
                  <a:lnTo>
                    <a:pt x="65722" y="391477"/>
                  </a:lnTo>
                  <a:lnTo>
                    <a:pt x="38174" y="357857"/>
                  </a:lnTo>
                  <a:lnTo>
                    <a:pt x="17502" y="318968"/>
                  </a:lnTo>
                  <a:lnTo>
                    <a:pt x="4509" y="275614"/>
                  </a:lnTo>
                  <a:lnTo>
                    <a:pt x="0" y="228600"/>
                  </a:lnTo>
                  <a:lnTo>
                    <a:pt x="4509" y="181585"/>
                  </a:lnTo>
                  <a:lnTo>
                    <a:pt x="17502" y="138231"/>
                  </a:lnTo>
                  <a:lnTo>
                    <a:pt x="38174" y="99342"/>
                  </a:lnTo>
                  <a:lnTo>
                    <a:pt x="65722" y="65722"/>
                  </a:lnTo>
                  <a:lnTo>
                    <a:pt x="99342" y="38174"/>
                  </a:lnTo>
                  <a:lnTo>
                    <a:pt x="138231" y="17502"/>
                  </a:lnTo>
                  <a:lnTo>
                    <a:pt x="181585" y="4509"/>
                  </a:lnTo>
                  <a:lnTo>
                    <a:pt x="228600" y="0"/>
                  </a:lnTo>
                  <a:close/>
                </a:path>
                <a:path w="457200" h="457200">
                  <a:moveTo>
                    <a:pt x="0" y="0"/>
                  </a:moveTo>
                  <a:lnTo>
                    <a:pt x="0" y="0"/>
                  </a:lnTo>
                </a:path>
                <a:path w="457200" h="457200">
                  <a:moveTo>
                    <a:pt x="457200" y="457200"/>
                  </a:moveTo>
                  <a:lnTo>
                    <a:pt x="457200" y="45720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b="1" dirty="0">
                <a:latin typeface="楷体_GB2312" panose="02010609030101010101" charset="-122"/>
                <a:ea typeface="楷体_GB2312" panose="02010609030101010101" charset="-122"/>
                <a:sym typeface="+mn-ea"/>
              </a:rPr>
              <a:t>图着色算法示例</a:t>
            </a:r>
            <a:r>
              <a:rPr lang="en-US" altLang="zh-CN" b="1" dirty="0">
                <a:latin typeface="楷体_GB2312" panose="02010609030101010101" charset="-122"/>
                <a:ea typeface="楷体_GB2312" panose="02010609030101010101" charset="-122"/>
                <a:sym typeface="+mn-ea"/>
              </a:rPr>
              <a:t>2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52</a:t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object 25"/>
          <p:cNvSpPr/>
          <p:nvPr/>
        </p:nvSpPr>
        <p:spPr>
          <a:xfrm>
            <a:off x="1074420" y="269938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noFill/>
          <a:ln w="3175">
            <a:solidFill>
              <a:srgbClr val="0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</a:extLst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26"/>
          <p:cNvSpPr txBox="1"/>
          <p:nvPr/>
        </p:nvSpPr>
        <p:spPr>
          <a:xfrm>
            <a:off x="1191261" y="2673985"/>
            <a:ext cx="224155" cy="4129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600" b="1" dirty="0">
                <a:solidFill>
                  <a:srgbClr val="191919"/>
                </a:solidFill>
                <a:latin typeface="Courier New" panose="02070409020205020404"/>
                <a:cs typeface="Courier New" panose="02070409020205020404"/>
              </a:rPr>
              <a:t>a</a:t>
            </a:r>
            <a:endParaRPr sz="2600">
              <a:latin typeface="Courier New" panose="02070409020205020404"/>
              <a:cs typeface="Courier New" panose="02070409020205020404"/>
            </a:endParaRPr>
          </a:p>
        </p:txBody>
      </p:sp>
      <p:sp>
        <p:nvSpPr>
          <p:cNvPr id="33" name="object 27"/>
          <p:cNvSpPr/>
          <p:nvPr/>
        </p:nvSpPr>
        <p:spPr>
          <a:xfrm>
            <a:off x="1988820" y="178498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noFill/>
          <a:ln w="3175">
            <a:solidFill>
              <a:srgbClr val="0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00FFFF"/>
                </a:solidFill>
              </a14:hiddenFill>
            </a:ext>
          </a:extLst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28"/>
          <p:cNvSpPr txBox="1"/>
          <p:nvPr/>
        </p:nvSpPr>
        <p:spPr>
          <a:xfrm>
            <a:off x="2105663" y="1759585"/>
            <a:ext cx="224155" cy="4129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600" b="1" dirty="0">
                <a:solidFill>
                  <a:srgbClr val="191919"/>
                </a:solidFill>
                <a:latin typeface="Courier New" panose="02070409020205020404"/>
                <a:cs typeface="Courier New" panose="02070409020205020404"/>
              </a:rPr>
              <a:t>b</a:t>
            </a:r>
            <a:endParaRPr sz="2600">
              <a:latin typeface="Courier New" panose="02070409020205020404"/>
              <a:cs typeface="Courier New" panose="02070409020205020404"/>
            </a:endParaRPr>
          </a:p>
        </p:txBody>
      </p:sp>
      <p:sp>
        <p:nvSpPr>
          <p:cNvPr id="35" name="object 29"/>
          <p:cNvSpPr/>
          <p:nvPr/>
        </p:nvSpPr>
        <p:spPr>
          <a:xfrm>
            <a:off x="3360420" y="178498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noFill/>
          <a:ln w="3175">
            <a:solidFill>
              <a:srgbClr val="0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00FF"/>
                </a:solidFill>
              </a14:hiddenFill>
            </a:ext>
          </a:extLst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0"/>
          <p:cNvSpPr txBox="1"/>
          <p:nvPr/>
        </p:nvSpPr>
        <p:spPr>
          <a:xfrm>
            <a:off x="3477263" y="1759585"/>
            <a:ext cx="224155" cy="4129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600" b="1" dirty="0">
                <a:solidFill>
                  <a:srgbClr val="191919"/>
                </a:solidFill>
                <a:latin typeface="Courier New" panose="02070409020205020404"/>
                <a:cs typeface="Courier New" panose="02070409020205020404"/>
              </a:rPr>
              <a:t>c</a:t>
            </a:r>
            <a:endParaRPr sz="2600">
              <a:latin typeface="Courier New" panose="02070409020205020404"/>
              <a:cs typeface="Courier New" panose="02070409020205020404"/>
            </a:endParaRPr>
          </a:p>
        </p:txBody>
      </p:sp>
      <p:sp>
        <p:nvSpPr>
          <p:cNvPr id="37" name="object 31"/>
          <p:cNvSpPr/>
          <p:nvPr/>
        </p:nvSpPr>
        <p:spPr>
          <a:xfrm>
            <a:off x="4274820" y="269938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noFill/>
          <a:ln w="3175">
            <a:solidFill>
              <a:schemeClr val="bg1">
                <a:lumMod val="6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75000"/>
                  </a:schemeClr>
                </a:solidFill>
              </a14:hiddenFill>
            </a:ext>
          </a:extLst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2"/>
          <p:cNvSpPr txBox="1"/>
          <p:nvPr/>
        </p:nvSpPr>
        <p:spPr>
          <a:xfrm>
            <a:off x="4391663" y="2673985"/>
            <a:ext cx="224155" cy="412934"/>
          </a:xfrm>
          <a:prstGeom prst="rect">
            <a:avLst/>
          </a:prstGeom>
          <a:ln>
            <a:noFill/>
          </a:ln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600" b="1" dirty="0">
                <a:solidFill>
                  <a:schemeClr val="bg1">
                    <a:lumMod val="65000"/>
                  </a:schemeClr>
                </a:solidFill>
                <a:latin typeface="Courier New" panose="02070409020205020404"/>
                <a:cs typeface="Courier New" panose="02070409020205020404"/>
              </a:rPr>
              <a:t>d</a:t>
            </a:r>
          </a:p>
        </p:txBody>
      </p:sp>
      <p:sp>
        <p:nvSpPr>
          <p:cNvPr id="39" name="object 33"/>
          <p:cNvSpPr/>
          <p:nvPr/>
        </p:nvSpPr>
        <p:spPr>
          <a:xfrm>
            <a:off x="3817620" y="384238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noFill/>
          <a:ln w="3175">
            <a:solidFill>
              <a:schemeClr val="bg1">
                <a:lumMod val="6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</a:extLst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34"/>
          <p:cNvSpPr txBox="1"/>
          <p:nvPr/>
        </p:nvSpPr>
        <p:spPr>
          <a:xfrm>
            <a:off x="3934463" y="3816985"/>
            <a:ext cx="224155" cy="412934"/>
          </a:xfrm>
          <a:prstGeom prst="rect">
            <a:avLst/>
          </a:prstGeom>
          <a:ln>
            <a:noFill/>
          </a:ln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600" b="1" dirty="0">
                <a:solidFill>
                  <a:schemeClr val="bg1">
                    <a:lumMod val="65000"/>
                  </a:schemeClr>
                </a:solidFill>
                <a:latin typeface="Courier New" panose="02070409020205020404"/>
                <a:cs typeface="Courier New" panose="02070409020205020404"/>
              </a:rPr>
              <a:t>e</a:t>
            </a:r>
          </a:p>
        </p:txBody>
      </p:sp>
      <p:sp>
        <p:nvSpPr>
          <p:cNvPr id="41" name="object 35"/>
          <p:cNvSpPr/>
          <p:nvPr/>
        </p:nvSpPr>
        <p:spPr>
          <a:xfrm>
            <a:off x="2674620" y="452818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noFill/>
          <a:ln w="3175">
            <a:solidFill>
              <a:schemeClr val="bg1">
                <a:lumMod val="6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85000"/>
                  </a:schemeClr>
                </a:solidFill>
              </a14:hiddenFill>
            </a:ext>
          </a:extLst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36"/>
          <p:cNvSpPr txBox="1"/>
          <p:nvPr/>
        </p:nvSpPr>
        <p:spPr>
          <a:xfrm>
            <a:off x="2791463" y="4502785"/>
            <a:ext cx="224155" cy="412934"/>
          </a:xfrm>
          <a:prstGeom prst="rect">
            <a:avLst/>
          </a:prstGeom>
          <a:ln>
            <a:noFill/>
          </a:ln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600" b="1" dirty="0">
                <a:solidFill>
                  <a:schemeClr val="bg1">
                    <a:lumMod val="65000"/>
                  </a:schemeClr>
                </a:solidFill>
                <a:latin typeface="Courier New" panose="02070409020205020404"/>
                <a:cs typeface="Courier New" panose="02070409020205020404"/>
              </a:rPr>
              <a:t>f</a:t>
            </a:r>
          </a:p>
        </p:txBody>
      </p:sp>
      <p:sp>
        <p:nvSpPr>
          <p:cNvPr id="43" name="object 37"/>
          <p:cNvSpPr/>
          <p:nvPr/>
        </p:nvSpPr>
        <p:spPr>
          <a:xfrm>
            <a:off x="1531620" y="384238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noFill/>
          <a:ln w="3175">
            <a:solidFill>
              <a:schemeClr val="bg1">
                <a:lumMod val="6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</a:extLst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38"/>
          <p:cNvSpPr txBox="1"/>
          <p:nvPr/>
        </p:nvSpPr>
        <p:spPr>
          <a:xfrm>
            <a:off x="1648463" y="3816985"/>
            <a:ext cx="224155" cy="412934"/>
          </a:xfrm>
          <a:prstGeom prst="rect">
            <a:avLst/>
          </a:prstGeom>
          <a:ln>
            <a:noFill/>
          </a:ln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600" b="1" dirty="0">
                <a:solidFill>
                  <a:schemeClr val="bg1">
                    <a:lumMod val="65000"/>
                  </a:schemeClr>
                </a:solidFill>
                <a:latin typeface="Courier New" panose="02070409020205020404"/>
                <a:cs typeface="Courier New" panose="02070409020205020404"/>
              </a:rPr>
              <a:t>g</a:t>
            </a:r>
          </a:p>
        </p:txBody>
      </p:sp>
      <p:cxnSp>
        <p:nvCxnSpPr>
          <p:cNvPr id="47" name="直接连接符 46"/>
          <p:cNvCxnSpPr/>
          <p:nvPr/>
        </p:nvCxnSpPr>
        <p:spPr>
          <a:xfrm>
            <a:off x="2265048" y="2242821"/>
            <a:ext cx="1623695" cy="166878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/>
          <p:cNvCxnSpPr/>
          <p:nvPr/>
        </p:nvCxnSpPr>
        <p:spPr>
          <a:xfrm>
            <a:off x="3599817" y="2252347"/>
            <a:ext cx="369571" cy="159575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连接符 48"/>
          <p:cNvCxnSpPr/>
          <p:nvPr/>
        </p:nvCxnSpPr>
        <p:spPr>
          <a:xfrm>
            <a:off x="2157095" y="2252345"/>
            <a:ext cx="746760" cy="225044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连接符 49"/>
          <p:cNvCxnSpPr/>
          <p:nvPr/>
        </p:nvCxnSpPr>
        <p:spPr>
          <a:xfrm flipH="1">
            <a:off x="3148968" y="4272282"/>
            <a:ext cx="739775" cy="40576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object 57"/>
          <p:cNvGraphicFramePr>
            <a:graphicFrameLocks noGrp="1"/>
          </p:cNvGraphicFramePr>
          <p:nvPr/>
        </p:nvGraphicFramePr>
        <p:xfrm>
          <a:off x="1447800" y="5366385"/>
          <a:ext cx="2743200" cy="45770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708">
                <a:tc>
                  <a:txBody>
                    <a:bodyPr/>
                    <a:lstStyle/>
                    <a:p>
                      <a:pPr marL="254000">
                        <a:lnSpc>
                          <a:spcPts val="2940"/>
                        </a:lnSpc>
                      </a:pPr>
                      <a:r>
                        <a:rPr sz="2700" b="1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R</a:t>
                      </a:r>
                      <a:r>
                        <a:rPr sz="2300" b="1" baseline="-31000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0</a:t>
                      </a:r>
                      <a:endParaRPr sz="2300" baseline="-31000">
                        <a:latin typeface="DejaVu Serif" panose="02060603050605020204"/>
                        <a:cs typeface="DejaVu Serif" panose="02060603050605020204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254000">
                        <a:lnSpc>
                          <a:spcPts val="2940"/>
                        </a:lnSpc>
                      </a:pPr>
                      <a:r>
                        <a:rPr sz="2700" b="1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R</a:t>
                      </a:r>
                      <a:r>
                        <a:rPr sz="2300" b="1" baseline="-31000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1</a:t>
                      </a:r>
                      <a:endParaRPr sz="2300" baseline="-31000">
                        <a:latin typeface="DejaVu Serif" panose="02060603050605020204"/>
                        <a:cs typeface="DejaVu Serif" panose="02060603050605020204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254000">
                        <a:lnSpc>
                          <a:spcPts val="2940"/>
                        </a:lnSpc>
                      </a:pPr>
                      <a:r>
                        <a:rPr sz="2700" b="1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R</a:t>
                      </a:r>
                      <a:r>
                        <a:rPr sz="2300" b="1" baseline="-31000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2</a:t>
                      </a:r>
                      <a:endParaRPr sz="2300" baseline="-31000">
                        <a:latin typeface="DejaVu Serif" panose="02060603050605020204"/>
                        <a:cs typeface="DejaVu Serif" panose="02060603050605020204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F0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2" name="直接连接符 11"/>
          <p:cNvCxnSpPr/>
          <p:nvPr/>
        </p:nvCxnSpPr>
        <p:spPr>
          <a:xfrm flipH="1">
            <a:off x="1417956" y="2148842"/>
            <a:ext cx="594995" cy="57721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 flipH="1">
            <a:off x="1544959" y="2851788"/>
            <a:ext cx="2704465" cy="127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 flipH="1" flipV="1">
            <a:off x="3771904" y="2184400"/>
            <a:ext cx="577215" cy="52324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连接符 50"/>
          <p:cNvCxnSpPr/>
          <p:nvPr/>
        </p:nvCxnSpPr>
        <p:spPr>
          <a:xfrm flipH="1">
            <a:off x="2463803" y="1968500"/>
            <a:ext cx="87503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连接符 51"/>
          <p:cNvCxnSpPr/>
          <p:nvPr/>
        </p:nvCxnSpPr>
        <p:spPr>
          <a:xfrm flipH="1">
            <a:off x="1499236" y="2184401"/>
            <a:ext cx="1929765" cy="6223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连接符 52"/>
          <p:cNvCxnSpPr/>
          <p:nvPr/>
        </p:nvCxnSpPr>
        <p:spPr>
          <a:xfrm flipH="1" flipV="1">
            <a:off x="2428241" y="2130428"/>
            <a:ext cx="1902460" cy="66738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object 37"/>
          <p:cNvSpPr/>
          <p:nvPr/>
        </p:nvSpPr>
        <p:spPr>
          <a:xfrm>
            <a:off x="7498399" y="458914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noFill/>
          <a:ln w="3175">
            <a:solidFill>
              <a:srgbClr val="0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</a:extLst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38"/>
          <p:cNvSpPr txBox="1"/>
          <p:nvPr/>
        </p:nvSpPr>
        <p:spPr>
          <a:xfrm>
            <a:off x="7614923" y="4563745"/>
            <a:ext cx="224155" cy="4129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600" b="1" dirty="0">
                <a:solidFill>
                  <a:srgbClr val="191919"/>
                </a:solidFill>
                <a:latin typeface="Courier New" panose="02070409020205020404"/>
                <a:cs typeface="Courier New" panose="02070409020205020404"/>
              </a:rPr>
              <a:t>g</a:t>
            </a:r>
            <a:endParaRPr sz="2600">
              <a:latin typeface="Courier New" panose="02070409020205020404"/>
              <a:cs typeface="Courier New" panose="02070409020205020404"/>
            </a:endParaRPr>
          </a:p>
        </p:txBody>
      </p:sp>
      <p:sp>
        <p:nvSpPr>
          <p:cNvPr id="71" name="object 35"/>
          <p:cNvSpPr/>
          <p:nvPr/>
        </p:nvSpPr>
        <p:spPr>
          <a:xfrm>
            <a:off x="7498399" y="413194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noFill/>
          <a:ln w="3175">
            <a:solidFill>
              <a:srgbClr val="0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85000"/>
                  </a:schemeClr>
                </a:solidFill>
              </a14:hiddenFill>
            </a:ext>
          </a:extLst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36"/>
          <p:cNvSpPr txBox="1"/>
          <p:nvPr/>
        </p:nvSpPr>
        <p:spPr>
          <a:xfrm>
            <a:off x="7614923" y="4106545"/>
            <a:ext cx="224155" cy="4129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600" b="1" dirty="0">
                <a:solidFill>
                  <a:srgbClr val="191919"/>
                </a:solidFill>
                <a:latin typeface="Courier New" panose="02070409020205020404"/>
                <a:cs typeface="Courier New" panose="02070409020205020404"/>
              </a:rPr>
              <a:t>f</a:t>
            </a:r>
            <a:endParaRPr sz="2600">
              <a:latin typeface="Courier New" panose="02070409020205020404"/>
              <a:cs typeface="Courier New" panose="02070409020205020404"/>
            </a:endParaRPr>
          </a:p>
        </p:txBody>
      </p:sp>
      <p:sp>
        <p:nvSpPr>
          <p:cNvPr id="91" name="object 35"/>
          <p:cNvSpPr/>
          <p:nvPr/>
        </p:nvSpPr>
        <p:spPr>
          <a:xfrm>
            <a:off x="7498399" y="367220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noFill/>
          <a:ln w="3175">
            <a:solidFill>
              <a:srgbClr val="0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85000"/>
                  </a:schemeClr>
                </a:solidFill>
              </a14:hiddenFill>
            </a:ext>
          </a:extLst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36"/>
          <p:cNvSpPr txBox="1"/>
          <p:nvPr/>
        </p:nvSpPr>
        <p:spPr>
          <a:xfrm>
            <a:off x="7614923" y="3646805"/>
            <a:ext cx="224155" cy="4129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sz="2600" b="1" dirty="0">
                <a:solidFill>
                  <a:srgbClr val="191919"/>
                </a:solidFill>
                <a:latin typeface="Courier New" panose="02070409020205020404"/>
                <a:cs typeface="Courier New" panose="02070409020205020404"/>
              </a:rPr>
              <a:t>e</a:t>
            </a:r>
          </a:p>
        </p:txBody>
      </p:sp>
      <p:sp>
        <p:nvSpPr>
          <p:cNvPr id="93" name="object 35"/>
          <p:cNvSpPr/>
          <p:nvPr/>
        </p:nvSpPr>
        <p:spPr>
          <a:xfrm>
            <a:off x="7498399" y="321246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noFill/>
          <a:ln w="3175">
            <a:solidFill>
              <a:srgbClr val="0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85000"/>
                  </a:schemeClr>
                </a:solidFill>
              </a14:hiddenFill>
            </a:ext>
          </a:extLst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36"/>
          <p:cNvSpPr txBox="1"/>
          <p:nvPr/>
        </p:nvSpPr>
        <p:spPr>
          <a:xfrm>
            <a:off x="7614923" y="3187065"/>
            <a:ext cx="224155" cy="4129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sz="2600" b="1" dirty="0">
                <a:solidFill>
                  <a:srgbClr val="191919"/>
                </a:solidFill>
                <a:latin typeface="Courier New" panose="02070409020205020404"/>
                <a:cs typeface="Courier New" panose="02070409020205020404"/>
              </a:rPr>
              <a:t>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object 3"/>
          <p:cNvGrpSpPr/>
          <p:nvPr/>
        </p:nvGrpSpPr>
        <p:grpSpPr>
          <a:xfrm>
            <a:off x="4275455" y="2707640"/>
            <a:ext cx="457200" cy="457200"/>
            <a:chOff x="2514600" y="3429000"/>
            <a:chExt cx="457200" cy="457200"/>
          </a:xfrm>
          <a:solidFill>
            <a:srgbClr val="C00000"/>
          </a:solidFill>
        </p:grpSpPr>
        <p:sp>
          <p:nvSpPr>
            <p:cNvPr id="58" name="object 4"/>
            <p:cNvSpPr/>
            <p:nvPr/>
          </p:nvSpPr>
          <p:spPr>
            <a:xfrm>
              <a:off x="2514600" y="3429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1585" y="4509"/>
                  </a:lnTo>
                  <a:lnTo>
                    <a:pt x="138231" y="17502"/>
                  </a:lnTo>
                  <a:lnTo>
                    <a:pt x="99342" y="38174"/>
                  </a:lnTo>
                  <a:lnTo>
                    <a:pt x="65722" y="65722"/>
                  </a:lnTo>
                  <a:lnTo>
                    <a:pt x="38174" y="99342"/>
                  </a:lnTo>
                  <a:lnTo>
                    <a:pt x="17502" y="138231"/>
                  </a:lnTo>
                  <a:lnTo>
                    <a:pt x="4509" y="181585"/>
                  </a:lnTo>
                  <a:lnTo>
                    <a:pt x="0" y="228600"/>
                  </a:lnTo>
                  <a:lnTo>
                    <a:pt x="4509" y="275614"/>
                  </a:lnTo>
                  <a:lnTo>
                    <a:pt x="17502" y="318968"/>
                  </a:lnTo>
                  <a:lnTo>
                    <a:pt x="38174" y="357857"/>
                  </a:lnTo>
                  <a:lnTo>
                    <a:pt x="65722" y="391477"/>
                  </a:lnTo>
                  <a:lnTo>
                    <a:pt x="99342" y="419025"/>
                  </a:lnTo>
                  <a:lnTo>
                    <a:pt x="138231" y="439697"/>
                  </a:lnTo>
                  <a:lnTo>
                    <a:pt x="181585" y="452690"/>
                  </a:lnTo>
                  <a:lnTo>
                    <a:pt x="228600" y="457200"/>
                  </a:lnTo>
                  <a:lnTo>
                    <a:pt x="275614" y="452690"/>
                  </a:lnTo>
                  <a:lnTo>
                    <a:pt x="318968" y="439697"/>
                  </a:lnTo>
                  <a:lnTo>
                    <a:pt x="357857" y="419025"/>
                  </a:lnTo>
                  <a:lnTo>
                    <a:pt x="391477" y="391477"/>
                  </a:lnTo>
                  <a:lnTo>
                    <a:pt x="419025" y="357857"/>
                  </a:lnTo>
                  <a:lnTo>
                    <a:pt x="439697" y="318968"/>
                  </a:lnTo>
                  <a:lnTo>
                    <a:pt x="452690" y="275614"/>
                  </a:lnTo>
                  <a:lnTo>
                    <a:pt x="457200" y="228600"/>
                  </a:lnTo>
                  <a:lnTo>
                    <a:pt x="452690" y="181585"/>
                  </a:lnTo>
                  <a:lnTo>
                    <a:pt x="439697" y="138231"/>
                  </a:lnTo>
                  <a:lnTo>
                    <a:pt x="419025" y="99342"/>
                  </a:lnTo>
                  <a:lnTo>
                    <a:pt x="391477" y="65722"/>
                  </a:lnTo>
                  <a:lnTo>
                    <a:pt x="357857" y="38174"/>
                  </a:lnTo>
                  <a:lnTo>
                    <a:pt x="318968" y="17502"/>
                  </a:lnTo>
                  <a:lnTo>
                    <a:pt x="275614" y="4509"/>
                  </a:lnTo>
                  <a:lnTo>
                    <a:pt x="228600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"/>
            <p:cNvSpPr/>
            <p:nvPr/>
          </p:nvSpPr>
          <p:spPr>
            <a:xfrm>
              <a:off x="2514600" y="3429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275614" y="4509"/>
                  </a:lnTo>
                  <a:lnTo>
                    <a:pt x="318968" y="17502"/>
                  </a:lnTo>
                  <a:lnTo>
                    <a:pt x="357857" y="38174"/>
                  </a:lnTo>
                  <a:lnTo>
                    <a:pt x="391477" y="65722"/>
                  </a:lnTo>
                  <a:lnTo>
                    <a:pt x="419025" y="99342"/>
                  </a:lnTo>
                  <a:lnTo>
                    <a:pt x="439697" y="138231"/>
                  </a:lnTo>
                  <a:lnTo>
                    <a:pt x="452690" y="181585"/>
                  </a:lnTo>
                  <a:lnTo>
                    <a:pt x="457200" y="228600"/>
                  </a:lnTo>
                  <a:lnTo>
                    <a:pt x="452690" y="275614"/>
                  </a:lnTo>
                  <a:lnTo>
                    <a:pt x="439697" y="318968"/>
                  </a:lnTo>
                  <a:lnTo>
                    <a:pt x="419025" y="357857"/>
                  </a:lnTo>
                  <a:lnTo>
                    <a:pt x="391477" y="391477"/>
                  </a:lnTo>
                  <a:lnTo>
                    <a:pt x="357857" y="419025"/>
                  </a:lnTo>
                  <a:lnTo>
                    <a:pt x="318968" y="439697"/>
                  </a:lnTo>
                  <a:lnTo>
                    <a:pt x="275614" y="452690"/>
                  </a:lnTo>
                  <a:lnTo>
                    <a:pt x="228600" y="457200"/>
                  </a:lnTo>
                  <a:lnTo>
                    <a:pt x="181585" y="452690"/>
                  </a:lnTo>
                  <a:lnTo>
                    <a:pt x="138231" y="439697"/>
                  </a:lnTo>
                  <a:lnTo>
                    <a:pt x="99342" y="419025"/>
                  </a:lnTo>
                  <a:lnTo>
                    <a:pt x="65722" y="391477"/>
                  </a:lnTo>
                  <a:lnTo>
                    <a:pt x="38174" y="357857"/>
                  </a:lnTo>
                  <a:lnTo>
                    <a:pt x="17502" y="318968"/>
                  </a:lnTo>
                  <a:lnTo>
                    <a:pt x="4509" y="275614"/>
                  </a:lnTo>
                  <a:lnTo>
                    <a:pt x="0" y="228600"/>
                  </a:lnTo>
                  <a:lnTo>
                    <a:pt x="4509" y="181585"/>
                  </a:lnTo>
                  <a:lnTo>
                    <a:pt x="17502" y="138231"/>
                  </a:lnTo>
                  <a:lnTo>
                    <a:pt x="38174" y="99342"/>
                  </a:lnTo>
                  <a:lnTo>
                    <a:pt x="65722" y="65722"/>
                  </a:lnTo>
                  <a:lnTo>
                    <a:pt x="99342" y="38174"/>
                  </a:lnTo>
                  <a:lnTo>
                    <a:pt x="138231" y="17502"/>
                  </a:lnTo>
                  <a:lnTo>
                    <a:pt x="181585" y="4509"/>
                  </a:lnTo>
                  <a:lnTo>
                    <a:pt x="228600" y="0"/>
                  </a:lnTo>
                  <a:close/>
                </a:path>
                <a:path w="457200" h="457200">
                  <a:moveTo>
                    <a:pt x="0" y="0"/>
                  </a:moveTo>
                  <a:lnTo>
                    <a:pt x="0" y="0"/>
                  </a:lnTo>
                </a:path>
                <a:path w="457200" h="457200">
                  <a:moveTo>
                    <a:pt x="457200" y="457200"/>
                  </a:moveTo>
                  <a:lnTo>
                    <a:pt x="457200" y="457200"/>
                  </a:lnTo>
                </a:path>
              </a:pathLst>
            </a:custGeom>
            <a:grpFill/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7" name="object 3"/>
          <p:cNvGrpSpPr/>
          <p:nvPr/>
        </p:nvGrpSpPr>
        <p:grpSpPr>
          <a:xfrm>
            <a:off x="1074420" y="2707640"/>
            <a:ext cx="457200" cy="457200"/>
            <a:chOff x="2514600" y="3429000"/>
            <a:chExt cx="457200" cy="457200"/>
          </a:xfrm>
          <a:solidFill>
            <a:srgbClr val="FFFF00"/>
          </a:solidFill>
        </p:grpSpPr>
        <p:sp>
          <p:nvSpPr>
            <p:cNvPr id="28" name="object 4"/>
            <p:cNvSpPr/>
            <p:nvPr/>
          </p:nvSpPr>
          <p:spPr>
            <a:xfrm>
              <a:off x="2514600" y="3429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1585" y="4509"/>
                  </a:lnTo>
                  <a:lnTo>
                    <a:pt x="138231" y="17502"/>
                  </a:lnTo>
                  <a:lnTo>
                    <a:pt x="99342" y="38174"/>
                  </a:lnTo>
                  <a:lnTo>
                    <a:pt x="65722" y="65722"/>
                  </a:lnTo>
                  <a:lnTo>
                    <a:pt x="38174" y="99342"/>
                  </a:lnTo>
                  <a:lnTo>
                    <a:pt x="17502" y="138231"/>
                  </a:lnTo>
                  <a:lnTo>
                    <a:pt x="4509" y="181585"/>
                  </a:lnTo>
                  <a:lnTo>
                    <a:pt x="0" y="228600"/>
                  </a:lnTo>
                  <a:lnTo>
                    <a:pt x="4509" y="275614"/>
                  </a:lnTo>
                  <a:lnTo>
                    <a:pt x="17502" y="318968"/>
                  </a:lnTo>
                  <a:lnTo>
                    <a:pt x="38174" y="357857"/>
                  </a:lnTo>
                  <a:lnTo>
                    <a:pt x="65722" y="391477"/>
                  </a:lnTo>
                  <a:lnTo>
                    <a:pt x="99342" y="419025"/>
                  </a:lnTo>
                  <a:lnTo>
                    <a:pt x="138231" y="439697"/>
                  </a:lnTo>
                  <a:lnTo>
                    <a:pt x="181585" y="452690"/>
                  </a:lnTo>
                  <a:lnTo>
                    <a:pt x="228600" y="457200"/>
                  </a:lnTo>
                  <a:lnTo>
                    <a:pt x="275614" y="452690"/>
                  </a:lnTo>
                  <a:lnTo>
                    <a:pt x="318968" y="439697"/>
                  </a:lnTo>
                  <a:lnTo>
                    <a:pt x="357857" y="419025"/>
                  </a:lnTo>
                  <a:lnTo>
                    <a:pt x="391477" y="391477"/>
                  </a:lnTo>
                  <a:lnTo>
                    <a:pt x="419025" y="357857"/>
                  </a:lnTo>
                  <a:lnTo>
                    <a:pt x="439697" y="318968"/>
                  </a:lnTo>
                  <a:lnTo>
                    <a:pt x="452690" y="275614"/>
                  </a:lnTo>
                  <a:lnTo>
                    <a:pt x="457200" y="228600"/>
                  </a:lnTo>
                  <a:lnTo>
                    <a:pt x="452690" y="181585"/>
                  </a:lnTo>
                  <a:lnTo>
                    <a:pt x="439697" y="138231"/>
                  </a:lnTo>
                  <a:lnTo>
                    <a:pt x="419025" y="99342"/>
                  </a:lnTo>
                  <a:lnTo>
                    <a:pt x="391477" y="65722"/>
                  </a:lnTo>
                  <a:lnTo>
                    <a:pt x="357857" y="38174"/>
                  </a:lnTo>
                  <a:lnTo>
                    <a:pt x="318968" y="17502"/>
                  </a:lnTo>
                  <a:lnTo>
                    <a:pt x="275614" y="4509"/>
                  </a:lnTo>
                  <a:lnTo>
                    <a:pt x="228600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5"/>
            <p:cNvSpPr/>
            <p:nvPr/>
          </p:nvSpPr>
          <p:spPr>
            <a:xfrm>
              <a:off x="2514600" y="3429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275614" y="4509"/>
                  </a:lnTo>
                  <a:lnTo>
                    <a:pt x="318968" y="17502"/>
                  </a:lnTo>
                  <a:lnTo>
                    <a:pt x="357857" y="38174"/>
                  </a:lnTo>
                  <a:lnTo>
                    <a:pt x="391477" y="65722"/>
                  </a:lnTo>
                  <a:lnTo>
                    <a:pt x="419025" y="99342"/>
                  </a:lnTo>
                  <a:lnTo>
                    <a:pt x="439697" y="138231"/>
                  </a:lnTo>
                  <a:lnTo>
                    <a:pt x="452690" y="181585"/>
                  </a:lnTo>
                  <a:lnTo>
                    <a:pt x="457200" y="228600"/>
                  </a:lnTo>
                  <a:lnTo>
                    <a:pt x="452690" y="275614"/>
                  </a:lnTo>
                  <a:lnTo>
                    <a:pt x="439697" y="318968"/>
                  </a:lnTo>
                  <a:lnTo>
                    <a:pt x="419025" y="357857"/>
                  </a:lnTo>
                  <a:lnTo>
                    <a:pt x="391477" y="391477"/>
                  </a:lnTo>
                  <a:lnTo>
                    <a:pt x="357857" y="419025"/>
                  </a:lnTo>
                  <a:lnTo>
                    <a:pt x="318968" y="439697"/>
                  </a:lnTo>
                  <a:lnTo>
                    <a:pt x="275614" y="452690"/>
                  </a:lnTo>
                  <a:lnTo>
                    <a:pt x="228600" y="457200"/>
                  </a:lnTo>
                  <a:lnTo>
                    <a:pt x="181585" y="452690"/>
                  </a:lnTo>
                  <a:lnTo>
                    <a:pt x="138231" y="439697"/>
                  </a:lnTo>
                  <a:lnTo>
                    <a:pt x="99342" y="419025"/>
                  </a:lnTo>
                  <a:lnTo>
                    <a:pt x="65722" y="391477"/>
                  </a:lnTo>
                  <a:lnTo>
                    <a:pt x="38174" y="357857"/>
                  </a:lnTo>
                  <a:lnTo>
                    <a:pt x="17502" y="318968"/>
                  </a:lnTo>
                  <a:lnTo>
                    <a:pt x="4509" y="275614"/>
                  </a:lnTo>
                  <a:lnTo>
                    <a:pt x="0" y="228600"/>
                  </a:lnTo>
                  <a:lnTo>
                    <a:pt x="4509" y="181585"/>
                  </a:lnTo>
                  <a:lnTo>
                    <a:pt x="17502" y="138231"/>
                  </a:lnTo>
                  <a:lnTo>
                    <a:pt x="38174" y="99342"/>
                  </a:lnTo>
                  <a:lnTo>
                    <a:pt x="65722" y="65722"/>
                  </a:lnTo>
                  <a:lnTo>
                    <a:pt x="99342" y="38174"/>
                  </a:lnTo>
                  <a:lnTo>
                    <a:pt x="138231" y="17502"/>
                  </a:lnTo>
                  <a:lnTo>
                    <a:pt x="181585" y="4509"/>
                  </a:lnTo>
                  <a:lnTo>
                    <a:pt x="228600" y="0"/>
                  </a:lnTo>
                  <a:close/>
                </a:path>
                <a:path w="457200" h="457200">
                  <a:moveTo>
                    <a:pt x="0" y="0"/>
                  </a:moveTo>
                  <a:lnTo>
                    <a:pt x="0" y="0"/>
                  </a:lnTo>
                </a:path>
                <a:path w="457200" h="457200">
                  <a:moveTo>
                    <a:pt x="457200" y="457200"/>
                  </a:moveTo>
                  <a:lnTo>
                    <a:pt x="457200" y="457200"/>
                  </a:lnTo>
                </a:path>
              </a:pathLst>
            </a:custGeom>
            <a:grpFill/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4" name="object 3"/>
          <p:cNvGrpSpPr/>
          <p:nvPr/>
        </p:nvGrpSpPr>
        <p:grpSpPr>
          <a:xfrm>
            <a:off x="1988820" y="1795145"/>
            <a:ext cx="457200" cy="457200"/>
            <a:chOff x="2514600" y="3429000"/>
            <a:chExt cx="457200" cy="457200"/>
          </a:xfrm>
          <a:solidFill>
            <a:srgbClr val="00FFFF"/>
          </a:solidFill>
        </p:grpSpPr>
        <p:sp>
          <p:nvSpPr>
            <p:cNvPr id="25" name="object 4"/>
            <p:cNvSpPr/>
            <p:nvPr/>
          </p:nvSpPr>
          <p:spPr>
            <a:xfrm>
              <a:off x="2514600" y="3429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1585" y="4509"/>
                  </a:lnTo>
                  <a:lnTo>
                    <a:pt x="138231" y="17502"/>
                  </a:lnTo>
                  <a:lnTo>
                    <a:pt x="99342" y="38174"/>
                  </a:lnTo>
                  <a:lnTo>
                    <a:pt x="65722" y="65722"/>
                  </a:lnTo>
                  <a:lnTo>
                    <a:pt x="38174" y="99342"/>
                  </a:lnTo>
                  <a:lnTo>
                    <a:pt x="17502" y="138231"/>
                  </a:lnTo>
                  <a:lnTo>
                    <a:pt x="4509" y="181585"/>
                  </a:lnTo>
                  <a:lnTo>
                    <a:pt x="0" y="228600"/>
                  </a:lnTo>
                  <a:lnTo>
                    <a:pt x="4509" y="275614"/>
                  </a:lnTo>
                  <a:lnTo>
                    <a:pt x="17502" y="318968"/>
                  </a:lnTo>
                  <a:lnTo>
                    <a:pt x="38174" y="357857"/>
                  </a:lnTo>
                  <a:lnTo>
                    <a:pt x="65722" y="391477"/>
                  </a:lnTo>
                  <a:lnTo>
                    <a:pt x="99342" y="419025"/>
                  </a:lnTo>
                  <a:lnTo>
                    <a:pt x="138231" y="439697"/>
                  </a:lnTo>
                  <a:lnTo>
                    <a:pt x="181585" y="452690"/>
                  </a:lnTo>
                  <a:lnTo>
                    <a:pt x="228600" y="457200"/>
                  </a:lnTo>
                  <a:lnTo>
                    <a:pt x="275614" y="452690"/>
                  </a:lnTo>
                  <a:lnTo>
                    <a:pt x="318968" y="439697"/>
                  </a:lnTo>
                  <a:lnTo>
                    <a:pt x="357857" y="419025"/>
                  </a:lnTo>
                  <a:lnTo>
                    <a:pt x="391477" y="391477"/>
                  </a:lnTo>
                  <a:lnTo>
                    <a:pt x="419025" y="357857"/>
                  </a:lnTo>
                  <a:lnTo>
                    <a:pt x="439697" y="318968"/>
                  </a:lnTo>
                  <a:lnTo>
                    <a:pt x="452690" y="275614"/>
                  </a:lnTo>
                  <a:lnTo>
                    <a:pt x="457200" y="228600"/>
                  </a:lnTo>
                  <a:lnTo>
                    <a:pt x="452690" y="181585"/>
                  </a:lnTo>
                  <a:lnTo>
                    <a:pt x="439697" y="138231"/>
                  </a:lnTo>
                  <a:lnTo>
                    <a:pt x="419025" y="99342"/>
                  </a:lnTo>
                  <a:lnTo>
                    <a:pt x="391477" y="65722"/>
                  </a:lnTo>
                  <a:lnTo>
                    <a:pt x="357857" y="38174"/>
                  </a:lnTo>
                  <a:lnTo>
                    <a:pt x="318968" y="17502"/>
                  </a:lnTo>
                  <a:lnTo>
                    <a:pt x="275614" y="4509"/>
                  </a:lnTo>
                  <a:lnTo>
                    <a:pt x="228600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5"/>
            <p:cNvSpPr/>
            <p:nvPr/>
          </p:nvSpPr>
          <p:spPr>
            <a:xfrm>
              <a:off x="2514600" y="3429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275614" y="4509"/>
                  </a:lnTo>
                  <a:lnTo>
                    <a:pt x="318968" y="17502"/>
                  </a:lnTo>
                  <a:lnTo>
                    <a:pt x="357857" y="38174"/>
                  </a:lnTo>
                  <a:lnTo>
                    <a:pt x="391477" y="65722"/>
                  </a:lnTo>
                  <a:lnTo>
                    <a:pt x="419025" y="99342"/>
                  </a:lnTo>
                  <a:lnTo>
                    <a:pt x="439697" y="138231"/>
                  </a:lnTo>
                  <a:lnTo>
                    <a:pt x="452690" y="181585"/>
                  </a:lnTo>
                  <a:lnTo>
                    <a:pt x="457200" y="228600"/>
                  </a:lnTo>
                  <a:lnTo>
                    <a:pt x="452690" y="275614"/>
                  </a:lnTo>
                  <a:lnTo>
                    <a:pt x="439697" y="318968"/>
                  </a:lnTo>
                  <a:lnTo>
                    <a:pt x="419025" y="357857"/>
                  </a:lnTo>
                  <a:lnTo>
                    <a:pt x="391477" y="391477"/>
                  </a:lnTo>
                  <a:lnTo>
                    <a:pt x="357857" y="419025"/>
                  </a:lnTo>
                  <a:lnTo>
                    <a:pt x="318968" y="439697"/>
                  </a:lnTo>
                  <a:lnTo>
                    <a:pt x="275614" y="452690"/>
                  </a:lnTo>
                  <a:lnTo>
                    <a:pt x="228600" y="457200"/>
                  </a:lnTo>
                  <a:lnTo>
                    <a:pt x="181585" y="452690"/>
                  </a:lnTo>
                  <a:lnTo>
                    <a:pt x="138231" y="439697"/>
                  </a:lnTo>
                  <a:lnTo>
                    <a:pt x="99342" y="419025"/>
                  </a:lnTo>
                  <a:lnTo>
                    <a:pt x="65722" y="391477"/>
                  </a:lnTo>
                  <a:lnTo>
                    <a:pt x="38174" y="357857"/>
                  </a:lnTo>
                  <a:lnTo>
                    <a:pt x="17502" y="318968"/>
                  </a:lnTo>
                  <a:lnTo>
                    <a:pt x="4509" y="275614"/>
                  </a:lnTo>
                  <a:lnTo>
                    <a:pt x="0" y="228600"/>
                  </a:lnTo>
                  <a:lnTo>
                    <a:pt x="4509" y="181585"/>
                  </a:lnTo>
                  <a:lnTo>
                    <a:pt x="17502" y="138231"/>
                  </a:lnTo>
                  <a:lnTo>
                    <a:pt x="38174" y="99342"/>
                  </a:lnTo>
                  <a:lnTo>
                    <a:pt x="65722" y="65722"/>
                  </a:lnTo>
                  <a:lnTo>
                    <a:pt x="99342" y="38174"/>
                  </a:lnTo>
                  <a:lnTo>
                    <a:pt x="138231" y="17502"/>
                  </a:lnTo>
                  <a:lnTo>
                    <a:pt x="181585" y="4509"/>
                  </a:lnTo>
                  <a:lnTo>
                    <a:pt x="228600" y="0"/>
                  </a:lnTo>
                  <a:close/>
                </a:path>
                <a:path w="457200" h="457200">
                  <a:moveTo>
                    <a:pt x="0" y="0"/>
                  </a:moveTo>
                  <a:lnTo>
                    <a:pt x="0" y="0"/>
                  </a:lnTo>
                </a:path>
                <a:path w="457200" h="457200">
                  <a:moveTo>
                    <a:pt x="457200" y="457200"/>
                  </a:moveTo>
                  <a:lnTo>
                    <a:pt x="457200" y="457200"/>
                  </a:lnTo>
                </a:path>
              </a:pathLst>
            </a:custGeom>
            <a:grpFill/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1" name="object 3"/>
          <p:cNvGrpSpPr/>
          <p:nvPr/>
        </p:nvGrpSpPr>
        <p:grpSpPr>
          <a:xfrm>
            <a:off x="3361055" y="1795145"/>
            <a:ext cx="457200" cy="457200"/>
            <a:chOff x="2514600" y="3429000"/>
            <a:chExt cx="457200" cy="457200"/>
          </a:xfrm>
        </p:grpSpPr>
        <p:sp>
          <p:nvSpPr>
            <p:cNvPr id="22" name="object 4"/>
            <p:cNvSpPr/>
            <p:nvPr/>
          </p:nvSpPr>
          <p:spPr>
            <a:xfrm>
              <a:off x="2514600" y="3429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1585" y="4509"/>
                  </a:lnTo>
                  <a:lnTo>
                    <a:pt x="138231" y="17502"/>
                  </a:lnTo>
                  <a:lnTo>
                    <a:pt x="99342" y="38174"/>
                  </a:lnTo>
                  <a:lnTo>
                    <a:pt x="65722" y="65722"/>
                  </a:lnTo>
                  <a:lnTo>
                    <a:pt x="38174" y="99342"/>
                  </a:lnTo>
                  <a:lnTo>
                    <a:pt x="17502" y="138231"/>
                  </a:lnTo>
                  <a:lnTo>
                    <a:pt x="4509" y="181585"/>
                  </a:lnTo>
                  <a:lnTo>
                    <a:pt x="0" y="228600"/>
                  </a:lnTo>
                  <a:lnTo>
                    <a:pt x="4509" y="275614"/>
                  </a:lnTo>
                  <a:lnTo>
                    <a:pt x="17502" y="318968"/>
                  </a:lnTo>
                  <a:lnTo>
                    <a:pt x="38174" y="357857"/>
                  </a:lnTo>
                  <a:lnTo>
                    <a:pt x="65722" y="391477"/>
                  </a:lnTo>
                  <a:lnTo>
                    <a:pt x="99342" y="419025"/>
                  </a:lnTo>
                  <a:lnTo>
                    <a:pt x="138231" y="439697"/>
                  </a:lnTo>
                  <a:lnTo>
                    <a:pt x="181585" y="452690"/>
                  </a:lnTo>
                  <a:lnTo>
                    <a:pt x="228600" y="457200"/>
                  </a:lnTo>
                  <a:lnTo>
                    <a:pt x="275614" y="452690"/>
                  </a:lnTo>
                  <a:lnTo>
                    <a:pt x="318968" y="439697"/>
                  </a:lnTo>
                  <a:lnTo>
                    <a:pt x="357857" y="419025"/>
                  </a:lnTo>
                  <a:lnTo>
                    <a:pt x="391477" y="391477"/>
                  </a:lnTo>
                  <a:lnTo>
                    <a:pt x="419025" y="357857"/>
                  </a:lnTo>
                  <a:lnTo>
                    <a:pt x="439697" y="318968"/>
                  </a:lnTo>
                  <a:lnTo>
                    <a:pt x="452690" y="275614"/>
                  </a:lnTo>
                  <a:lnTo>
                    <a:pt x="457200" y="228600"/>
                  </a:lnTo>
                  <a:lnTo>
                    <a:pt x="452690" y="181585"/>
                  </a:lnTo>
                  <a:lnTo>
                    <a:pt x="439697" y="138231"/>
                  </a:lnTo>
                  <a:lnTo>
                    <a:pt x="419025" y="99342"/>
                  </a:lnTo>
                  <a:lnTo>
                    <a:pt x="391477" y="65722"/>
                  </a:lnTo>
                  <a:lnTo>
                    <a:pt x="357857" y="38174"/>
                  </a:lnTo>
                  <a:lnTo>
                    <a:pt x="318968" y="17502"/>
                  </a:lnTo>
                  <a:lnTo>
                    <a:pt x="275614" y="4509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FF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5"/>
            <p:cNvSpPr/>
            <p:nvPr/>
          </p:nvSpPr>
          <p:spPr>
            <a:xfrm>
              <a:off x="2514600" y="3429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275614" y="4509"/>
                  </a:lnTo>
                  <a:lnTo>
                    <a:pt x="318968" y="17502"/>
                  </a:lnTo>
                  <a:lnTo>
                    <a:pt x="357857" y="38174"/>
                  </a:lnTo>
                  <a:lnTo>
                    <a:pt x="391477" y="65722"/>
                  </a:lnTo>
                  <a:lnTo>
                    <a:pt x="419025" y="99342"/>
                  </a:lnTo>
                  <a:lnTo>
                    <a:pt x="439697" y="138231"/>
                  </a:lnTo>
                  <a:lnTo>
                    <a:pt x="452690" y="181585"/>
                  </a:lnTo>
                  <a:lnTo>
                    <a:pt x="457200" y="228600"/>
                  </a:lnTo>
                  <a:lnTo>
                    <a:pt x="452690" y="275614"/>
                  </a:lnTo>
                  <a:lnTo>
                    <a:pt x="439697" y="318968"/>
                  </a:lnTo>
                  <a:lnTo>
                    <a:pt x="419025" y="357857"/>
                  </a:lnTo>
                  <a:lnTo>
                    <a:pt x="391477" y="391477"/>
                  </a:lnTo>
                  <a:lnTo>
                    <a:pt x="357857" y="419025"/>
                  </a:lnTo>
                  <a:lnTo>
                    <a:pt x="318968" y="439697"/>
                  </a:lnTo>
                  <a:lnTo>
                    <a:pt x="275614" y="452690"/>
                  </a:lnTo>
                  <a:lnTo>
                    <a:pt x="228600" y="457200"/>
                  </a:lnTo>
                  <a:lnTo>
                    <a:pt x="181585" y="452690"/>
                  </a:lnTo>
                  <a:lnTo>
                    <a:pt x="138231" y="439697"/>
                  </a:lnTo>
                  <a:lnTo>
                    <a:pt x="99342" y="419025"/>
                  </a:lnTo>
                  <a:lnTo>
                    <a:pt x="65722" y="391477"/>
                  </a:lnTo>
                  <a:lnTo>
                    <a:pt x="38174" y="357857"/>
                  </a:lnTo>
                  <a:lnTo>
                    <a:pt x="17502" y="318968"/>
                  </a:lnTo>
                  <a:lnTo>
                    <a:pt x="4509" y="275614"/>
                  </a:lnTo>
                  <a:lnTo>
                    <a:pt x="0" y="228600"/>
                  </a:lnTo>
                  <a:lnTo>
                    <a:pt x="4509" y="181585"/>
                  </a:lnTo>
                  <a:lnTo>
                    <a:pt x="17502" y="138231"/>
                  </a:lnTo>
                  <a:lnTo>
                    <a:pt x="38174" y="99342"/>
                  </a:lnTo>
                  <a:lnTo>
                    <a:pt x="65722" y="65722"/>
                  </a:lnTo>
                  <a:lnTo>
                    <a:pt x="99342" y="38174"/>
                  </a:lnTo>
                  <a:lnTo>
                    <a:pt x="138231" y="17502"/>
                  </a:lnTo>
                  <a:lnTo>
                    <a:pt x="181585" y="4509"/>
                  </a:lnTo>
                  <a:lnTo>
                    <a:pt x="228600" y="0"/>
                  </a:lnTo>
                  <a:close/>
                </a:path>
                <a:path w="457200" h="457200">
                  <a:moveTo>
                    <a:pt x="0" y="0"/>
                  </a:moveTo>
                  <a:lnTo>
                    <a:pt x="0" y="0"/>
                  </a:lnTo>
                </a:path>
                <a:path w="457200" h="457200">
                  <a:moveTo>
                    <a:pt x="457200" y="457200"/>
                  </a:moveTo>
                  <a:lnTo>
                    <a:pt x="457200" y="45720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b="1" dirty="0">
                <a:latin typeface="楷体_GB2312" panose="02010609030101010101" charset="-122"/>
                <a:ea typeface="楷体_GB2312" panose="02010609030101010101" charset="-122"/>
                <a:sym typeface="+mn-ea"/>
              </a:rPr>
              <a:t>图着色算法示例</a:t>
            </a:r>
            <a:r>
              <a:rPr lang="en-US" altLang="zh-CN" b="1" dirty="0">
                <a:latin typeface="楷体_GB2312" panose="02010609030101010101" charset="-122"/>
                <a:ea typeface="楷体_GB2312" panose="02010609030101010101" charset="-122"/>
                <a:sym typeface="+mn-ea"/>
              </a:rPr>
              <a:t>2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53</a:t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object 25"/>
          <p:cNvSpPr/>
          <p:nvPr/>
        </p:nvSpPr>
        <p:spPr>
          <a:xfrm>
            <a:off x="1074420" y="269938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noFill/>
          <a:ln w="3175">
            <a:solidFill>
              <a:srgbClr val="0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</a:extLst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26"/>
          <p:cNvSpPr txBox="1"/>
          <p:nvPr/>
        </p:nvSpPr>
        <p:spPr>
          <a:xfrm>
            <a:off x="1191261" y="2673985"/>
            <a:ext cx="224155" cy="4129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600" b="1" dirty="0">
                <a:solidFill>
                  <a:srgbClr val="191919"/>
                </a:solidFill>
                <a:latin typeface="Courier New" panose="02070409020205020404"/>
                <a:cs typeface="Courier New" panose="02070409020205020404"/>
              </a:rPr>
              <a:t>a</a:t>
            </a:r>
            <a:endParaRPr sz="2600">
              <a:latin typeface="Courier New" panose="02070409020205020404"/>
              <a:cs typeface="Courier New" panose="02070409020205020404"/>
            </a:endParaRPr>
          </a:p>
        </p:txBody>
      </p:sp>
      <p:sp>
        <p:nvSpPr>
          <p:cNvPr id="33" name="object 27"/>
          <p:cNvSpPr/>
          <p:nvPr/>
        </p:nvSpPr>
        <p:spPr>
          <a:xfrm>
            <a:off x="1988820" y="178498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noFill/>
          <a:ln w="3175">
            <a:solidFill>
              <a:srgbClr val="0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00FFFF"/>
                </a:solidFill>
              </a14:hiddenFill>
            </a:ext>
          </a:extLst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28"/>
          <p:cNvSpPr txBox="1"/>
          <p:nvPr/>
        </p:nvSpPr>
        <p:spPr>
          <a:xfrm>
            <a:off x="2105663" y="1759585"/>
            <a:ext cx="224155" cy="4129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600" b="1" dirty="0">
                <a:solidFill>
                  <a:srgbClr val="191919"/>
                </a:solidFill>
                <a:latin typeface="Courier New" panose="02070409020205020404"/>
                <a:cs typeface="Courier New" panose="02070409020205020404"/>
              </a:rPr>
              <a:t>b</a:t>
            </a:r>
            <a:endParaRPr sz="2600">
              <a:latin typeface="Courier New" panose="02070409020205020404"/>
              <a:cs typeface="Courier New" panose="02070409020205020404"/>
            </a:endParaRPr>
          </a:p>
        </p:txBody>
      </p:sp>
      <p:sp>
        <p:nvSpPr>
          <p:cNvPr id="35" name="object 29"/>
          <p:cNvSpPr/>
          <p:nvPr/>
        </p:nvSpPr>
        <p:spPr>
          <a:xfrm>
            <a:off x="3360420" y="178498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noFill/>
          <a:ln w="3175">
            <a:solidFill>
              <a:srgbClr val="0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00FF"/>
                </a:solidFill>
              </a14:hiddenFill>
            </a:ext>
          </a:extLst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0"/>
          <p:cNvSpPr txBox="1"/>
          <p:nvPr/>
        </p:nvSpPr>
        <p:spPr>
          <a:xfrm>
            <a:off x="3477263" y="1759585"/>
            <a:ext cx="224155" cy="4129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600" b="1" dirty="0">
                <a:solidFill>
                  <a:srgbClr val="191919"/>
                </a:solidFill>
                <a:latin typeface="Courier New" panose="02070409020205020404"/>
                <a:cs typeface="Courier New" panose="02070409020205020404"/>
              </a:rPr>
              <a:t>c</a:t>
            </a:r>
            <a:endParaRPr sz="2600">
              <a:latin typeface="Courier New" panose="02070409020205020404"/>
              <a:cs typeface="Courier New" panose="02070409020205020404"/>
            </a:endParaRPr>
          </a:p>
        </p:txBody>
      </p:sp>
      <p:sp>
        <p:nvSpPr>
          <p:cNvPr id="37" name="object 31"/>
          <p:cNvSpPr/>
          <p:nvPr/>
        </p:nvSpPr>
        <p:spPr>
          <a:xfrm>
            <a:off x="4274820" y="270573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noFill/>
          <a:ln w="3175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75000"/>
                  </a:schemeClr>
                </a:solidFill>
              </a14:hiddenFill>
            </a:ext>
          </a:extLst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2"/>
          <p:cNvSpPr txBox="1"/>
          <p:nvPr/>
        </p:nvSpPr>
        <p:spPr>
          <a:xfrm>
            <a:off x="4391663" y="2673985"/>
            <a:ext cx="224155" cy="412934"/>
          </a:xfrm>
          <a:prstGeom prst="rect">
            <a:avLst/>
          </a:prstGeom>
          <a:ln>
            <a:noFill/>
          </a:ln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600" b="1" dirty="0">
                <a:latin typeface="Courier New" panose="02070409020205020404"/>
                <a:cs typeface="Courier New" panose="02070409020205020404"/>
              </a:rPr>
              <a:t>d</a:t>
            </a:r>
          </a:p>
        </p:txBody>
      </p:sp>
      <p:sp>
        <p:nvSpPr>
          <p:cNvPr id="39" name="object 33"/>
          <p:cNvSpPr/>
          <p:nvPr/>
        </p:nvSpPr>
        <p:spPr>
          <a:xfrm>
            <a:off x="3817620" y="384238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noFill/>
          <a:ln w="3175">
            <a:solidFill>
              <a:schemeClr val="bg1">
                <a:lumMod val="6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</a:extLst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34"/>
          <p:cNvSpPr txBox="1"/>
          <p:nvPr/>
        </p:nvSpPr>
        <p:spPr>
          <a:xfrm>
            <a:off x="3934463" y="3816985"/>
            <a:ext cx="224155" cy="412934"/>
          </a:xfrm>
          <a:prstGeom prst="rect">
            <a:avLst/>
          </a:prstGeom>
          <a:ln>
            <a:noFill/>
          </a:ln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600" b="1" dirty="0">
                <a:solidFill>
                  <a:schemeClr val="bg1">
                    <a:lumMod val="65000"/>
                  </a:schemeClr>
                </a:solidFill>
                <a:latin typeface="Courier New" panose="02070409020205020404"/>
                <a:cs typeface="Courier New" panose="02070409020205020404"/>
              </a:rPr>
              <a:t>e</a:t>
            </a:r>
          </a:p>
        </p:txBody>
      </p:sp>
      <p:sp>
        <p:nvSpPr>
          <p:cNvPr id="41" name="object 35"/>
          <p:cNvSpPr/>
          <p:nvPr/>
        </p:nvSpPr>
        <p:spPr>
          <a:xfrm>
            <a:off x="2674620" y="452818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noFill/>
          <a:ln w="3175">
            <a:solidFill>
              <a:schemeClr val="bg1">
                <a:lumMod val="6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85000"/>
                  </a:schemeClr>
                </a:solidFill>
              </a14:hiddenFill>
            </a:ext>
          </a:extLst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36"/>
          <p:cNvSpPr txBox="1"/>
          <p:nvPr/>
        </p:nvSpPr>
        <p:spPr>
          <a:xfrm>
            <a:off x="2791463" y="4502785"/>
            <a:ext cx="224155" cy="412934"/>
          </a:xfrm>
          <a:prstGeom prst="rect">
            <a:avLst/>
          </a:prstGeom>
          <a:ln>
            <a:noFill/>
          </a:ln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600" b="1" dirty="0">
                <a:solidFill>
                  <a:schemeClr val="bg1">
                    <a:lumMod val="65000"/>
                  </a:schemeClr>
                </a:solidFill>
                <a:latin typeface="Courier New" panose="02070409020205020404"/>
                <a:cs typeface="Courier New" panose="02070409020205020404"/>
              </a:rPr>
              <a:t>f</a:t>
            </a:r>
          </a:p>
        </p:txBody>
      </p:sp>
      <p:sp>
        <p:nvSpPr>
          <p:cNvPr id="43" name="object 37"/>
          <p:cNvSpPr/>
          <p:nvPr/>
        </p:nvSpPr>
        <p:spPr>
          <a:xfrm>
            <a:off x="1531620" y="384238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noFill/>
          <a:ln w="3175">
            <a:solidFill>
              <a:schemeClr val="bg1">
                <a:lumMod val="6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</a:extLst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38"/>
          <p:cNvSpPr txBox="1"/>
          <p:nvPr/>
        </p:nvSpPr>
        <p:spPr>
          <a:xfrm>
            <a:off x="1648463" y="3816985"/>
            <a:ext cx="224155" cy="412934"/>
          </a:xfrm>
          <a:prstGeom prst="rect">
            <a:avLst/>
          </a:prstGeom>
          <a:ln>
            <a:noFill/>
          </a:ln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600" b="1" dirty="0">
                <a:solidFill>
                  <a:schemeClr val="bg1">
                    <a:lumMod val="65000"/>
                  </a:schemeClr>
                </a:solidFill>
                <a:latin typeface="Courier New" panose="02070409020205020404"/>
                <a:cs typeface="Courier New" panose="02070409020205020404"/>
              </a:rPr>
              <a:t>g</a:t>
            </a:r>
          </a:p>
        </p:txBody>
      </p:sp>
      <p:cxnSp>
        <p:nvCxnSpPr>
          <p:cNvPr id="47" name="直接连接符 46"/>
          <p:cNvCxnSpPr/>
          <p:nvPr/>
        </p:nvCxnSpPr>
        <p:spPr>
          <a:xfrm>
            <a:off x="2265048" y="2242821"/>
            <a:ext cx="1623695" cy="166878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/>
          <p:cNvCxnSpPr/>
          <p:nvPr/>
        </p:nvCxnSpPr>
        <p:spPr>
          <a:xfrm>
            <a:off x="3599817" y="2252347"/>
            <a:ext cx="369571" cy="159575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连接符 48"/>
          <p:cNvCxnSpPr/>
          <p:nvPr/>
        </p:nvCxnSpPr>
        <p:spPr>
          <a:xfrm>
            <a:off x="2157095" y="2252345"/>
            <a:ext cx="746760" cy="225044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连接符 49"/>
          <p:cNvCxnSpPr/>
          <p:nvPr/>
        </p:nvCxnSpPr>
        <p:spPr>
          <a:xfrm flipH="1">
            <a:off x="3148968" y="4272282"/>
            <a:ext cx="739775" cy="40576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object 57"/>
          <p:cNvGraphicFramePr>
            <a:graphicFrameLocks noGrp="1"/>
          </p:cNvGraphicFramePr>
          <p:nvPr/>
        </p:nvGraphicFramePr>
        <p:xfrm>
          <a:off x="1447800" y="5366385"/>
          <a:ext cx="2743200" cy="45770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708">
                <a:tc>
                  <a:txBody>
                    <a:bodyPr/>
                    <a:lstStyle/>
                    <a:p>
                      <a:pPr marL="254000">
                        <a:lnSpc>
                          <a:spcPts val="2940"/>
                        </a:lnSpc>
                      </a:pPr>
                      <a:r>
                        <a:rPr sz="2700" b="1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R</a:t>
                      </a:r>
                      <a:r>
                        <a:rPr sz="2300" b="1" baseline="-31000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0</a:t>
                      </a:r>
                      <a:endParaRPr sz="2300" baseline="-31000">
                        <a:latin typeface="DejaVu Serif" panose="02060603050605020204"/>
                        <a:cs typeface="DejaVu Serif" panose="02060603050605020204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254000">
                        <a:lnSpc>
                          <a:spcPts val="2940"/>
                        </a:lnSpc>
                      </a:pPr>
                      <a:r>
                        <a:rPr sz="2700" b="1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R</a:t>
                      </a:r>
                      <a:r>
                        <a:rPr sz="2300" b="1" baseline="-31000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1</a:t>
                      </a:r>
                      <a:endParaRPr sz="2300" baseline="-31000">
                        <a:latin typeface="DejaVu Serif" panose="02060603050605020204"/>
                        <a:cs typeface="DejaVu Serif" panose="02060603050605020204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254000">
                        <a:lnSpc>
                          <a:spcPts val="2940"/>
                        </a:lnSpc>
                      </a:pPr>
                      <a:r>
                        <a:rPr sz="2700" b="1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R</a:t>
                      </a:r>
                      <a:r>
                        <a:rPr sz="2300" b="1" baseline="-31000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2</a:t>
                      </a:r>
                      <a:endParaRPr sz="2300" baseline="-31000">
                        <a:latin typeface="DejaVu Serif" panose="02060603050605020204"/>
                        <a:cs typeface="DejaVu Serif" panose="02060603050605020204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F0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2" name="直接连接符 11"/>
          <p:cNvCxnSpPr/>
          <p:nvPr/>
        </p:nvCxnSpPr>
        <p:spPr>
          <a:xfrm flipH="1">
            <a:off x="1417956" y="2148842"/>
            <a:ext cx="594995" cy="57721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 flipH="1">
            <a:off x="1544959" y="2851788"/>
            <a:ext cx="2704465" cy="127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 flipH="1" flipV="1">
            <a:off x="3771904" y="2184400"/>
            <a:ext cx="577215" cy="5232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连接符 50"/>
          <p:cNvCxnSpPr/>
          <p:nvPr/>
        </p:nvCxnSpPr>
        <p:spPr>
          <a:xfrm flipH="1">
            <a:off x="2463803" y="1968500"/>
            <a:ext cx="87503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连接符 51"/>
          <p:cNvCxnSpPr/>
          <p:nvPr/>
        </p:nvCxnSpPr>
        <p:spPr>
          <a:xfrm flipH="1">
            <a:off x="1499236" y="2184401"/>
            <a:ext cx="1929765" cy="6223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连接符 52"/>
          <p:cNvCxnSpPr/>
          <p:nvPr/>
        </p:nvCxnSpPr>
        <p:spPr>
          <a:xfrm flipH="1" flipV="1">
            <a:off x="2428241" y="2130428"/>
            <a:ext cx="1902460" cy="6673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object 37"/>
          <p:cNvSpPr/>
          <p:nvPr/>
        </p:nvSpPr>
        <p:spPr>
          <a:xfrm>
            <a:off x="7498399" y="458914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noFill/>
          <a:ln w="3175">
            <a:solidFill>
              <a:srgbClr val="0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</a:extLst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38"/>
          <p:cNvSpPr txBox="1"/>
          <p:nvPr/>
        </p:nvSpPr>
        <p:spPr>
          <a:xfrm>
            <a:off x="7614923" y="4563745"/>
            <a:ext cx="224155" cy="4129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600" b="1" dirty="0">
                <a:solidFill>
                  <a:srgbClr val="191919"/>
                </a:solidFill>
                <a:latin typeface="Courier New" panose="02070409020205020404"/>
                <a:cs typeface="Courier New" panose="02070409020205020404"/>
              </a:rPr>
              <a:t>g</a:t>
            </a:r>
            <a:endParaRPr sz="2600">
              <a:latin typeface="Courier New" panose="02070409020205020404"/>
              <a:cs typeface="Courier New" panose="02070409020205020404"/>
            </a:endParaRPr>
          </a:p>
        </p:txBody>
      </p:sp>
      <p:sp>
        <p:nvSpPr>
          <p:cNvPr id="71" name="object 35"/>
          <p:cNvSpPr/>
          <p:nvPr/>
        </p:nvSpPr>
        <p:spPr>
          <a:xfrm>
            <a:off x="7498399" y="413194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noFill/>
          <a:ln w="3175">
            <a:solidFill>
              <a:srgbClr val="0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85000"/>
                  </a:schemeClr>
                </a:solidFill>
              </a14:hiddenFill>
            </a:ext>
          </a:extLst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36"/>
          <p:cNvSpPr txBox="1"/>
          <p:nvPr/>
        </p:nvSpPr>
        <p:spPr>
          <a:xfrm>
            <a:off x="7614923" y="4106545"/>
            <a:ext cx="224155" cy="4129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600" b="1" dirty="0">
                <a:solidFill>
                  <a:srgbClr val="191919"/>
                </a:solidFill>
                <a:latin typeface="Courier New" panose="02070409020205020404"/>
                <a:cs typeface="Courier New" panose="02070409020205020404"/>
              </a:rPr>
              <a:t>f</a:t>
            </a:r>
            <a:endParaRPr sz="2600">
              <a:latin typeface="Courier New" panose="02070409020205020404"/>
              <a:cs typeface="Courier New" panose="02070409020205020404"/>
            </a:endParaRPr>
          </a:p>
        </p:txBody>
      </p:sp>
      <p:sp>
        <p:nvSpPr>
          <p:cNvPr id="91" name="object 35"/>
          <p:cNvSpPr/>
          <p:nvPr/>
        </p:nvSpPr>
        <p:spPr>
          <a:xfrm>
            <a:off x="7498399" y="367220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noFill/>
          <a:ln w="3175">
            <a:solidFill>
              <a:srgbClr val="0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85000"/>
                  </a:schemeClr>
                </a:solidFill>
              </a14:hiddenFill>
            </a:ext>
          </a:extLst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36"/>
          <p:cNvSpPr txBox="1"/>
          <p:nvPr/>
        </p:nvSpPr>
        <p:spPr>
          <a:xfrm>
            <a:off x="7614923" y="3646805"/>
            <a:ext cx="224155" cy="4129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sz="2600" b="1" dirty="0">
                <a:solidFill>
                  <a:srgbClr val="191919"/>
                </a:solidFill>
                <a:latin typeface="Courier New" panose="02070409020205020404"/>
                <a:cs typeface="Courier New" panose="02070409020205020404"/>
              </a:rPr>
              <a:t>e</a:t>
            </a:r>
          </a:p>
        </p:txBody>
      </p:sp>
      <p:sp>
        <p:nvSpPr>
          <p:cNvPr id="56" name="object 33"/>
          <p:cNvSpPr txBox="1"/>
          <p:nvPr/>
        </p:nvSpPr>
        <p:spPr>
          <a:xfrm>
            <a:off x="4883788" y="2762888"/>
            <a:ext cx="1054735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i="1" spc="-5" dirty="0">
                <a:solidFill>
                  <a:srgbClr val="191919"/>
                </a:solidFill>
                <a:latin typeface="DejaVu Serif" panose="02060603050605020204"/>
                <a:cs typeface="DejaVu Serif" panose="02060603050605020204"/>
              </a:rPr>
              <a:t>(</a:t>
            </a:r>
            <a:r>
              <a:rPr sz="2000" i="1" spc="-5" dirty="0">
                <a:solidFill>
                  <a:srgbClr val="191919"/>
                </a:solidFill>
                <a:latin typeface="DejaVu Serif" panose="02060603050605020204"/>
                <a:cs typeface="DejaVu Serif" panose="02060603050605020204"/>
              </a:rPr>
              <a:t>spilled</a:t>
            </a:r>
            <a:r>
              <a:rPr i="1" spc="-5" dirty="0">
                <a:solidFill>
                  <a:srgbClr val="191919"/>
                </a:solidFill>
                <a:latin typeface="DejaVu Serif" panose="02060603050605020204"/>
                <a:cs typeface="DejaVu Serif" panose="02060603050605020204"/>
              </a:rPr>
              <a:t>)</a:t>
            </a:r>
            <a:endParaRPr>
              <a:latin typeface="DejaVu Serif" panose="02060603050605020204"/>
              <a:cs typeface="DejaVu Serif" panose="0206060305060502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object 3"/>
          <p:cNvGrpSpPr/>
          <p:nvPr/>
        </p:nvGrpSpPr>
        <p:grpSpPr>
          <a:xfrm>
            <a:off x="3818891" y="3848100"/>
            <a:ext cx="457200" cy="457200"/>
            <a:chOff x="2514600" y="3429000"/>
            <a:chExt cx="457200" cy="457200"/>
          </a:xfrm>
          <a:solidFill>
            <a:srgbClr val="FFFF00"/>
          </a:solidFill>
        </p:grpSpPr>
        <p:sp>
          <p:nvSpPr>
            <p:cNvPr id="61" name="object 4"/>
            <p:cNvSpPr/>
            <p:nvPr/>
          </p:nvSpPr>
          <p:spPr>
            <a:xfrm>
              <a:off x="2514600" y="3429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1585" y="4509"/>
                  </a:lnTo>
                  <a:lnTo>
                    <a:pt x="138231" y="17502"/>
                  </a:lnTo>
                  <a:lnTo>
                    <a:pt x="99342" y="38174"/>
                  </a:lnTo>
                  <a:lnTo>
                    <a:pt x="65722" y="65722"/>
                  </a:lnTo>
                  <a:lnTo>
                    <a:pt x="38174" y="99342"/>
                  </a:lnTo>
                  <a:lnTo>
                    <a:pt x="17502" y="138231"/>
                  </a:lnTo>
                  <a:lnTo>
                    <a:pt x="4509" y="181585"/>
                  </a:lnTo>
                  <a:lnTo>
                    <a:pt x="0" y="228600"/>
                  </a:lnTo>
                  <a:lnTo>
                    <a:pt x="4509" y="275614"/>
                  </a:lnTo>
                  <a:lnTo>
                    <a:pt x="17502" y="318968"/>
                  </a:lnTo>
                  <a:lnTo>
                    <a:pt x="38174" y="357857"/>
                  </a:lnTo>
                  <a:lnTo>
                    <a:pt x="65722" y="391477"/>
                  </a:lnTo>
                  <a:lnTo>
                    <a:pt x="99342" y="419025"/>
                  </a:lnTo>
                  <a:lnTo>
                    <a:pt x="138231" y="439697"/>
                  </a:lnTo>
                  <a:lnTo>
                    <a:pt x="181585" y="452690"/>
                  </a:lnTo>
                  <a:lnTo>
                    <a:pt x="228600" y="457200"/>
                  </a:lnTo>
                  <a:lnTo>
                    <a:pt x="275614" y="452690"/>
                  </a:lnTo>
                  <a:lnTo>
                    <a:pt x="318968" y="439697"/>
                  </a:lnTo>
                  <a:lnTo>
                    <a:pt x="357857" y="419025"/>
                  </a:lnTo>
                  <a:lnTo>
                    <a:pt x="391477" y="391477"/>
                  </a:lnTo>
                  <a:lnTo>
                    <a:pt x="419025" y="357857"/>
                  </a:lnTo>
                  <a:lnTo>
                    <a:pt x="439697" y="318968"/>
                  </a:lnTo>
                  <a:lnTo>
                    <a:pt x="452690" y="275614"/>
                  </a:lnTo>
                  <a:lnTo>
                    <a:pt x="457200" y="228600"/>
                  </a:lnTo>
                  <a:lnTo>
                    <a:pt x="452690" y="181585"/>
                  </a:lnTo>
                  <a:lnTo>
                    <a:pt x="439697" y="138231"/>
                  </a:lnTo>
                  <a:lnTo>
                    <a:pt x="419025" y="99342"/>
                  </a:lnTo>
                  <a:lnTo>
                    <a:pt x="391477" y="65722"/>
                  </a:lnTo>
                  <a:lnTo>
                    <a:pt x="357857" y="38174"/>
                  </a:lnTo>
                  <a:lnTo>
                    <a:pt x="318968" y="17502"/>
                  </a:lnTo>
                  <a:lnTo>
                    <a:pt x="275614" y="4509"/>
                  </a:lnTo>
                  <a:lnTo>
                    <a:pt x="228600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5"/>
            <p:cNvSpPr/>
            <p:nvPr/>
          </p:nvSpPr>
          <p:spPr>
            <a:xfrm>
              <a:off x="2514600" y="3429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275614" y="4509"/>
                  </a:lnTo>
                  <a:lnTo>
                    <a:pt x="318968" y="17502"/>
                  </a:lnTo>
                  <a:lnTo>
                    <a:pt x="357857" y="38174"/>
                  </a:lnTo>
                  <a:lnTo>
                    <a:pt x="391477" y="65722"/>
                  </a:lnTo>
                  <a:lnTo>
                    <a:pt x="419025" y="99342"/>
                  </a:lnTo>
                  <a:lnTo>
                    <a:pt x="439697" y="138231"/>
                  </a:lnTo>
                  <a:lnTo>
                    <a:pt x="452690" y="181585"/>
                  </a:lnTo>
                  <a:lnTo>
                    <a:pt x="457200" y="228600"/>
                  </a:lnTo>
                  <a:lnTo>
                    <a:pt x="452690" y="275614"/>
                  </a:lnTo>
                  <a:lnTo>
                    <a:pt x="439697" y="318968"/>
                  </a:lnTo>
                  <a:lnTo>
                    <a:pt x="419025" y="357857"/>
                  </a:lnTo>
                  <a:lnTo>
                    <a:pt x="391477" y="391477"/>
                  </a:lnTo>
                  <a:lnTo>
                    <a:pt x="357857" y="419025"/>
                  </a:lnTo>
                  <a:lnTo>
                    <a:pt x="318968" y="439697"/>
                  </a:lnTo>
                  <a:lnTo>
                    <a:pt x="275614" y="452690"/>
                  </a:lnTo>
                  <a:lnTo>
                    <a:pt x="228600" y="457200"/>
                  </a:lnTo>
                  <a:lnTo>
                    <a:pt x="181585" y="452690"/>
                  </a:lnTo>
                  <a:lnTo>
                    <a:pt x="138231" y="439697"/>
                  </a:lnTo>
                  <a:lnTo>
                    <a:pt x="99342" y="419025"/>
                  </a:lnTo>
                  <a:lnTo>
                    <a:pt x="65722" y="391477"/>
                  </a:lnTo>
                  <a:lnTo>
                    <a:pt x="38174" y="357857"/>
                  </a:lnTo>
                  <a:lnTo>
                    <a:pt x="17502" y="318968"/>
                  </a:lnTo>
                  <a:lnTo>
                    <a:pt x="4509" y="275614"/>
                  </a:lnTo>
                  <a:lnTo>
                    <a:pt x="0" y="228600"/>
                  </a:lnTo>
                  <a:lnTo>
                    <a:pt x="4509" y="181585"/>
                  </a:lnTo>
                  <a:lnTo>
                    <a:pt x="17502" y="138231"/>
                  </a:lnTo>
                  <a:lnTo>
                    <a:pt x="38174" y="99342"/>
                  </a:lnTo>
                  <a:lnTo>
                    <a:pt x="65722" y="65722"/>
                  </a:lnTo>
                  <a:lnTo>
                    <a:pt x="99342" y="38174"/>
                  </a:lnTo>
                  <a:lnTo>
                    <a:pt x="138231" y="17502"/>
                  </a:lnTo>
                  <a:lnTo>
                    <a:pt x="181585" y="4509"/>
                  </a:lnTo>
                  <a:lnTo>
                    <a:pt x="228600" y="0"/>
                  </a:lnTo>
                  <a:close/>
                </a:path>
                <a:path w="457200" h="457200">
                  <a:moveTo>
                    <a:pt x="0" y="0"/>
                  </a:moveTo>
                  <a:lnTo>
                    <a:pt x="0" y="0"/>
                  </a:lnTo>
                </a:path>
                <a:path w="457200" h="457200">
                  <a:moveTo>
                    <a:pt x="457200" y="457200"/>
                  </a:moveTo>
                  <a:lnTo>
                    <a:pt x="457200" y="457200"/>
                  </a:lnTo>
                </a:path>
              </a:pathLst>
            </a:custGeom>
            <a:grpFill/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7" name="object 3"/>
          <p:cNvGrpSpPr/>
          <p:nvPr/>
        </p:nvGrpSpPr>
        <p:grpSpPr>
          <a:xfrm>
            <a:off x="4275455" y="2707640"/>
            <a:ext cx="457200" cy="457200"/>
            <a:chOff x="2514600" y="3429000"/>
            <a:chExt cx="457200" cy="457200"/>
          </a:xfrm>
          <a:solidFill>
            <a:srgbClr val="C00000"/>
          </a:solidFill>
        </p:grpSpPr>
        <p:sp>
          <p:nvSpPr>
            <p:cNvPr id="58" name="object 4"/>
            <p:cNvSpPr/>
            <p:nvPr/>
          </p:nvSpPr>
          <p:spPr>
            <a:xfrm>
              <a:off x="2514600" y="3429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1585" y="4509"/>
                  </a:lnTo>
                  <a:lnTo>
                    <a:pt x="138231" y="17502"/>
                  </a:lnTo>
                  <a:lnTo>
                    <a:pt x="99342" y="38174"/>
                  </a:lnTo>
                  <a:lnTo>
                    <a:pt x="65722" y="65722"/>
                  </a:lnTo>
                  <a:lnTo>
                    <a:pt x="38174" y="99342"/>
                  </a:lnTo>
                  <a:lnTo>
                    <a:pt x="17502" y="138231"/>
                  </a:lnTo>
                  <a:lnTo>
                    <a:pt x="4509" y="181585"/>
                  </a:lnTo>
                  <a:lnTo>
                    <a:pt x="0" y="228600"/>
                  </a:lnTo>
                  <a:lnTo>
                    <a:pt x="4509" y="275614"/>
                  </a:lnTo>
                  <a:lnTo>
                    <a:pt x="17502" y="318968"/>
                  </a:lnTo>
                  <a:lnTo>
                    <a:pt x="38174" y="357857"/>
                  </a:lnTo>
                  <a:lnTo>
                    <a:pt x="65722" y="391477"/>
                  </a:lnTo>
                  <a:lnTo>
                    <a:pt x="99342" y="419025"/>
                  </a:lnTo>
                  <a:lnTo>
                    <a:pt x="138231" y="439697"/>
                  </a:lnTo>
                  <a:lnTo>
                    <a:pt x="181585" y="452690"/>
                  </a:lnTo>
                  <a:lnTo>
                    <a:pt x="228600" y="457200"/>
                  </a:lnTo>
                  <a:lnTo>
                    <a:pt x="275614" y="452690"/>
                  </a:lnTo>
                  <a:lnTo>
                    <a:pt x="318968" y="439697"/>
                  </a:lnTo>
                  <a:lnTo>
                    <a:pt x="357857" y="419025"/>
                  </a:lnTo>
                  <a:lnTo>
                    <a:pt x="391477" y="391477"/>
                  </a:lnTo>
                  <a:lnTo>
                    <a:pt x="419025" y="357857"/>
                  </a:lnTo>
                  <a:lnTo>
                    <a:pt x="439697" y="318968"/>
                  </a:lnTo>
                  <a:lnTo>
                    <a:pt x="452690" y="275614"/>
                  </a:lnTo>
                  <a:lnTo>
                    <a:pt x="457200" y="228600"/>
                  </a:lnTo>
                  <a:lnTo>
                    <a:pt x="452690" y="181585"/>
                  </a:lnTo>
                  <a:lnTo>
                    <a:pt x="439697" y="138231"/>
                  </a:lnTo>
                  <a:lnTo>
                    <a:pt x="419025" y="99342"/>
                  </a:lnTo>
                  <a:lnTo>
                    <a:pt x="391477" y="65722"/>
                  </a:lnTo>
                  <a:lnTo>
                    <a:pt x="357857" y="38174"/>
                  </a:lnTo>
                  <a:lnTo>
                    <a:pt x="318968" y="17502"/>
                  </a:lnTo>
                  <a:lnTo>
                    <a:pt x="275614" y="4509"/>
                  </a:lnTo>
                  <a:lnTo>
                    <a:pt x="228600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"/>
            <p:cNvSpPr/>
            <p:nvPr/>
          </p:nvSpPr>
          <p:spPr>
            <a:xfrm>
              <a:off x="2514600" y="3429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275614" y="4509"/>
                  </a:lnTo>
                  <a:lnTo>
                    <a:pt x="318968" y="17502"/>
                  </a:lnTo>
                  <a:lnTo>
                    <a:pt x="357857" y="38174"/>
                  </a:lnTo>
                  <a:lnTo>
                    <a:pt x="391477" y="65722"/>
                  </a:lnTo>
                  <a:lnTo>
                    <a:pt x="419025" y="99342"/>
                  </a:lnTo>
                  <a:lnTo>
                    <a:pt x="439697" y="138231"/>
                  </a:lnTo>
                  <a:lnTo>
                    <a:pt x="452690" y="181585"/>
                  </a:lnTo>
                  <a:lnTo>
                    <a:pt x="457200" y="228600"/>
                  </a:lnTo>
                  <a:lnTo>
                    <a:pt x="452690" y="275614"/>
                  </a:lnTo>
                  <a:lnTo>
                    <a:pt x="439697" y="318968"/>
                  </a:lnTo>
                  <a:lnTo>
                    <a:pt x="419025" y="357857"/>
                  </a:lnTo>
                  <a:lnTo>
                    <a:pt x="391477" y="391477"/>
                  </a:lnTo>
                  <a:lnTo>
                    <a:pt x="357857" y="419025"/>
                  </a:lnTo>
                  <a:lnTo>
                    <a:pt x="318968" y="439697"/>
                  </a:lnTo>
                  <a:lnTo>
                    <a:pt x="275614" y="452690"/>
                  </a:lnTo>
                  <a:lnTo>
                    <a:pt x="228600" y="457200"/>
                  </a:lnTo>
                  <a:lnTo>
                    <a:pt x="181585" y="452690"/>
                  </a:lnTo>
                  <a:lnTo>
                    <a:pt x="138231" y="439697"/>
                  </a:lnTo>
                  <a:lnTo>
                    <a:pt x="99342" y="419025"/>
                  </a:lnTo>
                  <a:lnTo>
                    <a:pt x="65722" y="391477"/>
                  </a:lnTo>
                  <a:lnTo>
                    <a:pt x="38174" y="357857"/>
                  </a:lnTo>
                  <a:lnTo>
                    <a:pt x="17502" y="318968"/>
                  </a:lnTo>
                  <a:lnTo>
                    <a:pt x="4509" y="275614"/>
                  </a:lnTo>
                  <a:lnTo>
                    <a:pt x="0" y="228600"/>
                  </a:lnTo>
                  <a:lnTo>
                    <a:pt x="4509" y="181585"/>
                  </a:lnTo>
                  <a:lnTo>
                    <a:pt x="17502" y="138231"/>
                  </a:lnTo>
                  <a:lnTo>
                    <a:pt x="38174" y="99342"/>
                  </a:lnTo>
                  <a:lnTo>
                    <a:pt x="65722" y="65722"/>
                  </a:lnTo>
                  <a:lnTo>
                    <a:pt x="99342" y="38174"/>
                  </a:lnTo>
                  <a:lnTo>
                    <a:pt x="138231" y="17502"/>
                  </a:lnTo>
                  <a:lnTo>
                    <a:pt x="181585" y="4509"/>
                  </a:lnTo>
                  <a:lnTo>
                    <a:pt x="228600" y="0"/>
                  </a:lnTo>
                  <a:close/>
                </a:path>
                <a:path w="457200" h="457200">
                  <a:moveTo>
                    <a:pt x="0" y="0"/>
                  </a:moveTo>
                  <a:lnTo>
                    <a:pt x="0" y="0"/>
                  </a:lnTo>
                </a:path>
                <a:path w="457200" h="457200">
                  <a:moveTo>
                    <a:pt x="457200" y="457200"/>
                  </a:moveTo>
                  <a:lnTo>
                    <a:pt x="457200" y="457200"/>
                  </a:lnTo>
                </a:path>
              </a:pathLst>
            </a:custGeom>
            <a:grpFill/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7" name="object 3"/>
          <p:cNvGrpSpPr/>
          <p:nvPr/>
        </p:nvGrpSpPr>
        <p:grpSpPr>
          <a:xfrm>
            <a:off x="1074420" y="2707640"/>
            <a:ext cx="457200" cy="457200"/>
            <a:chOff x="2514600" y="3429000"/>
            <a:chExt cx="457200" cy="457200"/>
          </a:xfrm>
          <a:solidFill>
            <a:srgbClr val="FFFF00"/>
          </a:solidFill>
        </p:grpSpPr>
        <p:sp>
          <p:nvSpPr>
            <p:cNvPr id="28" name="object 4"/>
            <p:cNvSpPr/>
            <p:nvPr/>
          </p:nvSpPr>
          <p:spPr>
            <a:xfrm>
              <a:off x="2514600" y="3429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1585" y="4509"/>
                  </a:lnTo>
                  <a:lnTo>
                    <a:pt x="138231" y="17502"/>
                  </a:lnTo>
                  <a:lnTo>
                    <a:pt x="99342" y="38174"/>
                  </a:lnTo>
                  <a:lnTo>
                    <a:pt x="65722" y="65722"/>
                  </a:lnTo>
                  <a:lnTo>
                    <a:pt x="38174" y="99342"/>
                  </a:lnTo>
                  <a:lnTo>
                    <a:pt x="17502" y="138231"/>
                  </a:lnTo>
                  <a:lnTo>
                    <a:pt x="4509" y="181585"/>
                  </a:lnTo>
                  <a:lnTo>
                    <a:pt x="0" y="228600"/>
                  </a:lnTo>
                  <a:lnTo>
                    <a:pt x="4509" y="275614"/>
                  </a:lnTo>
                  <a:lnTo>
                    <a:pt x="17502" y="318968"/>
                  </a:lnTo>
                  <a:lnTo>
                    <a:pt x="38174" y="357857"/>
                  </a:lnTo>
                  <a:lnTo>
                    <a:pt x="65722" y="391477"/>
                  </a:lnTo>
                  <a:lnTo>
                    <a:pt x="99342" y="419025"/>
                  </a:lnTo>
                  <a:lnTo>
                    <a:pt x="138231" y="439697"/>
                  </a:lnTo>
                  <a:lnTo>
                    <a:pt x="181585" y="452690"/>
                  </a:lnTo>
                  <a:lnTo>
                    <a:pt x="228600" y="457200"/>
                  </a:lnTo>
                  <a:lnTo>
                    <a:pt x="275614" y="452690"/>
                  </a:lnTo>
                  <a:lnTo>
                    <a:pt x="318968" y="439697"/>
                  </a:lnTo>
                  <a:lnTo>
                    <a:pt x="357857" y="419025"/>
                  </a:lnTo>
                  <a:lnTo>
                    <a:pt x="391477" y="391477"/>
                  </a:lnTo>
                  <a:lnTo>
                    <a:pt x="419025" y="357857"/>
                  </a:lnTo>
                  <a:lnTo>
                    <a:pt x="439697" y="318968"/>
                  </a:lnTo>
                  <a:lnTo>
                    <a:pt x="452690" y="275614"/>
                  </a:lnTo>
                  <a:lnTo>
                    <a:pt x="457200" y="228600"/>
                  </a:lnTo>
                  <a:lnTo>
                    <a:pt x="452690" y="181585"/>
                  </a:lnTo>
                  <a:lnTo>
                    <a:pt x="439697" y="138231"/>
                  </a:lnTo>
                  <a:lnTo>
                    <a:pt x="419025" y="99342"/>
                  </a:lnTo>
                  <a:lnTo>
                    <a:pt x="391477" y="65722"/>
                  </a:lnTo>
                  <a:lnTo>
                    <a:pt x="357857" y="38174"/>
                  </a:lnTo>
                  <a:lnTo>
                    <a:pt x="318968" y="17502"/>
                  </a:lnTo>
                  <a:lnTo>
                    <a:pt x="275614" y="4509"/>
                  </a:lnTo>
                  <a:lnTo>
                    <a:pt x="228600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5"/>
            <p:cNvSpPr/>
            <p:nvPr/>
          </p:nvSpPr>
          <p:spPr>
            <a:xfrm>
              <a:off x="2514600" y="3429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275614" y="4509"/>
                  </a:lnTo>
                  <a:lnTo>
                    <a:pt x="318968" y="17502"/>
                  </a:lnTo>
                  <a:lnTo>
                    <a:pt x="357857" y="38174"/>
                  </a:lnTo>
                  <a:lnTo>
                    <a:pt x="391477" y="65722"/>
                  </a:lnTo>
                  <a:lnTo>
                    <a:pt x="419025" y="99342"/>
                  </a:lnTo>
                  <a:lnTo>
                    <a:pt x="439697" y="138231"/>
                  </a:lnTo>
                  <a:lnTo>
                    <a:pt x="452690" y="181585"/>
                  </a:lnTo>
                  <a:lnTo>
                    <a:pt x="457200" y="228600"/>
                  </a:lnTo>
                  <a:lnTo>
                    <a:pt x="452690" y="275614"/>
                  </a:lnTo>
                  <a:lnTo>
                    <a:pt x="439697" y="318968"/>
                  </a:lnTo>
                  <a:lnTo>
                    <a:pt x="419025" y="357857"/>
                  </a:lnTo>
                  <a:lnTo>
                    <a:pt x="391477" y="391477"/>
                  </a:lnTo>
                  <a:lnTo>
                    <a:pt x="357857" y="419025"/>
                  </a:lnTo>
                  <a:lnTo>
                    <a:pt x="318968" y="439697"/>
                  </a:lnTo>
                  <a:lnTo>
                    <a:pt x="275614" y="452690"/>
                  </a:lnTo>
                  <a:lnTo>
                    <a:pt x="228600" y="457200"/>
                  </a:lnTo>
                  <a:lnTo>
                    <a:pt x="181585" y="452690"/>
                  </a:lnTo>
                  <a:lnTo>
                    <a:pt x="138231" y="439697"/>
                  </a:lnTo>
                  <a:lnTo>
                    <a:pt x="99342" y="419025"/>
                  </a:lnTo>
                  <a:lnTo>
                    <a:pt x="65722" y="391477"/>
                  </a:lnTo>
                  <a:lnTo>
                    <a:pt x="38174" y="357857"/>
                  </a:lnTo>
                  <a:lnTo>
                    <a:pt x="17502" y="318968"/>
                  </a:lnTo>
                  <a:lnTo>
                    <a:pt x="4509" y="275614"/>
                  </a:lnTo>
                  <a:lnTo>
                    <a:pt x="0" y="228600"/>
                  </a:lnTo>
                  <a:lnTo>
                    <a:pt x="4509" y="181585"/>
                  </a:lnTo>
                  <a:lnTo>
                    <a:pt x="17502" y="138231"/>
                  </a:lnTo>
                  <a:lnTo>
                    <a:pt x="38174" y="99342"/>
                  </a:lnTo>
                  <a:lnTo>
                    <a:pt x="65722" y="65722"/>
                  </a:lnTo>
                  <a:lnTo>
                    <a:pt x="99342" y="38174"/>
                  </a:lnTo>
                  <a:lnTo>
                    <a:pt x="138231" y="17502"/>
                  </a:lnTo>
                  <a:lnTo>
                    <a:pt x="181585" y="4509"/>
                  </a:lnTo>
                  <a:lnTo>
                    <a:pt x="228600" y="0"/>
                  </a:lnTo>
                  <a:close/>
                </a:path>
                <a:path w="457200" h="457200">
                  <a:moveTo>
                    <a:pt x="0" y="0"/>
                  </a:moveTo>
                  <a:lnTo>
                    <a:pt x="0" y="0"/>
                  </a:lnTo>
                </a:path>
                <a:path w="457200" h="457200">
                  <a:moveTo>
                    <a:pt x="457200" y="457200"/>
                  </a:moveTo>
                  <a:lnTo>
                    <a:pt x="457200" y="457200"/>
                  </a:lnTo>
                </a:path>
              </a:pathLst>
            </a:custGeom>
            <a:grpFill/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4" name="object 3"/>
          <p:cNvGrpSpPr/>
          <p:nvPr/>
        </p:nvGrpSpPr>
        <p:grpSpPr>
          <a:xfrm>
            <a:off x="1988820" y="1795145"/>
            <a:ext cx="457200" cy="457200"/>
            <a:chOff x="2514600" y="3429000"/>
            <a:chExt cx="457200" cy="457200"/>
          </a:xfrm>
          <a:solidFill>
            <a:srgbClr val="00FFFF"/>
          </a:solidFill>
        </p:grpSpPr>
        <p:sp>
          <p:nvSpPr>
            <p:cNvPr id="25" name="object 4"/>
            <p:cNvSpPr/>
            <p:nvPr/>
          </p:nvSpPr>
          <p:spPr>
            <a:xfrm>
              <a:off x="2514600" y="3429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1585" y="4509"/>
                  </a:lnTo>
                  <a:lnTo>
                    <a:pt x="138231" y="17502"/>
                  </a:lnTo>
                  <a:lnTo>
                    <a:pt x="99342" y="38174"/>
                  </a:lnTo>
                  <a:lnTo>
                    <a:pt x="65722" y="65722"/>
                  </a:lnTo>
                  <a:lnTo>
                    <a:pt x="38174" y="99342"/>
                  </a:lnTo>
                  <a:lnTo>
                    <a:pt x="17502" y="138231"/>
                  </a:lnTo>
                  <a:lnTo>
                    <a:pt x="4509" y="181585"/>
                  </a:lnTo>
                  <a:lnTo>
                    <a:pt x="0" y="228600"/>
                  </a:lnTo>
                  <a:lnTo>
                    <a:pt x="4509" y="275614"/>
                  </a:lnTo>
                  <a:lnTo>
                    <a:pt x="17502" y="318968"/>
                  </a:lnTo>
                  <a:lnTo>
                    <a:pt x="38174" y="357857"/>
                  </a:lnTo>
                  <a:lnTo>
                    <a:pt x="65722" y="391477"/>
                  </a:lnTo>
                  <a:lnTo>
                    <a:pt x="99342" y="419025"/>
                  </a:lnTo>
                  <a:lnTo>
                    <a:pt x="138231" y="439697"/>
                  </a:lnTo>
                  <a:lnTo>
                    <a:pt x="181585" y="452690"/>
                  </a:lnTo>
                  <a:lnTo>
                    <a:pt x="228600" y="457200"/>
                  </a:lnTo>
                  <a:lnTo>
                    <a:pt x="275614" y="452690"/>
                  </a:lnTo>
                  <a:lnTo>
                    <a:pt x="318968" y="439697"/>
                  </a:lnTo>
                  <a:lnTo>
                    <a:pt x="357857" y="419025"/>
                  </a:lnTo>
                  <a:lnTo>
                    <a:pt x="391477" y="391477"/>
                  </a:lnTo>
                  <a:lnTo>
                    <a:pt x="419025" y="357857"/>
                  </a:lnTo>
                  <a:lnTo>
                    <a:pt x="439697" y="318968"/>
                  </a:lnTo>
                  <a:lnTo>
                    <a:pt x="452690" y="275614"/>
                  </a:lnTo>
                  <a:lnTo>
                    <a:pt x="457200" y="228600"/>
                  </a:lnTo>
                  <a:lnTo>
                    <a:pt x="452690" y="181585"/>
                  </a:lnTo>
                  <a:lnTo>
                    <a:pt x="439697" y="138231"/>
                  </a:lnTo>
                  <a:lnTo>
                    <a:pt x="419025" y="99342"/>
                  </a:lnTo>
                  <a:lnTo>
                    <a:pt x="391477" y="65722"/>
                  </a:lnTo>
                  <a:lnTo>
                    <a:pt x="357857" y="38174"/>
                  </a:lnTo>
                  <a:lnTo>
                    <a:pt x="318968" y="17502"/>
                  </a:lnTo>
                  <a:lnTo>
                    <a:pt x="275614" y="4509"/>
                  </a:lnTo>
                  <a:lnTo>
                    <a:pt x="228600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5"/>
            <p:cNvSpPr/>
            <p:nvPr/>
          </p:nvSpPr>
          <p:spPr>
            <a:xfrm>
              <a:off x="2514600" y="3429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275614" y="4509"/>
                  </a:lnTo>
                  <a:lnTo>
                    <a:pt x="318968" y="17502"/>
                  </a:lnTo>
                  <a:lnTo>
                    <a:pt x="357857" y="38174"/>
                  </a:lnTo>
                  <a:lnTo>
                    <a:pt x="391477" y="65722"/>
                  </a:lnTo>
                  <a:lnTo>
                    <a:pt x="419025" y="99342"/>
                  </a:lnTo>
                  <a:lnTo>
                    <a:pt x="439697" y="138231"/>
                  </a:lnTo>
                  <a:lnTo>
                    <a:pt x="452690" y="181585"/>
                  </a:lnTo>
                  <a:lnTo>
                    <a:pt x="457200" y="228600"/>
                  </a:lnTo>
                  <a:lnTo>
                    <a:pt x="452690" y="275614"/>
                  </a:lnTo>
                  <a:lnTo>
                    <a:pt x="439697" y="318968"/>
                  </a:lnTo>
                  <a:lnTo>
                    <a:pt x="419025" y="357857"/>
                  </a:lnTo>
                  <a:lnTo>
                    <a:pt x="391477" y="391477"/>
                  </a:lnTo>
                  <a:lnTo>
                    <a:pt x="357857" y="419025"/>
                  </a:lnTo>
                  <a:lnTo>
                    <a:pt x="318968" y="439697"/>
                  </a:lnTo>
                  <a:lnTo>
                    <a:pt x="275614" y="452690"/>
                  </a:lnTo>
                  <a:lnTo>
                    <a:pt x="228600" y="457200"/>
                  </a:lnTo>
                  <a:lnTo>
                    <a:pt x="181585" y="452690"/>
                  </a:lnTo>
                  <a:lnTo>
                    <a:pt x="138231" y="439697"/>
                  </a:lnTo>
                  <a:lnTo>
                    <a:pt x="99342" y="419025"/>
                  </a:lnTo>
                  <a:lnTo>
                    <a:pt x="65722" y="391477"/>
                  </a:lnTo>
                  <a:lnTo>
                    <a:pt x="38174" y="357857"/>
                  </a:lnTo>
                  <a:lnTo>
                    <a:pt x="17502" y="318968"/>
                  </a:lnTo>
                  <a:lnTo>
                    <a:pt x="4509" y="275614"/>
                  </a:lnTo>
                  <a:lnTo>
                    <a:pt x="0" y="228600"/>
                  </a:lnTo>
                  <a:lnTo>
                    <a:pt x="4509" y="181585"/>
                  </a:lnTo>
                  <a:lnTo>
                    <a:pt x="17502" y="138231"/>
                  </a:lnTo>
                  <a:lnTo>
                    <a:pt x="38174" y="99342"/>
                  </a:lnTo>
                  <a:lnTo>
                    <a:pt x="65722" y="65722"/>
                  </a:lnTo>
                  <a:lnTo>
                    <a:pt x="99342" y="38174"/>
                  </a:lnTo>
                  <a:lnTo>
                    <a:pt x="138231" y="17502"/>
                  </a:lnTo>
                  <a:lnTo>
                    <a:pt x="181585" y="4509"/>
                  </a:lnTo>
                  <a:lnTo>
                    <a:pt x="228600" y="0"/>
                  </a:lnTo>
                  <a:close/>
                </a:path>
                <a:path w="457200" h="457200">
                  <a:moveTo>
                    <a:pt x="0" y="0"/>
                  </a:moveTo>
                  <a:lnTo>
                    <a:pt x="0" y="0"/>
                  </a:lnTo>
                </a:path>
                <a:path w="457200" h="457200">
                  <a:moveTo>
                    <a:pt x="457200" y="457200"/>
                  </a:moveTo>
                  <a:lnTo>
                    <a:pt x="457200" y="457200"/>
                  </a:lnTo>
                </a:path>
              </a:pathLst>
            </a:custGeom>
            <a:grpFill/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1" name="object 3"/>
          <p:cNvGrpSpPr/>
          <p:nvPr/>
        </p:nvGrpSpPr>
        <p:grpSpPr>
          <a:xfrm>
            <a:off x="3361055" y="1795145"/>
            <a:ext cx="457200" cy="457200"/>
            <a:chOff x="2514600" y="3429000"/>
            <a:chExt cx="457200" cy="457200"/>
          </a:xfrm>
        </p:grpSpPr>
        <p:sp>
          <p:nvSpPr>
            <p:cNvPr id="22" name="object 4"/>
            <p:cNvSpPr/>
            <p:nvPr/>
          </p:nvSpPr>
          <p:spPr>
            <a:xfrm>
              <a:off x="2514600" y="3429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1585" y="4509"/>
                  </a:lnTo>
                  <a:lnTo>
                    <a:pt x="138231" y="17502"/>
                  </a:lnTo>
                  <a:lnTo>
                    <a:pt x="99342" y="38174"/>
                  </a:lnTo>
                  <a:lnTo>
                    <a:pt x="65722" y="65722"/>
                  </a:lnTo>
                  <a:lnTo>
                    <a:pt x="38174" y="99342"/>
                  </a:lnTo>
                  <a:lnTo>
                    <a:pt x="17502" y="138231"/>
                  </a:lnTo>
                  <a:lnTo>
                    <a:pt x="4509" y="181585"/>
                  </a:lnTo>
                  <a:lnTo>
                    <a:pt x="0" y="228600"/>
                  </a:lnTo>
                  <a:lnTo>
                    <a:pt x="4509" y="275614"/>
                  </a:lnTo>
                  <a:lnTo>
                    <a:pt x="17502" y="318968"/>
                  </a:lnTo>
                  <a:lnTo>
                    <a:pt x="38174" y="357857"/>
                  </a:lnTo>
                  <a:lnTo>
                    <a:pt x="65722" y="391477"/>
                  </a:lnTo>
                  <a:lnTo>
                    <a:pt x="99342" y="419025"/>
                  </a:lnTo>
                  <a:lnTo>
                    <a:pt x="138231" y="439697"/>
                  </a:lnTo>
                  <a:lnTo>
                    <a:pt x="181585" y="452690"/>
                  </a:lnTo>
                  <a:lnTo>
                    <a:pt x="228600" y="457200"/>
                  </a:lnTo>
                  <a:lnTo>
                    <a:pt x="275614" y="452690"/>
                  </a:lnTo>
                  <a:lnTo>
                    <a:pt x="318968" y="439697"/>
                  </a:lnTo>
                  <a:lnTo>
                    <a:pt x="357857" y="419025"/>
                  </a:lnTo>
                  <a:lnTo>
                    <a:pt x="391477" y="391477"/>
                  </a:lnTo>
                  <a:lnTo>
                    <a:pt x="419025" y="357857"/>
                  </a:lnTo>
                  <a:lnTo>
                    <a:pt x="439697" y="318968"/>
                  </a:lnTo>
                  <a:lnTo>
                    <a:pt x="452690" y="275614"/>
                  </a:lnTo>
                  <a:lnTo>
                    <a:pt x="457200" y="228600"/>
                  </a:lnTo>
                  <a:lnTo>
                    <a:pt x="452690" y="181585"/>
                  </a:lnTo>
                  <a:lnTo>
                    <a:pt x="439697" y="138231"/>
                  </a:lnTo>
                  <a:lnTo>
                    <a:pt x="419025" y="99342"/>
                  </a:lnTo>
                  <a:lnTo>
                    <a:pt x="391477" y="65722"/>
                  </a:lnTo>
                  <a:lnTo>
                    <a:pt x="357857" y="38174"/>
                  </a:lnTo>
                  <a:lnTo>
                    <a:pt x="318968" y="17502"/>
                  </a:lnTo>
                  <a:lnTo>
                    <a:pt x="275614" y="4509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FF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5"/>
            <p:cNvSpPr/>
            <p:nvPr/>
          </p:nvSpPr>
          <p:spPr>
            <a:xfrm>
              <a:off x="2514600" y="3429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275614" y="4509"/>
                  </a:lnTo>
                  <a:lnTo>
                    <a:pt x="318968" y="17502"/>
                  </a:lnTo>
                  <a:lnTo>
                    <a:pt x="357857" y="38174"/>
                  </a:lnTo>
                  <a:lnTo>
                    <a:pt x="391477" y="65722"/>
                  </a:lnTo>
                  <a:lnTo>
                    <a:pt x="419025" y="99342"/>
                  </a:lnTo>
                  <a:lnTo>
                    <a:pt x="439697" y="138231"/>
                  </a:lnTo>
                  <a:lnTo>
                    <a:pt x="452690" y="181585"/>
                  </a:lnTo>
                  <a:lnTo>
                    <a:pt x="457200" y="228600"/>
                  </a:lnTo>
                  <a:lnTo>
                    <a:pt x="452690" y="275614"/>
                  </a:lnTo>
                  <a:lnTo>
                    <a:pt x="439697" y="318968"/>
                  </a:lnTo>
                  <a:lnTo>
                    <a:pt x="419025" y="357857"/>
                  </a:lnTo>
                  <a:lnTo>
                    <a:pt x="391477" y="391477"/>
                  </a:lnTo>
                  <a:lnTo>
                    <a:pt x="357857" y="419025"/>
                  </a:lnTo>
                  <a:lnTo>
                    <a:pt x="318968" y="439697"/>
                  </a:lnTo>
                  <a:lnTo>
                    <a:pt x="275614" y="452690"/>
                  </a:lnTo>
                  <a:lnTo>
                    <a:pt x="228600" y="457200"/>
                  </a:lnTo>
                  <a:lnTo>
                    <a:pt x="181585" y="452690"/>
                  </a:lnTo>
                  <a:lnTo>
                    <a:pt x="138231" y="439697"/>
                  </a:lnTo>
                  <a:lnTo>
                    <a:pt x="99342" y="419025"/>
                  </a:lnTo>
                  <a:lnTo>
                    <a:pt x="65722" y="391477"/>
                  </a:lnTo>
                  <a:lnTo>
                    <a:pt x="38174" y="357857"/>
                  </a:lnTo>
                  <a:lnTo>
                    <a:pt x="17502" y="318968"/>
                  </a:lnTo>
                  <a:lnTo>
                    <a:pt x="4509" y="275614"/>
                  </a:lnTo>
                  <a:lnTo>
                    <a:pt x="0" y="228600"/>
                  </a:lnTo>
                  <a:lnTo>
                    <a:pt x="4509" y="181585"/>
                  </a:lnTo>
                  <a:lnTo>
                    <a:pt x="17502" y="138231"/>
                  </a:lnTo>
                  <a:lnTo>
                    <a:pt x="38174" y="99342"/>
                  </a:lnTo>
                  <a:lnTo>
                    <a:pt x="65722" y="65722"/>
                  </a:lnTo>
                  <a:lnTo>
                    <a:pt x="99342" y="38174"/>
                  </a:lnTo>
                  <a:lnTo>
                    <a:pt x="138231" y="17502"/>
                  </a:lnTo>
                  <a:lnTo>
                    <a:pt x="181585" y="4509"/>
                  </a:lnTo>
                  <a:lnTo>
                    <a:pt x="228600" y="0"/>
                  </a:lnTo>
                  <a:close/>
                </a:path>
                <a:path w="457200" h="457200">
                  <a:moveTo>
                    <a:pt x="0" y="0"/>
                  </a:moveTo>
                  <a:lnTo>
                    <a:pt x="0" y="0"/>
                  </a:lnTo>
                </a:path>
                <a:path w="457200" h="457200">
                  <a:moveTo>
                    <a:pt x="457200" y="457200"/>
                  </a:moveTo>
                  <a:lnTo>
                    <a:pt x="457200" y="45720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b="1" dirty="0">
                <a:latin typeface="楷体_GB2312" panose="02010609030101010101" charset="-122"/>
                <a:ea typeface="楷体_GB2312" panose="02010609030101010101" charset="-122"/>
                <a:sym typeface="+mn-ea"/>
              </a:rPr>
              <a:t>图着色算法示例</a:t>
            </a:r>
            <a:r>
              <a:rPr lang="en-US" altLang="zh-CN" b="1" dirty="0">
                <a:latin typeface="楷体_GB2312" panose="02010609030101010101" charset="-122"/>
                <a:ea typeface="楷体_GB2312" panose="02010609030101010101" charset="-122"/>
                <a:sym typeface="+mn-ea"/>
              </a:rPr>
              <a:t>2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54</a:t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object 25"/>
          <p:cNvSpPr/>
          <p:nvPr/>
        </p:nvSpPr>
        <p:spPr>
          <a:xfrm>
            <a:off x="1074420" y="269938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noFill/>
          <a:ln w="3175">
            <a:solidFill>
              <a:srgbClr val="0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</a:extLst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26"/>
          <p:cNvSpPr txBox="1"/>
          <p:nvPr/>
        </p:nvSpPr>
        <p:spPr>
          <a:xfrm>
            <a:off x="1191261" y="2673985"/>
            <a:ext cx="224155" cy="4129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600" b="1" dirty="0">
                <a:solidFill>
                  <a:srgbClr val="191919"/>
                </a:solidFill>
                <a:latin typeface="Courier New" panose="02070409020205020404"/>
                <a:cs typeface="Courier New" panose="02070409020205020404"/>
              </a:rPr>
              <a:t>a</a:t>
            </a:r>
            <a:endParaRPr sz="2600">
              <a:latin typeface="Courier New" panose="02070409020205020404"/>
              <a:cs typeface="Courier New" panose="02070409020205020404"/>
            </a:endParaRPr>
          </a:p>
        </p:txBody>
      </p:sp>
      <p:sp>
        <p:nvSpPr>
          <p:cNvPr id="33" name="object 27"/>
          <p:cNvSpPr/>
          <p:nvPr/>
        </p:nvSpPr>
        <p:spPr>
          <a:xfrm>
            <a:off x="1988820" y="178498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noFill/>
          <a:ln w="3175">
            <a:solidFill>
              <a:srgbClr val="0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00FFFF"/>
                </a:solidFill>
              </a14:hiddenFill>
            </a:ext>
          </a:extLst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28"/>
          <p:cNvSpPr txBox="1"/>
          <p:nvPr/>
        </p:nvSpPr>
        <p:spPr>
          <a:xfrm>
            <a:off x="2105663" y="1759585"/>
            <a:ext cx="224155" cy="4129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600" b="1" dirty="0">
                <a:solidFill>
                  <a:srgbClr val="191919"/>
                </a:solidFill>
                <a:latin typeface="Courier New" panose="02070409020205020404"/>
                <a:cs typeface="Courier New" panose="02070409020205020404"/>
              </a:rPr>
              <a:t>b</a:t>
            </a:r>
            <a:endParaRPr sz="2600">
              <a:latin typeface="Courier New" panose="02070409020205020404"/>
              <a:cs typeface="Courier New" panose="02070409020205020404"/>
            </a:endParaRPr>
          </a:p>
        </p:txBody>
      </p:sp>
      <p:sp>
        <p:nvSpPr>
          <p:cNvPr id="35" name="object 29"/>
          <p:cNvSpPr/>
          <p:nvPr/>
        </p:nvSpPr>
        <p:spPr>
          <a:xfrm>
            <a:off x="3360420" y="178498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noFill/>
          <a:ln w="3175">
            <a:solidFill>
              <a:srgbClr val="0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00FF"/>
                </a:solidFill>
              </a14:hiddenFill>
            </a:ext>
          </a:extLst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0"/>
          <p:cNvSpPr txBox="1"/>
          <p:nvPr/>
        </p:nvSpPr>
        <p:spPr>
          <a:xfrm>
            <a:off x="3477263" y="1759585"/>
            <a:ext cx="224155" cy="4129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600" b="1" dirty="0">
                <a:solidFill>
                  <a:srgbClr val="191919"/>
                </a:solidFill>
                <a:latin typeface="Courier New" panose="02070409020205020404"/>
                <a:cs typeface="Courier New" panose="02070409020205020404"/>
              </a:rPr>
              <a:t>c</a:t>
            </a:r>
            <a:endParaRPr sz="2600">
              <a:latin typeface="Courier New" panose="02070409020205020404"/>
              <a:cs typeface="Courier New" panose="02070409020205020404"/>
            </a:endParaRPr>
          </a:p>
        </p:txBody>
      </p:sp>
      <p:sp>
        <p:nvSpPr>
          <p:cNvPr id="37" name="object 31"/>
          <p:cNvSpPr/>
          <p:nvPr/>
        </p:nvSpPr>
        <p:spPr>
          <a:xfrm>
            <a:off x="4274820" y="270573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noFill/>
          <a:ln w="3175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75000"/>
                  </a:schemeClr>
                </a:solidFill>
              </a14:hiddenFill>
            </a:ext>
          </a:extLst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2"/>
          <p:cNvSpPr txBox="1"/>
          <p:nvPr/>
        </p:nvSpPr>
        <p:spPr>
          <a:xfrm>
            <a:off x="4391663" y="2673985"/>
            <a:ext cx="224155" cy="412934"/>
          </a:xfrm>
          <a:prstGeom prst="rect">
            <a:avLst/>
          </a:prstGeom>
          <a:ln>
            <a:noFill/>
          </a:ln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600" b="1" dirty="0">
                <a:latin typeface="Courier New" panose="02070409020205020404"/>
                <a:cs typeface="Courier New" panose="02070409020205020404"/>
              </a:rPr>
              <a:t>d</a:t>
            </a:r>
          </a:p>
        </p:txBody>
      </p:sp>
      <p:sp>
        <p:nvSpPr>
          <p:cNvPr id="39" name="object 33"/>
          <p:cNvSpPr/>
          <p:nvPr/>
        </p:nvSpPr>
        <p:spPr>
          <a:xfrm>
            <a:off x="3817620" y="384238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noFill/>
          <a:ln w="3175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</a:extLst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34"/>
          <p:cNvSpPr txBox="1"/>
          <p:nvPr/>
        </p:nvSpPr>
        <p:spPr>
          <a:xfrm>
            <a:off x="3934463" y="3816985"/>
            <a:ext cx="224155" cy="412934"/>
          </a:xfrm>
          <a:prstGeom prst="rect">
            <a:avLst/>
          </a:prstGeom>
          <a:ln>
            <a:noFill/>
          </a:ln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600" b="1" dirty="0">
                <a:latin typeface="Courier New" panose="02070409020205020404"/>
                <a:cs typeface="Courier New" panose="02070409020205020404"/>
              </a:rPr>
              <a:t>e</a:t>
            </a:r>
          </a:p>
        </p:txBody>
      </p:sp>
      <p:sp>
        <p:nvSpPr>
          <p:cNvPr id="41" name="object 35"/>
          <p:cNvSpPr/>
          <p:nvPr/>
        </p:nvSpPr>
        <p:spPr>
          <a:xfrm>
            <a:off x="2674620" y="452818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noFill/>
          <a:ln w="3175">
            <a:solidFill>
              <a:schemeClr val="bg1">
                <a:lumMod val="6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85000"/>
                  </a:schemeClr>
                </a:solidFill>
              </a14:hiddenFill>
            </a:ext>
          </a:extLst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36"/>
          <p:cNvSpPr txBox="1"/>
          <p:nvPr/>
        </p:nvSpPr>
        <p:spPr>
          <a:xfrm>
            <a:off x="2791463" y="4502785"/>
            <a:ext cx="224155" cy="412934"/>
          </a:xfrm>
          <a:prstGeom prst="rect">
            <a:avLst/>
          </a:prstGeom>
          <a:ln>
            <a:noFill/>
          </a:ln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600" b="1" dirty="0">
                <a:solidFill>
                  <a:schemeClr val="bg1">
                    <a:lumMod val="65000"/>
                  </a:schemeClr>
                </a:solidFill>
                <a:latin typeface="Courier New" panose="02070409020205020404"/>
                <a:cs typeface="Courier New" panose="02070409020205020404"/>
              </a:rPr>
              <a:t>f</a:t>
            </a:r>
          </a:p>
        </p:txBody>
      </p:sp>
      <p:sp>
        <p:nvSpPr>
          <p:cNvPr id="43" name="object 37"/>
          <p:cNvSpPr/>
          <p:nvPr/>
        </p:nvSpPr>
        <p:spPr>
          <a:xfrm>
            <a:off x="1531620" y="384238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noFill/>
          <a:ln w="3175">
            <a:solidFill>
              <a:schemeClr val="bg1">
                <a:lumMod val="6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</a:extLst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38"/>
          <p:cNvSpPr txBox="1"/>
          <p:nvPr/>
        </p:nvSpPr>
        <p:spPr>
          <a:xfrm>
            <a:off x="1648463" y="3816985"/>
            <a:ext cx="224155" cy="412934"/>
          </a:xfrm>
          <a:prstGeom prst="rect">
            <a:avLst/>
          </a:prstGeom>
          <a:ln>
            <a:noFill/>
          </a:ln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600" b="1" dirty="0">
                <a:solidFill>
                  <a:schemeClr val="bg1">
                    <a:lumMod val="65000"/>
                  </a:schemeClr>
                </a:solidFill>
                <a:latin typeface="Courier New" panose="02070409020205020404"/>
                <a:cs typeface="Courier New" panose="02070409020205020404"/>
              </a:rPr>
              <a:t>g</a:t>
            </a:r>
          </a:p>
        </p:txBody>
      </p:sp>
      <p:cxnSp>
        <p:nvCxnSpPr>
          <p:cNvPr id="47" name="直接连接符 46"/>
          <p:cNvCxnSpPr/>
          <p:nvPr/>
        </p:nvCxnSpPr>
        <p:spPr>
          <a:xfrm>
            <a:off x="2265048" y="2242821"/>
            <a:ext cx="1623695" cy="16687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/>
          <p:cNvCxnSpPr/>
          <p:nvPr/>
        </p:nvCxnSpPr>
        <p:spPr>
          <a:xfrm>
            <a:off x="3599817" y="2252347"/>
            <a:ext cx="369571" cy="159575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连接符 48"/>
          <p:cNvCxnSpPr/>
          <p:nvPr/>
        </p:nvCxnSpPr>
        <p:spPr>
          <a:xfrm>
            <a:off x="2157095" y="2252345"/>
            <a:ext cx="746760" cy="225044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连接符 49"/>
          <p:cNvCxnSpPr/>
          <p:nvPr/>
        </p:nvCxnSpPr>
        <p:spPr>
          <a:xfrm flipH="1">
            <a:off x="3148968" y="4272282"/>
            <a:ext cx="739775" cy="40576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object 57"/>
          <p:cNvGraphicFramePr>
            <a:graphicFrameLocks noGrp="1"/>
          </p:cNvGraphicFramePr>
          <p:nvPr/>
        </p:nvGraphicFramePr>
        <p:xfrm>
          <a:off x="1447800" y="5366385"/>
          <a:ext cx="2743200" cy="45770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708">
                <a:tc>
                  <a:txBody>
                    <a:bodyPr/>
                    <a:lstStyle/>
                    <a:p>
                      <a:pPr marL="254000">
                        <a:lnSpc>
                          <a:spcPts val="2940"/>
                        </a:lnSpc>
                      </a:pPr>
                      <a:r>
                        <a:rPr sz="2700" b="1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R</a:t>
                      </a:r>
                      <a:r>
                        <a:rPr sz="2300" b="1" baseline="-31000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0</a:t>
                      </a:r>
                      <a:endParaRPr sz="2300" baseline="-31000">
                        <a:latin typeface="DejaVu Serif" panose="02060603050605020204"/>
                        <a:cs typeface="DejaVu Serif" panose="02060603050605020204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254000">
                        <a:lnSpc>
                          <a:spcPts val="2940"/>
                        </a:lnSpc>
                      </a:pPr>
                      <a:r>
                        <a:rPr sz="2700" b="1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R</a:t>
                      </a:r>
                      <a:r>
                        <a:rPr sz="2300" b="1" baseline="-31000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1</a:t>
                      </a:r>
                      <a:endParaRPr sz="2300" baseline="-31000">
                        <a:latin typeface="DejaVu Serif" panose="02060603050605020204"/>
                        <a:cs typeface="DejaVu Serif" panose="02060603050605020204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254000">
                        <a:lnSpc>
                          <a:spcPts val="2940"/>
                        </a:lnSpc>
                      </a:pPr>
                      <a:r>
                        <a:rPr sz="2700" b="1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R</a:t>
                      </a:r>
                      <a:r>
                        <a:rPr sz="2300" b="1" baseline="-31000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2</a:t>
                      </a:r>
                      <a:endParaRPr sz="2300" baseline="-31000">
                        <a:latin typeface="DejaVu Serif" panose="02060603050605020204"/>
                        <a:cs typeface="DejaVu Serif" panose="02060603050605020204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F0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2" name="直接连接符 11"/>
          <p:cNvCxnSpPr/>
          <p:nvPr/>
        </p:nvCxnSpPr>
        <p:spPr>
          <a:xfrm flipH="1">
            <a:off x="1417956" y="2148842"/>
            <a:ext cx="594995" cy="57721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 flipH="1">
            <a:off x="1544959" y="2851788"/>
            <a:ext cx="2704465" cy="127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 flipH="1" flipV="1">
            <a:off x="3771904" y="2184400"/>
            <a:ext cx="577215" cy="5232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连接符 50"/>
          <p:cNvCxnSpPr/>
          <p:nvPr/>
        </p:nvCxnSpPr>
        <p:spPr>
          <a:xfrm flipH="1">
            <a:off x="2463803" y="1968500"/>
            <a:ext cx="87503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连接符 51"/>
          <p:cNvCxnSpPr/>
          <p:nvPr/>
        </p:nvCxnSpPr>
        <p:spPr>
          <a:xfrm flipH="1">
            <a:off x="1499236" y="2184401"/>
            <a:ext cx="1929765" cy="6223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连接符 52"/>
          <p:cNvCxnSpPr/>
          <p:nvPr/>
        </p:nvCxnSpPr>
        <p:spPr>
          <a:xfrm flipH="1" flipV="1">
            <a:off x="2428241" y="2130428"/>
            <a:ext cx="1902460" cy="6673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object 37"/>
          <p:cNvSpPr/>
          <p:nvPr/>
        </p:nvSpPr>
        <p:spPr>
          <a:xfrm>
            <a:off x="7498399" y="458914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noFill/>
          <a:ln w="3175">
            <a:solidFill>
              <a:srgbClr val="0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</a:extLst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38"/>
          <p:cNvSpPr txBox="1"/>
          <p:nvPr/>
        </p:nvSpPr>
        <p:spPr>
          <a:xfrm>
            <a:off x="7614923" y="4563745"/>
            <a:ext cx="224155" cy="4129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600" b="1" dirty="0">
                <a:solidFill>
                  <a:srgbClr val="191919"/>
                </a:solidFill>
                <a:latin typeface="Courier New" panose="02070409020205020404"/>
                <a:cs typeface="Courier New" panose="02070409020205020404"/>
              </a:rPr>
              <a:t>g</a:t>
            </a:r>
            <a:endParaRPr sz="2600">
              <a:latin typeface="Courier New" panose="02070409020205020404"/>
              <a:cs typeface="Courier New" panose="02070409020205020404"/>
            </a:endParaRPr>
          </a:p>
        </p:txBody>
      </p:sp>
      <p:sp>
        <p:nvSpPr>
          <p:cNvPr id="71" name="object 35"/>
          <p:cNvSpPr/>
          <p:nvPr/>
        </p:nvSpPr>
        <p:spPr>
          <a:xfrm>
            <a:off x="7498399" y="413194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noFill/>
          <a:ln w="3175">
            <a:solidFill>
              <a:srgbClr val="0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85000"/>
                  </a:schemeClr>
                </a:solidFill>
              </a14:hiddenFill>
            </a:ext>
          </a:extLst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36"/>
          <p:cNvSpPr txBox="1"/>
          <p:nvPr/>
        </p:nvSpPr>
        <p:spPr>
          <a:xfrm>
            <a:off x="7614923" y="4106545"/>
            <a:ext cx="224155" cy="4129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600" b="1" dirty="0">
                <a:solidFill>
                  <a:srgbClr val="191919"/>
                </a:solidFill>
                <a:latin typeface="Courier New" panose="02070409020205020404"/>
                <a:cs typeface="Courier New" panose="02070409020205020404"/>
              </a:rPr>
              <a:t>f</a:t>
            </a:r>
            <a:endParaRPr sz="2600">
              <a:latin typeface="Courier New" panose="02070409020205020404"/>
              <a:cs typeface="Courier New" panose="02070409020205020404"/>
            </a:endParaRPr>
          </a:p>
        </p:txBody>
      </p:sp>
      <p:sp>
        <p:nvSpPr>
          <p:cNvPr id="56" name="object 33"/>
          <p:cNvSpPr txBox="1"/>
          <p:nvPr/>
        </p:nvSpPr>
        <p:spPr>
          <a:xfrm>
            <a:off x="4883788" y="2762888"/>
            <a:ext cx="1054735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i="1" spc="-5" dirty="0">
                <a:solidFill>
                  <a:srgbClr val="191919"/>
                </a:solidFill>
                <a:latin typeface="DejaVu Serif" panose="02060603050605020204"/>
                <a:cs typeface="DejaVu Serif" panose="02060603050605020204"/>
              </a:rPr>
              <a:t>(</a:t>
            </a:r>
            <a:r>
              <a:rPr sz="2000" i="1" spc="-5" dirty="0">
                <a:solidFill>
                  <a:srgbClr val="191919"/>
                </a:solidFill>
                <a:latin typeface="DejaVu Serif" panose="02060603050605020204"/>
                <a:cs typeface="DejaVu Serif" panose="02060603050605020204"/>
              </a:rPr>
              <a:t>spilled</a:t>
            </a:r>
            <a:r>
              <a:rPr i="1" spc="-5" dirty="0">
                <a:solidFill>
                  <a:srgbClr val="191919"/>
                </a:solidFill>
                <a:latin typeface="DejaVu Serif" panose="02060603050605020204"/>
                <a:cs typeface="DejaVu Serif" panose="02060603050605020204"/>
              </a:rPr>
              <a:t>)</a:t>
            </a:r>
            <a:endParaRPr>
              <a:latin typeface="DejaVu Serif" panose="02060603050605020204"/>
              <a:cs typeface="DejaVu Serif" panose="0206060305060502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2675255" y="4528185"/>
            <a:ext cx="457200" cy="457200"/>
            <a:chOff x="2514600" y="3429000"/>
            <a:chExt cx="457200" cy="457200"/>
          </a:xfrm>
        </p:grpSpPr>
        <p:sp>
          <p:nvSpPr>
            <p:cNvPr id="4" name="object 4"/>
            <p:cNvSpPr/>
            <p:nvPr/>
          </p:nvSpPr>
          <p:spPr>
            <a:xfrm>
              <a:off x="2514600" y="3429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1585" y="4509"/>
                  </a:lnTo>
                  <a:lnTo>
                    <a:pt x="138231" y="17502"/>
                  </a:lnTo>
                  <a:lnTo>
                    <a:pt x="99342" y="38174"/>
                  </a:lnTo>
                  <a:lnTo>
                    <a:pt x="65722" y="65722"/>
                  </a:lnTo>
                  <a:lnTo>
                    <a:pt x="38174" y="99342"/>
                  </a:lnTo>
                  <a:lnTo>
                    <a:pt x="17502" y="138231"/>
                  </a:lnTo>
                  <a:lnTo>
                    <a:pt x="4509" y="181585"/>
                  </a:lnTo>
                  <a:lnTo>
                    <a:pt x="0" y="228600"/>
                  </a:lnTo>
                  <a:lnTo>
                    <a:pt x="4509" y="275614"/>
                  </a:lnTo>
                  <a:lnTo>
                    <a:pt x="17502" y="318968"/>
                  </a:lnTo>
                  <a:lnTo>
                    <a:pt x="38174" y="357857"/>
                  </a:lnTo>
                  <a:lnTo>
                    <a:pt x="65722" y="391477"/>
                  </a:lnTo>
                  <a:lnTo>
                    <a:pt x="99342" y="419025"/>
                  </a:lnTo>
                  <a:lnTo>
                    <a:pt x="138231" y="439697"/>
                  </a:lnTo>
                  <a:lnTo>
                    <a:pt x="181585" y="452690"/>
                  </a:lnTo>
                  <a:lnTo>
                    <a:pt x="228600" y="457200"/>
                  </a:lnTo>
                  <a:lnTo>
                    <a:pt x="275614" y="452690"/>
                  </a:lnTo>
                  <a:lnTo>
                    <a:pt x="318968" y="439697"/>
                  </a:lnTo>
                  <a:lnTo>
                    <a:pt x="357857" y="419025"/>
                  </a:lnTo>
                  <a:lnTo>
                    <a:pt x="391477" y="391477"/>
                  </a:lnTo>
                  <a:lnTo>
                    <a:pt x="419025" y="357857"/>
                  </a:lnTo>
                  <a:lnTo>
                    <a:pt x="439697" y="318968"/>
                  </a:lnTo>
                  <a:lnTo>
                    <a:pt x="452690" y="275614"/>
                  </a:lnTo>
                  <a:lnTo>
                    <a:pt x="457200" y="228600"/>
                  </a:lnTo>
                  <a:lnTo>
                    <a:pt x="452690" y="181585"/>
                  </a:lnTo>
                  <a:lnTo>
                    <a:pt x="439697" y="138231"/>
                  </a:lnTo>
                  <a:lnTo>
                    <a:pt x="419025" y="99342"/>
                  </a:lnTo>
                  <a:lnTo>
                    <a:pt x="391477" y="65722"/>
                  </a:lnTo>
                  <a:lnTo>
                    <a:pt x="357857" y="38174"/>
                  </a:lnTo>
                  <a:lnTo>
                    <a:pt x="318968" y="17502"/>
                  </a:lnTo>
                  <a:lnTo>
                    <a:pt x="275614" y="4509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FF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" name="object 5"/>
            <p:cNvSpPr/>
            <p:nvPr/>
          </p:nvSpPr>
          <p:spPr>
            <a:xfrm>
              <a:off x="2514600" y="3429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275614" y="4509"/>
                  </a:lnTo>
                  <a:lnTo>
                    <a:pt x="318968" y="17502"/>
                  </a:lnTo>
                  <a:lnTo>
                    <a:pt x="357857" y="38174"/>
                  </a:lnTo>
                  <a:lnTo>
                    <a:pt x="391477" y="65722"/>
                  </a:lnTo>
                  <a:lnTo>
                    <a:pt x="419025" y="99342"/>
                  </a:lnTo>
                  <a:lnTo>
                    <a:pt x="439697" y="138231"/>
                  </a:lnTo>
                  <a:lnTo>
                    <a:pt x="452690" y="181585"/>
                  </a:lnTo>
                  <a:lnTo>
                    <a:pt x="457200" y="228600"/>
                  </a:lnTo>
                  <a:lnTo>
                    <a:pt x="452690" y="275614"/>
                  </a:lnTo>
                  <a:lnTo>
                    <a:pt x="439697" y="318968"/>
                  </a:lnTo>
                  <a:lnTo>
                    <a:pt x="419025" y="357857"/>
                  </a:lnTo>
                  <a:lnTo>
                    <a:pt x="391477" y="391477"/>
                  </a:lnTo>
                  <a:lnTo>
                    <a:pt x="357857" y="419025"/>
                  </a:lnTo>
                  <a:lnTo>
                    <a:pt x="318968" y="439697"/>
                  </a:lnTo>
                  <a:lnTo>
                    <a:pt x="275614" y="452690"/>
                  </a:lnTo>
                  <a:lnTo>
                    <a:pt x="228600" y="457200"/>
                  </a:lnTo>
                  <a:lnTo>
                    <a:pt x="181585" y="452690"/>
                  </a:lnTo>
                  <a:lnTo>
                    <a:pt x="138231" y="439697"/>
                  </a:lnTo>
                  <a:lnTo>
                    <a:pt x="99342" y="419025"/>
                  </a:lnTo>
                  <a:lnTo>
                    <a:pt x="65722" y="391477"/>
                  </a:lnTo>
                  <a:lnTo>
                    <a:pt x="38174" y="357857"/>
                  </a:lnTo>
                  <a:lnTo>
                    <a:pt x="17502" y="318968"/>
                  </a:lnTo>
                  <a:lnTo>
                    <a:pt x="4509" y="275614"/>
                  </a:lnTo>
                  <a:lnTo>
                    <a:pt x="0" y="228600"/>
                  </a:lnTo>
                  <a:lnTo>
                    <a:pt x="4509" y="181585"/>
                  </a:lnTo>
                  <a:lnTo>
                    <a:pt x="17502" y="138231"/>
                  </a:lnTo>
                  <a:lnTo>
                    <a:pt x="38174" y="99342"/>
                  </a:lnTo>
                  <a:lnTo>
                    <a:pt x="65722" y="65722"/>
                  </a:lnTo>
                  <a:lnTo>
                    <a:pt x="99342" y="38174"/>
                  </a:lnTo>
                  <a:lnTo>
                    <a:pt x="138231" y="17502"/>
                  </a:lnTo>
                  <a:lnTo>
                    <a:pt x="181585" y="4509"/>
                  </a:lnTo>
                  <a:lnTo>
                    <a:pt x="228600" y="0"/>
                  </a:lnTo>
                  <a:close/>
                </a:path>
                <a:path w="457200" h="457200">
                  <a:moveTo>
                    <a:pt x="0" y="0"/>
                  </a:moveTo>
                  <a:lnTo>
                    <a:pt x="0" y="0"/>
                  </a:lnTo>
                </a:path>
                <a:path w="457200" h="457200">
                  <a:moveTo>
                    <a:pt x="457200" y="457200"/>
                  </a:moveTo>
                  <a:lnTo>
                    <a:pt x="457200" y="45720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0" name="object 3"/>
          <p:cNvGrpSpPr/>
          <p:nvPr/>
        </p:nvGrpSpPr>
        <p:grpSpPr>
          <a:xfrm>
            <a:off x="3818891" y="3848100"/>
            <a:ext cx="457200" cy="457200"/>
            <a:chOff x="2514600" y="3429000"/>
            <a:chExt cx="457200" cy="457200"/>
          </a:xfrm>
          <a:solidFill>
            <a:srgbClr val="FFFF00"/>
          </a:solidFill>
        </p:grpSpPr>
        <p:sp>
          <p:nvSpPr>
            <p:cNvPr id="61" name="object 4"/>
            <p:cNvSpPr/>
            <p:nvPr/>
          </p:nvSpPr>
          <p:spPr>
            <a:xfrm>
              <a:off x="2514600" y="3429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1585" y="4509"/>
                  </a:lnTo>
                  <a:lnTo>
                    <a:pt x="138231" y="17502"/>
                  </a:lnTo>
                  <a:lnTo>
                    <a:pt x="99342" y="38174"/>
                  </a:lnTo>
                  <a:lnTo>
                    <a:pt x="65722" y="65722"/>
                  </a:lnTo>
                  <a:lnTo>
                    <a:pt x="38174" y="99342"/>
                  </a:lnTo>
                  <a:lnTo>
                    <a:pt x="17502" y="138231"/>
                  </a:lnTo>
                  <a:lnTo>
                    <a:pt x="4509" y="181585"/>
                  </a:lnTo>
                  <a:lnTo>
                    <a:pt x="0" y="228600"/>
                  </a:lnTo>
                  <a:lnTo>
                    <a:pt x="4509" y="275614"/>
                  </a:lnTo>
                  <a:lnTo>
                    <a:pt x="17502" y="318968"/>
                  </a:lnTo>
                  <a:lnTo>
                    <a:pt x="38174" y="357857"/>
                  </a:lnTo>
                  <a:lnTo>
                    <a:pt x="65722" y="391477"/>
                  </a:lnTo>
                  <a:lnTo>
                    <a:pt x="99342" y="419025"/>
                  </a:lnTo>
                  <a:lnTo>
                    <a:pt x="138231" y="439697"/>
                  </a:lnTo>
                  <a:lnTo>
                    <a:pt x="181585" y="452690"/>
                  </a:lnTo>
                  <a:lnTo>
                    <a:pt x="228600" y="457200"/>
                  </a:lnTo>
                  <a:lnTo>
                    <a:pt x="275614" y="452690"/>
                  </a:lnTo>
                  <a:lnTo>
                    <a:pt x="318968" y="439697"/>
                  </a:lnTo>
                  <a:lnTo>
                    <a:pt x="357857" y="419025"/>
                  </a:lnTo>
                  <a:lnTo>
                    <a:pt x="391477" y="391477"/>
                  </a:lnTo>
                  <a:lnTo>
                    <a:pt x="419025" y="357857"/>
                  </a:lnTo>
                  <a:lnTo>
                    <a:pt x="439697" y="318968"/>
                  </a:lnTo>
                  <a:lnTo>
                    <a:pt x="452690" y="275614"/>
                  </a:lnTo>
                  <a:lnTo>
                    <a:pt x="457200" y="228600"/>
                  </a:lnTo>
                  <a:lnTo>
                    <a:pt x="452690" y="181585"/>
                  </a:lnTo>
                  <a:lnTo>
                    <a:pt x="439697" y="138231"/>
                  </a:lnTo>
                  <a:lnTo>
                    <a:pt x="419025" y="99342"/>
                  </a:lnTo>
                  <a:lnTo>
                    <a:pt x="391477" y="65722"/>
                  </a:lnTo>
                  <a:lnTo>
                    <a:pt x="357857" y="38174"/>
                  </a:lnTo>
                  <a:lnTo>
                    <a:pt x="318968" y="17502"/>
                  </a:lnTo>
                  <a:lnTo>
                    <a:pt x="275614" y="4509"/>
                  </a:lnTo>
                  <a:lnTo>
                    <a:pt x="228600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5"/>
            <p:cNvSpPr/>
            <p:nvPr/>
          </p:nvSpPr>
          <p:spPr>
            <a:xfrm>
              <a:off x="2514600" y="3429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275614" y="4509"/>
                  </a:lnTo>
                  <a:lnTo>
                    <a:pt x="318968" y="17502"/>
                  </a:lnTo>
                  <a:lnTo>
                    <a:pt x="357857" y="38174"/>
                  </a:lnTo>
                  <a:lnTo>
                    <a:pt x="391477" y="65722"/>
                  </a:lnTo>
                  <a:lnTo>
                    <a:pt x="419025" y="99342"/>
                  </a:lnTo>
                  <a:lnTo>
                    <a:pt x="439697" y="138231"/>
                  </a:lnTo>
                  <a:lnTo>
                    <a:pt x="452690" y="181585"/>
                  </a:lnTo>
                  <a:lnTo>
                    <a:pt x="457200" y="228600"/>
                  </a:lnTo>
                  <a:lnTo>
                    <a:pt x="452690" y="275614"/>
                  </a:lnTo>
                  <a:lnTo>
                    <a:pt x="439697" y="318968"/>
                  </a:lnTo>
                  <a:lnTo>
                    <a:pt x="419025" y="357857"/>
                  </a:lnTo>
                  <a:lnTo>
                    <a:pt x="391477" y="391477"/>
                  </a:lnTo>
                  <a:lnTo>
                    <a:pt x="357857" y="419025"/>
                  </a:lnTo>
                  <a:lnTo>
                    <a:pt x="318968" y="439697"/>
                  </a:lnTo>
                  <a:lnTo>
                    <a:pt x="275614" y="452690"/>
                  </a:lnTo>
                  <a:lnTo>
                    <a:pt x="228600" y="457200"/>
                  </a:lnTo>
                  <a:lnTo>
                    <a:pt x="181585" y="452690"/>
                  </a:lnTo>
                  <a:lnTo>
                    <a:pt x="138231" y="439697"/>
                  </a:lnTo>
                  <a:lnTo>
                    <a:pt x="99342" y="419025"/>
                  </a:lnTo>
                  <a:lnTo>
                    <a:pt x="65722" y="391477"/>
                  </a:lnTo>
                  <a:lnTo>
                    <a:pt x="38174" y="357857"/>
                  </a:lnTo>
                  <a:lnTo>
                    <a:pt x="17502" y="318968"/>
                  </a:lnTo>
                  <a:lnTo>
                    <a:pt x="4509" y="275614"/>
                  </a:lnTo>
                  <a:lnTo>
                    <a:pt x="0" y="228600"/>
                  </a:lnTo>
                  <a:lnTo>
                    <a:pt x="4509" y="181585"/>
                  </a:lnTo>
                  <a:lnTo>
                    <a:pt x="17502" y="138231"/>
                  </a:lnTo>
                  <a:lnTo>
                    <a:pt x="38174" y="99342"/>
                  </a:lnTo>
                  <a:lnTo>
                    <a:pt x="65722" y="65722"/>
                  </a:lnTo>
                  <a:lnTo>
                    <a:pt x="99342" y="38174"/>
                  </a:lnTo>
                  <a:lnTo>
                    <a:pt x="138231" y="17502"/>
                  </a:lnTo>
                  <a:lnTo>
                    <a:pt x="181585" y="4509"/>
                  </a:lnTo>
                  <a:lnTo>
                    <a:pt x="228600" y="0"/>
                  </a:lnTo>
                  <a:close/>
                </a:path>
                <a:path w="457200" h="457200">
                  <a:moveTo>
                    <a:pt x="0" y="0"/>
                  </a:moveTo>
                  <a:lnTo>
                    <a:pt x="0" y="0"/>
                  </a:lnTo>
                </a:path>
                <a:path w="457200" h="457200">
                  <a:moveTo>
                    <a:pt x="457200" y="457200"/>
                  </a:moveTo>
                  <a:lnTo>
                    <a:pt x="457200" y="457200"/>
                  </a:lnTo>
                </a:path>
              </a:pathLst>
            </a:custGeom>
            <a:grpFill/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7" name="object 3"/>
          <p:cNvGrpSpPr/>
          <p:nvPr/>
        </p:nvGrpSpPr>
        <p:grpSpPr>
          <a:xfrm>
            <a:off x="4275455" y="2707640"/>
            <a:ext cx="457200" cy="457200"/>
            <a:chOff x="2514600" y="3429000"/>
            <a:chExt cx="457200" cy="457200"/>
          </a:xfrm>
          <a:solidFill>
            <a:srgbClr val="C00000"/>
          </a:solidFill>
        </p:grpSpPr>
        <p:sp>
          <p:nvSpPr>
            <p:cNvPr id="58" name="object 4"/>
            <p:cNvSpPr/>
            <p:nvPr/>
          </p:nvSpPr>
          <p:spPr>
            <a:xfrm>
              <a:off x="2514600" y="3429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1585" y="4509"/>
                  </a:lnTo>
                  <a:lnTo>
                    <a:pt x="138231" y="17502"/>
                  </a:lnTo>
                  <a:lnTo>
                    <a:pt x="99342" y="38174"/>
                  </a:lnTo>
                  <a:lnTo>
                    <a:pt x="65722" y="65722"/>
                  </a:lnTo>
                  <a:lnTo>
                    <a:pt x="38174" y="99342"/>
                  </a:lnTo>
                  <a:lnTo>
                    <a:pt x="17502" y="138231"/>
                  </a:lnTo>
                  <a:lnTo>
                    <a:pt x="4509" y="181585"/>
                  </a:lnTo>
                  <a:lnTo>
                    <a:pt x="0" y="228600"/>
                  </a:lnTo>
                  <a:lnTo>
                    <a:pt x="4509" y="275614"/>
                  </a:lnTo>
                  <a:lnTo>
                    <a:pt x="17502" y="318968"/>
                  </a:lnTo>
                  <a:lnTo>
                    <a:pt x="38174" y="357857"/>
                  </a:lnTo>
                  <a:lnTo>
                    <a:pt x="65722" y="391477"/>
                  </a:lnTo>
                  <a:lnTo>
                    <a:pt x="99342" y="419025"/>
                  </a:lnTo>
                  <a:lnTo>
                    <a:pt x="138231" y="439697"/>
                  </a:lnTo>
                  <a:lnTo>
                    <a:pt x="181585" y="452690"/>
                  </a:lnTo>
                  <a:lnTo>
                    <a:pt x="228600" y="457200"/>
                  </a:lnTo>
                  <a:lnTo>
                    <a:pt x="275614" y="452690"/>
                  </a:lnTo>
                  <a:lnTo>
                    <a:pt x="318968" y="439697"/>
                  </a:lnTo>
                  <a:lnTo>
                    <a:pt x="357857" y="419025"/>
                  </a:lnTo>
                  <a:lnTo>
                    <a:pt x="391477" y="391477"/>
                  </a:lnTo>
                  <a:lnTo>
                    <a:pt x="419025" y="357857"/>
                  </a:lnTo>
                  <a:lnTo>
                    <a:pt x="439697" y="318968"/>
                  </a:lnTo>
                  <a:lnTo>
                    <a:pt x="452690" y="275614"/>
                  </a:lnTo>
                  <a:lnTo>
                    <a:pt x="457200" y="228600"/>
                  </a:lnTo>
                  <a:lnTo>
                    <a:pt x="452690" y="181585"/>
                  </a:lnTo>
                  <a:lnTo>
                    <a:pt x="439697" y="138231"/>
                  </a:lnTo>
                  <a:lnTo>
                    <a:pt x="419025" y="99342"/>
                  </a:lnTo>
                  <a:lnTo>
                    <a:pt x="391477" y="65722"/>
                  </a:lnTo>
                  <a:lnTo>
                    <a:pt x="357857" y="38174"/>
                  </a:lnTo>
                  <a:lnTo>
                    <a:pt x="318968" y="17502"/>
                  </a:lnTo>
                  <a:lnTo>
                    <a:pt x="275614" y="4509"/>
                  </a:lnTo>
                  <a:lnTo>
                    <a:pt x="228600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"/>
            <p:cNvSpPr/>
            <p:nvPr/>
          </p:nvSpPr>
          <p:spPr>
            <a:xfrm>
              <a:off x="2514600" y="3429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275614" y="4509"/>
                  </a:lnTo>
                  <a:lnTo>
                    <a:pt x="318968" y="17502"/>
                  </a:lnTo>
                  <a:lnTo>
                    <a:pt x="357857" y="38174"/>
                  </a:lnTo>
                  <a:lnTo>
                    <a:pt x="391477" y="65722"/>
                  </a:lnTo>
                  <a:lnTo>
                    <a:pt x="419025" y="99342"/>
                  </a:lnTo>
                  <a:lnTo>
                    <a:pt x="439697" y="138231"/>
                  </a:lnTo>
                  <a:lnTo>
                    <a:pt x="452690" y="181585"/>
                  </a:lnTo>
                  <a:lnTo>
                    <a:pt x="457200" y="228600"/>
                  </a:lnTo>
                  <a:lnTo>
                    <a:pt x="452690" y="275614"/>
                  </a:lnTo>
                  <a:lnTo>
                    <a:pt x="439697" y="318968"/>
                  </a:lnTo>
                  <a:lnTo>
                    <a:pt x="419025" y="357857"/>
                  </a:lnTo>
                  <a:lnTo>
                    <a:pt x="391477" y="391477"/>
                  </a:lnTo>
                  <a:lnTo>
                    <a:pt x="357857" y="419025"/>
                  </a:lnTo>
                  <a:lnTo>
                    <a:pt x="318968" y="439697"/>
                  </a:lnTo>
                  <a:lnTo>
                    <a:pt x="275614" y="452690"/>
                  </a:lnTo>
                  <a:lnTo>
                    <a:pt x="228600" y="457200"/>
                  </a:lnTo>
                  <a:lnTo>
                    <a:pt x="181585" y="452690"/>
                  </a:lnTo>
                  <a:lnTo>
                    <a:pt x="138231" y="439697"/>
                  </a:lnTo>
                  <a:lnTo>
                    <a:pt x="99342" y="419025"/>
                  </a:lnTo>
                  <a:lnTo>
                    <a:pt x="65722" y="391477"/>
                  </a:lnTo>
                  <a:lnTo>
                    <a:pt x="38174" y="357857"/>
                  </a:lnTo>
                  <a:lnTo>
                    <a:pt x="17502" y="318968"/>
                  </a:lnTo>
                  <a:lnTo>
                    <a:pt x="4509" y="275614"/>
                  </a:lnTo>
                  <a:lnTo>
                    <a:pt x="0" y="228600"/>
                  </a:lnTo>
                  <a:lnTo>
                    <a:pt x="4509" y="181585"/>
                  </a:lnTo>
                  <a:lnTo>
                    <a:pt x="17502" y="138231"/>
                  </a:lnTo>
                  <a:lnTo>
                    <a:pt x="38174" y="99342"/>
                  </a:lnTo>
                  <a:lnTo>
                    <a:pt x="65722" y="65722"/>
                  </a:lnTo>
                  <a:lnTo>
                    <a:pt x="99342" y="38174"/>
                  </a:lnTo>
                  <a:lnTo>
                    <a:pt x="138231" y="17502"/>
                  </a:lnTo>
                  <a:lnTo>
                    <a:pt x="181585" y="4509"/>
                  </a:lnTo>
                  <a:lnTo>
                    <a:pt x="228600" y="0"/>
                  </a:lnTo>
                  <a:close/>
                </a:path>
                <a:path w="457200" h="457200">
                  <a:moveTo>
                    <a:pt x="0" y="0"/>
                  </a:moveTo>
                  <a:lnTo>
                    <a:pt x="0" y="0"/>
                  </a:lnTo>
                </a:path>
                <a:path w="457200" h="457200">
                  <a:moveTo>
                    <a:pt x="457200" y="457200"/>
                  </a:moveTo>
                  <a:lnTo>
                    <a:pt x="457200" y="457200"/>
                  </a:lnTo>
                </a:path>
              </a:pathLst>
            </a:custGeom>
            <a:grpFill/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7" name="object 3"/>
          <p:cNvGrpSpPr/>
          <p:nvPr/>
        </p:nvGrpSpPr>
        <p:grpSpPr>
          <a:xfrm>
            <a:off x="1074420" y="2707640"/>
            <a:ext cx="457200" cy="457200"/>
            <a:chOff x="2514600" y="3429000"/>
            <a:chExt cx="457200" cy="457200"/>
          </a:xfrm>
          <a:solidFill>
            <a:srgbClr val="FFFF00"/>
          </a:solidFill>
        </p:grpSpPr>
        <p:sp>
          <p:nvSpPr>
            <p:cNvPr id="28" name="object 4"/>
            <p:cNvSpPr/>
            <p:nvPr/>
          </p:nvSpPr>
          <p:spPr>
            <a:xfrm>
              <a:off x="2514600" y="3429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1585" y="4509"/>
                  </a:lnTo>
                  <a:lnTo>
                    <a:pt x="138231" y="17502"/>
                  </a:lnTo>
                  <a:lnTo>
                    <a:pt x="99342" y="38174"/>
                  </a:lnTo>
                  <a:lnTo>
                    <a:pt x="65722" y="65722"/>
                  </a:lnTo>
                  <a:lnTo>
                    <a:pt x="38174" y="99342"/>
                  </a:lnTo>
                  <a:lnTo>
                    <a:pt x="17502" y="138231"/>
                  </a:lnTo>
                  <a:lnTo>
                    <a:pt x="4509" y="181585"/>
                  </a:lnTo>
                  <a:lnTo>
                    <a:pt x="0" y="228600"/>
                  </a:lnTo>
                  <a:lnTo>
                    <a:pt x="4509" y="275614"/>
                  </a:lnTo>
                  <a:lnTo>
                    <a:pt x="17502" y="318968"/>
                  </a:lnTo>
                  <a:lnTo>
                    <a:pt x="38174" y="357857"/>
                  </a:lnTo>
                  <a:lnTo>
                    <a:pt x="65722" y="391477"/>
                  </a:lnTo>
                  <a:lnTo>
                    <a:pt x="99342" y="419025"/>
                  </a:lnTo>
                  <a:lnTo>
                    <a:pt x="138231" y="439697"/>
                  </a:lnTo>
                  <a:lnTo>
                    <a:pt x="181585" y="452690"/>
                  </a:lnTo>
                  <a:lnTo>
                    <a:pt x="228600" y="457200"/>
                  </a:lnTo>
                  <a:lnTo>
                    <a:pt x="275614" y="452690"/>
                  </a:lnTo>
                  <a:lnTo>
                    <a:pt x="318968" y="439697"/>
                  </a:lnTo>
                  <a:lnTo>
                    <a:pt x="357857" y="419025"/>
                  </a:lnTo>
                  <a:lnTo>
                    <a:pt x="391477" y="391477"/>
                  </a:lnTo>
                  <a:lnTo>
                    <a:pt x="419025" y="357857"/>
                  </a:lnTo>
                  <a:lnTo>
                    <a:pt x="439697" y="318968"/>
                  </a:lnTo>
                  <a:lnTo>
                    <a:pt x="452690" y="275614"/>
                  </a:lnTo>
                  <a:lnTo>
                    <a:pt x="457200" y="228600"/>
                  </a:lnTo>
                  <a:lnTo>
                    <a:pt x="452690" y="181585"/>
                  </a:lnTo>
                  <a:lnTo>
                    <a:pt x="439697" y="138231"/>
                  </a:lnTo>
                  <a:lnTo>
                    <a:pt x="419025" y="99342"/>
                  </a:lnTo>
                  <a:lnTo>
                    <a:pt x="391477" y="65722"/>
                  </a:lnTo>
                  <a:lnTo>
                    <a:pt x="357857" y="38174"/>
                  </a:lnTo>
                  <a:lnTo>
                    <a:pt x="318968" y="17502"/>
                  </a:lnTo>
                  <a:lnTo>
                    <a:pt x="275614" y="4509"/>
                  </a:lnTo>
                  <a:lnTo>
                    <a:pt x="228600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5"/>
            <p:cNvSpPr/>
            <p:nvPr/>
          </p:nvSpPr>
          <p:spPr>
            <a:xfrm>
              <a:off x="2514600" y="3429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275614" y="4509"/>
                  </a:lnTo>
                  <a:lnTo>
                    <a:pt x="318968" y="17502"/>
                  </a:lnTo>
                  <a:lnTo>
                    <a:pt x="357857" y="38174"/>
                  </a:lnTo>
                  <a:lnTo>
                    <a:pt x="391477" y="65722"/>
                  </a:lnTo>
                  <a:lnTo>
                    <a:pt x="419025" y="99342"/>
                  </a:lnTo>
                  <a:lnTo>
                    <a:pt x="439697" y="138231"/>
                  </a:lnTo>
                  <a:lnTo>
                    <a:pt x="452690" y="181585"/>
                  </a:lnTo>
                  <a:lnTo>
                    <a:pt x="457200" y="228600"/>
                  </a:lnTo>
                  <a:lnTo>
                    <a:pt x="452690" y="275614"/>
                  </a:lnTo>
                  <a:lnTo>
                    <a:pt x="439697" y="318968"/>
                  </a:lnTo>
                  <a:lnTo>
                    <a:pt x="419025" y="357857"/>
                  </a:lnTo>
                  <a:lnTo>
                    <a:pt x="391477" y="391477"/>
                  </a:lnTo>
                  <a:lnTo>
                    <a:pt x="357857" y="419025"/>
                  </a:lnTo>
                  <a:lnTo>
                    <a:pt x="318968" y="439697"/>
                  </a:lnTo>
                  <a:lnTo>
                    <a:pt x="275614" y="452690"/>
                  </a:lnTo>
                  <a:lnTo>
                    <a:pt x="228600" y="457200"/>
                  </a:lnTo>
                  <a:lnTo>
                    <a:pt x="181585" y="452690"/>
                  </a:lnTo>
                  <a:lnTo>
                    <a:pt x="138231" y="439697"/>
                  </a:lnTo>
                  <a:lnTo>
                    <a:pt x="99342" y="419025"/>
                  </a:lnTo>
                  <a:lnTo>
                    <a:pt x="65722" y="391477"/>
                  </a:lnTo>
                  <a:lnTo>
                    <a:pt x="38174" y="357857"/>
                  </a:lnTo>
                  <a:lnTo>
                    <a:pt x="17502" y="318968"/>
                  </a:lnTo>
                  <a:lnTo>
                    <a:pt x="4509" y="275614"/>
                  </a:lnTo>
                  <a:lnTo>
                    <a:pt x="0" y="228600"/>
                  </a:lnTo>
                  <a:lnTo>
                    <a:pt x="4509" y="181585"/>
                  </a:lnTo>
                  <a:lnTo>
                    <a:pt x="17502" y="138231"/>
                  </a:lnTo>
                  <a:lnTo>
                    <a:pt x="38174" y="99342"/>
                  </a:lnTo>
                  <a:lnTo>
                    <a:pt x="65722" y="65722"/>
                  </a:lnTo>
                  <a:lnTo>
                    <a:pt x="99342" y="38174"/>
                  </a:lnTo>
                  <a:lnTo>
                    <a:pt x="138231" y="17502"/>
                  </a:lnTo>
                  <a:lnTo>
                    <a:pt x="181585" y="4509"/>
                  </a:lnTo>
                  <a:lnTo>
                    <a:pt x="228600" y="0"/>
                  </a:lnTo>
                  <a:close/>
                </a:path>
                <a:path w="457200" h="457200">
                  <a:moveTo>
                    <a:pt x="0" y="0"/>
                  </a:moveTo>
                  <a:lnTo>
                    <a:pt x="0" y="0"/>
                  </a:lnTo>
                </a:path>
                <a:path w="457200" h="457200">
                  <a:moveTo>
                    <a:pt x="457200" y="457200"/>
                  </a:moveTo>
                  <a:lnTo>
                    <a:pt x="457200" y="457200"/>
                  </a:lnTo>
                </a:path>
              </a:pathLst>
            </a:custGeom>
            <a:grpFill/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4" name="object 3"/>
          <p:cNvGrpSpPr/>
          <p:nvPr/>
        </p:nvGrpSpPr>
        <p:grpSpPr>
          <a:xfrm>
            <a:off x="1988820" y="1795145"/>
            <a:ext cx="457200" cy="457200"/>
            <a:chOff x="2514600" y="3429000"/>
            <a:chExt cx="457200" cy="457200"/>
          </a:xfrm>
          <a:solidFill>
            <a:srgbClr val="00FFFF"/>
          </a:solidFill>
        </p:grpSpPr>
        <p:sp>
          <p:nvSpPr>
            <p:cNvPr id="25" name="object 4"/>
            <p:cNvSpPr/>
            <p:nvPr/>
          </p:nvSpPr>
          <p:spPr>
            <a:xfrm>
              <a:off x="2514600" y="3429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1585" y="4509"/>
                  </a:lnTo>
                  <a:lnTo>
                    <a:pt x="138231" y="17502"/>
                  </a:lnTo>
                  <a:lnTo>
                    <a:pt x="99342" y="38174"/>
                  </a:lnTo>
                  <a:lnTo>
                    <a:pt x="65722" y="65722"/>
                  </a:lnTo>
                  <a:lnTo>
                    <a:pt x="38174" y="99342"/>
                  </a:lnTo>
                  <a:lnTo>
                    <a:pt x="17502" y="138231"/>
                  </a:lnTo>
                  <a:lnTo>
                    <a:pt x="4509" y="181585"/>
                  </a:lnTo>
                  <a:lnTo>
                    <a:pt x="0" y="228600"/>
                  </a:lnTo>
                  <a:lnTo>
                    <a:pt x="4509" y="275614"/>
                  </a:lnTo>
                  <a:lnTo>
                    <a:pt x="17502" y="318968"/>
                  </a:lnTo>
                  <a:lnTo>
                    <a:pt x="38174" y="357857"/>
                  </a:lnTo>
                  <a:lnTo>
                    <a:pt x="65722" y="391477"/>
                  </a:lnTo>
                  <a:lnTo>
                    <a:pt x="99342" y="419025"/>
                  </a:lnTo>
                  <a:lnTo>
                    <a:pt x="138231" y="439697"/>
                  </a:lnTo>
                  <a:lnTo>
                    <a:pt x="181585" y="452690"/>
                  </a:lnTo>
                  <a:lnTo>
                    <a:pt x="228600" y="457200"/>
                  </a:lnTo>
                  <a:lnTo>
                    <a:pt x="275614" y="452690"/>
                  </a:lnTo>
                  <a:lnTo>
                    <a:pt x="318968" y="439697"/>
                  </a:lnTo>
                  <a:lnTo>
                    <a:pt x="357857" y="419025"/>
                  </a:lnTo>
                  <a:lnTo>
                    <a:pt x="391477" y="391477"/>
                  </a:lnTo>
                  <a:lnTo>
                    <a:pt x="419025" y="357857"/>
                  </a:lnTo>
                  <a:lnTo>
                    <a:pt x="439697" y="318968"/>
                  </a:lnTo>
                  <a:lnTo>
                    <a:pt x="452690" y="275614"/>
                  </a:lnTo>
                  <a:lnTo>
                    <a:pt x="457200" y="228600"/>
                  </a:lnTo>
                  <a:lnTo>
                    <a:pt x="452690" y="181585"/>
                  </a:lnTo>
                  <a:lnTo>
                    <a:pt x="439697" y="138231"/>
                  </a:lnTo>
                  <a:lnTo>
                    <a:pt x="419025" y="99342"/>
                  </a:lnTo>
                  <a:lnTo>
                    <a:pt x="391477" y="65722"/>
                  </a:lnTo>
                  <a:lnTo>
                    <a:pt x="357857" y="38174"/>
                  </a:lnTo>
                  <a:lnTo>
                    <a:pt x="318968" y="17502"/>
                  </a:lnTo>
                  <a:lnTo>
                    <a:pt x="275614" y="4509"/>
                  </a:lnTo>
                  <a:lnTo>
                    <a:pt x="228600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5"/>
            <p:cNvSpPr/>
            <p:nvPr/>
          </p:nvSpPr>
          <p:spPr>
            <a:xfrm>
              <a:off x="2514600" y="3429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275614" y="4509"/>
                  </a:lnTo>
                  <a:lnTo>
                    <a:pt x="318968" y="17502"/>
                  </a:lnTo>
                  <a:lnTo>
                    <a:pt x="357857" y="38174"/>
                  </a:lnTo>
                  <a:lnTo>
                    <a:pt x="391477" y="65722"/>
                  </a:lnTo>
                  <a:lnTo>
                    <a:pt x="419025" y="99342"/>
                  </a:lnTo>
                  <a:lnTo>
                    <a:pt x="439697" y="138231"/>
                  </a:lnTo>
                  <a:lnTo>
                    <a:pt x="452690" y="181585"/>
                  </a:lnTo>
                  <a:lnTo>
                    <a:pt x="457200" y="228600"/>
                  </a:lnTo>
                  <a:lnTo>
                    <a:pt x="452690" y="275614"/>
                  </a:lnTo>
                  <a:lnTo>
                    <a:pt x="439697" y="318968"/>
                  </a:lnTo>
                  <a:lnTo>
                    <a:pt x="419025" y="357857"/>
                  </a:lnTo>
                  <a:lnTo>
                    <a:pt x="391477" y="391477"/>
                  </a:lnTo>
                  <a:lnTo>
                    <a:pt x="357857" y="419025"/>
                  </a:lnTo>
                  <a:lnTo>
                    <a:pt x="318968" y="439697"/>
                  </a:lnTo>
                  <a:lnTo>
                    <a:pt x="275614" y="452690"/>
                  </a:lnTo>
                  <a:lnTo>
                    <a:pt x="228600" y="457200"/>
                  </a:lnTo>
                  <a:lnTo>
                    <a:pt x="181585" y="452690"/>
                  </a:lnTo>
                  <a:lnTo>
                    <a:pt x="138231" y="439697"/>
                  </a:lnTo>
                  <a:lnTo>
                    <a:pt x="99342" y="419025"/>
                  </a:lnTo>
                  <a:lnTo>
                    <a:pt x="65722" y="391477"/>
                  </a:lnTo>
                  <a:lnTo>
                    <a:pt x="38174" y="357857"/>
                  </a:lnTo>
                  <a:lnTo>
                    <a:pt x="17502" y="318968"/>
                  </a:lnTo>
                  <a:lnTo>
                    <a:pt x="4509" y="275614"/>
                  </a:lnTo>
                  <a:lnTo>
                    <a:pt x="0" y="228600"/>
                  </a:lnTo>
                  <a:lnTo>
                    <a:pt x="4509" y="181585"/>
                  </a:lnTo>
                  <a:lnTo>
                    <a:pt x="17502" y="138231"/>
                  </a:lnTo>
                  <a:lnTo>
                    <a:pt x="38174" y="99342"/>
                  </a:lnTo>
                  <a:lnTo>
                    <a:pt x="65722" y="65722"/>
                  </a:lnTo>
                  <a:lnTo>
                    <a:pt x="99342" y="38174"/>
                  </a:lnTo>
                  <a:lnTo>
                    <a:pt x="138231" y="17502"/>
                  </a:lnTo>
                  <a:lnTo>
                    <a:pt x="181585" y="4509"/>
                  </a:lnTo>
                  <a:lnTo>
                    <a:pt x="228600" y="0"/>
                  </a:lnTo>
                  <a:close/>
                </a:path>
                <a:path w="457200" h="457200">
                  <a:moveTo>
                    <a:pt x="0" y="0"/>
                  </a:moveTo>
                  <a:lnTo>
                    <a:pt x="0" y="0"/>
                  </a:lnTo>
                </a:path>
                <a:path w="457200" h="457200">
                  <a:moveTo>
                    <a:pt x="457200" y="457200"/>
                  </a:moveTo>
                  <a:lnTo>
                    <a:pt x="457200" y="457200"/>
                  </a:lnTo>
                </a:path>
              </a:pathLst>
            </a:custGeom>
            <a:grpFill/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1" name="object 3"/>
          <p:cNvGrpSpPr/>
          <p:nvPr/>
        </p:nvGrpSpPr>
        <p:grpSpPr>
          <a:xfrm>
            <a:off x="3361055" y="1795145"/>
            <a:ext cx="457200" cy="457200"/>
            <a:chOff x="2514600" y="3429000"/>
            <a:chExt cx="457200" cy="457200"/>
          </a:xfrm>
        </p:grpSpPr>
        <p:sp>
          <p:nvSpPr>
            <p:cNvPr id="22" name="object 4"/>
            <p:cNvSpPr/>
            <p:nvPr/>
          </p:nvSpPr>
          <p:spPr>
            <a:xfrm>
              <a:off x="2514600" y="3429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1585" y="4509"/>
                  </a:lnTo>
                  <a:lnTo>
                    <a:pt x="138231" y="17502"/>
                  </a:lnTo>
                  <a:lnTo>
                    <a:pt x="99342" y="38174"/>
                  </a:lnTo>
                  <a:lnTo>
                    <a:pt x="65722" y="65722"/>
                  </a:lnTo>
                  <a:lnTo>
                    <a:pt x="38174" y="99342"/>
                  </a:lnTo>
                  <a:lnTo>
                    <a:pt x="17502" y="138231"/>
                  </a:lnTo>
                  <a:lnTo>
                    <a:pt x="4509" y="181585"/>
                  </a:lnTo>
                  <a:lnTo>
                    <a:pt x="0" y="228600"/>
                  </a:lnTo>
                  <a:lnTo>
                    <a:pt x="4509" y="275614"/>
                  </a:lnTo>
                  <a:lnTo>
                    <a:pt x="17502" y="318968"/>
                  </a:lnTo>
                  <a:lnTo>
                    <a:pt x="38174" y="357857"/>
                  </a:lnTo>
                  <a:lnTo>
                    <a:pt x="65722" y="391477"/>
                  </a:lnTo>
                  <a:lnTo>
                    <a:pt x="99342" y="419025"/>
                  </a:lnTo>
                  <a:lnTo>
                    <a:pt x="138231" y="439697"/>
                  </a:lnTo>
                  <a:lnTo>
                    <a:pt x="181585" y="452690"/>
                  </a:lnTo>
                  <a:lnTo>
                    <a:pt x="228600" y="457200"/>
                  </a:lnTo>
                  <a:lnTo>
                    <a:pt x="275614" y="452690"/>
                  </a:lnTo>
                  <a:lnTo>
                    <a:pt x="318968" y="439697"/>
                  </a:lnTo>
                  <a:lnTo>
                    <a:pt x="357857" y="419025"/>
                  </a:lnTo>
                  <a:lnTo>
                    <a:pt x="391477" y="391477"/>
                  </a:lnTo>
                  <a:lnTo>
                    <a:pt x="419025" y="357857"/>
                  </a:lnTo>
                  <a:lnTo>
                    <a:pt x="439697" y="318968"/>
                  </a:lnTo>
                  <a:lnTo>
                    <a:pt x="452690" y="275614"/>
                  </a:lnTo>
                  <a:lnTo>
                    <a:pt x="457200" y="228600"/>
                  </a:lnTo>
                  <a:lnTo>
                    <a:pt x="452690" y="181585"/>
                  </a:lnTo>
                  <a:lnTo>
                    <a:pt x="439697" y="138231"/>
                  </a:lnTo>
                  <a:lnTo>
                    <a:pt x="419025" y="99342"/>
                  </a:lnTo>
                  <a:lnTo>
                    <a:pt x="391477" y="65722"/>
                  </a:lnTo>
                  <a:lnTo>
                    <a:pt x="357857" y="38174"/>
                  </a:lnTo>
                  <a:lnTo>
                    <a:pt x="318968" y="17502"/>
                  </a:lnTo>
                  <a:lnTo>
                    <a:pt x="275614" y="4509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FF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5"/>
            <p:cNvSpPr/>
            <p:nvPr/>
          </p:nvSpPr>
          <p:spPr>
            <a:xfrm>
              <a:off x="2514600" y="3429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275614" y="4509"/>
                  </a:lnTo>
                  <a:lnTo>
                    <a:pt x="318968" y="17502"/>
                  </a:lnTo>
                  <a:lnTo>
                    <a:pt x="357857" y="38174"/>
                  </a:lnTo>
                  <a:lnTo>
                    <a:pt x="391477" y="65722"/>
                  </a:lnTo>
                  <a:lnTo>
                    <a:pt x="419025" y="99342"/>
                  </a:lnTo>
                  <a:lnTo>
                    <a:pt x="439697" y="138231"/>
                  </a:lnTo>
                  <a:lnTo>
                    <a:pt x="452690" y="181585"/>
                  </a:lnTo>
                  <a:lnTo>
                    <a:pt x="457200" y="228600"/>
                  </a:lnTo>
                  <a:lnTo>
                    <a:pt x="452690" y="275614"/>
                  </a:lnTo>
                  <a:lnTo>
                    <a:pt x="439697" y="318968"/>
                  </a:lnTo>
                  <a:lnTo>
                    <a:pt x="419025" y="357857"/>
                  </a:lnTo>
                  <a:lnTo>
                    <a:pt x="391477" y="391477"/>
                  </a:lnTo>
                  <a:lnTo>
                    <a:pt x="357857" y="419025"/>
                  </a:lnTo>
                  <a:lnTo>
                    <a:pt x="318968" y="439697"/>
                  </a:lnTo>
                  <a:lnTo>
                    <a:pt x="275614" y="452690"/>
                  </a:lnTo>
                  <a:lnTo>
                    <a:pt x="228600" y="457200"/>
                  </a:lnTo>
                  <a:lnTo>
                    <a:pt x="181585" y="452690"/>
                  </a:lnTo>
                  <a:lnTo>
                    <a:pt x="138231" y="439697"/>
                  </a:lnTo>
                  <a:lnTo>
                    <a:pt x="99342" y="419025"/>
                  </a:lnTo>
                  <a:lnTo>
                    <a:pt x="65722" y="391477"/>
                  </a:lnTo>
                  <a:lnTo>
                    <a:pt x="38174" y="357857"/>
                  </a:lnTo>
                  <a:lnTo>
                    <a:pt x="17502" y="318968"/>
                  </a:lnTo>
                  <a:lnTo>
                    <a:pt x="4509" y="275614"/>
                  </a:lnTo>
                  <a:lnTo>
                    <a:pt x="0" y="228600"/>
                  </a:lnTo>
                  <a:lnTo>
                    <a:pt x="4509" y="181585"/>
                  </a:lnTo>
                  <a:lnTo>
                    <a:pt x="17502" y="138231"/>
                  </a:lnTo>
                  <a:lnTo>
                    <a:pt x="38174" y="99342"/>
                  </a:lnTo>
                  <a:lnTo>
                    <a:pt x="65722" y="65722"/>
                  </a:lnTo>
                  <a:lnTo>
                    <a:pt x="99342" y="38174"/>
                  </a:lnTo>
                  <a:lnTo>
                    <a:pt x="138231" y="17502"/>
                  </a:lnTo>
                  <a:lnTo>
                    <a:pt x="181585" y="4509"/>
                  </a:lnTo>
                  <a:lnTo>
                    <a:pt x="228600" y="0"/>
                  </a:lnTo>
                  <a:close/>
                </a:path>
                <a:path w="457200" h="457200">
                  <a:moveTo>
                    <a:pt x="0" y="0"/>
                  </a:moveTo>
                  <a:lnTo>
                    <a:pt x="0" y="0"/>
                  </a:lnTo>
                </a:path>
                <a:path w="457200" h="457200">
                  <a:moveTo>
                    <a:pt x="457200" y="457200"/>
                  </a:moveTo>
                  <a:lnTo>
                    <a:pt x="457200" y="45720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b="1" dirty="0">
                <a:latin typeface="楷体_GB2312" panose="02010609030101010101" charset="-122"/>
                <a:ea typeface="楷体_GB2312" panose="02010609030101010101" charset="-122"/>
                <a:sym typeface="+mn-ea"/>
              </a:rPr>
              <a:t>图着色算法示例</a:t>
            </a:r>
            <a:r>
              <a:rPr lang="en-US" altLang="zh-CN" b="1" dirty="0">
                <a:latin typeface="楷体_GB2312" panose="02010609030101010101" charset="-122"/>
                <a:ea typeface="楷体_GB2312" panose="02010609030101010101" charset="-122"/>
                <a:sym typeface="+mn-ea"/>
              </a:rPr>
              <a:t>2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55</a:t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object 25"/>
          <p:cNvSpPr/>
          <p:nvPr/>
        </p:nvSpPr>
        <p:spPr>
          <a:xfrm>
            <a:off x="1074420" y="269938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noFill/>
          <a:ln w="3175">
            <a:solidFill>
              <a:srgbClr val="0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</a:extLst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26"/>
          <p:cNvSpPr txBox="1"/>
          <p:nvPr/>
        </p:nvSpPr>
        <p:spPr>
          <a:xfrm>
            <a:off x="1191261" y="2673985"/>
            <a:ext cx="224155" cy="4129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600" b="1" dirty="0">
                <a:solidFill>
                  <a:srgbClr val="191919"/>
                </a:solidFill>
                <a:latin typeface="Courier New" panose="02070409020205020404"/>
                <a:cs typeface="Courier New" panose="02070409020205020404"/>
              </a:rPr>
              <a:t>a</a:t>
            </a:r>
            <a:endParaRPr sz="2600">
              <a:latin typeface="Courier New" panose="02070409020205020404"/>
              <a:cs typeface="Courier New" panose="02070409020205020404"/>
            </a:endParaRPr>
          </a:p>
        </p:txBody>
      </p:sp>
      <p:sp>
        <p:nvSpPr>
          <p:cNvPr id="33" name="object 27"/>
          <p:cNvSpPr/>
          <p:nvPr/>
        </p:nvSpPr>
        <p:spPr>
          <a:xfrm>
            <a:off x="1988820" y="178498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noFill/>
          <a:ln w="3175">
            <a:solidFill>
              <a:srgbClr val="0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00FFFF"/>
                </a:solidFill>
              </a14:hiddenFill>
            </a:ext>
          </a:extLst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28"/>
          <p:cNvSpPr txBox="1"/>
          <p:nvPr/>
        </p:nvSpPr>
        <p:spPr>
          <a:xfrm>
            <a:off x="2105663" y="1759585"/>
            <a:ext cx="224155" cy="4129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600" b="1" dirty="0">
                <a:solidFill>
                  <a:srgbClr val="191919"/>
                </a:solidFill>
                <a:latin typeface="Courier New" panose="02070409020205020404"/>
                <a:cs typeface="Courier New" panose="02070409020205020404"/>
              </a:rPr>
              <a:t>b</a:t>
            </a:r>
            <a:endParaRPr sz="2600">
              <a:latin typeface="Courier New" panose="02070409020205020404"/>
              <a:cs typeface="Courier New" panose="02070409020205020404"/>
            </a:endParaRPr>
          </a:p>
        </p:txBody>
      </p:sp>
      <p:sp>
        <p:nvSpPr>
          <p:cNvPr id="35" name="object 29"/>
          <p:cNvSpPr/>
          <p:nvPr/>
        </p:nvSpPr>
        <p:spPr>
          <a:xfrm>
            <a:off x="3360420" y="178498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noFill/>
          <a:ln w="3175">
            <a:solidFill>
              <a:srgbClr val="0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00FF"/>
                </a:solidFill>
              </a14:hiddenFill>
            </a:ext>
          </a:extLst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0"/>
          <p:cNvSpPr txBox="1"/>
          <p:nvPr/>
        </p:nvSpPr>
        <p:spPr>
          <a:xfrm>
            <a:off x="3477263" y="1759585"/>
            <a:ext cx="224155" cy="4129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600" b="1" dirty="0">
                <a:solidFill>
                  <a:srgbClr val="191919"/>
                </a:solidFill>
                <a:latin typeface="Courier New" panose="02070409020205020404"/>
                <a:cs typeface="Courier New" panose="02070409020205020404"/>
              </a:rPr>
              <a:t>c</a:t>
            </a:r>
            <a:endParaRPr sz="2600">
              <a:latin typeface="Courier New" panose="02070409020205020404"/>
              <a:cs typeface="Courier New" panose="02070409020205020404"/>
            </a:endParaRPr>
          </a:p>
        </p:txBody>
      </p:sp>
      <p:sp>
        <p:nvSpPr>
          <p:cNvPr id="37" name="object 31"/>
          <p:cNvSpPr/>
          <p:nvPr/>
        </p:nvSpPr>
        <p:spPr>
          <a:xfrm>
            <a:off x="4274820" y="270573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noFill/>
          <a:ln w="3175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75000"/>
                  </a:schemeClr>
                </a:solidFill>
              </a14:hiddenFill>
            </a:ext>
          </a:extLst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2"/>
          <p:cNvSpPr txBox="1"/>
          <p:nvPr/>
        </p:nvSpPr>
        <p:spPr>
          <a:xfrm>
            <a:off x="4391663" y="2673985"/>
            <a:ext cx="224155" cy="412934"/>
          </a:xfrm>
          <a:prstGeom prst="rect">
            <a:avLst/>
          </a:prstGeom>
          <a:ln>
            <a:noFill/>
          </a:ln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600" b="1" dirty="0">
                <a:latin typeface="Courier New" panose="02070409020205020404"/>
                <a:cs typeface="Courier New" panose="02070409020205020404"/>
              </a:rPr>
              <a:t>d</a:t>
            </a:r>
          </a:p>
        </p:txBody>
      </p:sp>
      <p:sp>
        <p:nvSpPr>
          <p:cNvPr id="39" name="object 33"/>
          <p:cNvSpPr/>
          <p:nvPr/>
        </p:nvSpPr>
        <p:spPr>
          <a:xfrm>
            <a:off x="3817620" y="384238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noFill/>
          <a:ln w="3175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</a:extLst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34"/>
          <p:cNvSpPr txBox="1"/>
          <p:nvPr/>
        </p:nvSpPr>
        <p:spPr>
          <a:xfrm>
            <a:off x="3934463" y="3816985"/>
            <a:ext cx="224155" cy="412934"/>
          </a:xfrm>
          <a:prstGeom prst="rect">
            <a:avLst/>
          </a:prstGeom>
          <a:ln>
            <a:noFill/>
          </a:ln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600" b="1" dirty="0">
                <a:latin typeface="Courier New" panose="02070409020205020404"/>
                <a:cs typeface="Courier New" panose="02070409020205020404"/>
              </a:rPr>
              <a:t>e</a:t>
            </a:r>
          </a:p>
        </p:txBody>
      </p:sp>
      <p:sp>
        <p:nvSpPr>
          <p:cNvPr id="41" name="object 35"/>
          <p:cNvSpPr/>
          <p:nvPr/>
        </p:nvSpPr>
        <p:spPr>
          <a:xfrm>
            <a:off x="2674620" y="452818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noFill/>
          <a:ln w="3175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85000"/>
                  </a:schemeClr>
                </a:solidFill>
              </a14:hiddenFill>
            </a:ext>
          </a:extLst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36"/>
          <p:cNvSpPr txBox="1"/>
          <p:nvPr/>
        </p:nvSpPr>
        <p:spPr>
          <a:xfrm>
            <a:off x="2791463" y="4502785"/>
            <a:ext cx="224155" cy="412934"/>
          </a:xfrm>
          <a:prstGeom prst="rect">
            <a:avLst/>
          </a:prstGeom>
          <a:ln>
            <a:noFill/>
          </a:ln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600" b="1" dirty="0">
                <a:latin typeface="Courier New" panose="02070409020205020404"/>
                <a:cs typeface="Courier New" panose="02070409020205020404"/>
              </a:rPr>
              <a:t>f</a:t>
            </a:r>
          </a:p>
        </p:txBody>
      </p:sp>
      <p:sp>
        <p:nvSpPr>
          <p:cNvPr id="43" name="object 37"/>
          <p:cNvSpPr/>
          <p:nvPr/>
        </p:nvSpPr>
        <p:spPr>
          <a:xfrm>
            <a:off x="1531620" y="384238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noFill/>
          <a:ln w="3175">
            <a:solidFill>
              <a:schemeClr val="bg1">
                <a:lumMod val="6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</a:extLst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38"/>
          <p:cNvSpPr txBox="1"/>
          <p:nvPr/>
        </p:nvSpPr>
        <p:spPr>
          <a:xfrm>
            <a:off x="1648463" y="3816985"/>
            <a:ext cx="224155" cy="412934"/>
          </a:xfrm>
          <a:prstGeom prst="rect">
            <a:avLst/>
          </a:prstGeom>
          <a:ln>
            <a:noFill/>
          </a:ln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600" b="1" dirty="0">
                <a:solidFill>
                  <a:schemeClr val="bg1">
                    <a:lumMod val="65000"/>
                  </a:schemeClr>
                </a:solidFill>
                <a:latin typeface="Courier New" panose="02070409020205020404"/>
                <a:cs typeface="Courier New" panose="02070409020205020404"/>
              </a:rPr>
              <a:t>g</a:t>
            </a:r>
          </a:p>
        </p:txBody>
      </p:sp>
      <p:cxnSp>
        <p:nvCxnSpPr>
          <p:cNvPr id="47" name="直接连接符 46"/>
          <p:cNvCxnSpPr/>
          <p:nvPr/>
        </p:nvCxnSpPr>
        <p:spPr>
          <a:xfrm>
            <a:off x="2265048" y="2242821"/>
            <a:ext cx="1623695" cy="16687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/>
          <p:cNvCxnSpPr/>
          <p:nvPr/>
        </p:nvCxnSpPr>
        <p:spPr>
          <a:xfrm>
            <a:off x="3599817" y="2252347"/>
            <a:ext cx="369571" cy="159575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连接符 48"/>
          <p:cNvCxnSpPr/>
          <p:nvPr/>
        </p:nvCxnSpPr>
        <p:spPr>
          <a:xfrm>
            <a:off x="2157095" y="2252345"/>
            <a:ext cx="746760" cy="22504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连接符 49"/>
          <p:cNvCxnSpPr/>
          <p:nvPr/>
        </p:nvCxnSpPr>
        <p:spPr>
          <a:xfrm flipH="1">
            <a:off x="3148968" y="4272282"/>
            <a:ext cx="739775" cy="40576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object 57"/>
          <p:cNvGraphicFramePr>
            <a:graphicFrameLocks noGrp="1"/>
          </p:cNvGraphicFramePr>
          <p:nvPr/>
        </p:nvGraphicFramePr>
        <p:xfrm>
          <a:off x="1447800" y="5366385"/>
          <a:ext cx="2743200" cy="45770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708">
                <a:tc>
                  <a:txBody>
                    <a:bodyPr/>
                    <a:lstStyle/>
                    <a:p>
                      <a:pPr marL="254000">
                        <a:lnSpc>
                          <a:spcPts val="2940"/>
                        </a:lnSpc>
                      </a:pPr>
                      <a:r>
                        <a:rPr sz="2700" b="1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R</a:t>
                      </a:r>
                      <a:r>
                        <a:rPr sz="2300" b="1" baseline="-31000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0</a:t>
                      </a:r>
                      <a:endParaRPr sz="2300" baseline="-31000">
                        <a:latin typeface="DejaVu Serif" panose="02060603050605020204"/>
                        <a:cs typeface="DejaVu Serif" panose="02060603050605020204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254000">
                        <a:lnSpc>
                          <a:spcPts val="2940"/>
                        </a:lnSpc>
                      </a:pPr>
                      <a:r>
                        <a:rPr sz="2700" b="1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R</a:t>
                      </a:r>
                      <a:r>
                        <a:rPr sz="2300" b="1" baseline="-31000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1</a:t>
                      </a:r>
                      <a:endParaRPr sz="2300" baseline="-31000">
                        <a:latin typeface="DejaVu Serif" panose="02060603050605020204"/>
                        <a:cs typeface="DejaVu Serif" panose="02060603050605020204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254000">
                        <a:lnSpc>
                          <a:spcPts val="2940"/>
                        </a:lnSpc>
                      </a:pPr>
                      <a:r>
                        <a:rPr sz="2700" b="1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R</a:t>
                      </a:r>
                      <a:r>
                        <a:rPr sz="2300" b="1" baseline="-31000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2</a:t>
                      </a:r>
                      <a:endParaRPr sz="2300" baseline="-31000">
                        <a:latin typeface="DejaVu Serif" panose="02060603050605020204"/>
                        <a:cs typeface="DejaVu Serif" panose="02060603050605020204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F0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2" name="直接连接符 11"/>
          <p:cNvCxnSpPr/>
          <p:nvPr/>
        </p:nvCxnSpPr>
        <p:spPr>
          <a:xfrm flipH="1">
            <a:off x="1417956" y="2148842"/>
            <a:ext cx="594995" cy="57721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 flipH="1">
            <a:off x="1544959" y="2851788"/>
            <a:ext cx="2704465" cy="127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 flipH="1" flipV="1">
            <a:off x="3771904" y="2184400"/>
            <a:ext cx="577215" cy="5232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连接符 50"/>
          <p:cNvCxnSpPr/>
          <p:nvPr/>
        </p:nvCxnSpPr>
        <p:spPr>
          <a:xfrm flipH="1">
            <a:off x="2463803" y="1968500"/>
            <a:ext cx="87503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连接符 51"/>
          <p:cNvCxnSpPr/>
          <p:nvPr/>
        </p:nvCxnSpPr>
        <p:spPr>
          <a:xfrm flipH="1">
            <a:off x="1499236" y="2184401"/>
            <a:ext cx="1929765" cy="6223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连接符 52"/>
          <p:cNvCxnSpPr/>
          <p:nvPr/>
        </p:nvCxnSpPr>
        <p:spPr>
          <a:xfrm flipH="1" flipV="1">
            <a:off x="2428241" y="2130428"/>
            <a:ext cx="1902460" cy="6673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object 37"/>
          <p:cNvSpPr/>
          <p:nvPr/>
        </p:nvSpPr>
        <p:spPr>
          <a:xfrm>
            <a:off x="7498399" y="458914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noFill/>
          <a:ln w="3175">
            <a:solidFill>
              <a:srgbClr val="0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</a:extLst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38"/>
          <p:cNvSpPr txBox="1"/>
          <p:nvPr/>
        </p:nvSpPr>
        <p:spPr>
          <a:xfrm>
            <a:off x="7614923" y="4563745"/>
            <a:ext cx="224155" cy="4129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600" b="1" dirty="0">
                <a:solidFill>
                  <a:srgbClr val="191919"/>
                </a:solidFill>
                <a:latin typeface="Courier New" panose="02070409020205020404"/>
                <a:cs typeface="Courier New" panose="02070409020205020404"/>
              </a:rPr>
              <a:t>g</a:t>
            </a:r>
            <a:endParaRPr sz="2600">
              <a:latin typeface="Courier New" panose="02070409020205020404"/>
              <a:cs typeface="Courier New" panose="02070409020205020404"/>
            </a:endParaRPr>
          </a:p>
        </p:txBody>
      </p:sp>
      <p:sp>
        <p:nvSpPr>
          <p:cNvPr id="56" name="object 33"/>
          <p:cNvSpPr txBox="1"/>
          <p:nvPr/>
        </p:nvSpPr>
        <p:spPr>
          <a:xfrm>
            <a:off x="4883788" y="2762888"/>
            <a:ext cx="1054735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i="1" spc="-5" dirty="0">
                <a:solidFill>
                  <a:srgbClr val="191919"/>
                </a:solidFill>
                <a:latin typeface="DejaVu Serif" panose="02060603050605020204"/>
                <a:cs typeface="DejaVu Serif" panose="02060603050605020204"/>
              </a:rPr>
              <a:t>(</a:t>
            </a:r>
            <a:r>
              <a:rPr sz="2000" i="1" spc="-5" dirty="0">
                <a:solidFill>
                  <a:srgbClr val="191919"/>
                </a:solidFill>
                <a:latin typeface="DejaVu Serif" panose="02060603050605020204"/>
                <a:cs typeface="DejaVu Serif" panose="02060603050605020204"/>
              </a:rPr>
              <a:t>spilled</a:t>
            </a:r>
            <a:r>
              <a:rPr i="1" spc="-5" dirty="0">
                <a:solidFill>
                  <a:srgbClr val="191919"/>
                </a:solidFill>
                <a:latin typeface="DejaVu Serif" panose="02060603050605020204"/>
                <a:cs typeface="DejaVu Serif" panose="02060603050605020204"/>
              </a:rPr>
              <a:t>)</a:t>
            </a:r>
            <a:endParaRPr>
              <a:latin typeface="DejaVu Serif" panose="02060603050605020204"/>
              <a:cs typeface="DejaVu Serif" panose="0206060305060502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object 3"/>
          <p:cNvGrpSpPr/>
          <p:nvPr/>
        </p:nvGrpSpPr>
        <p:grpSpPr>
          <a:xfrm>
            <a:off x="1531620" y="3848100"/>
            <a:ext cx="457200" cy="457200"/>
            <a:chOff x="2514600" y="3429000"/>
            <a:chExt cx="457200" cy="457200"/>
          </a:xfrm>
          <a:solidFill>
            <a:srgbClr val="00FFFF"/>
          </a:solidFill>
        </p:grpSpPr>
        <p:sp>
          <p:nvSpPr>
            <p:cNvPr id="16" name="object 4"/>
            <p:cNvSpPr/>
            <p:nvPr/>
          </p:nvSpPr>
          <p:spPr>
            <a:xfrm>
              <a:off x="2514600" y="3429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1585" y="4509"/>
                  </a:lnTo>
                  <a:lnTo>
                    <a:pt x="138231" y="17502"/>
                  </a:lnTo>
                  <a:lnTo>
                    <a:pt x="99342" y="38174"/>
                  </a:lnTo>
                  <a:lnTo>
                    <a:pt x="65722" y="65722"/>
                  </a:lnTo>
                  <a:lnTo>
                    <a:pt x="38174" y="99342"/>
                  </a:lnTo>
                  <a:lnTo>
                    <a:pt x="17502" y="138231"/>
                  </a:lnTo>
                  <a:lnTo>
                    <a:pt x="4509" y="181585"/>
                  </a:lnTo>
                  <a:lnTo>
                    <a:pt x="0" y="228600"/>
                  </a:lnTo>
                  <a:lnTo>
                    <a:pt x="4509" y="275614"/>
                  </a:lnTo>
                  <a:lnTo>
                    <a:pt x="17502" y="318968"/>
                  </a:lnTo>
                  <a:lnTo>
                    <a:pt x="38174" y="357857"/>
                  </a:lnTo>
                  <a:lnTo>
                    <a:pt x="65722" y="391477"/>
                  </a:lnTo>
                  <a:lnTo>
                    <a:pt x="99342" y="419025"/>
                  </a:lnTo>
                  <a:lnTo>
                    <a:pt x="138231" y="439697"/>
                  </a:lnTo>
                  <a:lnTo>
                    <a:pt x="181585" y="452690"/>
                  </a:lnTo>
                  <a:lnTo>
                    <a:pt x="228600" y="457200"/>
                  </a:lnTo>
                  <a:lnTo>
                    <a:pt x="275614" y="452690"/>
                  </a:lnTo>
                  <a:lnTo>
                    <a:pt x="318968" y="439697"/>
                  </a:lnTo>
                  <a:lnTo>
                    <a:pt x="357857" y="419025"/>
                  </a:lnTo>
                  <a:lnTo>
                    <a:pt x="391477" y="391477"/>
                  </a:lnTo>
                  <a:lnTo>
                    <a:pt x="419025" y="357857"/>
                  </a:lnTo>
                  <a:lnTo>
                    <a:pt x="439697" y="318968"/>
                  </a:lnTo>
                  <a:lnTo>
                    <a:pt x="452690" y="275614"/>
                  </a:lnTo>
                  <a:lnTo>
                    <a:pt x="457200" y="228600"/>
                  </a:lnTo>
                  <a:lnTo>
                    <a:pt x="452690" y="181585"/>
                  </a:lnTo>
                  <a:lnTo>
                    <a:pt x="439697" y="138231"/>
                  </a:lnTo>
                  <a:lnTo>
                    <a:pt x="419025" y="99342"/>
                  </a:lnTo>
                  <a:lnTo>
                    <a:pt x="391477" y="65722"/>
                  </a:lnTo>
                  <a:lnTo>
                    <a:pt x="357857" y="38174"/>
                  </a:lnTo>
                  <a:lnTo>
                    <a:pt x="318968" y="17502"/>
                  </a:lnTo>
                  <a:lnTo>
                    <a:pt x="275614" y="4509"/>
                  </a:lnTo>
                  <a:lnTo>
                    <a:pt x="228600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5"/>
            <p:cNvSpPr/>
            <p:nvPr/>
          </p:nvSpPr>
          <p:spPr>
            <a:xfrm>
              <a:off x="2514600" y="3429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275614" y="4509"/>
                  </a:lnTo>
                  <a:lnTo>
                    <a:pt x="318968" y="17502"/>
                  </a:lnTo>
                  <a:lnTo>
                    <a:pt x="357857" y="38174"/>
                  </a:lnTo>
                  <a:lnTo>
                    <a:pt x="391477" y="65722"/>
                  </a:lnTo>
                  <a:lnTo>
                    <a:pt x="419025" y="99342"/>
                  </a:lnTo>
                  <a:lnTo>
                    <a:pt x="439697" y="138231"/>
                  </a:lnTo>
                  <a:lnTo>
                    <a:pt x="452690" y="181585"/>
                  </a:lnTo>
                  <a:lnTo>
                    <a:pt x="457200" y="228600"/>
                  </a:lnTo>
                  <a:lnTo>
                    <a:pt x="452690" y="275614"/>
                  </a:lnTo>
                  <a:lnTo>
                    <a:pt x="439697" y="318968"/>
                  </a:lnTo>
                  <a:lnTo>
                    <a:pt x="419025" y="357857"/>
                  </a:lnTo>
                  <a:lnTo>
                    <a:pt x="391477" y="391477"/>
                  </a:lnTo>
                  <a:lnTo>
                    <a:pt x="357857" y="419025"/>
                  </a:lnTo>
                  <a:lnTo>
                    <a:pt x="318968" y="439697"/>
                  </a:lnTo>
                  <a:lnTo>
                    <a:pt x="275614" y="452690"/>
                  </a:lnTo>
                  <a:lnTo>
                    <a:pt x="228600" y="457200"/>
                  </a:lnTo>
                  <a:lnTo>
                    <a:pt x="181585" y="452690"/>
                  </a:lnTo>
                  <a:lnTo>
                    <a:pt x="138231" y="439697"/>
                  </a:lnTo>
                  <a:lnTo>
                    <a:pt x="99342" y="419025"/>
                  </a:lnTo>
                  <a:lnTo>
                    <a:pt x="65722" y="391477"/>
                  </a:lnTo>
                  <a:lnTo>
                    <a:pt x="38174" y="357857"/>
                  </a:lnTo>
                  <a:lnTo>
                    <a:pt x="17502" y="318968"/>
                  </a:lnTo>
                  <a:lnTo>
                    <a:pt x="4509" y="275614"/>
                  </a:lnTo>
                  <a:lnTo>
                    <a:pt x="0" y="228600"/>
                  </a:lnTo>
                  <a:lnTo>
                    <a:pt x="4509" y="181585"/>
                  </a:lnTo>
                  <a:lnTo>
                    <a:pt x="17502" y="138231"/>
                  </a:lnTo>
                  <a:lnTo>
                    <a:pt x="38174" y="99342"/>
                  </a:lnTo>
                  <a:lnTo>
                    <a:pt x="65722" y="65722"/>
                  </a:lnTo>
                  <a:lnTo>
                    <a:pt x="99342" y="38174"/>
                  </a:lnTo>
                  <a:lnTo>
                    <a:pt x="138231" y="17502"/>
                  </a:lnTo>
                  <a:lnTo>
                    <a:pt x="181585" y="4509"/>
                  </a:lnTo>
                  <a:lnTo>
                    <a:pt x="228600" y="0"/>
                  </a:lnTo>
                  <a:close/>
                </a:path>
                <a:path w="457200" h="457200">
                  <a:moveTo>
                    <a:pt x="0" y="0"/>
                  </a:moveTo>
                  <a:lnTo>
                    <a:pt x="0" y="0"/>
                  </a:lnTo>
                </a:path>
                <a:path w="457200" h="457200">
                  <a:moveTo>
                    <a:pt x="457200" y="457200"/>
                  </a:moveTo>
                  <a:lnTo>
                    <a:pt x="457200" y="457200"/>
                  </a:lnTo>
                </a:path>
              </a:pathLst>
            </a:custGeom>
            <a:grpFill/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" name="object 3"/>
          <p:cNvGrpSpPr/>
          <p:nvPr/>
        </p:nvGrpSpPr>
        <p:grpSpPr>
          <a:xfrm>
            <a:off x="2675255" y="4528185"/>
            <a:ext cx="457200" cy="457200"/>
            <a:chOff x="2514600" y="3429000"/>
            <a:chExt cx="457200" cy="457200"/>
          </a:xfrm>
        </p:grpSpPr>
        <p:sp>
          <p:nvSpPr>
            <p:cNvPr id="4" name="object 4"/>
            <p:cNvSpPr/>
            <p:nvPr/>
          </p:nvSpPr>
          <p:spPr>
            <a:xfrm>
              <a:off x="2514600" y="3429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1585" y="4509"/>
                  </a:lnTo>
                  <a:lnTo>
                    <a:pt x="138231" y="17502"/>
                  </a:lnTo>
                  <a:lnTo>
                    <a:pt x="99342" y="38174"/>
                  </a:lnTo>
                  <a:lnTo>
                    <a:pt x="65722" y="65722"/>
                  </a:lnTo>
                  <a:lnTo>
                    <a:pt x="38174" y="99342"/>
                  </a:lnTo>
                  <a:lnTo>
                    <a:pt x="17502" y="138231"/>
                  </a:lnTo>
                  <a:lnTo>
                    <a:pt x="4509" y="181585"/>
                  </a:lnTo>
                  <a:lnTo>
                    <a:pt x="0" y="228600"/>
                  </a:lnTo>
                  <a:lnTo>
                    <a:pt x="4509" y="275614"/>
                  </a:lnTo>
                  <a:lnTo>
                    <a:pt x="17502" y="318968"/>
                  </a:lnTo>
                  <a:lnTo>
                    <a:pt x="38174" y="357857"/>
                  </a:lnTo>
                  <a:lnTo>
                    <a:pt x="65722" y="391477"/>
                  </a:lnTo>
                  <a:lnTo>
                    <a:pt x="99342" y="419025"/>
                  </a:lnTo>
                  <a:lnTo>
                    <a:pt x="138231" y="439697"/>
                  </a:lnTo>
                  <a:lnTo>
                    <a:pt x="181585" y="452690"/>
                  </a:lnTo>
                  <a:lnTo>
                    <a:pt x="228600" y="457200"/>
                  </a:lnTo>
                  <a:lnTo>
                    <a:pt x="275614" y="452690"/>
                  </a:lnTo>
                  <a:lnTo>
                    <a:pt x="318968" y="439697"/>
                  </a:lnTo>
                  <a:lnTo>
                    <a:pt x="357857" y="419025"/>
                  </a:lnTo>
                  <a:lnTo>
                    <a:pt x="391477" y="391477"/>
                  </a:lnTo>
                  <a:lnTo>
                    <a:pt x="419025" y="357857"/>
                  </a:lnTo>
                  <a:lnTo>
                    <a:pt x="439697" y="318968"/>
                  </a:lnTo>
                  <a:lnTo>
                    <a:pt x="452690" y="275614"/>
                  </a:lnTo>
                  <a:lnTo>
                    <a:pt x="457200" y="228600"/>
                  </a:lnTo>
                  <a:lnTo>
                    <a:pt x="452690" y="181585"/>
                  </a:lnTo>
                  <a:lnTo>
                    <a:pt x="439697" y="138231"/>
                  </a:lnTo>
                  <a:lnTo>
                    <a:pt x="419025" y="99342"/>
                  </a:lnTo>
                  <a:lnTo>
                    <a:pt x="391477" y="65722"/>
                  </a:lnTo>
                  <a:lnTo>
                    <a:pt x="357857" y="38174"/>
                  </a:lnTo>
                  <a:lnTo>
                    <a:pt x="318968" y="17502"/>
                  </a:lnTo>
                  <a:lnTo>
                    <a:pt x="275614" y="4509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FF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" name="object 5"/>
            <p:cNvSpPr/>
            <p:nvPr/>
          </p:nvSpPr>
          <p:spPr>
            <a:xfrm>
              <a:off x="2514600" y="3429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275614" y="4509"/>
                  </a:lnTo>
                  <a:lnTo>
                    <a:pt x="318968" y="17502"/>
                  </a:lnTo>
                  <a:lnTo>
                    <a:pt x="357857" y="38174"/>
                  </a:lnTo>
                  <a:lnTo>
                    <a:pt x="391477" y="65722"/>
                  </a:lnTo>
                  <a:lnTo>
                    <a:pt x="419025" y="99342"/>
                  </a:lnTo>
                  <a:lnTo>
                    <a:pt x="439697" y="138231"/>
                  </a:lnTo>
                  <a:lnTo>
                    <a:pt x="452690" y="181585"/>
                  </a:lnTo>
                  <a:lnTo>
                    <a:pt x="457200" y="228600"/>
                  </a:lnTo>
                  <a:lnTo>
                    <a:pt x="452690" y="275614"/>
                  </a:lnTo>
                  <a:lnTo>
                    <a:pt x="439697" y="318968"/>
                  </a:lnTo>
                  <a:lnTo>
                    <a:pt x="419025" y="357857"/>
                  </a:lnTo>
                  <a:lnTo>
                    <a:pt x="391477" y="391477"/>
                  </a:lnTo>
                  <a:lnTo>
                    <a:pt x="357857" y="419025"/>
                  </a:lnTo>
                  <a:lnTo>
                    <a:pt x="318968" y="439697"/>
                  </a:lnTo>
                  <a:lnTo>
                    <a:pt x="275614" y="452690"/>
                  </a:lnTo>
                  <a:lnTo>
                    <a:pt x="228600" y="457200"/>
                  </a:lnTo>
                  <a:lnTo>
                    <a:pt x="181585" y="452690"/>
                  </a:lnTo>
                  <a:lnTo>
                    <a:pt x="138231" y="439697"/>
                  </a:lnTo>
                  <a:lnTo>
                    <a:pt x="99342" y="419025"/>
                  </a:lnTo>
                  <a:lnTo>
                    <a:pt x="65722" y="391477"/>
                  </a:lnTo>
                  <a:lnTo>
                    <a:pt x="38174" y="357857"/>
                  </a:lnTo>
                  <a:lnTo>
                    <a:pt x="17502" y="318968"/>
                  </a:lnTo>
                  <a:lnTo>
                    <a:pt x="4509" y="275614"/>
                  </a:lnTo>
                  <a:lnTo>
                    <a:pt x="0" y="228600"/>
                  </a:lnTo>
                  <a:lnTo>
                    <a:pt x="4509" y="181585"/>
                  </a:lnTo>
                  <a:lnTo>
                    <a:pt x="17502" y="138231"/>
                  </a:lnTo>
                  <a:lnTo>
                    <a:pt x="38174" y="99342"/>
                  </a:lnTo>
                  <a:lnTo>
                    <a:pt x="65722" y="65722"/>
                  </a:lnTo>
                  <a:lnTo>
                    <a:pt x="99342" y="38174"/>
                  </a:lnTo>
                  <a:lnTo>
                    <a:pt x="138231" y="17502"/>
                  </a:lnTo>
                  <a:lnTo>
                    <a:pt x="181585" y="4509"/>
                  </a:lnTo>
                  <a:lnTo>
                    <a:pt x="228600" y="0"/>
                  </a:lnTo>
                  <a:close/>
                </a:path>
                <a:path w="457200" h="457200">
                  <a:moveTo>
                    <a:pt x="0" y="0"/>
                  </a:moveTo>
                  <a:lnTo>
                    <a:pt x="0" y="0"/>
                  </a:lnTo>
                </a:path>
                <a:path w="457200" h="457200">
                  <a:moveTo>
                    <a:pt x="457200" y="457200"/>
                  </a:moveTo>
                  <a:lnTo>
                    <a:pt x="457200" y="45720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0" name="object 3"/>
          <p:cNvGrpSpPr/>
          <p:nvPr/>
        </p:nvGrpSpPr>
        <p:grpSpPr>
          <a:xfrm>
            <a:off x="3818891" y="3848100"/>
            <a:ext cx="457200" cy="457200"/>
            <a:chOff x="2514600" y="3429000"/>
            <a:chExt cx="457200" cy="457200"/>
          </a:xfrm>
          <a:solidFill>
            <a:srgbClr val="FFFF00"/>
          </a:solidFill>
        </p:grpSpPr>
        <p:sp>
          <p:nvSpPr>
            <p:cNvPr id="61" name="object 4"/>
            <p:cNvSpPr/>
            <p:nvPr/>
          </p:nvSpPr>
          <p:spPr>
            <a:xfrm>
              <a:off x="2514600" y="3429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1585" y="4509"/>
                  </a:lnTo>
                  <a:lnTo>
                    <a:pt x="138231" y="17502"/>
                  </a:lnTo>
                  <a:lnTo>
                    <a:pt x="99342" y="38174"/>
                  </a:lnTo>
                  <a:lnTo>
                    <a:pt x="65722" y="65722"/>
                  </a:lnTo>
                  <a:lnTo>
                    <a:pt x="38174" y="99342"/>
                  </a:lnTo>
                  <a:lnTo>
                    <a:pt x="17502" y="138231"/>
                  </a:lnTo>
                  <a:lnTo>
                    <a:pt x="4509" y="181585"/>
                  </a:lnTo>
                  <a:lnTo>
                    <a:pt x="0" y="228600"/>
                  </a:lnTo>
                  <a:lnTo>
                    <a:pt x="4509" y="275614"/>
                  </a:lnTo>
                  <a:lnTo>
                    <a:pt x="17502" y="318968"/>
                  </a:lnTo>
                  <a:lnTo>
                    <a:pt x="38174" y="357857"/>
                  </a:lnTo>
                  <a:lnTo>
                    <a:pt x="65722" y="391477"/>
                  </a:lnTo>
                  <a:lnTo>
                    <a:pt x="99342" y="419025"/>
                  </a:lnTo>
                  <a:lnTo>
                    <a:pt x="138231" y="439697"/>
                  </a:lnTo>
                  <a:lnTo>
                    <a:pt x="181585" y="452690"/>
                  </a:lnTo>
                  <a:lnTo>
                    <a:pt x="228600" y="457200"/>
                  </a:lnTo>
                  <a:lnTo>
                    <a:pt x="275614" y="452690"/>
                  </a:lnTo>
                  <a:lnTo>
                    <a:pt x="318968" y="439697"/>
                  </a:lnTo>
                  <a:lnTo>
                    <a:pt x="357857" y="419025"/>
                  </a:lnTo>
                  <a:lnTo>
                    <a:pt x="391477" y="391477"/>
                  </a:lnTo>
                  <a:lnTo>
                    <a:pt x="419025" y="357857"/>
                  </a:lnTo>
                  <a:lnTo>
                    <a:pt x="439697" y="318968"/>
                  </a:lnTo>
                  <a:lnTo>
                    <a:pt x="452690" y="275614"/>
                  </a:lnTo>
                  <a:lnTo>
                    <a:pt x="457200" y="228600"/>
                  </a:lnTo>
                  <a:lnTo>
                    <a:pt x="452690" y="181585"/>
                  </a:lnTo>
                  <a:lnTo>
                    <a:pt x="439697" y="138231"/>
                  </a:lnTo>
                  <a:lnTo>
                    <a:pt x="419025" y="99342"/>
                  </a:lnTo>
                  <a:lnTo>
                    <a:pt x="391477" y="65722"/>
                  </a:lnTo>
                  <a:lnTo>
                    <a:pt x="357857" y="38174"/>
                  </a:lnTo>
                  <a:lnTo>
                    <a:pt x="318968" y="17502"/>
                  </a:lnTo>
                  <a:lnTo>
                    <a:pt x="275614" y="4509"/>
                  </a:lnTo>
                  <a:lnTo>
                    <a:pt x="228600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5"/>
            <p:cNvSpPr/>
            <p:nvPr/>
          </p:nvSpPr>
          <p:spPr>
            <a:xfrm>
              <a:off x="2514600" y="3429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275614" y="4509"/>
                  </a:lnTo>
                  <a:lnTo>
                    <a:pt x="318968" y="17502"/>
                  </a:lnTo>
                  <a:lnTo>
                    <a:pt x="357857" y="38174"/>
                  </a:lnTo>
                  <a:lnTo>
                    <a:pt x="391477" y="65722"/>
                  </a:lnTo>
                  <a:lnTo>
                    <a:pt x="419025" y="99342"/>
                  </a:lnTo>
                  <a:lnTo>
                    <a:pt x="439697" y="138231"/>
                  </a:lnTo>
                  <a:lnTo>
                    <a:pt x="452690" y="181585"/>
                  </a:lnTo>
                  <a:lnTo>
                    <a:pt x="457200" y="228600"/>
                  </a:lnTo>
                  <a:lnTo>
                    <a:pt x="452690" y="275614"/>
                  </a:lnTo>
                  <a:lnTo>
                    <a:pt x="439697" y="318968"/>
                  </a:lnTo>
                  <a:lnTo>
                    <a:pt x="419025" y="357857"/>
                  </a:lnTo>
                  <a:lnTo>
                    <a:pt x="391477" y="391477"/>
                  </a:lnTo>
                  <a:lnTo>
                    <a:pt x="357857" y="419025"/>
                  </a:lnTo>
                  <a:lnTo>
                    <a:pt x="318968" y="439697"/>
                  </a:lnTo>
                  <a:lnTo>
                    <a:pt x="275614" y="452690"/>
                  </a:lnTo>
                  <a:lnTo>
                    <a:pt x="228600" y="457200"/>
                  </a:lnTo>
                  <a:lnTo>
                    <a:pt x="181585" y="452690"/>
                  </a:lnTo>
                  <a:lnTo>
                    <a:pt x="138231" y="439697"/>
                  </a:lnTo>
                  <a:lnTo>
                    <a:pt x="99342" y="419025"/>
                  </a:lnTo>
                  <a:lnTo>
                    <a:pt x="65722" y="391477"/>
                  </a:lnTo>
                  <a:lnTo>
                    <a:pt x="38174" y="357857"/>
                  </a:lnTo>
                  <a:lnTo>
                    <a:pt x="17502" y="318968"/>
                  </a:lnTo>
                  <a:lnTo>
                    <a:pt x="4509" y="275614"/>
                  </a:lnTo>
                  <a:lnTo>
                    <a:pt x="0" y="228600"/>
                  </a:lnTo>
                  <a:lnTo>
                    <a:pt x="4509" y="181585"/>
                  </a:lnTo>
                  <a:lnTo>
                    <a:pt x="17502" y="138231"/>
                  </a:lnTo>
                  <a:lnTo>
                    <a:pt x="38174" y="99342"/>
                  </a:lnTo>
                  <a:lnTo>
                    <a:pt x="65722" y="65722"/>
                  </a:lnTo>
                  <a:lnTo>
                    <a:pt x="99342" y="38174"/>
                  </a:lnTo>
                  <a:lnTo>
                    <a:pt x="138231" y="17502"/>
                  </a:lnTo>
                  <a:lnTo>
                    <a:pt x="181585" y="4509"/>
                  </a:lnTo>
                  <a:lnTo>
                    <a:pt x="228600" y="0"/>
                  </a:lnTo>
                  <a:close/>
                </a:path>
                <a:path w="457200" h="457200">
                  <a:moveTo>
                    <a:pt x="0" y="0"/>
                  </a:moveTo>
                  <a:lnTo>
                    <a:pt x="0" y="0"/>
                  </a:lnTo>
                </a:path>
                <a:path w="457200" h="457200">
                  <a:moveTo>
                    <a:pt x="457200" y="457200"/>
                  </a:moveTo>
                  <a:lnTo>
                    <a:pt x="457200" y="457200"/>
                  </a:lnTo>
                </a:path>
              </a:pathLst>
            </a:custGeom>
            <a:grpFill/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7" name="object 3"/>
          <p:cNvGrpSpPr/>
          <p:nvPr/>
        </p:nvGrpSpPr>
        <p:grpSpPr>
          <a:xfrm>
            <a:off x="4275455" y="2707640"/>
            <a:ext cx="457200" cy="457200"/>
            <a:chOff x="2514600" y="3429000"/>
            <a:chExt cx="457200" cy="457200"/>
          </a:xfrm>
          <a:solidFill>
            <a:srgbClr val="C00000"/>
          </a:solidFill>
        </p:grpSpPr>
        <p:sp>
          <p:nvSpPr>
            <p:cNvPr id="58" name="object 4"/>
            <p:cNvSpPr/>
            <p:nvPr/>
          </p:nvSpPr>
          <p:spPr>
            <a:xfrm>
              <a:off x="2514600" y="3429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1585" y="4509"/>
                  </a:lnTo>
                  <a:lnTo>
                    <a:pt x="138231" y="17502"/>
                  </a:lnTo>
                  <a:lnTo>
                    <a:pt x="99342" y="38174"/>
                  </a:lnTo>
                  <a:lnTo>
                    <a:pt x="65722" y="65722"/>
                  </a:lnTo>
                  <a:lnTo>
                    <a:pt x="38174" y="99342"/>
                  </a:lnTo>
                  <a:lnTo>
                    <a:pt x="17502" y="138231"/>
                  </a:lnTo>
                  <a:lnTo>
                    <a:pt x="4509" y="181585"/>
                  </a:lnTo>
                  <a:lnTo>
                    <a:pt x="0" y="228600"/>
                  </a:lnTo>
                  <a:lnTo>
                    <a:pt x="4509" y="275614"/>
                  </a:lnTo>
                  <a:lnTo>
                    <a:pt x="17502" y="318968"/>
                  </a:lnTo>
                  <a:lnTo>
                    <a:pt x="38174" y="357857"/>
                  </a:lnTo>
                  <a:lnTo>
                    <a:pt x="65722" y="391477"/>
                  </a:lnTo>
                  <a:lnTo>
                    <a:pt x="99342" y="419025"/>
                  </a:lnTo>
                  <a:lnTo>
                    <a:pt x="138231" y="439697"/>
                  </a:lnTo>
                  <a:lnTo>
                    <a:pt x="181585" y="452690"/>
                  </a:lnTo>
                  <a:lnTo>
                    <a:pt x="228600" y="457200"/>
                  </a:lnTo>
                  <a:lnTo>
                    <a:pt x="275614" y="452690"/>
                  </a:lnTo>
                  <a:lnTo>
                    <a:pt x="318968" y="439697"/>
                  </a:lnTo>
                  <a:lnTo>
                    <a:pt x="357857" y="419025"/>
                  </a:lnTo>
                  <a:lnTo>
                    <a:pt x="391477" y="391477"/>
                  </a:lnTo>
                  <a:lnTo>
                    <a:pt x="419025" y="357857"/>
                  </a:lnTo>
                  <a:lnTo>
                    <a:pt x="439697" y="318968"/>
                  </a:lnTo>
                  <a:lnTo>
                    <a:pt x="452690" y="275614"/>
                  </a:lnTo>
                  <a:lnTo>
                    <a:pt x="457200" y="228600"/>
                  </a:lnTo>
                  <a:lnTo>
                    <a:pt x="452690" y="181585"/>
                  </a:lnTo>
                  <a:lnTo>
                    <a:pt x="439697" y="138231"/>
                  </a:lnTo>
                  <a:lnTo>
                    <a:pt x="419025" y="99342"/>
                  </a:lnTo>
                  <a:lnTo>
                    <a:pt x="391477" y="65722"/>
                  </a:lnTo>
                  <a:lnTo>
                    <a:pt x="357857" y="38174"/>
                  </a:lnTo>
                  <a:lnTo>
                    <a:pt x="318968" y="17502"/>
                  </a:lnTo>
                  <a:lnTo>
                    <a:pt x="275614" y="4509"/>
                  </a:lnTo>
                  <a:lnTo>
                    <a:pt x="228600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"/>
            <p:cNvSpPr/>
            <p:nvPr/>
          </p:nvSpPr>
          <p:spPr>
            <a:xfrm>
              <a:off x="2514600" y="3429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275614" y="4509"/>
                  </a:lnTo>
                  <a:lnTo>
                    <a:pt x="318968" y="17502"/>
                  </a:lnTo>
                  <a:lnTo>
                    <a:pt x="357857" y="38174"/>
                  </a:lnTo>
                  <a:lnTo>
                    <a:pt x="391477" y="65722"/>
                  </a:lnTo>
                  <a:lnTo>
                    <a:pt x="419025" y="99342"/>
                  </a:lnTo>
                  <a:lnTo>
                    <a:pt x="439697" y="138231"/>
                  </a:lnTo>
                  <a:lnTo>
                    <a:pt x="452690" y="181585"/>
                  </a:lnTo>
                  <a:lnTo>
                    <a:pt x="457200" y="228600"/>
                  </a:lnTo>
                  <a:lnTo>
                    <a:pt x="452690" y="275614"/>
                  </a:lnTo>
                  <a:lnTo>
                    <a:pt x="439697" y="318968"/>
                  </a:lnTo>
                  <a:lnTo>
                    <a:pt x="419025" y="357857"/>
                  </a:lnTo>
                  <a:lnTo>
                    <a:pt x="391477" y="391477"/>
                  </a:lnTo>
                  <a:lnTo>
                    <a:pt x="357857" y="419025"/>
                  </a:lnTo>
                  <a:lnTo>
                    <a:pt x="318968" y="439697"/>
                  </a:lnTo>
                  <a:lnTo>
                    <a:pt x="275614" y="452690"/>
                  </a:lnTo>
                  <a:lnTo>
                    <a:pt x="228600" y="457200"/>
                  </a:lnTo>
                  <a:lnTo>
                    <a:pt x="181585" y="452690"/>
                  </a:lnTo>
                  <a:lnTo>
                    <a:pt x="138231" y="439697"/>
                  </a:lnTo>
                  <a:lnTo>
                    <a:pt x="99342" y="419025"/>
                  </a:lnTo>
                  <a:lnTo>
                    <a:pt x="65722" y="391477"/>
                  </a:lnTo>
                  <a:lnTo>
                    <a:pt x="38174" y="357857"/>
                  </a:lnTo>
                  <a:lnTo>
                    <a:pt x="17502" y="318968"/>
                  </a:lnTo>
                  <a:lnTo>
                    <a:pt x="4509" y="275614"/>
                  </a:lnTo>
                  <a:lnTo>
                    <a:pt x="0" y="228600"/>
                  </a:lnTo>
                  <a:lnTo>
                    <a:pt x="4509" y="181585"/>
                  </a:lnTo>
                  <a:lnTo>
                    <a:pt x="17502" y="138231"/>
                  </a:lnTo>
                  <a:lnTo>
                    <a:pt x="38174" y="99342"/>
                  </a:lnTo>
                  <a:lnTo>
                    <a:pt x="65722" y="65722"/>
                  </a:lnTo>
                  <a:lnTo>
                    <a:pt x="99342" y="38174"/>
                  </a:lnTo>
                  <a:lnTo>
                    <a:pt x="138231" y="17502"/>
                  </a:lnTo>
                  <a:lnTo>
                    <a:pt x="181585" y="4509"/>
                  </a:lnTo>
                  <a:lnTo>
                    <a:pt x="228600" y="0"/>
                  </a:lnTo>
                  <a:close/>
                </a:path>
                <a:path w="457200" h="457200">
                  <a:moveTo>
                    <a:pt x="0" y="0"/>
                  </a:moveTo>
                  <a:lnTo>
                    <a:pt x="0" y="0"/>
                  </a:lnTo>
                </a:path>
                <a:path w="457200" h="457200">
                  <a:moveTo>
                    <a:pt x="457200" y="457200"/>
                  </a:moveTo>
                  <a:lnTo>
                    <a:pt x="457200" y="457200"/>
                  </a:lnTo>
                </a:path>
              </a:pathLst>
            </a:custGeom>
            <a:grpFill/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7" name="object 3"/>
          <p:cNvGrpSpPr/>
          <p:nvPr/>
        </p:nvGrpSpPr>
        <p:grpSpPr>
          <a:xfrm>
            <a:off x="1074420" y="2707640"/>
            <a:ext cx="457200" cy="457200"/>
            <a:chOff x="2514600" y="3429000"/>
            <a:chExt cx="457200" cy="457200"/>
          </a:xfrm>
          <a:solidFill>
            <a:srgbClr val="FFFF00"/>
          </a:solidFill>
        </p:grpSpPr>
        <p:sp>
          <p:nvSpPr>
            <p:cNvPr id="28" name="object 4"/>
            <p:cNvSpPr/>
            <p:nvPr/>
          </p:nvSpPr>
          <p:spPr>
            <a:xfrm>
              <a:off x="2514600" y="3429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1585" y="4509"/>
                  </a:lnTo>
                  <a:lnTo>
                    <a:pt x="138231" y="17502"/>
                  </a:lnTo>
                  <a:lnTo>
                    <a:pt x="99342" y="38174"/>
                  </a:lnTo>
                  <a:lnTo>
                    <a:pt x="65722" y="65722"/>
                  </a:lnTo>
                  <a:lnTo>
                    <a:pt x="38174" y="99342"/>
                  </a:lnTo>
                  <a:lnTo>
                    <a:pt x="17502" y="138231"/>
                  </a:lnTo>
                  <a:lnTo>
                    <a:pt x="4509" y="181585"/>
                  </a:lnTo>
                  <a:lnTo>
                    <a:pt x="0" y="228600"/>
                  </a:lnTo>
                  <a:lnTo>
                    <a:pt x="4509" y="275614"/>
                  </a:lnTo>
                  <a:lnTo>
                    <a:pt x="17502" y="318968"/>
                  </a:lnTo>
                  <a:lnTo>
                    <a:pt x="38174" y="357857"/>
                  </a:lnTo>
                  <a:lnTo>
                    <a:pt x="65722" y="391477"/>
                  </a:lnTo>
                  <a:lnTo>
                    <a:pt x="99342" y="419025"/>
                  </a:lnTo>
                  <a:lnTo>
                    <a:pt x="138231" y="439697"/>
                  </a:lnTo>
                  <a:lnTo>
                    <a:pt x="181585" y="452690"/>
                  </a:lnTo>
                  <a:lnTo>
                    <a:pt x="228600" y="457200"/>
                  </a:lnTo>
                  <a:lnTo>
                    <a:pt x="275614" y="452690"/>
                  </a:lnTo>
                  <a:lnTo>
                    <a:pt x="318968" y="439697"/>
                  </a:lnTo>
                  <a:lnTo>
                    <a:pt x="357857" y="419025"/>
                  </a:lnTo>
                  <a:lnTo>
                    <a:pt x="391477" y="391477"/>
                  </a:lnTo>
                  <a:lnTo>
                    <a:pt x="419025" y="357857"/>
                  </a:lnTo>
                  <a:lnTo>
                    <a:pt x="439697" y="318968"/>
                  </a:lnTo>
                  <a:lnTo>
                    <a:pt x="452690" y="275614"/>
                  </a:lnTo>
                  <a:lnTo>
                    <a:pt x="457200" y="228600"/>
                  </a:lnTo>
                  <a:lnTo>
                    <a:pt x="452690" y="181585"/>
                  </a:lnTo>
                  <a:lnTo>
                    <a:pt x="439697" y="138231"/>
                  </a:lnTo>
                  <a:lnTo>
                    <a:pt x="419025" y="99342"/>
                  </a:lnTo>
                  <a:lnTo>
                    <a:pt x="391477" y="65722"/>
                  </a:lnTo>
                  <a:lnTo>
                    <a:pt x="357857" y="38174"/>
                  </a:lnTo>
                  <a:lnTo>
                    <a:pt x="318968" y="17502"/>
                  </a:lnTo>
                  <a:lnTo>
                    <a:pt x="275614" y="4509"/>
                  </a:lnTo>
                  <a:lnTo>
                    <a:pt x="228600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5"/>
            <p:cNvSpPr/>
            <p:nvPr/>
          </p:nvSpPr>
          <p:spPr>
            <a:xfrm>
              <a:off x="2514600" y="3429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275614" y="4509"/>
                  </a:lnTo>
                  <a:lnTo>
                    <a:pt x="318968" y="17502"/>
                  </a:lnTo>
                  <a:lnTo>
                    <a:pt x="357857" y="38174"/>
                  </a:lnTo>
                  <a:lnTo>
                    <a:pt x="391477" y="65722"/>
                  </a:lnTo>
                  <a:lnTo>
                    <a:pt x="419025" y="99342"/>
                  </a:lnTo>
                  <a:lnTo>
                    <a:pt x="439697" y="138231"/>
                  </a:lnTo>
                  <a:lnTo>
                    <a:pt x="452690" y="181585"/>
                  </a:lnTo>
                  <a:lnTo>
                    <a:pt x="457200" y="228600"/>
                  </a:lnTo>
                  <a:lnTo>
                    <a:pt x="452690" y="275614"/>
                  </a:lnTo>
                  <a:lnTo>
                    <a:pt x="439697" y="318968"/>
                  </a:lnTo>
                  <a:lnTo>
                    <a:pt x="419025" y="357857"/>
                  </a:lnTo>
                  <a:lnTo>
                    <a:pt x="391477" y="391477"/>
                  </a:lnTo>
                  <a:lnTo>
                    <a:pt x="357857" y="419025"/>
                  </a:lnTo>
                  <a:lnTo>
                    <a:pt x="318968" y="439697"/>
                  </a:lnTo>
                  <a:lnTo>
                    <a:pt x="275614" y="452690"/>
                  </a:lnTo>
                  <a:lnTo>
                    <a:pt x="228600" y="457200"/>
                  </a:lnTo>
                  <a:lnTo>
                    <a:pt x="181585" y="452690"/>
                  </a:lnTo>
                  <a:lnTo>
                    <a:pt x="138231" y="439697"/>
                  </a:lnTo>
                  <a:lnTo>
                    <a:pt x="99342" y="419025"/>
                  </a:lnTo>
                  <a:lnTo>
                    <a:pt x="65722" y="391477"/>
                  </a:lnTo>
                  <a:lnTo>
                    <a:pt x="38174" y="357857"/>
                  </a:lnTo>
                  <a:lnTo>
                    <a:pt x="17502" y="318968"/>
                  </a:lnTo>
                  <a:lnTo>
                    <a:pt x="4509" y="275614"/>
                  </a:lnTo>
                  <a:lnTo>
                    <a:pt x="0" y="228600"/>
                  </a:lnTo>
                  <a:lnTo>
                    <a:pt x="4509" y="181585"/>
                  </a:lnTo>
                  <a:lnTo>
                    <a:pt x="17502" y="138231"/>
                  </a:lnTo>
                  <a:lnTo>
                    <a:pt x="38174" y="99342"/>
                  </a:lnTo>
                  <a:lnTo>
                    <a:pt x="65722" y="65722"/>
                  </a:lnTo>
                  <a:lnTo>
                    <a:pt x="99342" y="38174"/>
                  </a:lnTo>
                  <a:lnTo>
                    <a:pt x="138231" y="17502"/>
                  </a:lnTo>
                  <a:lnTo>
                    <a:pt x="181585" y="4509"/>
                  </a:lnTo>
                  <a:lnTo>
                    <a:pt x="228600" y="0"/>
                  </a:lnTo>
                  <a:close/>
                </a:path>
                <a:path w="457200" h="457200">
                  <a:moveTo>
                    <a:pt x="0" y="0"/>
                  </a:moveTo>
                  <a:lnTo>
                    <a:pt x="0" y="0"/>
                  </a:lnTo>
                </a:path>
                <a:path w="457200" h="457200">
                  <a:moveTo>
                    <a:pt x="457200" y="457200"/>
                  </a:moveTo>
                  <a:lnTo>
                    <a:pt x="457200" y="457200"/>
                  </a:lnTo>
                </a:path>
              </a:pathLst>
            </a:custGeom>
            <a:grpFill/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4" name="object 3"/>
          <p:cNvGrpSpPr/>
          <p:nvPr/>
        </p:nvGrpSpPr>
        <p:grpSpPr>
          <a:xfrm>
            <a:off x="1988820" y="1795145"/>
            <a:ext cx="457200" cy="457200"/>
            <a:chOff x="2514600" y="3429000"/>
            <a:chExt cx="457200" cy="457200"/>
          </a:xfrm>
          <a:solidFill>
            <a:srgbClr val="00FFFF"/>
          </a:solidFill>
        </p:grpSpPr>
        <p:sp>
          <p:nvSpPr>
            <p:cNvPr id="25" name="object 4"/>
            <p:cNvSpPr/>
            <p:nvPr/>
          </p:nvSpPr>
          <p:spPr>
            <a:xfrm>
              <a:off x="2514600" y="3429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1585" y="4509"/>
                  </a:lnTo>
                  <a:lnTo>
                    <a:pt x="138231" y="17502"/>
                  </a:lnTo>
                  <a:lnTo>
                    <a:pt x="99342" y="38174"/>
                  </a:lnTo>
                  <a:lnTo>
                    <a:pt x="65722" y="65722"/>
                  </a:lnTo>
                  <a:lnTo>
                    <a:pt x="38174" y="99342"/>
                  </a:lnTo>
                  <a:lnTo>
                    <a:pt x="17502" y="138231"/>
                  </a:lnTo>
                  <a:lnTo>
                    <a:pt x="4509" y="181585"/>
                  </a:lnTo>
                  <a:lnTo>
                    <a:pt x="0" y="228600"/>
                  </a:lnTo>
                  <a:lnTo>
                    <a:pt x="4509" y="275614"/>
                  </a:lnTo>
                  <a:lnTo>
                    <a:pt x="17502" y="318968"/>
                  </a:lnTo>
                  <a:lnTo>
                    <a:pt x="38174" y="357857"/>
                  </a:lnTo>
                  <a:lnTo>
                    <a:pt x="65722" y="391477"/>
                  </a:lnTo>
                  <a:lnTo>
                    <a:pt x="99342" y="419025"/>
                  </a:lnTo>
                  <a:lnTo>
                    <a:pt x="138231" y="439697"/>
                  </a:lnTo>
                  <a:lnTo>
                    <a:pt x="181585" y="452690"/>
                  </a:lnTo>
                  <a:lnTo>
                    <a:pt x="228600" y="457200"/>
                  </a:lnTo>
                  <a:lnTo>
                    <a:pt x="275614" y="452690"/>
                  </a:lnTo>
                  <a:lnTo>
                    <a:pt x="318968" y="439697"/>
                  </a:lnTo>
                  <a:lnTo>
                    <a:pt x="357857" y="419025"/>
                  </a:lnTo>
                  <a:lnTo>
                    <a:pt x="391477" y="391477"/>
                  </a:lnTo>
                  <a:lnTo>
                    <a:pt x="419025" y="357857"/>
                  </a:lnTo>
                  <a:lnTo>
                    <a:pt x="439697" y="318968"/>
                  </a:lnTo>
                  <a:lnTo>
                    <a:pt x="452690" y="275614"/>
                  </a:lnTo>
                  <a:lnTo>
                    <a:pt x="457200" y="228600"/>
                  </a:lnTo>
                  <a:lnTo>
                    <a:pt x="452690" y="181585"/>
                  </a:lnTo>
                  <a:lnTo>
                    <a:pt x="439697" y="138231"/>
                  </a:lnTo>
                  <a:lnTo>
                    <a:pt x="419025" y="99342"/>
                  </a:lnTo>
                  <a:lnTo>
                    <a:pt x="391477" y="65722"/>
                  </a:lnTo>
                  <a:lnTo>
                    <a:pt x="357857" y="38174"/>
                  </a:lnTo>
                  <a:lnTo>
                    <a:pt x="318968" y="17502"/>
                  </a:lnTo>
                  <a:lnTo>
                    <a:pt x="275614" y="4509"/>
                  </a:lnTo>
                  <a:lnTo>
                    <a:pt x="228600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5"/>
            <p:cNvSpPr/>
            <p:nvPr/>
          </p:nvSpPr>
          <p:spPr>
            <a:xfrm>
              <a:off x="2514600" y="3429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275614" y="4509"/>
                  </a:lnTo>
                  <a:lnTo>
                    <a:pt x="318968" y="17502"/>
                  </a:lnTo>
                  <a:lnTo>
                    <a:pt x="357857" y="38174"/>
                  </a:lnTo>
                  <a:lnTo>
                    <a:pt x="391477" y="65722"/>
                  </a:lnTo>
                  <a:lnTo>
                    <a:pt x="419025" y="99342"/>
                  </a:lnTo>
                  <a:lnTo>
                    <a:pt x="439697" y="138231"/>
                  </a:lnTo>
                  <a:lnTo>
                    <a:pt x="452690" y="181585"/>
                  </a:lnTo>
                  <a:lnTo>
                    <a:pt x="457200" y="228600"/>
                  </a:lnTo>
                  <a:lnTo>
                    <a:pt x="452690" y="275614"/>
                  </a:lnTo>
                  <a:lnTo>
                    <a:pt x="439697" y="318968"/>
                  </a:lnTo>
                  <a:lnTo>
                    <a:pt x="419025" y="357857"/>
                  </a:lnTo>
                  <a:lnTo>
                    <a:pt x="391477" y="391477"/>
                  </a:lnTo>
                  <a:lnTo>
                    <a:pt x="357857" y="419025"/>
                  </a:lnTo>
                  <a:lnTo>
                    <a:pt x="318968" y="439697"/>
                  </a:lnTo>
                  <a:lnTo>
                    <a:pt x="275614" y="452690"/>
                  </a:lnTo>
                  <a:lnTo>
                    <a:pt x="228600" y="457200"/>
                  </a:lnTo>
                  <a:lnTo>
                    <a:pt x="181585" y="452690"/>
                  </a:lnTo>
                  <a:lnTo>
                    <a:pt x="138231" y="439697"/>
                  </a:lnTo>
                  <a:lnTo>
                    <a:pt x="99342" y="419025"/>
                  </a:lnTo>
                  <a:lnTo>
                    <a:pt x="65722" y="391477"/>
                  </a:lnTo>
                  <a:lnTo>
                    <a:pt x="38174" y="357857"/>
                  </a:lnTo>
                  <a:lnTo>
                    <a:pt x="17502" y="318968"/>
                  </a:lnTo>
                  <a:lnTo>
                    <a:pt x="4509" y="275614"/>
                  </a:lnTo>
                  <a:lnTo>
                    <a:pt x="0" y="228600"/>
                  </a:lnTo>
                  <a:lnTo>
                    <a:pt x="4509" y="181585"/>
                  </a:lnTo>
                  <a:lnTo>
                    <a:pt x="17502" y="138231"/>
                  </a:lnTo>
                  <a:lnTo>
                    <a:pt x="38174" y="99342"/>
                  </a:lnTo>
                  <a:lnTo>
                    <a:pt x="65722" y="65722"/>
                  </a:lnTo>
                  <a:lnTo>
                    <a:pt x="99342" y="38174"/>
                  </a:lnTo>
                  <a:lnTo>
                    <a:pt x="138231" y="17502"/>
                  </a:lnTo>
                  <a:lnTo>
                    <a:pt x="181585" y="4509"/>
                  </a:lnTo>
                  <a:lnTo>
                    <a:pt x="228600" y="0"/>
                  </a:lnTo>
                  <a:close/>
                </a:path>
                <a:path w="457200" h="457200">
                  <a:moveTo>
                    <a:pt x="0" y="0"/>
                  </a:moveTo>
                  <a:lnTo>
                    <a:pt x="0" y="0"/>
                  </a:lnTo>
                </a:path>
                <a:path w="457200" h="457200">
                  <a:moveTo>
                    <a:pt x="457200" y="457200"/>
                  </a:moveTo>
                  <a:lnTo>
                    <a:pt x="457200" y="457200"/>
                  </a:lnTo>
                </a:path>
              </a:pathLst>
            </a:custGeom>
            <a:grpFill/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1" name="object 3"/>
          <p:cNvGrpSpPr/>
          <p:nvPr/>
        </p:nvGrpSpPr>
        <p:grpSpPr>
          <a:xfrm>
            <a:off x="3361055" y="1795145"/>
            <a:ext cx="457200" cy="457200"/>
            <a:chOff x="2514600" y="3429000"/>
            <a:chExt cx="457200" cy="457200"/>
          </a:xfrm>
        </p:grpSpPr>
        <p:sp>
          <p:nvSpPr>
            <p:cNvPr id="22" name="object 4"/>
            <p:cNvSpPr/>
            <p:nvPr/>
          </p:nvSpPr>
          <p:spPr>
            <a:xfrm>
              <a:off x="2514600" y="3429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1585" y="4509"/>
                  </a:lnTo>
                  <a:lnTo>
                    <a:pt x="138231" y="17502"/>
                  </a:lnTo>
                  <a:lnTo>
                    <a:pt x="99342" y="38174"/>
                  </a:lnTo>
                  <a:lnTo>
                    <a:pt x="65722" y="65722"/>
                  </a:lnTo>
                  <a:lnTo>
                    <a:pt x="38174" y="99342"/>
                  </a:lnTo>
                  <a:lnTo>
                    <a:pt x="17502" y="138231"/>
                  </a:lnTo>
                  <a:lnTo>
                    <a:pt x="4509" y="181585"/>
                  </a:lnTo>
                  <a:lnTo>
                    <a:pt x="0" y="228600"/>
                  </a:lnTo>
                  <a:lnTo>
                    <a:pt x="4509" y="275614"/>
                  </a:lnTo>
                  <a:lnTo>
                    <a:pt x="17502" y="318968"/>
                  </a:lnTo>
                  <a:lnTo>
                    <a:pt x="38174" y="357857"/>
                  </a:lnTo>
                  <a:lnTo>
                    <a:pt x="65722" y="391477"/>
                  </a:lnTo>
                  <a:lnTo>
                    <a:pt x="99342" y="419025"/>
                  </a:lnTo>
                  <a:lnTo>
                    <a:pt x="138231" y="439697"/>
                  </a:lnTo>
                  <a:lnTo>
                    <a:pt x="181585" y="452690"/>
                  </a:lnTo>
                  <a:lnTo>
                    <a:pt x="228600" y="457200"/>
                  </a:lnTo>
                  <a:lnTo>
                    <a:pt x="275614" y="452690"/>
                  </a:lnTo>
                  <a:lnTo>
                    <a:pt x="318968" y="439697"/>
                  </a:lnTo>
                  <a:lnTo>
                    <a:pt x="357857" y="419025"/>
                  </a:lnTo>
                  <a:lnTo>
                    <a:pt x="391477" y="391477"/>
                  </a:lnTo>
                  <a:lnTo>
                    <a:pt x="419025" y="357857"/>
                  </a:lnTo>
                  <a:lnTo>
                    <a:pt x="439697" y="318968"/>
                  </a:lnTo>
                  <a:lnTo>
                    <a:pt x="452690" y="275614"/>
                  </a:lnTo>
                  <a:lnTo>
                    <a:pt x="457200" y="228600"/>
                  </a:lnTo>
                  <a:lnTo>
                    <a:pt x="452690" y="181585"/>
                  </a:lnTo>
                  <a:lnTo>
                    <a:pt x="439697" y="138231"/>
                  </a:lnTo>
                  <a:lnTo>
                    <a:pt x="419025" y="99342"/>
                  </a:lnTo>
                  <a:lnTo>
                    <a:pt x="391477" y="65722"/>
                  </a:lnTo>
                  <a:lnTo>
                    <a:pt x="357857" y="38174"/>
                  </a:lnTo>
                  <a:lnTo>
                    <a:pt x="318968" y="17502"/>
                  </a:lnTo>
                  <a:lnTo>
                    <a:pt x="275614" y="4509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FF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5"/>
            <p:cNvSpPr/>
            <p:nvPr/>
          </p:nvSpPr>
          <p:spPr>
            <a:xfrm>
              <a:off x="2514600" y="3429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275614" y="4509"/>
                  </a:lnTo>
                  <a:lnTo>
                    <a:pt x="318968" y="17502"/>
                  </a:lnTo>
                  <a:lnTo>
                    <a:pt x="357857" y="38174"/>
                  </a:lnTo>
                  <a:lnTo>
                    <a:pt x="391477" y="65722"/>
                  </a:lnTo>
                  <a:lnTo>
                    <a:pt x="419025" y="99342"/>
                  </a:lnTo>
                  <a:lnTo>
                    <a:pt x="439697" y="138231"/>
                  </a:lnTo>
                  <a:lnTo>
                    <a:pt x="452690" y="181585"/>
                  </a:lnTo>
                  <a:lnTo>
                    <a:pt x="457200" y="228600"/>
                  </a:lnTo>
                  <a:lnTo>
                    <a:pt x="452690" y="275614"/>
                  </a:lnTo>
                  <a:lnTo>
                    <a:pt x="439697" y="318968"/>
                  </a:lnTo>
                  <a:lnTo>
                    <a:pt x="419025" y="357857"/>
                  </a:lnTo>
                  <a:lnTo>
                    <a:pt x="391477" y="391477"/>
                  </a:lnTo>
                  <a:lnTo>
                    <a:pt x="357857" y="419025"/>
                  </a:lnTo>
                  <a:lnTo>
                    <a:pt x="318968" y="439697"/>
                  </a:lnTo>
                  <a:lnTo>
                    <a:pt x="275614" y="452690"/>
                  </a:lnTo>
                  <a:lnTo>
                    <a:pt x="228600" y="457200"/>
                  </a:lnTo>
                  <a:lnTo>
                    <a:pt x="181585" y="452690"/>
                  </a:lnTo>
                  <a:lnTo>
                    <a:pt x="138231" y="439697"/>
                  </a:lnTo>
                  <a:lnTo>
                    <a:pt x="99342" y="419025"/>
                  </a:lnTo>
                  <a:lnTo>
                    <a:pt x="65722" y="391477"/>
                  </a:lnTo>
                  <a:lnTo>
                    <a:pt x="38174" y="357857"/>
                  </a:lnTo>
                  <a:lnTo>
                    <a:pt x="17502" y="318968"/>
                  </a:lnTo>
                  <a:lnTo>
                    <a:pt x="4509" y="275614"/>
                  </a:lnTo>
                  <a:lnTo>
                    <a:pt x="0" y="228600"/>
                  </a:lnTo>
                  <a:lnTo>
                    <a:pt x="4509" y="181585"/>
                  </a:lnTo>
                  <a:lnTo>
                    <a:pt x="17502" y="138231"/>
                  </a:lnTo>
                  <a:lnTo>
                    <a:pt x="38174" y="99342"/>
                  </a:lnTo>
                  <a:lnTo>
                    <a:pt x="65722" y="65722"/>
                  </a:lnTo>
                  <a:lnTo>
                    <a:pt x="99342" y="38174"/>
                  </a:lnTo>
                  <a:lnTo>
                    <a:pt x="138231" y="17502"/>
                  </a:lnTo>
                  <a:lnTo>
                    <a:pt x="181585" y="4509"/>
                  </a:lnTo>
                  <a:lnTo>
                    <a:pt x="228600" y="0"/>
                  </a:lnTo>
                  <a:close/>
                </a:path>
                <a:path w="457200" h="457200">
                  <a:moveTo>
                    <a:pt x="0" y="0"/>
                  </a:moveTo>
                  <a:lnTo>
                    <a:pt x="0" y="0"/>
                  </a:lnTo>
                </a:path>
                <a:path w="457200" h="457200">
                  <a:moveTo>
                    <a:pt x="457200" y="457200"/>
                  </a:moveTo>
                  <a:lnTo>
                    <a:pt x="457200" y="45720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b="1" dirty="0">
                <a:latin typeface="楷体_GB2312" panose="02010609030101010101" charset="-122"/>
                <a:ea typeface="楷体_GB2312" panose="02010609030101010101" charset="-122"/>
                <a:sym typeface="+mn-ea"/>
              </a:rPr>
              <a:t>图着色算法示例</a:t>
            </a:r>
            <a:r>
              <a:rPr lang="en-US" altLang="zh-CN" b="1" dirty="0">
                <a:latin typeface="楷体_GB2312" panose="02010609030101010101" charset="-122"/>
                <a:ea typeface="楷体_GB2312" panose="02010609030101010101" charset="-122"/>
                <a:sym typeface="+mn-ea"/>
              </a:rPr>
              <a:t>2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56</a:t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object 25"/>
          <p:cNvSpPr/>
          <p:nvPr/>
        </p:nvSpPr>
        <p:spPr>
          <a:xfrm>
            <a:off x="1074420" y="269938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noFill/>
          <a:ln w="3175">
            <a:solidFill>
              <a:srgbClr val="0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</a:extLst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26"/>
          <p:cNvSpPr txBox="1"/>
          <p:nvPr/>
        </p:nvSpPr>
        <p:spPr>
          <a:xfrm>
            <a:off x="1191261" y="2673985"/>
            <a:ext cx="224155" cy="4129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600" b="1" dirty="0">
                <a:solidFill>
                  <a:srgbClr val="191919"/>
                </a:solidFill>
                <a:latin typeface="Courier New" panose="02070409020205020404"/>
                <a:cs typeface="Courier New" panose="02070409020205020404"/>
              </a:rPr>
              <a:t>a</a:t>
            </a:r>
            <a:endParaRPr sz="2600">
              <a:latin typeface="Courier New" panose="02070409020205020404"/>
              <a:cs typeface="Courier New" panose="02070409020205020404"/>
            </a:endParaRPr>
          </a:p>
        </p:txBody>
      </p:sp>
      <p:sp>
        <p:nvSpPr>
          <p:cNvPr id="33" name="object 27"/>
          <p:cNvSpPr/>
          <p:nvPr/>
        </p:nvSpPr>
        <p:spPr>
          <a:xfrm>
            <a:off x="1988820" y="178498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noFill/>
          <a:ln w="3175">
            <a:solidFill>
              <a:srgbClr val="0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00FFFF"/>
                </a:solidFill>
              </a14:hiddenFill>
            </a:ext>
          </a:extLst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28"/>
          <p:cNvSpPr txBox="1"/>
          <p:nvPr/>
        </p:nvSpPr>
        <p:spPr>
          <a:xfrm>
            <a:off x="2105663" y="1759585"/>
            <a:ext cx="224155" cy="4129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600" b="1" dirty="0">
                <a:solidFill>
                  <a:srgbClr val="191919"/>
                </a:solidFill>
                <a:latin typeface="Courier New" panose="02070409020205020404"/>
                <a:cs typeface="Courier New" panose="02070409020205020404"/>
              </a:rPr>
              <a:t>b</a:t>
            </a:r>
            <a:endParaRPr sz="2600">
              <a:latin typeface="Courier New" panose="02070409020205020404"/>
              <a:cs typeface="Courier New" panose="02070409020205020404"/>
            </a:endParaRPr>
          </a:p>
        </p:txBody>
      </p:sp>
      <p:sp>
        <p:nvSpPr>
          <p:cNvPr id="35" name="object 29"/>
          <p:cNvSpPr/>
          <p:nvPr/>
        </p:nvSpPr>
        <p:spPr>
          <a:xfrm>
            <a:off x="3360420" y="178498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noFill/>
          <a:ln w="3175">
            <a:solidFill>
              <a:srgbClr val="0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00FF"/>
                </a:solidFill>
              </a14:hiddenFill>
            </a:ext>
          </a:extLst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0"/>
          <p:cNvSpPr txBox="1"/>
          <p:nvPr/>
        </p:nvSpPr>
        <p:spPr>
          <a:xfrm>
            <a:off x="3477263" y="1759585"/>
            <a:ext cx="224155" cy="4129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600" b="1" dirty="0">
                <a:solidFill>
                  <a:srgbClr val="191919"/>
                </a:solidFill>
                <a:latin typeface="Courier New" panose="02070409020205020404"/>
                <a:cs typeface="Courier New" panose="02070409020205020404"/>
              </a:rPr>
              <a:t>c</a:t>
            </a:r>
            <a:endParaRPr sz="2600">
              <a:latin typeface="Courier New" panose="02070409020205020404"/>
              <a:cs typeface="Courier New" panose="02070409020205020404"/>
            </a:endParaRPr>
          </a:p>
        </p:txBody>
      </p:sp>
      <p:sp>
        <p:nvSpPr>
          <p:cNvPr id="37" name="object 31"/>
          <p:cNvSpPr/>
          <p:nvPr/>
        </p:nvSpPr>
        <p:spPr>
          <a:xfrm>
            <a:off x="4274820" y="270573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noFill/>
          <a:ln w="3175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75000"/>
                  </a:schemeClr>
                </a:solidFill>
              </a14:hiddenFill>
            </a:ext>
          </a:extLst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2"/>
          <p:cNvSpPr txBox="1"/>
          <p:nvPr/>
        </p:nvSpPr>
        <p:spPr>
          <a:xfrm>
            <a:off x="4391663" y="2673985"/>
            <a:ext cx="224155" cy="412934"/>
          </a:xfrm>
          <a:prstGeom prst="rect">
            <a:avLst/>
          </a:prstGeom>
          <a:ln>
            <a:noFill/>
          </a:ln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600" b="1" dirty="0">
                <a:latin typeface="Courier New" panose="02070409020205020404"/>
                <a:cs typeface="Courier New" panose="02070409020205020404"/>
              </a:rPr>
              <a:t>d</a:t>
            </a:r>
          </a:p>
        </p:txBody>
      </p:sp>
      <p:sp>
        <p:nvSpPr>
          <p:cNvPr id="39" name="object 33"/>
          <p:cNvSpPr/>
          <p:nvPr/>
        </p:nvSpPr>
        <p:spPr>
          <a:xfrm>
            <a:off x="3817620" y="384238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noFill/>
          <a:ln w="3175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</a:extLst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34"/>
          <p:cNvSpPr txBox="1"/>
          <p:nvPr/>
        </p:nvSpPr>
        <p:spPr>
          <a:xfrm>
            <a:off x="3934463" y="3816985"/>
            <a:ext cx="224155" cy="412934"/>
          </a:xfrm>
          <a:prstGeom prst="rect">
            <a:avLst/>
          </a:prstGeom>
          <a:ln>
            <a:noFill/>
          </a:ln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600" b="1" dirty="0">
                <a:latin typeface="Courier New" panose="02070409020205020404"/>
                <a:cs typeface="Courier New" panose="02070409020205020404"/>
              </a:rPr>
              <a:t>e</a:t>
            </a:r>
          </a:p>
        </p:txBody>
      </p:sp>
      <p:sp>
        <p:nvSpPr>
          <p:cNvPr id="41" name="object 35"/>
          <p:cNvSpPr/>
          <p:nvPr/>
        </p:nvSpPr>
        <p:spPr>
          <a:xfrm>
            <a:off x="2674620" y="452818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noFill/>
          <a:ln w="3175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85000"/>
                  </a:schemeClr>
                </a:solidFill>
              </a14:hiddenFill>
            </a:ext>
          </a:extLst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36"/>
          <p:cNvSpPr txBox="1"/>
          <p:nvPr/>
        </p:nvSpPr>
        <p:spPr>
          <a:xfrm>
            <a:off x="2791463" y="4502785"/>
            <a:ext cx="224155" cy="412934"/>
          </a:xfrm>
          <a:prstGeom prst="rect">
            <a:avLst/>
          </a:prstGeom>
          <a:ln>
            <a:noFill/>
          </a:ln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600" b="1" dirty="0">
                <a:latin typeface="Courier New" panose="02070409020205020404"/>
                <a:cs typeface="Courier New" panose="02070409020205020404"/>
              </a:rPr>
              <a:t>f</a:t>
            </a:r>
          </a:p>
        </p:txBody>
      </p:sp>
      <p:sp>
        <p:nvSpPr>
          <p:cNvPr id="43" name="object 37"/>
          <p:cNvSpPr/>
          <p:nvPr/>
        </p:nvSpPr>
        <p:spPr>
          <a:xfrm>
            <a:off x="1531620" y="384238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75614" y="4509"/>
                </a:lnTo>
                <a:lnTo>
                  <a:pt x="318968" y="17502"/>
                </a:lnTo>
                <a:lnTo>
                  <a:pt x="357857" y="38174"/>
                </a:lnTo>
                <a:lnTo>
                  <a:pt x="391477" y="65722"/>
                </a:lnTo>
                <a:lnTo>
                  <a:pt x="419025" y="99342"/>
                </a:lnTo>
                <a:lnTo>
                  <a:pt x="439697" y="138231"/>
                </a:lnTo>
                <a:lnTo>
                  <a:pt x="452690" y="181585"/>
                </a:lnTo>
                <a:lnTo>
                  <a:pt x="457200" y="228600"/>
                </a:lnTo>
                <a:lnTo>
                  <a:pt x="452690" y="275614"/>
                </a:lnTo>
                <a:lnTo>
                  <a:pt x="439697" y="318968"/>
                </a:lnTo>
                <a:lnTo>
                  <a:pt x="419025" y="357857"/>
                </a:lnTo>
                <a:lnTo>
                  <a:pt x="391477" y="391477"/>
                </a:lnTo>
                <a:lnTo>
                  <a:pt x="357857" y="419025"/>
                </a:lnTo>
                <a:lnTo>
                  <a:pt x="318968" y="439697"/>
                </a:lnTo>
                <a:lnTo>
                  <a:pt x="275614" y="452690"/>
                </a:lnTo>
                <a:lnTo>
                  <a:pt x="228600" y="457200"/>
                </a:lnTo>
                <a:lnTo>
                  <a:pt x="181585" y="452690"/>
                </a:lnTo>
                <a:lnTo>
                  <a:pt x="138231" y="439697"/>
                </a:lnTo>
                <a:lnTo>
                  <a:pt x="99342" y="419025"/>
                </a:lnTo>
                <a:lnTo>
                  <a:pt x="65722" y="391477"/>
                </a:lnTo>
                <a:lnTo>
                  <a:pt x="38174" y="357857"/>
                </a:lnTo>
                <a:lnTo>
                  <a:pt x="17502" y="318968"/>
                </a:lnTo>
                <a:lnTo>
                  <a:pt x="4509" y="275614"/>
                </a:lnTo>
                <a:lnTo>
                  <a:pt x="0" y="228600"/>
                </a:lnTo>
                <a:lnTo>
                  <a:pt x="4509" y="181585"/>
                </a:lnTo>
                <a:lnTo>
                  <a:pt x="17502" y="138231"/>
                </a:lnTo>
                <a:lnTo>
                  <a:pt x="38174" y="99342"/>
                </a:lnTo>
                <a:lnTo>
                  <a:pt x="65722" y="65722"/>
                </a:lnTo>
                <a:lnTo>
                  <a:pt x="99342" y="38174"/>
                </a:lnTo>
                <a:lnTo>
                  <a:pt x="138231" y="17502"/>
                </a:lnTo>
                <a:lnTo>
                  <a:pt x="181585" y="4509"/>
                </a:lnTo>
                <a:lnTo>
                  <a:pt x="228600" y="0"/>
                </a:lnTo>
                <a:close/>
              </a:path>
              <a:path w="457200" h="457200">
                <a:moveTo>
                  <a:pt x="0" y="0"/>
                </a:moveTo>
                <a:lnTo>
                  <a:pt x="0" y="0"/>
                </a:lnTo>
              </a:path>
              <a:path w="457200" h="457200">
                <a:moveTo>
                  <a:pt x="457200" y="457200"/>
                </a:moveTo>
                <a:lnTo>
                  <a:pt x="457200" y="457200"/>
                </a:lnTo>
              </a:path>
            </a:pathLst>
          </a:custGeom>
          <a:noFill/>
          <a:ln w="3175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</a:extLst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38"/>
          <p:cNvSpPr txBox="1"/>
          <p:nvPr/>
        </p:nvSpPr>
        <p:spPr>
          <a:xfrm>
            <a:off x="1648463" y="3816985"/>
            <a:ext cx="224155" cy="412934"/>
          </a:xfrm>
          <a:prstGeom prst="rect">
            <a:avLst/>
          </a:prstGeom>
          <a:ln>
            <a:noFill/>
          </a:ln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600" b="1" dirty="0">
                <a:latin typeface="Courier New" panose="02070409020205020404"/>
                <a:cs typeface="Courier New" panose="02070409020205020404"/>
              </a:rPr>
              <a:t>g</a:t>
            </a:r>
          </a:p>
        </p:txBody>
      </p:sp>
      <p:cxnSp>
        <p:nvCxnSpPr>
          <p:cNvPr id="47" name="直接连接符 46"/>
          <p:cNvCxnSpPr/>
          <p:nvPr/>
        </p:nvCxnSpPr>
        <p:spPr>
          <a:xfrm>
            <a:off x="2265048" y="2242821"/>
            <a:ext cx="1623695" cy="16687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/>
          <p:cNvCxnSpPr/>
          <p:nvPr/>
        </p:nvCxnSpPr>
        <p:spPr>
          <a:xfrm>
            <a:off x="3599817" y="2252347"/>
            <a:ext cx="369571" cy="159575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连接符 48"/>
          <p:cNvCxnSpPr/>
          <p:nvPr/>
        </p:nvCxnSpPr>
        <p:spPr>
          <a:xfrm>
            <a:off x="2157095" y="2252345"/>
            <a:ext cx="746760" cy="22504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连接符 49"/>
          <p:cNvCxnSpPr/>
          <p:nvPr/>
        </p:nvCxnSpPr>
        <p:spPr>
          <a:xfrm flipH="1">
            <a:off x="3148968" y="4272282"/>
            <a:ext cx="739775" cy="40576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object 57"/>
          <p:cNvGraphicFramePr>
            <a:graphicFrameLocks noGrp="1"/>
          </p:cNvGraphicFramePr>
          <p:nvPr/>
        </p:nvGraphicFramePr>
        <p:xfrm>
          <a:off x="1447800" y="5366385"/>
          <a:ext cx="2743200" cy="45770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708">
                <a:tc>
                  <a:txBody>
                    <a:bodyPr/>
                    <a:lstStyle/>
                    <a:p>
                      <a:pPr marL="254000">
                        <a:lnSpc>
                          <a:spcPts val="2940"/>
                        </a:lnSpc>
                      </a:pPr>
                      <a:r>
                        <a:rPr sz="2700" b="1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R</a:t>
                      </a:r>
                      <a:r>
                        <a:rPr sz="2300" b="1" baseline="-31000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0</a:t>
                      </a:r>
                      <a:endParaRPr sz="2300" baseline="-31000">
                        <a:latin typeface="DejaVu Serif" panose="02060603050605020204"/>
                        <a:cs typeface="DejaVu Serif" panose="02060603050605020204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254000">
                        <a:lnSpc>
                          <a:spcPts val="2940"/>
                        </a:lnSpc>
                      </a:pPr>
                      <a:r>
                        <a:rPr sz="2700" b="1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R</a:t>
                      </a:r>
                      <a:r>
                        <a:rPr sz="2300" b="1" baseline="-31000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1</a:t>
                      </a:r>
                      <a:endParaRPr sz="2300" baseline="-31000">
                        <a:latin typeface="DejaVu Serif" panose="02060603050605020204"/>
                        <a:cs typeface="DejaVu Serif" panose="02060603050605020204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254000">
                        <a:lnSpc>
                          <a:spcPts val="2940"/>
                        </a:lnSpc>
                      </a:pPr>
                      <a:r>
                        <a:rPr sz="2700" b="1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R</a:t>
                      </a:r>
                      <a:r>
                        <a:rPr sz="2300" b="1" baseline="-31000" dirty="0">
                          <a:solidFill>
                            <a:srgbClr val="191919"/>
                          </a:solidFill>
                          <a:latin typeface="DejaVu Serif" panose="02060603050605020204"/>
                          <a:cs typeface="DejaVu Serif" panose="02060603050605020204"/>
                        </a:rPr>
                        <a:t>2</a:t>
                      </a:r>
                      <a:endParaRPr sz="2300" baseline="-31000">
                        <a:latin typeface="DejaVu Serif" panose="02060603050605020204"/>
                        <a:cs typeface="DejaVu Serif" panose="02060603050605020204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F0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2" name="直接连接符 11"/>
          <p:cNvCxnSpPr/>
          <p:nvPr/>
        </p:nvCxnSpPr>
        <p:spPr>
          <a:xfrm flipH="1">
            <a:off x="1417956" y="2148842"/>
            <a:ext cx="594995" cy="57721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 flipH="1">
            <a:off x="1544959" y="2851788"/>
            <a:ext cx="2704465" cy="127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 flipH="1" flipV="1">
            <a:off x="3771904" y="2184400"/>
            <a:ext cx="577215" cy="5232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连接符 50"/>
          <p:cNvCxnSpPr/>
          <p:nvPr/>
        </p:nvCxnSpPr>
        <p:spPr>
          <a:xfrm flipH="1">
            <a:off x="2463803" y="1968500"/>
            <a:ext cx="87503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连接符 51"/>
          <p:cNvCxnSpPr/>
          <p:nvPr/>
        </p:nvCxnSpPr>
        <p:spPr>
          <a:xfrm flipH="1">
            <a:off x="1499236" y="2184401"/>
            <a:ext cx="1929765" cy="6223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连接符 52"/>
          <p:cNvCxnSpPr/>
          <p:nvPr/>
        </p:nvCxnSpPr>
        <p:spPr>
          <a:xfrm flipH="1" flipV="1">
            <a:off x="2428241" y="2130428"/>
            <a:ext cx="1902460" cy="6673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object 33"/>
          <p:cNvSpPr txBox="1"/>
          <p:nvPr/>
        </p:nvSpPr>
        <p:spPr>
          <a:xfrm>
            <a:off x="4883788" y="2762888"/>
            <a:ext cx="1054735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i="1" spc="-5" dirty="0">
                <a:solidFill>
                  <a:srgbClr val="191919"/>
                </a:solidFill>
                <a:latin typeface="DejaVu Serif" panose="02060603050605020204"/>
                <a:cs typeface="DejaVu Serif" panose="02060603050605020204"/>
              </a:rPr>
              <a:t>(</a:t>
            </a:r>
            <a:r>
              <a:rPr sz="2000" i="1" spc="-5" dirty="0">
                <a:solidFill>
                  <a:srgbClr val="191919"/>
                </a:solidFill>
                <a:latin typeface="DejaVu Serif" panose="02060603050605020204"/>
                <a:cs typeface="DejaVu Serif" panose="02060603050605020204"/>
              </a:rPr>
              <a:t>spilled</a:t>
            </a:r>
            <a:r>
              <a:rPr i="1" spc="-5" dirty="0">
                <a:solidFill>
                  <a:srgbClr val="191919"/>
                </a:solidFill>
                <a:latin typeface="DejaVu Serif" panose="02060603050605020204"/>
                <a:cs typeface="DejaVu Serif" panose="02060603050605020204"/>
              </a:rPr>
              <a:t>)</a:t>
            </a:r>
            <a:endParaRPr>
              <a:latin typeface="DejaVu Serif" panose="02060603050605020204"/>
              <a:cs typeface="DejaVu Serif" panose="0206060305060502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Footer Placeholder 2"/>
          <p:cNvSpPr txBox="1">
            <a:spLocks noGrp="1"/>
          </p:cNvSpPr>
          <p:nvPr/>
        </p:nvSpPr>
        <p:spPr>
          <a:xfrm>
            <a:off x="4651528" y="6247378"/>
            <a:ext cx="2897584" cy="470931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lstStyle/>
          <a:p>
            <a:pPr algn="ctr" defTabSz="449569">
              <a:lnSpc>
                <a:spcPct val="116000"/>
              </a:lnSpc>
              <a:tabLst>
                <a:tab pos="723882" algn="l"/>
                <a:tab pos="1447764" algn="l"/>
                <a:tab pos="2171646" algn="l"/>
                <a:tab pos="2895528" algn="l"/>
              </a:tabLst>
            </a:pPr>
            <a:endParaRPr lang="en-GB" altLang="en-US" sz="905" dirty="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69635" name="Rectangle 2"/>
          <p:cNvSpPr/>
          <p:nvPr/>
        </p:nvSpPr>
        <p:spPr>
          <a:xfrm>
            <a:off x="-41910" y="0"/>
            <a:ext cx="12232640" cy="68580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81647" tIns="61627" rIns="81647" bIns="40823" anchor="ctr" anchorCtr="0"/>
          <a:lstStyle/>
          <a:p>
            <a:pPr algn="ctr" defTabSz="449569">
              <a:tabLst>
                <a:tab pos="723882" algn="l"/>
                <a:tab pos="1447764" algn="l"/>
                <a:tab pos="2171646" algn="l"/>
                <a:tab pos="2895528" algn="l"/>
                <a:tab pos="3619410" algn="l"/>
                <a:tab pos="4343291" algn="l"/>
                <a:tab pos="5067173" algn="l"/>
                <a:tab pos="5791055" algn="l"/>
                <a:tab pos="6514937" algn="l"/>
                <a:tab pos="7238819" algn="l"/>
                <a:tab pos="7962701" algn="l"/>
                <a:tab pos="8686583" algn="l"/>
                <a:tab pos="9410465" algn="l"/>
              </a:tabLst>
            </a:pPr>
            <a:r>
              <a:rPr lang="en-GB" altLang="en-US" sz="2360" dirty="0">
                <a:solidFill>
                  <a:srgbClr val="E6E6E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THE END</a:t>
            </a:r>
          </a:p>
          <a:p>
            <a:pPr algn="ctr" defTabSz="449569">
              <a:tabLst>
                <a:tab pos="723882" algn="l"/>
                <a:tab pos="1447764" algn="l"/>
                <a:tab pos="2171646" algn="l"/>
                <a:tab pos="2895528" algn="l"/>
                <a:tab pos="3619410" algn="l"/>
                <a:tab pos="4343291" algn="l"/>
                <a:tab pos="5067173" algn="l"/>
                <a:tab pos="5791055" algn="l"/>
                <a:tab pos="6514937" algn="l"/>
                <a:tab pos="7238819" algn="l"/>
                <a:tab pos="7962701" algn="l"/>
                <a:tab pos="8686583" algn="l"/>
                <a:tab pos="9410465" algn="l"/>
              </a:tabLst>
            </a:pPr>
            <a:endParaRPr lang="en-GB" altLang="en-US" sz="2360" dirty="0">
              <a:solidFill>
                <a:srgbClr val="E6E6E6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ctr" defTabSz="449569">
              <a:tabLst>
                <a:tab pos="723882" algn="l"/>
                <a:tab pos="1447764" algn="l"/>
                <a:tab pos="2171646" algn="l"/>
                <a:tab pos="2895528" algn="l"/>
                <a:tab pos="3619410" algn="l"/>
                <a:tab pos="4343291" algn="l"/>
                <a:tab pos="5067173" algn="l"/>
                <a:tab pos="5791055" algn="l"/>
                <a:tab pos="6514937" algn="l"/>
                <a:tab pos="7238819" algn="l"/>
                <a:tab pos="7962701" algn="l"/>
                <a:tab pos="8686583" algn="l"/>
                <a:tab pos="9410465" algn="l"/>
              </a:tabLst>
            </a:pPr>
            <a:r>
              <a:rPr lang="en-GB" altLang="en-US" sz="2360" dirty="0">
                <a:solidFill>
                  <a:srgbClr val="E6E6E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QUESTIONS</a:t>
            </a:r>
          </a:p>
        </p:txBody>
      </p:sp>
      <p:sp>
        <p:nvSpPr>
          <p:cNvPr id="69636" name="Slide Number Placeholder 5"/>
          <p:cNvSpPr txBox="1">
            <a:spLocks noGrp="1"/>
          </p:cNvSpPr>
          <p:nvPr/>
        </p:nvSpPr>
        <p:spPr>
          <a:xfrm>
            <a:off x="8080532" y="6247378"/>
            <a:ext cx="2128543" cy="470931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lstStyle/>
          <a:p>
            <a:pPr algn="r">
              <a:lnSpc>
                <a:spcPct val="116000"/>
              </a:lnSpc>
            </a:pPr>
            <a:fld id="{9A0DB2DC-4C9A-4742-B13C-FB6460FD3503}" type="slidenum">
              <a:rPr lang="en-GB" altLang="en-US" sz="1091" dirty="0">
                <a:latin typeface="Comic Sans MS" panose="030F0702030302020204" pitchFamily="66" charset="0"/>
                <a:ea typeface="宋体" panose="02010600030101010101" pitchFamily="2" charset="-122"/>
              </a:rPr>
              <a:t>57</a:t>
            </a:fld>
            <a:endParaRPr lang="en-GB" altLang="en-US" sz="1091" dirty="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69637" name="Date Placeholder 6"/>
          <p:cNvSpPr txBox="1">
            <a:spLocks noGrp="1"/>
          </p:cNvSpPr>
          <p:nvPr/>
        </p:nvSpPr>
        <p:spPr>
          <a:xfrm>
            <a:off x="1654576" y="6247378"/>
            <a:ext cx="2806855" cy="470931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lstStyle/>
          <a:p>
            <a:pPr>
              <a:lnSpc>
                <a:spcPct val="116000"/>
              </a:lnSpc>
            </a:pPr>
            <a:r>
              <a:rPr lang="en-US" altLang="zh-CN" sz="905" dirty="0">
                <a:latin typeface="Comic Sans MS" panose="030F0702030302020204" pitchFamily="66" charset="0"/>
                <a:ea typeface="宋体" panose="02010600030101010101" pitchFamily="2" charset="-122"/>
              </a:rPr>
              <a:t> </a:t>
            </a:r>
            <a:endParaRPr lang="en-GB" altLang="en-US" sz="905" dirty="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宋体"/>
        <a:font script="Hant" typeface="新細明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宋体"/>
        <a:font script="Hant" typeface="新細明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6_平面(MOOC)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OC-PPT模板" id="{52A9F7C9-966B-4A8B-A1C7-6E16B2577468}" vid="{3D64D331-574C-4511-9C06-47C9CEF20C92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1103</TotalTime>
  <Words>3797</Words>
  <Application>Microsoft Office PowerPoint</Application>
  <PresentationFormat>宽屏</PresentationFormat>
  <Paragraphs>948</Paragraphs>
  <Slides>57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57</vt:i4>
      </vt:variant>
    </vt:vector>
  </HeadingPairs>
  <TitlesOfParts>
    <vt:vector size="81" baseType="lpstr">
      <vt:lpstr>DejaVu Sans</vt:lpstr>
      <vt:lpstr>DejaVu Serif</vt:lpstr>
      <vt:lpstr>Droid Sans Fallback</vt:lpstr>
      <vt:lpstr>MathJax_Main</vt:lpstr>
      <vt:lpstr>MathJax_Math-italic</vt:lpstr>
      <vt:lpstr>PingFang SC</vt:lpstr>
      <vt:lpstr>Purisa</vt:lpstr>
      <vt:lpstr>黑体</vt:lpstr>
      <vt:lpstr>楷体_GB2312</vt:lpstr>
      <vt:lpstr>宋体</vt:lpstr>
      <vt:lpstr>微软雅黑</vt:lpstr>
      <vt:lpstr>Arial</vt:lpstr>
      <vt:lpstr>Arial Black</vt:lpstr>
      <vt:lpstr>Calibri</vt:lpstr>
      <vt:lpstr>Comic Sans MS</vt:lpstr>
      <vt:lpstr>Courier New</vt:lpstr>
      <vt:lpstr>Symbol</vt:lpstr>
      <vt:lpstr>Times New Roman</vt:lpstr>
      <vt:lpstr>Verdana</vt:lpstr>
      <vt:lpstr>Wingdings</vt:lpstr>
      <vt:lpstr>Wingdings 3</vt:lpstr>
      <vt:lpstr>Office 主题​​</vt:lpstr>
      <vt:lpstr>1_Office 主题​​</vt:lpstr>
      <vt:lpstr>26_平面(MOOC)</vt:lpstr>
      <vt:lpstr>    第八章 优化和目标代码生成                ——目标代码生成（寄存器分配）</vt:lpstr>
      <vt:lpstr>编译程序总框</vt:lpstr>
      <vt:lpstr>目标代码生成器</vt:lpstr>
      <vt:lpstr>目标代码生成器</vt:lpstr>
      <vt:lpstr>目标代码生成需要考虑的问题</vt:lpstr>
      <vt:lpstr>一个抽象的计算机模型</vt:lpstr>
      <vt:lpstr>一个抽象的计算机模型</vt:lpstr>
      <vt:lpstr>一个抽象的计算机模型</vt:lpstr>
      <vt:lpstr>最简单的代码生成</vt:lpstr>
      <vt:lpstr>最简单的代码生成</vt:lpstr>
      <vt:lpstr>带寄存器分配优化的代码生成</vt:lpstr>
      <vt:lpstr>寄存器分配</vt:lpstr>
      <vt:lpstr>寄存器分配问题分析</vt:lpstr>
      <vt:lpstr>寄存器分配问题分析</vt:lpstr>
      <vt:lpstr>相关概念与定义</vt:lpstr>
      <vt:lpstr>相关概念与定义</vt:lpstr>
      <vt:lpstr>相关概念与定义</vt:lpstr>
      <vt:lpstr>相关概念与定义</vt:lpstr>
      <vt:lpstr>相关概念与定义</vt:lpstr>
      <vt:lpstr>相关概念与定义</vt:lpstr>
      <vt:lpstr>相关概念与定义</vt:lpstr>
      <vt:lpstr>相关概念与定义</vt:lpstr>
      <vt:lpstr>相关概念与定义</vt:lpstr>
      <vt:lpstr>相关概念与定义</vt:lpstr>
      <vt:lpstr>相关概念与定义</vt:lpstr>
      <vt:lpstr>相关概念与定义</vt:lpstr>
      <vt:lpstr>寄存器分配问题分析</vt:lpstr>
      <vt:lpstr>寄存器分配问题分析</vt:lpstr>
      <vt:lpstr>寄存器分配示例1</vt:lpstr>
      <vt:lpstr>寄存器分配问题分析</vt:lpstr>
      <vt:lpstr>寄存器分配示例2</vt:lpstr>
      <vt:lpstr>寄存器分配示例2</vt:lpstr>
      <vt:lpstr>寄存器分配示例2</vt:lpstr>
      <vt:lpstr>寄存器分配示例2</vt:lpstr>
      <vt:lpstr>线性扫描算法</vt:lpstr>
      <vt:lpstr>线性扫描算法</vt:lpstr>
      <vt:lpstr>线性扫描算法</vt:lpstr>
      <vt:lpstr>线性扫描算法</vt:lpstr>
      <vt:lpstr>线性扫描算法示例</vt:lpstr>
      <vt:lpstr>线性扫描算法</vt:lpstr>
      <vt:lpstr>图着色算法</vt:lpstr>
      <vt:lpstr>图着色算法</vt:lpstr>
      <vt:lpstr>图着色算法</vt:lpstr>
      <vt:lpstr>图着色算法</vt:lpstr>
      <vt:lpstr>图着色算法</vt:lpstr>
      <vt:lpstr>图着色算法</vt:lpstr>
      <vt:lpstr>图着色算法</vt:lpstr>
      <vt:lpstr>图着色算法</vt:lpstr>
      <vt:lpstr>图着色算法</vt:lpstr>
      <vt:lpstr>图着色算法</vt:lpstr>
      <vt:lpstr>图着色算法示例2</vt:lpstr>
      <vt:lpstr>图着色算法示例2</vt:lpstr>
      <vt:lpstr>图着色算法示例2</vt:lpstr>
      <vt:lpstr>图着色算法示例2</vt:lpstr>
      <vt:lpstr>图着色算法示例2</vt:lpstr>
      <vt:lpstr>图着色算法示例2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第六章 寄存器分配</dc:title>
  <dc:creator>erqiang</dc:creator>
  <cp:lastModifiedBy>jiajing zhu</cp:lastModifiedBy>
  <cp:revision>160</cp:revision>
  <dcterms:created xsi:type="dcterms:W3CDTF">2021-12-02T16:22:02Z</dcterms:created>
  <dcterms:modified xsi:type="dcterms:W3CDTF">2023-11-16T03:45:53Z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2052-11.1.0.10161</vt:lpwstr>
  </property>
</Properties>
</file>