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handoutMasterIdLst>
    <p:handoutMasterId r:id="rId53"/>
  </p:handoutMasterIdLst>
  <p:sldIdLst>
    <p:sldId id="273" r:id="rId3"/>
    <p:sldId id="349" r:id="rId4"/>
    <p:sldId id="351" r:id="rId5"/>
    <p:sldId id="352" r:id="rId6"/>
    <p:sldId id="353" r:id="rId7"/>
    <p:sldId id="354" r:id="rId8"/>
    <p:sldId id="420" r:id="rId9"/>
    <p:sldId id="405" r:id="rId10"/>
    <p:sldId id="282" r:id="rId11"/>
    <p:sldId id="320" r:id="rId12"/>
    <p:sldId id="322" r:id="rId13"/>
    <p:sldId id="284" r:id="rId14"/>
    <p:sldId id="323" r:id="rId15"/>
    <p:sldId id="409" r:id="rId16"/>
    <p:sldId id="378" r:id="rId17"/>
    <p:sldId id="379" r:id="rId18"/>
    <p:sldId id="380" r:id="rId19"/>
    <p:sldId id="417" r:id="rId20"/>
    <p:sldId id="382" r:id="rId21"/>
    <p:sldId id="383" r:id="rId22"/>
    <p:sldId id="384" r:id="rId23"/>
    <p:sldId id="386" r:id="rId24"/>
    <p:sldId id="387" r:id="rId25"/>
    <p:sldId id="410" r:id="rId26"/>
    <p:sldId id="327" r:id="rId27"/>
    <p:sldId id="328" r:id="rId28"/>
    <p:sldId id="411" r:id="rId29"/>
    <p:sldId id="412" r:id="rId30"/>
    <p:sldId id="413" r:id="rId31"/>
    <p:sldId id="414" r:id="rId32"/>
    <p:sldId id="334" r:id="rId33"/>
    <p:sldId id="330" r:id="rId34"/>
    <p:sldId id="404" r:id="rId35"/>
    <p:sldId id="415" r:id="rId36"/>
    <p:sldId id="299" r:id="rId37"/>
    <p:sldId id="416" r:id="rId38"/>
    <p:sldId id="302" r:id="rId39"/>
    <p:sldId id="339" r:id="rId40"/>
    <p:sldId id="303" r:id="rId41"/>
    <p:sldId id="406" r:id="rId42"/>
    <p:sldId id="408" r:id="rId43"/>
    <p:sldId id="418" r:id="rId44"/>
    <p:sldId id="419" r:id="rId45"/>
    <p:sldId id="421" r:id="rId46"/>
    <p:sldId id="422" r:id="rId47"/>
    <p:sldId id="423" r:id="rId48"/>
    <p:sldId id="424" r:id="rId49"/>
    <p:sldId id="425" r:id="rId50"/>
    <p:sldId id="271" r:id="rId51"/>
  </p:sldIdLst>
  <p:sldSz cx="10080625" cy="7559675"/>
  <p:notesSz cx="6742113" cy="9875838"/>
  <p:defaultTextStyle>
    <a:defPPr>
      <a:defRPr lang="en-GB"/>
    </a:defPPr>
    <a:lvl1pPr marL="0" lvl="0" indent="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1pPr>
    <a:lvl2pPr marL="742950" lvl="1" indent="-28575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5pPr>
    <a:lvl6pPr marL="2286000" lvl="5"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6pPr>
    <a:lvl7pPr marL="2743200" lvl="6"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7pPr>
    <a:lvl8pPr marL="3200400" lvl="7"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8pPr>
    <a:lvl9pPr marL="3657600" lvl="8" indent="-228600" algn="l" defTabSz="449580" rtl="0" eaLnBrk="1" fontAlgn="base" latinLnBrk="0" hangingPunct="1">
      <a:lnSpc>
        <a:spcPct val="93000"/>
      </a:lnSpc>
      <a:spcBef>
        <a:spcPct val="0"/>
      </a:spcBef>
      <a:spcAft>
        <a:spcPct val="0"/>
      </a:spcAft>
      <a:buSzPct val="100000"/>
      <a:buFont typeface="Times New Roman" panose="02060603050605020204" pitchFamily="2" charset="0"/>
      <a:buNone/>
      <a:defRPr b="0" i="0" u="none" kern="1200" baseline="0">
        <a:solidFill>
          <a:srgbClr val="000000"/>
        </a:solidFill>
        <a:latin typeface="Arial" panose="020B0604020202020204" pitchFamily="34" charset="0"/>
        <a:ea typeface="方正书宋_GBK" charset="-122"/>
        <a:cs typeface="+mn-cs"/>
      </a:defRPr>
    </a:lvl9pPr>
  </p:defaultTextStyle>
  <p:extLst>
    <p:ext uri="{EFAFB233-063F-42B5-8137-9DF3F51BA10A}">
      <p15:sldGuideLst xmlns:p15="http://schemas.microsoft.com/office/powerpoint/2012/main">
        <p15:guide id="1" orient="horz" pos="2210">
          <p15:clr>
            <a:srgbClr val="A4A3A4"/>
          </p15:clr>
        </p15:guide>
        <p15:guide id="2" pos="29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CFFFF"/>
    <a:srgbClr val="FFFFCC"/>
    <a:srgbClr val="FF3300"/>
    <a:srgbClr val="FFFF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65" autoAdjust="0"/>
    <p:restoredTop sz="94626" autoAdjust="0"/>
  </p:normalViewPr>
  <p:slideViewPr>
    <p:cSldViewPr showGuides="1">
      <p:cViewPr varScale="1">
        <p:scale>
          <a:sx n="98" d="100"/>
          <a:sy n="98" d="100"/>
        </p:scale>
        <p:origin x="1338" y="90"/>
      </p:cViewPr>
      <p:guideLst>
        <p:guide orient="horz" pos="2210"/>
        <p:guide pos="2920"/>
      </p:guideLst>
    </p:cSldViewPr>
  </p:slideViewPr>
  <p:outlineViewPr>
    <p:cViewPr>
      <p:scale>
        <a:sx n="33" d="100"/>
        <a:sy n="33" d="100"/>
      </p:scale>
      <p:origin x="0" y="-6690"/>
    </p:cViewPr>
  </p:outlineViewPr>
  <p:notesTextViewPr>
    <p:cViewPr>
      <p:scale>
        <a:sx n="1" d="1"/>
        <a:sy n="1" d="1"/>
      </p:scale>
      <p:origin x="0" y="0"/>
    </p:cViewPr>
  </p:notesTextViewPr>
  <p:sorterViewPr>
    <p:cViewPr>
      <p:scale>
        <a:sx n="100" d="100"/>
        <a:sy n="100" d="100"/>
      </p:scale>
      <p:origin x="0" y="0"/>
    </p:cViewPr>
  </p:sorterViewPr>
  <p:gridSpacing cx="45003" cy="45003"/>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1582" cy="49550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18971" y="0"/>
            <a:ext cx="2921582" cy="495507"/>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2025/6/15</a:t>
            </a:fld>
            <a:endParaRPr lang="zh-CN" altLang="en-US"/>
          </a:p>
        </p:txBody>
      </p:sp>
      <p:sp>
        <p:nvSpPr>
          <p:cNvPr id="4" name="页脚占位符 3"/>
          <p:cNvSpPr>
            <a:spLocks noGrp="1"/>
          </p:cNvSpPr>
          <p:nvPr>
            <p:ph type="ftr" sz="quarter" idx="2"/>
          </p:nvPr>
        </p:nvSpPr>
        <p:spPr>
          <a:xfrm>
            <a:off x="0" y="9380333"/>
            <a:ext cx="2921582" cy="49550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8971" y="9380333"/>
            <a:ext cx="2921582" cy="495506"/>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2"/>
          <p:cNvSpPr>
            <a:spLocks noGrp="1" noRot="1" noChangeAspect="1"/>
          </p:cNvSpPr>
          <p:nvPr>
            <p:ph type="sldImg"/>
          </p:nvPr>
        </p:nvSpPr>
        <p:spPr>
          <a:xfrm>
            <a:off x="0" y="877888"/>
            <a:ext cx="0" cy="0"/>
          </a:xfrm>
          <a:prstGeom prst="rect">
            <a:avLst/>
          </a:prstGeom>
          <a:noFill/>
          <a:ln w="9525">
            <a:noFill/>
          </a:ln>
        </p:spPr>
      </p:sp>
      <p:sp>
        <p:nvSpPr>
          <p:cNvPr id="4099" name="Rectangle 3"/>
          <p:cNvSpPr>
            <a:spLocks noGrp="1"/>
          </p:cNvSpPr>
          <p:nvPr>
            <p:ph type="body"/>
          </p:nvPr>
        </p:nvSpPr>
        <p:spPr>
          <a:xfrm>
            <a:off x="742881" y="5484863"/>
            <a:ext cx="5944609" cy="5195102"/>
          </a:xfrm>
          <a:prstGeom prst="rect">
            <a:avLst/>
          </a:prstGeom>
          <a:noFill/>
          <a:ln w="9525">
            <a:noFill/>
          </a:ln>
        </p:spPr>
        <p:txBody>
          <a:bodyPr lIns="0" tIns="0" rIns="0" bIns="0" anchor="t" anchorCtr="0"/>
          <a:lstStyle/>
          <a:p>
            <a:pPr lvl="0" indent="0"/>
            <a:endParaRPr lang="en-US" altLang="x-none" dirty="0"/>
          </a:p>
        </p:txBody>
      </p:sp>
      <p:sp>
        <p:nvSpPr>
          <p:cNvPr id="3076" name="Rectangle 4"/>
          <p:cNvSpPr>
            <a:spLocks noGrp="1"/>
          </p:cNvSpPr>
          <p:nvPr>
            <p:ph type="hdr"/>
          </p:nvPr>
        </p:nvSpPr>
        <p:spPr>
          <a:xfrm>
            <a:off x="1" y="0"/>
            <a:ext cx="3224353" cy="576091"/>
          </a:xfrm>
          <a:prstGeom prst="rect">
            <a:avLst/>
          </a:prstGeom>
          <a:noFill/>
          <a:ln w="9525">
            <a:noFill/>
            <a:miter/>
          </a:ln>
        </p:spPr>
        <p:txBody>
          <a:bodyPr lIns="0" tIns="0" rIns="0" bIns="0"/>
          <a:lstStyle/>
          <a:p>
            <a:pPr lvl="0" defTabSz="0" eaLnBrk="1" fontAlgn="base">
              <a:tabLst>
                <a:tab pos="723900" algn="l"/>
                <a:tab pos="1447800" algn="l"/>
                <a:tab pos="2171700" algn="l"/>
                <a:tab pos="2895600" algn="l"/>
              </a:tabLst>
            </a:pPr>
            <a:endParaRPr lang="en-US" altLang="x-none" sz="1400" strike="noStrike" noProof="1">
              <a:latin typeface="Times New Roman" panose="02060603050605020204" pitchFamily="2" charset="0"/>
              <a:ea typeface="宋体" panose="02010600030101010101" pitchFamily="2" charset="-122"/>
            </a:endParaRPr>
          </a:p>
        </p:txBody>
      </p:sp>
      <p:sp>
        <p:nvSpPr>
          <p:cNvPr id="3077" name="Rectangle 5"/>
          <p:cNvSpPr>
            <a:spLocks noGrp="1"/>
          </p:cNvSpPr>
          <p:nvPr>
            <p:ph type="dt"/>
          </p:nvPr>
        </p:nvSpPr>
        <p:spPr>
          <a:xfrm>
            <a:off x="4206018" y="0"/>
            <a:ext cx="3224353" cy="576091"/>
          </a:xfrm>
          <a:prstGeom prst="rect">
            <a:avLst/>
          </a:prstGeom>
          <a:noFill/>
          <a:ln w="9525">
            <a:noFill/>
            <a:miter/>
          </a:ln>
        </p:spPr>
        <p:txBody>
          <a:bodyPr lIns="0" tIns="0" rIns="0" bIns="0"/>
          <a:lstStyle/>
          <a:p>
            <a:pPr lvl="0" algn="r" defTabSz="0" eaLnBrk="1" fontAlgn="base">
              <a:tabLst>
                <a:tab pos="723900" algn="l"/>
                <a:tab pos="1447800" algn="l"/>
                <a:tab pos="2171700" algn="l"/>
                <a:tab pos="2895600" algn="l"/>
              </a:tabLst>
            </a:pPr>
            <a:endParaRPr lang="en-US" altLang="x-none" sz="1400" strike="noStrike" noProof="1">
              <a:latin typeface="Times New Roman" panose="02060603050605020204" pitchFamily="2" charset="0"/>
              <a:ea typeface="宋体" panose="02010600030101010101" pitchFamily="2" charset="-122"/>
            </a:endParaRPr>
          </a:p>
        </p:txBody>
      </p:sp>
      <p:sp>
        <p:nvSpPr>
          <p:cNvPr id="3078" name="Rectangle 6"/>
          <p:cNvSpPr>
            <a:spLocks noGrp="1"/>
          </p:cNvSpPr>
          <p:nvPr>
            <p:ph type="ftr"/>
          </p:nvPr>
        </p:nvSpPr>
        <p:spPr>
          <a:xfrm>
            <a:off x="1" y="10969724"/>
            <a:ext cx="3224353" cy="576091"/>
          </a:xfrm>
          <a:prstGeom prst="rect">
            <a:avLst/>
          </a:prstGeom>
          <a:noFill/>
          <a:ln w="9525">
            <a:noFill/>
            <a:miter/>
          </a:ln>
        </p:spPr>
        <p:txBody>
          <a:bodyPr lIns="0" tIns="0" rIns="0" bIns="0" anchor="b"/>
          <a:lstStyle/>
          <a:p>
            <a:pPr lvl="0" defTabSz="0" eaLnBrk="1" fontAlgn="base">
              <a:tabLst>
                <a:tab pos="723900" algn="l"/>
                <a:tab pos="1447800" algn="l"/>
                <a:tab pos="2171700" algn="l"/>
                <a:tab pos="2895600" algn="l"/>
              </a:tabLst>
            </a:pPr>
            <a:endParaRPr lang="en-US" altLang="x-none" sz="1400" strike="noStrike" noProof="1">
              <a:latin typeface="Times New Roman" panose="02060603050605020204" pitchFamily="2" charset="0"/>
              <a:ea typeface="宋体" panose="02010600030101010101" pitchFamily="2" charset="-122"/>
            </a:endParaRPr>
          </a:p>
        </p:txBody>
      </p:sp>
      <p:sp>
        <p:nvSpPr>
          <p:cNvPr id="3079" name="Rectangle 7"/>
          <p:cNvSpPr>
            <a:spLocks noGrp="1"/>
          </p:cNvSpPr>
          <p:nvPr>
            <p:ph type="sldNum"/>
          </p:nvPr>
        </p:nvSpPr>
        <p:spPr>
          <a:xfrm>
            <a:off x="4206018" y="10969724"/>
            <a:ext cx="3224353" cy="576091"/>
          </a:xfrm>
          <a:prstGeom prst="rect">
            <a:avLst/>
          </a:prstGeom>
          <a:noFill/>
          <a:ln w="9525">
            <a:noFill/>
            <a:miter/>
          </a:ln>
        </p:spPr>
        <p:txBody>
          <a:bodyPr lIns="0" tIns="0" rIns="0" bIns="0" anchor="b"/>
          <a:lstStyle/>
          <a:p>
            <a:pPr lvl="0" algn="r" defTabSz="0" eaLnBrk="1" fontAlgn="base">
              <a:tabLst>
                <a:tab pos="723900" algn="l"/>
                <a:tab pos="1447800" algn="l"/>
                <a:tab pos="2171700" algn="l"/>
                <a:tab pos="2895600" algn="l"/>
              </a:tabLst>
            </a:pPr>
            <a:fld id="{9A0DB2DC-4C9A-4742-B13C-FB6460FD3503}" type="slidenum">
              <a:rPr lang="en-GB" altLang="en-US" sz="1400" strike="noStrike" noProof="1" dirty="0">
                <a:latin typeface="Times New Roman" panose="02060603050605020204" pitchFamily="2" charset="0"/>
                <a:ea typeface="宋体" panose="02010600030101010101" pitchFamily="2" charset="-122"/>
                <a:cs typeface="+mn-ea"/>
              </a:rPr>
              <a:t>‹#›</a:t>
            </a:fld>
            <a:endParaRPr lang="en-GB" altLang="en-US" sz="1400" strike="noStrike" noProof="1">
              <a:latin typeface="Times New Roman" panose="02060603050605020204" pitchFamily="2" charset="0"/>
              <a:ea typeface="宋体" panose="02010600030101010101" pitchFamily="2" charset="-122"/>
            </a:endParaRPr>
          </a:p>
        </p:txBody>
      </p:sp>
    </p:spTree>
    <p:extLst>
      <p:ext uri="{BB962C8B-B14F-4D97-AF65-F5344CB8AC3E}">
        <p14:creationId xmlns:p14="http://schemas.microsoft.com/office/powerpoint/2010/main" val="958277375"/>
      </p:ext>
    </p:extLst>
  </p:cSld>
  <p:clrMap bg1="lt1" tx1="dk1" bg2="lt2" tx2="dk2" accent1="accent1" accent2="accent2" accent3="accent3" accent4="accent4" accent5="accent5" accent6="accent6" hlink="hlink" folHlink="folHlink"/>
  <p:hf sldNum="0" hdr="0" ftr="0" dt="0"/>
  <p:notesStyle>
    <a:lvl1pPr marL="0" lvl="0" indent="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Arial" panose="020B0604020202020204" pitchFamily="34" charset="0"/>
        <a:ea typeface="+mn-ea"/>
        <a:cs typeface="+mn-cs"/>
      </a:defRPr>
    </a:lvl1pPr>
    <a:lvl2pPr marL="742950" lvl="1" indent="-28575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2pPr>
    <a:lvl3pPr marL="1143000" lvl="2"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3pPr>
    <a:lvl4pPr marL="1600200" lvl="3"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4pPr>
    <a:lvl5pPr marL="2057400" lvl="4"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微软雅黑" panose="020B0503020204020204" pitchFamily="34" charset="-122"/>
              </a:defRPr>
            </a:lvl1pPr>
            <a:lvl2pPr marL="804639" indent="-309476" eaLnBrk="0" hangingPunct="0">
              <a:defRPr>
                <a:solidFill>
                  <a:schemeClr val="tx1"/>
                </a:solidFill>
                <a:latin typeface="Arial" panose="020B0604020202020204" pitchFamily="34" charset="0"/>
                <a:ea typeface="微软雅黑" panose="020B0503020204020204" pitchFamily="34" charset="-122"/>
              </a:defRPr>
            </a:lvl2pPr>
            <a:lvl3pPr marL="1237908" indent="-247582" eaLnBrk="0" hangingPunct="0">
              <a:defRPr>
                <a:solidFill>
                  <a:schemeClr val="tx1"/>
                </a:solidFill>
                <a:latin typeface="Arial" panose="020B0604020202020204" pitchFamily="34" charset="0"/>
                <a:ea typeface="微软雅黑" panose="020B0503020204020204" pitchFamily="34" charset="-122"/>
              </a:defRPr>
            </a:lvl3pPr>
            <a:lvl4pPr marL="1733072" indent="-247582" eaLnBrk="0" hangingPunct="0">
              <a:defRPr>
                <a:solidFill>
                  <a:schemeClr val="tx1"/>
                </a:solidFill>
                <a:latin typeface="Arial" panose="020B0604020202020204" pitchFamily="34" charset="0"/>
                <a:ea typeface="微软雅黑" panose="020B0503020204020204" pitchFamily="34" charset="-122"/>
              </a:defRPr>
            </a:lvl4pPr>
            <a:lvl5pPr marL="2228235" indent="-247582" eaLnBrk="0" hangingPunct="0">
              <a:defRPr>
                <a:solidFill>
                  <a:schemeClr val="tx1"/>
                </a:solidFill>
                <a:latin typeface="Arial" panose="020B0604020202020204" pitchFamily="34" charset="0"/>
                <a:ea typeface="微软雅黑" panose="020B0503020204020204" pitchFamily="34" charset="-122"/>
              </a:defRPr>
            </a:lvl5pPr>
            <a:lvl6pPr marL="2723397" indent="-247582"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3218561" indent="-247582"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713725" indent="-247582"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4208887" indent="-247582"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eaLnBrk="1" hangingPunct="1"/>
            <a:fld id="{54296CBD-8362-4CCA-8F7C-186EF0430572}" type="slidenum">
              <a:rPr lang="en-US" altLang="zh-CN">
                <a:latin typeface="Times New Roman" panose="02020603050405020304" pitchFamily="18" charset="0"/>
                <a:ea typeface="宋体" panose="02010600030101010101" pitchFamily="2" charset="-122"/>
              </a:rPr>
              <a:pPr eaLnBrk="1" hangingPunct="1"/>
              <a:t>18</a:t>
            </a:fld>
            <a:endParaRPr lang="en-US" altLang="zh-CN">
              <a:latin typeface="Times New Roman" panose="02020603050405020304" pitchFamily="18" charset="0"/>
              <a:ea typeface="宋体" panose="02010600030101010101" pitchFamily="2" charset="-122"/>
            </a:endParaRPr>
          </a:p>
        </p:txBody>
      </p:sp>
      <p:sp>
        <p:nvSpPr>
          <p:cNvPr id="128003" name="Rectangle 2"/>
          <p:cNvSpPr>
            <a:spLocks noGrp="1" noRot="1" noChangeAspect="1" noChangeArrowheads="1" noTextEdit="1"/>
          </p:cNvSpPr>
          <p:nvPr>
            <p:ph type="sldImg"/>
          </p:nvPr>
        </p:nvSpPr>
        <p:spPr>
          <a:xfrm>
            <a:off x="1003300" y="1382713"/>
            <a:ext cx="4973638" cy="3732212"/>
          </a:xfrm>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0325">
              <a:defRPr/>
            </a:pPr>
            <a:endParaRPr lang="zh-CN" altLang="en-US" dirty="0"/>
          </a:p>
        </p:txBody>
      </p:sp>
    </p:spTree>
    <p:extLst>
      <p:ext uri="{BB962C8B-B14F-4D97-AF65-F5344CB8AC3E}">
        <p14:creationId xmlns:p14="http://schemas.microsoft.com/office/powerpoint/2010/main" val="3108944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p:sp>
      <p:sp>
        <p:nvSpPr>
          <p:cNvPr id="28674" name="文本占位符 2"/>
          <p:cNvSpPr>
            <a:spLocks noGrp="1"/>
          </p:cNvSpPr>
          <p:nvPr>
            <p:ph type="body"/>
          </p:nvPr>
        </p:nvSpPr>
        <p:spPr/>
        <p:txBody>
          <a:bodyPr lIns="0" tIns="0" rIns="0" bIns="0" anchor="t" anchorCtr="0"/>
          <a:lstStyle/>
          <a:p>
            <a:pPr lvl="0" indent="0"/>
            <a:endParaRPr lang="zh-CN" altLang="en-US">
              <a:ea typeface="宋体" panose="02010600030101010101" pitchFamily="2" charset="-122"/>
            </a:endParaRPr>
          </a:p>
        </p:txBody>
      </p:sp>
      <p:sp>
        <p:nvSpPr>
          <p:cNvPr id="28675" name="灯片编号占位符 3"/>
          <p:cNvSpPr>
            <a:spLocks noGrp="1"/>
          </p:cNvSpPr>
          <p:nvPr>
            <p:ph type="sldNum" sz="quarter"/>
          </p:nvPr>
        </p:nvSpPr>
        <p:spPr>
          <a:xfrm>
            <a:off x="4206018" y="10969724"/>
            <a:ext cx="3224353" cy="576091"/>
          </a:xfrm>
          <a:prstGeom prst="rect">
            <a:avLst/>
          </a:prstGeom>
          <a:noFill/>
          <a:ln w="9525">
            <a:noFill/>
          </a:ln>
        </p:spPr>
        <p:txBody>
          <a:bodyPr lIns="0" tIns="0" rIns="0" bIns="0" anchor="b" anchorCtr="0"/>
          <a:lstStyle/>
          <a:p>
            <a:pPr lvl="0" indent="0" algn="r" defTabSz="449580">
              <a:tabLst>
                <a:tab pos="723900" algn="l"/>
                <a:tab pos="1447800" algn="l"/>
                <a:tab pos="2171700" algn="l"/>
                <a:tab pos="2895600" algn="l"/>
              </a:tabLst>
            </a:pPr>
            <a:fld id="{9A0DB2DC-4C9A-4742-B13C-FB6460FD3503}" type="slidenum">
              <a:rPr lang="en-GB" altLang="en-US" sz="1400" dirty="0">
                <a:latin typeface="Times New Roman" panose="02060603050605020204" pitchFamily="2" charset="0"/>
                <a:ea typeface="宋体" panose="02010600030101010101" pitchFamily="2" charset="-122"/>
              </a:rPr>
              <a:t>23</a:t>
            </a:fld>
            <a:endParaRPr lang="en-GB" altLang="en-US" sz="1400" dirty="0">
              <a:latin typeface="Times New Roman" panose="02060603050605020204" pitchFamily="2" charset="0"/>
              <a:ea typeface="宋体" panose="02010600030101010101" pitchFamily="2" charset="-122"/>
            </a:endParaRPr>
          </a:p>
        </p:txBody>
      </p:sp>
    </p:spTree>
    <p:extLst>
      <p:ext uri="{BB962C8B-B14F-4D97-AF65-F5344CB8AC3E}">
        <p14:creationId xmlns:p14="http://schemas.microsoft.com/office/powerpoint/2010/main" val="29431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23711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pPr fontAlgn="base"/>
            <a:r>
              <a:rPr lang="zh-CN" altLang="en-US" sz="4960" strike="noStrike" noProof="1"/>
              <a:t>单击此处编辑母版标题样式</a:t>
            </a:r>
            <a:endParaRPr lang="zh-CN" altLang="en-US" strike="noStrike" noProof="1"/>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pPr fontAlgn="base"/>
            <a:r>
              <a:rPr lang="zh-CN" altLang="en-US" sz="1985" strike="noStrike" noProof="1"/>
              <a:t>单击此处编辑母版副标题样式</a:t>
            </a:r>
            <a:endParaRPr lang="zh-CN" altLang="en-US" strike="noStrike" noProof="1"/>
          </a:p>
        </p:txBody>
      </p:sp>
      <p:sp>
        <p:nvSpPr>
          <p:cNvPr id="4" name="日期占位符 3"/>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5" name="页脚占位符 4"/>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6" name="灯片编号占位符 5"/>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5" name="页脚占位符 4"/>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6" name="灯片编号占位符 5"/>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pPr fontAlgn="base"/>
            <a:r>
              <a:rPr lang="zh-CN" altLang="en-US" sz="4960" strike="noStrike" noProof="1"/>
              <a:t>单击此处编辑母版标题样式</a:t>
            </a:r>
            <a:endParaRPr lang="zh-CN" altLang="en-US" strike="noStrike" noProof="1"/>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fontAlgn="base"/>
            <a:r>
              <a:rPr lang="zh-CN" altLang="en-US" sz="1985" strike="noStrike" noProof="1"/>
              <a:t>单击此处编辑母版文本样式</a:t>
            </a:r>
          </a:p>
        </p:txBody>
      </p:sp>
      <p:sp>
        <p:nvSpPr>
          <p:cNvPr id="4" name="日期占位符 3"/>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5" name="页脚占位符 4"/>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6" name="灯片编号占位符 5"/>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28625" y="1728788"/>
            <a:ext cx="4444000" cy="4383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6" name="页脚占位符 5"/>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7" name="灯片编号占位符 6"/>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fontAlgn="base"/>
            <a:r>
              <a:rPr lang="zh-CN" altLang="en-US" sz="1985" strike="noStrike"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fontAlgn="base"/>
            <a:r>
              <a:rPr lang="zh-CN" altLang="en-US" sz="1985" strike="noStrike"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8" name="页脚占位符 7"/>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9" name="灯片编号占位符 8"/>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4" name="页脚占位符 3"/>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5" name="灯片编号占位符 4"/>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3" name="页脚占位符 2"/>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4" name="灯片编号占位符 3"/>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pPr fontAlgn="base"/>
            <a:r>
              <a:rPr lang="zh-CN" altLang="en-US" sz="2645" strike="noStrike" noProof="1"/>
              <a:t>单击此处编辑母版标题样式</a:t>
            </a:r>
            <a:endParaRPr lang="zh-CN" altLang="en-US" strike="noStrike" noProof="1"/>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fontAlgn="base"/>
            <a:r>
              <a:rPr lang="zh-CN" altLang="en-US" sz="2645" strike="noStrike" noProof="1"/>
              <a:t>单击此处编辑母版文本样式</a:t>
            </a:r>
            <a:endParaRPr lang="zh-CN" altLang="en-US" strike="noStrike" noProof="1"/>
          </a:p>
          <a:p>
            <a:pPr lvl="1" fontAlgn="base"/>
            <a:r>
              <a:rPr lang="zh-CN" altLang="en-US" sz="2315" strike="noStrike" noProof="1"/>
              <a:t>第二级</a:t>
            </a:r>
            <a:endParaRPr lang="zh-CN" altLang="en-US" strike="noStrike" noProof="1"/>
          </a:p>
          <a:p>
            <a:pPr lvl="2" fontAlgn="base"/>
            <a:r>
              <a:rPr lang="zh-CN" altLang="en-US" sz="1985" strike="noStrike" noProof="1"/>
              <a:t>第三级</a:t>
            </a:r>
            <a:endParaRPr lang="zh-CN" altLang="en-US" strike="noStrike" noProof="1"/>
          </a:p>
          <a:p>
            <a:pPr lvl="3" fontAlgn="base"/>
            <a:r>
              <a:rPr lang="zh-CN" altLang="en-US" sz="1655" strike="noStrike" noProof="1"/>
              <a:t>第四级</a:t>
            </a:r>
            <a:endParaRPr lang="zh-CN" altLang="en-US" strike="noStrike" noProof="1"/>
          </a:p>
          <a:p>
            <a:pPr lvl="4" fontAlgn="base"/>
            <a:r>
              <a:rPr lang="zh-CN" altLang="en-US" sz="1655" strike="noStrike" noProof="1"/>
              <a:t>第五级</a:t>
            </a:r>
            <a:endParaRPr lang="zh-CN" altLang="en-US" strike="noStrike"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fontAlgn="base"/>
            <a:r>
              <a:rPr lang="zh-CN" altLang="en-US" sz="1325" strike="noStrike" noProof="1"/>
              <a:t>单击此处编辑母版文本样式</a:t>
            </a:r>
          </a:p>
        </p:txBody>
      </p:sp>
      <p:sp>
        <p:nvSpPr>
          <p:cNvPr id="5" name="日期占位符 4"/>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6" name="页脚占位符 5"/>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7" name="灯片编号占位符 6"/>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pPr fontAlgn="base"/>
            <a:r>
              <a:rPr lang="zh-CN" altLang="en-US" sz="2645" strike="noStrike" noProof="1"/>
              <a:t>单击此处编辑母版标题样式</a:t>
            </a:r>
            <a:endParaRPr lang="zh-CN" altLang="en-US" strike="noStrike" noProof="1"/>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fontAlgn="base"/>
            <a:endParaRPr lang="zh-CN" altLang="en-US" strike="noStrike"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fontAlgn="base"/>
            <a:r>
              <a:rPr lang="zh-CN" altLang="en-US" sz="1325" strike="noStrike" noProof="1"/>
              <a:t>单击此处编辑母版文本样式</a:t>
            </a:r>
          </a:p>
        </p:txBody>
      </p:sp>
      <p:sp>
        <p:nvSpPr>
          <p:cNvPr id="5" name="日期占位符 4"/>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6" name="页脚占位符 5"/>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7" name="灯片编号占位符 6"/>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5" name="页脚占位符 4"/>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6" name="灯片编号占位符 5"/>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idx="10"/>
          </p:nvPr>
        </p:nvSpPr>
        <p:spPr/>
        <p:txBody>
          <a:body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5" name="页脚占位符 4"/>
          <p:cNvSpPr>
            <a:spLocks noGrp="1"/>
          </p:cNvSpPr>
          <p:nvPr>
            <p:ph type="ftr" idx="11"/>
          </p:nvPr>
        </p:nvSpPr>
        <p:spPr/>
        <p:txBody>
          <a:bodyPr/>
          <a:lstStyle/>
          <a:p>
            <a:pPr lvl="0" fontAlgn="base">
              <a:lnSpc>
                <a:spcPct val="116000"/>
              </a:lnSpc>
            </a:pPr>
            <a:endParaRPr lang="en-US" altLang="zh-CN" sz="1000" strike="noStrike" noProof="1">
              <a:latin typeface="Comic Sans MS" panose="030F0702030302020204" pitchFamily="2" charset="0"/>
            </a:endParaRPr>
          </a:p>
        </p:txBody>
      </p:sp>
      <p:sp>
        <p:nvSpPr>
          <p:cNvPr id="6" name="灯片编号占位符 5"/>
          <p:cNvSpPr>
            <a:spLocks noGrp="1"/>
          </p:cNvSpPr>
          <p:nvPr>
            <p:ph type="sldNum" idx="12"/>
          </p:nvPr>
        </p:nvSpPr>
        <p:spPr/>
        <p:txBody>
          <a:body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pPr fontAlgn="base"/>
            <a:r>
              <a:rPr lang="zh-CN" altLang="en-US" sz="4960" strike="noStrike" noProof="1"/>
              <a:t>单击此处编辑母版标题样式</a:t>
            </a:r>
            <a:endParaRPr lang="zh-CN" altLang="en-US" strike="noStrike" noProof="1"/>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pPr fontAlgn="base"/>
            <a:r>
              <a:rPr lang="zh-CN" altLang="en-US" sz="1985" strike="noStrike" noProof="1"/>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pPr fontAlgn="base"/>
            <a:r>
              <a:rPr lang="zh-CN" altLang="en-US" sz="4960" strike="noStrike" noProof="1"/>
              <a:t>单击此处编辑母版标题样式</a:t>
            </a:r>
            <a:endParaRPr lang="zh-CN" altLang="en-US" strike="noStrike" noProof="1"/>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fontAlgn="base"/>
            <a:r>
              <a:rPr lang="zh-CN" altLang="en-US" sz="1985" strike="noStrike" noProof="1"/>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7316820" y="1944688"/>
            <a:ext cx="2257393" cy="4383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fontAlgn="base"/>
            <a:r>
              <a:rPr lang="zh-CN" altLang="en-US" sz="1985" strike="noStrike"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fontAlgn="base"/>
            <a:r>
              <a:rPr lang="zh-CN" altLang="en-US" sz="1985" strike="noStrike"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pPr fontAlgn="base"/>
            <a:r>
              <a:rPr lang="zh-CN" altLang="en-US" sz="2645" strike="noStrike" noProof="1"/>
              <a:t>单击此处编辑母版标题样式</a:t>
            </a:r>
            <a:endParaRPr lang="zh-CN" altLang="en-US" strike="noStrike" noProof="1"/>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fontAlgn="base"/>
            <a:r>
              <a:rPr lang="zh-CN" altLang="en-US" sz="2645" strike="noStrike" noProof="1"/>
              <a:t>单击此处编辑母版文本样式</a:t>
            </a:r>
            <a:endParaRPr lang="zh-CN" altLang="en-US" strike="noStrike" noProof="1"/>
          </a:p>
          <a:p>
            <a:pPr lvl="1" fontAlgn="base"/>
            <a:r>
              <a:rPr lang="zh-CN" altLang="en-US" sz="2315" strike="noStrike" noProof="1"/>
              <a:t>第二级</a:t>
            </a:r>
            <a:endParaRPr lang="zh-CN" altLang="en-US" strike="noStrike" noProof="1"/>
          </a:p>
          <a:p>
            <a:pPr lvl="2" fontAlgn="base"/>
            <a:r>
              <a:rPr lang="zh-CN" altLang="en-US" sz="1985" strike="noStrike" noProof="1"/>
              <a:t>第三级</a:t>
            </a:r>
            <a:endParaRPr lang="zh-CN" altLang="en-US" strike="noStrike" noProof="1"/>
          </a:p>
          <a:p>
            <a:pPr lvl="3" fontAlgn="base"/>
            <a:r>
              <a:rPr lang="zh-CN" altLang="en-US" sz="1655" strike="noStrike" noProof="1"/>
              <a:t>第四级</a:t>
            </a:r>
            <a:endParaRPr lang="zh-CN" altLang="en-US" strike="noStrike" noProof="1"/>
          </a:p>
          <a:p>
            <a:pPr lvl="4" fontAlgn="base"/>
            <a:r>
              <a:rPr lang="zh-CN" altLang="en-US" sz="1655" strike="noStrike" noProof="1"/>
              <a:t>第五级</a:t>
            </a:r>
            <a:endParaRPr lang="zh-CN" altLang="en-US" strike="noStrike"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fontAlgn="base"/>
            <a:r>
              <a:rPr lang="zh-CN" altLang="en-US" sz="1325" strike="noStrike"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pPr fontAlgn="base"/>
            <a:r>
              <a:rPr lang="zh-CN" altLang="en-US" sz="2645" strike="noStrike" noProof="1"/>
              <a:t>单击此处编辑母版标题样式</a:t>
            </a:r>
            <a:endParaRPr lang="zh-CN" altLang="en-US" strike="noStrike" noProof="1"/>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fontAlgn="base"/>
            <a:endParaRPr lang="zh-CN" altLang="en-US" strike="noStrike"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fontAlgn="base"/>
            <a:r>
              <a:rPr lang="zh-CN" altLang="en-US" sz="1325" strike="noStrike" noProof="1"/>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CCFF"/>
        </a:solidFill>
        <a:effectLst/>
      </p:bgPr>
    </p:bg>
    <p:spTree>
      <p:nvGrpSpPr>
        <p:cNvPr id="1" name=""/>
        <p:cNvGrpSpPr/>
        <p:nvPr/>
      </p:nvGrpSpPr>
      <p:grpSpPr>
        <a:xfrm>
          <a:off x="0" y="0"/>
          <a:ext cx="0" cy="0"/>
          <a:chOff x="0" y="0"/>
          <a:chExt cx="0" cy="0"/>
        </a:xfrm>
      </p:grpSpPr>
      <p:sp>
        <p:nvSpPr>
          <p:cNvPr id="1026" name="AutoShape 2"/>
          <p:cNvSpPr/>
          <p:nvPr/>
        </p:nvSpPr>
        <p:spPr>
          <a:xfrm>
            <a:off x="144463" y="161925"/>
            <a:ext cx="9791700" cy="6613525"/>
          </a:xfrm>
          <a:prstGeom prst="roundRect">
            <a:avLst>
              <a:gd name="adj" fmla="val 2810"/>
            </a:avLst>
          </a:prstGeom>
          <a:solidFill>
            <a:srgbClr val="FFFFFF"/>
          </a:solidFill>
          <a:ln w="9525">
            <a:noFill/>
          </a:ln>
        </p:spPr>
        <p:txBody>
          <a:bodyPr wrap="none" anchor="ctr" anchorCtr="0"/>
          <a:lstStyle/>
          <a:p>
            <a:pPr lvl="0" indent="0" hangingPunct="0"/>
            <a:endParaRPr lang="en-US" altLang="x-none" dirty="0">
              <a:latin typeface="Arial" panose="020B0604020202020204" pitchFamily="34" charset="0"/>
              <a:ea typeface="宋体" panose="02010600030101010101" pitchFamily="2" charset="-122"/>
            </a:endParaRPr>
          </a:p>
        </p:txBody>
      </p:sp>
      <p:sp>
        <p:nvSpPr>
          <p:cNvPr id="1027" name="Rectangle 3"/>
          <p:cNvSpPr>
            <a:spLocks noGrp="1"/>
          </p:cNvSpPr>
          <p:nvPr>
            <p:ph type="title"/>
          </p:nvPr>
        </p:nvSpPr>
        <p:spPr>
          <a:xfrm>
            <a:off x="503238" y="301625"/>
            <a:ext cx="7847012" cy="920750"/>
          </a:xfrm>
          <a:prstGeom prst="rect">
            <a:avLst/>
          </a:prstGeom>
          <a:noFill/>
          <a:ln w="9525">
            <a:noFill/>
          </a:ln>
        </p:spPr>
        <p:txBody>
          <a:bodyPr lIns="0" tIns="0" rIns="0" bIns="0" anchor="ctr" anchorCtr="0"/>
          <a:lstStyle/>
          <a:p>
            <a:pPr lvl="0" indent="0"/>
            <a:r>
              <a:rPr lang="en-US" altLang="zh-CN"/>
              <a:t>Click to edit the title text format</a:t>
            </a:r>
          </a:p>
        </p:txBody>
      </p:sp>
      <p:sp>
        <p:nvSpPr>
          <p:cNvPr id="1028" name="Rectangle 4"/>
          <p:cNvSpPr>
            <a:spLocks noGrp="1"/>
          </p:cNvSpPr>
          <p:nvPr>
            <p:ph type="body"/>
          </p:nvPr>
        </p:nvSpPr>
        <p:spPr>
          <a:xfrm>
            <a:off x="503238" y="1728788"/>
            <a:ext cx="9069387" cy="4383087"/>
          </a:xfrm>
          <a:prstGeom prst="rect">
            <a:avLst/>
          </a:prstGeom>
          <a:noFill/>
          <a:ln w="9525">
            <a:noFill/>
          </a:ln>
        </p:spPr>
        <p:txBody>
          <a:bodyPr lIns="0" tIns="22680" rIns="0" bIns="0" anchor="t" anchorCtr="0"/>
          <a:lstStyle/>
          <a:p>
            <a:pPr lvl="0" indent="-342900"/>
            <a:r>
              <a:rPr lang="en-US" altLang="zh-CN"/>
              <a:t>Click to edit the outline text format</a:t>
            </a:r>
          </a:p>
          <a:p>
            <a:pPr lvl="1" indent="-285750"/>
            <a:r>
              <a:rPr lang="en-US" altLang="zh-CN"/>
              <a:t>Second Outline Level</a:t>
            </a:r>
          </a:p>
          <a:p>
            <a:pPr lvl="2" indent="-228600"/>
            <a:r>
              <a:rPr lang="en-US" altLang="zh-CN"/>
              <a:t>Third Outline Level</a:t>
            </a:r>
          </a:p>
          <a:p>
            <a:pPr lvl="3" indent="-228600"/>
            <a:r>
              <a:rPr lang="en-US" altLang="zh-CN"/>
              <a:t>Fourth Outline Level</a:t>
            </a:r>
          </a:p>
          <a:p>
            <a:pPr lvl="4" indent="-228600"/>
            <a:r>
              <a:rPr lang="en-US" altLang="zh-CN"/>
              <a:t>Fifth Outline Level</a:t>
            </a:r>
          </a:p>
          <a:p>
            <a:pPr lvl="4" indent="-228600"/>
            <a:r>
              <a:rPr lang="en-US" altLang="zh-CN"/>
              <a:t>Sixth Outline Level</a:t>
            </a:r>
          </a:p>
          <a:p>
            <a:pPr lvl="4" indent="-228600"/>
            <a:r>
              <a:rPr lang="en-US" altLang="zh-CN"/>
              <a:t>Seventh Outline Level</a:t>
            </a:r>
          </a:p>
        </p:txBody>
      </p:sp>
      <p:sp>
        <p:nvSpPr>
          <p:cNvPr id="1029" name="Rectangle 5"/>
          <p:cNvSpPr>
            <a:spLocks noGrp="1"/>
          </p:cNvSpPr>
          <p:nvPr>
            <p:ph type="dt"/>
          </p:nvPr>
        </p:nvSpPr>
        <p:spPr>
          <a:xfrm>
            <a:off x="144463" y="6886575"/>
            <a:ext cx="3094038" cy="519113"/>
          </a:xfrm>
          <a:prstGeom prst="rect">
            <a:avLst/>
          </a:prstGeom>
          <a:noFill/>
          <a:ln w="9525">
            <a:noFill/>
            <a:miter/>
          </a:ln>
        </p:spPr>
        <p:txBody>
          <a:bodyPr lIns="0" tIns="0" rIns="0" bIns="0"/>
          <a:lstStyle>
            <a:lvl1pPr>
              <a:defRPr sz="1000">
                <a:latin typeface="Comic Sans MS" panose="030F0702030302020204" pitchFamily="2" charset="0"/>
                <a:ea typeface="DejaVu Sans" panose="020B0603030804020204" charset="0"/>
                <a:cs typeface="楷体_GB2312" panose="02010609030101010101" charset="-122"/>
              </a:defRPr>
            </a:lvl1pPr>
          </a:lstStyle>
          <a:p>
            <a:pPr lvl="0" eaLnBrk="1" fontAlgn="base">
              <a:lnSpc>
                <a:spcPct val="116000"/>
              </a:lnSpc>
            </a:pPr>
            <a:r>
              <a:rPr lang="en-US" altLang="x-none" strike="noStrike" noProof="1">
                <a:latin typeface="Comic Sans MS" panose="030F0702030302020204" pitchFamily="2" charset="0"/>
                <a:ea typeface="DejaVu Sans" panose="020B0603030804020204" charset="0"/>
              </a:rPr>
              <a:t>School of Computer Science and Engineering  </a:t>
            </a:r>
            <a:endParaRPr lang="en-GB" altLang="en-US" sz="1000" strike="noStrike" noProof="1">
              <a:latin typeface="Comic Sans MS" panose="030F0702030302020204" pitchFamily="2" charset="0"/>
              <a:ea typeface="宋体" panose="02010600030101010101" pitchFamily="2" charset="-122"/>
            </a:endParaRPr>
          </a:p>
        </p:txBody>
      </p:sp>
      <p:sp>
        <p:nvSpPr>
          <p:cNvPr id="1030" name="Rectangle 6"/>
          <p:cNvSpPr>
            <a:spLocks noGrp="1"/>
          </p:cNvSpPr>
          <p:nvPr>
            <p:ph type="ftr"/>
          </p:nvPr>
        </p:nvSpPr>
        <p:spPr>
          <a:xfrm>
            <a:off x="3448050" y="6886575"/>
            <a:ext cx="3194050" cy="519113"/>
          </a:xfrm>
          <a:prstGeom prst="rect">
            <a:avLst/>
          </a:prstGeom>
          <a:noFill/>
          <a:ln w="9525">
            <a:noFill/>
            <a:miter/>
          </a:ln>
        </p:spPr>
        <p:txBody>
          <a:bodyPr lIns="0" tIns="0" rIns="0" bIns="0"/>
          <a:lstStyle>
            <a:lvl1pPr algn="ctr">
              <a:defRPr sz="1000">
                <a:latin typeface="Comic Sans MS" panose="030F0702030302020204" pitchFamily="2" charset="0"/>
                <a:ea typeface="楷体_GB2312" panose="02010609030101010101" charset="-122"/>
              </a:defRPr>
            </a:lvl1pPr>
          </a:lstStyle>
          <a:p>
            <a:pPr lvl="0" fontAlgn="base">
              <a:lnSpc>
                <a:spcPct val="116000"/>
              </a:lnSpc>
            </a:pPr>
            <a:endParaRPr lang="en-US" altLang="zh-CN" sz="1000" strike="noStrike" noProof="1">
              <a:latin typeface="Comic Sans MS" panose="030F0702030302020204" pitchFamily="2" charset="0"/>
            </a:endParaRPr>
          </a:p>
        </p:txBody>
      </p:sp>
      <p:sp>
        <p:nvSpPr>
          <p:cNvPr id="1031" name="Rectangle 7"/>
          <p:cNvSpPr>
            <a:spLocks noGrp="1"/>
          </p:cNvSpPr>
          <p:nvPr>
            <p:ph type="sldNum"/>
          </p:nvPr>
        </p:nvSpPr>
        <p:spPr>
          <a:xfrm>
            <a:off x="7227888" y="6886575"/>
            <a:ext cx="2346325" cy="519113"/>
          </a:xfrm>
          <a:prstGeom prst="rect">
            <a:avLst/>
          </a:prstGeom>
          <a:noFill/>
          <a:ln w="9525">
            <a:noFill/>
            <a:miter/>
          </a:ln>
        </p:spPr>
        <p:txBody>
          <a:bodyPr lIns="0" tIns="0" rIns="0" bIns="0"/>
          <a:lstStyle>
            <a:lvl1pPr algn="r">
              <a:defRPr sz="1200">
                <a:latin typeface="Comic Sans MS" panose="030F0702030302020204" pitchFamily="2" charset="0"/>
                <a:ea typeface="宋体" panose="02010600030101010101" pitchFamily="2" charset="-122"/>
                <a:cs typeface="楷体_GB2312" panose="02010609030101010101" charset="-122"/>
              </a:defRPr>
            </a:lvl1pPr>
          </a:lstStyle>
          <a:p>
            <a:pPr lvl="0" eaLnBrk="1" fontAlgn="base">
              <a:lnSpc>
                <a:spcPct val="116000"/>
              </a:lnSpc>
            </a:pPr>
            <a:fld id="{9A0DB2DC-4C9A-4742-B13C-FB6460FD3503}" type="slidenum">
              <a:rPr lang="en-GB" altLang="en-US" strike="noStrike" noProof="1" dirty="0">
                <a:latin typeface="Comic Sans MS" panose="030F0702030302020204" pitchFamily="2" charset="0"/>
                <a:ea typeface="宋体" panose="02010600030101010101" pitchFamily="2" charset="-122"/>
              </a:rPr>
              <a:t>‹#›</a:t>
            </a:fld>
            <a:endParaRPr lang="en-GB" altLang="en-US" strike="noStrike" noProof="1"/>
          </a:p>
        </p:txBody>
      </p:sp>
      <p:sp>
        <p:nvSpPr>
          <p:cNvPr id="1032" name="Rectangle 8"/>
          <p:cNvSpPr/>
          <p:nvPr/>
        </p:nvSpPr>
        <p:spPr>
          <a:xfrm>
            <a:off x="1439863" y="1223963"/>
            <a:ext cx="8640762" cy="144462"/>
          </a:xfrm>
          <a:prstGeom prst="rect">
            <a:avLst/>
          </a:prstGeom>
          <a:gradFill rotWithShape="0">
            <a:gsLst>
              <a:gs pos="0">
                <a:srgbClr val="FFFFFF"/>
              </a:gs>
              <a:gs pos="100000">
                <a:srgbClr val="0047FF"/>
              </a:gs>
            </a:gsLst>
            <a:lin ang="0" scaled="1"/>
            <a:tileRect/>
          </a:gradFill>
          <a:ln w="9525">
            <a:noFill/>
          </a:ln>
        </p:spPr>
        <p:txBody>
          <a:bodyPr wrap="none" anchor="ctr" anchorCtr="0"/>
          <a:lstStyle/>
          <a:p>
            <a:pPr lvl="0" indent="0" hangingPunct="0"/>
            <a:endParaRPr lang="en-US" altLang="x-none" dirty="0">
              <a:latin typeface="Arial" panose="020B0604020202020204" pitchFamily="34" charset="0"/>
              <a:ea typeface="宋体" panose="02010600030101010101" pitchFamily="2" charset="-122"/>
            </a:endParaRPr>
          </a:p>
        </p:txBody>
      </p:sp>
      <p:pic>
        <p:nvPicPr>
          <p:cNvPr id="1033" name="Picture 9"/>
          <p:cNvPicPr>
            <a:picLocks noChangeAspect="1"/>
          </p:cNvPicPr>
          <p:nvPr/>
        </p:nvPicPr>
        <p:blipFill>
          <a:blip r:embed="rId13"/>
          <a:stretch>
            <a:fillRect/>
          </a:stretch>
        </p:blipFill>
        <p:spPr>
          <a:xfrm>
            <a:off x="8928100" y="215900"/>
            <a:ext cx="936625" cy="9366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p:titleStyle>
    <p:bodyStyle>
      <a:lvl1pPr marL="342900" lvl="0" indent="-342900" algn="l" defTabSz="449580" eaLnBrk="0" fontAlgn="base" latinLnBrk="0" hangingPunct="0">
        <a:lnSpc>
          <a:spcPct val="95000"/>
        </a:lnSpc>
        <a:spcBef>
          <a:spcPct val="0"/>
        </a:spcBef>
        <a:spcAft>
          <a:spcPts val="1415"/>
        </a:spcAft>
        <a:buSzPct val="100000"/>
        <a:buFont typeface="Times New Roman" panose="02060603050605020204" pitchFamily="2" charset="0"/>
        <a:buChar char="•"/>
        <a:defRPr sz="3600" b="0" i="0" u="none" kern="1200" baseline="0">
          <a:solidFill>
            <a:srgbClr val="000000"/>
          </a:solidFill>
          <a:latin typeface="+mn-lt"/>
          <a:ea typeface="楷体_GB2312" panose="02010609030101010101" charset="-122"/>
          <a:cs typeface="+mn-cs"/>
        </a:defRPr>
      </a:lvl1pPr>
      <a:lvl2pPr marL="742950" lvl="1" indent="-285750" algn="l" defTabSz="449580" eaLnBrk="0" fontAlgn="base" latinLnBrk="0" hangingPunct="0">
        <a:lnSpc>
          <a:spcPct val="95000"/>
        </a:lnSpc>
        <a:spcBef>
          <a:spcPct val="0"/>
        </a:spcBef>
        <a:spcAft>
          <a:spcPts val="1140"/>
        </a:spcAft>
        <a:buSzPct val="100000"/>
        <a:buFont typeface="Times New Roman" panose="02060603050605020204" pitchFamily="2" charset="0"/>
        <a:buChar char="–"/>
        <a:defRPr sz="2800" b="0" i="0" u="none" kern="1200" baseline="0">
          <a:solidFill>
            <a:srgbClr val="000000"/>
          </a:solidFill>
          <a:latin typeface="+mn-lt"/>
          <a:ea typeface="楷体_GB2312" panose="02010609030101010101" charset="-122"/>
          <a:cs typeface="+mn-cs"/>
        </a:defRPr>
      </a:lvl2pPr>
      <a:lvl3pPr marL="1143000" lvl="2" indent="-228600" algn="l" defTabSz="449580" eaLnBrk="0" fontAlgn="base" latinLnBrk="0" hangingPunct="0">
        <a:lnSpc>
          <a:spcPct val="95000"/>
        </a:lnSpc>
        <a:spcBef>
          <a:spcPct val="0"/>
        </a:spcBef>
        <a:spcAft>
          <a:spcPts val="850"/>
        </a:spcAft>
        <a:buSzPct val="100000"/>
        <a:buFont typeface="Times New Roman" panose="02060603050605020204" pitchFamily="2" charset="0"/>
        <a:buChar char="•"/>
        <a:defRPr sz="2400" b="0" i="0" u="none" kern="1200" baseline="0">
          <a:solidFill>
            <a:srgbClr val="000000"/>
          </a:solidFill>
          <a:latin typeface="+mn-lt"/>
          <a:ea typeface="楷体_GB2312" panose="02010609030101010101" charset="-122"/>
          <a:cs typeface="+mn-cs"/>
        </a:defRPr>
      </a:lvl3pPr>
      <a:lvl4pPr marL="1600200" lvl="3" indent="-228600" algn="l" defTabSz="449580" eaLnBrk="0" fontAlgn="base" latinLnBrk="0" hangingPunct="0">
        <a:lnSpc>
          <a:spcPct val="95000"/>
        </a:lnSpc>
        <a:spcBef>
          <a:spcPct val="0"/>
        </a:spcBef>
        <a:spcAft>
          <a:spcPts val="575"/>
        </a:spcAft>
        <a:buSzPct val="100000"/>
        <a:buFont typeface="Times New Roman" panose="02060603050605020204" pitchFamily="2" charset="0"/>
        <a:buChar char="–"/>
        <a:defRPr sz="2000" b="0" i="0" u="none" kern="1200" baseline="0">
          <a:solidFill>
            <a:srgbClr val="000000"/>
          </a:solidFill>
          <a:latin typeface="+mn-lt"/>
          <a:ea typeface="楷体_GB2312" panose="02010609030101010101" charset="-122"/>
          <a:cs typeface="+mn-cs"/>
        </a:defRPr>
      </a:lvl4pPr>
      <a:lvl5pPr marL="2057400" lvl="4" indent="-2286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楷体_GB2312" panose="0201060903010101010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99CCFF"/>
        </a:solidFill>
        <a:effectLst/>
      </p:bgPr>
    </p:bg>
    <p:spTree>
      <p:nvGrpSpPr>
        <p:cNvPr id="1" name=""/>
        <p:cNvGrpSpPr/>
        <p:nvPr/>
      </p:nvGrpSpPr>
      <p:grpSpPr>
        <a:xfrm>
          <a:off x="0" y="0"/>
          <a:ext cx="0" cy="0"/>
          <a:chOff x="0" y="0"/>
          <a:chExt cx="0" cy="0"/>
        </a:xfrm>
      </p:grpSpPr>
      <p:sp>
        <p:nvSpPr>
          <p:cNvPr id="2050" name="AutoShape 2"/>
          <p:cNvSpPr/>
          <p:nvPr/>
        </p:nvSpPr>
        <p:spPr>
          <a:xfrm>
            <a:off x="-346075" y="5975350"/>
            <a:ext cx="2073275" cy="2160588"/>
          </a:xfrm>
          <a:prstGeom prst="roundRect">
            <a:avLst>
              <a:gd name="adj" fmla="val 16667"/>
            </a:avLst>
          </a:prstGeom>
          <a:gradFill rotWithShape="0">
            <a:gsLst>
              <a:gs pos="0">
                <a:srgbClr val="CCFFFF">
                  <a:alpha val="50000"/>
                </a:srgbClr>
              </a:gs>
              <a:gs pos="100000">
                <a:srgbClr val="FFFFFF">
                  <a:alpha val="0"/>
                </a:srgbClr>
              </a:gs>
            </a:gsLst>
            <a:lin ang="18900000" scaled="1"/>
            <a:tileRect/>
          </a:gra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1" name="AutoShape 3"/>
          <p:cNvSpPr/>
          <p:nvPr/>
        </p:nvSpPr>
        <p:spPr>
          <a:xfrm>
            <a:off x="4679950" y="296863"/>
            <a:ext cx="5256213" cy="6330950"/>
          </a:xfrm>
          <a:prstGeom prst="roundRect">
            <a:avLst>
              <a:gd name="adj" fmla="val 8264"/>
            </a:avLst>
          </a:prstGeom>
          <a:solidFill>
            <a:srgbClr val="FFFFFF"/>
          </a:soli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2" name="Rectangle 5"/>
          <p:cNvSpPr/>
          <p:nvPr/>
        </p:nvSpPr>
        <p:spPr>
          <a:xfrm>
            <a:off x="0" y="4356100"/>
            <a:ext cx="8496300" cy="1584325"/>
          </a:xfrm>
          <a:prstGeom prst="rect">
            <a:avLst/>
          </a:prstGeom>
          <a:gradFill rotWithShape="0">
            <a:gsLst>
              <a:gs pos="0">
                <a:srgbClr val="0047FF"/>
              </a:gs>
              <a:gs pos="100000">
                <a:srgbClr val="99CCFF"/>
              </a:gs>
            </a:gsLst>
            <a:lin ang="0" scaled="1"/>
            <a:tileRect/>
          </a:gra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3" name="Rectangle 6"/>
          <p:cNvSpPr>
            <a:spLocks noGrp="1"/>
          </p:cNvSpPr>
          <p:nvPr>
            <p:ph type="title"/>
          </p:nvPr>
        </p:nvSpPr>
        <p:spPr>
          <a:xfrm>
            <a:off x="504825" y="4500563"/>
            <a:ext cx="7486650" cy="1260475"/>
          </a:xfrm>
          <a:prstGeom prst="rect">
            <a:avLst/>
          </a:prstGeom>
          <a:noFill/>
          <a:ln w="9525">
            <a:noFill/>
          </a:ln>
        </p:spPr>
        <p:txBody>
          <a:bodyPr lIns="0" tIns="0" rIns="0" bIns="0" anchor="ctr" anchorCtr="0"/>
          <a:lstStyle/>
          <a:p>
            <a:pPr lvl="0" indent="0"/>
            <a:r>
              <a:rPr lang="en-US" altLang="zh-CN"/>
              <a:t>Click to edit the title text format</a:t>
            </a:r>
          </a:p>
        </p:txBody>
      </p:sp>
      <p:sp>
        <p:nvSpPr>
          <p:cNvPr id="2054" name="Rectangle 7"/>
          <p:cNvSpPr>
            <a:spLocks noGrp="1"/>
          </p:cNvSpPr>
          <p:nvPr>
            <p:ph type="body"/>
          </p:nvPr>
        </p:nvSpPr>
        <p:spPr>
          <a:xfrm>
            <a:off x="4967288" y="1944688"/>
            <a:ext cx="4606925" cy="4383087"/>
          </a:xfrm>
          <a:prstGeom prst="rect">
            <a:avLst/>
          </a:prstGeom>
          <a:noFill/>
          <a:ln w="9525">
            <a:noFill/>
          </a:ln>
        </p:spPr>
        <p:txBody>
          <a:bodyPr lIns="0" tIns="28224" rIns="0" bIns="0" anchor="t" anchorCtr="0"/>
          <a:lstStyle/>
          <a:p>
            <a:pPr lvl="0" indent="-342900"/>
            <a:r>
              <a:rPr lang="en-US" altLang="zh-CN"/>
              <a:t>Click to edit the outline text format</a:t>
            </a:r>
          </a:p>
          <a:p>
            <a:pPr lvl="1" indent="-285750"/>
            <a:r>
              <a:rPr lang="en-US" altLang="zh-CN"/>
              <a:t>Second Outline Level</a:t>
            </a:r>
          </a:p>
          <a:p>
            <a:pPr lvl="2" indent="-228600"/>
            <a:r>
              <a:rPr lang="en-US" altLang="zh-CN"/>
              <a:t>Third Outline Level</a:t>
            </a:r>
          </a:p>
          <a:p>
            <a:pPr lvl="3" indent="-228600"/>
            <a:r>
              <a:rPr lang="en-US" altLang="zh-CN"/>
              <a:t>Fourth Outline Level</a:t>
            </a:r>
          </a:p>
          <a:p>
            <a:pPr lvl="4" indent="-228600"/>
            <a:r>
              <a:rPr lang="en-US" altLang="zh-CN"/>
              <a:t>Fifth Outline Level</a:t>
            </a:r>
          </a:p>
          <a:p>
            <a:pPr lvl="4" indent="-228600"/>
            <a:r>
              <a:rPr lang="en-US" altLang="zh-CN"/>
              <a:t>Sixth Outline Level</a:t>
            </a:r>
          </a:p>
          <a:p>
            <a:pPr lvl="4" indent="-228600"/>
            <a:r>
              <a:rPr lang="en-US" altLang="zh-CN"/>
              <a:t>Seventh Outline Level</a:t>
            </a:r>
          </a:p>
        </p:txBody>
      </p:sp>
      <p:sp>
        <p:nvSpPr>
          <p:cNvPr id="2055" name="AutoShape 8"/>
          <p:cNvSpPr/>
          <p:nvPr/>
        </p:nvSpPr>
        <p:spPr>
          <a:xfrm>
            <a:off x="-201612" y="-273050"/>
            <a:ext cx="2073275" cy="2146300"/>
          </a:xfrm>
          <a:prstGeom prst="roundRect">
            <a:avLst>
              <a:gd name="adj" fmla="val 16667"/>
            </a:avLst>
          </a:prstGeom>
          <a:gradFill rotWithShape="0">
            <a:gsLst>
              <a:gs pos="0">
                <a:srgbClr val="CCFFFF">
                  <a:alpha val="50000"/>
                </a:srgbClr>
              </a:gs>
              <a:gs pos="100000">
                <a:srgbClr val="FFFFFF">
                  <a:alpha val="0"/>
                </a:srgbClr>
              </a:gs>
            </a:gsLst>
            <a:lin ang="0" scaled="1"/>
            <a:tileRect/>
          </a:gra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6" name="AutoShape 9"/>
          <p:cNvSpPr/>
          <p:nvPr/>
        </p:nvSpPr>
        <p:spPr>
          <a:xfrm>
            <a:off x="1079500" y="-406400"/>
            <a:ext cx="1295400" cy="1270000"/>
          </a:xfrm>
          <a:prstGeom prst="roundRect">
            <a:avLst>
              <a:gd name="adj" fmla="val 16667"/>
            </a:avLst>
          </a:prstGeom>
          <a:gradFill rotWithShape="0">
            <a:gsLst>
              <a:gs pos="0">
                <a:srgbClr val="FFFF99">
                  <a:alpha val="50000"/>
                </a:srgbClr>
              </a:gs>
              <a:gs pos="100000">
                <a:srgbClr val="FFFFFF">
                  <a:alpha val="0"/>
                </a:srgbClr>
              </a:gs>
            </a:gsLst>
            <a:lin ang="5400000" scaled="1"/>
            <a:tileRect/>
          </a:gra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7" name="AutoShape 10"/>
          <p:cNvSpPr/>
          <p:nvPr/>
        </p:nvSpPr>
        <p:spPr>
          <a:xfrm>
            <a:off x="-346075" y="1152525"/>
            <a:ext cx="4162425" cy="1295400"/>
          </a:xfrm>
          <a:prstGeom prst="roundRect">
            <a:avLst>
              <a:gd name="adj" fmla="val 16667"/>
            </a:avLst>
          </a:prstGeom>
          <a:solidFill>
            <a:srgbClr val="FFFFFF"/>
          </a:solidFill>
          <a:ln w="9525">
            <a:noFill/>
          </a:ln>
          <a:effectLst>
            <a:outerShdw dist="101823" dir="2699999" algn="ctr" rotWithShape="0">
              <a:srgbClr val="C0C0C0">
                <a:alpha val="31999"/>
              </a:srgbClr>
            </a:outerShdw>
          </a:effectLst>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sp>
        <p:nvSpPr>
          <p:cNvPr id="2058" name="AutoShape 11"/>
          <p:cNvSpPr/>
          <p:nvPr/>
        </p:nvSpPr>
        <p:spPr>
          <a:xfrm flipH="1" flipV="1">
            <a:off x="9361488" y="-965200"/>
            <a:ext cx="2087562" cy="2133600"/>
          </a:xfrm>
          <a:prstGeom prst="roundRect">
            <a:avLst>
              <a:gd name="adj" fmla="val 16667"/>
            </a:avLst>
          </a:prstGeom>
          <a:gradFill rotWithShape="0">
            <a:gsLst>
              <a:gs pos="0">
                <a:srgbClr val="CCFFFF">
                  <a:alpha val="50000"/>
                </a:srgbClr>
              </a:gs>
              <a:gs pos="100000">
                <a:srgbClr val="FFFFFF">
                  <a:alpha val="0"/>
                </a:srgbClr>
              </a:gs>
            </a:gsLst>
            <a:lin ang="18900000" scaled="1"/>
            <a:tileRect/>
          </a:gradFill>
          <a:ln w="9525">
            <a:noFill/>
          </a:ln>
        </p:spPr>
        <p:txBody>
          <a:bodyPr wrap="none" anchor="ctr" anchorCtr="0"/>
          <a:lstStyle/>
          <a:p>
            <a:pPr lvl="0" indent="0" eaLnBrk="0" hangingPunct="0"/>
            <a:endParaRPr lang="en-US" altLang="x-none" dirty="0">
              <a:latin typeface="Arial" panose="020B0604020202020204" pitchFamily="34" charset="0"/>
              <a:ea typeface="宋体" panose="02010600030101010101" pitchFamily="2" charset="-122"/>
            </a:endParaRPr>
          </a:p>
        </p:txBody>
      </p:sp>
      <p:pic>
        <p:nvPicPr>
          <p:cNvPr id="2059" name="Picture 12"/>
          <p:cNvPicPr>
            <a:picLocks noChangeAspect="1"/>
          </p:cNvPicPr>
          <p:nvPr/>
        </p:nvPicPr>
        <p:blipFill>
          <a:blip r:embed="rId13"/>
          <a:stretch>
            <a:fillRect/>
          </a:stretch>
        </p:blipFill>
        <p:spPr>
          <a:xfrm>
            <a:off x="936625" y="1116013"/>
            <a:ext cx="1368425" cy="1368425"/>
          </a:xfrm>
          <a:prstGeom prst="rect">
            <a:avLst/>
          </a:prstGeom>
          <a:noFill/>
          <a:ln w="9525">
            <a:noFill/>
          </a:ln>
        </p:spPr>
      </p:pic>
      <p:sp>
        <p:nvSpPr>
          <p:cNvPr id="2060" name="AutoShape 4"/>
          <p:cNvSpPr/>
          <p:nvPr userDrawn="1"/>
        </p:nvSpPr>
        <p:spPr>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tileRect/>
          </a:gradFill>
          <a:ln w="9525">
            <a:noFill/>
          </a:ln>
        </p:spPr>
        <p:txBody>
          <a:bodyPr wrap="none" anchor="ctr" anchorCtr="0"/>
          <a:lstStyle/>
          <a:p>
            <a:pPr lvl="0" indent="0" eaLnBrk="0" hangingPunct="0"/>
            <a:endParaRPr lang="zh-CN" altLang="en-US" dirty="0">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1" i="0" u="none" kern="1200" baseline="0">
          <a:solidFill>
            <a:srgbClr val="FFFFFF"/>
          </a:solidFill>
          <a:latin typeface="+mj-lt"/>
          <a:ea typeface="楷体_GB2312" panose="02010609030101010101" charset="-122"/>
          <a:cs typeface="+mj-cs"/>
        </a:defRPr>
      </a:lvl1pPr>
    </p:titleStyle>
    <p:bodyStyle>
      <a:lvl1pPr marL="342900" lvl="0" indent="-342900" algn="l" defTabSz="449580" eaLnBrk="0" fontAlgn="base" latinLnBrk="0" hangingPunct="0">
        <a:lnSpc>
          <a:spcPct val="93000"/>
        </a:lnSpc>
        <a:spcBef>
          <a:spcPct val="0"/>
        </a:spcBef>
        <a:spcAft>
          <a:spcPts val="1425"/>
        </a:spcAft>
        <a:buSzPct val="100000"/>
        <a:buFont typeface="Times New Roman" panose="02060603050605020204" pitchFamily="2" charset="0"/>
        <a:buChar char="•"/>
        <a:defRPr sz="3200" b="0" i="0" u="none" kern="1200" baseline="0">
          <a:solidFill>
            <a:srgbClr val="000000"/>
          </a:solidFill>
          <a:latin typeface="+mn-lt"/>
          <a:ea typeface="楷体_GB2312" panose="02010609030101010101" charset="-122"/>
          <a:cs typeface="+mn-cs"/>
        </a:defRPr>
      </a:lvl1pPr>
      <a:lvl2pPr marL="742950" lvl="1" indent="-285750" algn="l" defTabSz="449580" eaLnBrk="0" fontAlgn="base" latinLnBrk="0" hangingPunct="0">
        <a:lnSpc>
          <a:spcPct val="93000"/>
        </a:lnSpc>
        <a:spcBef>
          <a:spcPct val="0"/>
        </a:spcBef>
        <a:spcAft>
          <a:spcPts val="1140"/>
        </a:spcAft>
        <a:buSzPct val="100000"/>
        <a:buFont typeface="Times New Roman" panose="02060603050605020204" pitchFamily="2" charset="0"/>
        <a:buChar char="–"/>
        <a:defRPr sz="2800" b="0" i="0" u="none" kern="1200" baseline="0">
          <a:solidFill>
            <a:srgbClr val="000000"/>
          </a:solidFill>
          <a:latin typeface="+mn-lt"/>
          <a:ea typeface="楷体_GB2312" panose="02010609030101010101" charset="-122"/>
          <a:cs typeface="+mn-cs"/>
        </a:defRPr>
      </a:lvl2pPr>
      <a:lvl3pPr marL="1143000" lvl="2" indent="-228600" algn="l" defTabSz="449580" eaLnBrk="0" fontAlgn="base" latinLnBrk="0" hangingPunct="0">
        <a:lnSpc>
          <a:spcPct val="93000"/>
        </a:lnSpc>
        <a:spcBef>
          <a:spcPct val="0"/>
        </a:spcBef>
        <a:spcAft>
          <a:spcPts val="850"/>
        </a:spcAft>
        <a:buSzPct val="100000"/>
        <a:buFont typeface="Times New Roman" panose="02060603050605020204" pitchFamily="2" charset="0"/>
        <a:buChar char="•"/>
        <a:defRPr sz="2400" b="0" i="0" u="none" kern="1200" baseline="0">
          <a:solidFill>
            <a:srgbClr val="000000"/>
          </a:solidFill>
          <a:latin typeface="+mn-lt"/>
          <a:ea typeface="楷体_GB2312" panose="02010609030101010101" charset="-122"/>
          <a:cs typeface="+mn-cs"/>
        </a:defRPr>
      </a:lvl3pPr>
      <a:lvl4pPr marL="1600200" lvl="3" indent="-228600" algn="l" defTabSz="449580" eaLnBrk="0" fontAlgn="base" latinLnBrk="0" hangingPunct="0">
        <a:lnSpc>
          <a:spcPct val="93000"/>
        </a:lnSpc>
        <a:spcBef>
          <a:spcPct val="0"/>
        </a:spcBef>
        <a:spcAft>
          <a:spcPts val="575"/>
        </a:spcAft>
        <a:buSzPct val="100000"/>
        <a:buFont typeface="Times New Roman" panose="02060603050605020204" pitchFamily="2" charset="0"/>
        <a:buChar char="–"/>
        <a:defRPr sz="2000" b="0" i="0" u="none" kern="1200" baseline="0">
          <a:solidFill>
            <a:srgbClr val="000000"/>
          </a:solidFill>
          <a:latin typeface="+mn-lt"/>
          <a:ea typeface="楷体_GB2312" panose="02010609030101010101" charset="-122"/>
          <a:cs typeface="+mn-cs"/>
        </a:defRPr>
      </a:lvl4pPr>
      <a:lvl5pPr marL="2057400" lvl="4" indent="-2286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楷体_GB2312" panose="02010609030101010101" charset="-122"/>
          <a:cs typeface="+mn-cs"/>
        </a:defRPr>
      </a:lvl5pPr>
      <a:lvl6pPr marL="2514600" lvl="5"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6pPr>
      <a:lvl7pPr marL="2971800" lvl="6"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7pPr>
      <a:lvl8pPr marL="3429000" lvl="7"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8pPr>
      <a:lvl9pPr marL="3886200" lvl="8"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idx="4294967295"/>
          </p:nvPr>
        </p:nvSpPr>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第一章 编译引论和概述</a:t>
            </a:r>
            <a:endParaRPr lang="zh-CN" altLang="en-US" dirty="0"/>
          </a:p>
        </p:txBody>
      </p:sp>
      <p:sp>
        <p:nvSpPr>
          <p:cNvPr id="5122" name="Rectangle 3"/>
          <p:cNvSpPr txBox="1"/>
          <p:nvPr/>
        </p:nvSpPr>
        <p:spPr>
          <a:xfrm>
            <a:off x="4968875" y="793750"/>
            <a:ext cx="4608513" cy="2654300"/>
          </a:xfrm>
          <a:prstGeom prst="rect">
            <a:avLst/>
          </a:prstGeom>
          <a:noFill/>
          <a:ln w="9525">
            <a:noFill/>
          </a:ln>
        </p:spPr>
        <p:txBody>
          <a:bodyPr lIns="0" tIns="19404" rIns="0" bIns="0" anchor="ctr" anchorCtr="0"/>
          <a:lstStyle/>
          <a:p>
            <a:pPr marL="342900" indent="-342900" defTabSz="449580" eaLnBrk="0" hangingPunct="0">
              <a:lnSpc>
                <a:spcPct val="73000"/>
              </a:lnSpc>
              <a:tabLst>
                <a:tab pos="723900" algn="l"/>
                <a:tab pos="1447800" algn="l"/>
                <a:tab pos="2171700" algn="l"/>
                <a:tab pos="2895600" algn="l"/>
                <a:tab pos="3619500" algn="l"/>
                <a:tab pos="4343400" algn="l"/>
              </a:tabLst>
            </a:pPr>
            <a:r>
              <a:rPr lang="zh-CN" altLang="zh-CN" sz="3400" dirty="0">
                <a:latin typeface="Arial" panose="020B0604020202020204" pitchFamily="34" charset="0"/>
                <a:ea typeface="微软雅黑" panose="020B0503020204020204" pitchFamily="2" charset="-122"/>
                <a:sym typeface="Arial" panose="020B0604020202020204" pitchFamily="34" charset="0"/>
              </a:rPr>
              <a:t>《编译技术》</a:t>
            </a:r>
            <a:endParaRPr lang="zh-CN" altLang="zh-CN" sz="3400" dirty="0">
              <a:latin typeface="Arial" panose="020B0604020202020204" pitchFamily="34" charset="0"/>
              <a:ea typeface="微软雅黑" panose="020B0503020204020204" pitchFamily="2" charset="-122"/>
            </a:endParaRPr>
          </a:p>
          <a:p>
            <a:pPr marL="342900" indent="-342900" defTabSz="449580" eaLnBrk="0" hangingPunct="0">
              <a:lnSpc>
                <a:spcPct val="73000"/>
              </a:lnSpc>
              <a:tabLst>
                <a:tab pos="723900" algn="l"/>
                <a:tab pos="1447800" algn="l"/>
                <a:tab pos="2171700" algn="l"/>
                <a:tab pos="2895600" algn="l"/>
                <a:tab pos="3619500" algn="l"/>
                <a:tab pos="4343400" algn="l"/>
              </a:tabLst>
            </a:pPr>
            <a:endParaRPr lang="zh-CN" altLang="en-US" sz="3400" dirty="0">
              <a:latin typeface="Arial" panose="020B0604020202020204" pitchFamily="34" charset="0"/>
              <a:ea typeface="微软雅黑" panose="020B0503020204020204" pitchFamily="2" charset="-122"/>
            </a:endParaRPr>
          </a:p>
          <a:p>
            <a:pPr marL="342900" indent="-342900" defTabSz="449580" eaLnBrk="0" hangingPunct="0">
              <a:lnSpc>
                <a:spcPct val="73000"/>
              </a:lnSpc>
              <a:tabLst>
                <a:tab pos="723900" algn="l"/>
                <a:tab pos="1447800" algn="l"/>
                <a:tab pos="2171700" algn="l"/>
                <a:tab pos="2895600" algn="l"/>
                <a:tab pos="3619500" algn="l"/>
                <a:tab pos="4343400" algn="l"/>
              </a:tabLst>
            </a:pPr>
            <a:r>
              <a:rPr lang="zh-CN" altLang="en-US" sz="3200" dirty="0">
                <a:latin typeface="Arial" panose="020B0604020202020204" pitchFamily="34" charset="0"/>
                <a:ea typeface="微软雅黑" panose="020B0503020204020204" pitchFamily="2" charset="-122"/>
              </a:rPr>
              <a:t>胡荣耀</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6146"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5124" name="Rectangle 3"/>
          <p:cNvSpPr>
            <a:spLocks noGrp="1"/>
          </p:cNvSpPr>
          <p:nvPr>
            <p:ph type="body" idx="4294967295"/>
          </p:nvPr>
        </p:nvSpPr>
        <p:spPr>
          <a:xfrm>
            <a:off x="503238" y="1728788"/>
            <a:ext cx="9070975" cy="5048250"/>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从语言说起</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汉语、英语==&gt;自然语言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旗语、哑语==&gt;人工语言</a:t>
            </a:r>
          </a:p>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C语言、Java</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程序设计语言==&gt;计算机语言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为什么需要计算机语言？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人与计算机进行“交流”</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告诉计算机“做什么”和“怎么做”</a:t>
            </a:r>
          </a:p>
        </p:txBody>
      </p:sp>
      <p:sp>
        <p:nvSpPr>
          <p:cNvPr id="6149" name="Slide Number Placeholder 7"/>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2</a:t>
            </a:fld>
            <a:endParaRPr lang="en-GB" altLang="en-US" sz="1200" dirty="0">
              <a:latin typeface="Comic Sans MS" panose="030F0702030302020204" pitchFamily="2" charset="0"/>
              <a:ea typeface="宋体" panose="02010600030101010101" pitchFamily="2" charset="-122"/>
            </a:endParaRPr>
          </a:p>
        </p:txBody>
      </p:sp>
      <p:sp>
        <p:nvSpPr>
          <p:cNvPr id="6150" name="Date Placeholder 8"/>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4">
                                            <p:txEl>
                                              <p:pRg st="2" end="2"/>
                                            </p:txEl>
                                          </p:spTgt>
                                        </p:tgtEl>
                                        <p:attrNameLst>
                                          <p:attrName>style.visibility</p:attrName>
                                        </p:attrNameLst>
                                      </p:cBhvr>
                                      <p:to>
                                        <p:strVal val="visible"/>
                                      </p:to>
                                    </p:set>
                                    <p:animEffect transition="in" filter="blinds(horizontal)">
                                      <p:cBhvr>
                                        <p:cTn id="7" dur="500"/>
                                        <p:tgtEl>
                                          <p:spTgt spid="512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4">
                                            <p:txEl>
                                              <p:pRg st="3" end="3"/>
                                            </p:txEl>
                                          </p:spTgt>
                                        </p:tgtEl>
                                        <p:attrNameLst>
                                          <p:attrName>style.visibility</p:attrName>
                                        </p:attrNameLst>
                                      </p:cBhvr>
                                      <p:to>
                                        <p:strVal val="visible"/>
                                      </p:to>
                                    </p:set>
                                    <p:animEffect transition="in" filter="blinds(horizontal)">
                                      <p:cBhvr>
                                        <p:cTn id="12" dur="500"/>
                                        <p:tgtEl>
                                          <p:spTgt spid="512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4">
                                            <p:txEl>
                                              <p:pRg st="4" end="4"/>
                                            </p:txEl>
                                          </p:spTgt>
                                        </p:tgtEl>
                                        <p:attrNameLst>
                                          <p:attrName>style.visibility</p:attrName>
                                        </p:attrNameLst>
                                      </p:cBhvr>
                                      <p:to>
                                        <p:strVal val="visible"/>
                                      </p:to>
                                    </p:set>
                                    <p:animEffect transition="in" filter="blinds(horizontal)">
                                      <p:cBhvr>
                                        <p:cTn id="17" dur="500"/>
                                        <p:tgtEl>
                                          <p:spTgt spid="512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4">
                                            <p:txEl>
                                              <p:pRg st="5" end="5"/>
                                            </p:txEl>
                                          </p:spTgt>
                                        </p:tgtEl>
                                        <p:attrNameLst>
                                          <p:attrName>style.visibility</p:attrName>
                                        </p:attrNameLst>
                                      </p:cBhvr>
                                      <p:to>
                                        <p:strVal val="visible"/>
                                      </p:to>
                                    </p:set>
                                    <p:animEffect transition="in" filter="blinds(horizontal)">
                                      <p:cBhvr>
                                        <p:cTn id="22" dur="500"/>
                                        <p:tgtEl>
                                          <p:spTgt spid="512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124">
                                            <p:txEl>
                                              <p:pRg st="6" end="6"/>
                                            </p:txEl>
                                          </p:spTgt>
                                        </p:tgtEl>
                                        <p:attrNameLst>
                                          <p:attrName>style.visibility</p:attrName>
                                        </p:attrNameLst>
                                      </p:cBhvr>
                                      <p:to>
                                        <p:strVal val="visible"/>
                                      </p:to>
                                    </p:set>
                                    <p:animEffect transition="in" filter="blinds(horizontal)">
                                      <p:cBhvr>
                                        <p:cTn id="27" dur="500"/>
                                        <p:tgtEl>
                                          <p:spTgt spid="5124">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124">
                                            <p:txEl>
                                              <p:pRg st="7" end="7"/>
                                            </p:txEl>
                                          </p:spTgt>
                                        </p:tgtEl>
                                        <p:attrNameLst>
                                          <p:attrName>style.visibility</p:attrName>
                                        </p:attrNameLst>
                                      </p:cBhvr>
                                      <p:to>
                                        <p:strVal val="visible"/>
                                      </p:to>
                                    </p:set>
                                    <p:animEffect transition="in" filter="blinds(horizontal)">
                                      <p:cBhvr>
                                        <p:cTn id="30" dur="500"/>
                                        <p:tgtEl>
                                          <p:spTgt spid="51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8194"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7172" name="Rectangle 3"/>
          <p:cNvSpPr>
            <a:spLocks noGrp="1"/>
          </p:cNvSpPr>
          <p:nvPr>
            <p:ph type="body" idx="4294967295"/>
          </p:nvPr>
        </p:nvSpPr>
        <p:spPr>
          <a:xfrm>
            <a:off x="503238" y="1394678"/>
            <a:ext cx="9070975" cy="5040312"/>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程序设计语言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机器语言（Machine Code / Machine Language）</a:t>
            </a:r>
            <a:endParaRPr lang="en-US" altLang="zh-CN" b="1" dirty="0">
              <a:latin typeface="楷体_GB2312" panose="02010609030101010101" charset="-122"/>
            </a:endParaRP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a:latin typeface="楷体_GB2312" panose="02010609030101010101" charset="-122"/>
              </a:rPr>
              <a:t>  </a:t>
            </a:r>
            <a:r>
              <a:rPr lang="zh-CN" altLang="en-US" sz="2400" b="1" dirty="0">
                <a:latin typeface="楷体_GB2312" panose="02010609030101010101" charset="-122"/>
              </a:rPr>
              <a:t>能够被</a:t>
            </a:r>
            <a:r>
              <a:rPr lang="en-US" altLang="zh-CN" sz="2400" b="1" dirty="0">
                <a:latin typeface="楷体_GB2312" panose="02010609030101010101" charset="-122"/>
              </a:rPr>
              <a:t>CPU</a:t>
            </a:r>
            <a:r>
              <a:rPr lang="zh-CN" altLang="en-US" sz="2400" b="1" dirty="0">
                <a:latin typeface="楷体_GB2312" panose="02010609030101010101" charset="-122"/>
              </a:rPr>
              <a:t>直接理解并运行</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难写、难懂</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改进：指令符号化</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例如：00,01,02,03,05 ==&gt; ADD</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汇编语言</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解决了一小部分问题</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依然和机器相关，指令级编写、读取</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机器</a:t>
            </a:r>
            <a:r>
              <a:rPr lang="zh-CN" altLang="en-US" b="1" dirty="0">
                <a:solidFill>
                  <a:srgbClr val="0000FF"/>
                </a:solidFill>
                <a:latin typeface="楷体_GB2312" panose="02010609030101010101" charset="-122"/>
                <a:ea typeface="楷体_GB2312" panose="02010609030101010101" charset="-122"/>
              </a:rPr>
              <a:t>不能</a:t>
            </a:r>
            <a:r>
              <a:rPr lang="zh-CN" altLang="en-US" b="1" dirty="0">
                <a:solidFill>
                  <a:srgbClr val="333333"/>
                </a:solidFill>
                <a:latin typeface="楷体_GB2312" panose="02010609030101010101" charset="-122"/>
                <a:ea typeface="楷体_GB2312" panose="02010609030101010101" charset="-122"/>
              </a:rPr>
              <a:t>直接运行</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rgbClr val="0000FF"/>
                </a:solidFill>
                <a:latin typeface="楷体_GB2312" panose="02010609030101010101" charset="-122"/>
                <a:ea typeface="楷体_GB2312" panose="02010609030101010101" charset="-122"/>
              </a:rPr>
              <a:t>汇编程序</a:t>
            </a:r>
            <a:r>
              <a:rPr lang="zh-CN" altLang="en-US" b="1" dirty="0">
                <a:latin typeface="楷体_GB2312" panose="02010609030101010101" charset="-122"/>
                <a:ea typeface="楷体_GB2312" panose="02010609030101010101" charset="-122"/>
              </a:rPr>
              <a:t>：汇编语言程序==&gt;机器语言程序</a:t>
            </a:r>
          </a:p>
        </p:txBody>
      </p:sp>
      <p:sp>
        <p:nvSpPr>
          <p:cNvPr id="7173" name="Text Box 4"/>
          <p:cNvSpPr txBox="1"/>
          <p:nvPr/>
        </p:nvSpPr>
        <p:spPr>
          <a:xfrm>
            <a:off x="6661150" y="4319588"/>
            <a:ext cx="2695575" cy="611187"/>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 pos="1447800" algn="l"/>
                <a:tab pos="2171700" algn="l"/>
              </a:tabLst>
            </a:pPr>
            <a:r>
              <a:rPr lang="zh-CN" altLang="en-US" sz="3600" dirty="0">
                <a:solidFill>
                  <a:srgbClr val="0000FF"/>
                </a:solidFill>
                <a:latin typeface="楷体" panose="02010609060101010101" pitchFamily="1" charset="-122"/>
                <a:ea typeface="楷体" panose="02010609060101010101" pitchFamily="1" charset="-122"/>
              </a:rPr>
              <a:t>低 级 语 言</a:t>
            </a:r>
          </a:p>
        </p:txBody>
      </p:sp>
      <p:sp>
        <p:nvSpPr>
          <p:cNvPr id="8197" name="Slide Number Placeholder 7"/>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a:t>
            </a:fld>
            <a:endParaRPr lang="en-GB" altLang="en-US" sz="1200" dirty="0">
              <a:latin typeface="Comic Sans MS" panose="030F0702030302020204" pitchFamily="2" charset="0"/>
              <a:ea typeface="宋体" panose="02010600030101010101" pitchFamily="2" charset="-122"/>
            </a:endParaRPr>
          </a:p>
        </p:txBody>
      </p:sp>
      <p:sp>
        <p:nvSpPr>
          <p:cNvPr id="8198" name="Date Placeholder 8"/>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6" end="6"/>
                                            </p:txEl>
                                          </p:spTgt>
                                        </p:tgtEl>
                                        <p:attrNameLst>
                                          <p:attrName>style.visibility</p:attrName>
                                        </p:attrNameLst>
                                      </p:cBhvr>
                                      <p:to>
                                        <p:strVal val="visible"/>
                                      </p:to>
                                    </p:set>
                                    <p:animEffect transition="in" filter="blinds(horizontal)">
                                      <p:cBhvr>
                                        <p:cTn id="7" dur="500"/>
                                        <p:tgtEl>
                                          <p:spTgt spid="717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7" end="7"/>
                                            </p:txEl>
                                          </p:spTgt>
                                        </p:tgtEl>
                                        <p:attrNameLst>
                                          <p:attrName>style.visibility</p:attrName>
                                        </p:attrNameLst>
                                      </p:cBhvr>
                                      <p:to>
                                        <p:strVal val="visible"/>
                                      </p:to>
                                    </p:set>
                                    <p:animEffect transition="in" filter="blinds(horizontal)">
                                      <p:cBhvr>
                                        <p:cTn id="12" dur="500"/>
                                        <p:tgtEl>
                                          <p:spTgt spid="7172">
                                            <p:txEl>
                                              <p:pRg st="7" end="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172">
                                            <p:txEl>
                                              <p:pRg st="8" end="8"/>
                                            </p:txEl>
                                          </p:spTgt>
                                        </p:tgtEl>
                                        <p:attrNameLst>
                                          <p:attrName>style.visibility</p:attrName>
                                        </p:attrNameLst>
                                      </p:cBhvr>
                                      <p:to>
                                        <p:strVal val="visible"/>
                                      </p:to>
                                    </p:set>
                                    <p:animEffect transition="in" filter="blinds(horizontal)">
                                      <p:cBhvr>
                                        <p:cTn id="15" dur="500"/>
                                        <p:tgtEl>
                                          <p:spTgt spid="7172">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172">
                                            <p:txEl>
                                              <p:pRg st="9" end="9"/>
                                            </p:txEl>
                                          </p:spTgt>
                                        </p:tgtEl>
                                        <p:attrNameLst>
                                          <p:attrName>style.visibility</p:attrName>
                                        </p:attrNameLst>
                                      </p:cBhvr>
                                      <p:to>
                                        <p:strVal val="visible"/>
                                      </p:to>
                                    </p:set>
                                    <p:animEffect transition="in" filter="blinds(horizontal)">
                                      <p:cBhvr>
                                        <p:cTn id="20" dur="500"/>
                                        <p:tgtEl>
                                          <p:spTgt spid="7172">
                                            <p:txEl>
                                              <p:pRg st="9" end="9"/>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172">
                                            <p:txEl>
                                              <p:pRg st="10" end="10"/>
                                            </p:txEl>
                                          </p:spTgt>
                                        </p:tgtEl>
                                        <p:attrNameLst>
                                          <p:attrName>style.visibility</p:attrName>
                                        </p:attrNameLst>
                                      </p:cBhvr>
                                      <p:to>
                                        <p:strVal val="visible"/>
                                      </p:to>
                                    </p:set>
                                    <p:animEffect transition="in" filter="blinds(horizontal)">
                                      <p:cBhvr>
                                        <p:cTn id="23" dur="500"/>
                                        <p:tgtEl>
                                          <p:spTgt spid="7172">
                                            <p:txEl>
                                              <p:pRg st="10" end="1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173"/>
                                        </p:tgtEl>
                                        <p:attrNameLst>
                                          <p:attrName>style.visibility</p:attrName>
                                        </p:attrNameLst>
                                      </p:cBhvr>
                                      <p:to>
                                        <p:strVal val="visible"/>
                                      </p:to>
                                    </p:set>
                                    <p:animEffect transition="in" filter="blinds(horizontal)">
                                      <p:cBhvr>
                                        <p:cTn id="28"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9218"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8196" name="Rectangle 3"/>
          <p:cNvSpPr>
            <a:spLocks noGrp="1"/>
          </p:cNvSpPr>
          <p:nvPr>
            <p:ph type="body" idx="4294967295"/>
          </p:nvPr>
        </p:nvSpPr>
        <p:spPr>
          <a:xfrm>
            <a:off x="503238" y="1728788"/>
            <a:ext cx="9070975" cy="5040312"/>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4000" b="1" dirty="0">
                <a:latin typeface="楷体_GB2312" panose="02010609030101010101" charset="-122"/>
                <a:ea typeface="楷体_GB2312" panose="02010609030101010101" charset="-122"/>
              </a:rPr>
              <a:t>程序设计语言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charset="-122"/>
                <a:ea typeface="楷体_GB2312" panose="02010609030101010101" charset="-122"/>
              </a:rPr>
              <a:t>高级语言</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直观、自然、易于理解</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易读，易写，易于交流、存档</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独立于机器的,易于移植</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charset="-122"/>
                <a:ea typeface="楷体_GB2312" panose="02010609030101010101" charset="-122"/>
              </a:rPr>
              <a:t>高级语言==&gt;低级语言</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编译程序 / 编译器</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解释程序／解释器</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zh-CN" altLang="en-US" sz="3200" b="1" dirty="0">
              <a:latin typeface="楷体_GB2312" panose="02010609030101010101" charset="-122"/>
              <a:ea typeface="楷体_GB2312" panose="02010609030101010101" charset="-122"/>
            </a:endParaRPr>
          </a:p>
        </p:txBody>
      </p:sp>
      <p:sp>
        <p:nvSpPr>
          <p:cNvPr id="9220"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4</a:t>
            </a:fld>
            <a:endParaRPr lang="en-GB" altLang="en-US" sz="1200" dirty="0">
              <a:latin typeface="Comic Sans MS" panose="030F0702030302020204" pitchFamily="2" charset="0"/>
              <a:ea typeface="宋体" panose="02010600030101010101" pitchFamily="2" charset="-122"/>
            </a:endParaRPr>
          </a:p>
        </p:txBody>
      </p:sp>
      <p:sp>
        <p:nvSpPr>
          <p:cNvPr id="9221" name="Date Placeholder 7"/>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6">
                                            <p:txEl>
                                              <p:pRg st="5" end="5"/>
                                            </p:txEl>
                                          </p:spTgt>
                                        </p:tgtEl>
                                        <p:attrNameLst>
                                          <p:attrName>style.visibility</p:attrName>
                                        </p:attrNameLst>
                                      </p:cBhvr>
                                      <p:to>
                                        <p:strVal val="visible"/>
                                      </p:to>
                                    </p:set>
                                    <p:animEffect transition="in" filter="blinds(horizontal)">
                                      <p:cBhvr>
                                        <p:cTn id="7" dur="500"/>
                                        <p:tgtEl>
                                          <p:spTgt spid="8196">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196">
                                            <p:txEl>
                                              <p:pRg st="6" end="6"/>
                                            </p:txEl>
                                          </p:spTgt>
                                        </p:tgtEl>
                                        <p:attrNameLst>
                                          <p:attrName>style.visibility</p:attrName>
                                        </p:attrNameLst>
                                      </p:cBhvr>
                                      <p:to>
                                        <p:strVal val="visible"/>
                                      </p:to>
                                    </p:set>
                                    <p:animEffect transition="in" filter="blinds(horizontal)">
                                      <p:cBhvr>
                                        <p:cTn id="10" dur="500"/>
                                        <p:tgtEl>
                                          <p:spTgt spid="8196">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196">
                                            <p:txEl>
                                              <p:pRg st="7" end="7"/>
                                            </p:txEl>
                                          </p:spTgt>
                                        </p:tgtEl>
                                        <p:attrNameLst>
                                          <p:attrName>style.visibility</p:attrName>
                                        </p:attrNameLst>
                                      </p:cBhvr>
                                      <p:to>
                                        <p:strVal val="visible"/>
                                      </p:to>
                                    </p:set>
                                    <p:animEffect transition="in" filter="blinds(horizontal)">
                                      <p:cBhvr>
                                        <p:cTn id="13" dur="500"/>
                                        <p:tgtEl>
                                          <p:spTgt spid="81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0242"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10243" name="AutoShape 3"/>
          <p:cNvSpPr/>
          <p:nvPr/>
        </p:nvSpPr>
        <p:spPr>
          <a:xfrm>
            <a:off x="3600450" y="1800225"/>
            <a:ext cx="2232025" cy="1008063"/>
          </a:xfrm>
          <a:prstGeom prst="flowChartAlternateProcess">
            <a:avLst/>
          </a:prstGeom>
          <a:solidFill>
            <a:srgbClr val="CFE7E5"/>
          </a:solidFill>
          <a:ln w="9525" cap="flat" cmpd="sng">
            <a:solidFill>
              <a:srgbClr val="808080"/>
            </a:solidFill>
            <a:prstDash val="solid"/>
            <a:miter/>
            <a:headEnd type="none" w="med" len="med"/>
            <a:tailEnd type="none" w="med" len="med"/>
          </a:ln>
        </p:spPr>
        <p:txBody>
          <a:bodyPr wrap="none" lIns="90000" tIns="67680" rIns="90000" bIns="45000" anchor="ctr" anchorCtr="0"/>
          <a:lstStyle/>
          <a:p>
            <a:pPr indent="0" algn="ctr" defTabSz="449580" hangingPunct="0">
              <a:lnSpc>
                <a:spcPct val="95000"/>
              </a:lnSpc>
              <a:tabLst>
                <a:tab pos="723900" algn="l"/>
                <a:tab pos="1447800" algn="l"/>
                <a:tab pos="2171700" algn="l"/>
              </a:tabLst>
            </a:pPr>
            <a:r>
              <a:rPr lang="zh-CN" altLang="en-US" sz="3600" b="1" dirty="0">
                <a:latin typeface="楷体_GB2312" panose="02010609030101010101" charset="-122"/>
                <a:ea typeface="楷体_GB2312" panose="02010609030101010101" charset="-122"/>
              </a:rPr>
              <a:t>解释器</a:t>
            </a:r>
          </a:p>
        </p:txBody>
      </p:sp>
      <p:sp>
        <p:nvSpPr>
          <p:cNvPr id="10244" name="Line 4"/>
          <p:cNvSpPr/>
          <p:nvPr/>
        </p:nvSpPr>
        <p:spPr>
          <a:xfrm>
            <a:off x="2303463" y="2016125"/>
            <a:ext cx="1295400" cy="1588"/>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5" name="Line 5"/>
          <p:cNvSpPr/>
          <p:nvPr/>
        </p:nvSpPr>
        <p:spPr>
          <a:xfrm>
            <a:off x="2303463" y="259238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6" name="Text Box 6"/>
          <p:cNvSpPr txBox="1"/>
          <p:nvPr/>
        </p:nvSpPr>
        <p:spPr>
          <a:xfrm>
            <a:off x="684213" y="1692275"/>
            <a:ext cx="15525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源程序</a:t>
            </a:r>
          </a:p>
        </p:txBody>
      </p:sp>
      <p:sp>
        <p:nvSpPr>
          <p:cNvPr id="10247" name="Text Box 7"/>
          <p:cNvSpPr txBox="1"/>
          <p:nvPr/>
        </p:nvSpPr>
        <p:spPr>
          <a:xfrm>
            <a:off x="936625" y="2268538"/>
            <a:ext cx="1095375" cy="611187"/>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数据</a:t>
            </a:r>
          </a:p>
        </p:txBody>
      </p:sp>
      <p:sp>
        <p:nvSpPr>
          <p:cNvPr id="10248" name="Line 8"/>
          <p:cNvSpPr/>
          <p:nvPr/>
        </p:nvSpPr>
        <p:spPr>
          <a:xfrm>
            <a:off x="5867400" y="2303463"/>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9" name="Text Box 9"/>
          <p:cNvSpPr txBox="1"/>
          <p:nvPr/>
        </p:nvSpPr>
        <p:spPr>
          <a:xfrm>
            <a:off x="7104063" y="2016125"/>
            <a:ext cx="10953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输出</a:t>
            </a:r>
          </a:p>
        </p:txBody>
      </p:sp>
      <p:sp>
        <p:nvSpPr>
          <p:cNvPr id="10250" name="AutoShape 10"/>
          <p:cNvSpPr/>
          <p:nvPr/>
        </p:nvSpPr>
        <p:spPr>
          <a:xfrm>
            <a:off x="3600450" y="4697413"/>
            <a:ext cx="2232025" cy="1008062"/>
          </a:xfrm>
          <a:prstGeom prst="flowChartAlternateProcess">
            <a:avLst/>
          </a:prstGeom>
          <a:solidFill>
            <a:srgbClr val="CFE7E5"/>
          </a:solidFill>
          <a:ln w="9525" cap="flat" cmpd="sng">
            <a:solidFill>
              <a:srgbClr val="808080"/>
            </a:solidFill>
            <a:prstDash val="solid"/>
            <a:miter/>
            <a:headEnd type="none" w="med" len="med"/>
            <a:tailEnd type="none" w="med" len="med"/>
          </a:ln>
        </p:spPr>
        <p:txBody>
          <a:bodyPr wrap="none" lIns="90000" tIns="67680" rIns="90000" bIns="45000" anchor="ctr" anchorCtr="0"/>
          <a:lstStyle/>
          <a:p>
            <a:pPr indent="0" algn="ctr" defTabSz="449580" hangingPunct="0">
              <a:lnSpc>
                <a:spcPct val="95000"/>
              </a:lnSpc>
              <a:tabLst>
                <a:tab pos="723900" algn="l"/>
                <a:tab pos="1447800" algn="l"/>
                <a:tab pos="2171700" algn="l"/>
              </a:tabLst>
            </a:pPr>
            <a:r>
              <a:rPr lang="zh-CN" altLang="en-US" sz="3600" b="1" dirty="0">
                <a:latin typeface="楷体_GB2312" panose="02010609030101010101" charset="-122"/>
                <a:ea typeface="楷体_GB2312" panose="02010609030101010101" charset="-122"/>
              </a:rPr>
              <a:t>编译器</a:t>
            </a:r>
          </a:p>
        </p:txBody>
      </p:sp>
      <p:sp>
        <p:nvSpPr>
          <p:cNvPr id="10251" name="Line 11"/>
          <p:cNvSpPr/>
          <p:nvPr/>
        </p:nvSpPr>
        <p:spPr>
          <a:xfrm>
            <a:off x="2303463" y="520223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2" name="Line 12"/>
          <p:cNvSpPr/>
          <p:nvPr/>
        </p:nvSpPr>
        <p:spPr>
          <a:xfrm>
            <a:off x="5832475" y="520223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3" name="Text Box 13"/>
          <p:cNvSpPr txBox="1"/>
          <p:nvPr/>
        </p:nvSpPr>
        <p:spPr>
          <a:xfrm>
            <a:off x="684213" y="4895850"/>
            <a:ext cx="15525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源程序</a:t>
            </a:r>
          </a:p>
        </p:txBody>
      </p:sp>
      <p:sp>
        <p:nvSpPr>
          <p:cNvPr id="10254" name="Text Box 14"/>
          <p:cNvSpPr txBox="1"/>
          <p:nvPr/>
        </p:nvSpPr>
        <p:spPr>
          <a:xfrm>
            <a:off x="7104063" y="3600450"/>
            <a:ext cx="10953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数据</a:t>
            </a:r>
          </a:p>
        </p:txBody>
      </p:sp>
      <p:sp>
        <p:nvSpPr>
          <p:cNvPr id="10255" name="Line 15"/>
          <p:cNvSpPr/>
          <p:nvPr/>
        </p:nvSpPr>
        <p:spPr>
          <a:xfrm>
            <a:off x="7651750" y="4149725"/>
            <a:ext cx="1588" cy="468313"/>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6" name="Text Box 16"/>
          <p:cNvSpPr txBox="1"/>
          <p:nvPr/>
        </p:nvSpPr>
        <p:spPr>
          <a:xfrm>
            <a:off x="6875463" y="4635500"/>
            <a:ext cx="1552575" cy="1133475"/>
          </a:xfrm>
          <a:prstGeom prst="rect">
            <a:avLst/>
          </a:prstGeom>
          <a:noFill/>
          <a:ln w="9525">
            <a:noFill/>
          </a:ln>
        </p:spPr>
        <p:txBody>
          <a:bodyPr wrap="none" lIns="90000" tIns="67680" rIns="90000" bIns="45000" anchor="t" anchorCtr="0"/>
          <a:lstStyle/>
          <a:p>
            <a:pPr indent="0" algn="ctr"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可执行</a:t>
            </a:r>
          </a:p>
          <a:p>
            <a:pPr indent="0" algn="ctr"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文件</a:t>
            </a:r>
          </a:p>
        </p:txBody>
      </p:sp>
      <p:sp>
        <p:nvSpPr>
          <p:cNvPr id="10257" name="Line 17"/>
          <p:cNvSpPr/>
          <p:nvPr/>
        </p:nvSpPr>
        <p:spPr>
          <a:xfrm>
            <a:off x="7651750" y="5678488"/>
            <a:ext cx="1588" cy="468312"/>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8" name="Text Box 18"/>
          <p:cNvSpPr txBox="1"/>
          <p:nvPr/>
        </p:nvSpPr>
        <p:spPr>
          <a:xfrm>
            <a:off x="7104063" y="6084888"/>
            <a:ext cx="1095375" cy="611187"/>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输出</a:t>
            </a:r>
          </a:p>
        </p:txBody>
      </p:sp>
      <p:sp>
        <p:nvSpPr>
          <p:cNvPr id="10260" name="Slide Number Placeholder 23"/>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5</a:t>
            </a:fld>
            <a:endParaRPr lang="en-GB" altLang="en-US" sz="1200" dirty="0">
              <a:latin typeface="Comic Sans MS" panose="030F0702030302020204" pitchFamily="2" charset="0"/>
              <a:ea typeface="宋体" panose="02010600030101010101" pitchFamily="2" charset="-122"/>
            </a:endParaRPr>
          </a:p>
        </p:txBody>
      </p:sp>
      <p:sp>
        <p:nvSpPr>
          <p:cNvPr id="10261" name="Date Placeholder 24"/>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1266"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10244" name="Rectangle 3"/>
          <p:cNvSpPr>
            <a:spLocks noGrp="1"/>
          </p:cNvSpPr>
          <p:nvPr>
            <p:ph type="body" idx="4294967295"/>
          </p:nvPr>
        </p:nvSpPr>
        <p:spPr>
          <a:xfrm>
            <a:off x="233680" y="1729105"/>
            <a:ext cx="9603740" cy="5039995"/>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程序设计语言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编写一个高级语言的编译或解释程序</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对该语言的实现</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Times New Roman" panose="02060603050605020204" pitchFamily="2" charset="0"/>
                <a:ea typeface="楷体_GB2312" panose="02010609030101010101" charset="-122"/>
              </a:rPr>
              <a:t>Pascal、C/C++、Object-C、Java、C#、</a:t>
            </a:r>
            <a:r>
              <a:rPr lang="zh-CN" altLang="en-US" b="1" dirty="0">
                <a:latin typeface="Times New Roman" panose="02060603050605020204" pitchFamily="2" charset="0"/>
                <a:ea typeface="楷体_GB2312" panose="02010609030101010101" charset="-122"/>
                <a:sym typeface="Arial" panose="020B0604020202020204" pitchFamily="34" charset="0"/>
              </a:rPr>
              <a:t>Python</a:t>
            </a:r>
            <a:r>
              <a:rPr lang="zh-CN" altLang="zh-CN" b="1" dirty="0">
                <a:latin typeface="Times New Roman" panose="02060603050605020204" pitchFamily="2" charset="0"/>
                <a:ea typeface="楷体_GB2312" panose="02010609030101010101" charset="-122"/>
                <a:sym typeface="Arial" panose="020B0604020202020204" pitchFamily="34" charset="0"/>
              </a:rPr>
              <a:t>、</a:t>
            </a:r>
            <a:r>
              <a:rPr lang="zh-CN" altLang="en-US" b="1" dirty="0">
                <a:latin typeface="Times New Roman" panose="02060603050605020204" pitchFamily="2" charset="0"/>
                <a:ea typeface="楷体_GB2312" panose="02010609030101010101" charset="-122"/>
              </a:rPr>
              <a:t>Go</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编译的：</a:t>
            </a:r>
            <a:r>
              <a:rPr lang="zh-CN" altLang="en-US" b="1" dirty="0">
                <a:latin typeface="Times New Roman" panose="02060603050605020204" pitchFamily="2" charset="0"/>
                <a:ea typeface="楷体_GB2312" panose="02010609030101010101" charset="-122"/>
              </a:rPr>
              <a:t>Fortran、Vala</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解释的：</a:t>
            </a:r>
            <a:r>
              <a:rPr lang="zh-CN" altLang="en-US" b="1" dirty="0">
                <a:latin typeface="Times New Roman" panose="02060603050605020204" pitchFamily="2" charset="0"/>
                <a:ea typeface="楷体_GB2312" panose="02010609030101010101" charset="-122"/>
              </a:rPr>
              <a:t>JavaScript、PHP</a:t>
            </a:r>
            <a:r>
              <a:rPr lang="zh-CN" altLang="en-US" b="1" dirty="0">
                <a:latin typeface="楷体_GB2312" panose="02010609030101010101" charset="-122"/>
                <a:ea typeface="楷体_GB2312" panose="02010609030101010101" charset="-122"/>
              </a:rPr>
              <a:t>等</a:t>
            </a:r>
          </a:p>
        </p:txBody>
      </p:sp>
      <p:sp>
        <p:nvSpPr>
          <p:cNvPr id="11268"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6</a:t>
            </a:fld>
            <a:endParaRPr lang="en-GB" altLang="en-US" sz="1200" dirty="0">
              <a:latin typeface="Comic Sans MS" panose="030F0702030302020204" pitchFamily="2" charset="0"/>
              <a:ea typeface="宋体" panose="02010600030101010101" pitchFamily="2" charset="-122"/>
            </a:endParaRPr>
          </a:p>
        </p:txBody>
      </p:sp>
      <p:sp>
        <p:nvSpPr>
          <p:cNvPr id="11269" name="Date Placeholder 7"/>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0244">
                                            <p:txEl>
                                              <p:charRg st="40" end="73"/>
                                            </p:txEl>
                                          </p:spTgt>
                                        </p:tgtEl>
                                        <p:attrNameLst>
                                          <p:attrName>style.visibility</p:attrName>
                                        </p:attrNameLst>
                                      </p:cBhvr>
                                      <p:to>
                                        <p:strVal val="visible"/>
                                      </p:to>
                                    </p:set>
                                    <p:animEffect transition="in" filter="blinds(horizontal)">
                                      <p:cBhvr>
                                        <p:cTn id="7" dur="500"/>
                                        <p:tgtEl>
                                          <p:spTgt spid="10244">
                                            <p:txEl>
                                              <p:charRg st="40" end="7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4">
                                            <p:txEl>
                                              <p:charRg st="73" end="90"/>
                                            </p:txEl>
                                          </p:spTgt>
                                        </p:tgtEl>
                                        <p:attrNameLst>
                                          <p:attrName>style.visibility</p:attrName>
                                        </p:attrNameLst>
                                      </p:cBhvr>
                                      <p:to>
                                        <p:strVal val="visible"/>
                                      </p:to>
                                    </p:set>
                                    <p:animEffect transition="in" filter="blinds(horizontal)">
                                      <p:cBhvr>
                                        <p:cTn id="12" dur="500"/>
                                        <p:tgtEl>
                                          <p:spTgt spid="10244">
                                            <p:txEl>
                                              <p:charRg st="73"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4">
                                            <p:txEl>
                                              <p:charRg st="90" end="109"/>
                                            </p:txEl>
                                          </p:spTgt>
                                        </p:tgtEl>
                                        <p:attrNameLst>
                                          <p:attrName>style.visibility</p:attrName>
                                        </p:attrNameLst>
                                      </p:cBhvr>
                                      <p:to>
                                        <p:strVal val="visible"/>
                                      </p:to>
                                    </p:set>
                                    <p:animEffect transition="in" filter="blinds(horizontal)">
                                      <p:cBhvr>
                                        <p:cTn id="17" dur="500"/>
                                        <p:tgtEl>
                                          <p:spTgt spid="10244">
                                            <p:txEl>
                                              <p:charRg st="90"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508001" y="609600"/>
            <a:ext cx="6447501" cy="1320800"/>
          </a:xfrm>
          <a:prstGeom prst="rect">
            <a:avLst/>
          </a:prstGeom>
        </p:spPr>
        <p:txBody>
          <a:bodyPr/>
          <a:lst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a:lstStyle>
          <a:p>
            <a:r>
              <a:rPr lang="en-US" altLang="zh-CN" dirty="0"/>
              <a:t>Hello World</a:t>
            </a:r>
            <a:r>
              <a:rPr lang="zh-CN" altLang="en-US" dirty="0"/>
              <a:t>！的背后</a:t>
            </a: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1" y="1930400"/>
            <a:ext cx="6732270" cy="459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pic>
    </p:spTree>
    <p:extLst>
      <p:ext uri="{BB962C8B-B14F-4D97-AF65-F5344CB8AC3E}">
        <p14:creationId xmlns:p14="http://schemas.microsoft.com/office/powerpoint/2010/main" val="1255431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p:cNvSpPr>
          <p:nvPr/>
        </p:nvSpPr>
        <p:spPr>
          <a:xfrm>
            <a:off x="503238" y="301625"/>
            <a:ext cx="7848600" cy="922338"/>
          </a:xfrm>
          <a:prstGeom prst="rect">
            <a:avLst/>
          </a:prstGeom>
          <a:noFill/>
          <a:ln w="9525">
            <a:noFill/>
          </a:ln>
        </p:spPr>
        <p:txBody>
          <a:bodyPr wrap="square" lIns="0" tIns="0" rIns="0" bIns="0" anchor="ctr" anchorCtr="0"/>
          <a:lst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引言</a:t>
            </a:r>
            <a:endParaRPr lang="zh-CN" altLang="en-US" dirty="0"/>
          </a:p>
        </p:txBody>
      </p:sp>
      <p:sp>
        <p:nvSpPr>
          <p:cNvPr id="15" name="Rectangle 2"/>
          <p:cNvSpPr txBox="1">
            <a:spLocks noChangeArrowheads="1"/>
          </p:cNvSpPr>
          <p:nvPr/>
        </p:nvSpPr>
        <p:spPr>
          <a:xfrm>
            <a:off x="452608" y="1044858"/>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dirty="0">
                <a:ln>
                  <a:noFill/>
                </a:ln>
                <a:solidFill>
                  <a:srgbClr val="4F81BD"/>
                </a:solidFill>
                <a:effectLst/>
                <a:uLnTx/>
                <a:uFillTx/>
                <a:latin typeface="微软雅黑" panose="020B0503020204020204" pitchFamily="34" charset="-122"/>
                <a:ea typeface="微软雅黑" panose="020B0503020204020204" pitchFamily="34" charset="-122"/>
                <a:cs typeface="+mj-cs"/>
              </a:rPr>
              <a:t>编译过程</a:t>
            </a:r>
          </a:p>
        </p:txBody>
      </p:sp>
      <p:sp>
        <p:nvSpPr>
          <p:cNvPr id="16" name="Rectangle 3"/>
          <p:cNvSpPr txBox="1">
            <a:spLocks noChangeArrowheads="1"/>
          </p:cNvSpPr>
          <p:nvPr/>
        </p:nvSpPr>
        <p:spPr>
          <a:xfrm>
            <a:off x="962162" y="3711290"/>
            <a:ext cx="7768396" cy="312875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把英文翻译为中文 </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识别出句子中的一个个单词</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分析句子的语法结构</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根据句子的含义进行初步翻译</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对译文进行修饰</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写出最后的译文</a:t>
            </a:r>
          </a:p>
        </p:txBody>
      </p:sp>
      <p:sp>
        <p:nvSpPr>
          <p:cNvPr id="17" name="Text Box 9"/>
          <p:cNvSpPr txBox="1">
            <a:spLocks noChangeArrowheads="1"/>
          </p:cNvSpPr>
          <p:nvPr/>
        </p:nvSpPr>
        <p:spPr bwMode="auto">
          <a:xfrm>
            <a:off x="7059792" y="3328325"/>
            <a:ext cx="2233304" cy="91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US" sz="2667" b="0" i="0" u="none" strike="noStrike" kern="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rPr>
              <a:t>编译程序工作</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US" sz="2667" b="0" i="0" u="none" strike="noStrike" kern="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rPr>
              <a:t>的五个阶段</a:t>
            </a:r>
            <a:endParaRPr kumimoji="0" lang="en-GB" altLang="zh-CN" sz="2667" b="0" i="0" u="none" strike="noStrike" kern="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endParaRPr>
          </a:p>
        </p:txBody>
      </p:sp>
      <p:sp>
        <p:nvSpPr>
          <p:cNvPr id="18" name="AutoShape 4"/>
          <p:cNvSpPr>
            <a:spLocks/>
          </p:cNvSpPr>
          <p:nvPr/>
        </p:nvSpPr>
        <p:spPr bwMode="auto">
          <a:xfrm>
            <a:off x="6263717" y="4324016"/>
            <a:ext cx="3591916" cy="384000"/>
          </a:xfrm>
          <a:prstGeom prst="borderCallout1">
            <a:avLst>
              <a:gd name="adj1" fmla="val 96411"/>
              <a:gd name="adj2" fmla="val -1643"/>
              <a:gd name="adj3" fmla="val 94620"/>
              <a:gd name="adj4" fmla="val -197075"/>
            </a:avLst>
          </a:prstGeom>
          <a:solidFill>
            <a:srgbClr val="C0504D"/>
          </a:solidFill>
          <a:ln w="19050" cap="rnd" cmpd="sng" algn="ctr">
            <a:solidFill>
              <a:srgbClr val="C0504D">
                <a:shade val="50000"/>
              </a:srgbClr>
            </a:solidFill>
            <a:prstDash val="solid"/>
            <a:headEnd type="none" w="med" len="med"/>
            <a:tailEnd type="none" w="lg" len="lg"/>
          </a:ln>
          <a:effectLst/>
        </p:spPr>
        <p:txBody>
          <a:bodyPr rot="0" spcFirstLastPara="0" vertOverflow="overflow" horzOverflow="overflow" vert="horz" wrap="none" lIns="121920" tIns="60960" rIns="121920" bIns="6096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词法分析</a:t>
            </a:r>
          </a:p>
        </p:txBody>
      </p:sp>
      <p:sp>
        <p:nvSpPr>
          <p:cNvPr id="19" name="AutoShape 5"/>
          <p:cNvSpPr>
            <a:spLocks/>
          </p:cNvSpPr>
          <p:nvPr/>
        </p:nvSpPr>
        <p:spPr bwMode="auto">
          <a:xfrm>
            <a:off x="6263717" y="4790508"/>
            <a:ext cx="3591916" cy="384000"/>
          </a:xfrm>
          <a:prstGeom prst="borderCallout1">
            <a:avLst>
              <a:gd name="adj1" fmla="val 100841"/>
              <a:gd name="adj2" fmla="val -720"/>
              <a:gd name="adj3" fmla="val 101794"/>
              <a:gd name="adj4" fmla="val -197212"/>
            </a:avLst>
          </a:prstGeom>
          <a:solidFill>
            <a:srgbClr val="C0504D"/>
          </a:solidFill>
          <a:ln w="19050" cap="rnd" cmpd="sng" algn="ctr">
            <a:solidFill>
              <a:srgbClr val="C0504D">
                <a:shade val="50000"/>
              </a:srgbClr>
            </a:solidFill>
            <a:prstDash val="solid"/>
            <a:headEnd type="none" w="med" len="med"/>
            <a:tailEnd type="none" w="lg" len="lg"/>
          </a:ln>
          <a:effectLst/>
        </p:spPr>
        <p:txBody>
          <a:bodyPr rot="0" spcFirstLastPara="0" vertOverflow="overflow" horzOverflow="overflow" vert="horz" wrap="none" lIns="121920" tIns="60960" rIns="121920" bIns="6096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语法分析</a:t>
            </a:r>
          </a:p>
        </p:txBody>
      </p:sp>
      <p:sp>
        <p:nvSpPr>
          <p:cNvPr id="20" name="AutoShape 6"/>
          <p:cNvSpPr>
            <a:spLocks/>
          </p:cNvSpPr>
          <p:nvPr/>
        </p:nvSpPr>
        <p:spPr bwMode="auto">
          <a:xfrm>
            <a:off x="6263717" y="5310099"/>
            <a:ext cx="3591916" cy="384000"/>
          </a:xfrm>
          <a:prstGeom prst="borderCallout1">
            <a:avLst>
              <a:gd name="adj1" fmla="val 96411"/>
              <a:gd name="adj2" fmla="val -1335"/>
              <a:gd name="adj3" fmla="val 93616"/>
              <a:gd name="adj4" fmla="val -197237"/>
            </a:avLst>
          </a:prstGeom>
          <a:solidFill>
            <a:srgbClr val="C0504D"/>
          </a:solidFill>
          <a:ln w="19050" cap="rnd" cmpd="sng" algn="ctr">
            <a:solidFill>
              <a:srgbClr val="C0504D">
                <a:shade val="50000"/>
              </a:srgbClr>
            </a:solidFill>
            <a:prstDash val="solid"/>
            <a:headEnd type="none" w="med" len="med"/>
            <a:tailEnd type="none" w="lg" len="lg"/>
          </a:ln>
          <a:effectLst/>
        </p:spPr>
        <p:txBody>
          <a:bodyPr rot="0" spcFirstLastPara="0" vertOverflow="overflow" horzOverflow="overflow" vert="horz" wrap="none" lIns="121920" tIns="60960" rIns="121920" bIns="60960" numCol="1" spcCol="0" rtlCol="0" fromWordArt="0" anchor="ctr" anchorCtr="0" forceAA="0" compatLnSpc="1">
            <a:prstTxWarp prst="textNoShape">
              <a:avLst/>
            </a:prstTxWarp>
            <a:noAutofit/>
          </a:bodyPr>
          <a:lstStyle/>
          <a:p>
            <a:pPr algn="ctr" defTabSz="457200" fontAlgn="auto">
              <a:lnSpc>
                <a:spcPct val="100000"/>
              </a:lnSpc>
              <a:spcBef>
                <a:spcPts val="0"/>
              </a:spcBef>
              <a:spcAft>
                <a:spcPts val="0"/>
              </a:spcAft>
              <a:buSzTx/>
            </a:pPr>
            <a:r>
              <a:rPr lang="zh-CN" altLang="en-US" sz="2400" kern="0" dirty="0">
                <a:solidFill>
                  <a:prstClr val="white"/>
                </a:solidFill>
                <a:latin typeface="微软雅黑" panose="020B0503020204020204" pitchFamily="34" charset="-122"/>
                <a:ea typeface="微软雅黑" panose="020B0503020204020204" pitchFamily="34" charset="-122"/>
              </a:rPr>
              <a:t>语义分析</a:t>
            </a:r>
            <a:r>
              <a:rPr lang="en-US" altLang="zh-CN" sz="2400" kern="0" dirty="0">
                <a:solidFill>
                  <a:prstClr val="white"/>
                </a:solidFill>
                <a:latin typeface="微软雅黑" panose="020B0503020204020204" pitchFamily="34" charset="-122"/>
                <a:ea typeface="微软雅黑" panose="020B0503020204020204" pitchFamily="34" charset="-122"/>
              </a:rPr>
              <a:t>/</a:t>
            </a:r>
            <a:r>
              <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中间代码产生</a:t>
            </a:r>
          </a:p>
        </p:txBody>
      </p:sp>
      <p:sp>
        <p:nvSpPr>
          <p:cNvPr id="21" name="AutoShape 7"/>
          <p:cNvSpPr>
            <a:spLocks/>
          </p:cNvSpPr>
          <p:nvPr/>
        </p:nvSpPr>
        <p:spPr bwMode="auto">
          <a:xfrm>
            <a:off x="6263717" y="5816488"/>
            <a:ext cx="3591916" cy="384000"/>
          </a:xfrm>
          <a:prstGeom prst="borderCallout1">
            <a:avLst>
              <a:gd name="adj1" fmla="val 96411"/>
              <a:gd name="adj2" fmla="val -1335"/>
              <a:gd name="adj3" fmla="val 98786"/>
              <a:gd name="adj4" fmla="val -197931"/>
            </a:avLst>
          </a:prstGeom>
          <a:solidFill>
            <a:srgbClr val="C0504D"/>
          </a:solidFill>
          <a:ln w="19050" cap="rnd" cmpd="sng" algn="ctr">
            <a:solidFill>
              <a:srgbClr val="C0504D">
                <a:shade val="50000"/>
              </a:srgbClr>
            </a:solidFill>
            <a:prstDash val="solid"/>
            <a:headEnd type="none" w="med" len="med"/>
            <a:tailEnd type="none" w="lg" len="lg"/>
          </a:ln>
          <a:effectLst/>
        </p:spPr>
        <p:txBody>
          <a:bodyPr rot="0" spcFirstLastPara="0" vertOverflow="overflow" horzOverflow="overflow" vert="horz" wrap="none" lIns="121920" tIns="60960" rIns="121920" bIns="60960" numCol="1" spcCol="0" rtlCol="0" fromWordArt="0" anchor="ctr" anchorCtr="0" forceAA="0" compatLnSpc="1">
            <a:prstTxWarp prst="textNoShape">
              <a:avLst/>
            </a:prstTxWarp>
            <a:noAutofit/>
          </a:bodyPr>
          <a:lstStyle/>
          <a:p>
            <a:pPr lvl="0" algn="ctr" defTabSz="457200" fontAlgn="auto">
              <a:lnSpc>
                <a:spcPct val="100000"/>
              </a:lnSpc>
              <a:spcBef>
                <a:spcPts val="0"/>
              </a:spcBef>
              <a:spcAft>
                <a:spcPts val="0"/>
              </a:spcAft>
              <a:buSzTx/>
            </a:pPr>
            <a:r>
              <a:rPr lang="zh-CN" altLang="en-US" sz="2400" kern="0" dirty="0">
                <a:solidFill>
                  <a:prstClr val="white"/>
                </a:solidFill>
                <a:latin typeface="微软雅黑" panose="020B0503020204020204" pitchFamily="34" charset="-122"/>
                <a:ea typeface="微软雅黑" panose="020B0503020204020204" pitchFamily="34" charset="-122"/>
              </a:rPr>
              <a:t>中间代码</a:t>
            </a:r>
            <a:r>
              <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优化</a:t>
            </a:r>
          </a:p>
        </p:txBody>
      </p:sp>
      <p:sp>
        <p:nvSpPr>
          <p:cNvPr id="22" name="AutoShape 8"/>
          <p:cNvSpPr>
            <a:spLocks/>
          </p:cNvSpPr>
          <p:nvPr/>
        </p:nvSpPr>
        <p:spPr bwMode="auto">
          <a:xfrm>
            <a:off x="6263717" y="6302058"/>
            <a:ext cx="3591916" cy="384000"/>
          </a:xfrm>
          <a:prstGeom prst="borderCallout1">
            <a:avLst>
              <a:gd name="adj1" fmla="val 94934"/>
              <a:gd name="adj2" fmla="val -1028"/>
              <a:gd name="adj3" fmla="val 89449"/>
              <a:gd name="adj4" fmla="val -197586"/>
            </a:avLst>
          </a:prstGeom>
          <a:solidFill>
            <a:srgbClr val="C0504D"/>
          </a:solidFill>
          <a:ln w="19050" cap="rnd" cmpd="sng" algn="ctr">
            <a:solidFill>
              <a:srgbClr val="C0504D">
                <a:shade val="50000"/>
              </a:srgbClr>
            </a:solidFill>
            <a:prstDash val="solid"/>
            <a:headEnd type="none" w="med" len="med"/>
            <a:tailEnd type="none" w="lg" len="lg"/>
          </a:ln>
          <a:effectLst/>
        </p:spPr>
        <p:txBody>
          <a:bodyPr rot="0" spcFirstLastPara="0" vertOverflow="overflow" horzOverflow="overflow" vert="horz" wrap="none" lIns="121920" tIns="60960" rIns="121920" bIns="6096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目标代码产生</a:t>
            </a: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优化</a:t>
            </a: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en-GB"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1054025" y="2150789"/>
            <a:ext cx="3443628" cy="923330"/>
          </a:xfrm>
          <a:prstGeom prst="rect">
            <a:avLst/>
          </a:prstGeom>
          <a:noFill/>
        </p:spPr>
        <p:txBody>
          <a:bodyPr wrap="square" rtlCol="0">
            <a:spAutoFit/>
          </a:bodyPr>
          <a:lstStyle/>
          <a:p>
            <a:pPr defTabSz="457200" fontAlgn="auto">
              <a:lnSpc>
                <a:spcPct val="100000"/>
              </a:lnSpc>
              <a:spcBef>
                <a:spcPts val="0"/>
              </a:spcBef>
              <a:spcAft>
                <a:spcPts val="0"/>
              </a:spcAft>
              <a:buSzTx/>
              <a:buFontTx/>
              <a:buNone/>
            </a:pPr>
            <a:r>
              <a:rPr lang="en-US" altLang="zh-CN" dirty="0">
                <a:solidFill>
                  <a:prstClr val="black"/>
                </a:solidFill>
                <a:latin typeface="微软雅黑" panose="020B0503020204020204" pitchFamily="34" charset="-122"/>
                <a:ea typeface="微软雅黑" panose="020B0503020204020204" pitchFamily="34" charset="-122"/>
              </a:rPr>
              <a:t>The compiler can translate a program from source language to target language.</a:t>
            </a:r>
          </a:p>
        </p:txBody>
      </p:sp>
      <p:sp>
        <p:nvSpPr>
          <p:cNvPr id="24" name="文本框 23"/>
          <p:cNvSpPr txBox="1"/>
          <p:nvPr/>
        </p:nvSpPr>
        <p:spPr>
          <a:xfrm>
            <a:off x="5286930" y="2286053"/>
            <a:ext cx="3443628" cy="646331"/>
          </a:xfrm>
          <a:prstGeom prst="rect">
            <a:avLst/>
          </a:prstGeom>
          <a:noFill/>
        </p:spPr>
        <p:txBody>
          <a:bodyPr wrap="square" rtlCol="0">
            <a:spAutoFit/>
          </a:bodyPr>
          <a:lstStyle/>
          <a:p>
            <a:pPr defTabSz="457200" fontAlgn="auto">
              <a:lnSpc>
                <a:spcPct val="100000"/>
              </a:lnSpc>
              <a:spcBef>
                <a:spcPts val="0"/>
              </a:spcBef>
              <a:spcAft>
                <a:spcPts val="0"/>
              </a:spcAft>
              <a:buSzTx/>
              <a:buFontTx/>
              <a:buNone/>
            </a:pPr>
            <a:r>
              <a:rPr lang="zh-CN" altLang="en-US" dirty="0">
                <a:solidFill>
                  <a:prstClr val="black"/>
                </a:solidFill>
                <a:latin typeface="微软雅黑" panose="020B0503020204020204" pitchFamily="34" charset="-122"/>
                <a:ea typeface="微软雅黑" panose="020B0503020204020204" pitchFamily="34" charset="-122"/>
              </a:rPr>
              <a:t>编译程序能够把一个程序从源语言翻译成目标语言。</a:t>
            </a:r>
            <a:endParaRPr lang="en-US" altLang="zh-CN" dirty="0">
              <a:solidFill>
                <a:prstClr val="black"/>
              </a:solidFill>
              <a:latin typeface="微软雅黑" panose="020B0503020204020204" pitchFamily="34" charset="-122"/>
              <a:ea typeface="微软雅黑" panose="020B0503020204020204" pitchFamily="34" charset="-122"/>
            </a:endParaRPr>
          </a:p>
        </p:txBody>
      </p:sp>
      <p:sp>
        <p:nvSpPr>
          <p:cNvPr id="25" name="右箭头 24"/>
          <p:cNvSpPr/>
          <p:nvPr/>
        </p:nvSpPr>
        <p:spPr>
          <a:xfrm>
            <a:off x="4497654" y="2481796"/>
            <a:ext cx="700645" cy="249382"/>
          </a:xfrm>
          <a:prstGeom prst="rightArrow">
            <a:avLst/>
          </a:prstGeom>
          <a:solidFill>
            <a:srgbClr val="4F81BD"/>
          </a:solidFill>
          <a:ln w="19050" cap="rnd" cmpd="sng" algn="ctr">
            <a:solidFill>
              <a:srgbClr val="4F81BD">
                <a:shade val="5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14" name="Slide Number Placeholder 2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8</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292170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
                                            <p:txEl>
                                              <p:pRg st="1" end="1"/>
                                            </p:txEl>
                                          </p:spTgt>
                                        </p:tgtEl>
                                        <p:attrNameLst>
                                          <p:attrName>style.visibility</p:attrName>
                                        </p:attrNameLst>
                                      </p:cBhvr>
                                      <p:to>
                                        <p:strVal val="visible"/>
                                      </p:to>
                                    </p:set>
                                    <p:animEffect transition="in" filter="wipe(left)">
                                      <p:cBhvr>
                                        <p:cTn id="26" dur="500"/>
                                        <p:tgtEl>
                                          <p:spTgt spid="1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xEl>
                                              <p:pRg st="2" end="2"/>
                                            </p:txEl>
                                          </p:spTgt>
                                        </p:tgtEl>
                                        <p:attrNameLst>
                                          <p:attrName>style.visibility</p:attrName>
                                        </p:attrNameLst>
                                      </p:cBhvr>
                                      <p:to>
                                        <p:strVal val="visible"/>
                                      </p:to>
                                    </p:set>
                                    <p:animEffect transition="in" filter="wipe(left)">
                                      <p:cBhvr>
                                        <p:cTn id="31" dur="500"/>
                                        <p:tgtEl>
                                          <p:spTgt spid="1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xEl>
                                              <p:pRg st="3" end="3"/>
                                            </p:txEl>
                                          </p:spTgt>
                                        </p:tgtEl>
                                        <p:attrNameLst>
                                          <p:attrName>style.visibility</p:attrName>
                                        </p:attrNameLst>
                                      </p:cBhvr>
                                      <p:to>
                                        <p:strVal val="visible"/>
                                      </p:to>
                                    </p:set>
                                    <p:animEffect transition="in" filter="wipe(left)">
                                      <p:cBhvr>
                                        <p:cTn id="36" dur="500"/>
                                        <p:tgtEl>
                                          <p:spTgt spid="16">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xEl>
                                              <p:pRg st="4" end="4"/>
                                            </p:txEl>
                                          </p:spTgt>
                                        </p:tgtEl>
                                        <p:attrNameLst>
                                          <p:attrName>style.visibility</p:attrName>
                                        </p:attrNameLst>
                                      </p:cBhvr>
                                      <p:to>
                                        <p:strVal val="visible"/>
                                      </p:to>
                                    </p:set>
                                    <p:animEffect transition="in" filter="wipe(left)">
                                      <p:cBhvr>
                                        <p:cTn id="41" dur="500"/>
                                        <p:tgtEl>
                                          <p:spTgt spid="16">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
                                            <p:txEl>
                                              <p:pRg st="5" end="5"/>
                                            </p:txEl>
                                          </p:spTgt>
                                        </p:tgtEl>
                                        <p:attrNameLst>
                                          <p:attrName>style.visibility</p:attrName>
                                        </p:attrNameLst>
                                      </p:cBhvr>
                                      <p:to>
                                        <p:strVal val="visible"/>
                                      </p:to>
                                    </p:set>
                                    <p:animEffect transition="in" filter="wipe(left)">
                                      <p:cBhvr>
                                        <p:cTn id="46" dur="500"/>
                                        <p:tgtEl>
                                          <p:spTgt spid="16">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bldLvl="2" autoUpdateAnimBg="0"/>
      <p:bldP spid="17" grpId="0"/>
      <p:bldP spid="18" grpId="0" animBg="1"/>
      <p:bldP spid="19" grpId="0" animBg="1"/>
      <p:bldP spid="20" grpId="0" animBg="1"/>
      <p:bldP spid="21" grpId="0" animBg="1"/>
      <p:bldP spid="22" grpId="0" animBg="1"/>
      <p:bldP spid="23" grpId="0"/>
      <p:bldP spid="24" grpId="0"/>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4338" name="Rectangle 6"/>
          <p:cNvSpPr/>
          <p:nvPr/>
        </p:nvSpPr>
        <p:spPr>
          <a:xfrm>
            <a:off x="3329902" y="19165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4339" name="Rectangle 7"/>
          <p:cNvSpPr/>
          <p:nvPr/>
        </p:nvSpPr>
        <p:spPr>
          <a:xfrm>
            <a:off x="3329902" y="382468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4340" name="Rectangle 8"/>
          <p:cNvSpPr/>
          <p:nvPr/>
        </p:nvSpPr>
        <p:spPr>
          <a:xfrm>
            <a:off x="3329902" y="25642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4341" name="Rectangle 9"/>
          <p:cNvSpPr/>
          <p:nvPr/>
        </p:nvSpPr>
        <p:spPr>
          <a:xfrm>
            <a:off x="3329902" y="3194445"/>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4342" name="Rectangle 10"/>
          <p:cNvSpPr/>
          <p:nvPr/>
        </p:nvSpPr>
        <p:spPr>
          <a:xfrm>
            <a:off x="3329902" y="4454920"/>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4343" name="Rectangle 11"/>
          <p:cNvSpPr/>
          <p:nvPr/>
        </p:nvSpPr>
        <p:spPr>
          <a:xfrm>
            <a:off x="3329902" y="574238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4344" name="Rectangle 12"/>
          <p:cNvSpPr/>
          <p:nvPr/>
        </p:nvSpPr>
        <p:spPr>
          <a:xfrm>
            <a:off x="3329902" y="51042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4345" name="Vertical Scroll 13"/>
          <p:cNvSpPr/>
          <p:nvPr/>
        </p:nvSpPr>
        <p:spPr>
          <a:xfrm>
            <a:off x="450177" y="1394220"/>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4346" name="Right Arrow 14"/>
          <p:cNvSpPr/>
          <p:nvPr/>
        </p:nvSpPr>
        <p:spPr>
          <a:xfrm>
            <a:off x="2159914" y="2024458"/>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4347" name="Right Arrow 15"/>
          <p:cNvSpPr/>
          <p:nvPr/>
        </p:nvSpPr>
        <p:spPr>
          <a:xfrm>
            <a:off x="6616027" y="5894783"/>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4348" name="Rectangle 16"/>
          <p:cNvSpPr/>
          <p:nvPr/>
        </p:nvSpPr>
        <p:spPr>
          <a:xfrm>
            <a:off x="8011439" y="5489970"/>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4349" name="Footer Placeholder 19"/>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4350" name="Slide Number Placeholder 2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9</a:t>
            </a:fld>
            <a:endParaRPr lang="en-GB" altLang="en-US" sz="1200" dirty="0">
              <a:latin typeface="Comic Sans MS" panose="030F0702030302020204" pitchFamily="2" charset="0"/>
              <a:ea typeface="宋体" panose="02010600030101010101" pitchFamily="2" charset="-122"/>
            </a:endParaRPr>
          </a:p>
        </p:txBody>
      </p:sp>
      <p:sp>
        <p:nvSpPr>
          <p:cNvPr id="14351" name="Date Placeholder 17"/>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5362" name="Rectangle 6"/>
          <p:cNvSpPr/>
          <p:nvPr/>
        </p:nvSpPr>
        <p:spPr>
          <a:xfrm>
            <a:off x="3284538" y="18716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5363" name="Rectangle 7"/>
          <p:cNvSpPr/>
          <p:nvPr/>
        </p:nvSpPr>
        <p:spPr>
          <a:xfrm>
            <a:off x="3284538" y="3779838"/>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5364" name="Rectangle 8"/>
          <p:cNvSpPr/>
          <p:nvPr/>
        </p:nvSpPr>
        <p:spPr>
          <a:xfrm>
            <a:off x="3284538" y="25193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5365" name="Rectangle 9"/>
          <p:cNvSpPr/>
          <p:nvPr/>
        </p:nvSpPr>
        <p:spPr>
          <a:xfrm>
            <a:off x="3284538" y="3149600"/>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5366" name="Rectangle 10"/>
          <p:cNvSpPr/>
          <p:nvPr/>
        </p:nvSpPr>
        <p:spPr>
          <a:xfrm>
            <a:off x="3284538" y="4410075"/>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5367" name="Rectangle 11"/>
          <p:cNvSpPr/>
          <p:nvPr/>
        </p:nvSpPr>
        <p:spPr>
          <a:xfrm>
            <a:off x="3284538" y="569753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5368" name="Rectangle 12"/>
          <p:cNvSpPr/>
          <p:nvPr/>
        </p:nvSpPr>
        <p:spPr>
          <a:xfrm>
            <a:off x="3284538" y="50593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5369" name="Vertical Scroll 13"/>
          <p:cNvSpPr/>
          <p:nvPr/>
        </p:nvSpPr>
        <p:spPr>
          <a:xfrm>
            <a:off x="404813" y="1349375"/>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5370" name="Right Arrow 14"/>
          <p:cNvSpPr/>
          <p:nvPr/>
        </p:nvSpPr>
        <p:spPr>
          <a:xfrm>
            <a:off x="2114550" y="1979613"/>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1" name="Right Arrow 15"/>
          <p:cNvSpPr/>
          <p:nvPr/>
        </p:nvSpPr>
        <p:spPr>
          <a:xfrm>
            <a:off x="6570663" y="5849938"/>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2" name="Rectangle 16"/>
          <p:cNvSpPr/>
          <p:nvPr/>
        </p:nvSpPr>
        <p:spPr>
          <a:xfrm>
            <a:off x="7966075" y="5445125"/>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2302" name="TextBox 17"/>
          <p:cNvSpPr txBox="1"/>
          <p:nvPr/>
        </p:nvSpPr>
        <p:spPr>
          <a:xfrm>
            <a:off x="6931025" y="2474913"/>
            <a:ext cx="2519363" cy="1350962"/>
          </a:xfrm>
          <a:prstGeom prst="rect">
            <a:avLst/>
          </a:prstGeom>
          <a:noFill/>
          <a:ln w="9525">
            <a:noFill/>
          </a:ln>
        </p:spPr>
        <p:txBody>
          <a:bodyPr anchor="t" anchorCtr="0">
            <a:spAutoFit/>
          </a:bodyPr>
          <a:lstStyle/>
          <a:p>
            <a:pPr indent="0" algn="ctr" hangingPunct="0"/>
            <a:r>
              <a:rPr lang="zh-CN" altLang="en-US" sz="4400" b="1" dirty="0">
                <a:solidFill>
                  <a:srgbClr val="FF0000"/>
                </a:solidFill>
                <a:latin typeface="楷体_GB2312" panose="02010609030101010101" charset="-122"/>
                <a:ea typeface="楷体_GB2312" panose="02010609030101010101" charset="-122"/>
              </a:rPr>
              <a:t>分析</a:t>
            </a:r>
            <a:endParaRPr lang="en-US" altLang="zh-CN" sz="4400" b="1" dirty="0">
              <a:solidFill>
                <a:srgbClr val="FF0000"/>
              </a:solidFill>
              <a:latin typeface="楷体_GB2312" panose="02010609030101010101" charset="-122"/>
              <a:ea typeface="楷体_GB2312" panose="02010609030101010101" charset="-122"/>
            </a:endParaRPr>
          </a:p>
          <a:p>
            <a:pPr indent="0" algn="ctr" hangingPunct="0"/>
            <a:r>
              <a:rPr lang="zh-CN" altLang="en-US" sz="4400" b="1" dirty="0">
                <a:solidFill>
                  <a:srgbClr val="FF0000"/>
                </a:solidFill>
                <a:latin typeface="楷体_GB2312" panose="02010609030101010101" charset="-122"/>
                <a:ea typeface="楷体_GB2312" panose="02010609030101010101" charset="-122"/>
              </a:rPr>
              <a:t>（前端）</a:t>
            </a:r>
            <a:endParaRPr lang="en-US" altLang="zh-CN" sz="4400" b="1" dirty="0">
              <a:solidFill>
                <a:srgbClr val="FF0000"/>
              </a:solidFill>
              <a:latin typeface="楷体_GB2312" panose="02010609030101010101" charset="-122"/>
              <a:ea typeface="楷体_GB2312" panose="02010609030101010101" charset="-122"/>
            </a:endParaRPr>
          </a:p>
        </p:txBody>
      </p:sp>
      <p:sp>
        <p:nvSpPr>
          <p:cNvPr id="12303" name="Right Brace 18"/>
          <p:cNvSpPr/>
          <p:nvPr/>
        </p:nvSpPr>
        <p:spPr>
          <a:xfrm>
            <a:off x="6300788" y="1889125"/>
            <a:ext cx="584200" cy="2520950"/>
          </a:xfrm>
          <a:prstGeom prst="rightBrace">
            <a:avLst>
              <a:gd name="adj1" fmla="val 34981"/>
              <a:gd name="adj2" fmla="val 50000"/>
            </a:avLst>
          </a:prstGeom>
          <a:noFill/>
          <a:ln w="9525" cap="flat" cmpd="sng">
            <a:solidFill>
              <a:schemeClr val="tx1"/>
            </a:solidFill>
            <a:prstDash val="solid"/>
            <a:round/>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5" name="Footer Placeholder 21"/>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5376" name="Slide Number Placeholder 22"/>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10</a:t>
            </a:fld>
            <a:endParaRPr lang="en-GB" altLang="en-US" sz="1200" dirty="0">
              <a:latin typeface="Comic Sans MS" panose="030F0702030302020204" pitchFamily="2" charset="0"/>
              <a:ea typeface="宋体" panose="02010600030101010101" pitchFamily="2" charset="-122"/>
            </a:endParaRPr>
          </a:p>
        </p:txBody>
      </p:sp>
      <p:sp>
        <p:nvSpPr>
          <p:cNvPr id="15377" name="Date Placeholder 1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03"/>
                                        </p:tgtEl>
                                        <p:attrNameLst>
                                          <p:attrName>style.visibility</p:attrName>
                                        </p:attrNameLst>
                                      </p:cBhvr>
                                      <p:to>
                                        <p:strVal val="visible"/>
                                      </p:to>
                                    </p:set>
                                    <p:animEffect transition="in" filter="blinds(horizontal)">
                                      <p:cBhvr>
                                        <p:cTn id="7" dur="500"/>
                                        <p:tgtEl>
                                          <p:spTgt spid="123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302"/>
                                        </p:tgtEl>
                                        <p:attrNameLst>
                                          <p:attrName>style.visibility</p:attrName>
                                        </p:attrNameLst>
                                      </p:cBhvr>
                                      <p:to>
                                        <p:strVal val="visible"/>
                                      </p:to>
                                    </p:set>
                                    <p:animEffect transition="in" filter="blinds(horizontal)">
                                      <p:cBhvr>
                                        <p:cTn id="10" dur="500"/>
                                        <p:tgtEl>
                                          <p:spTgt spid="12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2" grpId="0"/>
      <p:bldP spid="1230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6386" name="Rectangle 6"/>
          <p:cNvSpPr/>
          <p:nvPr/>
        </p:nvSpPr>
        <p:spPr>
          <a:xfrm>
            <a:off x="3284538" y="18716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6387" name="Rectangle 7"/>
          <p:cNvSpPr/>
          <p:nvPr/>
        </p:nvSpPr>
        <p:spPr>
          <a:xfrm>
            <a:off x="3284538" y="377983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6388" name="Rectangle 8"/>
          <p:cNvSpPr/>
          <p:nvPr/>
        </p:nvSpPr>
        <p:spPr>
          <a:xfrm>
            <a:off x="3284538" y="25193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6389" name="Rectangle 9"/>
          <p:cNvSpPr/>
          <p:nvPr/>
        </p:nvSpPr>
        <p:spPr>
          <a:xfrm>
            <a:off x="3284538" y="3149600"/>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6390" name="Rectangle 10"/>
          <p:cNvSpPr/>
          <p:nvPr/>
        </p:nvSpPr>
        <p:spPr>
          <a:xfrm>
            <a:off x="3284538" y="4410075"/>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6391" name="Rectangle 11"/>
          <p:cNvSpPr/>
          <p:nvPr/>
        </p:nvSpPr>
        <p:spPr>
          <a:xfrm>
            <a:off x="3284538" y="5697538"/>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6392" name="Rectangle 12"/>
          <p:cNvSpPr/>
          <p:nvPr/>
        </p:nvSpPr>
        <p:spPr>
          <a:xfrm>
            <a:off x="3284538" y="50593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6393" name="Vertical Scroll 13"/>
          <p:cNvSpPr/>
          <p:nvPr/>
        </p:nvSpPr>
        <p:spPr>
          <a:xfrm>
            <a:off x="404813" y="1349375"/>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6394" name="Right Arrow 14"/>
          <p:cNvSpPr/>
          <p:nvPr/>
        </p:nvSpPr>
        <p:spPr>
          <a:xfrm>
            <a:off x="2114550" y="1979613"/>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5" name="Right Arrow 15"/>
          <p:cNvSpPr/>
          <p:nvPr/>
        </p:nvSpPr>
        <p:spPr>
          <a:xfrm>
            <a:off x="6570663" y="5849938"/>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6" name="Rectangle 16"/>
          <p:cNvSpPr/>
          <p:nvPr/>
        </p:nvSpPr>
        <p:spPr>
          <a:xfrm>
            <a:off x="7966075" y="5445125"/>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3326" name="TextBox 17"/>
          <p:cNvSpPr txBox="1"/>
          <p:nvPr/>
        </p:nvSpPr>
        <p:spPr>
          <a:xfrm>
            <a:off x="269875" y="4770438"/>
            <a:ext cx="2700338" cy="1350962"/>
          </a:xfrm>
          <a:prstGeom prst="rect">
            <a:avLst/>
          </a:prstGeom>
          <a:noFill/>
          <a:ln w="9525">
            <a:noFill/>
          </a:ln>
        </p:spPr>
        <p:txBody>
          <a:bodyPr anchor="t" anchorCtr="0">
            <a:spAutoFit/>
          </a:bodyPr>
          <a:lstStyle/>
          <a:p>
            <a:pPr indent="0" algn="ctr" hangingPunct="0"/>
            <a:r>
              <a:rPr lang="zh-CN" altLang="en-US" sz="4400" b="1" dirty="0">
                <a:solidFill>
                  <a:srgbClr val="FF0000"/>
                </a:solidFill>
                <a:latin typeface="楷体_GB2312" panose="02010609030101010101" charset="-122"/>
                <a:ea typeface="楷体_GB2312" panose="02010609030101010101" charset="-122"/>
              </a:rPr>
              <a:t>综合</a:t>
            </a:r>
            <a:endParaRPr lang="en-US" altLang="zh-CN" sz="4400" b="1" dirty="0">
              <a:solidFill>
                <a:srgbClr val="FF0000"/>
              </a:solidFill>
              <a:latin typeface="楷体_GB2312" panose="02010609030101010101" charset="-122"/>
              <a:ea typeface="楷体_GB2312" panose="02010609030101010101" charset="-122"/>
            </a:endParaRPr>
          </a:p>
          <a:p>
            <a:pPr indent="0" algn="ctr" hangingPunct="0"/>
            <a:r>
              <a:rPr lang="zh-CN" altLang="en-US" sz="4400" b="1" dirty="0">
                <a:solidFill>
                  <a:srgbClr val="FF0000"/>
                </a:solidFill>
                <a:latin typeface="楷体_GB2312" panose="02010609030101010101" charset="-122"/>
                <a:ea typeface="楷体_GB2312" panose="02010609030101010101" charset="-122"/>
              </a:rPr>
              <a:t>（后端）</a:t>
            </a:r>
            <a:endParaRPr lang="en-US" altLang="zh-CN" sz="4400" b="1" dirty="0">
              <a:solidFill>
                <a:srgbClr val="FF0000"/>
              </a:solidFill>
              <a:latin typeface="楷体_GB2312" panose="02010609030101010101" charset="-122"/>
              <a:ea typeface="楷体_GB2312" panose="02010609030101010101" charset="-122"/>
            </a:endParaRPr>
          </a:p>
        </p:txBody>
      </p:sp>
      <p:sp>
        <p:nvSpPr>
          <p:cNvPr id="13327" name="Left Brace 18"/>
          <p:cNvSpPr/>
          <p:nvPr/>
        </p:nvSpPr>
        <p:spPr>
          <a:xfrm>
            <a:off x="2609850" y="4500563"/>
            <a:ext cx="539750" cy="1844675"/>
          </a:xfrm>
          <a:prstGeom prst="leftBrace">
            <a:avLst>
              <a:gd name="adj1" fmla="val 29951"/>
              <a:gd name="adj2" fmla="val 50000"/>
            </a:avLst>
          </a:prstGeom>
          <a:noFill/>
          <a:ln w="9525" cap="flat" cmpd="sng">
            <a:solidFill>
              <a:schemeClr val="tx1"/>
            </a:solidFill>
            <a:prstDash val="solid"/>
            <a:round/>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9" name="Footer Placeholder 21"/>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6400" name="Slide Number Placeholder 22"/>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11</a:t>
            </a:fld>
            <a:endParaRPr lang="en-GB" altLang="en-US" sz="1200" dirty="0">
              <a:latin typeface="Comic Sans MS" panose="030F0702030302020204" pitchFamily="2" charset="0"/>
              <a:ea typeface="宋体" panose="02010600030101010101" pitchFamily="2" charset="-122"/>
            </a:endParaRPr>
          </a:p>
        </p:txBody>
      </p:sp>
      <p:sp>
        <p:nvSpPr>
          <p:cNvPr id="16401" name="Date Placeholder 1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26"/>
                                        </p:tgtEl>
                                        <p:attrNameLst>
                                          <p:attrName>style.visibility</p:attrName>
                                        </p:attrNameLst>
                                      </p:cBhvr>
                                      <p:to>
                                        <p:strVal val="visible"/>
                                      </p:to>
                                    </p:set>
                                    <p:animEffect transition="in" filter="blinds(horizontal)">
                                      <p:cBhvr>
                                        <p:cTn id="7" dur="500"/>
                                        <p:tgtEl>
                                          <p:spTgt spid="133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327"/>
                                        </p:tgtEl>
                                        <p:attrNameLst>
                                          <p:attrName>style.visibility</p:attrName>
                                        </p:attrNameLst>
                                      </p:cBhvr>
                                      <p:to>
                                        <p:strVal val="visible"/>
                                      </p:to>
                                    </p:set>
                                    <p:animEffect transition="in" filter="blinds(horizontal)">
                                      <p:cBhvr>
                                        <p:cTn id="10" dur="500"/>
                                        <p:tgtEl>
                                          <p:spTgt spid="13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6" grpId="0"/>
      <p:bldP spid="133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Box 3"/>
          <p:cNvSpPr txBox="1"/>
          <p:nvPr/>
        </p:nvSpPr>
        <p:spPr>
          <a:xfrm>
            <a:off x="1215057" y="2860675"/>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7410" name="Rectangle 5"/>
          <p:cNvSpPr/>
          <p:nvPr/>
        </p:nvSpPr>
        <p:spPr>
          <a:xfrm>
            <a:off x="5626100" y="1582738"/>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7411" name="Rectangle 6"/>
          <p:cNvSpPr/>
          <p:nvPr/>
        </p:nvSpPr>
        <p:spPr>
          <a:xfrm>
            <a:off x="5626100" y="3490913"/>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7412" name="Rectangle 7"/>
          <p:cNvSpPr/>
          <p:nvPr/>
        </p:nvSpPr>
        <p:spPr>
          <a:xfrm>
            <a:off x="5626100" y="2230438"/>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7413" name="Rectangle 8"/>
          <p:cNvSpPr/>
          <p:nvPr/>
        </p:nvSpPr>
        <p:spPr>
          <a:xfrm>
            <a:off x="5626100" y="2860675"/>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7414" name="Rectangle 9"/>
          <p:cNvSpPr/>
          <p:nvPr/>
        </p:nvSpPr>
        <p:spPr>
          <a:xfrm>
            <a:off x="5626100" y="4121150"/>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7415" name="Rectangle 10"/>
          <p:cNvSpPr/>
          <p:nvPr/>
        </p:nvSpPr>
        <p:spPr>
          <a:xfrm>
            <a:off x="5626100" y="5408613"/>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7416" name="Rectangle 11"/>
          <p:cNvSpPr/>
          <p:nvPr/>
        </p:nvSpPr>
        <p:spPr>
          <a:xfrm>
            <a:off x="5626100" y="4770438"/>
            <a:ext cx="2879725"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7417" name="Title 12"/>
          <p:cNvSpPr>
            <a:spLocks noGrp="1"/>
          </p:cNvSpPr>
          <p:nvPr>
            <p:ph type="title" idx="4294967295"/>
          </p:nvPr>
        </p:nvSpPr>
        <p:spPr/>
        <p:txBody>
          <a:bodyPr wrap="square" lIns="0" tIns="0" rIns="0" bIns="0" anchor="ctr" anchorCtr="0"/>
          <a:lstStyle/>
          <a:p>
            <a:r>
              <a:rPr lang="zh-CN" altLang="en-US" dirty="0"/>
              <a:t>实例</a:t>
            </a:r>
            <a:endParaRPr lang="en-US" altLang="zh-CN" dirty="0"/>
          </a:p>
        </p:txBody>
      </p:sp>
      <p:sp>
        <p:nvSpPr>
          <p:cNvPr id="17418" name="Footer Placeholder 1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7419" name="Slide Number Placeholder 15"/>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12</a:t>
            </a:fld>
            <a:endParaRPr lang="en-GB" altLang="en-US" sz="1200" dirty="0">
              <a:latin typeface="Comic Sans MS" panose="030F0702030302020204" pitchFamily="2" charset="0"/>
              <a:ea typeface="宋体" panose="02010600030101010101" pitchFamily="2" charset="-122"/>
            </a:endParaRPr>
          </a:p>
        </p:txBody>
      </p:sp>
      <p:sp>
        <p:nvSpPr>
          <p:cNvPr id="17420" name="Date Placeholder 13"/>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词法分析</a:t>
            </a:r>
            <a:endParaRPr lang="en-US" altLang="zh-CN" sz="4000" dirty="0">
              <a:latin typeface="微软雅黑" panose="020B0503020204020204" pitchFamily="2" charset="-122"/>
              <a:ea typeface="微软雅黑" panose="020B0503020204020204" pitchFamily="2" charset="-122"/>
            </a:endParaRPr>
          </a:p>
        </p:txBody>
      </p:sp>
      <p:sp>
        <p:nvSpPr>
          <p:cNvPr id="18434" name="TextBox 4"/>
          <p:cNvSpPr txBox="1"/>
          <p:nvPr/>
        </p:nvSpPr>
        <p:spPr>
          <a:xfrm>
            <a:off x="6750050" y="1395413"/>
            <a:ext cx="2970574" cy="1695336"/>
          </a:xfrm>
          <a:prstGeom prst="rect">
            <a:avLst/>
          </a:prstGeom>
          <a:noFill/>
          <a:ln w="9525">
            <a:noFill/>
          </a:ln>
        </p:spPr>
        <p:txBody>
          <a:bodyPr wrap="squar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8435" name="Rectangle 8"/>
          <p:cNvSpPr/>
          <p:nvPr/>
        </p:nvSpPr>
        <p:spPr>
          <a:xfrm>
            <a:off x="7407275" y="2970213"/>
            <a:ext cx="2447925" cy="550862"/>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8436"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18437"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8438" name="Rectangle 11"/>
          <p:cNvSpPr/>
          <p:nvPr/>
        </p:nvSpPr>
        <p:spPr>
          <a:xfrm>
            <a:off x="7407275" y="40386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8439"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18440"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18441"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18442" name="Footer Placeholder 17"/>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8443"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13</a:t>
            </a:fld>
            <a:endParaRPr lang="en-GB" altLang="en-US" sz="1200" dirty="0">
              <a:latin typeface="Comic Sans MS" panose="030F0702030302020204" pitchFamily="2" charset="0"/>
              <a:ea typeface="宋体" panose="02010600030101010101" pitchFamily="2" charset="-122"/>
            </a:endParaRPr>
          </a:p>
        </p:txBody>
      </p:sp>
      <p:sp>
        <p:nvSpPr>
          <p:cNvPr id="18444" name="Date Placeholder 16"/>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8445" name="TextBox 5"/>
          <p:cNvSpPr txBox="1"/>
          <p:nvPr/>
        </p:nvSpPr>
        <p:spPr>
          <a:xfrm>
            <a:off x="598488" y="1331913"/>
            <a:ext cx="5405437" cy="438150"/>
          </a:xfrm>
          <a:prstGeom prst="rect">
            <a:avLst/>
          </a:prstGeom>
          <a:noFill/>
          <a:ln w="9525">
            <a:noFill/>
          </a:ln>
        </p:spPr>
        <p:txBody>
          <a:bodyPr wrap="square" anchor="t" anchorCtr="0">
            <a:spAutoFit/>
          </a:bodyPr>
          <a:lstStyle/>
          <a:p>
            <a:pPr indent="0" hangingPunct="0"/>
            <a:r>
              <a:rPr lang="zh-CN" altLang="zh-CN" sz="2400" b="1" dirty="0">
                <a:latin typeface="楷体_GB2312" panose="02010609030101010101" charset="-122"/>
                <a:ea typeface="楷体_GB2312" panose="02010609030101010101" charset="-122"/>
              </a:rPr>
              <a:t>识别“单词</a:t>
            </a:r>
            <a:r>
              <a:rPr lang="zh-CN" altLang="zh-CN" sz="2400" b="1" dirty="0">
                <a:latin typeface="楷体_GB2312" panose="02010609030101010101" charset="-122"/>
                <a:ea typeface="楷体_GB2312" panose="02010609030101010101" charset="-122"/>
                <a:sym typeface="Arial" panose="020B0604020202020204" pitchFamily="34" charset="0"/>
              </a:rPr>
              <a:t>记号</a:t>
            </a:r>
            <a:r>
              <a:rPr lang="zh-CN" altLang="zh-CN" sz="2400" b="1" dirty="0">
                <a:latin typeface="楷体_GB2312" panose="02010609030101010101" charset="-122"/>
                <a:ea typeface="楷体_GB2312" panose="02010609030101010101" charset="-122"/>
              </a:rPr>
              <a:t>”</a:t>
            </a:r>
            <a:r>
              <a:rPr lang="zh-CN" altLang="en-US" sz="2400" b="1" dirty="0">
                <a:latin typeface="楷体_GB2312" panose="02010609030101010101" charset="-122"/>
                <a:ea typeface="楷体_GB2312" panose="02010609030101010101" charset="-122"/>
              </a:rPr>
              <a:t> </a:t>
            </a:r>
            <a:r>
              <a:rPr lang="zh-CN" altLang="zh-CN" sz="2400" b="1" dirty="0">
                <a:latin typeface="Times New Roman" panose="02060603050605020204" pitchFamily="2" charset="0"/>
                <a:ea typeface="楷体_GB2312" panose="02010609030101010101" charset="-122"/>
              </a:rPr>
              <a:t>（</a:t>
            </a:r>
            <a:r>
              <a:rPr lang="zh-CN" altLang="en-US" sz="2400" b="1" dirty="0">
                <a:latin typeface="Times New Roman" panose="02060603050605020204" pitchFamily="2" charset="0"/>
                <a:ea typeface="楷体_GB2312" panose="02010609030101010101" charset="-122"/>
              </a:rPr>
              <a:t>Words/Tokens</a:t>
            </a:r>
            <a:r>
              <a:rPr lang="zh-CN" altLang="zh-CN" sz="2400" b="1" dirty="0">
                <a:latin typeface="Times New Roman" panose="02060603050605020204" pitchFamily="2" charset="0"/>
                <a:ea typeface="楷体_GB2312" panose="02010609030101010101" charset="-122"/>
              </a:rPr>
              <a:t>）</a:t>
            </a:r>
          </a:p>
        </p:txBody>
      </p:sp>
      <p:sp>
        <p:nvSpPr>
          <p:cNvPr id="3" name="TextBox 5"/>
          <p:cNvSpPr txBox="1"/>
          <p:nvPr/>
        </p:nvSpPr>
        <p:spPr>
          <a:xfrm>
            <a:off x="590550" y="1992313"/>
            <a:ext cx="5130800" cy="430212"/>
          </a:xfrm>
          <a:prstGeom prst="rect">
            <a:avLst/>
          </a:prstGeom>
          <a:noFill/>
          <a:ln w="9525">
            <a:noFill/>
          </a:ln>
        </p:spPr>
        <p:txBody>
          <a:bodyPr wrap="square" anchor="t" anchorCtr="0">
            <a:spAutoFit/>
          </a:bodyPr>
          <a:lstStyle/>
          <a:p>
            <a:pPr indent="0" hangingPunct="0"/>
            <a:r>
              <a:rPr lang="zh-CN" altLang="en-US" sz="2400" b="1" dirty="0">
                <a:latin typeface="Comic Sans MS" panose="030F0702030302020204" pitchFamily="2" charset="0"/>
                <a:ea typeface="新宋体" panose="02010609030101010101" charset="-122"/>
              </a:rPr>
              <a:t>This is a sentence.</a:t>
            </a:r>
            <a:endParaRPr lang="en-US" altLang="zh-CN" sz="2400" b="1" dirty="0">
              <a:latin typeface="Comic Sans MS" panose="030F0702030302020204" pitchFamily="2" charset="0"/>
              <a:ea typeface="新宋体" panose="02010609030101010101" charset="-122"/>
            </a:endParaRPr>
          </a:p>
        </p:txBody>
      </p:sp>
      <p:sp>
        <p:nvSpPr>
          <p:cNvPr id="15377" name="TextBox 5"/>
          <p:cNvSpPr txBox="1"/>
          <p:nvPr/>
        </p:nvSpPr>
        <p:spPr>
          <a:xfrm>
            <a:off x="503238" y="2658949"/>
            <a:ext cx="6305550" cy="431800"/>
          </a:xfrm>
          <a:prstGeom prst="rect">
            <a:avLst/>
          </a:prstGeom>
          <a:noFill/>
          <a:ln w="9525">
            <a:noFill/>
          </a:ln>
        </p:spPr>
        <p:txBody>
          <a:bodyPr wrap="square" anchor="t" anchorCtr="0">
            <a:spAutoFit/>
          </a:bodyPr>
          <a:lstStyle/>
          <a:p>
            <a:pPr indent="0" hangingPunct="0"/>
            <a:r>
              <a:rPr lang="zh-CN" altLang="en-US" sz="2400" b="1">
                <a:latin typeface="楷体_GB2312" panose="02010609030101010101" charset="-122"/>
                <a:ea typeface="楷体_GB2312" panose="02010609030101010101" charset="-122"/>
              </a:rPr>
              <a:t>将源程序</a:t>
            </a:r>
            <a:r>
              <a:rPr lang="zh-CN" altLang="en-US" sz="2400" b="1">
                <a:solidFill>
                  <a:srgbClr val="FF0000"/>
                </a:solidFill>
                <a:latin typeface="楷体_GB2312" panose="02010609030101010101" charset="-122"/>
                <a:ea typeface="楷体_GB2312" panose="02010609030101010101" charset="-122"/>
              </a:rPr>
              <a:t>分割</a:t>
            </a:r>
            <a:r>
              <a:rPr lang="zh-CN" altLang="en-US" sz="2400" b="1">
                <a:latin typeface="楷体_GB2312" panose="02010609030101010101" charset="-122"/>
                <a:ea typeface="楷体_GB2312" panose="02010609030101010101" charset="-122"/>
              </a:rPr>
              <a:t>为更小单元的“单词记号”</a:t>
            </a:r>
            <a:endParaRPr lang="zh-CN" altLang="en-US" sz="2400" b="1">
              <a:solidFill>
                <a:schemeClr val="accent2"/>
              </a:solidFill>
              <a:latin typeface="楷体_GB2312" panose="02010609030101010101" charset="-122"/>
              <a:ea typeface="楷体_GB2312" panose="02010609030101010101" charset="-122"/>
            </a:endParaRPr>
          </a:p>
        </p:txBody>
      </p:sp>
      <p:sp>
        <p:nvSpPr>
          <p:cNvPr id="5" name="TextBox 5"/>
          <p:cNvSpPr txBox="1"/>
          <p:nvPr/>
        </p:nvSpPr>
        <p:spPr>
          <a:xfrm>
            <a:off x="496888" y="3497149"/>
            <a:ext cx="6305550" cy="1466299"/>
          </a:xfrm>
          <a:prstGeom prst="rect">
            <a:avLst/>
          </a:prstGeom>
          <a:noFill/>
          <a:ln w="9525">
            <a:noFill/>
          </a:ln>
        </p:spPr>
        <p:txBody>
          <a:bodyPr wrap="square" anchor="t" anchorCtr="0">
            <a:spAutoFit/>
          </a:bodyPr>
          <a:lstStyle/>
          <a:p>
            <a:pPr indent="0" hangingPunct="0"/>
            <a:r>
              <a:rPr lang="zh-CN" altLang="en-US" sz="2400" b="1" dirty="0">
                <a:latin typeface="楷体_GB2312" panose="02010609030101010101" charset="-122"/>
                <a:ea typeface="楷体_GB2312" panose="02010609030101010101" charset="-122"/>
              </a:rPr>
              <a:t>并且识别单词记号的</a:t>
            </a:r>
            <a:r>
              <a:rPr lang="zh-CN" altLang="en-US" sz="2400" b="1" dirty="0">
                <a:solidFill>
                  <a:srgbClr val="FF0000"/>
                </a:solidFill>
                <a:latin typeface="楷体_GB2312" panose="02010609030101010101" charset="-122"/>
                <a:ea typeface="楷体_GB2312" panose="02010609030101010101" charset="-122"/>
              </a:rPr>
              <a:t>类别</a:t>
            </a:r>
          </a:p>
          <a:p>
            <a:pPr indent="0" hangingPunct="0"/>
            <a:r>
              <a:rPr lang="zh-CN" altLang="en-US" sz="2400" b="1" dirty="0">
                <a:solidFill>
                  <a:schemeClr val="accent2"/>
                </a:solidFill>
                <a:latin typeface="楷体_GB2312" panose="02010609030101010101" charset="-122"/>
                <a:ea typeface="楷体_GB2312" panose="02010609030101010101" charset="-122"/>
              </a:rPr>
              <a:t>  </a:t>
            </a:r>
            <a:r>
              <a:rPr lang="zh-CN" altLang="en-US" sz="2400" b="1" dirty="0">
                <a:solidFill>
                  <a:schemeClr val="tx1"/>
                </a:solidFill>
                <a:latin typeface="楷体_GB2312" panose="02010609030101010101" charset="-122"/>
                <a:ea typeface="楷体_GB2312" panose="02010609030101010101" charset="-122"/>
              </a:rPr>
              <a:t>自然语言：名词、动词、形容词等</a:t>
            </a:r>
          </a:p>
          <a:p>
            <a:pPr indent="0" hangingPunct="0"/>
            <a:r>
              <a:rPr lang="zh-CN" altLang="en-US" sz="2400" b="1" dirty="0">
                <a:solidFill>
                  <a:schemeClr val="tx1"/>
                </a:solidFill>
                <a:latin typeface="楷体_GB2312" panose="02010609030101010101" charset="-122"/>
                <a:ea typeface="楷体_GB2312" panose="02010609030101010101" charset="-122"/>
              </a:rPr>
              <a:t>  程序语言：标识</a:t>
            </a:r>
            <a:r>
              <a:rPr lang="zh-CN" altLang="zh-CN" sz="2400" b="1" dirty="0">
                <a:solidFill>
                  <a:schemeClr val="tx1"/>
                </a:solidFill>
                <a:latin typeface="楷体_GB2312" panose="02010609030101010101" charset="-122"/>
                <a:ea typeface="楷体_GB2312" panose="02010609030101010101" charset="-122"/>
              </a:rPr>
              <a:t>符</a:t>
            </a:r>
            <a:r>
              <a:rPr lang="zh-CN" altLang="en-US" sz="2400" b="1" dirty="0">
                <a:solidFill>
                  <a:schemeClr val="tx1"/>
                </a:solidFill>
                <a:latin typeface="楷体_GB2312" panose="02010609030101010101" charset="-122"/>
                <a:ea typeface="楷体_GB2312" panose="02010609030101010101" charset="-122"/>
              </a:rPr>
              <a:t>、关键字、数字、符号（</a:t>
            </a:r>
            <a:r>
              <a:rPr lang="en-US" altLang="zh-CN" sz="2400" b="1" dirty="0">
                <a:solidFill>
                  <a:schemeClr val="tx1"/>
                </a:solidFill>
                <a:latin typeface="楷体_GB2312" panose="02010609030101010101" charset="-122"/>
                <a:ea typeface="楷体_GB2312" panose="02010609030101010101" charset="-122"/>
              </a:rPr>
              <a:t>+,-,*,/</a:t>
            </a:r>
            <a:r>
              <a:rPr lang="zh-CN" altLang="en-US" sz="2400" b="1" dirty="0">
                <a:solidFill>
                  <a:schemeClr val="tx1"/>
                </a:solidFill>
                <a:latin typeface="楷体_GB2312" panose="02010609030101010101" charset="-122"/>
                <a:ea typeface="楷体_GB2312" panose="02010609030101010101" charset="-122"/>
              </a:rPr>
              <a:t>）等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77"/>
                                        </p:tgtEl>
                                        <p:attrNameLst>
                                          <p:attrName>style.visibility</p:attrName>
                                        </p:attrNameLst>
                                      </p:cBhvr>
                                      <p:to>
                                        <p:strVal val="visible"/>
                                      </p:to>
                                    </p:set>
                                    <p:animEffect transition="in" filter="blinds(horizontal)">
                                      <p:cBhvr>
                                        <p:cTn id="12" dur="500"/>
                                        <p:tgtEl>
                                          <p:spTgt spid="153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377"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8D951990-DDB0-19B2-E777-334ED82FC9E7}"/>
              </a:ext>
            </a:extLst>
          </p:cNvPr>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词法分析</a:t>
            </a:r>
            <a:endParaRPr lang="en-US" altLang="zh-CN" sz="4000" dirty="0">
              <a:latin typeface="微软雅黑" panose="020B0503020204020204" pitchFamily="2" charset="-122"/>
              <a:ea typeface="微软雅黑" panose="020B0503020204020204" pitchFamily="2" charset="-122"/>
            </a:endParaRPr>
          </a:p>
        </p:txBody>
      </p:sp>
      <p:sp>
        <p:nvSpPr>
          <p:cNvPr id="3" name="Rectangle 5">
            <a:extLst>
              <a:ext uri="{FF2B5EF4-FFF2-40B4-BE49-F238E27FC236}">
                <a16:creationId xmlns:a16="http://schemas.microsoft.com/office/drawing/2014/main" id="{315B13D5-707D-C4B0-295B-2F43FE021006}"/>
              </a:ext>
            </a:extLst>
          </p:cNvPr>
          <p:cNvSpPr txBox="1">
            <a:spLocks noChangeArrowheads="1"/>
          </p:cNvSpPr>
          <p:nvPr/>
        </p:nvSpPr>
        <p:spPr>
          <a:xfrm>
            <a:off x="810030" y="1754702"/>
            <a:ext cx="8460564"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任务</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输入源程序，对构成源程序的字符串进行扫描和分解，识别出单词符号</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依循的原则：构词规则</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描述工具：有限自动机</a:t>
            </a:r>
          </a:p>
          <a:p>
            <a:pPr marL="0" marR="0" lvl="0" indent="0" algn="l" defTabSz="457200" rtl="0" eaLnBrk="1" fontAlgn="auto" latinLnBrk="0" hangingPunct="1">
              <a:lnSpc>
                <a:spcPct val="100000"/>
              </a:lnSpc>
              <a:spcBef>
                <a:spcPts val="1000"/>
              </a:spcBef>
              <a:spcAft>
                <a:spcPts val="0"/>
              </a:spcAft>
              <a:buClr>
                <a:srgbClr val="4F81BD"/>
              </a:buClr>
              <a:buSzPct val="80000"/>
              <a:buFont typeface="Wingdings 3"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for       </a:t>
            </a:r>
            <a:r>
              <a:rPr kumimoji="0" lang="en-US" altLang="zh-CN" sz="24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        1       to      100         do</a:t>
            </a:r>
          </a:p>
          <a:p>
            <a:pPr marL="0" marR="0" lvl="0" indent="0" algn="l" defTabSz="457200" rtl="0" eaLnBrk="1" fontAlgn="auto" latinLnBrk="0" hangingPunct="1">
              <a:lnSpc>
                <a:spcPct val="100000"/>
              </a:lnSpc>
              <a:spcBef>
                <a:spcPts val="1000"/>
              </a:spcBef>
              <a:spcAft>
                <a:spcPts val="0"/>
              </a:spcAft>
              <a:buClr>
                <a:srgbClr val="4F81BD"/>
              </a:buClr>
              <a:buSzPct val="80000"/>
              <a:buFont typeface="Wingdings 3" charset="2"/>
              <a:buNone/>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基本字 标识符 赋值号 整常数 基本字 整常数  基本字</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00000"/>
              </a:lnSpc>
              <a:spcBef>
                <a:spcPts val="1000"/>
              </a:spcBef>
              <a:spcAft>
                <a:spcPts val="0"/>
              </a:spcAft>
              <a:buClr>
                <a:srgbClr val="4F81BD"/>
              </a:buClr>
              <a:buSzPct val="80000"/>
              <a:buFont typeface="Wingdings 3" charset="2"/>
              <a:buNone/>
              <a:tabLst/>
              <a:defRPr/>
            </a:pPr>
            <a:endParaRPr lang="en-US" altLang="zh-CN" sz="2400" dirty="0">
              <a:solidFill>
                <a:sysClr val="windowText" lastClr="000000">
                  <a:lumMod val="75000"/>
                  <a:lumOff val="25000"/>
                </a:sysClr>
              </a:solidFill>
            </a:endParaRPr>
          </a:p>
          <a:p>
            <a:pPr marL="0" lvl="0" indent="0" fontAlgn="auto">
              <a:lnSpc>
                <a:spcPct val="100000"/>
              </a:lnSpc>
              <a:buClr>
                <a:srgbClr val="4F81BD"/>
              </a:buClr>
              <a:buNone/>
              <a:defRPr/>
            </a:pPr>
            <a:r>
              <a:rPr lang="zh-CN" altLang="en-US" sz="2400" dirty="0">
                <a:solidFill>
                  <a:sysClr val="windowText" lastClr="000000">
                    <a:lumMod val="75000"/>
                    <a:lumOff val="25000"/>
                  </a:sysClr>
                </a:solidFill>
              </a:rPr>
              <a:t>基本字也叫</a:t>
            </a:r>
            <a:r>
              <a:rPr lang="zh-CN" altLang="en-US" sz="2400" dirty="0">
                <a:solidFill>
                  <a:srgbClr val="FF0000"/>
                </a:solidFill>
              </a:rPr>
              <a:t>关键字</a:t>
            </a:r>
            <a:r>
              <a:rPr lang="zh-CN" altLang="en-US" sz="2400" dirty="0">
                <a:solidFill>
                  <a:sysClr val="windowText" lastClr="000000">
                    <a:lumMod val="75000"/>
                    <a:lumOff val="25000"/>
                  </a:sysClr>
                </a:solidFill>
              </a:rPr>
              <a:t> </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14</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45590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3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3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3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词法分析</a:t>
            </a:r>
            <a:endParaRPr lang="en-US" altLang="zh-CN" sz="4000" dirty="0">
              <a:latin typeface="微软雅黑" panose="020B0503020204020204" pitchFamily="2" charset="-122"/>
              <a:ea typeface="微软雅黑" panose="020B0503020204020204" pitchFamily="2" charset="-122"/>
            </a:endParaRPr>
          </a:p>
        </p:txBody>
      </p:sp>
      <p:sp>
        <p:nvSpPr>
          <p:cNvPr id="19458" name="TextBox 4"/>
          <p:cNvSpPr txBox="1"/>
          <p:nvPr/>
        </p:nvSpPr>
        <p:spPr>
          <a:xfrm>
            <a:off x="6750050" y="1395413"/>
            <a:ext cx="3152775" cy="1693862"/>
          </a:xfrm>
          <a:prstGeom prst="rect">
            <a:avLst/>
          </a:prstGeom>
          <a:noFill/>
          <a:ln w="9525">
            <a:noFill/>
          </a:ln>
        </p:spPr>
        <p:txBody>
          <a:bodyPr wrap="none" anchor="t" anchorCtr="0">
            <a:spAutoFit/>
          </a:bodyPr>
          <a:lstStyle/>
          <a:p>
            <a:pPr indent="0" hangingPunct="0"/>
            <a:r>
              <a:rPr lang="es-ES" altLang="en-US" sz="2800" b="1" dirty="0">
                <a:latin typeface="新宋体" panose="02010609030101010101" charset="-122"/>
                <a:ea typeface="新宋体" panose="02010609030101010101" charset="-122"/>
              </a:rPr>
              <a:t>while</a:t>
            </a:r>
            <a:r>
              <a:rPr lang="es-ES" altLang="en-US" sz="2800" dirty="0">
                <a:latin typeface="新宋体" panose="02010609030101010101" charset="-122"/>
                <a:ea typeface="新宋体" panose="02010609030101010101" charset="-122"/>
              </a:rPr>
              <a:t> (y &lt; z) {</a:t>
            </a:r>
          </a:p>
          <a:p>
            <a:pPr indent="0" hangingPunct="0"/>
            <a:r>
              <a:rPr lang="es-ES" altLang="en-US" sz="2800" dirty="0">
                <a:latin typeface="新宋体" panose="02010609030101010101" charset="-122"/>
                <a:ea typeface="新宋体" panose="02010609030101010101" charset="-122"/>
              </a:rPr>
              <a:t>	</a:t>
            </a:r>
            <a:r>
              <a:rPr lang="es-ES" altLang="en-US" sz="2800" b="1" dirty="0">
                <a:latin typeface="新宋体" panose="02010609030101010101" charset="-122"/>
                <a:ea typeface="新宋体" panose="02010609030101010101" charset="-122"/>
              </a:rPr>
              <a:t>int</a:t>
            </a:r>
            <a:r>
              <a:rPr lang="es-ES" altLang="en-US" sz="2800" dirty="0">
                <a:latin typeface="新宋体" panose="02010609030101010101" charset="-122"/>
                <a:ea typeface="新宋体" panose="02010609030101010101" charset="-122"/>
              </a:rPr>
              <a:t> x = a + b;</a:t>
            </a:r>
          </a:p>
          <a:p>
            <a:pPr indent="0" hangingPunct="0"/>
            <a:r>
              <a:rPr lang="es-ES" altLang="en-US" sz="2800" dirty="0">
                <a:latin typeface="新宋体" panose="02010609030101010101" charset="-122"/>
                <a:ea typeface="新宋体" panose="02010609030101010101" charset="-122"/>
              </a:rPr>
              <a:t>	y += x;</a:t>
            </a:r>
          </a:p>
          <a:p>
            <a:pPr indent="0" hangingPunct="0"/>
            <a:r>
              <a:rPr lang="es-ES" altLang="en-US" sz="2800" dirty="0">
                <a:latin typeface="新宋体" panose="02010609030101010101" charset="-122"/>
                <a:ea typeface="新宋体" panose="02010609030101010101" charset="-122"/>
              </a:rPr>
              <a:t>}</a:t>
            </a:r>
            <a:endParaRPr lang="en-US" altLang="zh-CN" sz="2800" dirty="0">
              <a:latin typeface="新宋体" panose="02010609030101010101" charset="-122"/>
              <a:ea typeface="新宋体" panose="02010609030101010101" charset="-122"/>
            </a:endParaRPr>
          </a:p>
        </p:txBody>
      </p:sp>
      <p:sp>
        <p:nvSpPr>
          <p:cNvPr id="15364" name="TextBox 5"/>
          <p:cNvSpPr txBox="1"/>
          <p:nvPr/>
        </p:nvSpPr>
        <p:spPr>
          <a:xfrm>
            <a:off x="585788" y="1349375"/>
            <a:ext cx="3509962" cy="2840038"/>
          </a:xfrm>
          <a:prstGeom prst="rect">
            <a:avLst/>
          </a:prstGeom>
          <a:noFill/>
          <a:ln w="9525">
            <a:noFill/>
          </a:ln>
        </p:spPr>
        <p:txBody>
          <a:bodyPr anchor="t" anchorCtr="0">
            <a:spAutoFit/>
          </a:bodyPr>
          <a:lstStyle/>
          <a:p>
            <a:pPr indent="0" hangingPunct="0"/>
            <a:r>
              <a:rPr lang="en-US" altLang="zh-CN" sz="2400" b="1" dirty="0">
                <a:latin typeface="新宋体" panose="02010609030101010101" charset="-122"/>
                <a:ea typeface="新宋体" panose="02010609030101010101" charset="-122"/>
              </a:rPr>
              <a:t>T_While</a:t>
            </a:r>
          </a:p>
          <a:p>
            <a:pPr indent="0" hangingPunct="0"/>
            <a:r>
              <a:rPr lang="en-US" altLang="zh-CN" sz="2400" b="1" dirty="0">
                <a:latin typeface="新宋体" panose="02010609030101010101" charset="-122"/>
                <a:ea typeface="新宋体" panose="02010609030101010101" charset="-122"/>
              </a:rPr>
              <a:t>T_LeftParentheses</a:t>
            </a:r>
          </a:p>
          <a:p>
            <a:pPr indent="0" hangingPunct="0"/>
            <a:r>
              <a:rPr lang="en-US" altLang="zh-CN" sz="2400" b="1" dirty="0">
                <a:latin typeface="新宋体" panose="02010609030101010101" charset="-122"/>
                <a:ea typeface="新宋体" panose="02010609030101010101" charset="-122"/>
              </a:rPr>
              <a:t>T_Identifier y</a:t>
            </a:r>
          </a:p>
          <a:p>
            <a:pPr indent="0" hangingPunct="0"/>
            <a:r>
              <a:rPr lang="en-US" altLang="zh-CN" sz="2400" b="1" dirty="0">
                <a:latin typeface="新宋体" panose="02010609030101010101" charset="-122"/>
                <a:ea typeface="新宋体" panose="02010609030101010101" charset="-122"/>
              </a:rPr>
              <a:t>T_Less</a:t>
            </a:r>
          </a:p>
          <a:p>
            <a:pPr indent="0" hangingPunct="0"/>
            <a:r>
              <a:rPr lang="en-US" altLang="zh-CN" sz="2400" b="1" dirty="0">
                <a:latin typeface="新宋体" panose="02010609030101010101" charset="-122"/>
                <a:ea typeface="新宋体" panose="02010609030101010101" charset="-122"/>
              </a:rPr>
              <a:t>T_Identifier z</a:t>
            </a:r>
          </a:p>
          <a:p>
            <a:pPr indent="0" hangingPunct="0"/>
            <a:r>
              <a:rPr lang="en-US" altLang="zh-CN" sz="2400" b="1" dirty="0">
                <a:latin typeface="新宋体" panose="02010609030101010101" charset="-122"/>
                <a:ea typeface="新宋体" panose="02010609030101010101" charset="-122"/>
              </a:rPr>
              <a:t>T_RightParentheses</a:t>
            </a:r>
          </a:p>
          <a:p>
            <a:pPr indent="0" hangingPunct="0"/>
            <a:r>
              <a:rPr lang="en-US" altLang="zh-CN" sz="2400" b="1" dirty="0">
                <a:latin typeface="新宋体" panose="02010609030101010101" charset="-122"/>
                <a:ea typeface="新宋体" panose="02010609030101010101" charset="-122"/>
              </a:rPr>
              <a:t>T_OpenBrace</a:t>
            </a:r>
          </a:p>
          <a:p>
            <a:pPr indent="0" hangingPunct="0"/>
            <a:endParaRPr lang="en-US" altLang="zh-CN" sz="2400" b="1" dirty="0">
              <a:latin typeface="新宋体" panose="02010609030101010101" charset="-122"/>
              <a:ea typeface="新宋体" panose="02010609030101010101" charset="-122"/>
            </a:endParaRPr>
          </a:p>
        </p:txBody>
      </p:sp>
      <p:sp>
        <p:nvSpPr>
          <p:cNvPr id="15365" name="TextBox 6"/>
          <p:cNvSpPr txBox="1"/>
          <p:nvPr/>
        </p:nvSpPr>
        <p:spPr>
          <a:xfrm>
            <a:off x="3735225" y="3987199"/>
            <a:ext cx="2362200" cy="2152650"/>
          </a:xfrm>
          <a:prstGeom prst="rect">
            <a:avLst/>
          </a:prstGeom>
          <a:noFill/>
          <a:ln w="9525">
            <a:noFill/>
          </a:ln>
        </p:spPr>
        <p:txBody>
          <a:bodyPr wrap="none" anchor="t" anchorCtr="0">
            <a:spAutoFit/>
          </a:bodyPr>
          <a:lstStyle/>
          <a:p>
            <a:pPr indent="0" hangingPunct="0"/>
            <a:r>
              <a:rPr lang="en-US" altLang="zh-CN" sz="2400" b="1" dirty="0">
                <a:latin typeface="新宋体" panose="02010609030101010101" charset="-122"/>
                <a:ea typeface="新宋体" panose="02010609030101010101" charset="-122"/>
              </a:rPr>
              <a:t>T_Identifier y</a:t>
            </a:r>
          </a:p>
          <a:p>
            <a:pPr indent="0" hangingPunct="0"/>
            <a:r>
              <a:rPr lang="en-US" altLang="zh-CN" sz="2400" b="1" dirty="0">
                <a:latin typeface="新宋体" panose="02010609030101010101" charset="-122"/>
                <a:ea typeface="新宋体" panose="02010609030101010101" charset="-122"/>
              </a:rPr>
              <a:t>T_PlusAssign</a:t>
            </a:r>
          </a:p>
          <a:p>
            <a:pPr indent="0" hangingPunct="0"/>
            <a:r>
              <a:rPr lang="en-US" altLang="zh-CN" sz="2400" b="1" dirty="0">
                <a:latin typeface="新宋体" panose="02010609030101010101" charset="-122"/>
                <a:ea typeface="新宋体" panose="02010609030101010101" charset="-122"/>
              </a:rPr>
              <a:t>T_Identifier x</a:t>
            </a:r>
          </a:p>
          <a:p>
            <a:pPr indent="0" hangingPunct="0"/>
            <a:r>
              <a:rPr lang="en-US" altLang="zh-CN" sz="2400" b="1" dirty="0">
                <a:latin typeface="新宋体" panose="02010609030101010101" charset="-122"/>
                <a:ea typeface="新宋体" panose="02010609030101010101" charset="-122"/>
              </a:rPr>
              <a:t>T_Semicolon</a:t>
            </a:r>
          </a:p>
          <a:p>
            <a:pPr indent="0" hangingPunct="0"/>
            <a:endParaRPr lang="en-US" altLang="zh-CN" sz="2400" b="1" dirty="0">
              <a:latin typeface="新宋体" panose="02010609030101010101" charset="-122"/>
              <a:ea typeface="新宋体" panose="02010609030101010101" charset="-122"/>
            </a:endParaRPr>
          </a:p>
          <a:p>
            <a:pPr indent="0" hangingPunct="0"/>
            <a:r>
              <a:rPr lang="en-US" altLang="zh-CN" sz="2400" b="1" dirty="0">
                <a:latin typeface="新宋体" panose="02010609030101010101" charset="-122"/>
                <a:ea typeface="新宋体" panose="02010609030101010101" charset="-122"/>
              </a:rPr>
              <a:t>T_CloseBrace</a:t>
            </a:r>
          </a:p>
        </p:txBody>
      </p:sp>
      <p:sp>
        <p:nvSpPr>
          <p:cNvPr id="15366" name="TextBox 7"/>
          <p:cNvSpPr txBox="1"/>
          <p:nvPr/>
        </p:nvSpPr>
        <p:spPr>
          <a:xfrm>
            <a:off x="582613" y="4027488"/>
            <a:ext cx="2362200" cy="2497137"/>
          </a:xfrm>
          <a:prstGeom prst="rect">
            <a:avLst/>
          </a:prstGeom>
          <a:noFill/>
          <a:ln w="9525">
            <a:noFill/>
          </a:ln>
        </p:spPr>
        <p:txBody>
          <a:bodyPr wrap="none" anchor="t" anchorCtr="0">
            <a:spAutoFit/>
          </a:bodyPr>
          <a:lstStyle/>
          <a:p>
            <a:pPr indent="0" hangingPunct="0"/>
            <a:r>
              <a:rPr lang="en-US" altLang="zh-CN" sz="2400" b="1" dirty="0">
                <a:latin typeface="新宋体" panose="02010609030101010101" charset="-122"/>
                <a:ea typeface="新宋体" panose="02010609030101010101" charset="-122"/>
              </a:rPr>
              <a:t>T_Int</a:t>
            </a:r>
          </a:p>
          <a:p>
            <a:pPr indent="0" hangingPunct="0"/>
            <a:r>
              <a:rPr lang="en-US" altLang="zh-CN" sz="2400" b="1" dirty="0">
                <a:latin typeface="新宋体" panose="02010609030101010101" charset="-122"/>
                <a:ea typeface="新宋体" panose="02010609030101010101" charset="-122"/>
              </a:rPr>
              <a:t>T_Identifier x</a:t>
            </a:r>
          </a:p>
          <a:p>
            <a:pPr indent="0" hangingPunct="0"/>
            <a:r>
              <a:rPr lang="en-US" altLang="zh-CN" sz="2400" b="1" dirty="0">
                <a:latin typeface="新宋体" panose="02010609030101010101" charset="-122"/>
                <a:ea typeface="新宋体" panose="02010609030101010101" charset="-122"/>
              </a:rPr>
              <a:t>T_Assign</a:t>
            </a:r>
          </a:p>
          <a:p>
            <a:pPr indent="0" hangingPunct="0"/>
            <a:r>
              <a:rPr lang="en-US" altLang="zh-CN" sz="2400" b="1" dirty="0">
                <a:latin typeface="新宋体" panose="02010609030101010101" charset="-122"/>
                <a:ea typeface="新宋体" panose="02010609030101010101" charset="-122"/>
              </a:rPr>
              <a:t>T_Identifier a</a:t>
            </a:r>
          </a:p>
          <a:p>
            <a:pPr indent="0" hangingPunct="0"/>
            <a:r>
              <a:rPr lang="en-US" altLang="zh-CN" sz="2400" b="1" dirty="0">
                <a:latin typeface="新宋体" panose="02010609030101010101" charset="-122"/>
                <a:ea typeface="新宋体" panose="02010609030101010101" charset="-122"/>
              </a:rPr>
              <a:t>T_Plus</a:t>
            </a:r>
          </a:p>
          <a:p>
            <a:pPr indent="0" hangingPunct="0"/>
            <a:r>
              <a:rPr lang="en-US" altLang="zh-CN" sz="2400" b="1" dirty="0">
                <a:latin typeface="新宋体" panose="02010609030101010101" charset="-122"/>
                <a:ea typeface="新宋体" panose="02010609030101010101" charset="-122"/>
              </a:rPr>
              <a:t>T_Identifier b</a:t>
            </a:r>
          </a:p>
          <a:p>
            <a:pPr indent="0" hangingPunct="0"/>
            <a:r>
              <a:rPr lang="en-US" altLang="zh-CN" sz="2400" b="1" dirty="0">
                <a:latin typeface="新宋体" panose="02010609030101010101" charset="-122"/>
                <a:ea typeface="新宋体" panose="02010609030101010101" charset="-122"/>
              </a:rPr>
              <a:t>T_Semicolon</a:t>
            </a:r>
          </a:p>
        </p:txBody>
      </p:sp>
      <p:sp>
        <p:nvSpPr>
          <p:cNvPr id="19462" name="Rectangle 8"/>
          <p:cNvSpPr/>
          <p:nvPr/>
        </p:nvSpPr>
        <p:spPr>
          <a:xfrm>
            <a:off x="7407275" y="2970213"/>
            <a:ext cx="2447925" cy="550862"/>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9463"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19464"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9465" name="Rectangle 11"/>
          <p:cNvSpPr/>
          <p:nvPr/>
        </p:nvSpPr>
        <p:spPr>
          <a:xfrm>
            <a:off x="7407275" y="40386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9466"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19467"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19468"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19469" name="Footer Placeholder 17"/>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9470"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15</a:t>
            </a:fld>
            <a:endParaRPr lang="en-GB" altLang="en-US" sz="1200" dirty="0">
              <a:latin typeface="Comic Sans MS" panose="030F0702030302020204" pitchFamily="2" charset="0"/>
              <a:ea typeface="宋体" panose="02010600030101010101" pitchFamily="2" charset="-122"/>
            </a:endParaRPr>
          </a:p>
        </p:txBody>
      </p:sp>
      <p:sp>
        <p:nvSpPr>
          <p:cNvPr id="19471" name="Date Placeholder 16"/>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blinds(horizontal)">
                                      <p:cBhvr>
                                        <p:cTn id="7" dur="500"/>
                                        <p:tgtEl>
                                          <p:spTgt spid="153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blinds(horizontal)">
                                      <p:cBhvr>
                                        <p:cTn id="12" dur="500"/>
                                        <p:tgtEl>
                                          <p:spTgt spid="153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blinds(horizontal)">
                                      <p:cBhvr>
                                        <p:cTn id="17" dur="500"/>
                                        <p:tgtEl>
                                          <p:spTgt spid="1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17409"/>
          <p:cNvSpPr/>
          <p:nvPr/>
        </p:nvSpPr>
        <p:spPr>
          <a:xfrm>
            <a:off x="90488" y="4906963"/>
            <a:ext cx="2254250" cy="493712"/>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7411" name="矩形 17410"/>
          <p:cNvSpPr/>
          <p:nvPr/>
        </p:nvSpPr>
        <p:spPr>
          <a:xfrm>
            <a:off x="3373438" y="4902200"/>
            <a:ext cx="3467100" cy="495300"/>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20483"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Arial" panose="020B0604020202020204" pitchFamily="34" charset="0"/>
              </a:rPr>
              <a:t>语法分析</a:t>
            </a:r>
            <a:endParaRPr lang="zh-CN" altLang="en-US" sz="4000" dirty="0">
              <a:latin typeface="微软雅黑" panose="020B0503020204020204" pitchFamily="2" charset="-122"/>
              <a:ea typeface="微软雅黑" panose="020B0503020204020204" pitchFamily="2" charset="-122"/>
            </a:endParaRPr>
          </a:p>
        </p:txBody>
      </p:sp>
      <p:sp>
        <p:nvSpPr>
          <p:cNvPr id="20484" name="TextBox 4"/>
          <p:cNvSpPr txBox="1"/>
          <p:nvPr/>
        </p:nvSpPr>
        <p:spPr>
          <a:xfrm>
            <a:off x="6750050" y="1395413"/>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0485" name="Footer Placeholder 4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0486" name="Slide Number Placeholder 4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16</a:t>
            </a:fld>
            <a:endParaRPr lang="en-GB" altLang="en-US" sz="1200" dirty="0">
              <a:latin typeface="Comic Sans MS" panose="030F0702030302020204" pitchFamily="2" charset="0"/>
              <a:ea typeface="宋体" panose="02010600030101010101" pitchFamily="2" charset="-122"/>
            </a:endParaRPr>
          </a:p>
        </p:txBody>
      </p:sp>
      <p:sp>
        <p:nvSpPr>
          <p:cNvPr id="20487" name="Date Placeholder 4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7424" name="文本框 17423"/>
          <p:cNvSpPr txBox="1"/>
          <p:nvPr/>
        </p:nvSpPr>
        <p:spPr>
          <a:xfrm>
            <a:off x="325438" y="5473700"/>
            <a:ext cx="7100887" cy="487363"/>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This   line     is         a     longer   sentence</a:t>
            </a:r>
          </a:p>
        </p:txBody>
      </p:sp>
      <p:sp>
        <p:nvSpPr>
          <p:cNvPr id="17425" name="文本框 17424"/>
          <p:cNvSpPr txBox="1"/>
          <p:nvPr/>
        </p:nvSpPr>
        <p:spPr>
          <a:xfrm>
            <a:off x="0" y="4892675"/>
            <a:ext cx="2454518" cy="493084"/>
          </a:xfrm>
          <a:prstGeom prst="rect">
            <a:avLst/>
          </a:prstGeom>
          <a:noFill/>
          <a:ln w="9525">
            <a:noFill/>
          </a:ln>
        </p:spPr>
        <p:txBody>
          <a:bodyPr wrap="none" anchor="t" anchorCtr="0">
            <a:spAutoFit/>
          </a:bodyPr>
          <a:lstStyle/>
          <a:p>
            <a:pPr hangingPunct="0"/>
            <a:r>
              <a:rPr lang="en-US" altLang="zh-CN" sz="2800" dirty="0">
                <a:solidFill>
                  <a:schemeClr val="accent2"/>
                </a:solidFill>
                <a:latin typeface="Comic Sans MS" panose="030F0702030302020204" pitchFamily="2" charset="0"/>
                <a:ea typeface="楷体_GB2312" panose="02010609030101010101" charset="-122"/>
              </a:rPr>
              <a:t>pronoun  noun</a:t>
            </a:r>
          </a:p>
        </p:txBody>
      </p:sp>
      <p:sp>
        <p:nvSpPr>
          <p:cNvPr id="17426" name="文本框 17425"/>
          <p:cNvSpPr txBox="1"/>
          <p:nvPr/>
        </p:nvSpPr>
        <p:spPr>
          <a:xfrm>
            <a:off x="534988" y="3905250"/>
            <a:ext cx="1439862" cy="487363"/>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subject</a:t>
            </a:r>
            <a:endParaRPr lang="en-US" altLang="zh-CN" dirty="0">
              <a:latin typeface="Arial" panose="020B0604020202020204" pitchFamily="34" charset="0"/>
              <a:ea typeface="楷体_GB2312" panose="02010609030101010101" charset="-122"/>
            </a:endParaRPr>
          </a:p>
        </p:txBody>
      </p:sp>
      <p:sp>
        <p:nvSpPr>
          <p:cNvPr id="17427" name="文本框 17426"/>
          <p:cNvSpPr txBox="1"/>
          <p:nvPr/>
        </p:nvSpPr>
        <p:spPr>
          <a:xfrm>
            <a:off x="4395788" y="3943350"/>
            <a:ext cx="1270000" cy="487363"/>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object</a:t>
            </a:r>
            <a:endParaRPr lang="en-US" altLang="zh-CN" dirty="0">
              <a:latin typeface="Arial" panose="020B0604020202020204" pitchFamily="34" charset="0"/>
              <a:ea typeface="楷体_GB2312" panose="02010609030101010101" charset="-122"/>
            </a:endParaRPr>
          </a:p>
        </p:txBody>
      </p:sp>
      <p:sp>
        <p:nvSpPr>
          <p:cNvPr id="17428" name="文本框 17427"/>
          <p:cNvSpPr txBox="1"/>
          <p:nvPr/>
        </p:nvSpPr>
        <p:spPr>
          <a:xfrm>
            <a:off x="2344738" y="2825750"/>
            <a:ext cx="1754006" cy="493084"/>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Sentence</a:t>
            </a:r>
            <a:endParaRPr lang="en-US" altLang="zh-CN" dirty="0">
              <a:latin typeface="Arial" panose="020B0604020202020204" pitchFamily="34" charset="0"/>
              <a:ea typeface="楷体_GB2312" panose="02010609030101010101" charset="-122"/>
            </a:endParaRPr>
          </a:p>
        </p:txBody>
      </p:sp>
      <p:sp>
        <p:nvSpPr>
          <p:cNvPr id="17429" name="文本框 17428"/>
          <p:cNvSpPr txBox="1"/>
          <p:nvPr/>
        </p:nvSpPr>
        <p:spPr>
          <a:xfrm>
            <a:off x="2312988" y="4838700"/>
            <a:ext cx="933450" cy="487363"/>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verb</a:t>
            </a:r>
          </a:p>
        </p:txBody>
      </p:sp>
      <p:sp>
        <p:nvSpPr>
          <p:cNvPr id="17430" name="文本框 17429"/>
          <p:cNvSpPr txBox="1"/>
          <p:nvPr/>
        </p:nvSpPr>
        <p:spPr>
          <a:xfrm>
            <a:off x="3284538" y="4832350"/>
            <a:ext cx="3603625" cy="487363"/>
          </a:xfrm>
          <a:prstGeom prst="rect">
            <a:avLst/>
          </a:prstGeom>
          <a:noFill/>
          <a:ln w="9525">
            <a:noFill/>
          </a:ln>
        </p:spPr>
        <p:txBody>
          <a:bodyPr wrap="none" anchor="t" anchorCtr="0">
            <a:spAutoFit/>
          </a:bodyPr>
          <a:lstStyle/>
          <a:p>
            <a:pPr indent="0" hangingPunct="0"/>
            <a:r>
              <a:rPr lang="en-US" altLang="zh-CN" sz="2800" dirty="0">
                <a:solidFill>
                  <a:schemeClr val="accent2"/>
                </a:solidFill>
                <a:latin typeface="Comic Sans MS" panose="030F0702030302020204" pitchFamily="2" charset="0"/>
                <a:ea typeface="楷体_GB2312" panose="02010609030101010101" charset="-122"/>
              </a:rPr>
              <a:t>article   adj.      noun</a:t>
            </a:r>
          </a:p>
        </p:txBody>
      </p:sp>
      <p:cxnSp>
        <p:nvCxnSpPr>
          <p:cNvPr id="17431" name="直接箭头连接符 17430"/>
          <p:cNvCxnSpPr/>
          <p:nvPr/>
        </p:nvCxnSpPr>
        <p:spPr>
          <a:xfrm flipH="1">
            <a:off x="1169988" y="4365625"/>
            <a:ext cx="85725" cy="450850"/>
          </a:xfrm>
          <a:prstGeom prst="straightConnector1">
            <a:avLst/>
          </a:prstGeom>
          <a:ln w="19050" cap="flat" cmpd="sng">
            <a:solidFill>
              <a:schemeClr val="tx1"/>
            </a:solidFill>
            <a:prstDash val="solid"/>
            <a:round/>
            <a:headEnd type="none" w="med" len="med"/>
            <a:tailEnd type="stealth" w="lg" len="lg"/>
          </a:ln>
        </p:spPr>
      </p:cxnSp>
      <p:cxnSp>
        <p:nvCxnSpPr>
          <p:cNvPr id="17432" name="直接箭头连接符 17431"/>
          <p:cNvCxnSpPr>
            <a:stCxn id="17427" idx="2"/>
            <a:endCxn id="17430" idx="0"/>
          </p:cNvCxnSpPr>
          <p:nvPr/>
        </p:nvCxnSpPr>
        <p:spPr>
          <a:xfrm>
            <a:off x="5030788" y="4430713"/>
            <a:ext cx="55562" cy="401637"/>
          </a:xfrm>
          <a:prstGeom prst="straightConnector1">
            <a:avLst/>
          </a:prstGeom>
          <a:ln w="19050" cap="flat" cmpd="sng">
            <a:solidFill>
              <a:schemeClr val="tx1"/>
            </a:solidFill>
            <a:prstDash val="solid"/>
            <a:round/>
            <a:headEnd type="none" w="med" len="med"/>
            <a:tailEnd type="stealth" w="lg" len="lg"/>
          </a:ln>
        </p:spPr>
      </p:cxnSp>
      <p:cxnSp>
        <p:nvCxnSpPr>
          <p:cNvPr id="17433" name="直接箭头连接符 17432"/>
          <p:cNvCxnSpPr>
            <a:stCxn id="17428" idx="2"/>
            <a:endCxn id="17426" idx="0"/>
          </p:cNvCxnSpPr>
          <p:nvPr/>
        </p:nvCxnSpPr>
        <p:spPr>
          <a:xfrm flipH="1">
            <a:off x="1254919" y="3318834"/>
            <a:ext cx="1966822" cy="586416"/>
          </a:xfrm>
          <a:prstGeom prst="straightConnector1">
            <a:avLst/>
          </a:prstGeom>
          <a:ln w="19050" cap="flat" cmpd="sng">
            <a:solidFill>
              <a:schemeClr val="tx1"/>
            </a:solidFill>
            <a:prstDash val="solid"/>
            <a:round/>
            <a:headEnd type="none" w="med" len="med"/>
            <a:tailEnd type="stealth" w="lg" len="lg"/>
          </a:ln>
        </p:spPr>
      </p:cxnSp>
      <p:cxnSp>
        <p:nvCxnSpPr>
          <p:cNvPr id="17434" name="直接箭头连接符 17433"/>
          <p:cNvCxnSpPr>
            <a:stCxn id="17428" idx="2"/>
            <a:endCxn id="17429" idx="0"/>
          </p:cNvCxnSpPr>
          <p:nvPr/>
        </p:nvCxnSpPr>
        <p:spPr>
          <a:xfrm flipH="1">
            <a:off x="2779713" y="3318834"/>
            <a:ext cx="442028" cy="1519866"/>
          </a:xfrm>
          <a:prstGeom prst="straightConnector1">
            <a:avLst/>
          </a:prstGeom>
          <a:ln w="19050" cap="flat" cmpd="sng">
            <a:solidFill>
              <a:schemeClr val="tx1"/>
            </a:solidFill>
            <a:prstDash val="solid"/>
            <a:round/>
            <a:headEnd type="none" w="med" len="med"/>
            <a:tailEnd type="stealth" w="lg" len="lg"/>
          </a:ln>
        </p:spPr>
      </p:cxnSp>
      <p:cxnSp>
        <p:nvCxnSpPr>
          <p:cNvPr id="17435" name="直接箭头连接符 17434"/>
          <p:cNvCxnSpPr>
            <a:stCxn id="17428" idx="2"/>
            <a:endCxn id="17427" idx="0"/>
          </p:cNvCxnSpPr>
          <p:nvPr/>
        </p:nvCxnSpPr>
        <p:spPr>
          <a:xfrm>
            <a:off x="3221741" y="3318834"/>
            <a:ext cx="1809047" cy="624516"/>
          </a:xfrm>
          <a:prstGeom prst="straightConnector1">
            <a:avLst/>
          </a:prstGeom>
          <a:ln w="19050" cap="flat" cmpd="sng">
            <a:solidFill>
              <a:schemeClr val="tx1"/>
            </a:solidFill>
            <a:prstDash val="solid"/>
            <a:round/>
            <a:headEnd type="none" w="med" len="med"/>
            <a:tailEnd type="stealth" w="lg" len="lg"/>
          </a:ln>
        </p:spPr>
      </p:cxnSp>
      <p:sp>
        <p:nvSpPr>
          <p:cNvPr id="20500"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0501"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0502" name="Rectangle 10"/>
          <p:cNvSpPr/>
          <p:nvPr/>
        </p:nvSpPr>
        <p:spPr>
          <a:xfrm>
            <a:off x="7407275" y="3498850"/>
            <a:ext cx="2447925" cy="550863"/>
          </a:xfrm>
          <a:prstGeom prst="rect">
            <a:avLst/>
          </a:prstGeom>
          <a:solidFill>
            <a:srgbClr val="FF00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0503" name="Rectangle 11"/>
          <p:cNvSpPr/>
          <p:nvPr/>
        </p:nvSpPr>
        <p:spPr>
          <a:xfrm>
            <a:off x="7407275" y="4038600"/>
            <a:ext cx="2447925" cy="550863"/>
          </a:xfrm>
          <a:prstGeom prst="rect">
            <a:avLst/>
          </a:prstGeom>
          <a:solidFill>
            <a:srgbClr val="ADADEB"/>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0504"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0505"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0506"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28" name="文本框 27"/>
          <p:cNvSpPr txBox="1"/>
          <p:nvPr/>
        </p:nvSpPr>
        <p:spPr>
          <a:xfrm>
            <a:off x="325438" y="5887244"/>
            <a:ext cx="6893234" cy="493084"/>
          </a:xfrm>
          <a:prstGeom prst="rect">
            <a:avLst/>
          </a:prstGeom>
          <a:noFill/>
          <a:ln w="9525">
            <a:noFill/>
          </a:ln>
        </p:spPr>
        <p:txBody>
          <a:bodyPr wrap="none" anchor="t" anchorCtr="0">
            <a:spAutoFit/>
          </a:bodyPr>
          <a:lstStyle/>
          <a:p>
            <a:pPr indent="0" hangingPunct="0"/>
            <a:r>
              <a:rPr lang="zh-CN" altLang="en-US" sz="2800" dirty="0">
                <a:latin typeface="Comic Sans MS" panose="030F0702030302020204" pitchFamily="2" charset="0"/>
                <a:ea typeface="楷体_GB2312" panose="02010609030101010101" charset="-122"/>
              </a:rPr>
              <a:t>冠词</a:t>
            </a:r>
            <a:r>
              <a:rPr lang="en-US" altLang="zh-CN" sz="2800" dirty="0">
                <a:latin typeface="Comic Sans MS" panose="030F0702030302020204" pitchFamily="2" charset="0"/>
                <a:ea typeface="楷体_GB2312" panose="02010609030101010101" charset="-122"/>
              </a:rPr>
              <a:t>   </a:t>
            </a:r>
            <a:r>
              <a:rPr lang="zh-CN" altLang="en-US" sz="2800" dirty="0">
                <a:latin typeface="Comic Sans MS" panose="030F0702030302020204" pitchFamily="2" charset="0"/>
                <a:ea typeface="楷体_GB2312" panose="02010609030101010101" charset="-122"/>
              </a:rPr>
              <a:t>名词</a:t>
            </a:r>
            <a:r>
              <a:rPr lang="en-US" altLang="zh-CN" sz="2800" dirty="0">
                <a:latin typeface="Comic Sans MS" panose="030F0702030302020204" pitchFamily="2" charset="0"/>
                <a:ea typeface="楷体_GB2312" panose="02010609030101010101" charset="-122"/>
              </a:rPr>
              <a:t>  </a:t>
            </a:r>
            <a:r>
              <a:rPr lang="zh-CN" altLang="en-US" sz="2800" dirty="0">
                <a:latin typeface="Comic Sans MS" panose="030F0702030302020204" pitchFamily="2" charset="0"/>
                <a:ea typeface="楷体_GB2312" panose="02010609030101010101" charset="-122"/>
              </a:rPr>
              <a:t>动词</a:t>
            </a:r>
            <a:r>
              <a:rPr lang="en-US" altLang="zh-CN" sz="2800" dirty="0">
                <a:latin typeface="Comic Sans MS" panose="030F0702030302020204" pitchFamily="2" charset="0"/>
                <a:ea typeface="楷体_GB2312" panose="02010609030101010101" charset="-122"/>
              </a:rPr>
              <a:t>    </a:t>
            </a:r>
            <a:r>
              <a:rPr lang="zh-CN" altLang="en-US" sz="2800" dirty="0">
                <a:latin typeface="Comic Sans MS" panose="030F0702030302020204" pitchFamily="2" charset="0"/>
                <a:ea typeface="楷体_GB2312" panose="02010609030101010101" charset="-122"/>
              </a:rPr>
              <a:t>冠词</a:t>
            </a:r>
            <a:r>
              <a:rPr lang="en-US" altLang="zh-CN" sz="2800" dirty="0">
                <a:latin typeface="Comic Sans MS" panose="030F0702030302020204" pitchFamily="2" charset="0"/>
                <a:ea typeface="楷体_GB2312" panose="02010609030101010101" charset="-122"/>
              </a:rPr>
              <a:t>   </a:t>
            </a:r>
            <a:r>
              <a:rPr lang="zh-CN" altLang="en-US" sz="2800" dirty="0">
                <a:latin typeface="Comic Sans MS" panose="030F0702030302020204" pitchFamily="2" charset="0"/>
                <a:ea typeface="楷体_GB2312" panose="02010609030101010101" charset="-122"/>
              </a:rPr>
              <a:t>形容词</a:t>
            </a:r>
            <a:r>
              <a:rPr lang="en-US" altLang="zh-CN" sz="2800" dirty="0">
                <a:latin typeface="Comic Sans MS" panose="030F0702030302020204" pitchFamily="2" charset="0"/>
                <a:ea typeface="楷体_GB2312" panose="02010609030101010101" charset="-122"/>
              </a:rPr>
              <a:t>      </a:t>
            </a:r>
            <a:r>
              <a:rPr lang="zh-CN" altLang="en-US" sz="2800" dirty="0">
                <a:latin typeface="Comic Sans MS" panose="030F0702030302020204" pitchFamily="2" charset="0"/>
                <a:ea typeface="楷体_GB2312" panose="02010609030101010101" charset="-122"/>
              </a:rPr>
              <a:t>名词</a:t>
            </a:r>
            <a:endParaRPr lang="en-US" altLang="zh-CN" sz="2800" dirty="0">
              <a:latin typeface="Comic Sans MS" panose="030F0702030302020204" pitchFamily="2" charset="0"/>
              <a:ea typeface="楷体_GB2312" panose="02010609030101010101" charset="-122"/>
            </a:endParaRPr>
          </a:p>
        </p:txBody>
      </p:sp>
      <p:sp>
        <p:nvSpPr>
          <p:cNvPr id="29" name="TextBox 5"/>
          <p:cNvSpPr txBox="1"/>
          <p:nvPr/>
        </p:nvSpPr>
        <p:spPr>
          <a:xfrm>
            <a:off x="450006" y="1124660"/>
            <a:ext cx="5405437" cy="1809726"/>
          </a:xfrm>
          <a:prstGeom prst="rect">
            <a:avLst/>
          </a:prstGeom>
          <a:noFill/>
          <a:ln w="9525">
            <a:noFill/>
          </a:ln>
        </p:spPr>
        <p:txBody>
          <a:bodyPr wrap="square" anchor="t" anchorCtr="0">
            <a:spAutoFit/>
          </a:bodyPr>
          <a:lstStyle/>
          <a:p>
            <a:pPr indent="0" hangingPunct="0"/>
            <a:r>
              <a:rPr lang="zh-CN" altLang="en-US" sz="2000" b="1" dirty="0">
                <a:latin typeface="Times New Roman" panose="02060603050605020204" pitchFamily="2" charset="0"/>
                <a:ea typeface="楷体_GB2312" panose="02010609030101010101" charset="-122"/>
              </a:rPr>
              <a:t>在词法分析基础上，根据语法规则，把单词符号分解成各种语法单位（语法范畴），即根据词法单元，构成语法结构，</a:t>
            </a:r>
            <a:r>
              <a:rPr lang="zh-CN" altLang="en-US" sz="2000" b="1" dirty="0">
                <a:solidFill>
                  <a:schemeClr val="accent2"/>
                </a:solidFill>
                <a:latin typeface="Times New Roman" panose="02060603050605020204" pitchFamily="2" charset="0"/>
                <a:ea typeface="楷体_GB2312" panose="02010609030101010101" charset="-122"/>
              </a:rPr>
              <a:t>描述语法单位构成的规则为语法规则</a:t>
            </a:r>
            <a:endParaRPr lang="en-US" altLang="zh-CN" sz="2000" b="1" dirty="0">
              <a:solidFill>
                <a:schemeClr val="accent2"/>
              </a:solidFill>
              <a:latin typeface="Times New Roman" panose="02060603050605020204" pitchFamily="2" charset="0"/>
              <a:ea typeface="楷体_GB2312" panose="02010609030101010101" charset="-122"/>
            </a:endParaRPr>
          </a:p>
          <a:p>
            <a:pPr hangingPunct="0"/>
            <a:r>
              <a:rPr lang="zh-CN" altLang="en-US" sz="2000" b="1" dirty="0">
                <a:solidFill>
                  <a:schemeClr val="tx1"/>
                </a:solidFill>
                <a:latin typeface="Times New Roman" panose="02060603050605020204" pitchFamily="2" charset="0"/>
                <a:ea typeface="楷体_GB2312" panose="02010609030101010101" charset="-122"/>
              </a:rPr>
              <a:t>依循的原则：语法规则</a:t>
            </a:r>
          </a:p>
          <a:p>
            <a:pPr hangingPunct="0"/>
            <a:r>
              <a:rPr lang="zh-CN" altLang="en-US" sz="2000" b="1" dirty="0">
                <a:solidFill>
                  <a:schemeClr val="tx1"/>
                </a:solidFill>
                <a:latin typeface="Times New Roman" panose="02060603050605020204" pitchFamily="2" charset="0"/>
                <a:ea typeface="楷体_GB2312" panose="02010609030101010101" charset="-122"/>
              </a:rPr>
              <a:t>描述工具：上下文无关文法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24"/>
                                        </p:tgtEl>
                                        <p:attrNameLst>
                                          <p:attrName>style.visibility</p:attrName>
                                        </p:attrNameLst>
                                      </p:cBhvr>
                                      <p:to>
                                        <p:strVal val="visible"/>
                                      </p:to>
                                    </p:set>
                                    <p:animEffect transition="in" filter="blinds(horizontal)">
                                      <p:cBhvr>
                                        <p:cTn id="12" dur="500"/>
                                        <p:tgtEl>
                                          <p:spTgt spid="1742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25"/>
                                        </p:tgtEl>
                                        <p:attrNameLst>
                                          <p:attrName>style.visibility</p:attrName>
                                        </p:attrNameLst>
                                      </p:cBhvr>
                                      <p:to>
                                        <p:strVal val="visible"/>
                                      </p:to>
                                    </p:set>
                                    <p:animEffect transition="in" filter="blinds(horizontal)">
                                      <p:cBhvr>
                                        <p:cTn id="17" dur="500"/>
                                        <p:tgtEl>
                                          <p:spTgt spid="1742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29"/>
                                        </p:tgtEl>
                                        <p:attrNameLst>
                                          <p:attrName>style.visibility</p:attrName>
                                        </p:attrNameLst>
                                      </p:cBhvr>
                                      <p:to>
                                        <p:strVal val="visible"/>
                                      </p:to>
                                    </p:set>
                                    <p:animEffect transition="in" filter="blinds(horizontal)">
                                      <p:cBhvr>
                                        <p:cTn id="22" dur="500"/>
                                        <p:tgtEl>
                                          <p:spTgt spid="174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30"/>
                                        </p:tgtEl>
                                        <p:attrNameLst>
                                          <p:attrName>style.visibility</p:attrName>
                                        </p:attrNameLst>
                                      </p:cBhvr>
                                      <p:to>
                                        <p:strVal val="visible"/>
                                      </p:to>
                                    </p:set>
                                    <p:animEffect transition="in" filter="blinds(horizontal)">
                                      <p:cBhvr>
                                        <p:cTn id="27" dur="500"/>
                                        <p:tgtEl>
                                          <p:spTgt spid="1743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26"/>
                                        </p:tgtEl>
                                        <p:attrNameLst>
                                          <p:attrName>style.visibility</p:attrName>
                                        </p:attrNameLst>
                                      </p:cBhvr>
                                      <p:to>
                                        <p:strVal val="visible"/>
                                      </p:to>
                                    </p:set>
                                    <p:animEffect transition="in" filter="blinds(horizontal)">
                                      <p:cBhvr>
                                        <p:cTn id="32" dur="500"/>
                                        <p:tgtEl>
                                          <p:spTgt spid="17426"/>
                                        </p:tgtEl>
                                      </p:cBhvr>
                                    </p:animEffect>
                                  </p:childTnLst>
                                </p:cTn>
                              </p:par>
                              <p:par>
                                <p:cTn id="33" presetID="3" presetClass="entr" presetSubtype="10" fill="hold" nodeType="withEffect">
                                  <p:stCondLst>
                                    <p:cond delay="0"/>
                                  </p:stCondLst>
                                  <p:childTnLst>
                                    <p:set>
                                      <p:cBhvr>
                                        <p:cTn id="34" dur="1" fill="hold">
                                          <p:stCondLst>
                                            <p:cond delay="0"/>
                                          </p:stCondLst>
                                        </p:cTn>
                                        <p:tgtEl>
                                          <p:spTgt spid="17431"/>
                                        </p:tgtEl>
                                        <p:attrNameLst>
                                          <p:attrName>style.visibility</p:attrName>
                                        </p:attrNameLst>
                                      </p:cBhvr>
                                      <p:to>
                                        <p:strVal val="visible"/>
                                      </p:to>
                                    </p:set>
                                    <p:animEffect transition="in" filter="blinds(horizontal)">
                                      <p:cBhvr>
                                        <p:cTn id="35" dur="500"/>
                                        <p:tgtEl>
                                          <p:spTgt spid="17431"/>
                                        </p:tgtEl>
                                      </p:cBhvr>
                                    </p:animEffect>
                                  </p:childTnLst>
                                </p:cTn>
                              </p:par>
                              <p:par>
                                <p:cTn id="36" presetID="3" presetClass="entr" presetSubtype="10" fill="hold" nodeType="withEffect">
                                  <p:stCondLst>
                                    <p:cond delay="0"/>
                                  </p:stCondLst>
                                  <p:childTnLst>
                                    <p:set>
                                      <p:cBhvr>
                                        <p:cTn id="37" dur="1" fill="hold">
                                          <p:stCondLst>
                                            <p:cond delay="0"/>
                                          </p:stCondLst>
                                        </p:cTn>
                                        <p:tgtEl>
                                          <p:spTgt spid="17410"/>
                                        </p:tgtEl>
                                        <p:attrNameLst>
                                          <p:attrName>style.visibility</p:attrName>
                                        </p:attrNameLst>
                                      </p:cBhvr>
                                      <p:to>
                                        <p:strVal val="visible"/>
                                      </p:to>
                                    </p:set>
                                    <p:animEffect transition="in" filter="blinds(horizontal)">
                                      <p:cBhvr>
                                        <p:cTn id="38" dur="500"/>
                                        <p:tgtEl>
                                          <p:spTgt spid="1741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7427"/>
                                        </p:tgtEl>
                                        <p:attrNameLst>
                                          <p:attrName>style.visibility</p:attrName>
                                        </p:attrNameLst>
                                      </p:cBhvr>
                                      <p:to>
                                        <p:strVal val="visible"/>
                                      </p:to>
                                    </p:set>
                                    <p:animEffect transition="in" filter="blinds(horizontal)">
                                      <p:cBhvr>
                                        <p:cTn id="43" dur="500"/>
                                        <p:tgtEl>
                                          <p:spTgt spid="17427"/>
                                        </p:tgtEl>
                                      </p:cBhvr>
                                    </p:animEffect>
                                  </p:childTnLst>
                                </p:cTn>
                              </p:par>
                              <p:par>
                                <p:cTn id="44" presetID="3" presetClass="entr" presetSubtype="10" fill="hold" nodeType="withEffect">
                                  <p:stCondLst>
                                    <p:cond delay="0"/>
                                  </p:stCondLst>
                                  <p:childTnLst>
                                    <p:set>
                                      <p:cBhvr>
                                        <p:cTn id="45" dur="1" fill="hold">
                                          <p:stCondLst>
                                            <p:cond delay="0"/>
                                          </p:stCondLst>
                                        </p:cTn>
                                        <p:tgtEl>
                                          <p:spTgt spid="17432"/>
                                        </p:tgtEl>
                                        <p:attrNameLst>
                                          <p:attrName>style.visibility</p:attrName>
                                        </p:attrNameLst>
                                      </p:cBhvr>
                                      <p:to>
                                        <p:strVal val="visible"/>
                                      </p:to>
                                    </p:set>
                                    <p:animEffect transition="in" filter="blinds(horizontal)">
                                      <p:cBhvr>
                                        <p:cTn id="46" dur="500"/>
                                        <p:tgtEl>
                                          <p:spTgt spid="17432"/>
                                        </p:tgtEl>
                                      </p:cBhvr>
                                    </p:animEffect>
                                  </p:childTnLst>
                                </p:cTn>
                              </p:par>
                              <p:par>
                                <p:cTn id="47" presetID="3" presetClass="entr" presetSubtype="10" fill="hold" nodeType="withEffect">
                                  <p:stCondLst>
                                    <p:cond delay="0"/>
                                  </p:stCondLst>
                                  <p:childTnLst>
                                    <p:set>
                                      <p:cBhvr>
                                        <p:cTn id="48" dur="1" fill="hold">
                                          <p:stCondLst>
                                            <p:cond delay="0"/>
                                          </p:stCondLst>
                                        </p:cTn>
                                        <p:tgtEl>
                                          <p:spTgt spid="17411"/>
                                        </p:tgtEl>
                                        <p:attrNameLst>
                                          <p:attrName>style.visibility</p:attrName>
                                        </p:attrNameLst>
                                      </p:cBhvr>
                                      <p:to>
                                        <p:strVal val="visible"/>
                                      </p:to>
                                    </p:set>
                                    <p:animEffect transition="in" filter="blinds(horizontal)">
                                      <p:cBhvr>
                                        <p:cTn id="49" dur="500"/>
                                        <p:tgtEl>
                                          <p:spTgt spid="17411"/>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7428"/>
                                        </p:tgtEl>
                                        <p:attrNameLst>
                                          <p:attrName>style.visibility</p:attrName>
                                        </p:attrNameLst>
                                      </p:cBhvr>
                                      <p:to>
                                        <p:strVal val="visible"/>
                                      </p:to>
                                    </p:set>
                                    <p:animEffect transition="in" filter="blinds(horizontal)">
                                      <p:cBhvr>
                                        <p:cTn id="54" dur="500"/>
                                        <p:tgtEl>
                                          <p:spTgt spid="17428"/>
                                        </p:tgtEl>
                                      </p:cBhvr>
                                    </p:animEffect>
                                  </p:childTnLst>
                                </p:cTn>
                              </p:par>
                              <p:par>
                                <p:cTn id="55" presetID="3" presetClass="entr" presetSubtype="10" fill="hold" nodeType="withEffect">
                                  <p:stCondLst>
                                    <p:cond delay="0"/>
                                  </p:stCondLst>
                                  <p:childTnLst>
                                    <p:set>
                                      <p:cBhvr>
                                        <p:cTn id="56" dur="1" fill="hold">
                                          <p:stCondLst>
                                            <p:cond delay="0"/>
                                          </p:stCondLst>
                                        </p:cTn>
                                        <p:tgtEl>
                                          <p:spTgt spid="17433"/>
                                        </p:tgtEl>
                                        <p:attrNameLst>
                                          <p:attrName>style.visibility</p:attrName>
                                        </p:attrNameLst>
                                      </p:cBhvr>
                                      <p:to>
                                        <p:strVal val="visible"/>
                                      </p:to>
                                    </p:set>
                                    <p:animEffect transition="in" filter="blinds(horizontal)">
                                      <p:cBhvr>
                                        <p:cTn id="57" dur="500"/>
                                        <p:tgtEl>
                                          <p:spTgt spid="17433"/>
                                        </p:tgtEl>
                                      </p:cBhvr>
                                    </p:animEffect>
                                  </p:childTnLst>
                                </p:cTn>
                              </p:par>
                              <p:par>
                                <p:cTn id="58" presetID="3" presetClass="entr" presetSubtype="10" fill="hold" nodeType="withEffect">
                                  <p:stCondLst>
                                    <p:cond delay="0"/>
                                  </p:stCondLst>
                                  <p:childTnLst>
                                    <p:set>
                                      <p:cBhvr>
                                        <p:cTn id="59" dur="1" fill="hold">
                                          <p:stCondLst>
                                            <p:cond delay="0"/>
                                          </p:stCondLst>
                                        </p:cTn>
                                        <p:tgtEl>
                                          <p:spTgt spid="17434"/>
                                        </p:tgtEl>
                                        <p:attrNameLst>
                                          <p:attrName>style.visibility</p:attrName>
                                        </p:attrNameLst>
                                      </p:cBhvr>
                                      <p:to>
                                        <p:strVal val="visible"/>
                                      </p:to>
                                    </p:set>
                                    <p:animEffect transition="in" filter="blinds(horizontal)">
                                      <p:cBhvr>
                                        <p:cTn id="60" dur="500"/>
                                        <p:tgtEl>
                                          <p:spTgt spid="17434"/>
                                        </p:tgtEl>
                                      </p:cBhvr>
                                    </p:animEffect>
                                  </p:childTnLst>
                                </p:cTn>
                              </p:par>
                              <p:par>
                                <p:cTn id="61" presetID="3" presetClass="entr" presetSubtype="10" fill="hold" nodeType="withEffect">
                                  <p:stCondLst>
                                    <p:cond delay="0"/>
                                  </p:stCondLst>
                                  <p:childTnLst>
                                    <p:set>
                                      <p:cBhvr>
                                        <p:cTn id="62" dur="1" fill="hold">
                                          <p:stCondLst>
                                            <p:cond delay="0"/>
                                          </p:stCondLst>
                                        </p:cTn>
                                        <p:tgtEl>
                                          <p:spTgt spid="17435"/>
                                        </p:tgtEl>
                                        <p:attrNameLst>
                                          <p:attrName>style.visibility</p:attrName>
                                        </p:attrNameLst>
                                      </p:cBhvr>
                                      <p:to>
                                        <p:strVal val="visible"/>
                                      </p:to>
                                    </p:set>
                                    <p:animEffect transition="in" filter="blinds(horizontal)">
                                      <p:cBhvr>
                                        <p:cTn id="63" dur="500"/>
                                        <p:tgtEl>
                                          <p:spTgt spid="17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4" grpId="0" bldLvl="0"/>
      <p:bldP spid="17425" grpId="0" bldLvl="0"/>
      <p:bldP spid="17426" grpId="0" bldLvl="0"/>
      <p:bldP spid="17427" grpId="0" bldLvl="0"/>
      <p:bldP spid="17428" grpId="0" bldLvl="0"/>
      <p:bldP spid="17429" grpId="0" bldLvl="0"/>
      <p:bldP spid="17430" grpId="0" bldLvl="0"/>
      <p:bldP spid="28" grpId="0" bldLvl="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18433"/>
          <p:cNvSpPr/>
          <p:nvPr/>
        </p:nvSpPr>
        <p:spPr>
          <a:xfrm>
            <a:off x="90488" y="3884613"/>
            <a:ext cx="2116137" cy="493712"/>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8435" name="矩形 18434"/>
          <p:cNvSpPr/>
          <p:nvPr/>
        </p:nvSpPr>
        <p:spPr>
          <a:xfrm>
            <a:off x="4772025" y="3881438"/>
            <a:ext cx="1304925" cy="495300"/>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21507"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Arial" panose="020B0604020202020204" pitchFamily="34" charset="0"/>
              </a:rPr>
              <a:t>语法分析</a:t>
            </a:r>
            <a:endParaRPr lang="zh-CN" altLang="en-US" sz="4000" dirty="0">
              <a:latin typeface="微软雅黑" panose="020B0503020204020204" pitchFamily="2" charset="-122"/>
              <a:ea typeface="微软雅黑" panose="020B0503020204020204" pitchFamily="2" charset="-122"/>
            </a:endParaRPr>
          </a:p>
        </p:txBody>
      </p:sp>
      <p:sp>
        <p:nvSpPr>
          <p:cNvPr id="21508" name="TextBox 4"/>
          <p:cNvSpPr txBox="1"/>
          <p:nvPr/>
        </p:nvSpPr>
        <p:spPr>
          <a:xfrm>
            <a:off x="6750050" y="1395413"/>
            <a:ext cx="3152775" cy="1693862"/>
          </a:xfrm>
          <a:prstGeom prst="rect">
            <a:avLst/>
          </a:prstGeom>
          <a:noFill/>
          <a:ln w="9525">
            <a:noFill/>
          </a:ln>
        </p:spPr>
        <p:txBody>
          <a:bodyPr wrap="none" anchor="t" anchorCtr="0">
            <a:spAutoFit/>
          </a:bodyPr>
          <a:lstStyle/>
          <a:p>
            <a:pPr indent="0" hangingPunct="0"/>
            <a:r>
              <a:rPr lang="es-ES" altLang="en-US" sz="2800" b="1" dirty="0">
                <a:latin typeface="新宋体" panose="02010609030101010101" charset="-122"/>
                <a:ea typeface="新宋体" panose="02010609030101010101" charset="-122"/>
              </a:rPr>
              <a:t>while</a:t>
            </a:r>
            <a:r>
              <a:rPr lang="es-ES" altLang="en-US" sz="2800" dirty="0">
                <a:latin typeface="新宋体" panose="02010609030101010101" charset="-122"/>
                <a:ea typeface="新宋体" panose="02010609030101010101" charset="-122"/>
              </a:rPr>
              <a:t> (y &lt; z) {</a:t>
            </a:r>
          </a:p>
          <a:p>
            <a:pPr indent="0" hangingPunct="0"/>
            <a:r>
              <a:rPr lang="es-ES" altLang="en-US" sz="2800" dirty="0">
                <a:latin typeface="新宋体" panose="02010609030101010101" charset="-122"/>
                <a:ea typeface="新宋体" panose="02010609030101010101" charset="-122"/>
              </a:rPr>
              <a:t>	</a:t>
            </a:r>
            <a:r>
              <a:rPr lang="es-ES" altLang="en-US" sz="2800" b="1" dirty="0">
                <a:latin typeface="新宋体" panose="02010609030101010101" charset="-122"/>
                <a:ea typeface="新宋体" panose="02010609030101010101" charset="-122"/>
              </a:rPr>
              <a:t>int</a:t>
            </a:r>
            <a:r>
              <a:rPr lang="es-ES" altLang="en-US" sz="2800" dirty="0">
                <a:latin typeface="新宋体" panose="02010609030101010101" charset="-122"/>
                <a:ea typeface="新宋体" panose="02010609030101010101" charset="-122"/>
              </a:rPr>
              <a:t> x = a + b;</a:t>
            </a:r>
          </a:p>
          <a:p>
            <a:pPr indent="0" hangingPunct="0"/>
            <a:r>
              <a:rPr lang="es-ES" altLang="en-US" sz="2800" dirty="0">
                <a:latin typeface="新宋体" panose="02010609030101010101" charset="-122"/>
                <a:ea typeface="新宋体" panose="02010609030101010101" charset="-122"/>
              </a:rPr>
              <a:t>	y += x;</a:t>
            </a:r>
          </a:p>
          <a:p>
            <a:pPr indent="0" hangingPunct="0"/>
            <a:r>
              <a:rPr lang="es-ES" altLang="en-US" sz="2800" dirty="0">
                <a:latin typeface="新宋体" panose="02010609030101010101" charset="-122"/>
                <a:ea typeface="新宋体" panose="02010609030101010101" charset="-122"/>
              </a:rPr>
              <a:t>}</a:t>
            </a:r>
            <a:endParaRPr lang="en-US" altLang="zh-CN" sz="2800" dirty="0">
              <a:latin typeface="新宋体" panose="02010609030101010101" charset="-122"/>
              <a:ea typeface="新宋体" panose="02010609030101010101" charset="-122"/>
            </a:endParaRPr>
          </a:p>
        </p:txBody>
      </p:sp>
      <p:sp>
        <p:nvSpPr>
          <p:cNvPr id="21509" name="Footer Placeholder 4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1510" name="Slide Number Placeholder 4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17</a:t>
            </a:fld>
            <a:endParaRPr lang="en-GB" altLang="en-US" sz="1200" dirty="0">
              <a:latin typeface="Comic Sans MS" panose="030F0702030302020204" pitchFamily="2" charset="0"/>
              <a:ea typeface="宋体" panose="02010600030101010101" pitchFamily="2" charset="-122"/>
            </a:endParaRPr>
          </a:p>
        </p:txBody>
      </p:sp>
      <p:sp>
        <p:nvSpPr>
          <p:cNvPr id="21511" name="Date Placeholder 4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1512" name="文本框 18447"/>
          <p:cNvSpPr txBox="1"/>
          <p:nvPr/>
        </p:nvSpPr>
        <p:spPr>
          <a:xfrm>
            <a:off x="325438" y="5473700"/>
            <a:ext cx="5984875" cy="487363"/>
          </a:xfrm>
          <a:prstGeom prst="rect">
            <a:avLst/>
          </a:prstGeom>
          <a:noFill/>
          <a:ln w="9525">
            <a:noFill/>
          </a:ln>
        </p:spPr>
        <p:txBody>
          <a:bodyPr wrap="none" anchor="t" anchorCtr="0">
            <a:spAutoFit/>
          </a:bodyPr>
          <a:lstStyle/>
          <a:p>
            <a:pPr indent="0" hangingPunct="0"/>
            <a:r>
              <a:rPr lang="en-US" altLang="zh-CN" sz="2800" b="1">
                <a:latin typeface="Comic Sans MS" panose="030F0702030302020204" pitchFamily="2" charset="0"/>
                <a:ea typeface="新宋体" panose="02010609030101010101" charset="-122"/>
              </a:rPr>
              <a:t>if x == y then z = 1; else z = 2;</a:t>
            </a:r>
          </a:p>
        </p:txBody>
      </p:sp>
      <p:sp>
        <p:nvSpPr>
          <p:cNvPr id="18449" name="文本框 18448"/>
          <p:cNvSpPr txBox="1"/>
          <p:nvPr/>
        </p:nvSpPr>
        <p:spPr>
          <a:xfrm>
            <a:off x="496888" y="3822700"/>
            <a:ext cx="1470025"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relation</a:t>
            </a:r>
          </a:p>
        </p:txBody>
      </p:sp>
      <p:sp>
        <p:nvSpPr>
          <p:cNvPr id="18450" name="文本框 18449"/>
          <p:cNvSpPr txBox="1"/>
          <p:nvPr/>
        </p:nvSpPr>
        <p:spPr>
          <a:xfrm>
            <a:off x="534988" y="2882900"/>
            <a:ext cx="1778000" cy="487363"/>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predicate</a:t>
            </a:r>
          </a:p>
        </p:txBody>
      </p:sp>
      <p:sp>
        <p:nvSpPr>
          <p:cNvPr id="18451" name="文本框 18450"/>
          <p:cNvSpPr txBox="1"/>
          <p:nvPr/>
        </p:nvSpPr>
        <p:spPr>
          <a:xfrm>
            <a:off x="4573588" y="2921000"/>
            <a:ext cx="1735137"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else stmt</a:t>
            </a:r>
            <a:endParaRPr lang="en-US" altLang="zh-CN">
              <a:latin typeface="Arial" panose="020B0604020202020204" pitchFamily="34" charset="0"/>
              <a:ea typeface="楷体_GB2312" panose="02010609030101010101" charset="-122"/>
            </a:endParaRPr>
          </a:p>
        </p:txBody>
      </p:sp>
      <p:sp>
        <p:nvSpPr>
          <p:cNvPr id="18452" name="文本框 18451"/>
          <p:cNvSpPr txBox="1"/>
          <p:nvPr/>
        </p:nvSpPr>
        <p:spPr>
          <a:xfrm>
            <a:off x="2211388" y="1803400"/>
            <a:ext cx="2205037"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if-else-stmt</a:t>
            </a:r>
            <a:endParaRPr lang="en-US" altLang="zh-CN">
              <a:latin typeface="Arial" panose="020B0604020202020204" pitchFamily="34" charset="0"/>
              <a:ea typeface="楷体_GB2312" panose="02010609030101010101" charset="-122"/>
            </a:endParaRPr>
          </a:p>
        </p:txBody>
      </p:sp>
      <p:sp>
        <p:nvSpPr>
          <p:cNvPr id="18453" name="文本框 18452"/>
          <p:cNvSpPr txBox="1"/>
          <p:nvPr/>
        </p:nvSpPr>
        <p:spPr>
          <a:xfrm>
            <a:off x="2357438" y="2927350"/>
            <a:ext cx="1870075"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then-stmt</a:t>
            </a:r>
          </a:p>
        </p:txBody>
      </p:sp>
      <p:sp>
        <p:nvSpPr>
          <p:cNvPr id="18454" name="文本框 18453"/>
          <p:cNvSpPr txBox="1"/>
          <p:nvPr/>
        </p:nvSpPr>
        <p:spPr>
          <a:xfrm>
            <a:off x="4795838" y="3810000"/>
            <a:ext cx="1292225"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assign </a:t>
            </a:r>
          </a:p>
        </p:txBody>
      </p:sp>
      <p:cxnSp>
        <p:nvCxnSpPr>
          <p:cNvPr id="18455" name="直接箭头连接符 18454"/>
          <p:cNvCxnSpPr/>
          <p:nvPr/>
        </p:nvCxnSpPr>
        <p:spPr>
          <a:xfrm flipH="1">
            <a:off x="1169988" y="3343275"/>
            <a:ext cx="85725" cy="450850"/>
          </a:xfrm>
          <a:prstGeom prst="straightConnector1">
            <a:avLst/>
          </a:prstGeom>
          <a:ln w="19050" cap="flat" cmpd="sng">
            <a:solidFill>
              <a:schemeClr val="tx1"/>
            </a:solidFill>
            <a:prstDash val="solid"/>
            <a:round/>
            <a:headEnd type="none" w="med" len="med"/>
            <a:tailEnd type="stealth" w="lg" len="lg"/>
          </a:ln>
        </p:spPr>
      </p:cxnSp>
      <p:cxnSp>
        <p:nvCxnSpPr>
          <p:cNvPr id="18456" name="直接箭头连接符 18455"/>
          <p:cNvCxnSpPr>
            <a:stCxn id="18451" idx="2"/>
            <a:endCxn id="18454" idx="0"/>
          </p:cNvCxnSpPr>
          <p:nvPr/>
        </p:nvCxnSpPr>
        <p:spPr>
          <a:xfrm>
            <a:off x="5441950" y="3408363"/>
            <a:ext cx="0" cy="401637"/>
          </a:xfrm>
          <a:prstGeom prst="straightConnector1">
            <a:avLst/>
          </a:prstGeom>
          <a:ln w="19050" cap="flat" cmpd="sng">
            <a:solidFill>
              <a:schemeClr val="tx1"/>
            </a:solidFill>
            <a:prstDash val="solid"/>
            <a:round/>
            <a:headEnd type="none" w="med" len="med"/>
            <a:tailEnd type="stealth" w="lg" len="lg"/>
          </a:ln>
        </p:spPr>
      </p:cxnSp>
      <p:cxnSp>
        <p:nvCxnSpPr>
          <p:cNvPr id="18457" name="直接箭头连接符 18456"/>
          <p:cNvCxnSpPr>
            <a:stCxn id="18452" idx="2"/>
            <a:endCxn id="18450" idx="0"/>
          </p:cNvCxnSpPr>
          <p:nvPr/>
        </p:nvCxnSpPr>
        <p:spPr>
          <a:xfrm flipH="1">
            <a:off x="1423988" y="2290763"/>
            <a:ext cx="1890712" cy="592137"/>
          </a:xfrm>
          <a:prstGeom prst="straightConnector1">
            <a:avLst/>
          </a:prstGeom>
          <a:ln w="19050" cap="flat" cmpd="sng">
            <a:solidFill>
              <a:schemeClr val="tx1"/>
            </a:solidFill>
            <a:prstDash val="solid"/>
            <a:round/>
            <a:headEnd type="none" w="med" len="med"/>
            <a:tailEnd type="stealth" w="lg" len="lg"/>
          </a:ln>
        </p:spPr>
      </p:cxnSp>
      <p:cxnSp>
        <p:nvCxnSpPr>
          <p:cNvPr id="18458" name="直接箭头连接符 18457"/>
          <p:cNvCxnSpPr>
            <a:stCxn id="18452" idx="2"/>
            <a:endCxn id="18453" idx="0"/>
          </p:cNvCxnSpPr>
          <p:nvPr/>
        </p:nvCxnSpPr>
        <p:spPr>
          <a:xfrm flipH="1">
            <a:off x="3292475" y="2290763"/>
            <a:ext cx="22225" cy="636587"/>
          </a:xfrm>
          <a:prstGeom prst="straightConnector1">
            <a:avLst/>
          </a:prstGeom>
          <a:ln w="19050" cap="flat" cmpd="sng">
            <a:solidFill>
              <a:schemeClr val="tx1"/>
            </a:solidFill>
            <a:prstDash val="solid"/>
            <a:round/>
            <a:headEnd type="none" w="med" len="med"/>
            <a:tailEnd type="stealth" w="lg" len="lg"/>
          </a:ln>
        </p:spPr>
      </p:cxnSp>
      <p:cxnSp>
        <p:nvCxnSpPr>
          <p:cNvPr id="18459" name="直接箭头连接符 18458"/>
          <p:cNvCxnSpPr>
            <a:stCxn id="18452" idx="2"/>
            <a:endCxn id="18451" idx="0"/>
          </p:cNvCxnSpPr>
          <p:nvPr/>
        </p:nvCxnSpPr>
        <p:spPr>
          <a:xfrm>
            <a:off x="3314700" y="2290763"/>
            <a:ext cx="2127250" cy="630237"/>
          </a:xfrm>
          <a:prstGeom prst="straightConnector1">
            <a:avLst/>
          </a:prstGeom>
          <a:ln w="19050" cap="flat" cmpd="sng">
            <a:solidFill>
              <a:schemeClr val="tx1"/>
            </a:solidFill>
            <a:prstDash val="solid"/>
            <a:round/>
            <a:headEnd type="none" w="med" len="med"/>
            <a:tailEnd type="stealth" w="lg" len="lg"/>
          </a:ln>
        </p:spPr>
      </p:cxnSp>
      <p:sp>
        <p:nvSpPr>
          <p:cNvPr id="18460" name="矩形 18459"/>
          <p:cNvSpPr/>
          <p:nvPr/>
        </p:nvSpPr>
        <p:spPr>
          <a:xfrm>
            <a:off x="2676525" y="3875088"/>
            <a:ext cx="1304925" cy="495300"/>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8461" name="文本框 18460"/>
          <p:cNvSpPr txBox="1"/>
          <p:nvPr/>
        </p:nvSpPr>
        <p:spPr>
          <a:xfrm>
            <a:off x="2700338" y="3803650"/>
            <a:ext cx="1292225"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assign </a:t>
            </a:r>
            <a:endParaRPr lang="en-US" altLang="zh-CN">
              <a:latin typeface="Arial" panose="020B0604020202020204" pitchFamily="34" charset="0"/>
              <a:ea typeface="楷体_GB2312" panose="02010609030101010101" charset="-122"/>
            </a:endParaRPr>
          </a:p>
        </p:txBody>
      </p:sp>
      <p:cxnSp>
        <p:nvCxnSpPr>
          <p:cNvPr id="18462" name="直接箭头连接符 18461"/>
          <p:cNvCxnSpPr>
            <a:stCxn id="18453" idx="2"/>
            <a:endCxn id="18461" idx="0"/>
          </p:cNvCxnSpPr>
          <p:nvPr/>
        </p:nvCxnSpPr>
        <p:spPr>
          <a:xfrm>
            <a:off x="3292475" y="3414713"/>
            <a:ext cx="53975" cy="388937"/>
          </a:xfrm>
          <a:prstGeom prst="straightConnector1">
            <a:avLst/>
          </a:prstGeom>
          <a:ln w="19050" cap="flat" cmpd="sng">
            <a:solidFill>
              <a:schemeClr val="tx1"/>
            </a:solidFill>
            <a:prstDash val="solid"/>
            <a:round/>
            <a:headEnd type="none" w="med" len="med"/>
            <a:tailEnd type="stealth" w="lg" len="lg"/>
          </a:ln>
        </p:spPr>
      </p:cxnSp>
      <p:sp>
        <p:nvSpPr>
          <p:cNvPr id="18463" name="文本框 18462"/>
          <p:cNvSpPr txBox="1"/>
          <p:nvPr/>
        </p:nvSpPr>
        <p:spPr>
          <a:xfrm>
            <a:off x="623888" y="4660900"/>
            <a:ext cx="1152525"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x == y</a:t>
            </a:r>
            <a:endParaRPr lang="en-US" altLang="zh-CN">
              <a:latin typeface="Arial" panose="020B0604020202020204" pitchFamily="34" charset="0"/>
              <a:ea typeface="楷体_GB2312" panose="02010609030101010101" charset="-122"/>
            </a:endParaRPr>
          </a:p>
        </p:txBody>
      </p:sp>
      <p:sp>
        <p:nvSpPr>
          <p:cNvPr id="18464" name="文本框 18463"/>
          <p:cNvSpPr txBox="1"/>
          <p:nvPr/>
        </p:nvSpPr>
        <p:spPr>
          <a:xfrm>
            <a:off x="2751138" y="4699000"/>
            <a:ext cx="928687"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z = 1</a:t>
            </a:r>
            <a:endParaRPr lang="en-US" altLang="zh-CN">
              <a:latin typeface="Arial" panose="020B0604020202020204" pitchFamily="34" charset="0"/>
              <a:ea typeface="楷体_GB2312" panose="02010609030101010101" charset="-122"/>
            </a:endParaRPr>
          </a:p>
        </p:txBody>
      </p:sp>
      <p:sp>
        <p:nvSpPr>
          <p:cNvPr id="18465" name="文本框 18464"/>
          <p:cNvSpPr txBox="1"/>
          <p:nvPr/>
        </p:nvSpPr>
        <p:spPr>
          <a:xfrm>
            <a:off x="4821238" y="4724400"/>
            <a:ext cx="1092200" cy="487363"/>
          </a:xfrm>
          <a:prstGeom prst="rect">
            <a:avLst/>
          </a:prstGeom>
          <a:noFill/>
          <a:ln w="9525">
            <a:noFill/>
          </a:ln>
        </p:spPr>
        <p:txBody>
          <a:bodyPr wrap="none" anchor="t" anchorCtr="0">
            <a:spAutoFit/>
          </a:bodyPr>
          <a:lstStyle/>
          <a:p>
            <a:pPr indent="0" hangingPunct="0"/>
            <a:r>
              <a:rPr lang="en-US" altLang="zh-CN" sz="2800">
                <a:solidFill>
                  <a:schemeClr val="accent2"/>
                </a:solidFill>
                <a:latin typeface="Comic Sans MS" panose="030F0702030302020204" pitchFamily="2" charset="0"/>
                <a:ea typeface="楷体_GB2312" panose="02010609030101010101" charset="-122"/>
              </a:rPr>
              <a:t> z = 2</a:t>
            </a:r>
            <a:endParaRPr lang="en-US" altLang="zh-CN">
              <a:latin typeface="Arial" panose="020B0604020202020204" pitchFamily="34" charset="0"/>
              <a:ea typeface="楷体_GB2312" panose="02010609030101010101" charset="-122"/>
            </a:endParaRPr>
          </a:p>
        </p:txBody>
      </p:sp>
      <p:sp>
        <p:nvSpPr>
          <p:cNvPr id="21530"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1531"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1532" name="Rectangle 10"/>
          <p:cNvSpPr/>
          <p:nvPr/>
        </p:nvSpPr>
        <p:spPr>
          <a:xfrm>
            <a:off x="7407275" y="3498850"/>
            <a:ext cx="2447925" cy="550863"/>
          </a:xfrm>
          <a:prstGeom prst="rect">
            <a:avLst/>
          </a:prstGeom>
          <a:solidFill>
            <a:srgbClr val="FF00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1533" name="Rectangle 11"/>
          <p:cNvSpPr/>
          <p:nvPr/>
        </p:nvSpPr>
        <p:spPr>
          <a:xfrm>
            <a:off x="7407275" y="4038600"/>
            <a:ext cx="2447925" cy="550863"/>
          </a:xfrm>
          <a:prstGeom prst="rect">
            <a:avLst/>
          </a:prstGeom>
          <a:solidFill>
            <a:srgbClr val="ADADEB"/>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1534"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1535"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1536"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52"/>
                                        </p:tgtEl>
                                        <p:attrNameLst>
                                          <p:attrName>style.visibility</p:attrName>
                                        </p:attrNameLst>
                                      </p:cBhvr>
                                      <p:to>
                                        <p:strVal val="visible"/>
                                      </p:to>
                                    </p:set>
                                    <p:animEffect transition="in" filter="blinds(horizontal)">
                                      <p:cBhvr>
                                        <p:cTn id="7" dur="500"/>
                                        <p:tgtEl>
                                          <p:spTgt spid="184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50"/>
                                        </p:tgtEl>
                                        <p:attrNameLst>
                                          <p:attrName>style.visibility</p:attrName>
                                        </p:attrNameLst>
                                      </p:cBhvr>
                                      <p:to>
                                        <p:strVal val="visible"/>
                                      </p:to>
                                    </p:set>
                                    <p:animEffect transition="in" filter="blinds(horizontal)">
                                      <p:cBhvr>
                                        <p:cTn id="12" dur="500"/>
                                        <p:tgtEl>
                                          <p:spTgt spid="1845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8451"/>
                                        </p:tgtEl>
                                        <p:attrNameLst>
                                          <p:attrName>style.visibility</p:attrName>
                                        </p:attrNameLst>
                                      </p:cBhvr>
                                      <p:to>
                                        <p:strVal val="visible"/>
                                      </p:to>
                                    </p:set>
                                    <p:animEffect transition="in" filter="blinds(horizontal)">
                                      <p:cBhvr>
                                        <p:cTn id="15" dur="500"/>
                                        <p:tgtEl>
                                          <p:spTgt spid="1845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8453"/>
                                        </p:tgtEl>
                                        <p:attrNameLst>
                                          <p:attrName>style.visibility</p:attrName>
                                        </p:attrNameLst>
                                      </p:cBhvr>
                                      <p:to>
                                        <p:strVal val="visible"/>
                                      </p:to>
                                    </p:set>
                                    <p:animEffect transition="in" filter="blinds(horizontal)">
                                      <p:cBhvr>
                                        <p:cTn id="18" dur="500"/>
                                        <p:tgtEl>
                                          <p:spTgt spid="18453"/>
                                        </p:tgtEl>
                                      </p:cBhvr>
                                    </p:animEffect>
                                  </p:childTnLst>
                                </p:cTn>
                              </p:par>
                              <p:par>
                                <p:cTn id="19" presetID="3" presetClass="entr" presetSubtype="10" fill="hold" nodeType="withEffect">
                                  <p:stCondLst>
                                    <p:cond delay="0"/>
                                  </p:stCondLst>
                                  <p:childTnLst>
                                    <p:set>
                                      <p:cBhvr>
                                        <p:cTn id="20" dur="1" fill="hold">
                                          <p:stCondLst>
                                            <p:cond delay="0"/>
                                          </p:stCondLst>
                                        </p:cTn>
                                        <p:tgtEl>
                                          <p:spTgt spid="18457"/>
                                        </p:tgtEl>
                                        <p:attrNameLst>
                                          <p:attrName>style.visibility</p:attrName>
                                        </p:attrNameLst>
                                      </p:cBhvr>
                                      <p:to>
                                        <p:strVal val="visible"/>
                                      </p:to>
                                    </p:set>
                                    <p:animEffect transition="in" filter="blinds(horizontal)">
                                      <p:cBhvr>
                                        <p:cTn id="21" dur="500"/>
                                        <p:tgtEl>
                                          <p:spTgt spid="18457"/>
                                        </p:tgtEl>
                                      </p:cBhvr>
                                    </p:animEffect>
                                  </p:childTnLst>
                                </p:cTn>
                              </p:par>
                              <p:par>
                                <p:cTn id="22" presetID="3" presetClass="entr" presetSubtype="10" fill="hold" nodeType="withEffect">
                                  <p:stCondLst>
                                    <p:cond delay="0"/>
                                  </p:stCondLst>
                                  <p:childTnLst>
                                    <p:set>
                                      <p:cBhvr>
                                        <p:cTn id="23" dur="1" fill="hold">
                                          <p:stCondLst>
                                            <p:cond delay="0"/>
                                          </p:stCondLst>
                                        </p:cTn>
                                        <p:tgtEl>
                                          <p:spTgt spid="18458"/>
                                        </p:tgtEl>
                                        <p:attrNameLst>
                                          <p:attrName>style.visibility</p:attrName>
                                        </p:attrNameLst>
                                      </p:cBhvr>
                                      <p:to>
                                        <p:strVal val="visible"/>
                                      </p:to>
                                    </p:set>
                                    <p:animEffect transition="in" filter="blinds(horizontal)">
                                      <p:cBhvr>
                                        <p:cTn id="24" dur="500"/>
                                        <p:tgtEl>
                                          <p:spTgt spid="18458"/>
                                        </p:tgtEl>
                                      </p:cBhvr>
                                    </p:animEffect>
                                  </p:childTnLst>
                                </p:cTn>
                              </p:par>
                              <p:par>
                                <p:cTn id="25" presetID="3" presetClass="entr" presetSubtype="10" fill="hold" nodeType="withEffect">
                                  <p:stCondLst>
                                    <p:cond delay="0"/>
                                  </p:stCondLst>
                                  <p:childTnLst>
                                    <p:set>
                                      <p:cBhvr>
                                        <p:cTn id="26" dur="1" fill="hold">
                                          <p:stCondLst>
                                            <p:cond delay="0"/>
                                          </p:stCondLst>
                                        </p:cTn>
                                        <p:tgtEl>
                                          <p:spTgt spid="18459"/>
                                        </p:tgtEl>
                                        <p:attrNameLst>
                                          <p:attrName>style.visibility</p:attrName>
                                        </p:attrNameLst>
                                      </p:cBhvr>
                                      <p:to>
                                        <p:strVal val="visible"/>
                                      </p:to>
                                    </p:set>
                                    <p:animEffect transition="in" filter="blinds(horizontal)">
                                      <p:cBhvr>
                                        <p:cTn id="27" dur="500"/>
                                        <p:tgtEl>
                                          <p:spTgt spid="1845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434"/>
                                        </p:tgtEl>
                                        <p:attrNameLst>
                                          <p:attrName>style.visibility</p:attrName>
                                        </p:attrNameLst>
                                      </p:cBhvr>
                                      <p:to>
                                        <p:strVal val="visible"/>
                                      </p:to>
                                    </p:set>
                                    <p:animEffect transition="in" filter="blinds(horizontal)">
                                      <p:cBhvr>
                                        <p:cTn id="32" dur="500"/>
                                        <p:tgtEl>
                                          <p:spTgt spid="1843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8449"/>
                                        </p:tgtEl>
                                        <p:attrNameLst>
                                          <p:attrName>style.visibility</p:attrName>
                                        </p:attrNameLst>
                                      </p:cBhvr>
                                      <p:to>
                                        <p:strVal val="visible"/>
                                      </p:to>
                                    </p:set>
                                    <p:animEffect transition="in" filter="blinds(horizontal)">
                                      <p:cBhvr>
                                        <p:cTn id="35" dur="500"/>
                                        <p:tgtEl>
                                          <p:spTgt spid="18449"/>
                                        </p:tgtEl>
                                      </p:cBhvr>
                                    </p:animEffect>
                                  </p:childTnLst>
                                </p:cTn>
                              </p:par>
                              <p:par>
                                <p:cTn id="36" presetID="3" presetClass="entr" presetSubtype="10" fill="hold" nodeType="withEffect">
                                  <p:stCondLst>
                                    <p:cond delay="0"/>
                                  </p:stCondLst>
                                  <p:childTnLst>
                                    <p:set>
                                      <p:cBhvr>
                                        <p:cTn id="37" dur="1" fill="hold">
                                          <p:stCondLst>
                                            <p:cond delay="0"/>
                                          </p:stCondLst>
                                        </p:cTn>
                                        <p:tgtEl>
                                          <p:spTgt spid="18455"/>
                                        </p:tgtEl>
                                        <p:attrNameLst>
                                          <p:attrName>style.visibility</p:attrName>
                                        </p:attrNameLst>
                                      </p:cBhvr>
                                      <p:to>
                                        <p:strVal val="visible"/>
                                      </p:to>
                                    </p:set>
                                    <p:animEffect transition="in" filter="blinds(horizontal)">
                                      <p:cBhvr>
                                        <p:cTn id="38" dur="500"/>
                                        <p:tgtEl>
                                          <p:spTgt spid="18455"/>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463"/>
                                        </p:tgtEl>
                                        <p:attrNameLst>
                                          <p:attrName>style.visibility</p:attrName>
                                        </p:attrNameLst>
                                      </p:cBhvr>
                                      <p:to>
                                        <p:strVal val="visible"/>
                                      </p:to>
                                    </p:set>
                                    <p:animEffect transition="in" filter="blinds(horizontal)">
                                      <p:cBhvr>
                                        <p:cTn id="43" dur="500"/>
                                        <p:tgtEl>
                                          <p:spTgt spid="1846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8460"/>
                                        </p:tgtEl>
                                        <p:attrNameLst>
                                          <p:attrName>style.visibility</p:attrName>
                                        </p:attrNameLst>
                                      </p:cBhvr>
                                      <p:to>
                                        <p:strVal val="visible"/>
                                      </p:to>
                                    </p:set>
                                    <p:animEffect transition="in" filter="blinds(horizontal)">
                                      <p:cBhvr>
                                        <p:cTn id="48" dur="500"/>
                                        <p:tgtEl>
                                          <p:spTgt spid="18460"/>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8461"/>
                                        </p:tgtEl>
                                        <p:attrNameLst>
                                          <p:attrName>style.visibility</p:attrName>
                                        </p:attrNameLst>
                                      </p:cBhvr>
                                      <p:to>
                                        <p:strVal val="visible"/>
                                      </p:to>
                                    </p:set>
                                    <p:animEffect transition="in" filter="blinds(horizontal)">
                                      <p:cBhvr>
                                        <p:cTn id="51" dur="500"/>
                                        <p:tgtEl>
                                          <p:spTgt spid="18461"/>
                                        </p:tgtEl>
                                      </p:cBhvr>
                                    </p:animEffect>
                                  </p:childTnLst>
                                </p:cTn>
                              </p:par>
                              <p:par>
                                <p:cTn id="52" presetID="3" presetClass="entr" presetSubtype="10" fill="hold" nodeType="withEffect">
                                  <p:stCondLst>
                                    <p:cond delay="0"/>
                                  </p:stCondLst>
                                  <p:childTnLst>
                                    <p:set>
                                      <p:cBhvr>
                                        <p:cTn id="53" dur="1" fill="hold">
                                          <p:stCondLst>
                                            <p:cond delay="0"/>
                                          </p:stCondLst>
                                        </p:cTn>
                                        <p:tgtEl>
                                          <p:spTgt spid="18462"/>
                                        </p:tgtEl>
                                        <p:attrNameLst>
                                          <p:attrName>style.visibility</p:attrName>
                                        </p:attrNameLst>
                                      </p:cBhvr>
                                      <p:to>
                                        <p:strVal val="visible"/>
                                      </p:to>
                                    </p:set>
                                    <p:animEffect transition="in" filter="blinds(horizontal)">
                                      <p:cBhvr>
                                        <p:cTn id="54" dur="500"/>
                                        <p:tgtEl>
                                          <p:spTgt spid="18462"/>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8464"/>
                                        </p:tgtEl>
                                        <p:attrNameLst>
                                          <p:attrName>style.visibility</p:attrName>
                                        </p:attrNameLst>
                                      </p:cBhvr>
                                      <p:to>
                                        <p:strVal val="visible"/>
                                      </p:to>
                                    </p:set>
                                    <p:animEffect transition="in" filter="blinds(horizontal)">
                                      <p:cBhvr>
                                        <p:cTn id="59" dur="500"/>
                                        <p:tgtEl>
                                          <p:spTgt spid="18464"/>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18435"/>
                                        </p:tgtEl>
                                        <p:attrNameLst>
                                          <p:attrName>style.visibility</p:attrName>
                                        </p:attrNameLst>
                                      </p:cBhvr>
                                      <p:to>
                                        <p:strVal val="visible"/>
                                      </p:to>
                                    </p:set>
                                    <p:animEffect transition="in" filter="blinds(horizontal)">
                                      <p:cBhvr>
                                        <p:cTn id="64" dur="500"/>
                                        <p:tgtEl>
                                          <p:spTgt spid="18435"/>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8454"/>
                                        </p:tgtEl>
                                        <p:attrNameLst>
                                          <p:attrName>style.visibility</p:attrName>
                                        </p:attrNameLst>
                                      </p:cBhvr>
                                      <p:to>
                                        <p:strVal val="visible"/>
                                      </p:to>
                                    </p:set>
                                    <p:animEffect transition="in" filter="blinds(horizontal)">
                                      <p:cBhvr>
                                        <p:cTn id="67" dur="500"/>
                                        <p:tgtEl>
                                          <p:spTgt spid="18454"/>
                                        </p:tgtEl>
                                      </p:cBhvr>
                                    </p:animEffect>
                                  </p:childTnLst>
                                </p:cTn>
                              </p:par>
                              <p:par>
                                <p:cTn id="68" presetID="3" presetClass="entr" presetSubtype="10" fill="hold" nodeType="withEffect">
                                  <p:stCondLst>
                                    <p:cond delay="0"/>
                                  </p:stCondLst>
                                  <p:childTnLst>
                                    <p:set>
                                      <p:cBhvr>
                                        <p:cTn id="69" dur="1" fill="hold">
                                          <p:stCondLst>
                                            <p:cond delay="0"/>
                                          </p:stCondLst>
                                        </p:cTn>
                                        <p:tgtEl>
                                          <p:spTgt spid="18456"/>
                                        </p:tgtEl>
                                        <p:attrNameLst>
                                          <p:attrName>style.visibility</p:attrName>
                                        </p:attrNameLst>
                                      </p:cBhvr>
                                      <p:to>
                                        <p:strVal val="visible"/>
                                      </p:to>
                                    </p:set>
                                    <p:animEffect transition="in" filter="blinds(horizontal)">
                                      <p:cBhvr>
                                        <p:cTn id="70" dur="500"/>
                                        <p:tgtEl>
                                          <p:spTgt spid="18456"/>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8465"/>
                                        </p:tgtEl>
                                        <p:attrNameLst>
                                          <p:attrName>style.visibility</p:attrName>
                                        </p:attrNameLst>
                                      </p:cBhvr>
                                      <p:to>
                                        <p:strVal val="visible"/>
                                      </p:to>
                                    </p:set>
                                    <p:animEffect transition="in" filter="blinds(horizontal)">
                                      <p:cBhvr>
                                        <p:cTn id="75" dur="500"/>
                                        <p:tgtEl>
                                          <p:spTgt spid="18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9" grpId="0" bldLvl="0"/>
      <p:bldP spid="18450" grpId="0" bldLvl="0"/>
      <p:bldP spid="18451" grpId="0" bldLvl="0"/>
      <p:bldP spid="18452" grpId="0" bldLvl="0"/>
      <p:bldP spid="18453" grpId="0" bldLvl="0"/>
      <p:bldP spid="18454" grpId="0" bldLvl="0"/>
      <p:bldP spid="18461" grpId="0" bldLvl="0"/>
      <p:bldP spid="18463" grpId="0" bldLvl="0"/>
      <p:bldP spid="18464" grpId="0" bldLvl="0"/>
      <p:bldP spid="18465" grpId="0" bldLvl="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a:t>编译过程</a:t>
            </a:r>
            <a:r>
              <a:rPr lang="en-US" altLang="zh-CN"/>
              <a:t>——</a:t>
            </a:r>
            <a:r>
              <a:rPr lang="zh-CN" altLang="en-US"/>
              <a:t>语法分析</a:t>
            </a:r>
          </a:p>
        </p:txBody>
      </p:sp>
      <p:sp>
        <p:nvSpPr>
          <p:cNvPr id="20" name="Rectangle 3"/>
          <p:cNvSpPr txBox="1">
            <a:spLocks noChangeArrowheads="1"/>
          </p:cNvSpPr>
          <p:nvPr/>
        </p:nvSpPr>
        <p:spPr>
          <a:xfrm>
            <a:off x="945039" y="1619693"/>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任务：在词法分析的基础上，根据语法规则把单词符号串分解成各类</a:t>
            </a:r>
            <a:r>
              <a:rPr kumimoji="0" lang="zh-CN" altLang="en-US" sz="28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rPr>
              <a:t>语法单位</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rPr>
              <a:t>语法范畴</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依循的原则：语法规则</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描述工具：上下文无关文法</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Z     :=  X    +    0.618   *    Y</a:t>
            </a:r>
          </a:p>
        </p:txBody>
      </p:sp>
      <p:sp>
        <p:nvSpPr>
          <p:cNvPr id="21" name="Text Box 7"/>
          <p:cNvSpPr txBox="1">
            <a:spLocks noChangeArrowheads="1"/>
          </p:cNvSpPr>
          <p:nvPr/>
        </p:nvSpPr>
        <p:spPr bwMode="auto">
          <a:xfrm>
            <a:off x="4473227" y="4491162"/>
            <a:ext cx="1723549" cy="461665"/>
          </a:xfrm>
          <a:prstGeom prst="rect">
            <a:avLst/>
          </a:prstGeom>
          <a:noFill/>
          <a:ln w="12700">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rPr>
              <a:t>算术表达式</a:t>
            </a:r>
            <a:endParaRPr kumimoji="0" lang="en-GB" altLang="zh-CN" sz="2400" b="0" i="0" u="none" strike="noStrike" kern="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endParaRPr>
          </a:p>
        </p:txBody>
      </p:sp>
      <p:sp>
        <p:nvSpPr>
          <p:cNvPr id="22" name="Text Box 9"/>
          <p:cNvSpPr txBox="1">
            <a:spLocks noChangeArrowheads="1"/>
          </p:cNvSpPr>
          <p:nvPr/>
        </p:nvSpPr>
        <p:spPr bwMode="auto">
          <a:xfrm>
            <a:off x="2950646" y="5259461"/>
            <a:ext cx="1723549" cy="461665"/>
          </a:xfrm>
          <a:prstGeom prst="rect">
            <a:avLst/>
          </a:prstGeom>
          <a:noFill/>
          <a:ln w="12700">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rPr>
              <a:t>算术表达式</a:t>
            </a:r>
            <a:endParaRPr kumimoji="0" lang="en-GB" altLang="zh-CN" sz="2400" b="0" i="0" u="none" strike="noStrike" kern="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endParaRPr>
          </a:p>
        </p:txBody>
      </p:sp>
      <p:sp>
        <p:nvSpPr>
          <p:cNvPr id="23" name="Text Box 10"/>
          <p:cNvSpPr txBox="1">
            <a:spLocks noChangeArrowheads="1"/>
          </p:cNvSpPr>
          <p:nvPr/>
        </p:nvSpPr>
        <p:spPr bwMode="auto">
          <a:xfrm>
            <a:off x="1852956" y="6098265"/>
            <a:ext cx="1500732" cy="461665"/>
          </a:xfrm>
          <a:prstGeom prst="rect">
            <a:avLst/>
          </a:prstGeom>
          <a:noFill/>
          <a:ln w="12700">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rPr>
              <a:t> </a:t>
            </a:r>
            <a:r>
              <a:rPr kumimoji="0" lang="en-GB" altLang="zh-CN" sz="2400" b="0" i="0" u="none" strike="noStrike" kern="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rPr>
              <a:t>赋值语句</a:t>
            </a:r>
            <a:endParaRPr kumimoji="0" lang="en-GB" altLang="zh-CN" sz="2400" b="0" i="0" u="none" strike="noStrike" kern="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endParaRPr>
          </a:p>
        </p:txBody>
      </p:sp>
      <p:grpSp>
        <p:nvGrpSpPr>
          <p:cNvPr id="24" name="Group 14"/>
          <p:cNvGrpSpPr>
            <a:grpSpLocks/>
          </p:cNvGrpSpPr>
          <p:nvPr/>
        </p:nvGrpSpPr>
        <p:grpSpPr bwMode="auto">
          <a:xfrm>
            <a:off x="4541436" y="4119763"/>
            <a:ext cx="1388533" cy="378841"/>
            <a:chOff x="1770" y="2750"/>
            <a:chExt cx="656" cy="272"/>
          </a:xfrm>
        </p:grpSpPr>
        <p:sp>
          <p:nvSpPr>
            <p:cNvPr id="25" name="Line 11"/>
            <p:cNvSpPr>
              <a:spLocks noChangeShapeType="1"/>
            </p:cNvSpPr>
            <p:nvPr/>
          </p:nvSpPr>
          <p:spPr bwMode="auto">
            <a:xfrm>
              <a:off x="1770" y="2787"/>
              <a:ext cx="318" cy="227"/>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26" name="Line 12"/>
            <p:cNvSpPr>
              <a:spLocks noChangeShapeType="1"/>
            </p:cNvSpPr>
            <p:nvPr/>
          </p:nvSpPr>
          <p:spPr bwMode="auto">
            <a:xfrm flipH="1">
              <a:off x="2109" y="2750"/>
              <a:ext cx="136" cy="272"/>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27" name="Line 13"/>
            <p:cNvSpPr>
              <a:spLocks noChangeShapeType="1"/>
            </p:cNvSpPr>
            <p:nvPr/>
          </p:nvSpPr>
          <p:spPr bwMode="auto">
            <a:xfrm flipH="1">
              <a:off x="2109" y="2750"/>
              <a:ext cx="317" cy="272"/>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grpSp>
      <p:grpSp>
        <p:nvGrpSpPr>
          <p:cNvPr id="28" name="Group 20"/>
          <p:cNvGrpSpPr>
            <a:grpSpLocks/>
          </p:cNvGrpSpPr>
          <p:nvPr/>
        </p:nvGrpSpPr>
        <p:grpSpPr bwMode="auto">
          <a:xfrm>
            <a:off x="3196876" y="4203187"/>
            <a:ext cx="1276351" cy="1031157"/>
            <a:chOff x="1164" y="2750"/>
            <a:chExt cx="603" cy="725"/>
          </a:xfrm>
        </p:grpSpPr>
        <p:sp>
          <p:nvSpPr>
            <p:cNvPr id="29" name="Line 16"/>
            <p:cNvSpPr>
              <a:spLocks noChangeShapeType="1"/>
            </p:cNvSpPr>
            <p:nvPr/>
          </p:nvSpPr>
          <p:spPr bwMode="auto">
            <a:xfrm>
              <a:off x="1164" y="2795"/>
              <a:ext cx="273" cy="672"/>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30" name="Line 17"/>
            <p:cNvSpPr>
              <a:spLocks noChangeShapeType="1"/>
            </p:cNvSpPr>
            <p:nvPr/>
          </p:nvSpPr>
          <p:spPr bwMode="auto">
            <a:xfrm>
              <a:off x="1429" y="2750"/>
              <a:ext cx="21" cy="725"/>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31" name="Line 18"/>
            <p:cNvSpPr>
              <a:spLocks noChangeShapeType="1"/>
            </p:cNvSpPr>
            <p:nvPr/>
          </p:nvSpPr>
          <p:spPr bwMode="auto">
            <a:xfrm flipH="1">
              <a:off x="1450" y="3203"/>
              <a:ext cx="317" cy="272"/>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grpSp>
      <p:grpSp>
        <p:nvGrpSpPr>
          <p:cNvPr id="32" name="Group 25"/>
          <p:cNvGrpSpPr>
            <a:grpSpLocks/>
          </p:cNvGrpSpPr>
          <p:nvPr/>
        </p:nvGrpSpPr>
        <p:grpSpPr bwMode="auto">
          <a:xfrm>
            <a:off x="1710090" y="4261817"/>
            <a:ext cx="1564217" cy="1836448"/>
            <a:chOff x="612" y="2750"/>
            <a:chExt cx="739" cy="1178"/>
          </a:xfrm>
        </p:grpSpPr>
        <p:sp>
          <p:nvSpPr>
            <p:cNvPr id="33" name="Line 22"/>
            <p:cNvSpPr>
              <a:spLocks noChangeShapeType="1"/>
            </p:cNvSpPr>
            <p:nvPr/>
          </p:nvSpPr>
          <p:spPr bwMode="auto">
            <a:xfrm>
              <a:off x="612" y="2750"/>
              <a:ext cx="409" cy="1170"/>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34" name="Line 23"/>
            <p:cNvSpPr>
              <a:spLocks noChangeShapeType="1"/>
            </p:cNvSpPr>
            <p:nvPr/>
          </p:nvSpPr>
          <p:spPr bwMode="auto">
            <a:xfrm>
              <a:off x="839" y="2795"/>
              <a:ext cx="195" cy="1133"/>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35" name="Line 24"/>
            <p:cNvSpPr>
              <a:spLocks noChangeShapeType="1"/>
            </p:cNvSpPr>
            <p:nvPr/>
          </p:nvSpPr>
          <p:spPr bwMode="auto">
            <a:xfrm flipH="1">
              <a:off x="1034" y="3656"/>
              <a:ext cx="317" cy="272"/>
            </a:xfrm>
            <a:prstGeom prst="line">
              <a:avLst/>
            </a:prstGeom>
            <a:noFill/>
            <a:ln w="19050">
              <a:solidFill>
                <a:srgbClr val="1F497D"/>
              </a:solidFill>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grpSp>
      <p:sp>
        <p:nvSpPr>
          <p:cNvPr id="19"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18</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226538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wipe(left)">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wipe(left)">
                                      <p:cBhvr>
                                        <p:cTn id="17" dur="500"/>
                                        <p:tgtEl>
                                          <p:spTgt spid="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animEffect transition="in" filter="wipe(left)">
                                      <p:cBhvr>
                                        <p:cTn id="22" dur="500"/>
                                        <p:tgtEl>
                                          <p:spTgt spid="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up)">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up)">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up)">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utoUpdateAnimBg="0"/>
      <p:bldP spid="21" grpId="0"/>
      <p:bldP spid="22" grpId="0"/>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Arial" panose="020B0604020202020204" pitchFamily="34" charset="0"/>
              </a:rPr>
              <a:t>语义分析</a:t>
            </a:r>
            <a:endParaRPr lang="zh-CN" altLang="en-US" sz="4000" dirty="0">
              <a:latin typeface="微软雅黑" panose="020B0503020204020204" pitchFamily="2" charset="-122"/>
              <a:ea typeface="微软雅黑" panose="020B0503020204020204" pitchFamily="2" charset="-122"/>
            </a:endParaRPr>
          </a:p>
        </p:txBody>
      </p:sp>
      <p:sp>
        <p:nvSpPr>
          <p:cNvPr id="23554" name="TextBox 4"/>
          <p:cNvSpPr txBox="1"/>
          <p:nvPr/>
        </p:nvSpPr>
        <p:spPr>
          <a:xfrm>
            <a:off x="6750050" y="1395413"/>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3555" name="Footer Placeholder 6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3556" name="Slide Number Placeholder 6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19</a:t>
            </a:fld>
            <a:endParaRPr lang="en-GB" altLang="en-US" sz="1200" dirty="0">
              <a:latin typeface="Comic Sans MS" panose="030F0702030302020204" pitchFamily="2" charset="0"/>
              <a:ea typeface="宋体" panose="02010600030101010101" pitchFamily="2" charset="-122"/>
            </a:endParaRPr>
          </a:p>
        </p:txBody>
      </p:sp>
      <p:sp>
        <p:nvSpPr>
          <p:cNvPr id="23557" name="Date Placeholder 6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3558" name="文本框 20493"/>
          <p:cNvSpPr txBox="1"/>
          <p:nvPr/>
        </p:nvSpPr>
        <p:spPr>
          <a:xfrm>
            <a:off x="410094" y="5627687"/>
            <a:ext cx="7100887"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This   line     is         a     longer   sentence</a:t>
            </a:r>
            <a:endParaRPr lang="en-US" altLang="zh-CN">
              <a:latin typeface="Arial" panose="020B0604020202020204" pitchFamily="34" charset="0"/>
              <a:ea typeface="楷体_GB2312" panose="02010609030101010101" charset="-122"/>
            </a:endParaRPr>
          </a:p>
        </p:txBody>
      </p:sp>
      <p:sp>
        <p:nvSpPr>
          <p:cNvPr id="23559" name="文本框 20494"/>
          <p:cNvSpPr txBox="1"/>
          <p:nvPr/>
        </p:nvSpPr>
        <p:spPr>
          <a:xfrm>
            <a:off x="-44444" y="5007426"/>
            <a:ext cx="2454518" cy="493084"/>
          </a:xfrm>
          <a:prstGeom prst="rect">
            <a:avLst/>
          </a:prstGeom>
          <a:noFill/>
          <a:ln w="9525">
            <a:noFill/>
          </a:ln>
        </p:spPr>
        <p:txBody>
          <a:bodyPr wrap="none" anchor="t" anchorCtr="0">
            <a:spAutoFit/>
          </a:bodyPr>
          <a:lstStyle/>
          <a:p>
            <a:pPr hangingPunct="0"/>
            <a:r>
              <a:rPr lang="en-US" altLang="zh-CN" sz="2800" dirty="0">
                <a:solidFill>
                  <a:schemeClr val="accent2"/>
                </a:solidFill>
                <a:latin typeface="Comic Sans MS" panose="030F0702030302020204" pitchFamily="2" charset="0"/>
                <a:ea typeface="楷体_GB2312" panose="02010609030101010101" charset="-122"/>
              </a:rPr>
              <a:t>pronoun  noun</a:t>
            </a:r>
          </a:p>
        </p:txBody>
      </p:sp>
      <p:sp>
        <p:nvSpPr>
          <p:cNvPr id="23560" name="文本框 20495"/>
          <p:cNvSpPr txBox="1"/>
          <p:nvPr/>
        </p:nvSpPr>
        <p:spPr>
          <a:xfrm>
            <a:off x="619644" y="4059237"/>
            <a:ext cx="1439862"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subject</a:t>
            </a:r>
            <a:endParaRPr lang="en-US" altLang="zh-CN">
              <a:latin typeface="Arial" panose="020B0604020202020204" pitchFamily="34" charset="0"/>
              <a:ea typeface="楷体_GB2312" panose="02010609030101010101" charset="-122"/>
            </a:endParaRPr>
          </a:p>
        </p:txBody>
      </p:sp>
      <p:sp>
        <p:nvSpPr>
          <p:cNvPr id="23561" name="文本框 20496"/>
          <p:cNvSpPr txBox="1"/>
          <p:nvPr/>
        </p:nvSpPr>
        <p:spPr>
          <a:xfrm>
            <a:off x="4480444" y="4097337"/>
            <a:ext cx="1270000"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object</a:t>
            </a:r>
            <a:endParaRPr lang="en-US" altLang="zh-CN">
              <a:latin typeface="Arial" panose="020B0604020202020204" pitchFamily="34" charset="0"/>
              <a:ea typeface="楷体_GB2312" panose="02010609030101010101" charset="-122"/>
            </a:endParaRPr>
          </a:p>
        </p:txBody>
      </p:sp>
      <p:sp>
        <p:nvSpPr>
          <p:cNvPr id="23562" name="文本框 20497"/>
          <p:cNvSpPr txBox="1"/>
          <p:nvPr/>
        </p:nvSpPr>
        <p:spPr>
          <a:xfrm>
            <a:off x="2429394" y="2979737"/>
            <a:ext cx="1754006" cy="493084"/>
          </a:xfrm>
          <a:prstGeom prst="rect">
            <a:avLst/>
          </a:prstGeom>
          <a:noFill/>
          <a:ln w="9525">
            <a:noFill/>
          </a:ln>
        </p:spPr>
        <p:txBody>
          <a:bodyPr wrap="none" anchor="t" anchorCtr="0">
            <a:spAutoFit/>
          </a:bodyPr>
          <a:lstStyle/>
          <a:p>
            <a:pPr indent="0" hangingPunct="0"/>
            <a:r>
              <a:rPr lang="en-US" altLang="zh-CN" sz="2800" dirty="0">
                <a:latin typeface="Comic Sans MS" panose="030F0702030302020204" pitchFamily="2" charset="0"/>
                <a:ea typeface="楷体_GB2312" panose="02010609030101010101" charset="-122"/>
              </a:rPr>
              <a:t>Sentence</a:t>
            </a:r>
            <a:endParaRPr lang="en-US" altLang="zh-CN" dirty="0">
              <a:latin typeface="Arial" panose="020B0604020202020204" pitchFamily="34" charset="0"/>
              <a:ea typeface="楷体_GB2312" panose="02010609030101010101" charset="-122"/>
            </a:endParaRPr>
          </a:p>
        </p:txBody>
      </p:sp>
      <p:sp>
        <p:nvSpPr>
          <p:cNvPr id="23563" name="文本框 20498"/>
          <p:cNvSpPr txBox="1"/>
          <p:nvPr/>
        </p:nvSpPr>
        <p:spPr>
          <a:xfrm>
            <a:off x="2397644" y="4992687"/>
            <a:ext cx="933450" cy="487363"/>
          </a:xfrm>
          <a:prstGeom prst="rect">
            <a:avLst/>
          </a:prstGeom>
          <a:noFill/>
          <a:ln w="9525">
            <a:noFill/>
          </a:ln>
        </p:spPr>
        <p:txBody>
          <a:bodyPr wrap="none" anchor="t" anchorCtr="0">
            <a:spAutoFit/>
          </a:bodyPr>
          <a:lstStyle/>
          <a:p>
            <a:pPr indent="0" hangingPunct="0"/>
            <a:r>
              <a:rPr lang="en-US" altLang="zh-CN" sz="2800">
                <a:latin typeface="Comic Sans MS" panose="030F0702030302020204" pitchFamily="2" charset="0"/>
                <a:ea typeface="楷体_GB2312" panose="02010609030101010101" charset="-122"/>
              </a:rPr>
              <a:t>verb</a:t>
            </a:r>
          </a:p>
        </p:txBody>
      </p:sp>
      <p:sp>
        <p:nvSpPr>
          <p:cNvPr id="23564" name="文本框 20499"/>
          <p:cNvSpPr txBox="1"/>
          <p:nvPr/>
        </p:nvSpPr>
        <p:spPr>
          <a:xfrm>
            <a:off x="3369194" y="4986337"/>
            <a:ext cx="3603625" cy="487363"/>
          </a:xfrm>
          <a:prstGeom prst="rect">
            <a:avLst/>
          </a:prstGeom>
          <a:noFill/>
          <a:ln w="9525">
            <a:noFill/>
          </a:ln>
        </p:spPr>
        <p:txBody>
          <a:bodyPr wrap="none" anchor="t" anchorCtr="0">
            <a:spAutoFit/>
          </a:bodyPr>
          <a:lstStyle/>
          <a:p>
            <a:pPr indent="0" hangingPunct="0"/>
            <a:r>
              <a:rPr lang="en-US" altLang="zh-CN" sz="2800" dirty="0">
                <a:solidFill>
                  <a:schemeClr val="accent2"/>
                </a:solidFill>
                <a:latin typeface="Comic Sans MS" panose="030F0702030302020204" pitchFamily="2" charset="0"/>
                <a:ea typeface="楷体_GB2312" panose="02010609030101010101" charset="-122"/>
              </a:rPr>
              <a:t>article   adj.      noun</a:t>
            </a:r>
          </a:p>
        </p:txBody>
      </p:sp>
      <p:cxnSp>
        <p:nvCxnSpPr>
          <p:cNvPr id="23565" name="直接箭头连接符 20500"/>
          <p:cNvCxnSpPr/>
          <p:nvPr/>
        </p:nvCxnSpPr>
        <p:spPr>
          <a:xfrm flipH="1">
            <a:off x="1254644" y="4519612"/>
            <a:ext cx="85725" cy="450850"/>
          </a:xfrm>
          <a:prstGeom prst="straightConnector1">
            <a:avLst/>
          </a:prstGeom>
          <a:ln w="19050" cap="flat" cmpd="sng">
            <a:solidFill>
              <a:schemeClr val="tx1"/>
            </a:solidFill>
            <a:prstDash val="solid"/>
            <a:round/>
            <a:headEnd type="none" w="med" len="med"/>
            <a:tailEnd type="stealth" w="lg" len="lg"/>
          </a:ln>
        </p:spPr>
      </p:cxnSp>
      <p:cxnSp>
        <p:nvCxnSpPr>
          <p:cNvPr id="23566" name="直接箭头连接符 20501"/>
          <p:cNvCxnSpPr>
            <a:stCxn id="23561" idx="2"/>
            <a:endCxn id="23564" idx="0"/>
          </p:cNvCxnSpPr>
          <p:nvPr/>
        </p:nvCxnSpPr>
        <p:spPr>
          <a:xfrm>
            <a:off x="5115444" y="4540250"/>
            <a:ext cx="55562" cy="401637"/>
          </a:xfrm>
          <a:prstGeom prst="straightConnector1">
            <a:avLst/>
          </a:prstGeom>
          <a:ln w="19050" cap="flat" cmpd="sng">
            <a:solidFill>
              <a:schemeClr val="tx1"/>
            </a:solidFill>
            <a:prstDash val="solid"/>
            <a:round/>
            <a:headEnd type="none" w="med" len="med"/>
            <a:tailEnd type="stealth" w="lg" len="lg"/>
          </a:ln>
        </p:spPr>
      </p:cxnSp>
      <p:cxnSp>
        <p:nvCxnSpPr>
          <p:cNvPr id="23567" name="直接箭头连接符 20502"/>
          <p:cNvCxnSpPr>
            <a:stCxn id="23562" idx="2"/>
            <a:endCxn id="23560" idx="0"/>
          </p:cNvCxnSpPr>
          <p:nvPr/>
        </p:nvCxnSpPr>
        <p:spPr>
          <a:xfrm flipH="1">
            <a:off x="1339575" y="3472821"/>
            <a:ext cx="1966822" cy="586416"/>
          </a:xfrm>
          <a:prstGeom prst="straightConnector1">
            <a:avLst/>
          </a:prstGeom>
          <a:ln w="19050" cap="flat" cmpd="sng">
            <a:solidFill>
              <a:schemeClr val="tx1"/>
            </a:solidFill>
            <a:prstDash val="solid"/>
            <a:round/>
            <a:headEnd type="none" w="med" len="med"/>
            <a:tailEnd type="stealth" w="lg" len="lg"/>
          </a:ln>
        </p:spPr>
      </p:cxnSp>
      <p:cxnSp>
        <p:nvCxnSpPr>
          <p:cNvPr id="23568" name="直接箭头连接符 20503"/>
          <p:cNvCxnSpPr>
            <a:stCxn id="23562" idx="2"/>
            <a:endCxn id="23563" idx="0"/>
          </p:cNvCxnSpPr>
          <p:nvPr/>
        </p:nvCxnSpPr>
        <p:spPr>
          <a:xfrm flipH="1">
            <a:off x="2864369" y="3472821"/>
            <a:ext cx="442028" cy="1519866"/>
          </a:xfrm>
          <a:prstGeom prst="straightConnector1">
            <a:avLst/>
          </a:prstGeom>
          <a:ln w="19050" cap="flat" cmpd="sng">
            <a:solidFill>
              <a:schemeClr val="tx1"/>
            </a:solidFill>
            <a:prstDash val="solid"/>
            <a:round/>
            <a:headEnd type="none" w="med" len="med"/>
            <a:tailEnd type="stealth" w="lg" len="lg"/>
          </a:ln>
        </p:spPr>
      </p:cxnSp>
      <p:cxnSp>
        <p:nvCxnSpPr>
          <p:cNvPr id="23569" name="直接箭头连接符 20504"/>
          <p:cNvCxnSpPr>
            <a:stCxn id="23562" idx="2"/>
            <a:endCxn id="23561" idx="0"/>
          </p:cNvCxnSpPr>
          <p:nvPr/>
        </p:nvCxnSpPr>
        <p:spPr>
          <a:xfrm>
            <a:off x="3306397" y="3472821"/>
            <a:ext cx="1809047" cy="624516"/>
          </a:xfrm>
          <a:prstGeom prst="straightConnector1">
            <a:avLst/>
          </a:prstGeom>
          <a:ln w="19050" cap="flat" cmpd="sng">
            <a:solidFill>
              <a:schemeClr val="tx1"/>
            </a:solidFill>
            <a:prstDash val="solid"/>
            <a:round/>
            <a:headEnd type="none" w="med" len="med"/>
            <a:tailEnd type="stealth" w="lg" len="lg"/>
          </a:ln>
        </p:spPr>
      </p:cxnSp>
      <p:sp>
        <p:nvSpPr>
          <p:cNvPr id="20506" name="文本框 20505"/>
          <p:cNvSpPr txBox="1"/>
          <p:nvPr/>
        </p:nvSpPr>
        <p:spPr>
          <a:xfrm>
            <a:off x="352944" y="6370637"/>
            <a:ext cx="5694362" cy="884238"/>
          </a:xfrm>
          <a:prstGeom prst="rect">
            <a:avLst/>
          </a:prstGeom>
          <a:noFill/>
          <a:ln w="9525">
            <a:noFill/>
          </a:ln>
        </p:spPr>
        <p:txBody>
          <a:bodyPr wrap="none" anchor="t" anchorCtr="0">
            <a:spAutoFit/>
          </a:bodyPr>
          <a:lstStyle/>
          <a:p>
            <a:pPr indent="0" hangingPunct="0"/>
            <a:r>
              <a:rPr lang="zh-CN" altLang="en-US" sz="2800">
                <a:solidFill>
                  <a:schemeClr val="tx1"/>
                </a:solidFill>
                <a:latin typeface="楷体_GB2312" panose="02010609030101010101" charset="-122"/>
                <a:ea typeface="楷体_GB2312" panose="02010609030101010101" charset="-122"/>
              </a:rPr>
              <a:t>一旦知道句子的结构，</a:t>
            </a:r>
          </a:p>
          <a:p>
            <a:pPr indent="0" hangingPunct="0"/>
            <a:r>
              <a:rPr lang="zh-CN" altLang="en-US" sz="2800">
                <a:solidFill>
                  <a:schemeClr val="tx1"/>
                </a:solidFill>
                <a:latin typeface="楷体_GB2312" panose="02010609030101010101" charset="-122"/>
                <a:ea typeface="楷体_GB2312" panose="02010609030101010101" charset="-122"/>
              </a:rPr>
              <a:t>我们可以尝试着理解句子的</a:t>
            </a:r>
            <a:r>
              <a:rPr lang="en-US" altLang="zh-CN" sz="2800">
                <a:solidFill>
                  <a:schemeClr val="tx1"/>
                </a:solidFill>
                <a:latin typeface="楷体_GB2312" panose="02010609030101010101" charset="-122"/>
                <a:ea typeface="楷体_GB2312" panose="02010609030101010101" charset="-122"/>
              </a:rPr>
              <a:t> "</a:t>
            </a:r>
            <a:r>
              <a:rPr lang="zh-CN" altLang="en-US" sz="2800">
                <a:solidFill>
                  <a:schemeClr val="tx1"/>
                </a:solidFill>
                <a:latin typeface="楷体_GB2312" panose="02010609030101010101" charset="-122"/>
                <a:ea typeface="楷体_GB2312" panose="02010609030101010101" charset="-122"/>
                <a:sym typeface="Arial" panose="020B0604020202020204" pitchFamily="34" charset="0"/>
              </a:rPr>
              <a:t>意思</a:t>
            </a:r>
            <a:r>
              <a:rPr lang="en-US" altLang="zh-CN" sz="2800">
                <a:solidFill>
                  <a:schemeClr val="tx1"/>
                </a:solidFill>
                <a:latin typeface="楷体_GB2312" panose="02010609030101010101" charset="-122"/>
                <a:ea typeface="楷体_GB2312" panose="02010609030101010101" charset="-122"/>
              </a:rPr>
              <a:t>"</a:t>
            </a:r>
          </a:p>
        </p:txBody>
      </p:sp>
      <p:sp>
        <p:nvSpPr>
          <p:cNvPr id="23572"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3573"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3574"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3575" name="Rectangle 11"/>
          <p:cNvSpPr/>
          <p:nvPr/>
        </p:nvSpPr>
        <p:spPr>
          <a:xfrm>
            <a:off x="7407275" y="403860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3576"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3577"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3578"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28" name="TextBox 5"/>
          <p:cNvSpPr txBox="1"/>
          <p:nvPr/>
        </p:nvSpPr>
        <p:spPr>
          <a:xfrm>
            <a:off x="615685" y="1584130"/>
            <a:ext cx="5405437" cy="1122808"/>
          </a:xfrm>
          <a:prstGeom prst="rect">
            <a:avLst/>
          </a:prstGeom>
          <a:noFill/>
          <a:ln w="9525">
            <a:noFill/>
          </a:ln>
        </p:spPr>
        <p:txBody>
          <a:bodyPr wrap="square" anchor="t" anchorCtr="0">
            <a:spAutoFit/>
          </a:bodyPr>
          <a:lstStyle/>
          <a:p>
            <a:pPr indent="0" hangingPunct="0"/>
            <a:r>
              <a:rPr lang="zh-CN" altLang="en-US" sz="2400" b="1" dirty="0">
                <a:latin typeface="Times New Roman" panose="02060603050605020204" pitchFamily="2" charset="0"/>
                <a:ea typeface="楷体_GB2312" panose="02010609030101010101" charset="-122"/>
              </a:rPr>
              <a:t>使用语法树和符号表中的信息检查源程序是否和语言定义的语义一致，理解句子的意思</a:t>
            </a:r>
            <a:endParaRPr lang="zh-CN" altLang="zh-CN" sz="2400" b="1" dirty="0">
              <a:latin typeface="Times New Roman" panose="02060603050605020204" pitchFamily="2" charset="0"/>
              <a:ea typeface="楷体_GB2312"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06"/>
                                        </p:tgtEl>
                                        <p:attrNameLst>
                                          <p:attrName>style.visibility</p:attrName>
                                        </p:attrNameLst>
                                      </p:cBhvr>
                                      <p:to>
                                        <p:strVal val="visible"/>
                                      </p:to>
                                    </p:set>
                                    <p:animEffect transition="in" filter="blinds(horizontal)">
                                      <p:cBhvr>
                                        <p:cTn id="7" dur="500"/>
                                        <p:tgtEl>
                                          <p:spTgt spid="20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6" grpId="0" bldLvl="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Arial" panose="020B0604020202020204" pitchFamily="34" charset="0"/>
              </a:rPr>
              <a:t>语义分析</a:t>
            </a:r>
            <a:endParaRPr lang="zh-CN" altLang="en-US" sz="4000" dirty="0">
              <a:latin typeface="微软雅黑" panose="020B0503020204020204" pitchFamily="2" charset="-122"/>
              <a:ea typeface="微软雅黑" panose="020B0503020204020204" pitchFamily="2" charset="-122"/>
            </a:endParaRPr>
          </a:p>
        </p:txBody>
      </p:sp>
      <p:sp>
        <p:nvSpPr>
          <p:cNvPr id="24578" name="TextBox 4"/>
          <p:cNvSpPr txBox="1"/>
          <p:nvPr/>
        </p:nvSpPr>
        <p:spPr>
          <a:xfrm>
            <a:off x="7078662" y="1358900"/>
            <a:ext cx="3105150" cy="1695336"/>
          </a:xfrm>
          <a:prstGeom prst="rect">
            <a:avLst/>
          </a:prstGeom>
          <a:noFill/>
          <a:ln w="9525">
            <a:noFill/>
          </a:ln>
        </p:spPr>
        <p:txBody>
          <a:bodyPr wrap="squar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4579" name="Footer Placeholder 6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4580" name="Slide Number Placeholder 6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20</a:t>
            </a:fld>
            <a:endParaRPr lang="en-GB" altLang="en-US" sz="1200" dirty="0">
              <a:latin typeface="Comic Sans MS" panose="030F0702030302020204" pitchFamily="2" charset="0"/>
              <a:ea typeface="宋体" panose="02010600030101010101" pitchFamily="2" charset="-122"/>
            </a:endParaRPr>
          </a:p>
        </p:txBody>
      </p:sp>
      <p:sp>
        <p:nvSpPr>
          <p:cNvPr id="24581" name="Date Placeholder 6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1518" name="文本框 21517"/>
          <p:cNvSpPr txBox="1"/>
          <p:nvPr/>
        </p:nvSpPr>
        <p:spPr>
          <a:xfrm>
            <a:off x="268288" y="2882900"/>
            <a:ext cx="5840412" cy="431800"/>
          </a:xfrm>
          <a:prstGeom prst="rect">
            <a:avLst/>
          </a:prstGeom>
          <a:noFill/>
          <a:ln w="9525">
            <a:noFill/>
          </a:ln>
        </p:spPr>
        <p:txBody>
          <a:bodyPr wrap="none" anchor="t" anchorCtr="0">
            <a:spAutoFit/>
          </a:bodyPr>
          <a:lstStyle/>
          <a:p>
            <a:pPr indent="0" hangingPunct="0"/>
            <a:r>
              <a:rPr lang="en-US" altLang="zh-CN" sz="2400" dirty="0">
                <a:solidFill>
                  <a:schemeClr val="tx1"/>
                </a:solidFill>
                <a:latin typeface="Times New Roman" panose="02060603050605020204" pitchFamily="2" charset="0"/>
                <a:ea typeface="楷体_GB2312" panose="02010609030101010101" charset="-122"/>
              </a:rPr>
              <a:t>Jack  said  Jerry  left  his  assignment at home.</a:t>
            </a:r>
          </a:p>
        </p:txBody>
      </p:sp>
      <p:sp>
        <p:nvSpPr>
          <p:cNvPr id="24583" name="文本框 21518"/>
          <p:cNvSpPr txBox="1"/>
          <p:nvPr/>
        </p:nvSpPr>
        <p:spPr>
          <a:xfrm>
            <a:off x="674688" y="1441450"/>
            <a:ext cx="4525962" cy="601663"/>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zh-CN" altLang="en-US" sz="3600" dirty="0">
                <a:latin typeface="楷体_GB2312" panose="02010609030101010101" charset="-122"/>
                <a:ea typeface="楷体_GB2312" panose="02010609030101010101" charset="-122"/>
                <a:sym typeface="Arial" panose="020B0604020202020204" pitchFamily="34" charset="0"/>
              </a:rPr>
              <a:t>语义分析 </a:t>
            </a:r>
            <a:r>
              <a:rPr lang="zh-CN" altLang="en-US" sz="3600">
                <a:solidFill>
                  <a:srgbClr val="FF3300"/>
                </a:solidFill>
                <a:latin typeface="楷体_GB2312" panose="02010609030101010101" charset="-122"/>
                <a:ea typeface="楷体_GB2312" panose="02010609030101010101" charset="-122"/>
              </a:rPr>
              <a:t>非常困难！</a:t>
            </a:r>
          </a:p>
        </p:txBody>
      </p:sp>
      <p:sp>
        <p:nvSpPr>
          <p:cNvPr id="21520" name="文本框 21519"/>
          <p:cNvSpPr txBox="1"/>
          <p:nvPr/>
        </p:nvSpPr>
        <p:spPr>
          <a:xfrm>
            <a:off x="2928938" y="2879725"/>
            <a:ext cx="601662" cy="439738"/>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en-US" altLang="zh-CN" sz="2400">
                <a:solidFill>
                  <a:srgbClr val="FF3300"/>
                </a:solidFill>
                <a:latin typeface="Comic Sans MS" panose="030F0702030302020204" pitchFamily="2" charset="0"/>
                <a:ea typeface="楷体_GB2312" panose="02010609030101010101" charset="-122"/>
              </a:rPr>
              <a:t>his</a:t>
            </a:r>
          </a:p>
        </p:txBody>
      </p:sp>
      <p:sp>
        <p:nvSpPr>
          <p:cNvPr id="21521" name="文本框 21520"/>
          <p:cNvSpPr txBox="1"/>
          <p:nvPr/>
        </p:nvSpPr>
        <p:spPr>
          <a:xfrm>
            <a:off x="306388" y="3587750"/>
            <a:ext cx="3230562" cy="431800"/>
          </a:xfrm>
          <a:prstGeom prst="rect">
            <a:avLst/>
          </a:prstGeom>
          <a:noFill/>
          <a:ln w="9525">
            <a:noFill/>
          </a:ln>
        </p:spPr>
        <p:txBody>
          <a:bodyPr wrap="none" anchor="t" anchorCtr="0">
            <a:spAutoFit/>
          </a:bodyPr>
          <a:lstStyle/>
          <a:p>
            <a:pPr indent="0" hangingPunct="0"/>
            <a:r>
              <a:rPr lang="zh-CN" altLang="en-US" sz="2400">
                <a:solidFill>
                  <a:schemeClr val="tx1"/>
                </a:solidFill>
                <a:latin typeface="楷体_GB2312" panose="02010609030101010101" charset="-122"/>
                <a:ea typeface="楷体_GB2312" panose="02010609030101010101" charset="-122"/>
              </a:rPr>
              <a:t>该句子涉及几个人物？</a:t>
            </a:r>
          </a:p>
        </p:txBody>
      </p:sp>
      <p:sp>
        <p:nvSpPr>
          <p:cNvPr id="21522" name="文本框 21521"/>
          <p:cNvSpPr txBox="1"/>
          <p:nvPr/>
        </p:nvSpPr>
        <p:spPr>
          <a:xfrm>
            <a:off x="261938" y="4254500"/>
            <a:ext cx="5776912" cy="1111250"/>
          </a:xfrm>
          <a:prstGeom prst="rect">
            <a:avLst/>
          </a:prstGeom>
          <a:noFill/>
          <a:ln w="9525">
            <a:noFill/>
          </a:ln>
        </p:spPr>
        <p:txBody>
          <a:bodyPr wrap="none" anchor="t" anchorCtr="0">
            <a:spAutoFit/>
          </a:bodyPr>
          <a:lstStyle/>
          <a:p>
            <a:pPr indent="0" hangingPunct="0"/>
            <a:r>
              <a:rPr lang="zh-CN" altLang="en-US" sz="2400">
                <a:solidFill>
                  <a:schemeClr val="tx1"/>
                </a:solidFill>
                <a:latin typeface="楷体_GB2312" panose="02010609030101010101" charset="-122"/>
                <a:ea typeface="楷体_GB2312" panose="02010609030101010101" charset="-122"/>
              </a:rPr>
              <a:t>更有甚者</a:t>
            </a:r>
            <a:r>
              <a:rPr lang="en-US" altLang="zh-CN" sz="2400">
                <a:solidFill>
                  <a:schemeClr val="tx1"/>
                </a:solidFill>
                <a:latin typeface="楷体_GB2312" panose="02010609030101010101" charset="-122"/>
                <a:ea typeface="楷体_GB2312" panose="02010609030101010101" charset="-122"/>
              </a:rPr>
              <a:t>:</a:t>
            </a:r>
          </a:p>
          <a:p>
            <a:pPr indent="0" hangingPunct="0"/>
            <a:endParaRPr lang="en-US" altLang="zh-CN" sz="2400">
              <a:solidFill>
                <a:schemeClr val="tx1"/>
              </a:solidFill>
              <a:latin typeface="Times New Roman" panose="02060603050605020204" pitchFamily="2" charset="0"/>
              <a:ea typeface="楷体_GB2312" panose="02010609030101010101" charset="-122"/>
            </a:endParaRPr>
          </a:p>
          <a:p>
            <a:pPr indent="0" hangingPunct="0"/>
            <a:r>
              <a:rPr lang="en-US" altLang="zh-CN" sz="2400">
                <a:solidFill>
                  <a:schemeClr val="tx1"/>
                </a:solidFill>
                <a:latin typeface="Times New Roman" panose="02060603050605020204" pitchFamily="2" charset="0"/>
                <a:ea typeface="楷体_GB2312" panose="02010609030101010101" charset="-122"/>
              </a:rPr>
              <a:t>Jack  said  </a:t>
            </a:r>
            <a:r>
              <a:rPr lang="en-US" altLang="zh-CN" sz="2400">
                <a:solidFill>
                  <a:srgbClr val="FF3300"/>
                </a:solidFill>
                <a:latin typeface="Times New Roman" panose="02060603050605020204" pitchFamily="2" charset="0"/>
                <a:ea typeface="楷体_GB2312" panose="02010609030101010101" charset="-122"/>
              </a:rPr>
              <a:t>Jack</a:t>
            </a:r>
            <a:r>
              <a:rPr lang="en-US" altLang="zh-CN" sz="2400">
                <a:solidFill>
                  <a:schemeClr val="tx1"/>
                </a:solidFill>
                <a:latin typeface="Times New Roman" panose="02060603050605020204" pitchFamily="2" charset="0"/>
                <a:ea typeface="楷体_GB2312" panose="02010609030101010101" charset="-122"/>
              </a:rPr>
              <a:t>  left  his  assignment at home.</a:t>
            </a:r>
          </a:p>
        </p:txBody>
      </p:sp>
      <p:sp>
        <p:nvSpPr>
          <p:cNvPr id="21523" name="文本框 21522"/>
          <p:cNvSpPr txBox="1"/>
          <p:nvPr/>
        </p:nvSpPr>
        <p:spPr>
          <a:xfrm>
            <a:off x="420688" y="5518150"/>
            <a:ext cx="4652962" cy="544513"/>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zh-CN" altLang="en-US" sz="3200">
                <a:solidFill>
                  <a:srgbClr val="FF3300"/>
                </a:solidFill>
                <a:latin typeface="楷体_GB2312" panose="02010609030101010101" charset="-122"/>
                <a:ea typeface="楷体_GB2312" panose="02010609030101010101" charset="-122"/>
                <a:sym typeface="方正书宋_GBK" charset="-122"/>
              </a:rPr>
              <a:t>句子有岐义：指代不清楚</a:t>
            </a:r>
            <a:endParaRPr lang="zh-CN" altLang="en-US" sz="3200">
              <a:solidFill>
                <a:srgbClr val="FF3300"/>
              </a:solidFill>
              <a:latin typeface="楷体_GB2312" panose="02010609030101010101" charset="-122"/>
              <a:ea typeface="楷体_GB2312" panose="02010609030101010101" charset="-122"/>
            </a:endParaRPr>
          </a:p>
        </p:txBody>
      </p:sp>
      <p:sp>
        <p:nvSpPr>
          <p:cNvPr id="21524" name="文本框 21523"/>
          <p:cNvSpPr txBox="1"/>
          <p:nvPr/>
        </p:nvSpPr>
        <p:spPr>
          <a:xfrm>
            <a:off x="344488" y="6248400"/>
            <a:ext cx="3840162" cy="431800"/>
          </a:xfrm>
          <a:prstGeom prst="rect">
            <a:avLst/>
          </a:prstGeom>
          <a:noFill/>
          <a:ln w="9525">
            <a:noFill/>
          </a:ln>
        </p:spPr>
        <p:txBody>
          <a:bodyPr wrap="none" anchor="t" anchorCtr="0">
            <a:spAutoFit/>
          </a:bodyPr>
          <a:lstStyle/>
          <a:p>
            <a:pPr indent="0" hangingPunct="0"/>
            <a:r>
              <a:rPr lang="zh-CN" altLang="en-US" sz="2400">
                <a:solidFill>
                  <a:schemeClr val="tx1"/>
                </a:solidFill>
                <a:latin typeface="楷体_GB2312" panose="02010609030101010101" charset="-122"/>
                <a:ea typeface="楷体_GB2312" panose="02010609030101010101" charset="-122"/>
              </a:rPr>
              <a:t>程序语言中如何处理岐义？</a:t>
            </a:r>
          </a:p>
        </p:txBody>
      </p:sp>
      <p:sp>
        <p:nvSpPr>
          <p:cNvPr id="24589"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4590"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4591"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4592" name="Rectangle 11"/>
          <p:cNvSpPr/>
          <p:nvPr/>
        </p:nvSpPr>
        <p:spPr>
          <a:xfrm>
            <a:off x="7407275" y="403860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4593"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4594"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4595"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18"/>
                                        </p:tgtEl>
                                        <p:attrNameLst>
                                          <p:attrName>style.visibility</p:attrName>
                                        </p:attrNameLst>
                                      </p:cBhvr>
                                      <p:to>
                                        <p:strVal val="visible"/>
                                      </p:to>
                                    </p:set>
                                    <p:animEffect transition="in" filter="blinds(horizontal)">
                                      <p:cBhvr>
                                        <p:cTn id="7" dur="500"/>
                                        <p:tgtEl>
                                          <p:spTgt spid="215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20"/>
                                        </p:tgtEl>
                                        <p:attrNameLst>
                                          <p:attrName>style.visibility</p:attrName>
                                        </p:attrNameLst>
                                      </p:cBhvr>
                                      <p:to>
                                        <p:strVal val="visible"/>
                                      </p:to>
                                    </p:set>
                                    <p:animEffect transition="in" filter="blinds(horizontal)">
                                      <p:cBhvr>
                                        <p:cTn id="12" dur="500"/>
                                        <p:tgtEl>
                                          <p:spTgt spid="215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21"/>
                                        </p:tgtEl>
                                        <p:attrNameLst>
                                          <p:attrName>style.visibility</p:attrName>
                                        </p:attrNameLst>
                                      </p:cBhvr>
                                      <p:to>
                                        <p:strVal val="visible"/>
                                      </p:to>
                                    </p:set>
                                    <p:animEffect transition="in" filter="blinds(horizontal)">
                                      <p:cBhvr>
                                        <p:cTn id="17" dur="500"/>
                                        <p:tgtEl>
                                          <p:spTgt spid="215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22"/>
                                        </p:tgtEl>
                                        <p:attrNameLst>
                                          <p:attrName>style.visibility</p:attrName>
                                        </p:attrNameLst>
                                      </p:cBhvr>
                                      <p:to>
                                        <p:strVal val="visible"/>
                                      </p:to>
                                    </p:set>
                                    <p:animEffect transition="in" filter="blinds(horizontal)">
                                      <p:cBhvr>
                                        <p:cTn id="22" dur="500"/>
                                        <p:tgtEl>
                                          <p:spTgt spid="215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23"/>
                                        </p:tgtEl>
                                        <p:attrNameLst>
                                          <p:attrName>style.visibility</p:attrName>
                                        </p:attrNameLst>
                                      </p:cBhvr>
                                      <p:to>
                                        <p:strVal val="visible"/>
                                      </p:to>
                                    </p:set>
                                    <p:animEffect transition="in" filter="blinds(horizontal)">
                                      <p:cBhvr>
                                        <p:cTn id="27" dur="500"/>
                                        <p:tgtEl>
                                          <p:spTgt spid="2152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24"/>
                                        </p:tgtEl>
                                        <p:attrNameLst>
                                          <p:attrName>style.visibility</p:attrName>
                                        </p:attrNameLst>
                                      </p:cBhvr>
                                      <p:to>
                                        <p:strVal val="visible"/>
                                      </p:to>
                                    </p:set>
                                    <p:animEffect transition="in" filter="blinds(horizontal)">
                                      <p:cBhvr>
                                        <p:cTn id="32" dur="500"/>
                                        <p:tgtEl>
                                          <p:spTgt spid="21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8" grpId="0" bldLvl="0"/>
      <p:bldP spid="21520" grpId="0" bldLvl="0" animBg="1"/>
      <p:bldP spid="21521" grpId="0" bldLvl="0"/>
      <p:bldP spid="21522" grpId="0" bldLvl="0"/>
      <p:bldP spid="21523" grpId="0" bldLvl="0" animBg="1"/>
      <p:bldP spid="21524" grpId="0" bldLvl="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方正书宋_GBK" charset="-122"/>
              </a:rPr>
              <a:t>语义分析</a:t>
            </a:r>
            <a:endParaRPr lang="zh-CN" altLang="en-US" sz="4000" dirty="0">
              <a:latin typeface="微软雅黑" panose="020B0503020204020204" pitchFamily="2" charset="-122"/>
              <a:ea typeface="微软雅黑" panose="020B0503020204020204" pitchFamily="2" charset="-122"/>
            </a:endParaRPr>
          </a:p>
        </p:txBody>
      </p:sp>
      <p:sp>
        <p:nvSpPr>
          <p:cNvPr id="25602" name="TextBox 4"/>
          <p:cNvSpPr txBox="1"/>
          <p:nvPr/>
        </p:nvSpPr>
        <p:spPr>
          <a:xfrm>
            <a:off x="6750050" y="1395413"/>
            <a:ext cx="3152775" cy="1693862"/>
          </a:xfrm>
          <a:prstGeom prst="rect">
            <a:avLst/>
          </a:prstGeom>
          <a:noFill/>
          <a:ln w="9525">
            <a:noFill/>
          </a:ln>
        </p:spPr>
        <p:txBody>
          <a:bodyPr wrap="none" anchor="t" anchorCtr="0">
            <a:spAutoFit/>
          </a:bodyPr>
          <a:lstStyle/>
          <a:p>
            <a:pPr indent="0" hangingPunct="0"/>
            <a:r>
              <a:rPr lang="es-ES" altLang="en-US" sz="2800" b="1" dirty="0">
                <a:latin typeface="新宋体" panose="02010609030101010101" charset="-122"/>
                <a:ea typeface="新宋体" panose="02010609030101010101" charset="-122"/>
              </a:rPr>
              <a:t>while</a:t>
            </a:r>
            <a:r>
              <a:rPr lang="es-ES" altLang="en-US" sz="2800" dirty="0">
                <a:latin typeface="新宋体" panose="02010609030101010101" charset="-122"/>
                <a:ea typeface="新宋体" panose="02010609030101010101" charset="-122"/>
              </a:rPr>
              <a:t> (y &lt; z) {</a:t>
            </a:r>
          </a:p>
          <a:p>
            <a:pPr indent="0" hangingPunct="0"/>
            <a:r>
              <a:rPr lang="es-ES" altLang="en-US" sz="2800" dirty="0">
                <a:latin typeface="新宋体" panose="02010609030101010101" charset="-122"/>
                <a:ea typeface="新宋体" panose="02010609030101010101" charset="-122"/>
              </a:rPr>
              <a:t>	</a:t>
            </a:r>
            <a:r>
              <a:rPr lang="es-ES" altLang="en-US" sz="2800" b="1" dirty="0">
                <a:latin typeface="新宋体" panose="02010609030101010101" charset="-122"/>
                <a:ea typeface="新宋体" panose="02010609030101010101" charset="-122"/>
              </a:rPr>
              <a:t>int</a:t>
            </a:r>
            <a:r>
              <a:rPr lang="es-ES" altLang="en-US" sz="2800" dirty="0">
                <a:latin typeface="新宋体" panose="02010609030101010101" charset="-122"/>
                <a:ea typeface="新宋体" panose="02010609030101010101" charset="-122"/>
              </a:rPr>
              <a:t> x = a + b;</a:t>
            </a:r>
          </a:p>
          <a:p>
            <a:pPr indent="0" hangingPunct="0"/>
            <a:r>
              <a:rPr lang="es-ES" altLang="en-US" sz="2800" dirty="0">
                <a:latin typeface="新宋体" panose="02010609030101010101" charset="-122"/>
                <a:ea typeface="新宋体" panose="02010609030101010101" charset="-122"/>
              </a:rPr>
              <a:t>	y += x;</a:t>
            </a:r>
          </a:p>
          <a:p>
            <a:pPr indent="0" hangingPunct="0"/>
            <a:r>
              <a:rPr lang="es-ES" altLang="en-US" sz="2800" dirty="0">
                <a:latin typeface="新宋体" panose="02010609030101010101" charset="-122"/>
                <a:ea typeface="新宋体" panose="02010609030101010101" charset="-122"/>
              </a:rPr>
              <a:t>}</a:t>
            </a:r>
            <a:endParaRPr lang="en-US" altLang="zh-CN" sz="2800" dirty="0">
              <a:latin typeface="新宋体" panose="02010609030101010101" charset="-122"/>
              <a:ea typeface="新宋体" panose="02010609030101010101" charset="-122"/>
            </a:endParaRPr>
          </a:p>
        </p:txBody>
      </p:sp>
      <p:sp>
        <p:nvSpPr>
          <p:cNvPr id="25603" name="Footer Placeholder 6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5604" name="Slide Number Placeholder 6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21</a:t>
            </a:fld>
            <a:endParaRPr lang="en-GB" altLang="en-US" sz="1200" dirty="0">
              <a:latin typeface="Comic Sans MS" panose="030F0702030302020204" pitchFamily="2" charset="0"/>
              <a:ea typeface="宋体" panose="02010600030101010101" pitchFamily="2" charset="-122"/>
            </a:endParaRPr>
          </a:p>
        </p:txBody>
      </p:sp>
      <p:sp>
        <p:nvSpPr>
          <p:cNvPr id="25605" name="Date Placeholder 6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5606" name="文本框 22541"/>
          <p:cNvSpPr txBox="1"/>
          <p:nvPr/>
        </p:nvSpPr>
        <p:spPr>
          <a:xfrm>
            <a:off x="674688" y="1441450"/>
            <a:ext cx="4525962" cy="601663"/>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zh-CN" altLang="en-US" sz="3600" dirty="0">
                <a:latin typeface="楷体_GB2312" panose="02010609030101010101" charset="-122"/>
                <a:ea typeface="楷体_GB2312" panose="02010609030101010101" charset="-122"/>
                <a:sym typeface="方正书宋_GBK" charset="-122"/>
              </a:rPr>
              <a:t>语义分析 </a:t>
            </a:r>
            <a:r>
              <a:rPr lang="zh-CN" altLang="en-US" sz="3600">
                <a:solidFill>
                  <a:srgbClr val="FF3300"/>
                </a:solidFill>
                <a:latin typeface="楷体_GB2312" panose="02010609030101010101" charset="-122"/>
                <a:ea typeface="楷体_GB2312" panose="02010609030101010101" charset="-122"/>
                <a:sym typeface="Arial" panose="020B0604020202020204" pitchFamily="34" charset="0"/>
              </a:rPr>
              <a:t>非常困难！</a:t>
            </a:r>
            <a:endParaRPr lang="en-US" altLang="zh-CN">
              <a:latin typeface="楷体_GB2312" panose="02010609030101010101" charset="-122"/>
              <a:ea typeface="楷体_GB2312" panose="02010609030101010101" charset="-122"/>
            </a:endParaRPr>
          </a:p>
        </p:txBody>
      </p:sp>
      <p:sp>
        <p:nvSpPr>
          <p:cNvPr id="25607" name="文本框 22542"/>
          <p:cNvSpPr txBox="1"/>
          <p:nvPr/>
        </p:nvSpPr>
        <p:spPr>
          <a:xfrm>
            <a:off x="687388" y="2362200"/>
            <a:ext cx="4652962" cy="576263"/>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zh-CN" altLang="en-US" sz="3200">
                <a:solidFill>
                  <a:srgbClr val="FF3300"/>
                </a:solidFill>
                <a:latin typeface="楷体_GB2312" panose="02010609030101010101" charset="-122"/>
                <a:ea typeface="楷体_GB2312" panose="02010609030101010101" charset="-122"/>
                <a:sym typeface="Arial" panose="020B0604020202020204" pitchFamily="34" charset="0"/>
              </a:rPr>
              <a:t>句子有岐义：指代不清楚</a:t>
            </a:r>
          </a:p>
        </p:txBody>
      </p:sp>
      <p:sp>
        <p:nvSpPr>
          <p:cNvPr id="25608" name="文本框 22543"/>
          <p:cNvSpPr txBox="1"/>
          <p:nvPr/>
        </p:nvSpPr>
        <p:spPr>
          <a:xfrm>
            <a:off x="619104" y="3117963"/>
            <a:ext cx="4602500" cy="779316"/>
          </a:xfrm>
          <a:prstGeom prst="rect">
            <a:avLst/>
          </a:prstGeom>
          <a:noFill/>
          <a:ln w="9525">
            <a:noFill/>
          </a:ln>
        </p:spPr>
        <p:txBody>
          <a:bodyPr wrap="square" anchor="t" anchorCtr="0">
            <a:spAutoFit/>
          </a:bodyPr>
          <a:lstStyle/>
          <a:p>
            <a:pPr hangingPunct="0"/>
            <a:r>
              <a:rPr lang="zh-CN" altLang="en-US" sz="2400" dirty="0">
                <a:solidFill>
                  <a:schemeClr val="tx1"/>
                </a:solidFill>
                <a:latin typeface="Times New Roman" panose="02060603050605020204" pitchFamily="2" charset="0"/>
                <a:ea typeface="楷体_GB2312" panose="02010609030101010101" charset="-122"/>
              </a:rPr>
              <a:t>编程语言如何处理歧义</a:t>
            </a:r>
            <a:r>
              <a:rPr lang="en-US" altLang="zh-CN" sz="2400" dirty="0">
                <a:solidFill>
                  <a:schemeClr val="tx1"/>
                </a:solidFill>
                <a:latin typeface="Times New Roman" panose="02060603050605020204" pitchFamily="2" charset="0"/>
                <a:ea typeface="楷体_GB2312" panose="02010609030101010101" charset="-122"/>
              </a:rPr>
              <a:t>?</a:t>
            </a:r>
          </a:p>
          <a:p>
            <a:pPr hangingPunct="0"/>
            <a:endParaRPr lang="en-US" altLang="zh-CN" sz="2400" dirty="0">
              <a:solidFill>
                <a:schemeClr val="tx1"/>
              </a:solidFill>
              <a:latin typeface="Times New Roman" panose="02060603050605020204" pitchFamily="2" charset="0"/>
              <a:ea typeface="楷体_GB2312" panose="02010609030101010101" charset="-122"/>
            </a:endParaRPr>
          </a:p>
        </p:txBody>
      </p:sp>
      <p:sp>
        <p:nvSpPr>
          <p:cNvPr id="22545" name="文本框 22544"/>
          <p:cNvSpPr txBox="1"/>
          <p:nvPr/>
        </p:nvSpPr>
        <p:spPr>
          <a:xfrm>
            <a:off x="1585913" y="3643313"/>
            <a:ext cx="2125662" cy="1873250"/>
          </a:xfrm>
          <a:prstGeom prst="rect">
            <a:avLst/>
          </a:prstGeom>
          <a:noFill/>
          <a:ln w="9525">
            <a:noFill/>
          </a:ln>
        </p:spPr>
        <p:txBody>
          <a:bodyPr wrap="none" anchor="t" anchorCtr="0">
            <a:spAutoFit/>
          </a:bodyPr>
          <a:lstStyle/>
          <a:p>
            <a:pPr indent="0" hangingPunct="0"/>
            <a:r>
              <a:rPr lang="en-US" altLang="zh-CN" b="1">
                <a:latin typeface="宋体" panose="02010600030101010101" pitchFamily="2" charset="-122"/>
                <a:ea typeface="宋体" panose="02010600030101010101" pitchFamily="2" charset="-122"/>
              </a:rPr>
              <a:t>{</a:t>
            </a:r>
          </a:p>
          <a:p>
            <a:pPr indent="0" hangingPunct="0"/>
            <a:r>
              <a:rPr lang="en-US" altLang="zh-CN" b="1">
                <a:latin typeface="宋体" panose="02010600030101010101" pitchFamily="2" charset="-122"/>
                <a:ea typeface="宋体" panose="02010600030101010101" pitchFamily="2" charset="-122"/>
              </a:rPr>
              <a:t>  int Jack = 3;</a:t>
            </a:r>
          </a:p>
          <a:p>
            <a:pPr indent="0" hangingPunct="0"/>
            <a:r>
              <a:rPr lang="en-US" altLang="zh-CN" b="1">
                <a:latin typeface="宋体" panose="02010600030101010101" pitchFamily="2" charset="-122"/>
                <a:ea typeface="宋体" panose="02010600030101010101" pitchFamily="2" charset="-122"/>
              </a:rPr>
              <a:t>  {</a:t>
            </a:r>
          </a:p>
          <a:p>
            <a:pPr indent="0" hangingPunct="0"/>
            <a:r>
              <a:rPr lang="en-US" altLang="zh-CN" b="1">
                <a:latin typeface="宋体" panose="02010600030101010101" pitchFamily="2" charset="-122"/>
                <a:ea typeface="宋体" panose="02010600030101010101" pitchFamily="2" charset="-122"/>
              </a:rPr>
              <a:t>    int Jack = 4;</a:t>
            </a:r>
          </a:p>
          <a:p>
            <a:pPr indent="0" hangingPunct="0"/>
            <a:r>
              <a:rPr lang="en-US" altLang="zh-CN" b="1">
                <a:latin typeface="宋体" panose="02010600030101010101" pitchFamily="2" charset="-122"/>
                <a:ea typeface="宋体" panose="02010600030101010101" pitchFamily="2" charset="-122"/>
              </a:rPr>
              <a:t>    ...</a:t>
            </a:r>
          </a:p>
          <a:p>
            <a:pPr indent="0" hangingPunct="0"/>
            <a:r>
              <a:rPr lang="en-US" altLang="zh-CN" b="1">
                <a:latin typeface="宋体" panose="02010600030101010101" pitchFamily="2" charset="-122"/>
                <a:ea typeface="宋体" panose="02010600030101010101" pitchFamily="2" charset="-122"/>
              </a:rPr>
              <a:t>  }</a:t>
            </a:r>
          </a:p>
          <a:p>
            <a:pPr indent="0" hangingPunct="0"/>
            <a:r>
              <a:rPr lang="en-US" altLang="zh-CN" b="1">
                <a:latin typeface="宋体" panose="02010600030101010101" pitchFamily="2" charset="-122"/>
                <a:ea typeface="宋体" panose="02010600030101010101" pitchFamily="2" charset="-122"/>
              </a:rPr>
              <a:t>}</a:t>
            </a:r>
          </a:p>
        </p:txBody>
      </p:sp>
      <p:sp>
        <p:nvSpPr>
          <p:cNvPr id="22546" name="文本框 22545"/>
          <p:cNvSpPr txBox="1"/>
          <p:nvPr/>
        </p:nvSpPr>
        <p:spPr>
          <a:xfrm>
            <a:off x="338138" y="5575300"/>
            <a:ext cx="6530955" cy="1233607"/>
          </a:xfrm>
          <a:prstGeom prst="rect">
            <a:avLst/>
          </a:prstGeom>
          <a:noFill/>
          <a:ln w="9525">
            <a:noFill/>
          </a:ln>
        </p:spPr>
        <p:txBody>
          <a:bodyPr wrap="none" anchor="t" anchorCtr="0">
            <a:spAutoFit/>
          </a:bodyPr>
          <a:lstStyle/>
          <a:p>
            <a:pPr indent="0" hangingPunct="0">
              <a:lnSpc>
                <a:spcPct val="103000"/>
              </a:lnSpc>
            </a:pPr>
            <a:r>
              <a:rPr lang="en-US" altLang="zh-CN" sz="2400" dirty="0">
                <a:solidFill>
                  <a:schemeClr val="tx1"/>
                </a:solidFill>
                <a:latin typeface="Times New Roman" panose="02060603050605020204" pitchFamily="2" charset="0"/>
                <a:ea typeface="楷体_GB2312" panose="02010609030101010101" charset="-122"/>
              </a:rPr>
              <a:t>Programming languages define </a:t>
            </a:r>
            <a:r>
              <a:rPr lang="en-US" altLang="zh-CN" sz="2400" dirty="0">
                <a:solidFill>
                  <a:srgbClr val="FF3300"/>
                </a:solidFill>
                <a:latin typeface="Times New Roman" panose="02060603050605020204" pitchFamily="2" charset="0"/>
                <a:ea typeface="楷体_GB2312" panose="02010609030101010101" charset="-122"/>
              </a:rPr>
              <a:t>strict rules </a:t>
            </a:r>
          </a:p>
          <a:p>
            <a:pPr indent="0" hangingPunct="0">
              <a:lnSpc>
                <a:spcPct val="103000"/>
              </a:lnSpc>
            </a:pPr>
            <a:r>
              <a:rPr lang="en-US" altLang="zh-CN" sz="2400" dirty="0">
                <a:solidFill>
                  <a:schemeClr val="tx1"/>
                </a:solidFill>
                <a:latin typeface="Times New Roman" panose="02060603050605020204" pitchFamily="2" charset="0"/>
                <a:ea typeface="楷体_GB2312" panose="02010609030101010101" charset="-122"/>
              </a:rPr>
              <a:t>         to avoid such ambiguities</a:t>
            </a:r>
          </a:p>
          <a:p>
            <a:pPr indent="0" hangingPunct="0">
              <a:lnSpc>
                <a:spcPct val="103000"/>
              </a:lnSpc>
            </a:pPr>
            <a:r>
              <a:rPr lang="zh-CN" altLang="en-US" sz="2400" dirty="0">
                <a:solidFill>
                  <a:schemeClr val="accent6"/>
                </a:solidFill>
                <a:latin typeface="Times New Roman" panose="02060603050605020204" pitchFamily="2" charset="0"/>
                <a:ea typeface="楷体_GB2312" panose="02010609030101010101" charset="-122"/>
              </a:rPr>
              <a:t>如 </a:t>
            </a:r>
            <a:r>
              <a:rPr lang="en-US" altLang="zh-CN" sz="2400" dirty="0">
                <a:solidFill>
                  <a:schemeClr val="accent6"/>
                </a:solidFill>
                <a:latin typeface="Times New Roman" panose="02060603050605020204" pitchFamily="2" charset="0"/>
                <a:ea typeface="楷体_GB2312" panose="02010609030101010101" charset="-122"/>
              </a:rPr>
              <a:t>if then if then else</a:t>
            </a:r>
            <a:r>
              <a:rPr lang="zh-CN" altLang="en-US" sz="2400" dirty="0">
                <a:solidFill>
                  <a:schemeClr val="accent6"/>
                </a:solidFill>
                <a:latin typeface="Times New Roman" panose="02060603050605020204" pitchFamily="2" charset="0"/>
                <a:ea typeface="楷体_GB2312" panose="02010609030101010101" charset="-122"/>
              </a:rPr>
              <a:t>语句，规定</a:t>
            </a:r>
            <a:r>
              <a:rPr lang="en-US" altLang="zh-CN" sz="2400" dirty="0">
                <a:solidFill>
                  <a:schemeClr val="accent6"/>
                </a:solidFill>
                <a:latin typeface="Times New Roman" panose="02060603050605020204" pitchFamily="2" charset="0"/>
                <a:ea typeface="楷体_GB2312" panose="02010609030101010101" charset="-122"/>
              </a:rPr>
              <a:t>else</a:t>
            </a:r>
            <a:r>
              <a:rPr lang="zh-CN" altLang="en-US" sz="2400" dirty="0">
                <a:solidFill>
                  <a:schemeClr val="accent6"/>
                </a:solidFill>
                <a:latin typeface="Times New Roman" panose="02060603050605020204" pitchFamily="2" charset="0"/>
                <a:ea typeface="楷体_GB2312" panose="02010609030101010101" charset="-122"/>
              </a:rPr>
              <a:t>匹配最近的</a:t>
            </a:r>
            <a:r>
              <a:rPr lang="en-US" altLang="zh-CN" sz="2400" dirty="0">
                <a:solidFill>
                  <a:schemeClr val="accent6"/>
                </a:solidFill>
                <a:latin typeface="Times New Roman" panose="02060603050605020204" pitchFamily="2" charset="0"/>
                <a:ea typeface="楷体_GB2312" panose="02010609030101010101" charset="-122"/>
              </a:rPr>
              <a:t>if</a:t>
            </a:r>
          </a:p>
        </p:txBody>
      </p:sp>
      <p:sp>
        <p:nvSpPr>
          <p:cNvPr id="25611"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5612"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5613"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5614" name="Rectangle 11"/>
          <p:cNvSpPr/>
          <p:nvPr/>
        </p:nvSpPr>
        <p:spPr>
          <a:xfrm>
            <a:off x="7407275" y="403860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5615"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5616"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5617"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5"/>
                                        </p:tgtEl>
                                        <p:attrNameLst>
                                          <p:attrName>style.visibility</p:attrName>
                                        </p:attrNameLst>
                                      </p:cBhvr>
                                      <p:to>
                                        <p:strVal val="visible"/>
                                      </p:to>
                                    </p:set>
                                    <p:animEffect transition="in" filter="blinds(horizontal)">
                                      <p:cBhvr>
                                        <p:cTn id="7" dur="500"/>
                                        <p:tgtEl>
                                          <p:spTgt spid="225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46"/>
                                        </p:tgtEl>
                                        <p:attrNameLst>
                                          <p:attrName>style.visibility</p:attrName>
                                        </p:attrNameLst>
                                      </p:cBhvr>
                                      <p:to>
                                        <p:strVal val="visible"/>
                                      </p:to>
                                    </p:set>
                                    <p:animEffect transition="in" filter="blinds(horizontal)">
                                      <p:cBhvr>
                                        <p:cTn id="12" dur="500"/>
                                        <p:tgtEl>
                                          <p:spTgt spid="22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5" grpId="0" bldLvl="0"/>
      <p:bldP spid="22546" grpId="0" bldLvl="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方正书宋_GBK" charset="-122"/>
              </a:rPr>
              <a:t>语义分析</a:t>
            </a:r>
            <a:endParaRPr lang="zh-CN" altLang="en-US" sz="4000" dirty="0">
              <a:latin typeface="微软雅黑" panose="020B0503020204020204" pitchFamily="2" charset="-122"/>
              <a:ea typeface="微软雅黑" panose="020B0503020204020204" pitchFamily="2" charset="-122"/>
            </a:endParaRPr>
          </a:p>
        </p:txBody>
      </p:sp>
      <p:sp>
        <p:nvSpPr>
          <p:cNvPr id="26626" name="TextBox 4"/>
          <p:cNvSpPr txBox="1"/>
          <p:nvPr/>
        </p:nvSpPr>
        <p:spPr>
          <a:xfrm>
            <a:off x="6750050" y="1395413"/>
            <a:ext cx="3105150" cy="1695336"/>
          </a:xfrm>
          <a:prstGeom prst="rect">
            <a:avLst/>
          </a:prstGeom>
          <a:noFill/>
          <a:ln w="9525">
            <a:noFill/>
          </a:ln>
        </p:spPr>
        <p:txBody>
          <a:bodyPr wrap="squar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6627" name="Footer Placeholder 6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6628" name="Slide Number Placeholder 6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22</a:t>
            </a:fld>
            <a:endParaRPr lang="en-GB" altLang="en-US" sz="1200" dirty="0">
              <a:latin typeface="Comic Sans MS" panose="030F0702030302020204" pitchFamily="2" charset="0"/>
              <a:ea typeface="宋体" panose="02010600030101010101" pitchFamily="2" charset="-122"/>
            </a:endParaRPr>
          </a:p>
        </p:txBody>
      </p:sp>
      <p:sp>
        <p:nvSpPr>
          <p:cNvPr id="26629" name="Date Placeholder 6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6630" name="文本框 23565"/>
          <p:cNvSpPr txBox="1"/>
          <p:nvPr/>
        </p:nvSpPr>
        <p:spPr>
          <a:xfrm>
            <a:off x="674688" y="1441450"/>
            <a:ext cx="4525962" cy="601663"/>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indent="0" hangingPunct="0"/>
            <a:r>
              <a:rPr lang="zh-CN" altLang="en-US" sz="3600" dirty="0">
                <a:latin typeface="楷体_GB2312" panose="02010609030101010101" charset="-122"/>
                <a:ea typeface="楷体_GB2312" panose="02010609030101010101" charset="-122"/>
                <a:sym typeface="方正书宋_GBK" charset="-122"/>
              </a:rPr>
              <a:t>语义分析 </a:t>
            </a:r>
            <a:r>
              <a:rPr lang="zh-CN" altLang="en-US" sz="3600">
                <a:solidFill>
                  <a:srgbClr val="FF3300"/>
                </a:solidFill>
                <a:latin typeface="楷体_GB2312" panose="02010609030101010101" charset="-122"/>
                <a:ea typeface="楷体_GB2312" panose="02010609030101010101" charset="-122"/>
                <a:sym typeface="方正书宋_GBK" charset="-122"/>
              </a:rPr>
              <a:t>非常困难！</a:t>
            </a:r>
            <a:endParaRPr lang="en-US" altLang="zh-CN">
              <a:latin typeface="楷体_GB2312" panose="02010609030101010101" charset="-122"/>
              <a:ea typeface="楷体_GB2312" panose="02010609030101010101" charset="-122"/>
            </a:endParaRPr>
          </a:p>
        </p:txBody>
      </p:sp>
      <p:sp>
        <p:nvSpPr>
          <p:cNvPr id="23567" name="文本框 23566"/>
          <p:cNvSpPr txBox="1"/>
          <p:nvPr/>
        </p:nvSpPr>
        <p:spPr>
          <a:xfrm>
            <a:off x="204788" y="2686050"/>
            <a:ext cx="6278562" cy="1095375"/>
          </a:xfrm>
          <a:prstGeom prst="rect">
            <a:avLst/>
          </a:prstGeom>
          <a:noFill/>
          <a:ln w="9525">
            <a:noFill/>
          </a:ln>
        </p:spPr>
        <p:txBody>
          <a:bodyPr wrap="none" anchor="t" anchorCtr="0">
            <a:spAutoFit/>
          </a:bodyPr>
          <a:lstStyle/>
          <a:p>
            <a:pPr indent="0" hangingPunct="0">
              <a:lnSpc>
                <a:spcPct val="103000"/>
              </a:lnSpc>
            </a:pPr>
            <a:r>
              <a:rPr lang="zh-CN" altLang="en-US" sz="3200" b="1">
                <a:latin typeface="楷体_GB2312" panose="02010609030101010101" charset="-122"/>
                <a:ea typeface="楷体_GB2312" panose="02010609030101010101" charset="-122"/>
              </a:rPr>
              <a:t>结论</a:t>
            </a:r>
            <a:r>
              <a:rPr lang="en-US" altLang="zh-CN" sz="3200" b="1">
                <a:latin typeface="楷体_GB2312" panose="02010609030101010101" charset="-122"/>
                <a:ea typeface="楷体_GB2312" panose="02010609030101010101" charset="-122"/>
              </a:rPr>
              <a:t>:</a:t>
            </a:r>
          </a:p>
          <a:p>
            <a:pPr indent="0" hangingPunct="0">
              <a:lnSpc>
                <a:spcPct val="103000"/>
              </a:lnSpc>
            </a:pPr>
            <a:r>
              <a:rPr lang="zh-CN" altLang="en-US" sz="3200" b="1">
                <a:latin typeface="楷体_GB2312" panose="02010609030101010101" charset="-122"/>
                <a:ea typeface="楷体_GB2312" panose="02010609030101010101" charset="-122"/>
              </a:rPr>
              <a:t>    编译器仅完成</a:t>
            </a:r>
            <a:r>
              <a:rPr lang="zh-CN" altLang="en-US" sz="3200" b="1">
                <a:solidFill>
                  <a:srgbClr val="FF0000"/>
                </a:solidFill>
                <a:latin typeface="楷体_GB2312" panose="02010609030101010101" charset="-122"/>
                <a:ea typeface="楷体_GB2312" panose="02010609030101010101" charset="-122"/>
              </a:rPr>
              <a:t>有限的</a:t>
            </a:r>
            <a:r>
              <a:rPr lang="zh-CN" altLang="en-US" sz="3200" b="1">
                <a:latin typeface="楷体_GB2312" panose="02010609030101010101" charset="-122"/>
                <a:ea typeface="楷体_GB2312" panose="02010609030101010101" charset="-122"/>
              </a:rPr>
              <a:t>语义分析</a:t>
            </a:r>
            <a:endParaRPr lang="en-US" altLang="zh-CN" sz="3200" b="1">
              <a:latin typeface="楷体_GB2312" panose="02010609030101010101" charset="-122"/>
              <a:ea typeface="楷体_GB2312" panose="02010609030101010101" charset="-122"/>
            </a:endParaRPr>
          </a:p>
        </p:txBody>
      </p:sp>
      <p:sp>
        <p:nvSpPr>
          <p:cNvPr id="23568" name="文本框 23567"/>
          <p:cNvSpPr txBox="1"/>
          <p:nvPr/>
        </p:nvSpPr>
        <p:spPr>
          <a:xfrm>
            <a:off x="198438" y="5035550"/>
            <a:ext cx="6684962" cy="1095375"/>
          </a:xfrm>
          <a:prstGeom prst="rect">
            <a:avLst/>
          </a:prstGeom>
          <a:noFill/>
          <a:ln w="9525">
            <a:noFill/>
          </a:ln>
        </p:spPr>
        <p:txBody>
          <a:bodyPr wrap="none" anchor="t" anchorCtr="0">
            <a:spAutoFit/>
          </a:bodyPr>
          <a:lstStyle/>
          <a:p>
            <a:pPr indent="0" hangingPunct="0">
              <a:lnSpc>
                <a:spcPct val="103000"/>
              </a:lnSpc>
            </a:pPr>
            <a:r>
              <a:rPr lang="zh-CN" altLang="en-US" sz="3200" b="1">
                <a:latin typeface="楷体_GB2312" panose="02010609030101010101" charset="-122"/>
                <a:ea typeface="楷体_GB2312" panose="02010609030101010101" charset="-122"/>
              </a:rPr>
              <a:t>大多数情况：</a:t>
            </a:r>
          </a:p>
          <a:p>
            <a:pPr indent="0" hangingPunct="0">
              <a:lnSpc>
                <a:spcPct val="103000"/>
              </a:lnSpc>
            </a:pPr>
            <a:r>
              <a:rPr lang="zh-CN" altLang="en-US" sz="3200" b="1">
                <a:latin typeface="楷体_GB2312" panose="02010609030101010101" charset="-122"/>
                <a:ea typeface="楷体_GB2312" panose="02010609030101010101" charset="-122"/>
              </a:rPr>
              <a:t>    语义分析都要涉及“类型检查”</a:t>
            </a:r>
            <a:endParaRPr lang="en-US" altLang="zh-CN" sz="3200" b="1">
              <a:latin typeface="楷体_GB2312" panose="02010609030101010101" charset="-122"/>
              <a:ea typeface="楷体_GB2312" panose="02010609030101010101" charset="-122"/>
            </a:endParaRPr>
          </a:p>
        </p:txBody>
      </p:sp>
      <p:sp>
        <p:nvSpPr>
          <p:cNvPr id="26633"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6634"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6635"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6636" name="Rectangle 11"/>
          <p:cNvSpPr/>
          <p:nvPr/>
        </p:nvSpPr>
        <p:spPr>
          <a:xfrm>
            <a:off x="7407275" y="403860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6637"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6638"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6639"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67"/>
                                        </p:tgtEl>
                                        <p:attrNameLst>
                                          <p:attrName>style.visibility</p:attrName>
                                        </p:attrNameLst>
                                      </p:cBhvr>
                                      <p:to>
                                        <p:strVal val="visible"/>
                                      </p:to>
                                    </p:set>
                                    <p:animEffect transition="in" filter="blinds(horizontal)">
                                      <p:cBhvr>
                                        <p:cTn id="7" dur="500"/>
                                        <p:tgtEl>
                                          <p:spTgt spid="235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68"/>
                                        </p:tgtEl>
                                        <p:attrNameLst>
                                          <p:attrName>style.visibility</p:attrName>
                                        </p:attrNameLst>
                                      </p:cBhvr>
                                      <p:to>
                                        <p:strVal val="visible"/>
                                      </p:to>
                                    </p:set>
                                    <p:animEffect transition="in" filter="blinds(horizontal)">
                                      <p:cBhvr>
                                        <p:cTn id="12" dur="500"/>
                                        <p:tgtEl>
                                          <p:spTgt spid="23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7" grpId="0" bldLvl="0"/>
      <p:bldP spid="23568" grpId="0" bldLvl="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sym typeface="方正书宋_GBK" charset="-122"/>
              </a:rPr>
              <a:t>语义分析</a:t>
            </a:r>
            <a:endParaRPr lang="zh-CN" altLang="en-US" sz="4000" dirty="0">
              <a:latin typeface="微软雅黑" panose="020B0503020204020204" pitchFamily="2" charset="-122"/>
              <a:ea typeface="微软雅黑" panose="020B0503020204020204" pitchFamily="2" charset="-122"/>
            </a:endParaRPr>
          </a:p>
        </p:txBody>
      </p:sp>
      <p:sp>
        <p:nvSpPr>
          <p:cNvPr id="27650" name="TextBox 4"/>
          <p:cNvSpPr txBox="1"/>
          <p:nvPr/>
        </p:nvSpPr>
        <p:spPr>
          <a:xfrm>
            <a:off x="6750050" y="1395413"/>
            <a:ext cx="3152775" cy="1693862"/>
          </a:xfrm>
          <a:prstGeom prst="rect">
            <a:avLst/>
          </a:prstGeom>
          <a:noFill/>
          <a:ln w="9525">
            <a:noFill/>
          </a:ln>
        </p:spPr>
        <p:txBody>
          <a:bodyPr wrap="none" anchor="t" anchorCtr="0">
            <a:spAutoFit/>
          </a:bodyPr>
          <a:lstStyle/>
          <a:p>
            <a:pPr indent="0" hangingPunct="0"/>
            <a:r>
              <a:rPr lang="es-ES" altLang="en-US" sz="2800" b="1" dirty="0">
                <a:latin typeface="新宋体" panose="02010609030101010101" charset="-122"/>
                <a:ea typeface="新宋体" panose="02010609030101010101" charset="-122"/>
              </a:rPr>
              <a:t>while</a:t>
            </a:r>
            <a:r>
              <a:rPr lang="es-ES" altLang="en-US" sz="2800" dirty="0">
                <a:latin typeface="新宋体" panose="02010609030101010101" charset="-122"/>
                <a:ea typeface="新宋体" panose="02010609030101010101" charset="-122"/>
              </a:rPr>
              <a:t> (y &lt; z) {</a:t>
            </a:r>
          </a:p>
          <a:p>
            <a:pPr indent="0" hangingPunct="0"/>
            <a:r>
              <a:rPr lang="es-ES" altLang="en-US" sz="2800" dirty="0">
                <a:latin typeface="新宋体" panose="02010609030101010101" charset="-122"/>
                <a:ea typeface="新宋体" panose="02010609030101010101" charset="-122"/>
              </a:rPr>
              <a:t>	</a:t>
            </a:r>
            <a:r>
              <a:rPr lang="es-ES" altLang="en-US" sz="2800" b="1" dirty="0">
                <a:latin typeface="新宋体" panose="02010609030101010101" charset="-122"/>
                <a:ea typeface="新宋体" panose="02010609030101010101" charset="-122"/>
              </a:rPr>
              <a:t>int</a:t>
            </a:r>
            <a:r>
              <a:rPr lang="es-ES" altLang="en-US" sz="2800" dirty="0">
                <a:latin typeface="新宋体" panose="02010609030101010101" charset="-122"/>
                <a:ea typeface="新宋体" panose="02010609030101010101" charset="-122"/>
              </a:rPr>
              <a:t> x = a + b;</a:t>
            </a:r>
          </a:p>
          <a:p>
            <a:pPr indent="0" hangingPunct="0"/>
            <a:r>
              <a:rPr lang="es-ES" altLang="en-US" sz="2800" dirty="0">
                <a:latin typeface="新宋体" panose="02010609030101010101" charset="-122"/>
                <a:ea typeface="新宋体" panose="02010609030101010101" charset="-122"/>
              </a:rPr>
              <a:t>	y += x;</a:t>
            </a:r>
          </a:p>
          <a:p>
            <a:pPr indent="0" hangingPunct="0"/>
            <a:r>
              <a:rPr lang="es-ES" altLang="en-US" sz="2800" dirty="0">
                <a:latin typeface="新宋体" panose="02010609030101010101" charset="-122"/>
                <a:ea typeface="新宋体" panose="02010609030101010101" charset="-122"/>
              </a:rPr>
              <a:t>}</a:t>
            </a:r>
            <a:endParaRPr lang="en-US" altLang="zh-CN" sz="2800" dirty="0">
              <a:latin typeface="新宋体" panose="02010609030101010101" charset="-122"/>
              <a:ea typeface="新宋体" panose="02010609030101010101" charset="-122"/>
            </a:endParaRPr>
          </a:p>
        </p:txBody>
      </p:sp>
      <p:grpSp>
        <p:nvGrpSpPr>
          <p:cNvPr id="27651" name="组合 24579"/>
          <p:cNvGrpSpPr/>
          <p:nvPr/>
        </p:nvGrpSpPr>
        <p:grpSpPr>
          <a:xfrm>
            <a:off x="1125538" y="1439863"/>
            <a:ext cx="3059112" cy="2114550"/>
            <a:chOff x="0" y="0"/>
            <a:chExt cx="3060203" cy="2115140"/>
          </a:xfrm>
        </p:grpSpPr>
        <p:sp>
          <p:nvSpPr>
            <p:cNvPr id="27652" name="Rounded Rectangle 16"/>
            <p:cNvSpPr/>
            <p:nvPr/>
          </p:nvSpPr>
          <p:spPr>
            <a:xfrm>
              <a:off x="1350089" y="0"/>
              <a:ext cx="1260084"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t" anchorCtr="0"/>
            <a:lstStyle/>
            <a:p>
              <a:pPr indent="0" algn="ctr" hangingPunct="0"/>
              <a:r>
                <a:rPr lang="en-US" altLang="zh-CN" sz="2800" dirty="0">
                  <a:latin typeface="Arial" panose="020B0604020202020204" pitchFamily="34" charset="0"/>
                  <a:ea typeface="宋体" panose="02010600030101010101" pitchFamily="2" charset="-122"/>
                </a:rPr>
                <a:t>while</a:t>
              </a:r>
            </a:p>
          </p:txBody>
        </p:sp>
        <p:cxnSp>
          <p:nvCxnSpPr>
            <p:cNvPr id="27653" name="Straight Arrow Connector 17"/>
            <p:cNvCxnSpPr>
              <a:stCxn id="27652" idx="2"/>
              <a:endCxn id="27660" idx="0"/>
            </p:cNvCxnSpPr>
            <p:nvPr/>
          </p:nvCxnSpPr>
          <p:spPr>
            <a:xfrm rot="5400000">
              <a:off x="157488" y="292496"/>
              <a:ext cx="1665111" cy="1980132"/>
            </a:xfrm>
            <a:prstGeom prst="straightConnector1">
              <a:avLst/>
            </a:prstGeom>
            <a:ln w="9525" cap="flat" cmpd="sng">
              <a:solidFill>
                <a:schemeClr val="tx1"/>
              </a:solidFill>
              <a:prstDash val="solid"/>
              <a:round/>
              <a:headEnd type="none" w="med" len="med"/>
              <a:tailEnd type="arrow" w="med" len="med"/>
            </a:ln>
          </p:spPr>
        </p:cxnSp>
        <p:cxnSp>
          <p:nvCxnSpPr>
            <p:cNvPr id="27654" name="Straight Arrow Connector 18"/>
            <p:cNvCxnSpPr>
              <a:stCxn id="27652" idx="2"/>
              <a:endCxn id="27656" idx="0"/>
            </p:cNvCxnSpPr>
            <p:nvPr/>
          </p:nvCxnSpPr>
          <p:spPr>
            <a:xfrm rot="-5400000" flipH="1">
              <a:off x="2205146" y="225015"/>
              <a:ext cx="630042" cy="1080072"/>
            </a:xfrm>
            <a:prstGeom prst="straightConnector1">
              <a:avLst/>
            </a:prstGeom>
            <a:ln w="9525" cap="flat" cmpd="sng">
              <a:solidFill>
                <a:schemeClr val="tx1"/>
              </a:solidFill>
              <a:prstDash val="solid"/>
              <a:round/>
              <a:headEnd type="none" w="med" len="med"/>
              <a:tailEnd type="arrow" w="med" len="med"/>
            </a:ln>
          </p:spPr>
        </p:cxnSp>
      </p:grpSp>
      <p:grpSp>
        <p:nvGrpSpPr>
          <p:cNvPr id="27655" name="组合 24583"/>
          <p:cNvGrpSpPr/>
          <p:nvPr/>
        </p:nvGrpSpPr>
        <p:grpSpPr>
          <a:xfrm>
            <a:off x="3149600" y="2519363"/>
            <a:ext cx="2251075" cy="1035050"/>
            <a:chOff x="0" y="0"/>
            <a:chExt cx="2250150" cy="1035068"/>
          </a:xfrm>
        </p:grpSpPr>
        <p:sp>
          <p:nvSpPr>
            <p:cNvPr id="27656" name="Rounded Rectangle 20"/>
            <p:cNvSpPr/>
            <p:nvPr/>
          </p:nvSpPr>
          <p:spPr>
            <a:xfrm>
              <a:off x="405027" y="0"/>
              <a:ext cx="1260084"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t" anchorCtr="0"/>
            <a:lstStyle/>
            <a:p>
              <a:pPr indent="0" algn="ctr" hangingPunct="0"/>
              <a:r>
                <a:rPr lang="en-US" altLang="zh-CN">
                  <a:latin typeface="Arial" panose="020B0604020202020204" pitchFamily="34" charset="0"/>
                  <a:ea typeface="宋体" panose="02010600030101010101" pitchFamily="2" charset="-122"/>
                </a:rPr>
                <a:t>sequence</a:t>
              </a:r>
            </a:p>
          </p:txBody>
        </p:sp>
        <p:cxnSp>
          <p:nvCxnSpPr>
            <p:cNvPr id="27657" name="Straight Arrow Connector 21"/>
            <p:cNvCxnSpPr>
              <a:stCxn id="27656" idx="2"/>
              <a:endCxn id="27666" idx="0"/>
            </p:cNvCxnSpPr>
            <p:nvPr/>
          </p:nvCxnSpPr>
          <p:spPr>
            <a:xfrm rot="5400000">
              <a:off x="224993" y="224991"/>
              <a:ext cx="585039" cy="1035070"/>
            </a:xfrm>
            <a:prstGeom prst="straightConnector1">
              <a:avLst/>
            </a:prstGeom>
            <a:ln w="9525" cap="flat" cmpd="sng">
              <a:solidFill>
                <a:schemeClr val="tx1"/>
              </a:solidFill>
              <a:prstDash val="solid"/>
              <a:round/>
              <a:headEnd type="none" w="med" len="med"/>
              <a:tailEnd type="arrow" w="med" len="med"/>
            </a:ln>
          </p:spPr>
        </p:cxnSp>
        <p:cxnSp>
          <p:nvCxnSpPr>
            <p:cNvPr id="27658" name="Straight Arrow Connector 22"/>
            <p:cNvCxnSpPr>
              <a:stCxn id="27656" idx="2"/>
              <a:endCxn id="27677" idx="0"/>
            </p:cNvCxnSpPr>
            <p:nvPr/>
          </p:nvCxnSpPr>
          <p:spPr>
            <a:xfrm rot="-5400000" flipH="1">
              <a:off x="1350068" y="134986"/>
              <a:ext cx="585039" cy="1215080"/>
            </a:xfrm>
            <a:prstGeom prst="straightConnector1">
              <a:avLst/>
            </a:prstGeom>
            <a:ln w="9525" cap="flat" cmpd="sng">
              <a:solidFill>
                <a:schemeClr val="tx1"/>
              </a:solidFill>
              <a:prstDash val="solid"/>
              <a:round/>
              <a:headEnd type="none" w="med" len="med"/>
              <a:tailEnd type="arrow" w="med" len="med"/>
            </a:ln>
          </p:spPr>
        </p:cxnSp>
      </p:grpSp>
      <p:grpSp>
        <p:nvGrpSpPr>
          <p:cNvPr id="27659" name="组合 24587"/>
          <p:cNvGrpSpPr/>
          <p:nvPr/>
        </p:nvGrpSpPr>
        <p:grpSpPr>
          <a:xfrm>
            <a:off x="314325" y="3554413"/>
            <a:ext cx="1485900" cy="1485900"/>
            <a:chOff x="0" y="0"/>
            <a:chExt cx="1485099" cy="1485099"/>
          </a:xfrm>
        </p:grpSpPr>
        <p:sp>
          <p:nvSpPr>
            <p:cNvPr id="27660" name="Rounded Rectangle 24"/>
            <p:cNvSpPr/>
            <p:nvPr/>
          </p:nvSpPr>
          <p:spPr>
            <a:xfrm>
              <a:off x="540036" y="0"/>
              <a:ext cx="540036"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&lt;</a:t>
              </a:r>
            </a:p>
          </p:txBody>
        </p:sp>
        <p:sp>
          <p:nvSpPr>
            <p:cNvPr id="27661" name="Rounded Rectangle 25"/>
            <p:cNvSpPr/>
            <p:nvPr/>
          </p:nvSpPr>
          <p:spPr>
            <a:xfrm>
              <a:off x="0" y="1035069"/>
              <a:ext cx="585039"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y</a:t>
              </a:r>
            </a:p>
          </p:txBody>
        </p:sp>
        <p:sp>
          <p:nvSpPr>
            <p:cNvPr id="27662" name="Rounded Rectangle 26"/>
            <p:cNvSpPr/>
            <p:nvPr/>
          </p:nvSpPr>
          <p:spPr>
            <a:xfrm>
              <a:off x="945063" y="1035069"/>
              <a:ext cx="540036"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z</a:t>
              </a:r>
            </a:p>
          </p:txBody>
        </p:sp>
        <p:cxnSp>
          <p:nvCxnSpPr>
            <p:cNvPr id="27663" name="Straight Arrow Connector 27"/>
            <p:cNvCxnSpPr>
              <a:stCxn id="27660" idx="2"/>
              <a:endCxn id="27661" idx="0"/>
            </p:cNvCxnSpPr>
            <p:nvPr/>
          </p:nvCxnSpPr>
          <p:spPr>
            <a:xfrm rot="5400000">
              <a:off x="258746" y="483759"/>
              <a:ext cx="585039" cy="517534"/>
            </a:xfrm>
            <a:prstGeom prst="straightConnector1">
              <a:avLst/>
            </a:prstGeom>
            <a:ln w="9525" cap="flat" cmpd="sng">
              <a:solidFill>
                <a:schemeClr val="tx1"/>
              </a:solidFill>
              <a:prstDash val="solid"/>
              <a:round/>
              <a:headEnd type="none" w="med" len="med"/>
              <a:tailEnd type="arrow" w="med" len="med"/>
            </a:ln>
          </p:spPr>
        </p:cxnSp>
        <p:cxnSp>
          <p:nvCxnSpPr>
            <p:cNvPr id="27664" name="Straight Arrow Connector 28"/>
            <p:cNvCxnSpPr>
              <a:stCxn id="27660" idx="2"/>
              <a:endCxn id="27662" idx="0"/>
            </p:cNvCxnSpPr>
            <p:nvPr/>
          </p:nvCxnSpPr>
          <p:spPr>
            <a:xfrm rot="-5400000" flipH="1">
              <a:off x="720026" y="540013"/>
              <a:ext cx="585039" cy="405027"/>
            </a:xfrm>
            <a:prstGeom prst="straightConnector1">
              <a:avLst/>
            </a:prstGeom>
            <a:ln w="9525" cap="flat" cmpd="sng">
              <a:solidFill>
                <a:schemeClr val="tx1"/>
              </a:solidFill>
              <a:prstDash val="solid"/>
              <a:round/>
              <a:headEnd type="none" w="med" len="med"/>
              <a:tailEnd type="arrow" w="med" len="med"/>
            </a:ln>
          </p:spPr>
        </p:cxnSp>
      </p:grpSp>
      <p:grpSp>
        <p:nvGrpSpPr>
          <p:cNvPr id="27665" name="组合 24593"/>
          <p:cNvGrpSpPr/>
          <p:nvPr/>
        </p:nvGrpSpPr>
        <p:grpSpPr>
          <a:xfrm>
            <a:off x="2519363" y="3554413"/>
            <a:ext cx="1216025" cy="1485900"/>
            <a:chOff x="0" y="0"/>
            <a:chExt cx="1215082" cy="1485099"/>
          </a:xfrm>
        </p:grpSpPr>
        <p:sp>
          <p:nvSpPr>
            <p:cNvPr id="27666" name="Rounded Rectangle 30"/>
            <p:cNvSpPr/>
            <p:nvPr/>
          </p:nvSpPr>
          <p:spPr>
            <a:xfrm>
              <a:off x="360023" y="0"/>
              <a:ext cx="540036"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a:t>
              </a:r>
            </a:p>
          </p:txBody>
        </p:sp>
        <p:sp>
          <p:nvSpPr>
            <p:cNvPr id="27667" name="Rounded Rectangle 31"/>
            <p:cNvSpPr/>
            <p:nvPr/>
          </p:nvSpPr>
          <p:spPr>
            <a:xfrm>
              <a:off x="0" y="1035069"/>
              <a:ext cx="585039"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x</a:t>
              </a:r>
            </a:p>
          </p:txBody>
        </p:sp>
        <p:cxnSp>
          <p:nvCxnSpPr>
            <p:cNvPr id="27668" name="Straight Arrow Connector 32"/>
            <p:cNvCxnSpPr>
              <a:stCxn id="27666" idx="2"/>
              <a:endCxn id="27667" idx="0"/>
            </p:cNvCxnSpPr>
            <p:nvPr/>
          </p:nvCxnSpPr>
          <p:spPr>
            <a:xfrm rot="5400000">
              <a:off x="168740" y="573767"/>
              <a:ext cx="585039" cy="337521"/>
            </a:xfrm>
            <a:prstGeom prst="straightConnector1">
              <a:avLst/>
            </a:prstGeom>
            <a:ln w="9525" cap="flat" cmpd="sng">
              <a:solidFill>
                <a:schemeClr val="tx1"/>
              </a:solidFill>
              <a:prstDash val="solid"/>
              <a:round/>
              <a:headEnd type="none" w="med" len="med"/>
              <a:tailEnd type="arrow" w="med" len="med"/>
            </a:ln>
          </p:spPr>
        </p:cxnSp>
        <p:cxnSp>
          <p:nvCxnSpPr>
            <p:cNvPr id="27669" name="Straight Arrow Connector 33"/>
            <p:cNvCxnSpPr>
              <a:stCxn id="27666" idx="2"/>
              <a:endCxn id="27671" idx="0"/>
            </p:cNvCxnSpPr>
            <p:nvPr/>
          </p:nvCxnSpPr>
          <p:spPr>
            <a:xfrm rot="-5400000" flipH="1">
              <a:off x="630020" y="450006"/>
              <a:ext cx="585039" cy="585040"/>
            </a:xfrm>
            <a:prstGeom prst="straightConnector1">
              <a:avLst/>
            </a:prstGeom>
            <a:ln w="9525" cap="flat" cmpd="sng">
              <a:solidFill>
                <a:schemeClr val="tx1"/>
              </a:solidFill>
              <a:prstDash val="solid"/>
              <a:round/>
              <a:headEnd type="none" w="med" len="med"/>
              <a:tailEnd type="arrow" w="med" len="med"/>
            </a:ln>
          </p:spPr>
        </p:cxnSp>
      </p:grpSp>
      <p:grpSp>
        <p:nvGrpSpPr>
          <p:cNvPr id="27670" name="组合 24598"/>
          <p:cNvGrpSpPr/>
          <p:nvPr/>
        </p:nvGrpSpPr>
        <p:grpSpPr>
          <a:xfrm>
            <a:off x="3060700" y="4589463"/>
            <a:ext cx="1349375" cy="1846262"/>
            <a:chOff x="0" y="0"/>
            <a:chExt cx="1350090" cy="1845123"/>
          </a:xfrm>
        </p:grpSpPr>
        <p:sp>
          <p:nvSpPr>
            <p:cNvPr id="27671" name="Rounded Rectangle 35"/>
            <p:cNvSpPr/>
            <p:nvPr/>
          </p:nvSpPr>
          <p:spPr>
            <a:xfrm>
              <a:off x="405027" y="0"/>
              <a:ext cx="540036"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a:t>
              </a:r>
            </a:p>
          </p:txBody>
        </p:sp>
        <p:sp>
          <p:nvSpPr>
            <p:cNvPr id="27672" name="Rounded Rectangle 36"/>
            <p:cNvSpPr/>
            <p:nvPr/>
          </p:nvSpPr>
          <p:spPr>
            <a:xfrm>
              <a:off x="0" y="1395093"/>
              <a:ext cx="585039"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a</a:t>
              </a:r>
            </a:p>
          </p:txBody>
        </p:sp>
        <p:sp>
          <p:nvSpPr>
            <p:cNvPr id="27673" name="Rounded Rectangle 37"/>
            <p:cNvSpPr/>
            <p:nvPr/>
          </p:nvSpPr>
          <p:spPr>
            <a:xfrm>
              <a:off x="810054" y="1395093"/>
              <a:ext cx="540036" cy="45003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b</a:t>
              </a:r>
            </a:p>
          </p:txBody>
        </p:sp>
        <p:cxnSp>
          <p:nvCxnSpPr>
            <p:cNvPr id="27674" name="Straight Arrow Connector 38"/>
            <p:cNvCxnSpPr>
              <a:stCxn id="27671" idx="2"/>
              <a:endCxn id="27672" idx="0"/>
            </p:cNvCxnSpPr>
            <p:nvPr/>
          </p:nvCxnSpPr>
          <p:spPr>
            <a:xfrm rot="5400000">
              <a:off x="11230" y="731277"/>
              <a:ext cx="945063" cy="382525"/>
            </a:xfrm>
            <a:prstGeom prst="straightConnector1">
              <a:avLst/>
            </a:prstGeom>
            <a:ln w="9525" cap="flat" cmpd="sng">
              <a:solidFill>
                <a:schemeClr val="tx1"/>
              </a:solidFill>
              <a:prstDash val="solid"/>
              <a:round/>
              <a:headEnd type="none" w="med" len="med"/>
              <a:tailEnd type="arrow" w="med" len="med"/>
            </a:ln>
          </p:spPr>
        </p:cxnSp>
        <p:cxnSp>
          <p:nvCxnSpPr>
            <p:cNvPr id="27675" name="Straight Arrow Connector 39"/>
            <p:cNvCxnSpPr>
              <a:stCxn id="27671" idx="2"/>
              <a:endCxn id="27673" idx="0"/>
            </p:cNvCxnSpPr>
            <p:nvPr/>
          </p:nvCxnSpPr>
          <p:spPr>
            <a:xfrm rot="-5400000" flipH="1">
              <a:off x="405005" y="720025"/>
              <a:ext cx="945063" cy="405027"/>
            </a:xfrm>
            <a:prstGeom prst="straightConnector1">
              <a:avLst/>
            </a:prstGeom>
            <a:ln w="9525" cap="flat" cmpd="sng">
              <a:solidFill>
                <a:schemeClr val="tx1"/>
              </a:solidFill>
              <a:prstDash val="solid"/>
              <a:round/>
              <a:headEnd type="none" w="med" len="med"/>
              <a:tailEnd type="arrow" w="med" len="med"/>
            </a:ln>
          </p:spPr>
        </p:cxnSp>
      </p:grpSp>
      <p:sp>
        <p:nvSpPr>
          <p:cNvPr id="27676" name="Rounded Rectangle 41"/>
          <p:cNvSpPr/>
          <p:nvPr/>
        </p:nvSpPr>
        <p:spPr>
          <a:xfrm>
            <a:off x="5624513" y="4589463"/>
            <a:ext cx="541337" cy="45085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a:latin typeface="Arial" panose="020B0604020202020204" pitchFamily="34" charset="0"/>
                <a:ea typeface="宋体" panose="02010600030101010101" pitchFamily="2" charset="-122"/>
              </a:rPr>
              <a:t>x</a:t>
            </a:r>
            <a:endParaRPr lang="en-US" altLang="zh-CN">
              <a:latin typeface="Arial" panose="020B0604020202020204" pitchFamily="34" charset="0"/>
              <a:ea typeface="楷体_GB2312" panose="02010609030101010101" charset="-122"/>
            </a:endParaRPr>
          </a:p>
        </p:txBody>
      </p:sp>
      <p:sp>
        <p:nvSpPr>
          <p:cNvPr id="27677" name="Rounded Rectangle 47"/>
          <p:cNvSpPr/>
          <p:nvPr/>
        </p:nvSpPr>
        <p:spPr>
          <a:xfrm>
            <a:off x="5130800" y="3556000"/>
            <a:ext cx="720725" cy="449263"/>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2800" dirty="0">
                <a:latin typeface="Arial" panose="020B0604020202020204" pitchFamily="34" charset="0"/>
                <a:ea typeface="宋体" panose="02010600030101010101" pitchFamily="2" charset="-122"/>
              </a:rPr>
              <a:t>+</a:t>
            </a:r>
            <a:r>
              <a:rPr lang="en-US" altLang="zh-CN" sz="2800" dirty="0">
                <a:latin typeface="Arial" panose="020B0604020202020204" pitchFamily="34" charset="0"/>
                <a:ea typeface="宋体" panose="02010600030101010101" pitchFamily="2" charset="-122"/>
              </a:rPr>
              <a:t>=</a:t>
            </a:r>
          </a:p>
        </p:txBody>
      </p:sp>
      <p:sp>
        <p:nvSpPr>
          <p:cNvPr id="27678" name="Rounded Rectangle 48"/>
          <p:cNvSpPr/>
          <p:nvPr/>
        </p:nvSpPr>
        <p:spPr>
          <a:xfrm>
            <a:off x="4725988" y="4589463"/>
            <a:ext cx="584200" cy="45085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en-US" altLang="zh-CN" sz="2800" dirty="0">
                <a:latin typeface="Arial" panose="020B0604020202020204" pitchFamily="34" charset="0"/>
                <a:ea typeface="宋体" panose="02010600030101010101" pitchFamily="2" charset="-122"/>
              </a:rPr>
              <a:t>y</a:t>
            </a:r>
          </a:p>
        </p:txBody>
      </p:sp>
      <p:cxnSp>
        <p:nvCxnSpPr>
          <p:cNvPr id="27679" name="Straight Arrow Connector 49"/>
          <p:cNvCxnSpPr>
            <a:stCxn id="27677" idx="2"/>
            <a:endCxn id="27678" idx="0"/>
          </p:cNvCxnSpPr>
          <p:nvPr/>
        </p:nvCxnSpPr>
        <p:spPr>
          <a:xfrm flipH="1">
            <a:off x="5018088" y="4005263"/>
            <a:ext cx="473075" cy="584200"/>
          </a:xfrm>
          <a:prstGeom prst="straightConnector1">
            <a:avLst/>
          </a:prstGeom>
          <a:ln w="9525" cap="flat" cmpd="sng">
            <a:solidFill>
              <a:schemeClr val="tx1"/>
            </a:solidFill>
            <a:prstDash val="solid"/>
            <a:round/>
            <a:headEnd type="none" w="med" len="med"/>
            <a:tailEnd type="arrow" w="med" len="med"/>
          </a:ln>
        </p:spPr>
      </p:cxnSp>
      <p:cxnSp>
        <p:nvCxnSpPr>
          <p:cNvPr id="27680" name="Straight Arrow Connector 50"/>
          <p:cNvCxnSpPr>
            <a:stCxn id="27677" idx="2"/>
            <a:endCxn id="27676" idx="0"/>
          </p:cNvCxnSpPr>
          <p:nvPr/>
        </p:nvCxnSpPr>
        <p:spPr>
          <a:xfrm>
            <a:off x="5491163" y="4005263"/>
            <a:ext cx="404812" cy="584200"/>
          </a:xfrm>
          <a:prstGeom prst="straightConnector1">
            <a:avLst/>
          </a:prstGeom>
          <a:ln w="9525" cap="flat" cmpd="sng">
            <a:solidFill>
              <a:schemeClr val="tx1"/>
            </a:solidFill>
            <a:prstDash val="solid"/>
            <a:round/>
            <a:headEnd type="none" w="med" len="med"/>
            <a:tailEnd type="arrow" w="med" len="med"/>
          </a:ln>
        </p:spPr>
      </p:cxnSp>
      <p:sp>
        <p:nvSpPr>
          <p:cNvPr id="27681" name="TextBox 51"/>
          <p:cNvSpPr txBox="1"/>
          <p:nvPr/>
        </p:nvSpPr>
        <p:spPr>
          <a:xfrm>
            <a:off x="269875" y="5057775"/>
            <a:ext cx="617538"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82" name="TextBox 52"/>
          <p:cNvSpPr txBox="1"/>
          <p:nvPr/>
        </p:nvSpPr>
        <p:spPr>
          <a:xfrm>
            <a:off x="1227138" y="5057775"/>
            <a:ext cx="617537"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83" name="TextBox 53"/>
          <p:cNvSpPr txBox="1"/>
          <p:nvPr/>
        </p:nvSpPr>
        <p:spPr>
          <a:xfrm>
            <a:off x="2506663" y="5057775"/>
            <a:ext cx="617537"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84" name="TextBox 54"/>
          <p:cNvSpPr txBox="1"/>
          <p:nvPr/>
        </p:nvSpPr>
        <p:spPr>
          <a:xfrm>
            <a:off x="3014663" y="6378575"/>
            <a:ext cx="617537" cy="550863"/>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85" name="TextBox 55"/>
          <p:cNvSpPr txBox="1"/>
          <p:nvPr/>
        </p:nvSpPr>
        <p:spPr>
          <a:xfrm>
            <a:off x="3792538" y="6378575"/>
            <a:ext cx="617537" cy="550863"/>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86" name="TextBox 58"/>
          <p:cNvSpPr txBox="1"/>
          <p:nvPr/>
        </p:nvSpPr>
        <p:spPr>
          <a:xfrm>
            <a:off x="4711700" y="5057775"/>
            <a:ext cx="617538"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4616" name="TextBox 59"/>
          <p:cNvSpPr txBox="1"/>
          <p:nvPr/>
        </p:nvSpPr>
        <p:spPr>
          <a:xfrm>
            <a:off x="5599113" y="5067300"/>
            <a:ext cx="617537" cy="550863"/>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4617" name="TextBox 60"/>
          <p:cNvSpPr txBox="1"/>
          <p:nvPr/>
        </p:nvSpPr>
        <p:spPr>
          <a:xfrm>
            <a:off x="5761038" y="3505200"/>
            <a:ext cx="617537"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4618" name="TextBox 61"/>
          <p:cNvSpPr txBox="1"/>
          <p:nvPr/>
        </p:nvSpPr>
        <p:spPr>
          <a:xfrm>
            <a:off x="3556000" y="3498850"/>
            <a:ext cx="615950" cy="550863"/>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4619" name="TextBox 62"/>
          <p:cNvSpPr txBox="1"/>
          <p:nvPr/>
        </p:nvSpPr>
        <p:spPr>
          <a:xfrm>
            <a:off x="1530350" y="3497263"/>
            <a:ext cx="958850"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bool</a:t>
            </a:r>
          </a:p>
        </p:txBody>
      </p:sp>
      <p:sp>
        <p:nvSpPr>
          <p:cNvPr id="24620" name="TextBox 63"/>
          <p:cNvSpPr txBox="1"/>
          <p:nvPr/>
        </p:nvSpPr>
        <p:spPr>
          <a:xfrm>
            <a:off x="4905375" y="2474913"/>
            <a:ext cx="936625" cy="550862"/>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void</a:t>
            </a:r>
          </a:p>
        </p:txBody>
      </p:sp>
      <p:sp>
        <p:nvSpPr>
          <p:cNvPr id="24621" name="TextBox 64"/>
          <p:cNvSpPr txBox="1"/>
          <p:nvPr/>
        </p:nvSpPr>
        <p:spPr>
          <a:xfrm>
            <a:off x="3779838" y="1395413"/>
            <a:ext cx="936625" cy="549275"/>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void</a:t>
            </a:r>
          </a:p>
        </p:txBody>
      </p:sp>
      <p:sp>
        <p:nvSpPr>
          <p:cNvPr id="24622" name="TextBox 66"/>
          <p:cNvSpPr txBox="1"/>
          <p:nvPr/>
        </p:nvSpPr>
        <p:spPr>
          <a:xfrm>
            <a:off x="3960813" y="4545013"/>
            <a:ext cx="617537" cy="550862"/>
          </a:xfrm>
          <a:prstGeom prst="rect">
            <a:avLst/>
          </a:prstGeom>
          <a:noFill/>
          <a:ln w="9525">
            <a:noFill/>
          </a:ln>
        </p:spPr>
        <p:txBody>
          <a:bodyPr wrap="none" anchor="t" anchorCtr="0">
            <a:spAutoFit/>
          </a:bodyPr>
          <a:lstStyle/>
          <a:p>
            <a:pPr indent="0" hangingPunct="0"/>
            <a:r>
              <a:rPr lang="en-US" altLang="zh-CN" sz="3200" dirty="0">
                <a:latin typeface="Arial" panose="020B0604020202020204" pitchFamily="34" charset="0"/>
                <a:ea typeface="宋体" panose="02010600030101010101" pitchFamily="2" charset="-122"/>
              </a:rPr>
              <a:t>int</a:t>
            </a:r>
          </a:p>
        </p:txBody>
      </p:sp>
      <p:sp>
        <p:nvSpPr>
          <p:cNvPr id="27694" name="Footer Placeholder 68"/>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7695" name="Slide Number Placeholder 69"/>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23</a:t>
            </a:fld>
            <a:endParaRPr lang="en-GB" altLang="en-US" sz="1200" dirty="0">
              <a:latin typeface="Comic Sans MS" panose="030F0702030302020204" pitchFamily="2" charset="0"/>
              <a:ea typeface="宋体" panose="02010600030101010101" pitchFamily="2" charset="-122"/>
            </a:endParaRPr>
          </a:p>
        </p:txBody>
      </p:sp>
      <p:sp>
        <p:nvSpPr>
          <p:cNvPr id="27696" name="Date Placeholder 6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7697" name="Rectangle 8"/>
          <p:cNvSpPr/>
          <p:nvPr/>
        </p:nvSpPr>
        <p:spPr>
          <a:xfrm>
            <a:off x="7407275" y="297021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7698" name="Rectangle 9"/>
          <p:cNvSpPr/>
          <p:nvPr/>
        </p:nvSpPr>
        <p:spPr>
          <a:xfrm>
            <a:off x="7407275" y="45783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7699" name="Rectangle 10"/>
          <p:cNvSpPr/>
          <p:nvPr/>
        </p:nvSpPr>
        <p:spPr>
          <a:xfrm>
            <a:off x="7407275" y="34988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7700" name="Rectangle 11"/>
          <p:cNvSpPr/>
          <p:nvPr/>
        </p:nvSpPr>
        <p:spPr>
          <a:xfrm>
            <a:off x="7407275" y="403860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7701" name="Rectangle 12"/>
          <p:cNvSpPr/>
          <p:nvPr/>
        </p:nvSpPr>
        <p:spPr>
          <a:xfrm>
            <a:off x="7407275" y="51196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7702" name="Rectangle 13"/>
          <p:cNvSpPr/>
          <p:nvPr/>
        </p:nvSpPr>
        <p:spPr>
          <a:xfrm>
            <a:off x="7407275" y="61991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7703" name="Rectangle 14"/>
          <p:cNvSpPr/>
          <p:nvPr/>
        </p:nvSpPr>
        <p:spPr>
          <a:xfrm>
            <a:off x="7407275" y="5643563"/>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619"/>
                                        </p:tgtEl>
                                        <p:attrNameLst>
                                          <p:attrName>style.visibility</p:attrName>
                                        </p:attrNameLst>
                                      </p:cBhvr>
                                      <p:to>
                                        <p:strVal val="visible"/>
                                      </p:to>
                                    </p:set>
                                    <p:animEffect transition="in" filter="blinds(horizontal)">
                                      <p:cBhvr>
                                        <p:cTn id="7" dur="500"/>
                                        <p:tgtEl>
                                          <p:spTgt spid="246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622"/>
                                        </p:tgtEl>
                                        <p:attrNameLst>
                                          <p:attrName>style.visibility</p:attrName>
                                        </p:attrNameLst>
                                      </p:cBhvr>
                                      <p:to>
                                        <p:strVal val="visible"/>
                                      </p:to>
                                    </p:set>
                                    <p:animEffect transition="in" filter="blinds(horizontal)">
                                      <p:cBhvr>
                                        <p:cTn id="12" dur="500"/>
                                        <p:tgtEl>
                                          <p:spTgt spid="246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618"/>
                                        </p:tgtEl>
                                        <p:attrNameLst>
                                          <p:attrName>style.visibility</p:attrName>
                                        </p:attrNameLst>
                                      </p:cBhvr>
                                      <p:to>
                                        <p:strVal val="visible"/>
                                      </p:to>
                                    </p:set>
                                    <p:animEffect transition="in" filter="blinds(horizontal)">
                                      <p:cBhvr>
                                        <p:cTn id="17" dur="500"/>
                                        <p:tgtEl>
                                          <p:spTgt spid="246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617"/>
                                        </p:tgtEl>
                                        <p:attrNameLst>
                                          <p:attrName>style.visibility</p:attrName>
                                        </p:attrNameLst>
                                      </p:cBhvr>
                                      <p:to>
                                        <p:strVal val="visible"/>
                                      </p:to>
                                    </p:set>
                                    <p:animEffect transition="in" filter="blinds(horizontal)">
                                      <p:cBhvr>
                                        <p:cTn id="22" dur="500"/>
                                        <p:tgtEl>
                                          <p:spTgt spid="2461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616"/>
                                        </p:tgtEl>
                                        <p:attrNameLst>
                                          <p:attrName>style.visibility</p:attrName>
                                        </p:attrNameLst>
                                      </p:cBhvr>
                                      <p:to>
                                        <p:strVal val="visible"/>
                                      </p:to>
                                    </p:set>
                                    <p:animEffect transition="in" filter="blinds(horizontal)">
                                      <p:cBhvr>
                                        <p:cTn id="25" dur="500"/>
                                        <p:tgtEl>
                                          <p:spTgt spid="2461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4620"/>
                                        </p:tgtEl>
                                        <p:attrNameLst>
                                          <p:attrName>style.visibility</p:attrName>
                                        </p:attrNameLst>
                                      </p:cBhvr>
                                      <p:to>
                                        <p:strVal val="visible"/>
                                      </p:to>
                                    </p:set>
                                    <p:animEffect transition="in" filter="blinds(horizontal)">
                                      <p:cBhvr>
                                        <p:cTn id="30" dur="500"/>
                                        <p:tgtEl>
                                          <p:spTgt spid="24620"/>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4621"/>
                                        </p:tgtEl>
                                        <p:attrNameLst>
                                          <p:attrName>style.visibility</p:attrName>
                                        </p:attrNameLst>
                                      </p:cBhvr>
                                      <p:to>
                                        <p:strVal val="visible"/>
                                      </p:to>
                                    </p:set>
                                    <p:animEffect transition="in" filter="blinds(horizontal)">
                                      <p:cBhvr>
                                        <p:cTn id="33" dur="500"/>
                                        <p:tgtEl>
                                          <p:spTgt spid="24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6" grpId="0"/>
      <p:bldP spid="24617" grpId="0"/>
      <p:bldP spid="24618" grpId="0"/>
      <p:bldP spid="24619" grpId="0"/>
      <p:bldP spid="24620" grpId="0"/>
      <p:bldP spid="24621" grpId="0"/>
      <p:bldP spid="246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B48A55AB-4DF6-60D3-3AE5-E4F072C5544B}"/>
              </a:ext>
            </a:extLst>
          </p:cNvPr>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中间代码生成</a:t>
            </a:r>
            <a:endParaRPr lang="en-US" altLang="zh-CN" sz="4000" dirty="0">
              <a:latin typeface="微软雅黑" panose="020B0503020204020204" pitchFamily="2" charset="-122"/>
              <a:ea typeface="微软雅黑" panose="020B0503020204020204" pitchFamily="2" charset="-122"/>
            </a:endParaRPr>
          </a:p>
        </p:txBody>
      </p:sp>
      <p:sp>
        <p:nvSpPr>
          <p:cNvPr id="3" name="Rectangle 3">
            <a:extLst>
              <a:ext uri="{FF2B5EF4-FFF2-40B4-BE49-F238E27FC236}">
                <a16:creationId xmlns:a16="http://schemas.microsoft.com/office/drawing/2014/main" id="{A6CC45BF-CCF7-2E88-77A3-A14EAC2D4567}"/>
              </a:ext>
            </a:extLst>
          </p:cNvPr>
          <p:cNvSpPr txBox="1">
            <a:spLocks noChangeArrowheads="1"/>
          </p:cNvSpPr>
          <p:nvPr/>
        </p:nvSpPr>
        <p:spPr>
          <a:xfrm>
            <a:off x="900036" y="1709699"/>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任务：对各类语法单位按语言的</a:t>
            </a:r>
            <a:r>
              <a:rPr kumimoji="0" lang="zh-CN" altLang="en-US" sz="24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rPr>
              <a:t>语义</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进行初步翻译</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依循的原则：语义规则</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描述工具：属性文法</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中间代码：三元式，四元式（三地址代码），树，</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Z:=X + 0.618 * Y   </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翻译成四元式为</a:t>
            </a:r>
          </a:p>
        </p:txBody>
      </p:sp>
      <p:graphicFrame>
        <p:nvGraphicFramePr>
          <p:cNvPr id="4" name="内容占位符 4">
            <a:extLst>
              <a:ext uri="{FF2B5EF4-FFF2-40B4-BE49-F238E27FC236}">
                <a16:creationId xmlns:a16="http://schemas.microsoft.com/office/drawing/2014/main" id="{C6159A7E-3076-A1FE-E25A-62AB802DC4C0}"/>
              </a:ext>
            </a:extLst>
          </p:cNvPr>
          <p:cNvGraphicFramePr>
            <a:graphicFrameLocks/>
          </p:cNvGraphicFramePr>
          <p:nvPr>
            <p:extLst>
              <p:ext uri="{D42A27DB-BD31-4B8C-83A1-F6EECF244321}">
                <p14:modId xmlns:p14="http://schemas.microsoft.com/office/powerpoint/2010/main" val="3180859756"/>
              </p:ext>
            </p:extLst>
          </p:nvPr>
        </p:nvGraphicFramePr>
        <p:xfrm>
          <a:off x="767041" y="4298652"/>
          <a:ext cx="8072229" cy="1783970"/>
        </p:xfrm>
        <a:graphic>
          <a:graphicData uri="http://schemas.openxmlformats.org/drawingml/2006/table">
            <a:tbl>
              <a:tblPr firstRow="1" bandRow="1"/>
              <a:tblGrid>
                <a:gridCol w="822192">
                  <a:extLst>
                    <a:ext uri="{9D8B030D-6E8A-4147-A177-3AD203B41FA5}">
                      <a16:colId xmlns:a16="http://schemas.microsoft.com/office/drawing/2014/main" val="20000"/>
                    </a:ext>
                  </a:extLst>
                </a:gridCol>
                <a:gridCol w="1210748">
                  <a:extLst>
                    <a:ext uri="{9D8B030D-6E8A-4147-A177-3AD203B41FA5}">
                      <a16:colId xmlns:a16="http://schemas.microsoft.com/office/drawing/2014/main" val="20001"/>
                    </a:ext>
                  </a:extLst>
                </a:gridCol>
                <a:gridCol w="1210748">
                  <a:extLst>
                    <a:ext uri="{9D8B030D-6E8A-4147-A177-3AD203B41FA5}">
                      <a16:colId xmlns:a16="http://schemas.microsoft.com/office/drawing/2014/main" val="20002"/>
                    </a:ext>
                  </a:extLst>
                </a:gridCol>
                <a:gridCol w="1210748">
                  <a:extLst>
                    <a:ext uri="{9D8B030D-6E8A-4147-A177-3AD203B41FA5}">
                      <a16:colId xmlns:a16="http://schemas.microsoft.com/office/drawing/2014/main" val="20003"/>
                    </a:ext>
                  </a:extLst>
                </a:gridCol>
                <a:gridCol w="1384662">
                  <a:extLst>
                    <a:ext uri="{9D8B030D-6E8A-4147-A177-3AD203B41FA5}">
                      <a16:colId xmlns:a16="http://schemas.microsoft.com/office/drawing/2014/main" val="20004"/>
                    </a:ext>
                  </a:extLst>
                </a:gridCol>
                <a:gridCol w="2233131">
                  <a:extLst>
                    <a:ext uri="{9D8B030D-6E8A-4147-A177-3AD203B41FA5}">
                      <a16:colId xmlns:a16="http://schemas.microsoft.com/office/drawing/2014/main" val="20005"/>
                    </a:ext>
                  </a:extLst>
                </a:gridCol>
              </a:tblGrid>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400" dirty="0"/>
                        <a:t>序号</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400" dirty="0"/>
                        <a:t>OPR</a:t>
                      </a:r>
                      <a:endParaRPr lang="zh-CN" alt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400" dirty="0"/>
                        <a:t>OPN1</a:t>
                      </a:r>
                      <a:endParaRPr lang="zh-CN" alt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400" dirty="0"/>
                        <a:t>OPN2</a:t>
                      </a:r>
                      <a:endParaRPr lang="zh-CN" alt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400" dirty="0"/>
                        <a:t>RESULT</a:t>
                      </a:r>
                      <a:endParaRPr lang="zh-CN" alt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400" dirty="0"/>
                        <a:t>注释</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(1)</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zh-CN" altLang="en-US" sz="2400" b="1" dirty="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0.618</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Y</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T1</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400" b="1" dirty="0">
                          <a:latin typeface="Courier New" panose="02070309020205020404" pitchFamily="49" charset="0"/>
                          <a:cs typeface="Courier New" panose="02070309020205020404" pitchFamily="49" charset="0"/>
                        </a:rPr>
                        <a:t>T1:=0.618</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Y</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(2)</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X</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T1</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T2</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400" b="1" dirty="0">
                          <a:latin typeface="Courier New" panose="02070309020205020404" pitchFamily="49" charset="0"/>
                          <a:cs typeface="Courier New" panose="02070309020205020404" pitchFamily="49" charset="0"/>
                        </a:rPr>
                        <a:t>T2:=X+T1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(3)</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T2</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Z</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b="1" dirty="0">
                          <a:latin typeface="Courier New" panose="02070309020205020404" pitchFamily="49" charset="0"/>
                          <a:cs typeface="Courier New" panose="02070309020205020404" pitchFamily="49" charset="0"/>
                        </a:rPr>
                        <a:t>Z:=T2</a:t>
                      </a:r>
                      <a:endParaRPr lang="zh-CN" altLang="en-US" sz="24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bl>
          </a:graphicData>
        </a:graphic>
      </p:graphicFrame>
      <p:sp>
        <p:nvSpPr>
          <p:cNvPr id="5"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24</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55089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中间代码生成</a:t>
            </a:r>
            <a:endParaRPr lang="en-US" altLang="zh-CN" sz="4000" dirty="0">
              <a:latin typeface="微软雅黑" panose="020B0503020204020204" pitchFamily="2" charset="-122"/>
              <a:ea typeface="微软雅黑" panose="020B0503020204020204" pitchFamily="2" charset="-122"/>
            </a:endParaRPr>
          </a:p>
        </p:txBody>
      </p:sp>
      <p:sp>
        <p:nvSpPr>
          <p:cNvPr id="29698" name="TextBox 4"/>
          <p:cNvSpPr txBox="1"/>
          <p:nvPr/>
        </p:nvSpPr>
        <p:spPr>
          <a:xfrm>
            <a:off x="4448754" y="1589202"/>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9699" name="Rectangle 8"/>
          <p:cNvSpPr/>
          <p:nvPr/>
        </p:nvSpPr>
        <p:spPr>
          <a:xfrm>
            <a:off x="7407275" y="20701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29700" name="Rectangle 9"/>
          <p:cNvSpPr/>
          <p:nvPr/>
        </p:nvSpPr>
        <p:spPr>
          <a:xfrm>
            <a:off x="7407275" y="3678238"/>
            <a:ext cx="2447925" cy="550862"/>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29701" name="Rectangle 10"/>
          <p:cNvSpPr/>
          <p:nvPr/>
        </p:nvSpPr>
        <p:spPr>
          <a:xfrm>
            <a:off x="7407275" y="25987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29702" name="Rectangle 11"/>
          <p:cNvSpPr/>
          <p:nvPr/>
        </p:nvSpPr>
        <p:spPr>
          <a:xfrm>
            <a:off x="7407275" y="31384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29703" name="Rectangle 12"/>
          <p:cNvSpPr/>
          <p:nvPr/>
        </p:nvSpPr>
        <p:spPr>
          <a:xfrm>
            <a:off x="7407275" y="42195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29704" name="Rectangle 13"/>
          <p:cNvSpPr/>
          <p:nvPr/>
        </p:nvSpPr>
        <p:spPr>
          <a:xfrm>
            <a:off x="7407275" y="52990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29705" name="Rectangle 14"/>
          <p:cNvSpPr/>
          <p:nvPr/>
        </p:nvSpPr>
        <p:spPr>
          <a:xfrm>
            <a:off x="7407275" y="47434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18443" name="TextBox 15"/>
          <p:cNvSpPr txBox="1"/>
          <p:nvPr/>
        </p:nvSpPr>
        <p:spPr>
          <a:xfrm>
            <a:off x="2430463" y="3554413"/>
            <a:ext cx="4724400" cy="32988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if</a:t>
            </a:r>
            <a:r>
              <a:rPr lang="en-US" altLang="zh-CN" sz="2800" dirty="0">
                <a:latin typeface="Times New Roman" panose="02020603050405020304" pitchFamily="18" charset="0"/>
                <a:ea typeface="新宋体" panose="02010609030101010101" charset="-122"/>
                <a:cs typeface="Times New Roman" panose="02020603050405020304" pitchFamily="18" charset="0"/>
              </a:rPr>
              <a:t> y &lt; z goto </a:t>
            </a:r>
            <a:r>
              <a:rPr lang="en-US" altLang="zh-CN" sz="2800" dirty="0">
                <a:solidFill>
                  <a:schemeClr val="accent2"/>
                </a:solidFill>
                <a:latin typeface="Times New Roman" panose="02020603050405020304" pitchFamily="18" charset="0"/>
                <a:ea typeface="新宋体" panose="02010609030101010101" charset="-122"/>
                <a:cs typeface="Times New Roman" panose="02020603050405020304" pitchFamily="18" charset="0"/>
              </a:rPr>
              <a:t>where_true</a:t>
            </a:r>
            <a:r>
              <a:rPr lang="en-US" altLang="zh-CN" sz="2800" dirty="0">
                <a:latin typeface="Times New Roman" panose="02020603050405020304" pitchFamily="18" charset="0"/>
                <a:ea typeface="新宋体" panose="02010609030101010101" charset="-122"/>
                <a:cs typeface="Times New Roman" panose="02020603050405020304" pitchFamily="18" charset="0"/>
              </a:rPr>
              <a:t>;</a:t>
            </a:r>
          </a:p>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goto</a:t>
            </a:r>
            <a:r>
              <a:rPr lang="en-US" altLang="zh-CN" sz="2800" dirty="0">
                <a:latin typeface="Times New Roman" panose="02020603050405020304" pitchFamily="18" charset="0"/>
                <a:ea typeface="新宋体" panose="02010609030101010101" charset="-122"/>
                <a:cs typeface="Times New Roman" panose="02020603050405020304" pitchFamily="18" charset="0"/>
              </a:rPr>
              <a:t> </a:t>
            </a:r>
            <a:r>
              <a:rPr lang="en-US" altLang="zh-CN" sz="2800" dirty="0">
                <a:solidFill>
                  <a:schemeClr val="accent2"/>
                </a:solidFill>
                <a:latin typeface="Times New Roman" panose="02020603050405020304" pitchFamily="18" charset="0"/>
                <a:ea typeface="新宋体" panose="02010609030101010101" charset="-122"/>
                <a:cs typeface="Times New Roman" panose="02020603050405020304" pitchFamily="18" charset="0"/>
              </a:rPr>
              <a:t>where_false</a:t>
            </a:r>
            <a:r>
              <a:rPr lang="en-US" altLang="zh-CN" sz="2800" dirty="0">
                <a:latin typeface="Times New Roman" panose="02020603050405020304" pitchFamily="18" charset="0"/>
                <a:ea typeface="新宋体" panose="02010609030101010101" charset="-122"/>
                <a:cs typeface="Times New Roman" panose="02020603050405020304" pitchFamily="18" charset="0"/>
              </a:rPr>
              <a:t>;</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t1  = a + b;</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x   = t1</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t2  = x + y;</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y   = t2</a:t>
            </a:r>
          </a:p>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goto</a:t>
            </a:r>
            <a:r>
              <a:rPr lang="en-US" altLang="zh-CN" sz="2800" dirty="0">
                <a:latin typeface="Times New Roman" panose="02020603050405020304" pitchFamily="18" charset="0"/>
                <a:ea typeface="新宋体" panose="02010609030101010101" charset="-122"/>
                <a:cs typeface="Times New Roman" panose="02020603050405020304" pitchFamily="18" charset="0"/>
              </a:rPr>
              <a:t> Loop;  </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a:t>
            </a:r>
          </a:p>
        </p:txBody>
      </p:sp>
      <p:sp>
        <p:nvSpPr>
          <p:cNvPr id="18444" name="TextBox 17"/>
          <p:cNvSpPr txBox="1"/>
          <p:nvPr/>
        </p:nvSpPr>
        <p:spPr>
          <a:xfrm>
            <a:off x="166688" y="4319588"/>
            <a:ext cx="4275137"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where_true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8445" name="TextBox 18"/>
          <p:cNvSpPr txBox="1"/>
          <p:nvPr/>
        </p:nvSpPr>
        <p:spPr>
          <a:xfrm>
            <a:off x="539750" y="3557588"/>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    Loop</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8446" name="TextBox 19"/>
          <p:cNvSpPr txBox="1"/>
          <p:nvPr/>
        </p:nvSpPr>
        <p:spPr>
          <a:xfrm>
            <a:off x="0" y="6254750"/>
            <a:ext cx="4275138" cy="493713"/>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where_false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9710" name="Footer Placeholder 21"/>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29711" name="Slide Number Placeholder 22"/>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25</a:t>
            </a:fld>
            <a:endParaRPr lang="en-GB" altLang="en-US" sz="1200" dirty="0">
              <a:latin typeface="Comic Sans MS" panose="030F0702030302020204" pitchFamily="2" charset="0"/>
              <a:ea typeface="宋体" panose="02010600030101010101" pitchFamily="2" charset="-122"/>
            </a:endParaRPr>
          </a:p>
        </p:txBody>
      </p:sp>
      <p:sp>
        <p:nvSpPr>
          <p:cNvPr id="29712" name="Date Placeholder 20"/>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8" name="TextBox 5"/>
          <p:cNvSpPr txBox="1"/>
          <p:nvPr/>
        </p:nvSpPr>
        <p:spPr>
          <a:xfrm>
            <a:off x="376238" y="1653657"/>
            <a:ext cx="4108450" cy="1466299"/>
          </a:xfrm>
          <a:prstGeom prst="rect">
            <a:avLst/>
          </a:prstGeom>
          <a:noFill/>
          <a:ln w="9525">
            <a:noFill/>
          </a:ln>
        </p:spPr>
        <p:txBody>
          <a:bodyPr wrap="square" anchor="t" anchorCtr="0">
            <a:spAutoFit/>
          </a:bodyPr>
          <a:lstStyle/>
          <a:p>
            <a:pPr indent="0" hangingPunct="0"/>
            <a:r>
              <a:rPr lang="zh-CN" altLang="en-US" sz="2400" b="1" dirty="0">
                <a:latin typeface="Times New Roman" panose="02060603050605020204" pitchFamily="2" charset="0"/>
                <a:ea typeface="楷体_GB2312" panose="02010609030101010101" charset="-122"/>
              </a:rPr>
              <a:t>生成一个相对低级或者类机器语言的中间表示，看作某个抽象机器的程序，易于生成代码翻译</a:t>
            </a:r>
            <a:endParaRPr lang="en-US" altLang="zh-CN" sz="2400" b="1" dirty="0">
              <a:latin typeface="Times New Roman" panose="02060603050605020204" pitchFamily="2" charset="0"/>
              <a:ea typeface="楷体_GB2312"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43">
                                            <p:txEl>
                                              <p:pRg st="0" end="0"/>
                                            </p:txEl>
                                          </p:spTgt>
                                        </p:tgtEl>
                                        <p:attrNameLst>
                                          <p:attrName>style.visibility</p:attrName>
                                        </p:attrNameLst>
                                      </p:cBhvr>
                                      <p:to>
                                        <p:strVal val="visible"/>
                                      </p:to>
                                    </p:set>
                                    <p:animEffect transition="in" filter="blinds(horizontal)">
                                      <p:cBhvr>
                                        <p:cTn id="7" dur="500"/>
                                        <p:tgtEl>
                                          <p:spTgt spid="18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43">
                                            <p:txEl>
                                              <p:pRg st="1" end="1"/>
                                            </p:txEl>
                                          </p:spTgt>
                                        </p:tgtEl>
                                        <p:attrNameLst>
                                          <p:attrName>style.visibility</p:attrName>
                                        </p:attrNameLst>
                                      </p:cBhvr>
                                      <p:to>
                                        <p:strVal val="visible"/>
                                      </p:to>
                                    </p:set>
                                    <p:animEffect transition="in" filter="blinds(horizontal)">
                                      <p:cBhvr>
                                        <p:cTn id="12" dur="500"/>
                                        <p:tgtEl>
                                          <p:spTgt spid="18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44"/>
                                        </p:tgtEl>
                                        <p:attrNameLst>
                                          <p:attrName>style.visibility</p:attrName>
                                        </p:attrNameLst>
                                      </p:cBhvr>
                                      <p:to>
                                        <p:strVal val="visible"/>
                                      </p:to>
                                    </p:set>
                                    <p:animEffect transition="in" filter="blinds(horizontal)">
                                      <p:cBhvr>
                                        <p:cTn id="17" dur="500"/>
                                        <p:tgtEl>
                                          <p:spTgt spid="184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443">
                                            <p:txEl>
                                              <p:pRg st="2" end="2"/>
                                            </p:txEl>
                                          </p:spTgt>
                                        </p:tgtEl>
                                        <p:attrNameLst>
                                          <p:attrName>style.visibility</p:attrName>
                                        </p:attrNameLst>
                                      </p:cBhvr>
                                      <p:to>
                                        <p:strVal val="visible"/>
                                      </p:to>
                                    </p:set>
                                    <p:animEffect transition="in" filter="blinds(horizontal)">
                                      <p:cBhvr>
                                        <p:cTn id="22" dur="500"/>
                                        <p:tgtEl>
                                          <p:spTgt spid="1844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443">
                                            <p:txEl>
                                              <p:pRg st="3" end="3"/>
                                            </p:txEl>
                                          </p:spTgt>
                                        </p:tgtEl>
                                        <p:attrNameLst>
                                          <p:attrName>style.visibility</p:attrName>
                                        </p:attrNameLst>
                                      </p:cBhvr>
                                      <p:to>
                                        <p:strVal val="visible"/>
                                      </p:to>
                                    </p:set>
                                    <p:animEffect transition="in" filter="blinds(horizontal)">
                                      <p:cBhvr>
                                        <p:cTn id="27" dur="500"/>
                                        <p:tgtEl>
                                          <p:spTgt spid="1844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443">
                                            <p:txEl>
                                              <p:pRg st="4" end="4"/>
                                            </p:txEl>
                                          </p:spTgt>
                                        </p:tgtEl>
                                        <p:attrNameLst>
                                          <p:attrName>style.visibility</p:attrName>
                                        </p:attrNameLst>
                                      </p:cBhvr>
                                      <p:to>
                                        <p:strVal val="visible"/>
                                      </p:to>
                                    </p:set>
                                    <p:animEffect transition="in" filter="blinds(horizontal)">
                                      <p:cBhvr>
                                        <p:cTn id="32" dur="500"/>
                                        <p:tgtEl>
                                          <p:spTgt spid="1844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8443">
                                            <p:txEl>
                                              <p:pRg st="5" end="5"/>
                                            </p:txEl>
                                          </p:spTgt>
                                        </p:tgtEl>
                                        <p:attrNameLst>
                                          <p:attrName>style.visibility</p:attrName>
                                        </p:attrNameLst>
                                      </p:cBhvr>
                                      <p:to>
                                        <p:strVal val="visible"/>
                                      </p:to>
                                    </p:set>
                                    <p:animEffect transition="in" filter="blinds(horizontal)">
                                      <p:cBhvr>
                                        <p:cTn id="37" dur="500"/>
                                        <p:tgtEl>
                                          <p:spTgt spid="1844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8443">
                                            <p:txEl>
                                              <p:pRg st="6" end="6"/>
                                            </p:txEl>
                                          </p:spTgt>
                                        </p:tgtEl>
                                        <p:attrNameLst>
                                          <p:attrName>style.visibility</p:attrName>
                                        </p:attrNameLst>
                                      </p:cBhvr>
                                      <p:to>
                                        <p:strVal val="visible"/>
                                      </p:to>
                                    </p:set>
                                    <p:animEffect transition="in" filter="blinds(horizontal)">
                                      <p:cBhvr>
                                        <p:cTn id="42" dur="500"/>
                                        <p:tgtEl>
                                          <p:spTgt spid="1844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445"/>
                                        </p:tgtEl>
                                        <p:attrNameLst>
                                          <p:attrName>style.visibility</p:attrName>
                                        </p:attrNameLst>
                                      </p:cBhvr>
                                      <p:to>
                                        <p:strVal val="visible"/>
                                      </p:to>
                                    </p:set>
                                    <p:animEffect transition="in" filter="blinds(horizontal)">
                                      <p:cBhvr>
                                        <p:cTn id="47" dur="500"/>
                                        <p:tgtEl>
                                          <p:spTgt spid="1844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446"/>
                                        </p:tgtEl>
                                        <p:attrNameLst>
                                          <p:attrName>style.visibility</p:attrName>
                                        </p:attrNameLst>
                                      </p:cBhvr>
                                      <p:to>
                                        <p:strVal val="visible"/>
                                      </p:to>
                                    </p:set>
                                    <p:animEffect transition="in" filter="blinds(horizontal)">
                                      <p:cBhvr>
                                        <p:cTn id="52" dur="500"/>
                                        <p:tgtEl>
                                          <p:spTgt spid="1844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8443">
                                            <p:txEl>
                                              <p:pRg st="7" end="7"/>
                                            </p:txEl>
                                          </p:spTgt>
                                        </p:tgtEl>
                                        <p:attrNameLst>
                                          <p:attrName>style.visibility</p:attrName>
                                        </p:attrNameLst>
                                      </p:cBhvr>
                                      <p:to>
                                        <p:strVal val="visible"/>
                                      </p:to>
                                    </p:set>
                                    <p:animEffect transition="in" filter="blinds(horizontal)">
                                      <p:cBhvr>
                                        <p:cTn id="57" dur="500"/>
                                        <p:tgtEl>
                                          <p:spTgt spid="18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4" grpId="0"/>
      <p:bldP spid="18445" grpId="0"/>
      <p:bldP spid="1844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中间代码优化</a:t>
            </a:r>
            <a:endParaRPr lang="en-US" altLang="zh-CN" sz="4000" dirty="0">
              <a:latin typeface="微软雅黑" panose="020B0503020204020204" pitchFamily="2" charset="-122"/>
              <a:ea typeface="微软雅黑" panose="020B0503020204020204" pitchFamily="2" charset="-122"/>
            </a:endParaRPr>
          </a:p>
        </p:txBody>
      </p:sp>
      <p:sp>
        <p:nvSpPr>
          <p:cNvPr id="19459" name="TextBox 4"/>
          <p:cNvSpPr txBox="1"/>
          <p:nvPr/>
        </p:nvSpPr>
        <p:spPr>
          <a:xfrm>
            <a:off x="4297759" y="1437794"/>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solidFill>
                  <a:schemeClr val="tx1"/>
                </a:solidFill>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0723" name="Rectangle 8"/>
          <p:cNvSpPr/>
          <p:nvPr/>
        </p:nvSpPr>
        <p:spPr>
          <a:xfrm>
            <a:off x="7407275" y="20701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30724" name="Rectangle 9"/>
          <p:cNvSpPr/>
          <p:nvPr/>
        </p:nvSpPr>
        <p:spPr>
          <a:xfrm>
            <a:off x="7407275" y="36782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30725" name="Rectangle 10"/>
          <p:cNvSpPr/>
          <p:nvPr/>
        </p:nvSpPr>
        <p:spPr>
          <a:xfrm>
            <a:off x="7407275" y="25987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30726" name="Rectangle 11"/>
          <p:cNvSpPr/>
          <p:nvPr/>
        </p:nvSpPr>
        <p:spPr>
          <a:xfrm>
            <a:off x="7407275" y="31384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30727" name="Rectangle 12"/>
          <p:cNvSpPr/>
          <p:nvPr/>
        </p:nvSpPr>
        <p:spPr>
          <a:xfrm>
            <a:off x="7407275" y="4219575"/>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30728" name="Rectangle 13"/>
          <p:cNvSpPr/>
          <p:nvPr/>
        </p:nvSpPr>
        <p:spPr>
          <a:xfrm>
            <a:off x="7407275" y="52990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30729" name="Rectangle 14"/>
          <p:cNvSpPr/>
          <p:nvPr/>
        </p:nvSpPr>
        <p:spPr>
          <a:xfrm>
            <a:off x="7407275" y="47434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19467" name="TextBox 15"/>
          <p:cNvSpPr txBox="1"/>
          <p:nvPr/>
        </p:nvSpPr>
        <p:spPr>
          <a:xfrm>
            <a:off x="3740944" y="3598863"/>
            <a:ext cx="4724400" cy="32988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if</a:t>
            </a:r>
            <a:r>
              <a:rPr lang="en-US" altLang="zh-CN" sz="2800" dirty="0">
                <a:latin typeface="Times New Roman" panose="02020603050405020304" pitchFamily="18" charset="0"/>
                <a:ea typeface="新宋体" panose="02010609030101010101" charset="-122"/>
                <a:cs typeface="Times New Roman" panose="02020603050405020304" pitchFamily="18" charset="0"/>
              </a:rPr>
              <a:t> y &lt; z goto </a:t>
            </a:r>
            <a:r>
              <a:rPr lang="en-US" altLang="zh-CN" sz="2800" dirty="0">
                <a:solidFill>
                  <a:schemeClr val="accent2"/>
                </a:solidFill>
                <a:latin typeface="Times New Roman" panose="02020603050405020304" pitchFamily="18" charset="0"/>
                <a:ea typeface="新宋体" panose="02010609030101010101" charset="-122"/>
                <a:cs typeface="Times New Roman" panose="02020603050405020304" pitchFamily="18" charset="0"/>
              </a:rPr>
              <a:t>where_true</a:t>
            </a:r>
            <a:r>
              <a:rPr lang="en-US" altLang="zh-CN" sz="2800" dirty="0">
                <a:latin typeface="Times New Roman" panose="02020603050405020304" pitchFamily="18" charset="0"/>
                <a:ea typeface="新宋体" panose="02010609030101010101" charset="-122"/>
                <a:cs typeface="Times New Roman" panose="02020603050405020304" pitchFamily="18" charset="0"/>
              </a:rPr>
              <a:t>;</a:t>
            </a:r>
          </a:p>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goto</a:t>
            </a:r>
            <a:r>
              <a:rPr lang="en-US" altLang="zh-CN" sz="2800" dirty="0">
                <a:latin typeface="Times New Roman" panose="02020603050405020304" pitchFamily="18" charset="0"/>
                <a:ea typeface="新宋体" panose="02010609030101010101" charset="-122"/>
                <a:cs typeface="Times New Roman" panose="02020603050405020304" pitchFamily="18" charset="0"/>
              </a:rPr>
              <a:t> </a:t>
            </a:r>
            <a:r>
              <a:rPr lang="en-US" altLang="zh-CN" sz="2800" dirty="0">
                <a:solidFill>
                  <a:schemeClr val="accent2"/>
                </a:solidFill>
                <a:latin typeface="Times New Roman" panose="02020603050405020304" pitchFamily="18" charset="0"/>
                <a:ea typeface="新宋体" panose="02010609030101010101" charset="-122"/>
                <a:cs typeface="Times New Roman" panose="02020603050405020304" pitchFamily="18" charset="0"/>
              </a:rPr>
              <a:t>where_false</a:t>
            </a:r>
            <a:r>
              <a:rPr lang="en-US" altLang="zh-CN" sz="2800" dirty="0">
                <a:latin typeface="Times New Roman" panose="02020603050405020304" pitchFamily="18" charset="0"/>
                <a:ea typeface="新宋体" panose="02010609030101010101" charset="-122"/>
                <a:cs typeface="Times New Roman" panose="02020603050405020304" pitchFamily="18" charset="0"/>
              </a:rPr>
              <a:t>;</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t1  = a + b;</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x   = t1</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t2  = x + y;</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y   = t2</a:t>
            </a:r>
          </a:p>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goto</a:t>
            </a:r>
            <a:r>
              <a:rPr lang="en-US" altLang="zh-CN" sz="2800" dirty="0">
                <a:latin typeface="Times New Roman" panose="02020603050405020304" pitchFamily="18" charset="0"/>
                <a:ea typeface="新宋体" panose="02010609030101010101" charset="-122"/>
                <a:cs typeface="Times New Roman" panose="02020603050405020304" pitchFamily="18" charset="0"/>
              </a:rPr>
              <a:t> Loop;  </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a:t>
            </a:r>
          </a:p>
        </p:txBody>
      </p:sp>
      <p:sp>
        <p:nvSpPr>
          <p:cNvPr id="19468" name="TextBox 18"/>
          <p:cNvSpPr txBox="1"/>
          <p:nvPr/>
        </p:nvSpPr>
        <p:spPr>
          <a:xfrm>
            <a:off x="1850231" y="3602038"/>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    Loop</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9469" name="TextBox 20"/>
          <p:cNvSpPr txBox="1"/>
          <p:nvPr/>
        </p:nvSpPr>
        <p:spPr>
          <a:xfrm>
            <a:off x="5058172" y="2749069"/>
            <a:ext cx="2655887" cy="893762"/>
          </a:xfrm>
          <a:prstGeom prst="rect">
            <a:avLst/>
          </a:prstGeom>
          <a:noFill/>
          <a:ln w="9525">
            <a:noFill/>
          </a:ln>
        </p:spPr>
        <p:txBody>
          <a:bodyPr anchor="t" anchorCtr="0">
            <a:spAutoFit/>
          </a:bodyPr>
          <a:lstStyle/>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t1  = a + b;</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x   = t1</a:t>
            </a:r>
          </a:p>
        </p:txBody>
      </p:sp>
      <p:sp>
        <p:nvSpPr>
          <p:cNvPr id="30733" name="Footer Placeholder 22"/>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0734" name="Slide Number Placeholder 23"/>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26</a:t>
            </a:fld>
            <a:endParaRPr lang="en-GB" altLang="en-US" sz="1200" dirty="0">
              <a:latin typeface="Comic Sans MS" panose="030F0702030302020204" pitchFamily="2" charset="0"/>
              <a:ea typeface="宋体" panose="02010600030101010101" pitchFamily="2" charset="-122"/>
            </a:endParaRPr>
          </a:p>
        </p:txBody>
      </p:sp>
      <p:sp>
        <p:nvSpPr>
          <p:cNvPr id="30735" name="Date Placeholder 21"/>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9473" name="TextBox 22"/>
          <p:cNvSpPr txBox="1"/>
          <p:nvPr/>
        </p:nvSpPr>
        <p:spPr>
          <a:xfrm>
            <a:off x="1477169" y="4364038"/>
            <a:ext cx="4275137"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where_true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9474" name="TextBox 23"/>
          <p:cNvSpPr txBox="1"/>
          <p:nvPr/>
        </p:nvSpPr>
        <p:spPr>
          <a:xfrm>
            <a:off x="1310481" y="5849938"/>
            <a:ext cx="4275138" cy="493712"/>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where_false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19" name="TextBox 5"/>
          <p:cNvSpPr txBox="1"/>
          <p:nvPr/>
        </p:nvSpPr>
        <p:spPr>
          <a:xfrm>
            <a:off x="360000" y="1437794"/>
            <a:ext cx="3794521" cy="2153282"/>
          </a:xfrm>
          <a:prstGeom prst="rect">
            <a:avLst/>
          </a:prstGeom>
          <a:noFill/>
          <a:ln w="9525">
            <a:noFill/>
          </a:ln>
        </p:spPr>
        <p:txBody>
          <a:bodyPr wrap="square" anchor="t" anchorCtr="0">
            <a:spAutoFit/>
          </a:bodyPr>
          <a:lstStyle/>
          <a:p>
            <a:pPr indent="0" hangingPunct="0"/>
            <a:r>
              <a:rPr lang="zh-CN" altLang="en-US" sz="2400" b="1" dirty="0">
                <a:latin typeface="Times New Roman" panose="02060603050605020204" pitchFamily="2" charset="0"/>
                <a:ea typeface="楷体_GB2312" panose="02010609030101010101" charset="-122"/>
              </a:rPr>
              <a:t>试图改进中间代码，生成更快，或者更短能耗更低的代码。</a:t>
            </a:r>
            <a:endParaRPr lang="en-US" altLang="zh-CN" sz="2400" b="1" dirty="0">
              <a:latin typeface="Times New Roman" panose="02060603050605020204" pitchFamily="2" charset="0"/>
              <a:ea typeface="楷体_GB2312" panose="02010609030101010101" charset="-122"/>
            </a:endParaRPr>
          </a:p>
          <a:p>
            <a:pPr marL="457200" indent="-457200" hangingPunct="0">
              <a:buAutoNum type="arabicPeriod"/>
            </a:pPr>
            <a:r>
              <a:rPr lang="zh-CN" altLang="en-US" sz="2400" b="1" dirty="0">
                <a:latin typeface="Times New Roman" panose="02060603050605020204" pitchFamily="2" charset="0"/>
                <a:ea typeface="楷体_GB2312" panose="02010609030101010101" charset="-122"/>
              </a:rPr>
              <a:t>乘法和加法在计算数量级上有明显差别</a:t>
            </a:r>
            <a:endParaRPr lang="en-US" altLang="zh-CN" sz="2400" b="1" dirty="0">
              <a:latin typeface="Times New Roman" panose="02060603050605020204" pitchFamily="2" charset="0"/>
              <a:ea typeface="楷体_GB2312" panose="02010609030101010101" charset="-122"/>
            </a:endParaRPr>
          </a:p>
          <a:p>
            <a:pPr marL="457200" indent="-457200" hangingPunct="0">
              <a:buAutoNum type="arabicPeriod"/>
            </a:pPr>
            <a:r>
              <a:rPr lang="zh-CN" altLang="en-US" sz="2400" b="1" dirty="0">
                <a:latin typeface="Times New Roman" panose="02060603050605020204" pitchFamily="2" charset="0"/>
                <a:ea typeface="楷体_GB2312" panose="02010609030101010101" charset="-122"/>
              </a:rPr>
              <a:t>减少多余运算次数</a:t>
            </a:r>
            <a:endParaRPr lang="zh-CN" altLang="zh-CN" sz="2400" b="1" dirty="0">
              <a:latin typeface="Times New Roman" panose="02060603050605020204" pitchFamily="2" charset="0"/>
              <a:ea typeface="楷体_GB2312"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19459">
                                            <p:txEl>
                                              <p:pRg st="1" end="1"/>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9468"/>
                                        </p:tgtEl>
                                        <p:attrNameLst>
                                          <p:attrName>style.visibility</p:attrName>
                                        </p:attrNameLst>
                                      </p:cBhvr>
                                      <p:to>
                                        <p:strVal val="visible"/>
                                      </p:to>
                                    </p:set>
                                    <p:animEffect transition="in" filter="blinds(horizontal)">
                                      <p:cBhvr>
                                        <p:cTn id="11" dur="500"/>
                                        <p:tgtEl>
                                          <p:spTgt spid="19468"/>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9467">
                                            <p:txEl>
                                              <p:pRg st="0" end="0"/>
                                            </p:txEl>
                                          </p:spTgt>
                                        </p:tgtEl>
                                        <p:attrNameLst>
                                          <p:attrName>style.visibility</p:attrName>
                                        </p:attrNameLst>
                                      </p:cBhvr>
                                      <p:to>
                                        <p:strVal val="visible"/>
                                      </p:to>
                                    </p:set>
                                    <p:animEffect transition="in" filter="blinds(horizontal)">
                                      <p:cBhvr>
                                        <p:cTn id="14" dur="500"/>
                                        <p:tgtEl>
                                          <p:spTgt spid="19467">
                                            <p:txEl>
                                              <p:pRg st="0" end="0"/>
                                            </p:txEl>
                                          </p:spTgt>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9467">
                                            <p:txEl>
                                              <p:pRg st="1" end="1"/>
                                            </p:txEl>
                                          </p:spTgt>
                                        </p:tgtEl>
                                        <p:attrNameLst>
                                          <p:attrName>style.visibility</p:attrName>
                                        </p:attrNameLst>
                                      </p:cBhvr>
                                      <p:to>
                                        <p:strVal val="visible"/>
                                      </p:to>
                                    </p:set>
                                    <p:animEffect transition="in" filter="blinds(horizontal)">
                                      <p:cBhvr>
                                        <p:cTn id="17" dur="500"/>
                                        <p:tgtEl>
                                          <p:spTgt spid="19467">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9467">
                                            <p:txEl>
                                              <p:pRg st="2" end="2"/>
                                            </p:txEl>
                                          </p:spTgt>
                                        </p:tgtEl>
                                        <p:attrNameLst>
                                          <p:attrName>style.visibility</p:attrName>
                                        </p:attrNameLst>
                                      </p:cBhvr>
                                      <p:to>
                                        <p:strVal val="visible"/>
                                      </p:to>
                                    </p:set>
                                    <p:animEffect transition="in" filter="blinds(horizontal)">
                                      <p:cBhvr>
                                        <p:cTn id="20" dur="500"/>
                                        <p:tgtEl>
                                          <p:spTgt spid="19467">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9467">
                                            <p:txEl>
                                              <p:pRg st="3" end="3"/>
                                            </p:txEl>
                                          </p:spTgt>
                                        </p:tgtEl>
                                        <p:attrNameLst>
                                          <p:attrName>style.visibility</p:attrName>
                                        </p:attrNameLst>
                                      </p:cBhvr>
                                      <p:to>
                                        <p:strVal val="visible"/>
                                      </p:to>
                                    </p:set>
                                    <p:animEffect transition="in" filter="blinds(horizontal)">
                                      <p:cBhvr>
                                        <p:cTn id="23" dur="500"/>
                                        <p:tgtEl>
                                          <p:spTgt spid="19467">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9467">
                                            <p:txEl>
                                              <p:pRg st="4" end="4"/>
                                            </p:txEl>
                                          </p:spTgt>
                                        </p:tgtEl>
                                        <p:attrNameLst>
                                          <p:attrName>style.visibility</p:attrName>
                                        </p:attrNameLst>
                                      </p:cBhvr>
                                      <p:to>
                                        <p:strVal val="visible"/>
                                      </p:to>
                                    </p:set>
                                    <p:animEffect transition="in" filter="blinds(horizontal)">
                                      <p:cBhvr>
                                        <p:cTn id="26" dur="500"/>
                                        <p:tgtEl>
                                          <p:spTgt spid="19467">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9467">
                                            <p:txEl>
                                              <p:pRg st="5" end="5"/>
                                            </p:txEl>
                                          </p:spTgt>
                                        </p:tgtEl>
                                        <p:attrNameLst>
                                          <p:attrName>style.visibility</p:attrName>
                                        </p:attrNameLst>
                                      </p:cBhvr>
                                      <p:to>
                                        <p:strVal val="visible"/>
                                      </p:to>
                                    </p:set>
                                    <p:animEffect transition="in" filter="blinds(horizontal)">
                                      <p:cBhvr>
                                        <p:cTn id="29" dur="500"/>
                                        <p:tgtEl>
                                          <p:spTgt spid="19467">
                                            <p:txEl>
                                              <p:pRg st="5" end="5"/>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9467">
                                            <p:txEl>
                                              <p:pRg st="6" end="6"/>
                                            </p:txEl>
                                          </p:spTgt>
                                        </p:tgtEl>
                                        <p:attrNameLst>
                                          <p:attrName>style.visibility</p:attrName>
                                        </p:attrNameLst>
                                      </p:cBhvr>
                                      <p:to>
                                        <p:strVal val="visible"/>
                                      </p:to>
                                    </p:set>
                                    <p:animEffect transition="in" filter="blinds(horizontal)">
                                      <p:cBhvr>
                                        <p:cTn id="32" dur="500"/>
                                        <p:tgtEl>
                                          <p:spTgt spid="19467">
                                            <p:txEl>
                                              <p:pRg st="6" end="6"/>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9467">
                                            <p:txEl>
                                              <p:pRg st="7" end="7"/>
                                            </p:txEl>
                                          </p:spTgt>
                                        </p:tgtEl>
                                        <p:attrNameLst>
                                          <p:attrName>style.visibility</p:attrName>
                                        </p:attrNameLst>
                                      </p:cBhvr>
                                      <p:to>
                                        <p:strVal val="visible"/>
                                      </p:to>
                                    </p:set>
                                    <p:animEffect transition="in" filter="blinds(horizontal)">
                                      <p:cBhvr>
                                        <p:cTn id="35" dur="500"/>
                                        <p:tgtEl>
                                          <p:spTgt spid="19467">
                                            <p:txEl>
                                              <p:pRg st="7" end="7"/>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9473"/>
                                        </p:tgtEl>
                                        <p:attrNameLst>
                                          <p:attrName>style.visibility</p:attrName>
                                        </p:attrNameLst>
                                      </p:cBhvr>
                                      <p:to>
                                        <p:strVal val="visible"/>
                                      </p:to>
                                    </p:set>
                                    <p:animEffect transition="in" filter="blinds(horizontal)">
                                      <p:cBhvr>
                                        <p:cTn id="38" dur="500"/>
                                        <p:tgtEl>
                                          <p:spTgt spid="1947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9474"/>
                                        </p:tgtEl>
                                        <p:attrNameLst>
                                          <p:attrName>style.visibility</p:attrName>
                                        </p:attrNameLst>
                                      </p:cBhvr>
                                      <p:to>
                                        <p:strVal val="visible"/>
                                      </p:to>
                                    </p:set>
                                    <p:animEffect transition="in" filter="blinds(horizontal)">
                                      <p:cBhvr>
                                        <p:cTn id="41" dur="500"/>
                                        <p:tgtEl>
                                          <p:spTgt spid="1947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9469"/>
                                        </p:tgtEl>
                                        <p:attrNameLst>
                                          <p:attrName>style.visibility</p:attrName>
                                        </p:attrNameLst>
                                      </p:cBhvr>
                                      <p:to>
                                        <p:strVal val="visible"/>
                                      </p:to>
                                    </p:set>
                                    <p:animEffect transition="in" filter="blinds(horizontal)">
                                      <p:cBhvr>
                                        <p:cTn id="46" dur="500"/>
                                        <p:tgtEl>
                                          <p:spTgt spid="19469"/>
                                        </p:tgtEl>
                                      </p:cBhvr>
                                    </p:animEffect>
                                  </p:childTnLst>
                                </p:cTn>
                              </p:par>
                              <p:par>
                                <p:cTn id="47" presetID="3" presetClass="emph" presetSubtype="2" fill="hold" nodeType="withEffect">
                                  <p:stCondLst>
                                    <p:cond delay="0"/>
                                  </p:stCondLst>
                                  <p:childTnLst>
                                    <p:animClr clrSpc="rgb" dir="cw">
                                      <p:cBhvr override="childStyle">
                                        <p:cTn id="48" dur="500" fill="hold"/>
                                        <p:tgtEl>
                                          <p:spTgt spid="19467">
                                            <p:txEl>
                                              <p:pRg st="2" end="2"/>
                                            </p:txEl>
                                          </p:spTgt>
                                        </p:tgtEl>
                                        <p:attrNameLst>
                                          <p:attrName>style.color</p:attrName>
                                        </p:attrNameLst>
                                      </p:cBhvr>
                                      <p:to>
                                        <a:schemeClr val="bg1"/>
                                      </p:to>
                                    </p:animClr>
                                  </p:childTnLst>
                                </p:cTn>
                              </p:par>
                              <p:par>
                                <p:cTn id="49" presetID="3" presetClass="emph" presetSubtype="2" fill="hold" nodeType="withEffect">
                                  <p:stCondLst>
                                    <p:cond delay="0"/>
                                  </p:stCondLst>
                                  <p:childTnLst>
                                    <p:animClr clrSpc="rgb" dir="cw">
                                      <p:cBhvr override="childStyle">
                                        <p:cTn id="50" dur="500" fill="hold"/>
                                        <p:tgtEl>
                                          <p:spTgt spid="19467">
                                            <p:txEl>
                                              <p:pRg st="3" end="3"/>
                                            </p:txEl>
                                          </p:spTgt>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7" grpId="0" build="allAtOnce"/>
      <p:bldP spid="19468" grpId="0"/>
      <p:bldP spid="19469" grpId="0"/>
      <p:bldP spid="19473" grpId="0"/>
      <p:bldP spid="1947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20321DE4-ABE7-0C85-BE84-6BB6741FBD1A}"/>
              </a:ext>
            </a:extLst>
          </p:cNvPr>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中间代码优化</a:t>
            </a:r>
            <a:endParaRPr lang="en-US" altLang="zh-CN" sz="4000" dirty="0">
              <a:latin typeface="微软雅黑" panose="020B0503020204020204" pitchFamily="2" charset="-122"/>
              <a:ea typeface="微软雅黑" panose="020B0503020204020204" pitchFamily="2" charset="-122"/>
            </a:endParaRPr>
          </a:p>
        </p:txBody>
      </p:sp>
      <p:sp>
        <p:nvSpPr>
          <p:cNvPr id="3" name="Rectangle 3">
            <a:extLst>
              <a:ext uri="{FF2B5EF4-FFF2-40B4-BE49-F238E27FC236}">
                <a16:creationId xmlns:a16="http://schemas.microsoft.com/office/drawing/2014/main" id="{8FC000E0-81CF-7E47-5F92-75AF2780A7AC}"/>
              </a:ext>
            </a:extLst>
          </p:cNvPr>
          <p:cNvSpPr txBox="1">
            <a:spLocks noChangeArrowheads="1"/>
          </p:cNvSpPr>
          <p:nvPr/>
        </p:nvSpPr>
        <p:spPr>
          <a:xfrm>
            <a:off x="629999" y="1823259"/>
            <a:ext cx="8955615"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任务：对前阶段产生的中间代码进行</a:t>
            </a: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等价</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加工变换，以期在最后阶段产生更高效的目标代码</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依循的原则：程序的等价变换规则</a:t>
            </a:r>
          </a:p>
          <a:p>
            <a:pPr marL="0" marR="0" lvl="0" indent="0" algn="l" defTabSz="457200" rtl="0" eaLnBrk="1" fontAlgn="auto" latinLnBrk="0" hangingPunct="1">
              <a:lnSpc>
                <a:spcPct val="100000"/>
              </a:lnSpc>
              <a:spcBef>
                <a:spcPts val="1000"/>
              </a:spcBef>
              <a:spcAft>
                <a:spcPts val="0"/>
              </a:spcAft>
              <a:buClr>
                <a:srgbClr val="4F81BD"/>
              </a:buClr>
              <a:buSzPct val="80000"/>
              <a:buFont typeface="Wingdings 3" charset="2"/>
              <a:buNone/>
              <a:tabLst/>
              <a:defRPr/>
            </a:pPr>
            <a:r>
              <a:rPr kumimoji="0" lang="zh-CN" altLang="en-US" sz="2800" b="1" i="0" u="none" strike="noStrike" kern="1200" cap="none" spc="0" normalizeH="0" baseline="0" noProof="0" dirty="0">
                <a:ln>
                  <a:noFill/>
                </a:ln>
                <a:solidFill>
                  <a:sysClr val="windowText" lastClr="000000">
                    <a:lumMod val="75000"/>
                    <a:lumOff val="25000"/>
                  </a:sysClr>
                </a:solidFill>
                <a:effectLst/>
                <a:uLnTx/>
                <a:uFillTx/>
                <a:latin typeface="Courier New" panose="02070309020205020404" pitchFamily="49" charset="0"/>
                <a:ea typeface="微软雅黑" panose="020B0503020204020204" pitchFamily="34" charset="-122"/>
                <a:cs typeface="Courier New" panose="02070309020205020404" pitchFamily="49" charset="0"/>
              </a:rPr>
              <a:t>   </a:t>
            </a:r>
            <a:endParaRPr kumimoji="0" lang="en-US" altLang="zh-CN" sz="2800" b="1" i="0" u="none" strike="noStrike" kern="1200" cap="none" spc="0" normalizeH="0" baseline="0" noProof="0" dirty="0">
              <a:ln>
                <a:noFill/>
              </a:ln>
              <a:solidFill>
                <a:sysClr val="windowText" lastClr="000000">
                  <a:lumMod val="75000"/>
                  <a:lumOff val="25000"/>
                </a:sysClr>
              </a:solidFill>
              <a:effectLst/>
              <a:uLnTx/>
              <a:uFillTx/>
              <a:latin typeface="Courier New" panose="02070309020205020404" pitchFamily="49" charset="0"/>
              <a:ea typeface="微软雅黑" panose="020B0503020204020204" pitchFamily="34" charset="-122"/>
              <a:cs typeface="Courier New" panose="02070309020205020404" pitchFamily="49" charset="0"/>
            </a:endParaRPr>
          </a:p>
        </p:txBody>
      </p:sp>
      <p:sp>
        <p:nvSpPr>
          <p:cNvPr id="4" name="文本框 3">
            <a:extLst>
              <a:ext uri="{FF2B5EF4-FFF2-40B4-BE49-F238E27FC236}">
                <a16:creationId xmlns:a16="http://schemas.microsoft.com/office/drawing/2014/main" id="{C7CF403E-1EFB-500D-2C8E-1F822283AD87}"/>
              </a:ext>
            </a:extLst>
          </p:cNvPr>
          <p:cNvSpPr txBox="1"/>
          <p:nvPr/>
        </p:nvSpPr>
        <p:spPr>
          <a:xfrm>
            <a:off x="1441268" y="3498003"/>
            <a:ext cx="5087422" cy="2677656"/>
          </a:xfrm>
          <a:prstGeom prst="rect">
            <a:avLst/>
          </a:prstGeom>
          <a:solidFill>
            <a:srgbClr val="4F81BD"/>
          </a:solidFill>
          <a:ln w="25400" cap="rnd" cmpd="sng" algn="ctr">
            <a:solidFill>
              <a:sysClr val="window" lastClr="FFFFFF"/>
            </a:solidFill>
            <a:prstDash val="solid"/>
          </a:ln>
          <a:effectLst/>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FOR K:=1 TO 100 DO</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BEGIN  </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    X:=I+1;</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    M := I + 10 * K;</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    N := J + 10 * K;</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prstClr val="white"/>
                </a:solidFill>
                <a:effectLst/>
                <a:uLnTx/>
                <a:uFillTx/>
                <a:latin typeface="Courier New" panose="02070309020205020404" pitchFamily="49" charset="0"/>
                <a:ea typeface="黑体" panose="02010609060101010101" pitchFamily="49" charset="-122"/>
                <a:cs typeface="Courier New" panose="02070309020205020404" pitchFamily="49" charset="0"/>
              </a:rPr>
              <a:t>END</a:t>
            </a:r>
          </a:p>
        </p:txBody>
      </p:sp>
      <p:sp>
        <p:nvSpPr>
          <p:cNvPr id="5"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27</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34510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48B14B3F-28CE-501A-FDC6-28BAF4106687}"/>
              </a:ext>
            </a:extLst>
          </p:cNvPr>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中间代码优化</a:t>
            </a:r>
            <a:endParaRPr lang="en-US" altLang="zh-CN" sz="4000" dirty="0">
              <a:latin typeface="微软雅黑" panose="020B0503020204020204" pitchFamily="2" charset="-122"/>
              <a:ea typeface="微软雅黑" panose="020B0503020204020204" pitchFamily="2" charset="-122"/>
            </a:endParaRPr>
          </a:p>
        </p:txBody>
      </p:sp>
      <p:graphicFrame>
        <p:nvGraphicFramePr>
          <p:cNvPr id="4" name="内容占位符 4">
            <a:extLst>
              <a:ext uri="{FF2B5EF4-FFF2-40B4-BE49-F238E27FC236}">
                <a16:creationId xmlns:a16="http://schemas.microsoft.com/office/drawing/2014/main" id="{4753A1CB-50DE-0829-DFCA-9F012EE68A9A}"/>
              </a:ext>
            </a:extLst>
          </p:cNvPr>
          <p:cNvGraphicFramePr>
            <a:graphicFrameLocks/>
          </p:cNvGraphicFramePr>
          <p:nvPr>
            <p:extLst>
              <p:ext uri="{D42A27DB-BD31-4B8C-83A1-F6EECF244321}">
                <p14:modId xmlns:p14="http://schemas.microsoft.com/office/powerpoint/2010/main" val="1888960178"/>
              </p:ext>
            </p:extLst>
          </p:nvPr>
        </p:nvGraphicFramePr>
        <p:xfrm>
          <a:off x="962922" y="1959866"/>
          <a:ext cx="7767636" cy="4476750"/>
        </p:xfrm>
        <a:graphic>
          <a:graphicData uri="http://schemas.openxmlformats.org/drawingml/2006/table">
            <a:tbl>
              <a:tblPr firstRow="1" bandRow="1"/>
              <a:tblGrid>
                <a:gridCol w="810072">
                  <a:extLst>
                    <a:ext uri="{9D8B030D-6E8A-4147-A177-3AD203B41FA5}">
                      <a16:colId xmlns:a16="http://schemas.microsoft.com/office/drawing/2014/main" val="20000"/>
                    </a:ext>
                  </a:extLst>
                </a:gridCol>
                <a:gridCol w="673374">
                  <a:extLst>
                    <a:ext uri="{9D8B030D-6E8A-4147-A177-3AD203B41FA5}">
                      <a16:colId xmlns:a16="http://schemas.microsoft.com/office/drawing/2014/main" val="20001"/>
                    </a:ext>
                  </a:extLst>
                </a:gridCol>
                <a:gridCol w="890649">
                  <a:extLst>
                    <a:ext uri="{9D8B030D-6E8A-4147-A177-3AD203B41FA5}">
                      <a16:colId xmlns:a16="http://schemas.microsoft.com/office/drawing/2014/main" val="20002"/>
                    </a:ext>
                  </a:extLst>
                </a:gridCol>
                <a:gridCol w="878774">
                  <a:extLst>
                    <a:ext uri="{9D8B030D-6E8A-4147-A177-3AD203B41FA5}">
                      <a16:colId xmlns:a16="http://schemas.microsoft.com/office/drawing/2014/main" val="20003"/>
                    </a:ext>
                  </a:extLst>
                </a:gridCol>
                <a:gridCol w="1246910">
                  <a:extLst>
                    <a:ext uri="{9D8B030D-6E8A-4147-A177-3AD203B41FA5}">
                      <a16:colId xmlns:a16="http://schemas.microsoft.com/office/drawing/2014/main" val="20004"/>
                    </a:ext>
                  </a:extLst>
                </a:gridCol>
                <a:gridCol w="3267857">
                  <a:extLst>
                    <a:ext uri="{9D8B030D-6E8A-4147-A177-3AD203B41FA5}">
                      <a16:colId xmlns:a16="http://schemas.microsoft.com/office/drawing/2014/main" val="20005"/>
                    </a:ext>
                  </a:extLst>
                </a:gridCol>
              </a:tblGrid>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000" dirty="0"/>
                        <a:t>序号</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OPR</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OPN1</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OPN2</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RESULT</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000" dirty="0"/>
                        <a:t>注释</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 </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&lt;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000" b="1" dirty="0">
                          <a:latin typeface="Courier New" panose="02070309020205020404" pitchFamily="49" charset="0"/>
                          <a:cs typeface="Courier New" panose="02070309020205020404" pitchFamily="49" charset="0"/>
                        </a:rPr>
                        <a:t>if (100&lt;K) </a:t>
                      </a:r>
                      <a:r>
                        <a:rPr lang="en-US" altLang="zh-CN" sz="2000" b="1" dirty="0" err="1">
                          <a:latin typeface="Courier New" panose="02070309020205020404" pitchFamily="49" charset="0"/>
                          <a:cs typeface="Courier New" panose="02070309020205020404" pitchFamily="49" charset="0"/>
                        </a:rPr>
                        <a:t>goto</a:t>
                      </a:r>
                      <a:r>
                        <a:rPr lang="en-US" altLang="zh-CN" sz="2000" b="1" dirty="0">
                          <a:latin typeface="Courier New" panose="02070309020205020404" pitchFamily="49" charset="0"/>
                          <a:cs typeface="Courier New" panose="02070309020205020404" pitchFamily="49" charset="0"/>
                        </a:rPr>
                        <a:t> (10)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(3)</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I</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X</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X:=I+1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(4)</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T1=10*K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(5)</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I</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M:=I+T1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(6)</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T2=10*K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(7)</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J</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N:=J+T2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(8)</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K:=K+1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(9)</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J</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err="1">
                          <a:latin typeface="Courier New" panose="02070309020205020404" pitchFamily="49" charset="0"/>
                          <a:cs typeface="Courier New" panose="02070309020205020404" pitchFamily="49" charset="0"/>
                        </a:rPr>
                        <a:t>goto</a:t>
                      </a:r>
                      <a:r>
                        <a:rPr lang="en-US" altLang="zh-CN" sz="2000" b="1" dirty="0">
                          <a:latin typeface="Courier New" panose="02070309020205020404" pitchFamily="49" charset="0"/>
                          <a:cs typeface="Courier New" panose="02070309020205020404" pitchFamily="49" charset="0"/>
                        </a:rPr>
                        <a:t> (2)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9"/>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10"/>
                  </a:ext>
                </a:extLst>
              </a:tr>
            </a:tbl>
          </a:graphicData>
        </a:graphic>
      </p:graphicFrame>
      <p:sp>
        <p:nvSpPr>
          <p:cNvPr id="5" name="Cloud">
            <a:extLst>
              <a:ext uri="{FF2B5EF4-FFF2-40B4-BE49-F238E27FC236}">
                <a16:creationId xmlns:a16="http://schemas.microsoft.com/office/drawing/2014/main" id="{09CD1756-B673-BBA6-974F-9F33EC464D5D}"/>
              </a:ext>
            </a:extLst>
          </p:cNvPr>
          <p:cNvSpPr>
            <a:spLocks noChangeAspect="1" noEditPoints="1" noChangeArrowheads="1"/>
          </p:cNvSpPr>
          <p:nvPr/>
        </p:nvSpPr>
        <p:spPr bwMode="auto">
          <a:xfrm>
            <a:off x="2062775" y="5283738"/>
            <a:ext cx="2886709" cy="15113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EEECE1"/>
          </a:solidFill>
          <a:ln w="19050" cap="rnd" cmpd="sng" algn="ctr">
            <a:solidFill>
              <a:srgbClr val="4F81BD">
                <a:shade val="50000"/>
              </a:srgbClr>
            </a:solidFill>
            <a:prstDash val="solid"/>
          </a:ln>
          <a:effectLst/>
        </p:spPr>
        <p:txBody>
          <a:bodyPr rot="0" spcFirstLastPara="0" vertOverflow="overflow" horzOverflow="overflow" vert="horz" wrap="square" lIns="91440" tIns="72000" rIns="91440" bIns="7200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400</a:t>
            </a:r>
            <a:r>
              <a:rPr kumimoji="0" lang="zh-CN" altLang="en-GB"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次加法</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200</a:t>
            </a:r>
            <a:r>
              <a:rPr kumimoji="0" lang="zh-CN" altLang="en-GB"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次乘法</a:t>
            </a:r>
            <a:endParaRPr kumimoji="0" lang="en-GB" sz="24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pic>
        <p:nvPicPr>
          <p:cNvPr id="6" name="图片 5">
            <a:extLst>
              <a:ext uri="{FF2B5EF4-FFF2-40B4-BE49-F238E27FC236}">
                <a16:creationId xmlns:a16="http://schemas.microsoft.com/office/drawing/2014/main" id="{A4DE67DC-ADA7-38DE-4AEA-43BBEA612C07}"/>
              </a:ext>
            </a:extLst>
          </p:cNvPr>
          <p:cNvPicPr>
            <a:picLocks noChangeAspect="1"/>
          </p:cNvPicPr>
          <p:nvPr/>
        </p:nvPicPr>
        <p:blipFill>
          <a:blip r:embed="rId2"/>
          <a:stretch>
            <a:fillRect/>
          </a:stretch>
        </p:blipFill>
        <p:spPr>
          <a:xfrm>
            <a:off x="3582892" y="0"/>
            <a:ext cx="3281761" cy="2022828"/>
          </a:xfrm>
          <a:prstGeom prst="rect">
            <a:avLst/>
          </a:prstGeom>
        </p:spPr>
      </p:pic>
      <p:sp>
        <p:nvSpPr>
          <p:cNvPr id="7"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28</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183515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3190FAF9-D38C-0862-ACB4-0277F40AD69B}"/>
              </a:ext>
            </a:extLst>
          </p:cNvPr>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中间代码优化</a:t>
            </a:r>
            <a:endParaRPr lang="en-US" altLang="zh-CN" sz="4000" dirty="0">
              <a:latin typeface="微软雅黑" panose="020B0503020204020204" pitchFamily="2" charset="-122"/>
              <a:ea typeface="微软雅黑" panose="020B0503020204020204" pitchFamily="2" charset="-122"/>
            </a:endParaRPr>
          </a:p>
          <a:p>
            <a:pPr indent="0" eaLnBrk="0" hangingPunct="0">
              <a:lnSpc>
                <a:spcPct val="110000"/>
              </a:lnSpc>
            </a:pPr>
            <a:r>
              <a:rPr lang="en-US" altLang="zh-CN" sz="4000" dirty="0">
                <a:latin typeface="微软雅黑" panose="020B0503020204020204" pitchFamily="2" charset="-122"/>
                <a:ea typeface="微软雅黑" panose="020B0503020204020204" pitchFamily="2" charset="-122"/>
              </a:rPr>
              <a:t>      ——</a:t>
            </a:r>
            <a:r>
              <a:rPr lang="zh-CN" altLang="en-US" sz="4000" dirty="0">
                <a:latin typeface="微软雅黑" panose="020B0503020204020204" pitchFamily="2" charset="-122"/>
                <a:ea typeface="微软雅黑" panose="020B0503020204020204" pitchFamily="2" charset="-122"/>
              </a:rPr>
              <a:t>优化后的等价代码</a:t>
            </a:r>
            <a:endParaRPr lang="en-US" altLang="zh-CN" sz="4000" dirty="0">
              <a:latin typeface="微软雅黑" panose="020B0503020204020204" pitchFamily="2" charset="-122"/>
              <a:ea typeface="微软雅黑" panose="020B0503020204020204" pitchFamily="2" charset="-122"/>
            </a:endParaRPr>
          </a:p>
        </p:txBody>
      </p:sp>
      <p:graphicFrame>
        <p:nvGraphicFramePr>
          <p:cNvPr id="3" name="内容占位符 4">
            <a:extLst>
              <a:ext uri="{FF2B5EF4-FFF2-40B4-BE49-F238E27FC236}">
                <a16:creationId xmlns:a16="http://schemas.microsoft.com/office/drawing/2014/main" id="{67B6B4B6-B71B-7F24-C232-7ADDC7AA0D60}"/>
              </a:ext>
            </a:extLst>
          </p:cNvPr>
          <p:cNvGraphicFramePr>
            <a:graphicFrameLocks/>
          </p:cNvGraphicFramePr>
          <p:nvPr>
            <p:extLst>
              <p:ext uri="{D42A27DB-BD31-4B8C-83A1-F6EECF244321}">
                <p14:modId xmlns:p14="http://schemas.microsoft.com/office/powerpoint/2010/main" val="3666474028"/>
              </p:ext>
            </p:extLst>
          </p:nvPr>
        </p:nvGraphicFramePr>
        <p:xfrm>
          <a:off x="749964" y="2127331"/>
          <a:ext cx="7767636" cy="4476750"/>
        </p:xfrm>
        <a:graphic>
          <a:graphicData uri="http://schemas.openxmlformats.org/drawingml/2006/table">
            <a:tbl>
              <a:tblPr firstRow="1" bandRow="1"/>
              <a:tblGrid>
                <a:gridCol w="825117">
                  <a:extLst>
                    <a:ext uri="{9D8B030D-6E8A-4147-A177-3AD203B41FA5}">
                      <a16:colId xmlns:a16="http://schemas.microsoft.com/office/drawing/2014/main" val="20000"/>
                    </a:ext>
                  </a:extLst>
                </a:gridCol>
                <a:gridCol w="658329">
                  <a:extLst>
                    <a:ext uri="{9D8B030D-6E8A-4147-A177-3AD203B41FA5}">
                      <a16:colId xmlns:a16="http://schemas.microsoft.com/office/drawing/2014/main" val="20001"/>
                    </a:ext>
                  </a:extLst>
                </a:gridCol>
                <a:gridCol w="890649">
                  <a:extLst>
                    <a:ext uri="{9D8B030D-6E8A-4147-A177-3AD203B41FA5}">
                      <a16:colId xmlns:a16="http://schemas.microsoft.com/office/drawing/2014/main" val="20002"/>
                    </a:ext>
                  </a:extLst>
                </a:gridCol>
                <a:gridCol w="878774">
                  <a:extLst>
                    <a:ext uri="{9D8B030D-6E8A-4147-A177-3AD203B41FA5}">
                      <a16:colId xmlns:a16="http://schemas.microsoft.com/office/drawing/2014/main" val="20003"/>
                    </a:ext>
                  </a:extLst>
                </a:gridCol>
                <a:gridCol w="1246910">
                  <a:extLst>
                    <a:ext uri="{9D8B030D-6E8A-4147-A177-3AD203B41FA5}">
                      <a16:colId xmlns:a16="http://schemas.microsoft.com/office/drawing/2014/main" val="20004"/>
                    </a:ext>
                  </a:extLst>
                </a:gridCol>
                <a:gridCol w="3267857">
                  <a:extLst>
                    <a:ext uri="{9D8B030D-6E8A-4147-A177-3AD203B41FA5}">
                      <a16:colId xmlns:a16="http://schemas.microsoft.com/office/drawing/2014/main" val="20005"/>
                    </a:ext>
                  </a:extLst>
                </a:gridCol>
              </a:tblGrid>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000" dirty="0"/>
                        <a:t>序号</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OPR</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OPN1</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OPN2</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en-US" altLang="zh-CN" sz="2000" dirty="0"/>
                        <a:t>RESULT</a:t>
                      </a:r>
                      <a:endParaRPr lang="zh-CN" altLang="en-US"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algn="ctr"/>
                      <a:r>
                        <a:rPr lang="zh-CN" altLang="en-US" sz="2000" dirty="0"/>
                        <a:t>注释</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I</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X</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X:=I+1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(2)</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I</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M:=I</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(3)</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J</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N:=J</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(4)</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 </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(5)</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&lt;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000" b="1" dirty="0">
                          <a:latin typeface="Courier New" panose="02070309020205020404" pitchFamily="49" charset="0"/>
                          <a:cs typeface="Courier New" panose="02070309020205020404" pitchFamily="49" charset="0"/>
                        </a:rPr>
                        <a:t>if (100&lt;K) </a:t>
                      </a:r>
                      <a:r>
                        <a:rPr lang="en-US" altLang="zh-CN" sz="2000" b="1" dirty="0" err="1">
                          <a:latin typeface="Courier New" panose="02070309020205020404" pitchFamily="49" charset="0"/>
                          <a:cs typeface="Courier New" panose="02070309020205020404" pitchFamily="49" charset="0"/>
                        </a:rPr>
                        <a:t>goto</a:t>
                      </a:r>
                      <a:r>
                        <a:rPr lang="en-US" altLang="zh-CN" sz="2000" b="1" dirty="0">
                          <a:latin typeface="Courier New" panose="02070309020205020404" pitchFamily="49" charset="0"/>
                          <a:cs typeface="Courier New" panose="02070309020205020404" pitchFamily="49" charset="0"/>
                        </a:rPr>
                        <a:t> (10)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(6)</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M:=M+10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(7)</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N:=N+10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(8)</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K:=K+1</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(9)</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J</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(5)</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err="1">
                          <a:latin typeface="Courier New" panose="02070309020205020404" pitchFamily="49" charset="0"/>
                          <a:cs typeface="Courier New" panose="02070309020205020404" pitchFamily="49" charset="0"/>
                        </a:rPr>
                        <a:t>goto</a:t>
                      </a:r>
                      <a:r>
                        <a:rPr lang="en-US" altLang="zh-CN" sz="2000" b="1" dirty="0">
                          <a:latin typeface="Courier New" panose="02070309020205020404" pitchFamily="49" charset="0"/>
                          <a:cs typeface="Courier New" panose="02070309020205020404" pitchFamily="49" charset="0"/>
                        </a:rPr>
                        <a:t> (5)</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9"/>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000" b="1" dirty="0">
                          <a:latin typeface="Courier New" panose="02070309020205020404" pitchFamily="49" charset="0"/>
                          <a:cs typeface="Courier New" panose="02070309020205020404" pitchFamily="49" charset="0"/>
                        </a:rPr>
                        <a:t>(10)</a:t>
                      </a: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endParaRPr lang="zh-CN" altLang="en-US" sz="2000" b="1"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35D78056-93D3-BDEA-977A-A1F63907FAAF}"/>
              </a:ext>
            </a:extLst>
          </p:cNvPr>
          <p:cNvPicPr>
            <a:picLocks noChangeAspect="1"/>
          </p:cNvPicPr>
          <p:nvPr/>
        </p:nvPicPr>
        <p:blipFill>
          <a:blip r:embed="rId2"/>
          <a:stretch>
            <a:fillRect/>
          </a:stretch>
        </p:blipFill>
        <p:spPr>
          <a:xfrm>
            <a:off x="6709369" y="113071"/>
            <a:ext cx="3281761" cy="2022828"/>
          </a:xfrm>
          <a:prstGeom prst="rect">
            <a:avLst/>
          </a:prstGeom>
        </p:spPr>
      </p:pic>
      <p:sp>
        <p:nvSpPr>
          <p:cNvPr id="5" name="Cloud">
            <a:extLst>
              <a:ext uri="{FF2B5EF4-FFF2-40B4-BE49-F238E27FC236}">
                <a16:creationId xmlns:a16="http://schemas.microsoft.com/office/drawing/2014/main" id="{509EE534-1B7B-D150-3C48-40D2CEB0006D}"/>
              </a:ext>
            </a:extLst>
          </p:cNvPr>
          <p:cNvSpPr>
            <a:spLocks noChangeAspect="1" noEditPoints="1" noChangeArrowheads="1"/>
          </p:cNvSpPr>
          <p:nvPr/>
        </p:nvSpPr>
        <p:spPr bwMode="auto">
          <a:xfrm>
            <a:off x="1693771" y="5213093"/>
            <a:ext cx="2886709" cy="15113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EEECE1"/>
          </a:solidFill>
          <a:ln w="19050" cap="rnd" cmpd="sng" algn="ctr">
            <a:solidFill>
              <a:srgbClr val="4F81BD">
                <a:shade val="50000"/>
              </a:srgbClr>
            </a:solidFill>
            <a:prstDash val="solid"/>
          </a:ln>
          <a:effectLst/>
        </p:spPr>
        <p:txBody>
          <a:bodyPr rot="0" spcFirstLastPara="0" vertOverflow="overflow" horzOverflow="overflow" vert="horz" wrap="square" lIns="91440" tIns="72000" rIns="91440" bIns="7200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400</a:t>
            </a:r>
            <a:r>
              <a:rPr kumimoji="0" lang="zh-CN" altLang="en-GB"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次加法</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GB"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200</a:t>
            </a:r>
            <a:r>
              <a:rPr kumimoji="0" lang="zh-CN" altLang="en-GB"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次乘法</a:t>
            </a:r>
            <a:endParaRPr kumimoji="0" lang="en-GB" sz="24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sp>
        <p:nvSpPr>
          <p:cNvPr id="6" name="Cloud">
            <a:extLst>
              <a:ext uri="{FF2B5EF4-FFF2-40B4-BE49-F238E27FC236}">
                <a16:creationId xmlns:a16="http://schemas.microsoft.com/office/drawing/2014/main" id="{6FFD0EB0-76B5-737E-EBE7-69291BAA734D}"/>
              </a:ext>
            </a:extLst>
          </p:cNvPr>
          <p:cNvSpPr>
            <a:spLocks noChangeAspect="1" noEditPoints="1" noChangeArrowheads="1"/>
          </p:cNvSpPr>
          <p:nvPr/>
        </p:nvSpPr>
        <p:spPr bwMode="auto">
          <a:xfrm>
            <a:off x="2047339" y="5413443"/>
            <a:ext cx="2179573" cy="11410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EEECE1"/>
          </a:solidFill>
          <a:ln w="19050" cap="rnd" cmpd="sng" algn="ctr">
            <a:solidFill>
              <a:srgbClr val="4F81BD">
                <a:shade val="50000"/>
              </a:srgbClr>
            </a:solidFill>
            <a:prstDash val="solid"/>
          </a:ln>
          <a:effectLst/>
        </p:spPr>
        <p:txBody>
          <a:bodyPr rot="0" spcFirstLastPara="0" vertOverflow="overflow" horzOverflow="overflow" vert="horz" wrap="square" lIns="91440" tIns="72000" rIns="91440" bIns="7200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301</a:t>
            </a:r>
            <a:r>
              <a:rPr kumimoji="0" lang="zh-CN" altLang="en-GB"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次加法</a:t>
            </a:r>
          </a:p>
        </p:txBody>
      </p:sp>
      <p:sp>
        <p:nvSpPr>
          <p:cNvPr id="7"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29</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145741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xit" presetSubtype="32" fill="hold" grpId="1" nodeType="clickEffect">
                                  <p:stCondLst>
                                    <p:cond delay="0"/>
                                  </p:stCondLst>
                                  <p:childTnLst>
                                    <p:anim calcmode="lin" valueType="num">
                                      <p:cBhvr>
                                        <p:cTn id="10" dur="500"/>
                                        <p:tgtEl>
                                          <p:spTgt spid="5"/>
                                        </p:tgtEl>
                                        <p:attrNameLst>
                                          <p:attrName>ppt_w</p:attrName>
                                        </p:attrNameLst>
                                      </p:cBhvr>
                                      <p:tavLst>
                                        <p:tav tm="0">
                                          <p:val>
                                            <p:strVal val="ppt_w"/>
                                          </p:val>
                                        </p:tav>
                                        <p:tav tm="100000">
                                          <p:val>
                                            <p:fltVal val="0"/>
                                          </p:val>
                                        </p:tav>
                                      </p:tavLst>
                                    </p:anim>
                                    <p:anim calcmode="lin" valueType="num">
                                      <p:cBhvr>
                                        <p:cTn id="11" dur="500"/>
                                        <p:tgtEl>
                                          <p:spTgt spid="5"/>
                                        </p:tgtEl>
                                        <p:attrNameLst>
                                          <p:attrName>ppt_h</p:attrName>
                                        </p:attrNameLst>
                                      </p:cBhvr>
                                      <p:tavLst>
                                        <p:tav tm="0">
                                          <p:val>
                                            <p:strVal val="ppt_h"/>
                                          </p:val>
                                        </p:tav>
                                        <p:tav tm="100000">
                                          <p:val>
                                            <p:fltVal val="0"/>
                                          </p:val>
                                        </p:tav>
                                      </p:tavLst>
                                    </p:anim>
                                    <p:animEffect transition="out" filter="fad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par>
                                <p:cTn id="14"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目标代码生成</a:t>
            </a:r>
            <a:endParaRPr lang="en-US" altLang="zh-CN" sz="4000" dirty="0">
              <a:latin typeface="微软雅黑" panose="020B0503020204020204" pitchFamily="2" charset="-122"/>
              <a:ea typeface="微软雅黑" panose="020B0503020204020204" pitchFamily="2" charset="-122"/>
            </a:endParaRPr>
          </a:p>
        </p:txBody>
      </p:sp>
      <p:sp>
        <p:nvSpPr>
          <p:cNvPr id="32783"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30</a:t>
            </a:fld>
            <a:endParaRPr lang="en-GB" altLang="en-US" sz="1200" dirty="0">
              <a:latin typeface="Comic Sans MS" panose="030F0702030302020204" pitchFamily="2" charset="0"/>
              <a:ea typeface="宋体" panose="02010600030101010101" pitchFamily="2" charset="-122"/>
            </a:endParaRPr>
          </a:p>
        </p:txBody>
      </p:sp>
      <p:sp>
        <p:nvSpPr>
          <p:cNvPr id="32784" name="Date Placeholder 17"/>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 name="Rectangle 3">
            <a:extLst>
              <a:ext uri="{FF2B5EF4-FFF2-40B4-BE49-F238E27FC236}">
                <a16:creationId xmlns:a16="http://schemas.microsoft.com/office/drawing/2014/main" id="{969F0C5E-21FA-4B1F-B97B-03C7F168F491}"/>
              </a:ext>
            </a:extLst>
          </p:cNvPr>
          <p:cNvSpPr txBox="1">
            <a:spLocks noChangeArrowheads="1"/>
          </p:cNvSpPr>
          <p:nvPr/>
        </p:nvSpPr>
        <p:spPr>
          <a:xfrm>
            <a:off x="765027" y="1603637"/>
            <a:ext cx="9000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任务</a:t>
            </a:r>
            <a:r>
              <a:rPr kumimoji="0" lang="en-US" altLang="zh-CN"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把中间代码变换成特定机器上的目标代码</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依赖于硬件系统结构和机器指令的含义</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目标代码三种形式</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汇编指令代码</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需要进行汇编</a:t>
            </a:r>
            <a:endPar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绝对指令代码</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可直接运行 </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可重新定位指令代码</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需要连接</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7210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9" presetClass="emph" presetSubtype="0" fill="hold" nodeType="clickEffect">
                                  <p:stCondLst>
                                    <p:cond delay="0"/>
                                  </p:stCondLst>
                                  <p:childTnLst>
                                    <p:animClr clrSpc="rgb" dir="cw">
                                      <p:cBhvr override="childStyle">
                                        <p:cTn id="36" dur="500" fill="hold"/>
                                        <p:tgtEl>
                                          <p:spTgt spid="2">
                                            <p:txEl>
                                              <p:pRg st="5" end="5"/>
                                            </p:txEl>
                                          </p:spTgt>
                                        </p:tgtEl>
                                        <p:attrNameLst>
                                          <p:attrName>style.color</p:attrName>
                                        </p:attrNameLst>
                                      </p:cBhvr>
                                      <p:to>
                                        <a:schemeClr val="accent2"/>
                                      </p:to>
                                    </p:animClr>
                                    <p:animClr clrSpc="rgb" dir="cw">
                                      <p:cBhvr>
                                        <p:cTn id="37" dur="500" fill="hold"/>
                                        <p:tgtEl>
                                          <p:spTgt spid="2">
                                            <p:txEl>
                                              <p:pRg st="5" end="5"/>
                                            </p:txEl>
                                          </p:spTgt>
                                        </p:tgtEl>
                                        <p:attrNameLst>
                                          <p:attrName>fillcolor</p:attrName>
                                        </p:attrNameLst>
                                      </p:cBhvr>
                                      <p:to>
                                        <a:schemeClr val="accent2"/>
                                      </p:to>
                                    </p:animClr>
                                    <p:set>
                                      <p:cBhvr>
                                        <p:cTn id="38" dur="500" fill="hold"/>
                                        <p:tgtEl>
                                          <p:spTgt spid="2">
                                            <p:txEl>
                                              <p:pRg st="5" end="5"/>
                                            </p:txEl>
                                          </p:spTgt>
                                        </p:tgtEl>
                                        <p:attrNameLst>
                                          <p:attrName>fill.type</p:attrName>
                                        </p:attrNameLst>
                                      </p:cBhvr>
                                      <p:to>
                                        <p:strVal val="solid"/>
                                      </p:to>
                                    </p:set>
                                    <p:set>
                                      <p:cBhvr>
                                        <p:cTn id="39" dur="500" fill="hold"/>
                                        <p:tgtEl>
                                          <p:spTgt spid="2">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目标代码生成</a:t>
            </a:r>
            <a:endParaRPr lang="en-US" altLang="zh-CN" sz="4000" dirty="0">
              <a:latin typeface="微软雅黑" panose="020B0503020204020204" pitchFamily="2" charset="-122"/>
              <a:ea typeface="微软雅黑" panose="020B0503020204020204" pitchFamily="2" charset="-122"/>
            </a:endParaRPr>
          </a:p>
        </p:txBody>
      </p:sp>
      <p:sp>
        <p:nvSpPr>
          <p:cNvPr id="32770" name="TextBox 4"/>
          <p:cNvSpPr txBox="1"/>
          <p:nvPr/>
        </p:nvSpPr>
        <p:spPr>
          <a:xfrm>
            <a:off x="1663700" y="1395413"/>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solidFill>
                  <a:schemeClr val="tx1"/>
                </a:solidFill>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2771" name="Rectangle 8"/>
          <p:cNvSpPr/>
          <p:nvPr/>
        </p:nvSpPr>
        <p:spPr>
          <a:xfrm>
            <a:off x="7407275" y="20701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32772" name="Rectangle 9"/>
          <p:cNvSpPr/>
          <p:nvPr/>
        </p:nvSpPr>
        <p:spPr>
          <a:xfrm>
            <a:off x="7407275" y="36782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32773" name="Rectangle 10"/>
          <p:cNvSpPr/>
          <p:nvPr/>
        </p:nvSpPr>
        <p:spPr>
          <a:xfrm>
            <a:off x="7407275" y="25987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32774" name="Rectangle 11"/>
          <p:cNvSpPr/>
          <p:nvPr/>
        </p:nvSpPr>
        <p:spPr>
          <a:xfrm>
            <a:off x="7407275" y="31384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32775" name="Rectangle 12"/>
          <p:cNvSpPr/>
          <p:nvPr/>
        </p:nvSpPr>
        <p:spPr>
          <a:xfrm>
            <a:off x="7407275" y="42195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32776" name="Rectangle 13"/>
          <p:cNvSpPr/>
          <p:nvPr/>
        </p:nvSpPr>
        <p:spPr>
          <a:xfrm>
            <a:off x="7407275" y="52990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32777" name="Rectangle 14"/>
          <p:cNvSpPr/>
          <p:nvPr/>
        </p:nvSpPr>
        <p:spPr>
          <a:xfrm>
            <a:off x="7407275" y="4743450"/>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32778" name="TextBox 15"/>
          <p:cNvSpPr txBox="1"/>
          <p:nvPr/>
        </p:nvSpPr>
        <p:spPr>
          <a:xfrm>
            <a:off x="2430463" y="3222625"/>
            <a:ext cx="5310187" cy="2897188"/>
          </a:xfrm>
          <a:prstGeom prst="rect">
            <a:avLst/>
          </a:prstGeom>
          <a:noFill/>
          <a:ln w="9525">
            <a:noFill/>
          </a:ln>
        </p:spPr>
        <p:txBody>
          <a:bodyPr anchor="t" anchorCtr="0">
            <a:spAutoFit/>
          </a:bodyPr>
          <a:lstStyle/>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add  </a:t>
            </a:r>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$x, $a, $b</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slt</a:t>
            </a:r>
            <a:r>
              <a:rPr lang="en-US" altLang="zh-CN" sz="2800" b="1" dirty="0">
                <a:latin typeface="Times New Roman" panose="02020603050405020304" pitchFamily="18" charset="0"/>
                <a:ea typeface="新宋体" panose="02010609030101010101" charset="-122"/>
                <a:cs typeface="Times New Roman" panose="02020603050405020304" pitchFamily="18" charset="0"/>
              </a:rPr>
              <a:t>  $_t1, $y, $z</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beq</a:t>
            </a:r>
            <a:r>
              <a:rPr lang="en-US" altLang="zh-CN" sz="2800" b="1" dirty="0">
                <a:latin typeface="Times New Roman" panose="02020603050405020304" pitchFamily="18" charset="0"/>
                <a:ea typeface="新宋体" panose="02010609030101010101" charset="-122"/>
                <a:cs typeface="Times New Roman" panose="02020603050405020304" pitchFamily="18" charset="0"/>
              </a:rPr>
              <a:t>  $_t1, 1,  where_true</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j</a:t>
            </a:r>
            <a:r>
              <a:rPr lang="en-US" altLang="zh-CN" sz="2800" dirty="0">
                <a:latin typeface="Times New Roman" panose="02020603050405020304" pitchFamily="18" charset="0"/>
                <a:ea typeface="新宋体" panose="02010609030101010101" charset="-122"/>
                <a:cs typeface="Times New Roman" panose="02020603050405020304" pitchFamily="18" charset="0"/>
              </a:rPr>
              <a:t>    </a:t>
            </a:r>
            <a:r>
              <a:rPr lang="en-US" altLang="zh-CN" sz="2800" b="1" dirty="0">
                <a:latin typeface="Times New Roman" panose="02020603050405020304" pitchFamily="18" charset="0"/>
                <a:ea typeface="新宋体" panose="02010609030101010101" charset="-122"/>
                <a:cs typeface="Times New Roman" panose="02020603050405020304" pitchFamily="18" charset="0"/>
              </a:rPr>
              <a:t>where_false</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add</a:t>
            </a:r>
            <a:r>
              <a:rPr lang="en-US" altLang="zh-CN" sz="2800" dirty="0">
                <a:latin typeface="Times New Roman" panose="02020603050405020304" pitchFamily="18" charset="0"/>
                <a:ea typeface="新宋体" panose="02010609030101010101" charset="-122"/>
                <a:cs typeface="Times New Roman" panose="02020603050405020304" pitchFamily="18" charset="0"/>
              </a:rPr>
              <a:t>  </a:t>
            </a:r>
            <a:r>
              <a:rPr lang="en-US" altLang="zh-CN" sz="2800" b="1" dirty="0">
                <a:latin typeface="Times New Roman" panose="02020603050405020304" pitchFamily="18" charset="0"/>
                <a:ea typeface="新宋体" panose="02010609030101010101" charset="-122"/>
                <a:cs typeface="Times New Roman" panose="02020603050405020304" pitchFamily="18" charset="0"/>
              </a:rPr>
              <a:t>$y, $x, $y</a:t>
            </a:r>
          </a:p>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j</a:t>
            </a:r>
            <a:r>
              <a:rPr lang="en-US" altLang="zh-CN" sz="2800" b="1" dirty="0">
                <a:latin typeface="Times New Roman" panose="02020603050405020304" pitchFamily="18" charset="0"/>
                <a:ea typeface="新宋体" panose="02010609030101010101" charset="-122"/>
                <a:cs typeface="Times New Roman" panose="02020603050405020304" pitchFamily="18" charset="0"/>
              </a:rPr>
              <a:t>    Loop</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a:t>
            </a:r>
          </a:p>
        </p:txBody>
      </p:sp>
      <p:sp>
        <p:nvSpPr>
          <p:cNvPr id="32779" name="TextBox 17"/>
          <p:cNvSpPr txBox="1"/>
          <p:nvPr/>
        </p:nvSpPr>
        <p:spPr>
          <a:xfrm>
            <a:off x="179388" y="4816475"/>
            <a:ext cx="4275137" cy="493713"/>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where_true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2780" name="TextBox 18"/>
          <p:cNvSpPr txBox="1"/>
          <p:nvPr/>
        </p:nvSpPr>
        <p:spPr>
          <a:xfrm>
            <a:off x="539750" y="3581400"/>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    Loop</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2781" name="TextBox 19"/>
          <p:cNvSpPr txBox="1"/>
          <p:nvPr/>
        </p:nvSpPr>
        <p:spPr>
          <a:xfrm>
            <a:off x="44450" y="5537200"/>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where_false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2783"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31</a:t>
            </a:fld>
            <a:endParaRPr lang="en-GB" altLang="en-US" sz="1200" dirty="0">
              <a:latin typeface="Comic Sans MS" panose="030F0702030302020204" pitchFamily="2" charset="0"/>
              <a:ea typeface="宋体" panose="02010600030101010101" pitchFamily="2" charset="-122"/>
            </a:endParaRPr>
          </a:p>
        </p:txBody>
      </p:sp>
      <p:sp>
        <p:nvSpPr>
          <p:cNvPr id="32784" name="Date Placeholder 17"/>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8" name="文本框 17"/>
          <p:cNvSpPr txBox="1"/>
          <p:nvPr/>
        </p:nvSpPr>
        <p:spPr>
          <a:xfrm>
            <a:off x="3825231" y="2655944"/>
            <a:ext cx="2274982" cy="378565"/>
          </a:xfrm>
          <a:prstGeom prst="rect">
            <a:avLst/>
          </a:prstGeom>
          <a:solidFill>
            <a:srgbClr val="FFFFCC"/>
          </a:solidFill>
          <a:ln w="9525" cap="flat" cmpd="sng">
            <a:solidFill>
              <a:srgbClr val="FFFFCC"/>
            </a:solidFill>
            <a:prstDash val="solid"/>
            <a:miter/>
            <a:headEnd type="none" w="med" len="med"/>
            <a:tailEnd type="none" w="med" len="med"/>
          </a:ln>
        </p:spPr>
        <p:txBody>
          <a:bodyPr wrap="square" anchor="t" anchorCtr="0">
            <a:spAutoFit/>
          </a:bodyPr>
          <a:lstStyle/>
          <a:p>
            <a:pPr indent="0" hangingPunct="0"/>
            <a:r>
              <a:rPr lang="en-US" altLang="zh-CN" sz="2000" b="1" dirty="0" err="1">
                <a:solidFill>
                  <a:srgbClr val="FF3300"/>
                </a:solidFill>
                <a:latin typeface="Times New Roman" panose="02020603050405020304" pitchFamily="18" charset="0"/>
                <a:ea typeface="楷体_GB2312" panose="02010609030101010101" charset="-122"/>
                <a:cs typeface="Times New Roman" panose="02020603050405020304" pitchFamily="18" charset="0"/>
              </a:rPr>
              <a:t>slt</a:t>
            </a:r>
            <a:r>
              <a:rPr lang="en-US" altLang="zh-CN" sz="2000" b="1" dirty="0">
                <a:solidFill>
                  <a:srgbClr val="FF3300"/>
                </a:solidFill>
                <a:latin typeface="Times New Roman" panose="02020603050405020304" pitchFamily="18" charset="0"/>
                <a:ea typeface="楷体_GB2312" panose="02010609030101010101" charset="-122"/>
                <a:cs typeface="Times New Roman" panose="02020603050405020304" pitchFamily="18" charset="0"/>
              </a:rPr>
              <a:t>: </a:t>
            </a:r>
            <a:r>
              <a:rPr lang="en-US" altLang="zh-CN" sz="2000" b="1" dirty="0">
                <a:latin typeface="Times New Roman" panose="02020603050405020304" pitchFamily="18" charset="0"/>
                <a:ea typeface="楷体_GB2312" panose="02010609030101010101" charset="-122"/>
                <a:cs typeface="Times New Roman" panose="02020603050405020304" pitchFamily="18" charset="0"/>
              </a:rPr>
              <a:t>Set on less than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2"/>
          <p:cNvSpPr txBox="1"/>
          <p:nvPr/>
        </p:nvSpPr>
        <p:spPr>
          <a:xfrm>
            <a:off x="503238" y="301625"/>
            <a:ext cx="7847012" cy="920750"/>
          </a:xfrm>
          <a:prstGeom prst="rect">
            <a:avLst/>
          </a:prstGeom>
          <a:noFill/>
          <a:ln w="9525">
            <a:noFill/>
          </a:ln>
        </p:spPr>
        <p:txBody>
          <a:bodyPr anchor="t" anchorCtr="0"/>
          <a:lstStyle/>
          <a:p>
            <a:pPr indent="0" eaLnBrk="0" hangingPunct="0">
              <a:lnSpc>
                <a:spcPct val="110000"/>
              </a:lnSpc>
            </a:pPr>
            <a:r>
              <a:rPr lang="zh-CN" altLang="en-US" sz="4000" dirty="0">
                <a:latin typeface="微软雅黑" panose="020B0503020204020204" pitchFamily="2" charset="-122"/>
                <a:ea typeface="微软雅黑" panose="020B0503020204020204" pitchFamily="2" charset="-122"/>
              </a:rPr>
              <a:t>目标代码优化</a:t>
            </a:r>
            <a:endParaRPr lang="en-US" altLang="zh-CN" sz="4000" dirty="0">
              <a:latin typeface="微软雅黑" panose="020B0503020204020204" pitchFamily="2" charset="-122"/>
              <a:ea typeface="微软雅黑" panose="020B0503020204020204" pitchFamily="2" charset="-122"/>
            </a:endParaRPr>
          </a:p>
        </p:txBody>
      </p:sp>
      <p:sp>
        <p:nvSpPr>
          <p:cNvPr id="33794" name="TextBox 4"/>
          <p:cNvSpPr txBox="1"/>
          <p:nvPr/>
        </p:nvSpPr>
        <p:spPr>
          <a:xfrm>
            <a:off x="1663700" y="1395413"/>
            <a:ext cx="2528577" cy="1695336"/>
          </a:xfrm>
          <a:prstGeom prst="rect">
            <a:avLst/>
          </a:prstGeom>
          <a:noFill/>
          <a:ln w="9525">
            <a:noFill/>
          </a:ln>
        </p:spPr>
        <p:txBody>
          <a:bodyPr wrap="none" anchor="t" anchorCtr="0">
            <a:spAutoFit/>
          </a:bodyPr>
          <a:lstStyle/>
          <a:p>
            <a:pPr indent="0" hangingPunct="0"/>
            <a:r>
              <a:rPr lang="es-ES" altLang="en-US" sz="2800" b="1" dirty="0">
                <a:latin typeface="Times New Roman" panose="02020603050405020304" pitchFamily="18" charset="0"/>
                <a:ea typeface="新宋体" panose="02010609030101010101" charset="-122"/>
                <a:cs typeface="Times New Roman" panose="02020603050405020304" pitchFamily="18" charset="0"/>
              </a:rPr>
              <a:t>while</a:t>
            </a:r>
            <a:r>
              <a:rPr lang="es-ES" altLang="en-US" sz="2800" dirty="0">
                <a:latin typeface="Times New Roman" panose="02020603050405020304" pitchFamily="18" charset="0"/>
                <a:ea typeface="新宋体" panose="02010609030101010101" charset="-122"/>
                <a:cs typeface="Times New Roman" panose="02020603050405020304" pitchFamily="18" charset="0"/>
              </a:rPr>
              <a:t> (y &lt; z) {</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a:t>
            </a:r>
            <a:r>
              <a:rPr lang="es-ES" altLang="en-US"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int</a:t>
            </a:r>
            <a:r>
              <a:rPr lang="es-ES" altLang="en-US" sz="2800" dirty="0">
                <a:solidFill>
                  <a:schemeClr val="tx1"/>
                </a:solidFill>
                <a:latin typeface="Times New Roman" panose="02020603050405020304" pitchFamily="18" charset="0"/>
                <a:ea typeface="新宋体" panose="02010609030101010101" charset="-122"/>
                <a:cs typeface="Times New Roman" panose="02020603050405020304" pitchFamily="18" charset="0"/>
              </a:rPr>
              <a:t> x = a + b;</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	y += x;</a:t>
            </a:r>
          </a:p>
          <a:p>
            <a:pPr indent="0" hangingPunct="0"/>
            <a:r>
              <a:rPr lang="es-ES" altLang="en-US" sz="2800"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3795" name="Rectangle 8"/>
          <p:cNvSpPr/>
          <p:nvPr/>
        </p:nvSpPr>
        <p:spPr>
          <a:xfrm>
            <a:off x="7407275" y="207010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33796" name="Rectangle 9"/>
          <p:cNvSpPr/>
          <p:nvPr/>
        </p:nvSpPr>
        <p:spPr>
          <a:xfrm>
            <a:off x="7407275" y="36782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中间代码生成</a:t>
            </a:r>
          </a:p>
        </p:txBody>
      </p:sp>
      <p:sp>
        <p:nvSpPr>
          <p:cNvPr id="33797" name="Rectangle 10"/>
          <p:cNvSpPr/>
          <p:nvPr/>
        </p:nvSpPr>
        <p:spPr>
          <a:xfrm>
            <a:off x="7407275" y="259873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33798" name="Rectangle 11"/>
          <p:cNvSpPr/>
          <p:nvPr/>
        </p:nvSpPr>
        <p:spPr>
          <a:xfrm>
            <a:off x="7407275" y="3138488"/>
            <a:ext cx="2447925" cy="550862"/>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33799" name="Rectangle 12"/>
          <p:cNvSpPr/>
          <p:nvPr/>
        </p:nvSpPr>
        <p:spPr>
          <a:xfrm>
            <a:off x="7407275" y="4219575"/>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中间代码优化</a:t>
            </a:r>
          </a:p>
        </p:txBody>
      </p:sp>
      <p:sp>
        <p:nvSpPr>
          <p:cNvPr id="33800" name="Rectangle 13"/>
          <p:cNvSpPr/>
          <p:nvPr/>
        </p:nvSpPr>
        <p:spPr>
          <a:xfrm>
            <a:off x="7407275" y="5299075"/>
            <a:ext cx="2447925" cy="550863"/>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目标代码优化</a:t>
            </a:r>
          </a:p>
        </p:txBody>
      </p:sp>
      <p:sp>
        <p:nvSpPr>
          <p:cNvPr id="33801" name="Rectangle 14"/>
          <p:cNvSpPr/>
          <p:nvPr/>
        </p:nvSpPr>
        <p:spPr>
          <a:xfrm>
            <a:off x="7407275" y="4743450"/>
            <a:ext cx="2447925" cy="550863"/>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b="1" dirty="0">
                <a:latin typeface="楷体_GB2312" panose="02010609030101010101" charset="-122"/>
                <a:ea typeface="楷体_GB2312" panose="02010609030101010101" charset="-122"/>
              </a:rPr>
              <a:t>目标代码生成</a:t>
            </a:r>
          </a:p>
        </p:txBody>
      </p:sp>
      <p:sp>
        <p:nvSpPr>
          <p:cNvPr id="22539" name="TextBox 15"/>
          <p:cNvSpPr txBox="1"/>
          <p:nvPr/>
        </p:nvSpPr>
        <p:spPr>
          <a:xfrm>
            <a:off x="2430463" y="3222625"/>
            <a:ext cx="5310187" cy="2897188"/>
          </a:xfrm>
          <a:prstGeom prst="rect">
            <a:avLst/>
          </a:prstGeom>
          <a:noFill/>
          <a:ln w="9525">
            <a:noFill/>
          </a:ln>
        </p:spPr>
        <p:txBody>
          <a:bodyPr anchor="t" anchorCtr="0">
            <a:spAutoFit/>
          </a:bodyPr>
          <a:lstStyle/>
          <a:p>
            <a:pPr indent="0" hangingPunct="0"/>
            <a:r>
              <a:rPr lang="en-US" altLang="zh-CN" sz="2800" b="1" dirty="0">
                <a:solidFill>
                  <a:srgbClr val="FF0000"/>
                </a:solidFill>
                <a:latin typeface="Times New Roman" panose="02020603050405020304" pitchFamily="18" charset="0"/>
                <a:ea typeface="新宋体" panose="02010609030101010101" charset="-122"/>
                <a:cs typeface="Times New Roman" panose="02020603050405020304" pitchFamily="18" charset="0"/>
              </a:rPr>
              <a:t>add  $x, $a, $b</a:t>
            </a:r>
          </a:p>
          <a:p>
            <a:pPr indent="0" hangingPunct="0"/>
            <a:r>
              <a:rPr lang="en-US" altLang="zh-CN" sz="2800" b="1" dirty="0">
                <a:solidFill>
                  <a:srgbClr val="00B050"/>
                </a:solidFill>
                <a:latin typeface="Times New Roman" panose="02020603050405020304" pitchFamily="18" charset="0"/>
                <a:ea typeface="新宋体" panose="02010609030101010101" charset="-122"/>
                <a:cs typeface="Times New Roman" panose="02020603050405020304" pitchFamily="18" charset="0"/>
              </a:rPr>
              <a:t>slt</a:t>
            </a:r>
            <a:r>
              <a:rPr lang="en-US" altLang="zh-CN" sz="2800" b="1" dirty="0">
                <a:latin typeface="Times New Roman" panose="02020603050405020304" pitchFamily="18" charset="0"/>
                <a:ea typeface="新宋体" panose="02010609030101010101" charset="-122"/>
                <a:cs typeface="Times New Roman" panose="02020603050405020304" pitchFamily="18" charset="0"/>
              </a:rPr>
              <a:t>  $_t1, $y, $z</a:t>
            </a:r>
          </a:p>
          <a:p>
            <a:pPr indent="0" hangingPunct="0"/>
            <a:r>
              <a:rPr lang="en-US" altLang="zh-CN" sz="2800" b="1" dirty="0">
                <a:solidFill>
                  <a:srgbClr val="00B050"/>
                </a:solidFill>
                <a:latin typeface="Times New Roman" panose="02020603050405020304" pitchFamily="18" charset="0"/>
                <a:ea typeface="新宋体" panose="02010609030101010101" charset="-122"/>
                <a:cs typeface="Times New Roman" panose="02020603050405020304" pitchFamily="18" charset="0"/>
              </a:rPr>
              <a:t>beq</a:t>
            </a:r>
            <a:r>
              <a:rPr lang="en-US" altLang="zh-CN" sz="2800" b="1" dirty="0">
                <a:latin typeface="Times New Roman" panose="02020603050405020304" pitchFamily="18" charset="0"/>
                <a:ea typeface="新宋体" panose="02010609030101010101" charset="-122"/>
                <a:cs typeface="Times New Roman" panose="02020603050405020304" pitchFamily="18" charset="0"/>
              </a:rPr>
              <a:t>  $_t1, 1,  where_true</a:t>
            </a:r>
          </a:p>
          <a:p>
            <a:pPr indent="0" hangingPunct="0"/>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j</a:t>
            </a:r>
            <a:r>
              <a:rPr lang="en-US" altLang="zh-CN" sz="2800" dirty="0">
                <a:solidFill>
                  <a:schemeClr val="tx1"/>
                </a:solidFill>
                <a:latin typeface="Times New Roman" panose="02020603050405020304" pitchFamily="18" charset="0"/>
                <a:ea typeface="新宋体" panose="02010609030101010101" charset="-122"/>
                <a:cs typeface="Times New Roman" panose="02020603050405020304" pitchFamily="18" charset="0"/>
              </a:rPr>
              <a:t>    </a:t>
            </a:r>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where_false</a:t>
            </a:r>
          </a:p>
          <a:p>
            <a:pPr indent="0" hangingPunct="0"/>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add</a:t>
            </a:r>
            <a:r>
              <a:rPr lang="en-US" altLang="zh-CN" sz="2800" dirty="0">
                <a:solidFill>
                  <a:schemeClr val="tx1"/>
                </a:solidFill>
                <a:latin typeface="Times New Roman" panose="02020603050405020304" pitchFamily="18" charset="0"/>
                <a:ea typeface="新宋体" panose="02010609030101010101" charset="-122"/>
                <a:cs typeface="Times New Roman" panose="02020603050405020304" pitchFamily="18" charset="0"/>
              </a:rPr>
              <a:t>  </a:t>
            </a:r>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$y, $x, $y</a:t>
            </a:r>
          </a:p>
          <a:p>
            <a:pPr indent="0" hangingPunct="0"/>
            <a:r>
              <a:rPr lang="en-US" altLang="zh-CN" sz="2800" b="1" dirty="0">
                <a:solidFill>
                  <a:schemeClr val="tx1"/>
                </a:solidFill>
                <a:latin typeface="Times New Roman" panose="02020603050405020304" pitchFamily="18" charset="0"/>
                <a:ea typeface="新宋体" panose="02010609030101010101" charset="-122"/>
                <a:cs typeface="Times New Roman" panose="02020603050405020304" pitchFamily="18" charset="0"/>
              </a:rPr>
              <a:t>j    Loop</a:t>
            </a:r>
          </a:p>
          <a:p>
            <a:pPr indent="0" hangingPunct="0"/>
            <a:r>
              <a:rPr lang="en-US" altLang="zh-CN" sz="2800" dirty="0">
                <a:latin typeface="Times New Roman" panose="02020603050405020304" pitchFamily="18" charset="0"/>
                <a:ea typeface="新宋体" panose="02010609030101010101" charset="-122"/>
                <a:cs typeface="Times New Roman" panose="02020603050405020304" pitchFamily="18" charset="0"/>
              </a:rPr>
              <a:t>…</a:t>
            </a:r>
          </a:p>
        </p:txBody>
      </p:sp>
      <p:sp>
        <p:nvSpPr>
          <p:cNvPr id="33803" name="TextBox 18"/>
          <p:cNvSpPr txBox="1"/>
          <p:nvPr/>
        </p:nvSpPr>
        <p:spPr>
          <a:xfrm>
            <a:off x="539750" y="3581400"/>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    Loop</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22541" name="TextBox 16"/>
          <p:cNvSpPr txBox="1"/>
          <p:nvPr/>
        </p:nvSpPr>
        <p:spPr>
          <a:xfrm>
            <a:off x="2316956" y="6251689"/>
            <a:ext cx="4994275" cy="1008289"/>
          </a:xfrm>
          <a:prstGeom prst="rect">
            <a:avLst/>
          </a:prstGeom>
          <a:noFill/>
          <a:ln w="9525">
            <a:noFill/>
          </a:ln>
        </p:spPr>
        <p:txBody>
          <a:bodyPr anchor="t" anchorCtr="0">
            <a:spAutoFit/>
          </a:bodyPr>
          <a:lstStyle/>
          <a:p>
            <a:pPr indent="0" hangingPunct="0"/>
            <a:r>
              <a:rPr lang="en-US" altLang="zh-CN" sz="2800" b="1" dirty="0">
                <a:solidFill>
                  <a:srgbClr val="00B050"/>
                </a:solidFill>
                <a:latin typeface="Times New Roman" panose="02020603050405020304" pitchFamily="18" charset="0"/>
                <a:ea typeface="新宋体" panose="02010609030101010101" charset="-122"/>
                <a:cs typeface="Times New Roman" panose="02020603050405020304" pitchFamily="18" charset="0"/>
              </a:rPr>
              <a:t>blt  $y, $z, </a:t>
            </a:r>
            <a:r>
              <a:rPr lang="en-US" altLang="zh-CN" sz="2800" b="1" dirty="0" err="1">
                <a:solidFill>
                  <a:srgbClr val="00B050"/>
                </a:solidFill>
                <a:latin typeface="Times New Roman" panose="02020603050405020304" pitchFamily="18" charset="0"/>
                <a:ea typeface="新宋体" panose="02010609030101010101" charset="-122"/>
                <a:cs typeface="Times New Roman" panose="02020603050405020304" pitchFamily="18" charset="0"/>
              </a:rPr>
              <a:t>where_true</a:t>
            </a:r>
            <a:endParaRPr lang="en-US" altLang="zh-CN" sz="2800" b="1" dirty="0">
              <a:solidFill>
                <a:srgbClr val="00B050"/>
              </a:solidFill>
              <a:latin typeface="Times New Roman" panose="02020603050405020304" pitchFamily="18" charset="0"/>
              <a:ea typeface="新宋体" panose="02010609030101010101" charset="-122"/>
              <a:cs typeface="Times New Roman" panose="02020603050405020304" pitchFamily="18" charset="0"/>
            </a:endParaRPr>
          </a:p>
          <a:p>
            <a:pPr indent="0" hangingPunct="0"/>
            <a:r>
              <a:rPr lang="zh-CN" altLang="en-US" sz="3600" b="1" dirty="0">
                <a:solidFill>
                  <a:schemeClr val="tx1"/>
                </a:solidFill>
                <a:latin typeface="Times New Roman" panose="02020603050405020304" pitchFamily="18" charset="0"/>
                <a:ea typeface="新宋体" panose="02010609030101010101" charset="-122"/>
                <a:cs typeface="Times New Roman" panose="02020603050405020304" pitchFamily="18" charset="0"/>
              </a:rPr>
              <a:t>小于跳转</a:t>
            </a:r>
            <a:endParaRPr lang="en-US" altLang="zh-CN" sz="3600" dirty="0">
              <a:solidFill>
                <a:schemeClr val="tx1"/>
              </a:solidFill>
              <a:latin typeface="Times New Roman" panose="02020603050405020304" pitchFamily="18" charset="0"/>
              <a:ea typeface="新宋体" panose="02010609030101010101" charset="-122"/>
              <a:cs typeface="Times New Roman" panose="02020603050405020304" pitchFamily="18" charset="0"/>
            </a:endParaRPr>
          </a:p>
        </p:txBody>
      </p:sp>
      <p:sp>
        <p:nvSpPr>
          <p:cNvPr id="33805" name="Footer Placeholder 19"/>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806" name="Slide Number Placeholder 2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32</a:t>
            </a:fld>
            <a:endParaRPr lang="en-GB" altLang="en-US" sz="1200" dirty="0">
              <a:latin typeface="Comic Sans MS" panose="030F0702030302020204" pitchFamily="2" charset="0"/>
              <a:ea typeface="宋体" panose="02010600030101010101" pitchFamily="2" charset="-122"/>
            </a:endParaRPr>
          </a:p>
        </p:txBody>
      </p:sp>
      <p:sp>
        <p:nvSpPr>
          <p:cNvPr id="33807" name="Date Placeholder 18"/>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808" name="TextBox 17"/>
          <p:cNvSpPr txBox="1"/>
          <p:nvPr/>
        </p:nvSpPr>
        <p:spPr>
          <a:xfrm>
            <a:off x="179388" y="4816475"/>
            <a:ext cx="4275137" cy="493713"/>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where_true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
        <p:nvSpPr>
          <p:cNvPr id="33809" name="TextBox 19"/>
          <p:cNvSpPr txBox="1"/>
          <p:nvPr/>
        </p:nvSpPr>
        <p:spPr>
          <a:xfrm>
            <a:off x="44450" y="5537200"/>
            <a:ext cx="4275138" cy="492125"/>
          </a:xfrm>
          <a:prstGeom prst="rect">
            <a:avLst/>
          </a:prstGeom>
          <a:noFill/>
          <a:ln w="9525">
            <a:noFill/>
          </a:ln>
        </p:spPr>
        <p:txBody>
          <a:bodyPr anchor="t" anchorCtr="0">
            <a:spAutoFit/>
          </a:bodyPr>
          <a:lstStyle/>
          <a:p>
            <a:pPr indent="0" hangingPunct="0"/>
            <a:r>
              <a:rPr lang="en-US" altLang="zh-CN" sz="2800" b="1" dirty="0">
                <a:latin typeface="Times New Roman" panose="02020603050405020304" pitchFamily="18" charset="0"/>
                <a:ea typeface="新宋体" panose="02010609030101010101" charset="-122"/>
                <a:cs typeface="Times New Roman" panose="02020603050405020304" pitchFamily="18" charset="0"/>
              </a:rPr>
              <a:t>where_false</a:t>
            </a:r>
            <a:r>
              <a:rPr lang="zh-CN" altLang="en-US" sz="2800" b="1" dirty="0">
                <a:latin typeface="Times New Roman" panose="02020603050405020304" pitchFamily="18" charset="0"/>
                <a:ea typeface="新宋体" panose="02010609030101010101" charset="-122"/>
                <a:cs typeface="Times New Roman" panose="02020603050405020304" pitchFamily="18" charset="0"/>
              </a:rPr>
              <a:t>：</a:t>
            </a:r>
            <a:endParaRPr lang="en-US" altLang="zh-CN" sz="2800" dirty="0">
              <a:latin typeface="Times New Roman" panose="02020603050405020304" pitchFamily="18" charset="0"/>
              <a:ea typeface="新宋体" panose="0201060903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1"/>
                                        </p:tgtEl>
                                        <p:attrNameLst>
                                          <p:attrName>style.visibility</p:attrName>
                                        </p:attrNameLst>
                                      </p:cBhvr>
                                      <p:to>
                                        <p:strVal val="visible"/>
                                      </p:to>
                                    </p:set>
                                    <p:animEffect transition="in" filter="blinds(horizontal)">
                                      <p:cBhvr>
                                        <p:cTn id="7" dur="500"/>
                                        <p:tgtEl>
                                          <p:spTgt spid="225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mph" presetSubtype="2" fill="hold" nodeType="clickEffect">
                                  <p:stCondLst>
                                    <p:cond delay="0"/>
                                  </p:stCondLst>
                                  <p:childTnLst>
                                    <p:animClr clrSpc="rgb" dir="cw">
                                      <p:cBhvr override="childStyle">
                                        <p:cTn id="11" dur="500" fill="hold"/>
                                        <p:tgtEl>
                                          <p:spTgt spid="22539">
                                            <p:txEl>
                                              <p:pRg st="1" end="1"/>
                                            </p:txEl>
                                          </p:spTgt>
                                        </p:tgtEl>
                                        <p:attrNameLst>
                                          <p:attrName>style.color</p:attrName>
                                        </p:attrNameLst>
                                      </p:cBhvr>
                                      <p:to>
                                        <a:schemeClr val="bg1"/>
                                      </p:to>
                                    </p:animClr>
                                  </p:childTnLst>
                                </p:cTn>
                              </p:par>
                              <p:par>
                                <p:cTn id="12" presetID="3" presetClass="emph" presetSubtype="2" fill="hold" nodeType="withEffect">
                                  <p:stCondLst>
                                    <p:cond delay="0"/>
                                  </p:stCondLst>
                                  <p:childTnLst>
                                    <p:animClr clrSpc="rgb" dir="cw">
                                      <p:cBhvr override="childStyle">
                                        <p:cTn id="13" dur="500" fill="hold"/>
                                        <p:tgtEl>
                                          <p:spTgt spid="22539">
                                            <p:txEl>
                                              <p:pRg st="2" end="2"/>
                                            </p:txEl>
                                          </p:spTgt>
                                        </p:tgtEl>
                                        <p:attrNameLst>
                                          <p:attrName>style.color</p:attrName>
                                        </p:attrNameLst>
                                      </p:cBhvr>
                                      <p:to>
                                        <a:schemeClr val="bg1"/>
                                      </p:to>
                                    </p:animClr>
                                  </p:childTnLst>
                                </p:cTn>
                              </p:par>
                            </p:childTnLst>
                          </p:cTn>
                        </p:par>
                      </p:childTnLst>
                    </p:cTn>
                  </p:par>
                  <p:par>
                    <p:cTn id="14" fill="hold">
                      <p:stCondLst>
                        <p:cond delay="indefinite"/>
                      </p:stCondLst>
                      <p:childTnLst>
                        <p:par>
                          <p:cTn id="15" fill="hold">
                            <p:stCondLst>
                              <p:cond delay="0"/>
                            </p:stCondLst>
                            <p:childTnLst>
                              <p:par>
                                <p:cTn id="16" presetID="64" presetClass="path" presetSubtype="0" accel="50000" decel="50000" fill="hold" grpId="1" nodeType="clickEffect">
                                  <p:stCondLst>
                                    <p:cond delay="0"/>
                                  </p:stCondLst>
                                  <p:childTnLst>
                                    <p:animMotion origin="layout" path="M 1.78841E-6 -1.69605E-6 L 0.00236 -0.33018 " pathEditMode="relative" rAng="0" ptsTypes="AA">
                                      <p:cBhvr>
                                        <p:cTn id="17" dur="2000" fill="hold"/>
                                        <p:tgtEl>
                                          <p:spTgt spid="22541"/>
                                        </p:tgtEl>
                                        <p:attrNameLst>
                                          <p:attrName>ppt_x</p:attrName>
                                          <p:attrName>ppt_y</p:attrName>
                                        </p:attrNameLst>
                                      </p:cBhvr>
                                      <p:rCtr x="100" y="-15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1" grpId="0"/>
      <p:bldP spid="22541"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ounded Rectangle 51"/>
          <p:cNvSpPr/>
          <p:nvPr/>
        </p:nvSpPr>
        <p:spPr>
          <a:xfrm>
            <a:off x="223789" y="224600"/>
            <a:ext cx="9721850" cy="6570662"/>
          </a:xfrm>
          <a:prstGeom prst="roundRect">
            <a:avLst>
              <a:gd name="adj" fmla="val 7324"/>
            </a:avLst>
          </a:prstGeom>
          <a:solidFill>
            <a:schemeClr val="bg1"/>
          </a:solidFill>
          <a:ln w="9525">
            <a:noFill/>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34818" name="Text Box 4"/>
          <p:cNvSpPr txBox="1"/>
          <p:nvPr/>
        </p:nvSpPr>
        <p:spPr>
          <a:xfrm>
            <a:off x="1035050" y="1393825"/>
            <a:ext cx="704850" cy="4284663"/>
          </a:xfrm>
          <a:prstGeom prst="rect">
            <a:avLst/>
          </a:prstGeom>
          <a:noFill/>
          <a:ln w="9525">
            <a:noFill/>
          </a:ln>
        </p:spPr>
        <p:txBody>
          <a:bodyPr vert="eaVert" lIns="100794" tIns="50397" rIns="100794" bIns="50397" anchor="t" anchorCtr="0">
            <a:spAutoFit/>
          </a:bodyPr>
          <a:lstStyle/>
          <a:p>
            <a:pPr indent="0" eaLnBrk="0" hangingPunct="0">
              <a:spcBef>
                <a:spcPct val="50000"/>
              </a:spcBef>
            </a:pPr>
            <a:r>
              <a:rPr lang="zh-CN" altLang="en-US" sz="3500" dirty="0">
                <a:solidFill>
                  <a:schemeClr val="tx2"/>
                </a:solidFill>
                <a:latin typeface="楷体_GB2312" panose="02010609030101010101" charset="-122"/>
                <a:ea typeface="楷体_GB2312" panose="02010609030101010101" charset="-122"/>
              </a:rPr>
              <a:t>编译器的结构</a:t>
            </a:r>
          </a:p>
        </p:txBody>
      </p:sp>
      <p:sp>
        <p:nvSpPr>
          <p:cNvPr id="30724" name="Rectangle 5"/>
          <p:cNvSpPr/>
          <p:nvPr/>
        </p:nvSpPr>
        <p:spPr>
          <a:xfrm>
            <a:off x="4624388" y="977900"/>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25" name="Rectangle 6"/>
          <p:cNvSpPr/>
          <p:nvPr/>
        </p:nvSpPr>
        <p:spPr>
          <a:xfrm>
            <a:off x="4770294" y="1039813"/>
            <a:ext cx="897682" cy="200376"/>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词法分析器</a:t>
            </a:r>
            <a:endParaRPr lang="zh-CN" altLang="en-US" sz="2400" dirty="0">
              <a:latin typeface="楷体_GB2312" panose="02010609030101010101" charset="-122"/>
              <a:ea typeface="楷体_GB2312" panose="02010609030101010101" charset="-122"/>
            </a:endParaRPr>
          </a:p>
        </p:txBody>
      </p:sp>
      <p:sp>
        <p:nvSpPr>
          <p:cNvPr id="30726" name="Rectangle 7"/>
          <p:cNvSpPr/>
          <p:nvPr/>
        </p:nvSpPr>
        <p:spPr>
          <a:xfrm>
            <a:off x="4624388" y="2212975"/>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27" name="Rectangle 8"/>
          <p:cNvSpPr/>
          <p:nvPr/>
        </p:nvSpPr>
        <p:spPr>
          <a:xfrm>
            <a:off x="4817675" y="2279650"/>
            <a:ext cx="897682" cy="200376"/>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语法分析器</a:t>
            </a:r>
            <a:endParaRPr lang="zh-CN" altLang="en-US" sz="2400" dirty="0">
              <a:latin typeface="楷体_GB2312" panose="02010609030101010101" charset="-122"/>
              <a:ea typeface="楷体_GB2312" panose="02010609030101010101" charset="-122"/>
            </a:endParaRPr>
          </a:p>
        </p:txBody>
      </p:sp>
      <p:sp>
        <p:nvSpPr>
          <p:cNvPr id="30728" name="Rectangle 9"/>
          <p:cNvSpPr/>
          <p:nvPr/>
        </p:nvSpPr>
        <p:spPr>
          <a:xfrm>
            <a:off x="4491038" y="1509713"/>
            <a:ext cx="1525587" cy="341312"/>
          </a:xfrm>
          <a:prstGeom prst="rect">
            <a:avLst/>
          </a:prstGeom>
          <a:noFill/>
          <a:ln w="9525">
            <a:noFill/>
          </a:ln>
        </p:spPr>
        <p:txBody>
          <a:bodyPr wrap="none" lIns="0" tIns="0" rIns="0" bIns="0" anchor="t" anchorCtr="0">
            <a:spAutoFit/>
          </a:bodyPr>
          <a:lstStyle/>
          <a:p>
            <a:pPr indent="0" eaLnBrk="0" hangingPunct="0"/>
            <a:r>
              <a:rPr lang="zh-CN" altLang="en-US" sz="2400" b="1" dirty="0">
                <a:solidFill>
                  <a:srgbClr val="FF3300"/>
                </a:solidFill>
                <a:latin typeface="楷体_GB2312" panose="02010609030101010101" charset="-122"/>
                <a:ea typeface="楷体_GB2312" panose="02010609030101010101" charset="-122"/>
              </a:rPr>
              <a:t>单词符号串</a:t>
            </a:r>
          </a:p>
        </p:txBody>
      </p:sp>
      <p:sp>
        <p:nvSpPr>
          <p:cNvPr id="30729" name="Line 10"/>
          <p:cNvSpPr/>
          <p:nvPr/>
        </p:nvSpPr>
        <p:spPr>
          <a:xfrm>
            <a:off x="5240338" y="1285875"/>
            <a:ext cx="0" cy="217488"/>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0" name="Line 11"/>
          <p:cNvSpPr/>
          <p:nvPr/>
        </p:nvSpPr>
        <p:spPr>
          <a:xfrm>
            <a:off x="5240338" y="1879600"/>
            <a:ext cx="0" cy="241300"/>
          </a:xfrm>
          <a:prstGeom prst="line">
            <a:avLst/>
          </a:prstGeom>
          <a:ln w="22225" cap="rnd" cmpd="sng">
            <a:solidFill>
              <a:schemeClr val="tx1"/>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1" name="Rectangle 12"/>
          <p:cNvSpPr/>
          <p:nvPr/>
        </p:nvSpPr>
        <p:spPr>
          <a:xfrm>
            <a:off x="4140252" y="2744768"/>
            <a:ext cx="2526333" cy="343492"/>
          </a:xfrm>
          <a:prstGeom prst="rect">
            <a:avLst/>
          </a:prstGeom>
          <a:noFill/>
          <a:ln w="9525">
            <a:noFill/>
          </a:ln>
        </p:spPr>
        <p:txBody>
          <a:bodyPr wrap="none" lIns="0" tIns="0" rIns="0" bIns="0" anchor="t" anchorCtr="0">
            <a:spAutoFit/>
          </a:bodyPr>
          <a:lstStyle/>
          <a:p>
            <a:pPr indent="0" eaLnBrk="0" hangingPunct="0"/>
            <a:r>
              <a:rPr lang="zh-CN" altLang="en-US" sz="2400" b="1" dirty="0">
                <a:solidFill>
                  <a:srgbClr val="FF3300"/>
                </a:solidFill>
                <a:latin typeface="楷体_GB2312" panose="02010609030101010101" charset="-122"/>
                <a:ea typeface="楷体_GB2312" panose="02010609030101010101" charset="-122"/>
              </a:rPr>
              <a:t>语法单位</a:t>
            </a:r>
            <a:r>
              <a:rPr lang="en-US" altLang="zh-CN" sz="2400" b="1" dirty="0">
                <a:solidFill>
                  <a:srgbClr val="FF3300"/>
                </a:solidFill>
                <a:latin typeface="楷体_GB2312" panose="02010609030101010101" charset="-122"/>
                <a:ea typeface="楷体_GB2312" panose="02010609030101010101" charset="-122"/>
              </a:rPr>
              <a:t>(</a:t>
            </a:r>
            <a:r>
              <a:rPr lang="zh-CN" altLang="en-US" sz="2400" b="1" dirty="0">
                <a:solidFill>
                  <a:srgbClr val="FF3300"/>
                </a:solidFill>
                <a:latin typeface="楷体_GB2312" panose="02010609030101010101" charset="-122"/>
                <a:ea typeface="楷体_GB2312" panose="02010609030101010101" charset="-122"/>
              </a:rPr>
              <a:t>语法树</a:t>
            </a:r>
            <a:r>
              <a:rPr lang="en-US" altLang="zh-CN" sz="2400" b="1" dirty="0">
                <a:solidFill>
                  <a:srgbClr val="FF3300"/>
                </a:solidFill>
                <a:latin typeface="楷体_GB2312" panose="02010609030101010101" charset="-122"/>
                <a:ea typeface="楷体_GB2312" panose="02010609030101010101" charset="-122"/>
              </a:rPr>
              <a:t>)</a:t>
            </a:r>
            <a:endParaRPr lang="zh-CN" altLang="en-US" sz="2400" b="1" dirty="0">
              <a:solidFill>
                <a:srgbClr val="FF3300"/>
              </a:solidFill>
              <a:latin typeface="楷体_GB2312" panose="02010609030101010101" charset="-122"/>
              <a:ea typeface="楷体_GB2312" panose="02010609030101010101" charset="-122"/>
            </a:endParaRPr>
          </a:p>
        </p:txBody>
      </p:sp>
      <p:sp>
        <p:nvSpPr>
          <p:cNvPr id="30732" name="Line 13"/>
          <p:cNvSpPr/>
          <p:nvPr/>
        </p:nvSpPr>
        <p:spPr>
          <a:xfrm>
            <a:off x="5240338" y="2520950"/>
            <a:ext cx="0" cy="21590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3" name="Line 14"/>
          <p:cNvSpPr/>
          <p:nvPr/>
        </p:nvSpPr>
        <p:spPr>
          <a:xfrm>
            <a:off x="5240338" y="311308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4" name="Rectangle 15"/>
          <p:cNvSpPr/>
          <p:nvPr/>
        </p:nvSpPr>
        <p:spPr>
          <a:xfrm>
            <a:off x="4198938" y="3448050"/>
            <a:ext cx="20828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35" name="Rectangle 16"/>
          <p:cNvSpPr/>
          <p:nvPr/>
        </p:nvSpPr>
        <p:spPr>
          <a:xfrm>
            <a:off x="4281488" y="3519488"/>
            <a:ext cx="1974850"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语义分析和中间代码生成</a:t>
            </a:r>
            <a:endParaRPr lang="zh-CN" altLang="en-US" sz="2400" dirty="0">
              <a:latin typeface="楷体_GB2312" panose="02010609030101010101" charset="-122"/>
              <a:ea typeface="楷体_GB2312" panose="02010609030101010101" charset="-122"/>
            </a:endParaRPr>
          </a:p>
        </p:txBody>
      </p:sp>
      <p:sp>
        <p:nvSpPr>
          <p:cNvPr id="30736" name="Rectangle 17"/>
          <p:cNvSpPr/>
          <p:nvPr/>
        </p:nvSpPr>
        <p:spPr>
          <a:xfrm>
            <a:off x="4095249" y="4049855"/>
            <a:ext cx="2503891" cy="228973"/>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中间代码</a:t>
            </a:r>
            <a:r>
              <a:rPr lang="en-US" altLang="zh-CN" sz="1600" b="1" dirty="0">
                <a:latin typeface="楷体_GB2312" panose="02010609030101010101" charset="-122"/>
                <a:ea typeface="楷体_GB2312" panose="02010609030101010101" charset="-122"/>
              </a:rPr>
              <a:t>(</a:t>
            </a:r>
            <a:r>
              <a:rPr lang="zh-CN" altLang="en-US" sz="1600" b="1" dirty="0">
                <a:latin typeface="楷体_GB2312" panose="02010609030101010101" charset="-122"/>
                <a:ea typeface="楷体_GB2312" panose="02010609030101010101" charset="-122"/>
              </a:rPr>
              <a:t>三元式，四元式</a:t>
            </a:r>
            <a:r>
              <a:rPr lang="en-US" altLang="zh-CN" sz="1600" b="1" dirty="0">
                <a:latin typeface="楷体_GB2312" panose="02010609030101010101" charset="-122"/>
                <a:ea typeface="楷体_GB2312" panose="02010609030101010101" charset="-122"/>
              </a:rPr>
              <a:t>)</a:t>
            </a:r>
            <a:endParaRPr lang="zh-CN" altLang="en-US" sz="2800" dirty="0">
              <a:latin typeface="楷体_GB2312" panose="02010609030101010101" charset="-122"/>
              <a:ea typeface="楷体_GB2312" panose="02010609030101010101" charset="-122"/>
            </a:endParaRPr>
          </a:p>
        </p:txBody>
      </p:sp>
      <p:sp>
        <p:nvSpPr>
          <p:cNvPr id="30737" name="Line 18"/>
          <p:cNvSpPr/>
          <p:nvPr/>
        </p:nvSpPr>
        <p:spPr>
          <a:xfrm>
            <a:off x="5240338" y="3756025"/>
            <a:ext cx="0" cy="217488"/>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8" name="Line 19"/>
          <p:cNvSpPr/>
          <p:nvPr/>
        </p:nvSpPr>
        <p:spPr>
          <a:xfrm>
            <a:off x="5240338" y="4349750"/>
            <a:ext cx="0" cy="24130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9" name="Rectangle 20"/>
          <p:cNvSpPr/>
          <p:nvPr/>
        </p:nvSpPr>
        <p:spPr>
          <a:xfrm>
            <a:off x="4624388" y="4681538"/>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40" name="Rectangle 21"/>
          <p:cNvSpPr/>
          <p:nvPr/>
        </p:nvSpPr>
        <p:spPr>
          <a:xfrm>
            <a:off x="5062538" y="4743450"/>
            <a:ext cx="360362"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优化</a:t>
            </a:r>
            <a:endParaRPr lang="zh-CN" altLang="en-US" sz="2400" dirty="0">
              <a:latin typeface="楷体_GB2312" panose="02010609030101010101" charset="-122"/>
              <a:ea typeface="楷体_GB2312" panose="02010609030101010101" charset="-122"/>
            </a:endParaRPr>
          </a:p>
        </p:txBody>
      </p:sp>
      <p:sp>
        <p:nvSpPr>
          <p:cNvPr id="30741" name="Rectangle 22"/>
          <p:cNvSpPr/>
          <p:nvPr/>
        </p:nvSpPr>
        <p:spPr>
          <a:xfrm>
            <a:off x="3875828" y="5305981"/>
            <a:ext cx="3324628" cy="228973"/>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经优化的中间代码</a:t>
            </a:r>
            <a:r>
              <a:rPr lang="en-US" altLang="zh-CN" sz="1600" b="1" dirty="0">
                <a:latin typeface="楷体_GB2312" panose="02010609030101010101" charset="-122"/>
                <a:ea typeface="楷体_GB2312" panose="02010609030101010101" charset="-122"/>
              </a:rPr>
              <a:t>(</a:t>
            </a:r>
            <a:r>
              <a:rPr lang="zh-CN" altLang="en-US" sz="1600" b="1" dirty="0">
                <a:latin typeface="楷体_GB2312" panose="02010609030101010101" charset="-122"/>
                <a:ea typeface="楷体_GB2312" panose="02010609030101010101" charset="-122"/>
              </a:rPr>
              <a:t>三元式，四元式</a:t>
            </a:r>
            <a:r>
              <a:rPr lang="en-US" altLang="zh-CN" sz="1600" b="1" dirty="0">
                <a:latin typeface="楷体_GB2312" panose="02010609030101010101" charset="-122"/>
                <a:ea typeface="楷体_GB2312" panose="02010609030101010101" charset="-122"/>
              </a:rPr>
              <a:t>)</a:t>
            </a:r>
            <a:endParaRPr lang="zh-CN" altLang="en-US" sz="2800" dirty="0">
              <a:latin typeface="楷体_GB2312" panose="02010609030101010101" charset="-122"/>
              <a:ea typeface="楷体_GB2312" panose="02010609030101010101" charset="-122"/>
            </a:endParaRPr>
          </a:p>
        </p:txBody>
      </p:sp>
      <p:sp>
        <p:nvSpPr>
          <p:cNvPr id="30742" name="Line 23"/>
          <p:cNvSpPr/>
          <p:nvPr/>
        </p:nvSpPr>
        <p:spPr>
          <a:xfrm>
            <a:off x="5240338" y="4989513"/>
            <a:ext cx="0" cy="217487"/>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3" name="Line 24"/>
          <p:cNvSpPr/>
          <p:nvPr/>
        </p:nvSpPr>
        <p:spPr>
          <a:xfrm>
            <a:off x="5240338" y="558323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4" name="Rectangle 25"/>
          <p:cNvSpPr/>
          <p:nvPr/>
        </p:nvSpPr>
        <p:spPr>
          <a:xfrm>
            <a:off x="4624388" y="5915025"/>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45" name="Rectangle 26"/>
          <p:cNvSpPr/>
          <p:nvPr/>
        </p:nvSpPr>
        <p:spPr>
          <a:xfrm>
            <a:off x="4884738" y="5981700"/>
            <a:ext cx="717550"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代码生成</a:t>
            </a:r>
            <a:endParaRPr lang="zh-CN" altLang="en-US" sz="2400" dirty="0">
              <a:latin typeface="楷体_GB2312" panose="02010609030101010101" charset="-122"/>
              <a:ea typeface="楷体_GB2312" panose="02010609030101010101" charset="-122"/>
            </a:endParaRPr>
          </a:p>
        </p:txBody>
      </p:sp>
      <p:sp>
        <p:nvSpPr>
          <p:cNvPr id="30746" name="Line 27"/>
          <p:cNvSpPr/>
          <p:nvPr/>
        </p:nvSpPr>
        <p:spPr>
          <a:xfrm>
            <a:off x="5240338" y="627063"/>
            <a:ext cx="0" cy="26035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7" name="Rectangle 28"/>
          <p:cNvSpPr/>
          <p:nvPr/>
        </p:nvSpPr>
        <p:spPr>
          <a:xfrm>
            <a:off x="4983163" y="403225"/>
            <a:ext cx="619125" cy="228600"/>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源程序</a:t>
            </a:r>
            <a:endParaRPr lang="zh-CN" altLang="en-US" sz="2800" dirty="0">
              <a:latin typeface="楷体_GB2312" panose="02010609030101010101" charset="-122"/>
              <a:ea typeface="楷体_GB2312" panose="02010609030101010101" charset="-122"/>
            </a:endParaRPr>
          </a:p>
        </p:txBody>
      </p:sp>
      <p:sp>
        <p:nvSpPr>
          <p:cNvPr id="30748" name="Rectangle 29"/>
          <p:cNvSpPr/>
          <p:nvPr/>
        </p:nvSpPr>
        <p:spPr>
          <a:xfrm>
            <a:off x="4884738" y="6569075"/>
            <a:ext cx="827087" cy="230188"/>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目标程序</a:t>
            </a:r>
            <a:endParaRPr lang="zh-CN" altLang="en-US" sz="2800" dirty="0">
              <a:latin typeface="楷体_GB2312" panose="02010609030101010101" charset="-122"/>
              <a:ea typeface="楷体_GB2312" panose="02010609030101010101" charset="-122"/>
            </a:endParaRPr>
          </a:p>
        </p:txBody>
      </p:sp>
      <p:sp>
        <p:nvSpPr>
          <p:cNvPr id="30749" name="Line 30"/>
          <p:cNvSpPr/>
          <p:nvPr/>
        </p:nvSpPr>
        <p:spPr>
          <a:xfrm>
            <a:off x="8631238" y="366713"/>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0" name="Line 31"/>
          <p:cNvSpPr/>
          <p:nvPr/>
        </p:nvSpPr>
        <p:spPr>
          <a:xfrm>
            <a:off x="8631238" y="4214813"/>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1" name="Rectangle 32"/>
          <p:cNvSpPr/>
          <p:nvPr/>
        </p:nvSpPr>
        <p:spPr>
          <a:xfrm>
            <a:off x="8142288" y="1835150"/>
            <a:ext cx="1524000" cy="284163"/>
          </a:xfrm>
          <a:prstGeom prst="rect">
            <a:avLst/>
          </a:prstGeom>
          <a:noFill/>
          <a:ln w="9525">
            <a:noFill/>
          </a:ln>
        </p:spPr>
        <p:txBody>
          <a:bodyPr wrap="none" lIns="0" tIns="0" rIns="0" bIns="0" anchor="t" anchorCtr="0">
            <a:spAutoFit/>
          </a:bodyPr>
          <a:lstStyle/>
          <a:p>
            <a:pPr indent="0" eaLnBrk="0" hangingPunct="0"/>
            <a:r>
              <a:rPr lang="zh-CN" altLang="en-US" sz="2000" b="1" dirty="0">
                <a:latin typeface="楷体_GB2312" panose="02010609030101010101" charset="-122"/>
                <a:ea typeface="楷体_GB2312" panose="02010609030101010101" charset="-122"/>
              </a:rPr>
              <a:t>源程序的分析</a:t>
            </a:r>
          </a:p>
        </p:txBody>
      </p:sp>
      <p:sp>
        <p:nvSpPr>
          <p:cNvPr id="30752" name="Line 33"/>
          <p:cNvSpPr/>
          <p:nvPr/>
        </p:nvSpPr>
        <p:spPr>
          <a:xfrm>
            <a:off x="8631238" y="6778625"/>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3" name="Rectangle 34"/>
          <p:cNvSpPr/>
          <p:nvPr/>
        </p:nvSpPr>
        <p:spPr>
          <a:xfrm>
            <a:off x="8016875" y="5572125"/>
            <a:ext cx="1795363" cy="286232"/>
          </a:xfrm>
          <a:prstGeom prst="rect">
            <a:avLst/>
          </a:prstGeom>
          <a:noFill/>
          <a:ln w="9525">
            <a:noFill/>
          </a:ln>
        </p:spPr>
        <p:txBody>
          <a:bodyPr wrap="none" lIns="0" tIns="0" rIns="0" bIns="0" anchor="t" anchorCtr="0">
            <a:spAutoFit/>
          </a:bodyPr>
          <a:lstStyle/>
          <a:p>
            <a:pPr indent="0" eaLnBrk="0" hangingPunct="0"/>
            <a:r>
              <a:rPr lang="zh-CN" altLang="en-US" sz="2000" b="1" dirty="0">
                <a:latin typeface="楷体_GB2312" panose="02010609030101010101" charset="-122"/>
                <a:ea typeface="楷体_GB2312" panose="02010609030101010101" charset="-122"/>
              </a:rPr>
              <a:t>目标程序的综合</a:t>
            </a:r>
          </a:p>
        </p:txBody>
      </p:sp>
      <p:sp>
        <p:nvSpPr>
          <p:cNvPr id="30754" name="Line 35"/>
          <p:cNvSpPr/>
          <p:nvPr/>
        </p:nvSpPr>
        <p:spPr>
          <a:xfrm>
            <a:off x="5292725" y="628808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5" name="Line 36"/>
          <p:cNvSpPr/>
          <p:nvPr/>
        </p:nvSpPr>
        <p:spPr>
          <a:xfrm flipV="1">
            <a:off x="8904288" y="395288"/>
            <a:ext cx="0" cy="134461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6" name="Line 37"/>
          <p:cNvSpPr/>
          <p:nvPr/>
        </p:nvSpPr>
        <p:spPr>
          <a:xfrm>
            <a:off x="8931275" y="2243138"/>
            <a:ext cx="0" cy="197961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7" name="Line 38"/>
          <p:cNvSpPr/>
          <p:nvPr/>
        </p:nvSpPr>
        <p:spPr>
          <a:xfrm flipV="1">
            <a:off x="8931275" y="4214813"/>
            <a:ext cx="0" cy="1304925"/>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8" name="Line 39"/>
          <p:cNvSpPr/>
          <p:nvPr/>
        </p:nvSpPr>
        <p:spPr>
          <a:xfrm>
            <a:off x="8931275" y="5884863"/>
            <a:ext cx="0" cy="86836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9" name="Rectangle 40"/>
          <p:cNvSpPr/>
          <p:nvPr/>
        </p:nvSpPr>
        <p:spPr>
          <a:xfrm>
            <a:off x="1755093" y="2744768"/>
            <a:ext cx="990066" cy="2016125"/>
          </a:xfrm>
          <a:prstGeom prst="rect">
            <a:avLst/>
          </a:prstGeom>
          <a:noFill/>
          <a:ln w="9525" cap="flat" cmpd="sng">
            <a:solidFill>
              <a:schemeClr val="tx1"/>
            </a:solidFill>
            <a:prstDash val="solid"/>
            <a:miter/>
            <a:headEnd type="none" w="med" len="med"/>
            <a:tailEnd type="none" w="med" len="med"/>
          </a:ln>
        </p:spPr>
        <p:txBody>
          <a:bodyPr wrap="none" lIns="100794" tIns="50397" rIns="100794" bIns="50397" anchor="ctr" anchorCtr="0"/>
          <a:lstStyle/>
          <a:p>
            <a:pPr indent="0" eaLnBrk="0" hangingPunct="0"/>
            <a:r>
              <a:rPr lang="zh-CN" altLang="en-US" sz="2200" b="1" dirty="0">
                <a:latin typeface="楷体_GB2312" panose="02010609030101010101" charset="-122"/>
                <a:ea typeface="楷体_GB2312" panose="02010609030101010101" charset="-122"/>
              </a:rPr>
              <a:t>符号表</a:t>
            </a:r>
            <a:endParaRPr lang="en-US" altLang="zh-CN" sz="2200" b="1" dirty="0">
              <a:latin typeface="楷体_GB2312" panose="02010609030101010101" charset="-122"/>
              <a:ea typeface="楷体_GB2312" panose="02010609030101010101" charset="-122"/>
            </a:endParaRPr>
          </a:p>
          <a:p>
            <a:pPr indent="0" eaLnBrk="0" hangingPunct="0"/>
            <a:r>
              <a:rPr lang="zh-CN" altLang="en-US" sz="2200" b="1" dirty="0">
                <a:latin typeface="楷体_GB2312" panose="02010609030101010101" charset="-122"/>
                <a:ea typeface="楷体_GB2312" panose="02010609030101010101" charset="-122"/>
              </a:rPr>
              <a:t>（表格）</a:t>
            </a:r>
            <a:endParaRPr lang="en-US" altLang="zh-CN" sz="2200" b="1" dirty="0">
              <a:latin typeface="楷体_GB2312" panose="02010609030101010101" charset="-122"/>
              <a:ea typeface="楷体_GB2312" panose="02010609030101010101" charset="-122"/>
            </a:endParaRPr>
          </a:p>
          <a:p>
            <a:pPr indent="0" eaLnBrk="0" hangingPunct="0"/>
            <a:r>
              <a:rPr lang="zh-CN" altLang="en-US" sz="2200" b="1" dirty="0">
                <a:latin typeface="楷体_GB2312" panose="02010609030101010101" charset="-122"/>
                <a:ea typeface="楷体_GB2312" panose="02010609030101010101" charset="-122"/>
              </a:rPr>
              <a:t>管理</a:t>
            </a:r>
          </a:p>
        </p:txBody>
      </p:sp>
      <p:sp>
        <p:nvSpPr>
          <p:cNvPr id="30760" name="Rectangle 41"/>
          <p:cNvSpPr/>
          <p:nvPr/>
        </p:nvSpPr>
        <p:spPr>
          <a:xfrm>
            <a:off x="7140575" y="2916238"/>
            <a:ext cx="755650" cy="1595437"/>
          </a:xfrm>
          <a:prstGeom prst="rect">
            <a:avLst/>
          </a:prstGeom>
          <a:noFill/>
          <a:ln w="9525" cap="flat" cmpd="sng">
            <a:solidFill>
              <a:schemeClr val="tx1"/>
            </a:solidFill>
            <a:prstDash val="solid"/>
            <a:miter/>
            <a:headEnd type="none" w="med" len="med"/>
            <a:tailEnd type="none" w="med" len="med"/>
          </a:ln>
        </p:spPr>
        <p:txBody>
          <a:bodyPr wrap="none" lIns="100794" tIns="50397" rIns="100794" bIns="50397" anchor="ctr" anchorCtr="0"/>
          <a:lstStyle/>
          <a:p>
            <a:pPr indent="0" eaLnBrk="0" hangingPunct="0"/>
            <a:r>
              <a:rPr lang="zh-CN" altLang="en-US" sz="2200" b="1" dirty="0">
                <a:latin typeface="楷体_GB2312" panose="02010609030101010101" charset="-122"/>
                <a:ea typeface="楷体_GB2312" panose="02010609030101010101" charset="-122"/>
              </a:rPr>
              <a:t>出</a:t>
            </a:r>
          </a:p>
          <a:p>
            <a:pPr indent="0" eaLnBrk="0" hangingPunct="0"/>
            <a:r>
              <a:rPr lang="zh-CN" altLang="en-US" sz="2200" b="1" dirty="0">
                <a:latin typeface="楷体_GB2312" panose="02010609030101010101" charset="-122"/>
                <a:ea typeface="楷体_GB2312" panose="02010609030101010101" charset="-122"/>
              </a:rPr>
              <a:t>错</a:t>
            </a:r>
          </a:p>
          <a:p>
            <a:pPr indent="0" eaLnBrk="0" hangingPunct="0"/>
            <a:r>
              <a:rPr lang="zh-CN" altLang="en-US" sz="2200" b="1" dirty="0">
                <a:latin typeface="楷体_GB2312" panose="02010609030101010101" charset="-122"/>
                <a:ea typeface="楷体_GB2312" panose="02010609030101010101" charset="-122"/>
              </a:rPr>
              <a:t>处</a:t>
            </a:r>
          </a:p>
          <a:p>
            <a:pPr indent="0" eaLnBrk="0" hangingPunct="0"/>
            <a:r>
              <a:rPr lang="zh-CN" altLang="en-US" sz="2200" b="1" dirty="0">
                <a:latin typeface="楷体_GB2312" panose="02010609030101010101" charset="-122"/>
                <a:ea typeface="楷体_GB2312" panose="02010609030101010101" charset="-122"/>
              </a:rPr>
              <a:t>理</a:t>
            </a:r>
          </a:p>
        </p:txBody>
      </p:sp>
      <p:sp>
        <p:nvSpPr>
          <p:cNvPr id="30761" name="Line 42"/>
          <p:cNvSpPr/>
          <p:nvPr/>
        </p:nvSpPr>
        <p:spPr>
          <a:xfrm flipV="1">
            <a:off x="2855913" y="1236663"/>
            <a:ext cx="1763712" cy="1763712"/>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2" name="Line 43"/>
          <p:cNvSpPr/>
          <p:nvPr/>
        </p:nvSpPr>
        <p:spPr>
          <a:xfrm flipV="1">
            <a:off x="2855913" y="2327275"/>
            <a:ext cx="1763712" cy="1008063"/>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3" name="Line 44"/>
          <p:cNvSpPr/>
          <p:nvPr/>
        </p:nvSpPr>
        <p:spPr>
          <a:xfrm>
            <a:off x="2855913" y="3587750"/>
            <a:ext cx="1344612" cy="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4" name="Line 45"/>
          <p:cNvSpPr/>
          <p:nvPr/>
        </p:nvSpPr>
        <p:spPr>
          <a:xfrm>
            <a:off x="2855913" y="4008438"/>
            <a:ext cx="1763712" cy="75565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5" name="Line 46"/>
          <p:cNvSpPr/>
          <p:nvPr/>
        </p:nvSpPr>
        <p:spPr>
          <a:xfrm>
            <a:off x="2855913" y="4511675"/>
            <a:ext cx="1763712" cy="151130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6" name="Line 47"/>
          <p:cNvSpPr/>
          <p:nvPr/>
        </p:nvSpPr>
        <p:spPr>
          <a:xfrm flipH="1" flipV="1">
            <a:off x="5880100" y="1152525"/>
            <a:ext cx="1260475" cy="1931988"/>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7" name="Line 48"/>
          <p:cNvSpPr/>
          <p:nvPr/>
        </p:nvSpPr>
        <p:spPr>
          <a:xfrm flipH="1" flipV="1">
            <a:off x="5795963" y="2327275"/>
            <a:ext cx="1344612" cy="109220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8" name="Line 49"/>
          <p:cNvSpPr/>
          <p:nvPr/>
        </p:nvSpPr>
        <p:spPr>
          <a:xfrm flipH="1">
            <a:off x="6300788" y="3671888"/>
            <a:ext cx="839787" cy="0"/>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9" name="Line 50"/>
          <p:cNvSpPr/>
          <p:nvPr/>
        </p:nvSpPr>
        <p:spPr>
          <a:xfrm flipH="1">
            <a:off x="5880100" y="4008438"/>
            <a:ext cx="1176338" cy="75565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70" name="Line 51"/>
          <p:cNvSpPr/>
          <p:nvPr/>
        </p:nvSpPr>
        <p:spPr>
          <a:xfrm flipH="1">
            <a:off x="5795963" y="4343400"/>
            <a:ext cx="1344612" cy="1679575"/>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4866" name="Footer Placeholder 53"/>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4867" name="Slide Number Placeholder 54"/>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33</a:t>
            </a:fld>
            <a:endParaRPr lang="en-GB" altLang="en-US" sz="1200" dirty="0">
              <a:latin typeface="Comic Sans MS" panose="030F0702030302020204" pitchFamily="2" charset="0"/>
              <a:ea typeface="宋体" panose="02010600030101010101" pitchFamily="2" charset="-122"/>
            </a:endParaRPr>
          </a:p>
        </p:txBody>
      </p:sp>
      <p:sp>
        <p:nvSpPr>
          <p:cNvPr id="34868" name="Date Placeholder 53"/>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31751" name="Rectangle 6"/>
          <p:cNvSpPr/>
          <p:nvPr/>
        </p:nvSpPr>
        <p:spPr>
          <a:xfrm>
            <a:off x="1937965" y="4828731"/>
            <a:ext cx="4224337" cy="846138"/>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algn="ctr" hangingPunct="0">
              <a:lnSpc>
                <a:spcPct val="150000"/>
              </a:lnSpc>
            </a:pPr>
            <a:r>
              <a:rPr lang="zh-CN" altLang="zh-CN" sz="3200" dirty="0">
                <a:solidFill>
                  <a:srgbClr val="FF0000"/>
                </a:solidFill>
                <a:latin typeface="楷体_GB2312" panose="02010609030101010101" charset="-122"/>
                <a:ea typeface="楷体_GB2312" panose="02010609030101010101" charset="-122"/>
              </a:rPr>
              <a:t>什么是“符号表”？</a:t>
            </a:r>
          </a:p>
        </p:txBody>
      </p:sp>
      <p:sp>
        <p:nvSpPr>
          <p:cNvPr id="2" name="Rectangle 6"/>
          <p:cNvSpPr/>
          <p:nvPr/>
        </p:nvSpPr>
        <p:spPr>
          <a:xfrm>
            <a:off x="1923677" y="5939981"/>
            <a:ext cx="5411788" cy="847725"/>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algn="ctr" hangingPunct="0">
              <a:lnSpc>
                <a:spcPct val="150000"/>
              </a:lnSpc>
            </a:pPr>
            <a:r>
              <a:rPr lang="zh-CN" altLang="zh-CN" sz="2800" dirty="0">
                <a:solidFill>
                  <a:srgbClr val="FF0000"/>
                </a:solidFill>
                <a:latin typeface="楷体_GB2312" panose="02010609030101010101" charset="-122"/>
                <a:ea typeface="楷体_GB2312" panose="02010609030101010101" charset="-122"/>
              </a:rPr>
              <a:t>用来保存已收集信息的数据结构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47"/>
                                        </p:tgtEl>
                                        <p:attrNameLst>
                                          <p:attrName>style.visibility</p:attrName>
                                        </p:attrNameLst>
                                      </p:cBhvr>
                                      <p:to>
                                        <p:strVal val="visible"/>
                                      </p:to>
                                    </p:set>
                                    <p:animEffect transition="in" filter="blinds(horizontal)">
                                      <p:cBhvr>
                                        <p:cTn id="7" dur="500"/>
                                        <p:tgtEl>
                                          <p:spTgt spid="30747"/>
                                        </p:tgtEl>
                                      </p:cBhvr>
                                    </p:animEffect>
                                  </p:childTnLst>
                                </p:cTn>
                              </p:par>
                              <p:par>
                                <p:cTn id="8" presetID="3" presetClass="entr" presetSubtype="10" fill="hold" nodeType="withEffect">
                                  <p:stCondLst>
                                    <p:cond delay="0"/>
                                  </p:stCondLst>
                                  <p:childTnLst>
                                    <p:set>
                                      <p:cBhvr>
                                        <p:cTn id="9" dur="1" fill="hold">
                                          <p:stCondLst>
                                            <p:cond delay="0"/>
                                          </p:stCondLst>
                                        </p:cTn>
                                        <p:tgtEl>
                                          <p:spTgt spid="30746"/>
                                        </p:tgtEl>
                                        <p:attrNameLst>
                                          <p:attrName>style.visibility</p:attrName>
                                        </p:attrNameLst>
                                      </p:cBhvr>
                                      <p:to>
                                        <p:strVal val="visible"/>
                                      </p:to>
                                    </p:set>
                                    <p:animEffect transition="in" filter="blinds(horizontal)">
                                      <p:cBhvr>
                                        <p:cTn id="10" dur="500"/>
                                        <p:tgtEl>
                                          <p:spTgt spid="3074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blinds(horizontal)">
                                      <p:cBhvr>
                                        <p:cTn id="15" dur="500"/>
                                        <p:tgtEl>
                                          <p:spTgt spid="3072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blinds(horizontal)">
                                      <p:cBhvr>
                                        <p:cTn id="18" dur="500"/>
                                        <p:tgtEl>
                                          <p:spTgt spid="3072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0729"/>
                                        </p:tgtEl>
                                        <p:attrNameLst>
                                          <p:attrName>style.visibility</p:attrName>
                                        </p:attrNameLst>
                                      </p:cBhvr>
                                      <p:to>
                                        <p:strVal val="visible"/>
                                      </p:to>
                                    </p:set>
                                    <p:animEffect transition="in" filter="blinds(horizontal)">
                                      <p:cBhvr>
                                        <p:cTn id="23" dur="500"/>
                                        <p:tgtEl>
                                          <p:spTgt spid="3072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0728"/>
                                        </p:tgtEl>
                                        <p:attrNameLst>
                                          <p:attrName>style.visibility</p:attrName>
                                        </p:attrNameLst>
                                      </p:cBhvr>
                                      <p:to>
                                        <p:strVal val="visible"/>
                                      </p:to>
                                    </p:set>
                                    <p:animEffect transition="in" filter="blinds(horizontal)">
                                      <p:cBhvr>
                                        <p:cTn id="26" dur="500"/>
                                        <p:tgtEl>
                                          <p:spTgt spid="3072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0730"/>
                                        </p:tgtEl>
                                        <p:attrNameLst>
                                          <p:attrName>style.visibility</p:attrName>
                                        </p:attrNameLst>
                                      </p:cBhvr>
                                      <p:to>
                                        <p:strVal val="visible"/>
                                      </p:to>
                                    </p:set>
                                    <p:animEffect transition="in" filter="blinds(horizontal)">
                                      <p:cBhvr>
                                        <p:cTn id="31" dur="500"/>
                                        <p:tgtEl>
                                          <p:spTgt spid="30730"/>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0726"/>
                                        </p:tgtEl>
                                        <p:attrNameLst>
                                          <p:attrName>style.visibility</p:attrName>
                                        </p:attrNameLst>
                                      </p:cBhvr>
                                      <p:to>
                                        <p:strVal val="visible"/>
                                      </p:to>
                                    </p:set>
                                    <p:animEffect transition="in" filter="blinds(horizontal)">
                                      <p:cBhvr>
                                        <p:cTn id="34" dur="500"/>
                                        <p:tgtEl>
                                          <p:spTgt spid="3072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0727"/>
                                        </p:tgtEl>
                                        <p:attrNameLst>
                                          <p:attrName>style.visibility</p:attrName>
                                        </p:attrNameLst>
                                      </p:cBhvr>
                                      <p:to>
                                        <p:strVal val="visible"/>
                                      </p:to>
                                    </p:set>
                                    <p:animEffect transition="in" filter="blinds(horizontal)">
                                      <p:cBhvr>
                                        <p:cTn id="37" dur="500"/>
                                        <p:tgtEl>
                                          <p:spTgt spid="3072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0732"/>
                                        </p:tgtEl>
                                        <p:attrNameLst>
                                          <p:attrName>style.visibility</p:attrName>
                                        </p:attrNameLst>
                                      </p:cBhvr>
                                      <p:to>
                                        <p:strVal val="visible"/>
                                      </p:to>
                                    </p:set>
                                    <p:animEffect transition="in" filter="blinds(horizontal)">
                                      <p:cBhvr>
                                        <p:cTn id="42" dur="500"/>
                                        <p:tgtEl>
                                          <p:spTgt spid="30732"/>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0731"/>
                                        </p:tgtEl>
                                        <p:attrNameLst>
                                          <p:attrName>style.visibility</p:attrName>
                                        </p:attrNameLst>
                                      </p:cBhvr>
                                      <p:to>
                                        <p:strVal val="visible"/>
                                      </p:to>
                                    </p:set>
                                    <p:animEffect transition="in" filter="blinds(horizontal)">
                                      <p:cBhvr>
                                        <p:cTn id="45" dur="500"/>
                                        <p:tgtEl>
                                          <p:spTgt spid="30731"/>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0733"/>
                                        </p:tgtEl>
                                        <p:attrNameLst>
                                          <p:attrName>style.visibility</p:attrName>
                                        </p:attrNameLst>
                                      </p:cBhvr>
                                      <p:to>
                                        <p:strVal val="visible"/>
                                      </p:to>
                                    </p:set>
                                    <p:animEffect transition="in" filter="blinds(horizontal)">
                                      <p:cBhvr>
                                        <p:cTn id="50" dur="500"/>
                                        <p:tgtEl>
                                          <p:spTgt spid="30733"/>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30734"/>
                                        </p:tgtEl>
                                        <p:attrNameLst>
                                          <p:attrName>style.visibility</p:attrName>
                                        </p:attrNameLst>
                                      </p:cBhvr>
                                      <p:to>
                                        <p:strVal val="visible"/>
                                      </p:to>
                                    </p:set>
                                    <p:animEffect transition="in" filter="blinds(horizontal)">
                                      <p:cBhvr>
                                        <p:cTn id="53" dur="500"/>
                                        <p:tgtEl>
                                          <p:spTgt spid="3073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30735"/>
                                        </p:tgtEl>
                                        <p:attrNameLst>
                                          <p:attrName>style.visibility</p:attrName>
                                        </p:attrNameLst>
                                      </p:cBhvr>
                                      <p:to>
                                        <p:strVal val="visible"/>
                                      </p:to>
                                    </p:set>
                                    <p:animEffect transition="in" filter="blinds(horizontal)">
                                      <p:cBhvr>
                                        <p:cTn id="56" dur="500"/>
                                        <p:tgtEl>
                                          <p:spTgt spid="3073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0737"/>
                                        </p:tgtEl>
                                        <p:attrNameLst>
                                          <p:attrName>style.visibility</p:attrName>
                                        </p:attrNameLst>
                                      </p:cBhvr>
                                      <p:to>
                                        <p:strVal val="visible"/>
                                      </p:to>
                                    </p:set>
                                    <p:animEffect transition="in" filter="blinds(horizontal)">
                                      <p:cBhvr>
                                        <p:cTn id="61" dur="500"/>
                                        <p:tgtEl>
                                          <p:spTgt spid="3073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30736"/>
                                        </p:tgtEl>
                                        <p:attrNameLst>
                                          <p:attrName>style.visibility</p:attrName>
                                        </p:attrNameLst>
                                      </p:cBhvr>
                                      <p:to>
                                        <p:strVal val="visible"/>
                                      </p:to>
                                    </p:set>
                                    <p:animEffect transition="in" filter="blinds(horizontal)">
                                      <p:cBhvr>
                                        <p:cTn id="64" dur="500"/>
                                        <p:tgtEl>
                                          <p:spTgt spid="3073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0740"/>
                                        </p:tgtEl>
                                        <p:attrNameLst>
                                          <p:attrName>style.visibility</p:attrName>
                                        </p:attrNameLst>
                                      </p:cBhvr>
                                      <p:to>
                                        <p:strVal val="visible"/>
                                      </p:to>
                                    </p:set>
                                    <p:animEffect transition="in" filter="blinds(horizontal)">
                                      <p:cBhvr>
                                        <p:cTn id="69" dur="500"/>
                                        <p:tgtEl>
                                          <p:spTgt spid="30740"/>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30739"/>
                                        </p:tgtEl>
                                        <p:attrNameLst>
                                          <p:attrName>style.visibility</p:attrName>
                                        </p:attrNameLst>
                                      </p:cBhvr>
                                      <p:to>
                                        <p:strVal val="visible"/>
                                      </p:to>
                                    </p:set>
                                    <p:animEffect transition="in" filter="blinds(horizontal)">
                                      <p:cBhvr>
                                        <p:cTn id="72" dur="500"/>
                                        <p:tgtEl>
                                          <p:spTgt spid="30739"/>
                                        </p:tgtEl>
                                      </p:cBhvr>
                                    </p:animEffect>
                                  </p:childTnLst>
                                </p:cTn>
                              </p:par>
                              <p:par>
                                <p:cTn id="73" presetID="3" presetClass="entr" presetSubtype="10" fill="hold" nodeType="withEffect">
                                  <p:stCondLst>
                                    <p:cond delay="0"/>
                                  </p:stCondLst>
                                  <p:childTnLst>
                                    <p:set>
                                      <p:cBhvr>
                                        <p:cTn id="74" dur="1" fill="hold">
                                          <p:stCondLst>
                                            <p:cond delay="0"/>
                                          </p:stCondLst>
                                        </p:cTn>
                                        <p:tgtEl>
                                          <p:spTgt spid="30738"/>
                                        </p:tgtEl>
                                        <p:attrNameLst>
                                          <p:attrName>style.visibility</p:attrName>
                                        </p:attrNameLst>
                                      </p:cBhvr>
                                      <p:to>
                                        <p:strVal val="visible"/>
                                      </p:to>
                                    </p:set>
                                    <p:animEffect transition="in" filter="blinds(horizontal)">
                                      <p:cBhvr>
                                        <p:cTn id="75" dur="500"/>
                                        <p:tgtEl>
                                          <p:spTgt spid="3073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30742"/>
                                        </p:tgtEl>
                                        <p:attrNameLst>
                                          <p:attrName>style.visibility</p:attrName>
                                        </p:attrNameLst>
                                      </p:cBhvr>
                                      <p:to>
                                        <p:strVal val="visible"/>
                                      </p:to>
                                    </p:set>
                                    <p:animEffect transition="in" filter="blinds(horizontal)">
                                      <p:cBhvr>
                                        <p:cTn id="80" dur="500"/>
                                        <p:tgtEl>
                                          <p:spTgt spid="30742"/>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30741"/>
                                        </p:tgtEl>
                                        <p:attrNameLst>
                                          <p:attrName>style.visibility</p:attrName>
                                        </p:attrNameLst>
                                      </p:cBhvr>
                                      <p:to>
                                        <p:strVal val="visible"/>
                                      </p:to>
                                    </p:set>
                                    <p:animEffect transition="in" filter="blinds(horizontal)">
                                      <p:cBhvr>
                                        <p:cTn id="83" dur="500"/>
                                        <p:tgtEl>
                                          <p:spTgt spid="30741"/>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30743"/>
                                        </p:tgtEl>
                                        <p:attrNameLst>
                                          <p:attrName>style.visibility</p:attrName>
                                        </p:attrNameLst>
                                      </p:cBhvr>
                                      <p:to>
                                        <p:strVal val="visible"/>
                                      </p:to>
                                    </p:set>
                                    <p:animEffect transition="in" filter="blinds(horizontal)">
                                      <p:cBhvr>
                                        <p:cTn id="88" dur="500"/>
                                        <p:tgtEl>
                                          <p:spTgt spid="30743"/>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30744"/>
                                        </p:tgtEl>
                                        <p:attrNameLst>
                                          <p:attrName>style.visibility</p:attrName>
                                        </p:attrNameLst>
                                      </p:cBhvr>
                                      <p:to>
                                        <p:strVal val="visible"/>
                                      </p:to>
                                    </p:set>
                                    <p:animEffect transition="in" filter="blinds(horizontal)">
                                      <p:cBhvr>
                                        <p:cTn id="91" dur="500"/>
                                        <p:tgtEl>
                                          <p:spTgt spid="30744"/>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30745"/>
                                        </p:tgtEl>
                                        <p:attrNameLst>
                                          <p:attrName>style.visibility</p:attrName>
                                        </p:attrNameLst>
                                      </p:cBhvr>
                                      <p:to>
                                        <p:strVal val="visible"/>
                                      </p:to>
                                    </p:set>
                                    <p:animEffect transition="in" filter="blinds(horizontal)">
                                      <p:cBhvr>
                                        <p:cTn id="94" dur="500"/>
                                        <p:tgtEl>
                                          <p:spTgt spid="30745"/>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30754"/>
                                        </p:tgtEl>
                                        <p:attrNameLst>
                                          <p:attrName>style.visibility</p:attrName>
                                        </p:attrNameLst>
                                      </p:cBhvr>
                                      <p:to>
                                        <p:strVal val="visible"/>
                                      </p:to>
                                    </p:set>
                                    <p:animEffect transition="in" filter="blinds(horizontal)">
                                      <p:cBhvr>
                                        <p:cTn id="99" dur="500"/>
                                        <p:tgtEl>
                                          <p:spTgt spid="30754"/>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30748"/>
                                        </p:tgtEl>
                                        <p:attrNameLst>
                                          <p:attrName>style.visibility</p:attrName>
                                        </p:attrNameLst>
                                      </p:cBhvr>
                                      <p:to>
                                        <p:strVal val="visible"/>
                                      </p:to>
                                    </p:set>
                                    <p:animEffect transition="in" filter="blinds(horizontal)">
                                      <p:cBhvr>
                                        <p:cTn id="102" dur="500"/>
                                        <p:tgtEl>
                                          <p:spTgt spid="30748"/>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30749"/>
                                        </p:tgtEl>
                                        <p:attrNameLst>
                                          <p:attrName>style.visibility</p:attrName>
                                        </p:attrNameLst>
                                      </p:cBhvr>
                                      <p:to>
                                        <p:strVal val="visible"/>
                                      </p:to>
                                    </p:set>
                                    <p:animEffect transition="in" filter="blinds(horizontal)">
                                      <p:cBhvr>
                                        <p:cTn id="107" dur="500"/>
                                        <p:tgtEl>
                                          <p:spTgt spid="30749"/>
                                        </p:tgtEl>
                                      </p:cBhvr>
                                    </p:animEffect>
                                  </p:childTnLst>
                                </p:cTn>
                              </p:par>
                              <p:par>
                                <p:cTn id="108" presetID="3" presetClass="entr" presetSubtype="10" fill="hold" nodeType="withEffect">
                                  <p:stCondLst>
                                    <p:cond delay="0"/>
                                  </p:stCondLst>
                                  <p:childTnLst>
                                    <p:set>
                                      <p:cBhvr>
                                        <p:cTn id="109" dur="1" fill="hold">
                                          <p:stCondLst>
                                            <p:cond delay="0"/>
                                          </p:stCondLst>
                                        </p:cTn>
                                        <p:tgtEl>
                                          <p:spTgt spid="30755"/>
                                        </p:tgtEl>
                                        <p:attrNameLst>
                                          <p:attrName>style.visibility</p:attrName>
                                        </p:attrNameLst>
                                      </p:cBhvr>
                                      <p:to>
                                        <p:strVal val="visible"/>
                                      </p:to>
                                    </p:set>
                                    <p:animEffect transition="in" filter="blinds(horizontal)">
                                      <p:cBhvr>
                                        <p:cTn id="110" dur="500"/>
                                        <p:tgtEl>
                                          <p:spTgt spid="30755"/>
                                        </p:tgtEl>
                                      </p:cBhvr>
                                    </p:animEffect>
                                  </p:childTnLst>
                                </p:cTn>
                              </p:par>
                              <p:par>
                                <p:cTn id="111" presetID="3" presetClass="entr" presetSubtype="10" fill="hold" nodeType="withEffect">
                                  <p:stCondLst>
                                    <p:cond delay="0"/>
                                  </p:stCondLst>
                                  <p:childTnLst>
                                    <p:set>
                                      <p:cBhvr>
                                        <p:cTn id="112" dur="1" fill="hold">
                                          <p:stCondLst>
                                            <p:cond delay="0"/>
                                          </p:stCondLst>
                                        </p:cTn>
                                        <p:tgtEl>
                                          <p:spTgt spid="30756"/>
                                        </p:tgtEl>
                                        <p:attrNameLst>
                                          <p:attrName>style.visibility</p:attrName>
                                        </p:attrNameLst>
                                      </p:cBhvr>
                                      <p:to>
                                        <p:strVal val="visible"/>
                                      </p:to>
                                    </p:set>
                                    <p:animEffect transition="in" filter="blinds(horizontal)">
                                      <p:cBhvr>
                                        <p:cTn id="113" dur="500"/>
                                        <p:tgtEl>
                                          <p:spTgt spid="30756"/>
                                        </p:tgtEl>
                                      </p:cBhvr>
                                    </p:animEffect>
                                  </p:childTnLst>
                                </p:cTn>
                              </p:par>
                              <p:par>
                                <p:cTn id="114" presetID="3" presetClass="entr" presetSubtype="10" fill="hold" nodeType="withEffect">
                                  <p:stCondLst>
                                    <p:cond delay="0"/>
                                  </p:stCondLst>
                                  <p:childTnLst>
                                    <p:set>
                                      <p:cBhvr>
                                        <p:cTn id="115" dur="1" fill="hold">
                                          <p:stCondLst>
                                            <p:cond delay="0"/>
                                          </p:stCondLst>
                                        </p:cTn>
                                        <p:tgtEl>
                                          <p:spTgt spid="30750"/>
                                        </p:tgtEl>
                                        <p:attrNameLst>
                                          <p:attrName>style.visibility</p:attrName>
                                        </p:attrNameLst>
                                      </p:cBhvr>
                                      <p:to>
                                        <p:strVal val="visible"/>
                                      </p:to>
                                    </p:set>
                                    <p:animEffect transition="in" filter="blinds(horizontal)">
                                      <p:cBhvr>
                                        <p:cTn id="116" dur="500"/>
                                        <p:tgtEl>
                                          <p:spTgt spid="30750"/>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30751"/>
                                        </p:tgtEl>
                                        <p:attrNameLst>
                                          <p:attrName>style.visibility</p:attrName>
                                        </p:attrNameLst>
                                      </p:cBhvr>
                                      <p:to>
                                        <p:strVal val="visible"/>
                                      </p:to>
                                    </p:set>
                                    <p:animEffect transition="in" filter="blinds(horizontal)">
                                      <p:cBhvr>
                                        <p:cTn id="121" dur="500"/>
                                        <p:tgtEl>
                                          <p:spTgt spid="30751"/>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nodeType="clickEffect">
                                  <p:stCondLst>
                                    <p:cond delay="0"/>
                                  </p:stCondLst>
                                  <p:childTnLst>
                                    <p:set>
                                      <p:cBhvr>
                                        <p:cTn id="125" dur="1" fill="hold">
                                          <p:stCondLst>
                                            <p:cond delay="0"/>
                                          </p:stCondLst>
                                        </p:cTn>
                                        <p:tgtEl>
                                          <p:spTgt spid="30757"/>
                                        </p:tgtEl>
                                        <p:attrNameLst>
                                          <p:attrName>style.visibility</p:attrName>
                                        </p:attrNameLst>
                                      </p:cBhvr>
                                      <p:to>
                                        <p:strVal val="visible"/>
                                      </p:to>
                                    </p:set>
                                    <p:animEffect transition="in" filter="blinds(horizontal)">
                                      <p:cBhvr>
                                        <p:cTn id="126" dur="500"/>
                                        <p:tgtEl>
                                          <p:spTgt spid="30757"/>
                                        </p:tgtEl>
                                      </p:cBhvr>
                                    </p:animEffect>
                                  </p:childTnLst>
                                </p:cTn>
                              </p:par>
                              <p:par>
                                <p:cTn id="127" presetID="3" presetClass="entr" presetSubtype="10" fill="hold" nodeType="withEffect">
                                  <p:stCondLst>
                                    <p:cond delay="0"/>
                                  </p:stCondLst>
                                  <p:childTnLst>
                                    <p:set>
                                      <p:cBhvr>
                                        <p:cTn id="128" dur="1" fill="hold">
                                          <p:stCondLst>
                                            <p:cond delay="0"/>
                                          </p:stCondLst>
                                        </p:cTn>
                                        <p:tgtEl>
                                          <p:spTgt spid="30758"/>
                                        </p:tgtEl>
                                        <p:attrNameLst>
                                          <p:attrName>style.visibility</p:attrName>
                                        </p:attrNameLst>
                                      </p:cBhvr>
                                      <p:to>
                                        <p:strVal val="visible"/>
                                      </p:to>
                                    </p:set>
                                    <p:animEffect transition="in" filter="blinds(horizontal)">
                                      <p:cBhvr>
                                        <p:cTn id="129" dur="500"/>
                                        <p:tgtEl>
                                          <p:spTgt spid="30758"/>
                                        </p:tgtEl>
                                      </p:cBhvr>
                                    </p:animEffect>
                                  </p:childTnLst>
                                </p:cTn>
                              </p:par>
                              <p:par>
                                <p:cTn id="130" presetID="3" presetClass="entr" presetSubtype="10" fill="hold" nodeType="withEffect">
                                  <p:stCondLst>
                                    <p:cond delay="0"/>
                                  </p:stCondLst>
                                  <p:childTnLst>
                                    <p:set>
                                      <p:cBhvr>
                                        <p:cTn id="131" dur="1" fill="hold">
                                          <p:stCondLst>
                                            <p:cond delay="0"/>
                                          </p:stCondLst>
                                        </p:cTn>
                                        <p:tgtEl>
                                          <p:spTgt spid="30752"/>
                                        </p:tgtEl>
                                        <p:attrNameLst>
                                          <p:attrName>style.visibility</p:attrName>
                                        </p:attrNameLst>
                                      </p:cBhvr>
                                      <p:to>
                                        <p:strVal val="visible"/>
                                      </p:to>
                                    </p:set>
                                    <p:animEffect transition="in" filter="blinds(horizontal)">
                                      <p:cBhvr>
                                        <p:cTn id="132" dur="500"/>
                                        <p:tgtEl>
                                          <p:spTgt spid="30752"/>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30753"/>
                                        </p:tgtEl>
                                        <p:attrNameLst>
                                          <p:attrName>style.visibility</p:attrName>
                                        </p:attrNameLst>
                                      </p:cBhvr>
                                      <p:to>
                                        <p:strVal val="visible"/>
                                      </p:to>
                                    </p:set>
                                    <p:animEffect transition="in" filter="blinds(horizontal)">
                                      <p:cBhvr>
                                        <p:cTn id="137" dur="500"/>
                                        <p:tgtEl>
                                          <p:spTgt spid="30753"/>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30765"/>
                                        </p:tgtEl>
                                        <p:attrNameLst>
                                          <p:attrName>style.visibility</p:attrName>
                                        </p:attrNameLst>
                                      </p:cBhvr>
                                      <p:to>
                                        <p:strVal val="visible"/>
                                      </p:to>
                                    </p:set>
                                    <p:animEffect transition="in" filter="blinds(horizontal)">
                                      <p:cBhvr>
                                        <p:cTn id="142" dur="500"/>
                                        <p:tgtEl>
                                          <p:spTgt spid="30765"/>
                                        </p:tgtEl>
                                      </p:cBhvr>
                                    </p:animEffect>
                                  </p:childTnLst>
                                </p:cTn>
                              </p:par>
                              <p:par>
                                <p:cTn id="143" presetID="3" presetClass="entr" presetSubtype="10" fill="hold" nodeType="withEffect">
                                  <p:stCondLst>
                                    <p:cond delay="0"/>
                                  </p:stCondLst>
                                  <p:childTnLst>
                                    <p:set>
                                      <p:cBhvr>
                                        <p:cTn id="144" dur="1" fill="hold">
                                          <p:stCondLst>
                                            <p:cond delay="0"/>
                                          </p:stCondLst>
                                        </p:cTn>
                                        <p:tgtEl>
                                          <p:spTgt spid="30764"/>
                                        </p:tgtEl>
                                        <p:attrNameLst>
                                          <p:attrName>style.visibility</p:attrName>
                                        </p:attrNameLst>
                                      </p:cBhvr>
                                      <p:to>
                                        <p:strVal val="visible"/>
                                      </p:to>
                                    </p:set>
                                    <p:animEffect transition="in" filter="blinds(horizontal)">
                                      <p:cBhvr>
                                        <p:cTn id="145" dur="500"/>
                                        <p:tgtEl>
                                          <p:spTgt spid="30764"/>
                                        </p:tgtEl>
                                      </p:cBhvr>
                                    </p:animEffect>
                                  </p:childTnLst>
                                </p:cTn>
                              </p:par>
                              <p:par>
                                <p:cTn id="146" presetID="3" presetClass="entr" presetSubtype="10" fill="hold" nodeType="withEffect">
                                  <p:stCondLst>
                                    <p:cond delay="0"/>
                                  </p:stCondLst>
                                  <p:childTnLst>
                                    <p:set>
                                      <p:cBhvr>
                                        <p:cTn id="147" dur="1" fill="hold">
                                          <p:stCondLst>
                                            <p:cond delay="0"/>
                                          </p:stCondLst>
                                        </p:cTn>
                                        <p:tgtEl>
                                          <p:spTgt spid="30763"/>
                                        </p:tgtEl>
                                        <p:attrNameLst>
                                          <p:attrName>style.visibility</p:attrName>
                                        </p:attrNameLst>
                                      </p:cBhvr>
                                      <p:to>
                                        <p:strVal val="visible"/>
                                      </p:to>
                                    </p:set>
                                    <p:animEffect transition="in" filter="blinds(horizontal)">
                                      <p:cBhvr>
                                        <p:cTn id="148" dur="500"/>
                                        <p:tgtEl>
                                          <p:spTgt spid="30763"/>
                                        </p:tgtEl>
                                      </p:cBhvr>
                                    </p:animEffect>
                                  </p:childTnLst>
                                </p:cTn>
                              </p:par>
                              <p:par>
                                <p:cTn id="149" presetID="3" presetClass="entr" presetSubtype="10" fill="hold" nodeType="withEffect">
                                  <p:stCondLst>
                                    <p:cond delay="0"/>
                                  </p:stCondLst>
                                  <p:childTnLst>
                                    <p:set>
                                      <p:cBhvr>
                                        <p:cTn id="150" dur="1" fill="hold">
                                          <p:stCondLst>
                                            <p:cond delay="0"/>
                                          </p:stCondLst>
                                        </p:cTn>
                                        <p:tgtEl>
                                          <p:spTgt spid="30762"/>
                                        </p:tgtEl>
                                        <p:attrNameLst>
                                          <p:attrName>style.visibility</p:attrName>
                                        </p:attrNameLst>
                                      </p:cBhvr>
                                      <p:to>
                                        <p:strVal val="visible"/>
                                      </p:to>
                                    </p:set>
                                    <p:animEffect transition="in" filter="blinds(horizontal)">
                                      <p:cBhvr>
                                        <p:cTn id="151" dur="500"/>
                                        <p:tgtEl>
                                          <p:spTgt spid="30762"/>
                                        </p:tgtEl>
                                      </p:cBhvr>
                                    </p:animEffect>
                                  </p:childTnLst>
                                </p:cTn>
                              </p:par>
                              <p:par>
                                <p:cTn id="152" presetID="3" presetClass="entr" presetSubtype="10" fill="hold" nodeType="withEffect">
                                  <p:stCondLst>
                                    <p:cond delay="0"/>
                                  </p:stCondLst>
                                  <p:childTnLst>
                                    <p:set>
                                      <p:cBhvr>
                                        <p:cTn id="153" dur="1" fill="hold">
                                          <p:stCondLst>
                                            <p:cond delay="0"/>
                                          </p:stCondLst>
                                        </p:cTn>
                                        <p:tgtEl>
                                          <p:spTgt spid="30761"/>
                                        </p:tgtEl>
                                        <p:attrNameLst>
                                          <p:attrName>style.visibility</p:attrName>
                                        </p:attrNameLst>
                                      </p:cBhvr>
                                      <p:to>
                                        <p:strVal val="visible"/>
                                      </p:to>
                                    </p:set>
                                    <p:animEffect transition="in" filter="blinds(horizontal)">
                                      <p:cBhvr>
                                        <p:cTn id="154" dur="500"/>
                                        <p:tgtEl>
                                          <p:spTgt spid="30761"/>
                                        </p:tgtEl>
                                      </p:cBhvr>
                                    </p:animEffect>
                                  </p:childTnLst>
                                </p:cTn>
                              </p:par>
                              <p:par>
                                <p:cTn id="155" presetID="3" presetClass="entr" presetSubtype="10" fill="hold" grpId="0" nodeType="withEffect">
                                  <p:stCondLst>
                                    <p:cond delay="0"/>
                                  </p:stCondLst>
                                  <p:childTnLst>
                                    <p:set>
                                      <p:cBhvr>
                                        <p:cTn id="156" dur="1" fill="hold">
                                          <p:stCondLst>
                                            <p:cond delay="0"/>
                                          </p:stCondLst>
                                        </p:cTn>
                                        <p:tgtEl>
                                          <p:spTgt spid="30759"/>
                                        </p:tgtEl>
                                        <p:attrNameLst>
                                          <p:attrName>style.visibility</p:attrName>
                                        </p:attrNameLst>
                                      </p:cBhvr>
                                      <p:to>
                                        <p:strVal val="visible"/>
                                      </p:to>
                                    </p:set>
                                    <p:animEffect transition="in" filter="blinds(horizontal)">
                                      <p:cBhvr>
                                        <p:cTn id="157" dur="500"/>
                                        <p:tgtEl>
                                          <p:spTgt spid="30759"/>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nodeType="clickEffect">
                                  <p:stCondLst>
                                    <p:cond delay="0"/>
                                  </p:stCondLst>
                                  <p:childTnLst>
                                    <p:set>
                                      <p:cBhvr>
                                        <p:cTn id="161" dur="1" fill="hold">
                                          <p:stCondLst>
                                            <p:cond delay="0"/>
                                          </p:stCondLst>
                                        </p:cTn>
                                        <p:tgtEl>
                                          <p:spTgt spid="30770"/>
                                        </p:tgtEl>
                                        <p:attrNameLst>
                                          <p:attrName>style.visibility</p:attrName>
                                        </p:attrNameLst>
                                      </p:cBhvr>
                                      <p:to>
                                        <p:strVal val="visible"/>
                                      </p:to>
                                    </p:set>
                                    <p:animEffect transition="in" filter="blinds(horizontal)">
                                      <p:cBhvr>
                                        <p:cTn id="162" dur="500"/>
                                        <p:tgtEl>
                                          <p:spTgt spid="30770"/>
                                        </p:tgtEl>
                                      </p:cBhvr>
                                    </p:animEffect>
                                  </p:childTnLst>
                                </p:cTn>
                              </p:par>
                              <p:par>
                                <p:cTn id="163" presetID="3" presetClass="entr" presetSubtype="10" fill="hold" nodeType="withEffect">
                                  <p:stCondLst>
                                    <p:cond delay="0"/>
                                  </p:stCondLst>
                                  <p:childTnLst>
                                    <p:set>
                                      <p:cBhvr>
                                        <p:cTn id="164" dur="1" fill="hold">
                                          <p:stCondLst>
                                            <p:cond delay="0"/>
                                          </p:stCondLst>
                                        </p:cTn>
                                        <p:tgtEl>
                                          <p:spTgt spid="30769"/>
                                        </p:tgtEl>
                                        <p:attrNameLst>
                                          <p:attrName>style.visibility</p:attrName>
                                        </p:attrNameLst>
                                      </p:cBhvr>
                                      <p:to>
                                        <p:strVal val="visible"/>
                                      </p:to>
                                    </p:set>
                                    <p:animEffect transition="in" filter="blinds(horizontal)">
                                      <p:cBhvr>
                                        <p:cTn id="165" dur="500"/>
                                        <p:tgtEl>
                                          <p:spTgt spid="30769"/>
                                        </p:tgtEl>
                                      </p:cBhvr>
                                    </p:animEffect>
                                  </p:childTnLst>
                                </p:cTn>
                              </p:par>
                              <p:par>
                                <p:cTn id="166" presetID="3" presetClass="entr" presetSubtype="10" fill="hold" nodeType="withEffect">
                                  <p:stCondLst>
                                    <p:cond delay="0"/>
                                  </p:stCondLst>
                                  <p:childTnLst>
                                    <p:set>
                                      <p:cBhvr>
                                        <p:cTn id="167" dur="1" fill="hold">
                                          <p:stCondLst>
                                            <p:cond delay="0"/>
                                          </p:stCondLst>
                                        </p:cTn>
                                        <p:tgtEl>
                                          <p:spTgt spid="30768"/>
                                        </p:tgtEl>
                                        <p:attrNameLst>
                                          <p:attrName>style.visibility</p:attrName>
                                        </p:attrNameLst>
                                      </p:cBhvr>
                                      <p:to>
                                        <p:strVal val="visible"/>
                                      </p:to>
                                    </p:set>
                                    <p:animEffect transition="in" filter="blinds(horizontal)">
                                      <p:cBhvr>
                                        <p:cTn id="168" dur="500"/>
                                        <p:tgtEl>
                                          <p:spTgt spid="30768"/>
                                        </p:tgtEl>
                                      </p:cBhvr>
                                    </p:animEffect>
                                  </p:childTnLst>
                                </p:cTn>
                              </p:par>
                              <p:par>
                                <p:cTn id="169" presetID="3" presetClass="entr" presetSubtype="10" fill="hold" nodeType="withEffect">
                                  <p:stCondLst>
                                    <p:cond delay="0"/>
                                  </p:stCondLst>
                                  <p:childTnLst>
                                    <p:set>
                                      <p:cBhvr>
                                        <p:cTn id="170" dur="1" fill="hold">
                                          <p:stCondLst>
                                            <p:cond delay="0"/>
                                          </p:stCondLst>
                                        </p:cTn>
                                        <p:tgtEl>
                                          <p:spTgt spid="30767"/>
                                        </p:tgtEl>
                                        <p:attrNameLst>
                                          <p:attrName>style.visibility</p:attrName>
                                        </p:attrNameLst>
                                      </p:cBhvr>
                                      <p:to>
                                        <p:strVal val="visible"/>
                                      </p:to>
                                    </p:set>
                                    <p:animEffect transition="in" filter="blinds(horizontal)">
                                      <p:cBhvr>
                                        <p:cTn id="171" dur="500"/>
                                        <p:tgtEl>
                                          <p:spTgt spid="30767"/>
                                        </p:tgtEl>
                                      </p:cBhvr>
                                    </p:animEffect>
                                  </p:childTnLst>
                                </p:cTn>
                              </p:par>
                              <p:par>
                                <p:cTn id="172" presetID="3" presetClass="entr" presetSubtype="10" fill="hold" nodeType="withEffect">
                                  <p:stCondLst>
                                    <p:cond delay="0"/>
                                  </p:stCondLst>
                                  <p:childTnLst>
                                    <p:set>
                                      <p:cBhvr>
                                        <p:cTn id="173" dur="1" fill="hold">
                                          <p:stCondLst>
                                            <p:cond delay="0"/>
                                          </p:stCondLst>
                                        </p:cTn>
                                        <p:tgtEl>
                                          <p:spTgt spid="30766"/>
                                        </p:tgtEl>
                                        <p:attrNameLst>
                                          <p:attrName>style.visibility</p:attrName>
                                        </p:attrNameLst>
                                      </p:cBhvr>
                                      <p:to>
                                        <p:strVal val="visible"/>
                                      </p:to>
                                    </p:set>
                                    <p:animEffect transition="in" filter="blinds(horizontal)">
                                      <p:cBhvr>
                                        <p:cTn id="174" dur="500"/>
                                        <p:tgtEl>
                                          <p:spTgt spid="30766"/>
                                        </p:tgtEl>
                                      </p:cBhvr>
                                    </p:animEffect>
                                  </p:childTnLst>
                                </p:cTn>
                              </p:par>
                              <p:par>
                                <p:cTn id="175" presetID="3" presetClass="entr" presetSubtype="10" fill="hold" grpId="0" nodeType="withEffect">
                                  <p:stCondLst>
                                    <p:cond delay="0"/>
                                  </p:stCondLst>
                                  <p:childTnLst>
                                    <p:set>
                                      <p:cBhvr>
                                        <p:cTn id="176" dur="1" fill="hold">
                                          <p:stCondLst>
                                            <p:cond delay="0"/>
                                          </p:stCondLst>
                                        </p:cTn>
                                        <p:tgtEl>
                                          <p:spTgt spid="30760"/>
                                        </p:tgtEl>
                                        <p:attrNameLst>
                                          <p:attrName>style.visibility</p:attrName>
                                        </p:attrNameLst>
                                      </p:cBhvr>
                                      <p:to>
                                        <p:strVal val="visible"/>
                                      </p:to>
                                    </p:set>
                                    <p:animEffect transition="in" filter="blinds(horizontal)">
                                      <p:cBhvr>
                                        <p:cTn id="177" dur="500"/>
                                        <p:tgtEl>
                                          <p:spTgt spid="30760"/>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ntr" presetSubtype="10" fill="hold" grpId="0" nodeType="clickEffect">
                                  <p:stCondLst>
                                    <p:cond delay="0"/>
                                  </p:stCondLst>
                                  <p:childTnLst>
                                    <p:set>
                                      <p:cBhvr>
                                        <p:cTn id="181" dur="1" fill="hold">
                                          <p:stCondLst>
                                            <p:cond delay="0"/>
                                          </p:stCondLst>
                                        </p:cTn>
                                        <p:tgtEl>
                                          <p:spTgt spid="31751"/>
                                        </p:tgtEl>
                                        <p:attrNameLst>
                                          <p:attrName>style.visibility</p:attrName>
                                        </p:attrNameLst>
                                      </p:cBhvr>
                                      <p:to>
                                        <p:strVal val="visible"/>
                                      </p:to>
                                    </p:set>
                                    <p:animEffect transition="in" filter="blinds(horizontal)">
                                      <p:cBhvr>
                                        <p:cTn id="182" dur="500"/>
                                        <p:tgtEl>
                                          <p:spTgt spid="31751"/>
                                        </p:tgtEl>
                                      </p:cBhvr>
                                    </p:animEffect>
                                  </p:childTnLst>
                                </p:cTn>
                              </p:par>
                            </p:childTnLst>
                          </p:cTn>
                        </p:par>
                      </p:childTnLst>
                    </p:cTn>
                  </p:par>
                  <p:par>
                    <p:cTn id="183" fill="hold">
                      <p:stCondLst>
                        <p:cond delay="indefinite"/>
                      </p:stCondLst>
                      <p:childTnLst>
                        <p:par>
                          <p:cTn id="184" fill="hold">
                            <p:stCondLst>
                              <p:cond delay="0"/>
                            </p:stCondLst>
                            <p:childTnLst>
                              <p:par>
                                <p:cTn id="185" presetID="3" presetClass="entr" presetSubtype="10" fill="hold" grpId="0" nodeType="clickEffect">
                                  <p:stCondLst>
                                    <p:cond delay="0"/>
                                  </p:stCondLst>
                                  <p:childTnLst>
                                    <p:set>
                                      <p:cBhvr>
                                        <p:cTn id="186" dur="1" fill="hold">
                                          <p:stCondLst>
                                            <p:cond delay="0"/>
                                          </p:stCondLst>
                                        </p:cTn>
                                        <p:tgtEl>
                                          <p:spTgt spid="2"/>
                                        </p:tgtEl>
                                        <p:attrNameLst>
                                          <p:attrName>style.visibility</p:attrName>
                                        </p:attrNameLst>
                                      </p:cBhvr>
                                      <p:to>
                                        <p:strVal val="visible"/>
                                      </p:to>
                                    </p:set>
                                    <p:animEffect transition="in" filter="blinds(horizontal)">
                                      <p:cBhvr>
                                        <p:cTn id="18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ldLvl="0" animBg="1"/>
      <p:bldP spid="30725" grpId="0"/>
      <p:bldP spid="30726" grpId="0" bldLvl="0" animBg="1"/>
      <p:bldP spid="30727" grpId="0"/>
      <p:bldP spid="30728" grpId="0"/>
      <p:bldP spid="30731" grpId="0"/>
      <p:bldP spid="30734" grpId="0" bldLvl="0" animBg="1"/>
      <p:bldP spid="30735" grpId="0"/>
      <p:bldP spid="30736" grpId="0"/>
      <p:bldP spid="30739" grpId="0" bldLvl="0" animBg="1"/>
      <p:bldP spid="30740" grpId="0"/>
      <p:bldP spid="30741" grpId="0"/>
      <p:bldP spid="30744" grpId="0" bldLvl="0" animBg="1"/>
      <p:bldP spid="30745" grpId="0"/>
      <p:bldP spid="30747" grpId="0"/>
      <p:bldP spid="30748" grpId="0"/>
      <p:bldP spid="30751" grpId="0"/>
      <p:bldP spid="30753" grpId="0"/>
      <p:bldP spid="30759" grpId="0" bldLvl="0" animBg="1"/>
      <p:bldP spid="30760" grpId="0" bldLvl="0" animBg="1"/>
      <p:bldP spid="31751" grpId="0" animBg="1"/>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2"/>
          <p:cNvSpPr>
            <a:spLocks noGrp="1"/>
          </p:cNvSpPr>
          <p:nvPr>
            <p:ph type="title" idx="4294967295"/>
          </p:nvPr>
        </p:nvSpPr>
        <p:spPr/>
        <p:txBody>
          <a:bodyPr wrap="square" lIns="0" tIns="0" rIns="0" bIns="0" anchor="ctr" anchorCtr="0"/>
          <a:lstStyle/>
          <a:p>
            <a:pPr eaLnBrk="1" hangingPunct="1"/>
            <a:r>
              <a:rPr lang="zh-CN" altLang="en-US" dirty="0"/>
              <a:t>符号表</a:t>
            </a:r>
            <a:endParaRPr lang="zh-CN" altLang="en-US" dirty="0">
              <a:solidFill>
                <a:schemeClr val="tx1"/>
              </a:solidFill>
              <a:latin typeface="仿宋_GB2312" panose="02010609030101010101" pitchFamily="1" charset="-122"/>
              <a:ea typeface="仿宋_GB2312" panose="02010609030101010101" pitchFamily="1" charset="-122"/>
            </a:endParaRPr>
          </a:p>
        </p:txBody>
      </p:sp>
      <p:sp>
        <p:nvSpPr>
          <p:cNvPr id="35847" name="Footer Placeholder 9"/>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5848" name="Slide Number Placeholder 1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34</a:t>
            </a:fld>
            <a:endParaRPr lang="en-GB" altLang="en-US" sz="1200" dirty="0">
              <a:latin typeface="Comic Sans MS" panose="030F0702030302020204" pitchFamily="2" charset="0"/>
              <a:ea typeface="宋体" panose="02010600030101010101" pitchFamily="2" charset="-122"/>
            </a:endParaRPr>
          </a:p>
        </p:txBody>
      </p:sp>
      <p:sp>
        <p:nvSpPr>
          <p:cNvPr id="35849" name="Date Placeholder 10"/>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 name="Rectangle 5">
            <a:extLst>
              <a:ext uri="{FF2B5EF4-FFF2-40B4-BE49-F238E27FC236}">
                <a16:creationId xmlns:a16="http://schemas.microsoft.com/office/drawing/2014/main" id="{B260F4FA-63A0-49B4-ACCB-CEA0EE3B5C3A}"/>
              </a:ext>
            </a:extLst>
          </p:cNvPr>
          <p:cNvSpPr txBox="1">
            <a:spLocks noChangeArrowheads="1"/>
          </p:cNvSpPr>
          <p:nvPr/>
        </p:nvSpPr>
        <p:spPr>
          <a:xfrm>
            <a:off x="568205" y="1439681"/>
            <a:ext cx="8944213"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32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登记各类名字的</a:t>
            </a:r>
            <a:r>
              <a:rPr kumimoji="0" lang="zh-CN" altLang="zh-CN" sz="32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信息</a:t>
            </a:r>
            <a:endParaRPr kumimoji="0" lang="en-US" altLang="zh-CN" sz="32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32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编译各阶段都需要使用符号表</a:t>
            </a:r>
            <a:endParaRPr kumimoji="0" lang="en-US" altLang="zh-CN" sz="32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一致性检查和作用域分析</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辅助代码生成</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indent="-285750" fontAlgn="auto">
              <a:lnSpc>
                <a:spcPct val="100000"/>
              </a:lnSpc>
              <a:buClr>
                <a:srgbClr val="4F81BD"/>
              </a:buClr>
            </a:pPr>
            <a:r>
              <a:rPr lang="zh-CN" altLang="en-US" sz="3200" noProof="1"/>
              <a:t>按名字的不同种属建立多张符号表，如符号名表、常数表、入口名表、过程引用表、…</a:t>
            </a:r>
            <a:endParaRPr lang="en-US" altLang="zh-CN" sz="3200" noProof="1"/>
          </a:p>
          <a:p>
            <a:pPr indent="-285750" fontAlgn="auto">
              <a:lnSpc>
                <a:spcPct val="100000"/>
              </a:lnSpc>
              <a:buClr>
                <a:srgbClr val="4F81BD"/>
              </a:buClr>
            </a:pPr>
            <a:endParaRPr kumimoji="0" lang="zh-CN" altLang="en-US" sz="32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696061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type="body" idx="4294967295"/>
          </p:nvPr>
        </p:nvSpPr>
        <p:spPr>
          <a:xfrm>
            <a:off x="495009" y="1439863"/>
            <a:ext cx="8821738" cy="5175250"/>
          </a:xfrm>
        </p:spPr>
        <p:txBody>
          <a:bodyPr wrap="square" lIns="0" tIns="22680" rIns="0" bIns="0" anchor="t" anchorCtr="0"/>
          <a:lstStyle/>
          <a:p>
            <a:pPr eaLnBrk="1" hangingPunct="1">
              <a:buFont typeface="Monotype Sorts"/>
              <a:buNone/>
            </a:pPr>
            <a:r>
              <a:rPr lang="zh-CN" altLang="en-US" sz="4000" b="1" dirty="0">
                <a:latin typeface="楷体_GB2312" panose="02010609030101010101" charset="-122"/>
                <a:ea typeface="楷体_GB2312" panose="02010609030101010101" charset="-122"/>
              </a:rPr>
              <a:t>符号表的形式</a:t>
            </a:r>
          </a:p>
          <a:p>
            <a:pPr eaLnBrk="1" hangingPunct="1">
              <a:buFont typeface="Monotype Sorts"/>
              <a:buNone/>
            </a:pPr>
            <a:r>
              <a:rPr lang="zh-CN" altLang="en-US" sz="4000" b="1" dirty="0">
                <a:latin typeface="楷体_GB2312" panose="02010609030101010101" charset="-122"/>
                <a:ea typeface="楷体_GB2312" panose="02010609030101010101" charset="-122"/>
              </a:rPr>
              <a:t>    一个表项包括</a:t>
            </a:r>
            <a:r>
              <a:rPr lang="zh-CN" altLang="en-US" sz="4000" b="1" dirty="0">
                <a:solidFill>
                  <a:srgbClr val="0000FF"/>
                </a:solidFill>
                <a:latin typeface="楷体_GB2312" panose="02010609030101010101" charset="-122"/>
                <a:ea typeface="楷体_GB2312" panose="02010609030101010101" charset="-122"/>
              </a:rPr>
              <a:t>名字域</a:t>
            </a:r>
            <a:r>
              <a:rPr lang="zh-CN" altLang="en-US" sz="4000" b="1" dirty="0">
                <a:latin typeface="楷体_GB2312" panose="02010609030101010101" charset="-122"/>
                <a:ea typeface="楷体_GB2312" panose="02010609030101010101" charset="-122"/>
              </a:rPr>
              <a:t>和</a:t>
            </a:r>
            <a:r>
              <a:rPr lang="zh-CN" altLang="en-US" sz="4000" b="1" dirty="0">
                <a:solidFill>
                  <a:srgbClr val="0000FF"/>
                </a:solidFill>
                <a:latin typeface="楷体_GB2312" panose="02010609030101010101" charset="-122"/>
                <a:ea typeface="楷体_GB2312" panose="02010609030101010101" charset="-122"/>
              </a:rPr>
              <a:t>信息域</a:t>
            </a:r>
            <a:endParaRPr lang="en-US" altLang="zh-CN" sz="4000" b="1" dirty="0">
              <a:solidFill>
                <a:srgbClr val="0000FF"/>
              </a:solidFill>
              <a:latin typeface="楷体_GB2312" panose="02010609030101010101" charset="-122"/>
              <a:ea typeface="楷体_GB2312" panose="02010609030101010101" charset="-122"/>
            </a:endParaRPr>
          </a:p>
          <a:p>
            <a:pPr eaLnBrk="1" hangingPunct="1">
              <a:buFont typeface="Monotype Sorts"/>
              <a:buNone/>
            </a:pPr>
            <a:endParaRPr lang="en-US" altLang="zh-CN" sz="4000" b="1" dirty="0">
              <a:solidFill>
                <a:srgbClr val="0000FF"/>
              </a:solidFill>
              <a:latin typeface="楷体_GB2312" panose="02010609030101010101" charset="-122"/>
              <a:ea typeface="楷体_GB2312" panose="02010609030101010101" charset="-122"/>
            </a:endParaRPr>
          </a:p>
          <a:p>
            <a:pPr eaLnBrk="1" hangingPunct="1">
              <a:buFont typeface="Monotype Sorts"/>
              <a:buNone/>
            </a:pPr>
            <a:r>
              <a:rPr lang="en-US" altLang="zh-CN" sz="4000" b="1" dirty="0">
                <a:solidFill>
                  <a:srgbClr val="0000FF"/>
                </a:solidFill>
                <a:latin typeface="楷体_GB2312" panose="02010609030101010101" charset="-122"/>
                <a:ea typeface="楷体_GB2312" panose="02010609030101010101" charset="-122"/>
              </a:rPr>
              <a:t>           </a:t>
            </a:r>
            <a:r>
              <a:rPr lang="en-US" altLang="zh-CN" sz="4000" b="1" dirty="0">
                <a:solidFill>
                  <a:schemeClr val="tx1"/>
                </a:solidFill>
                <a:latin typeface="楷体_GB2312" panose="02010609030101010101" charset="-122"/>
                <a:ea typeface="楷体_GB2312" panose="02010609030101010101" charset="-122"/>
              </a:rPr>
              <a:t>(key, value)</a:t>
            </a:r>
          </a:p>
          <a:p>
            <a:pPr eaLnBrk="1" hangingPunct="1">
              <a:buFont typeface="Monotype Sorts"/>
              <a:buNone/>
            </a:pPr>
            <a:r>
              <a:rPr lang="zh-CN" altLang="en-US" sz="3200" b="1" dirty="0">
                <a:solidFill>
                  <a:schemeClr val="tx1"/>
                </a:solidFill>
                <a:latin typeface="楷体_GB2312" panose="02010609030101010101" charset="-122"/>
              </a:rPr>
              <a:t>符号表的实现与操作</a:t>
            </a:r>
            <a:endParaRPr lang="en-US" altLang="zh-CN" sz="3200" b="1" dirty="0">
              <a:solidFill>
                <a:schemeClr val="tx1"/>
              </a:solidFill>
              <a:latin typeface="楷体_GB2312" panose="02010609030101010101" charset="-122"/>
            </a:endParaRPr>
          </a:p>
          <a:p>
            <a:pPr eaLnBrk="1" hangingPunct="1">
              <a:buFont typeface="Monotype Sorts"/>
              <a:buNone/>
            </a:pPr>
            <a:r>
              <a:rPr lang="zh-CN" altLang="en-US" sz="3200" b="1" dirty="0">
                <a:solidFill>
                  <a:schemeClr val="tx1"/>
                </a:solidFill>
                <a:latin typeface="楷体_GB2312" panose="02010609030101010101" charset="-122"/>
              </a:rPr>
              <a:t>实现：线性表、</a:t>
            </a:r>
            <a:r>
              <a:rPr lang="en-US" altLang="zh-CN" sz="3200" b="1" dirty="0">
                <a:solidFill>
                  <a:schemeClr val="tx1"/>
                </a:solidFill>
                <a:latin typeface="楷体_GB2312" panose="02010609030101010101" charset="-122"/>
              </a:rPr>
              <a:t>Hash</a:t>
            </a:r>
            <a:r>
              <a:rPr lang="zh-CN" altLang="en-US" sz="3200" b="1" dirty="0">
                <a:solidFill>
                  <a:schemeClr val="tx1"/>
                </a:solidFill>
                <a:latin typeface="楷体_GB2312" panose="02010609030101010101" charset="-122"/>
              </a:rPr>
              <a:t>表</a:t>
            </a:r>
            <a:endParaRPr lang="en-US" altLang="zh-CN" sz="3200" b="1" dirty="0">
              <a:solidFill>
                <a:schemeClr val="tx1"/>
              </a:solidFill>
              <a:latin typeface="楷体_GB2312" panose="02010609030101010101" charset="-122"/>
            </a:endParaRPr>
          </a:p>
          <a:p>
            <a:pPr eaLnBrk="1" hangingPunct="1">
              <a:buFont typeface="Monotype Sorts"/>
              <a:buNone/>
            </a:pPr>
            <a:r>
              <a:rPr lang="zh-CN" altLang="en-US" sz="3200" b="1" dirty="0">
                <a:solidFill>
                  <a:schemeClr val="tx1"/>
                </a:solidFill>
                <a:latin typeface="楷体_GB2312" panose="02010609030101010101" charset="-122"/>
              </a:rPr>
              <a:t>操作：线性查找，二分查找</a:t>
            </a:r>
            <a:endParaRPr lang="en-US" altLang="zh-CN" sz="3200" b="1" dirty="0">
              <a:solidFill>
                <a:schemeClr val="tx1"/>
              </a:solidFill>
              <a:latin typeface="楷体_GB2312" panose="02010609030101010101" charset="-122"/>
            </a:endParaRPr>
          </a:p>
          <a:p>
            <a:pPr eaLnBrk="1" hangingPunct="1">
              <a:buFont typeface="Monotype Sorts"/>
              <a:buNone/>
            </a:pPr>
            <a:r>
              <a:rPr lang="en-US" altLang="zh-CN" sz="3200" b="1" dirty="0">
                <a:solidFill>
                  <a:schemeClr val="tx1"/>
                </a:solidFill>
                <a:latin typeface="楷体_GB2312" panose="02010609030101010101" charset="-122"/>
              </a:rPr>
              <a:t>          Hash</a:t>
            </a:r>
            <a:r>
              <a:rPr lang="zh-CN" altLang="en-US" sz="3200" b="1" dirty="0">
                <a:solidFill>
                  <a:schemeClr val="tx1"/>
                </a:solidFill>
                <a:latin typeface="楷体_GB2312" panose="02010609030101010101" charset="-122"/>
              </a:rPr>
              <a:t>查找</a:t>
            </a:r>
            <a:endParaRPr lang="zh-CN" altLang="en-US" sz="3200" b="1" dirty="0">
              <a:latin typeface="楷体_GB2312" panose="02010609030101010101" charset="-122"/>
            </a:endParaRPr>
          </a:p>
        </p:txBody>
      </p:sp>
      <p:sp>
        <p:nvSpPr>
          <p:cNvPr id="35842" name="Rectangle 5"/>
          <p:cNvSpPr/>
          <p:nvPr/>
        </p:nvSpPr>
        <p:spPr>
          <a:xfrm>
            <a:off x="2682875" y="2900363"/>
            <a:ext cx="4787900" cy="588962"/>
          </a:xfrm>
          <a:prstGeom prst="rect">
            <a:avLst/>
          </a:prstGeom>
          <a:noFill/>
          <a:ln w="9525" cap="flat" cmpd="sng">
            <a:solidFill>
              <a:schemeClr val="tx1"/>
            </a:solidFill>
            <a:prstDash val="solid"/>
            <a:miter/>
            <a:headEnd type="none" w="med" len="med"/>
            <a:tailEnd type="none" w="med" len="med"/>
          </a:ln>
        </p:spPr>
        <p:txBody>
          <a:bodyPr wrap="none" lIns="100794" tIns="50397" rIns="100794" bIns="50397" anchor="ctr" anchorCtr="0"/>
          <a:lstStyle/>
          <a:p>
            <a:pPr indent="0" hangingPunct="0"/>
            <a:endParaRPr lang="zh-CN" altLang="en-US" dirty="0">
              <a:latin typeface="Arial" panose="020B0604020202020204" pitchFamily="34" charset="0"/>
              <a:ea typeface="宋体" panose="02010600030101010101" pitchFamily="2" charset="-122"/>
            </a:endParaRPr>
          </a:p>
        </p:txBody>
      </p:sp>
      <p:sp>
        <p:nvSpPr>
          <p:cNvPr id="35843" name="Line 6"/>
          <p:cNvSpPr/>
          <p:nvPr/>
        </p:nvSpPr>
        <p:spPr>
          <a:xfrm>
            <a:off x="4995863" y="2900363"/>
            <a:ext cx="0" cy="588962"/>
          </a:xfrm>
          <a:prstGeom prst="line">
            <a:avLst/>
          </a:prstGeom>
          <a:ln w="9525" cap="flat" cmpd="sng">
            <a:solidFill>
              <a:schemeClr val="tx1"/>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5844" name="Text Box 7"/>
          <p:cNvSpPr txBox="1"/>
          <p:nvPr/>
        </p:nvSpPr>
        <p:spPr>
          <a:xfrm>
            <a:off x="3192463" y="2890838"/>
            <a:ext cx="1104900" cy="601662"/>
          </a:xfrm>
          <a:prstGeom prst="rect">
            <a:avLst/>
          </a:prstGeom>
          <a:noFill/>
          <a:ln w="9525">
            <a:noFill/>
          </a:ln>
        </p:spPr>
        <p:txBody>
          <a:bodyPr wrap="none" lIns="100794" tIns="50397" rIns="100794" bIns="50397" anchor="t" anchorCtr="0">
            <a:spAutoFit/>
          </a:bodyPr>
          <a:lstStyle/>
          <a:p>
            <a:pPr indent="0" hangingPunct="0"/>
            <a:r>
              <a:rPr lang="zh-CN" altLang="en-US" sz="3500" b="1" dirty="0">
                <a:solidFill>
                  <a:srgbClr val="0000FF"/>
                </a:solidFill>
                <a:latin typeface="楷体_GB2312" panose="02010609030101010101" charset="-122"/>
                <a:ea typeface="楷体_GB2312" panose="02010609030101010101" charset="-122"/>
              </a:rPr>
              <a:t>名字</a:t>
            </a:r>
          </a:p>
        </p:txBody>
      </p:sp>
      <p:sp>
        <p:nvSpPr>
          <p:cNvPr id="35845" name="Text Box 8"/>
          <p:cNvSpPr txBox="1"/>
          <p:nvPr/>
        </p:nvSpPr>
        <p:spPr>
          <a:xfrm>
            <a:off x="5310188" y="2890838"/>
            <a:ext cx="2005012" cy="601662"/>
          </a:xfrm>
          <a:prstGeom prst="rect">
            <a:avLst/>
          </a:prstGeom>
          <a:noFill/>
          <a:ln w="9525">
            <a:noFill/>
          </a:ln>
        </p:spPr>
        <p:txBody>
          <a:bodyPr wrap="none" lIns="100794" tIns="50397" rIns="100794" bIns="50397" anchor="t" anchorCtr="0">
            <a:spAutoFit/>
          </a:bodyPr>
          <a:lstStyle/>
          <a:p>
            <a:pPr indent="0" hangingPunct="0"/>
            <a:r>
              <a:rPr lang="zh-CN" altLang="en-US" sz="3500" b="1" dirty="0">
                <a:solidFill>
                  <a:srgbClr val="0000FF"/>
                </a:solidFill>
                <a:latin typeface="楷体_GB2312" panose="02010609030101010101" charset="-122"/>
                <a:ea typeface="楷体_GB2312" panose="02010609030101010101" charset="-122"/>
              </a:rPr>
              <a:t>属性信息</a:t>
            </a:r>
          </a:p>
        </p:txBody>
      </p:sp>
      <p:sp>
        <p:nvSpPr>
          <p:cNvPr id="35846" name="Rectangle 2"/>
          <p:cNvSpPr>
            <a:spLocks noGrp="1"/>
          </p:cNvSpPr>
          <p:nvPr>
            <p:ph type="title" idx="4294967295"/>
          </p:nvPr>
        </p:nvSpPr>
        <p:spPr/>
        <p:txBody>
          <a:bodyPr wrap="square" lIns="0" tIns="0" rIns="0" bIns="0" anchor="ctr" anchorCtr="0"/>
          <a:lstStyle/>
          <a:p>
            <a:pPr eaLnBrk="1" hangingPunct="1"/>
            <a:r>
              <a:rPr lang="zh-CN" altLang="en-US" dirty="0"/>
              <a:t>符号表</a:t>
            </a:r>
            <a:endParaRPr lang="zh-CN" altLang="en-US" dirty="0">
              <a:solidFill>
                <a:schemeClr val="tx1"/>
              </a:solidFill>
              <a:latin typeface="仿宋_GB2312" panose="02010609030101010101" pitchFamily="1" charset="-122"/>
              <a:ea typeface="仿宋_GB2312" panose="02010609030101010101" pitchFamily="1" charset="-122"/>
            </a:endParaRPr>
          </a:p>
        </p:txBody>
      </p:sp>
      <p:sp>
        <p:nvSpPr>
          <p:cNvPr id="35848" name="Slide Number Placeholder 1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35</a:t>
            </a:fld>
            <a:endParaRPr lang="en-GB" altLang="en-US" sz="1200" dirty="0">
              <a:latin typeface="Comic Sans MS" panose="030F0702030302020204" pitchFamily="2" charset="0"/>
              <a:ea typeface="宋体" panose="02010600030101010101" pitchFamily="2" charset="-122"/>
            </a:endParaRPr>
          </a:p>
        </p:txBody>
      </p:sp>
      <p:graphicFrame>
        <p:nvGraphicFramePr>
          <p:cNvPr id="2" name="表格 1">
            <a:extLst>
              <a:ext uri="{FF2B5EF4-FFF2-40B4-BE49-F238E27FC236}">
                <a16:creationId xmlns:a16="http://schemas.microsoft.com/office/drawing/2014/main" id="{01679EFB-4BB5-5D57-D624-B401DC3A012E}"/>
              </a:ext>
            </a:extLst>
          </p:cNvPr>
          <p:cNvGraphicFramePr>
            <a:graphicFrameLocks noGrp="1"/>
          </p:cNvGraphicFramePr>
          <p:nvPr>
            <p:extLst>
              <p:ext uri="{D42A27DB-BD31-4B8C-83A1-F6EECF244321}">
                <p14:modId xmlns:p14="http://schemas.microsoft.com/office/powerpoint/2010/main" val="3017317984"/>
              </p:ext>
            </p:extLst>
          </p:nvPr>
        </p:nvGraphicFramePr>
        <p:xfrm>
          <a:off x="6075381" y="4409879"/>
          <a:ext cx="3807280" cy="1828800"/>
        </p:xfrm>
        <a:graphic>
          <a:graphicData uri="http://schemas.openxmlformats.org/drawingml/2006/table">
            <a:tbl>
              <a:tblPr firstRow="1" bandRow="1"/>
              <a:tblGrid>
                <a:gridCol w="1169588">
                  <a:extLst>
                    <a:ext uri="{9D8B030D-6E8A-4147-A177-3AD203B41FA5}">
                      <a16:colId xmlns:a16="http://schemas.microsoft.com/office/drawing/2014/main" val="20000"/>
                    </a:ext>
                  </a:extLst>
                </a:gridCol>
                <a:gridCol w="2637692">
                  <a:extLst>
                    <a:ext uri="{9D8B030D-6E8A-4147-A177-3AD203B41FA5}">
                      <a16:colId xmlns:a16="http://schemas.microsoft.com/office/drawing/2014/main" val="20001"/>
                    </a:ext>
                  </a:extLst>
                </a:gridCol>
              </a:tblGrid>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400" b="0" dirty="0"/>
                        <a:t>NAME</a:t>
                      </a:r>
                      <a:endParaRPr lang="en-GB" altLang="zh-CN" sz="2400" b="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400" b="0" dirty="0"/>
                        <a:t>INFORMATION</a:t>
                      </a:r>
                      <a:endParaRPr lang="en-GB" altLang="zh-CN" sz="2400" b="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dirty="0"/>
                        <a:t>index</a:t>
                      </a:r>
                      <a:endParaRPr lang="zh-CN" altLang="en-US" sz="24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zh-CN" altLang="en-US" sz="2400" dirty="0"/>
                        <a:t>整型，变量</a:t>
                      </a:r>
                      <a:endParaRPr lang="zh-CN" altLang="en-GB" sz="24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algn="ctr"/>
                      <a:r>
                        <a:rPr lang="en-US" altLang="zh-CN" sz="2400" dirty="0"/>
                        <a:t>score</a:t>
                      </a:r>
                      <a:endParaRPr lang="zh-CN" alt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zh-CN" altLang="en-US" sz="2400" dirty="0"/>
                        <a:t>实型，变量</a:t>
                      </a:r>
                      <a:endParaRPr lang="en-GB" altLang="zh-CN"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70840">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400" dirty="0"/>
                        <a:t>p</a:t>
                      </a:r>
                      <a:endParaRPr lang="en-GB" altLang="zh-CN"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zh-CN" altLang="en-US" sz="2400" dirty="0"/>
                        <a:t>整型，形式参数</a:t>
                      </a:r>
                      <a:endParaRPr lang="en-GB" altLang="zh-CN"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bl>
          </a:graphicData>
        </a:graphic>
      </p:graphicFrame>
      <p:sp>
        <p:nvSpPr>
          <p:cNvPr id="3" name="文本框 2">
            <a:extLst>
              <a:ext uri="{FF2B5EF4-FFF2-40B4-BE49-F238E27FC236}">
                <a16:creationId xmlns:a16="http://schemas.microsoft.com/office/drawing/2014/main" id="{7E4508B6-2945-0FE1-7AE8-E986C52CDB6C}"/>
              </a:ext>
            </a:extLst>
          </p:cNvPr>
          <p:cNvSpPr txBox="1"/>
          <p:nvPr/>
        </p:nvSpPr>
        <p:spPr>
          <a:xfrm>
            <a:off x="5498230" y="4837348"/>
            <a:ext cx="561372" cy="461665"/>
          </a:xfrm>
          <a:prstGeom prst="rect">
            <a:avLst/>
          </a:prstGeom>
          <a:noFill/>
        </p:spPr>
        <p:txBody>
          <a:bodyPr wrap="none" rtlCol="0">
            <a:spAutoFit/>
          </a:bodyPr>
          <a:lstStyle/>
          <a:p>
            <a:pPr defTabSz="457200" fontAlgn="auto">
              <a:lnSpc>
                <a:spcPct val="100000"/>
              </a:lnSpc>
              <a:spcBef>
                <a:spcPts val="0"/>
              </a:spcBef>
              <a:spcAft>
                <a:spcPts val="0"/>
              </a:spcAft>
              <a:buSzTx/>
              <a:buFontTx/>
              <a:buNone/>
            </a:pPr>
            <a:r>
              <a:rPr lang="en-US" altLang="zh-CN" sz="2400" dirty="0">
                <a:solidFill>
                  <a:prstClr val="black"/>
                </a:solidFill>
                <a:latin typeface="Arial" panose="020B0604020202020204"/>
                <a:ea typeface="黑体" panose="02010609060101010101" pitchFamily="49" charset="-122"/>
              </a:rPr>
              <a:t>(1)</a:t>
            </a:r>
            <a:endParaRPr lang="zh-CN" altLang="en-US" sz="2400" dirty="0">
              <a:solidFill>
                <a:prstClr val="black"/>
              </a:solidFill>
              <a:latin typeface="Arial" panose="020B0604020202020204"/>
              <a:ea typeface="黑体" panose="02010609060101010101" pitchFamily="49" charset="-122"/>
            </a:endParaRPr>
          </a:p>
        </p:txBody>
      </p:sp>
      <p:sp>
        <p:nvSpPr>
          <p:cNvPr id="4" name="文本框 3">
            <a:extLst>
              <a:ext uri="{FF2B5EF4-FFF2-40B4-BE49-F238E27FC236}">
                <a16:creationId xmlns:a16="http://schemas.microsoft.com/office/drawing/2014/main" id="{EECE742A-115E-9B2A-E2DF-38FEA8643B58}"/>
              </a:ext>
            </a:extLst>
          </p:cNvPr>
          <p:cNvSpPr txBox="1"/>
          <p:nvPr/>
        </p:nvSpPr>
        <p:spPr>
          <a:xfrm>
            <a:off x="5498230" y="5311789"/>
            <a:ext cx="561372" cy="461665"/>
          </a:xfrm>
          <a:prstGeom prst="rect">
            <a:avLst/>
          </a:prstGeom>
          <a:noFill/>
        </p:spPr>
        <p:txBody>
          <a:bodyPr wrap="none" rtlCol="0">
            <a:spAutoFit/>
          </a:bodyPr>
          <a:lstStyle/>
          <a:p>
            <a:pPr defTabSz="457200" fontAlgn="auto">
              <a:lnSpc>
                <a:spcPct val="100000"/>
              </a:lnSpc>
              <a:spcBef>
                <a:spcPts val="0"/>
              </a:spcBef>
              <a:spcAft>
                <a:spcPts val="0"/>
              </a:spcAft>
              <a:buSzTx/>
              <a:buFontTx/>
              <a:buNone/>
            </a:pPr>
            <a:r>
              <a:rPr lang="en-US" altLang="zh-CN" sz="2400" dirty="0">
                <a:solidFill>
                  <a:prstClr val="black"/>
                </a:solidFill>
                <a:latin typeface="Arial" panose="020B0604020202020204"/>
                <a:ea typeface="黑体" panose="02010609060101010101" pitchFamily="49" charset="-122"/>
              </a:rPr>
              <a:t>(2)</a:t>
            </a:r>
            <a:endParaRPr lang="zh-CN" altLang="en-US" sz="2400" dirty="0">
              <a:solidFill>
                <a:prstClr val="black"/>
              </a:solidFill>
              <a:latin typeface="Arial" panose="020B0604020202020204"/>
              <a:ea typeface="黑体" panose="02010609060101010101" pitchFamily="49" charset="-122"/>
            </a:endParaRPr>
          </a:p>
        </p:txBody>
      </p:sp>
      <p:sp>
        <p:nvSpPr>
          <p:cNvPr id="5" name="文本框 4">
            <a:extLst>
              <a:ext uri="{FF2B5EF4-FFF2-40B4-BE49-F238E27FC236}">
                <a16:creationId xmlns:a16="http://schemas.microsoft.com/office/drawing/2014/main" id="{EC69FD28-C8A7-3331-4A8F-A41D7776C70E}"/>
              </a:ext>
            </a:extLst>
          </p:cNvPr>
          <p:cNvSpPr txBox="1"/>
          <p:nvPr/>
        </p:nvSpPr>
        <p:spPr>
          <a:xfrm>
            <a:off x="5498230" y="5786229"/>
            <a:ext cx="561372" cy="461665"/>
          </a:xfrm>
          <a:prstGeom prst="rect">
            <a:avLst/>
          </a:prstGeom>
          <a:noFill/>
        </p:spPr>
        <p:txBody>
          <a:bodyPr wrap="none" rtlCol="0">
            <a:spAutoFit/>
          </a:bodyPr>
          <a:lstStyle/>
          <a:p>
            <a:pPr defTabSz="457200" fontAlgn="auto">
              <a:lnSpc>
                <a:spcPct val="100000"/>
              </a:lnSpc>
              <a:spcBef>
                <a:spcPts val="0"/>
              </a:spcBef>
              <a:spcAft>
                <a:spcPts val="0"/>
              </a:spcAft>
              <a:buSzTx/>
              <a:buFontTx/>
              <a:buNone/>
            </a:pPr>
            <a:r>
              <a:rPr lang="en-US" altLang="zh-CN" sz="2400" dirty="0">
                <a:solidFill>
                  <a:prstClr val="black"/>
                </a:solidFill>
                <a:latin typeface="Arial" panose="020B0604020202020204"/>
                <a:ea typeface="黑体" panose="02010609060101010101" pitchFamily="49" charset="-122"/>
              </a:rPr>
              <a:t>(3)</a:t>
            </a:r>
            <a:endParaRPr lang="zh-CN" altLang="en-US" sz="2400" dirty="0">
              <a:solidFill>
                <a:prstClr val="black"/>
              </a:solidFill>
              <a:latin typeface="Arial" panose="020B0604020202020204"/>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animEffect transition="in" filter="blinds(horizontal)">
                                      <p:cBhvr>
                                        <p:cTn id="7" dur="500"/>
                                        <p:tgtEl>
                                          <p:spTgt spid="2662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6">
                                            <p:txEl>
                                              <p:pRg st="4" end="4"/>
                                            </p:txEl>
                                          </p:spTgt>
                                        </p:tgtEl>
                                        <p:attrNameLst>
                                          <p:attrName>style.visibility</p:attrName>
                                        </p:attrNameLst>
                                      </p:cBhvr>
                                      <p:to>
                                        <p:strVal val="visible"/>
                                      </p:to>
                                    </p:set>
                                    <p:animEffect transition="in" filter="blinds(horizontal)">
                                      <p:cBhvr>
                                        <p:cTn id="12" dur="500"/>
                                        <p:tgtEl>
                                          <p:spTgt spid="26626">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6626">
                                            <p:txEl>
                                              <p:pRg st="5" end="5"/>
                                            </p:txEl>
                                          </p:spTgt>
                                        </p:tgtEl>
                                        <p:attrNameLst>
                                          <p:attrName>style.visibility</p:attrName>
                                        </p:attrNameLst>
                                      </p:cBhvr>
                                      <p:to>
                                        <p:strVal val="visible"/>
                                      </p:to>
                                    </p:set>
                                    <p:animEffect transition="in" filter="blinds(horizontal)">
                                      <p:cBhvr>
                                        <p:cTn id="15" dur="500"/>
                                        <p:tgtEl>
                                          <p:spTgt spid="26626">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6626">
                                            <p:txEl>
                                              <p:pRg st="6" end="6"/>
                                            </p:txEl>
                                          </p:spTgt>
                                        </p:tgtEl>
                                        <p:attrNameLst>
                                          <p:attrName>style.visibility</p:attrName>
                                        </p:attrNameLst>
                                      </p:cBhvr>
                                      <p:to>
                                        <p:strVal val="visible"/>
                                      </p:to>
                                    </p:set>
                                    <p:animEffect transition="in" filter="blinds(horizontal)">
                                      <p:cBhvr>
                                        <p:cTn id="18" dur="500"/>
                                        <p:tgtEl>
                                          <p:spTgt spid="26626">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6626">
                                            <p:txEl>
                                              <p:pRg st="7" end="7"/>
                                            </p:txEl>
                                          </p:spTgt>
                                        </p:tgtEl>
                                        <p:attrNameLst>
                                          <p:attrName>style.visibility</p:attrName>
                                        </p:attrNameLst>
                                      </p:cBhvr>
                                      <p:to>
                                        <p:strVal val="visible"/>
                                      </p:to>
                                    </p:set>
                                    <p:animEffect transition="in" filter="blinds(horizontal)">
                                      <p:cBhvr>
                                        <p:cTn id="21" dur="500"/>
                                        <p:tgtEl>
                                          <p:spTgt spid="26626">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D6DFE70-6DC1-C15C-AEC0-669C2977F12D}"/>
              </a:ext>
            </a:extLst>
          </p:cNvPr>
          <p:cNvSpPr txBox="1">
            <a:spLocks/>
          </p:cNvSpPr>
          <p:nvPr/>
        </p:nvSpPr>
        <p:spPr>
          <a:xfrm>
            <a:off x="503238" y="301625"/>
            <a:ext cx="7847012" cy="920750"/>
          </a:xfrm>
          <a:prstGeom prst="rect">
            <a:avLst/>
          </a:prstGeom>
          <a:noFill/>
          <a:ln w="9525">
            <a:noFill/>
          </a:ln>
        </p:spPr>
        <p:txBody>
          <a:bodyPr wrap="square" lIns="0" tIns="0" rIns="0" bIns="0" anchor="ctr" anchorCtr="0"/>
          <a:lst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a:lstStyle>
          <a:p>
            <a:pPr eaLnBrk="1" hangingPunct="1"/>
            <a:r>
              <a:rPr lang="zh-CN" altLang="en-US"/>
              <a:t>符号表</a:t>
            </a:r>
            <a:endParaRPr lang="zh-CN" altLang="en-US" dirty="0">
              <a:solidFill>
                <a:schemeClr val="tx1"/>
              </a:solidFill>
              <a:latin typeface="仿宋_GB2312" panose="02010609030101010101" pitchFamily="1" charset="-122"/>
              <a:ea typeface="仿宋_GB2312" panose="02010609030101010101" pitchFamily="1" charset="-122"/>
            </a:endParaRPr>
          </a:p>
        </p:txBody>
      </p:sp>
      <p:sp>
        <p:nvSpPr>
          <p:cNvPr id="3" name="Rectangle 3">
            <a:extLst>
              <a:ext uri="{FF2B5EF4-FFF2-40B4-BE49-F238E27FC236}">
                <a16:creationId xmlns:a16="http://schemas.microsoft.com/office/drawing/2014/main" id="{73E61C90-2A38-A801-535F-21A7FFFC46BB}"/>
              </a:ext>
            </a:extLst>
          </p:cNvPr>
          <p:cNvSpPr txBox="1">
            <a:spLocks noChangeArrowheads="1"/>
          </p:cNvSpPr>
          <p:nvPr/>
        </p:nvSpPr>
        <p:spPr>
          <a:xfrm>
            <a:off x="481700" y="1439681"/>
            <a:ext cx="8730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对符号表进行操作的时机</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定义性出现</a:t>
            </a:r>
            <a:endPar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1143000" marR="0" lvl="2" indent="-2286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en-US" altLang="zh-CN" sz="24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int index</a:t>
            </a:r>
            <a:endParaRPr kumimoji="0" lang="en-US" altLang="zh-CN" sz="2400" b="0" i="0" u="none" strike="noStrike" kern="1200" cap="none" spc="0" normalizeH="0" baseline="0" noProof="1">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使用性出现</a:t>
            </a:r>
            <a:endPar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1143000" marR="0" lvl="2" indent="-2286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if  </a:t>
            </a:r>
            <a:r>
              <a:rPr kumimoji="0" lang="en-US" altLang="zh-CN" sz="24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index &lt; 100 </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36</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409262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p:cNvSpPr>
          <p:nvPr>
            <p:ph type="body" idx="4294967295"/>
          </p:nvPr>
        </p:nvSpPr>
        <p:spPr>
          <a:xfrm>
            <a:off x="503238" y="1512888"/>
            <a:ext cx="9069387" cy="4402137"/>
          </a:xfrm>
        </p:spPr>
        <p:txBody>
          <a:bodyPr wrap="square" lIns="0" tIns="22680" rIns="0" bIns="0" anchor="t" anchorCtr="0"/>
          <a:lstStyle/>
          <a:p>
            <a:pPr marL="0" indent="0" eaLnBrk="1" hangingPunct="1">
              <a:lnSpc>
                <a:spcPct val="120000"/>
              </a:lnSpc>
              <a:buNone/>
            </a:pPr>
            <a:r>
              <a:rPr lang="zh-CN" altLang="en-US" sz="4000" b="1" dirty="0">
                <a:latin typeface="楷体_GB2312" panose="02010609030101010101" charset="-122"/>
                <a:ea typeface="楷体_GB2312" panose="02010609030101010101" charset="-122"/>
              </a:rPr>
              <a:t>名字域：名字多长？</a:t>
            </a:r>
          </a:p>
          <a:p>
            <a:pPr marL="0" indent="0" eaLnBrk="1" hangingPunct="1">
              <a:buNone/>
            </a:pPr>
            <a:r>
              <a:rPr lang="zh-CN" altLang="en-US" sz="4000" b="1" dirty="0">
                <a:latin typeface="楷体_GB2312" panose="02010609030101010101" charset="-122"/>
                <a:ea typeface="楷体_GB2312" panose="02010609030101010101" charset="-122"/>
              </a:rPr>
              <a:t>名字域如何实现？</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直接存储：</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每个标识符分配最大允许空间</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间接表技术</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名字域存放指针</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endParaRPr lang="zh-CN" altLang="en-US" sz="4000" b="1" dirty="0">
              <a:latin typeface="楷体_GB2312" panose="02010609030101010101" charset="-122"/>
              <a:ea typeface="楷体_GB2312" panose="02010609030101010101" charset="-122"/>
            </a:endParaRPr>
          </a:p>
        </p:txBody>
      </p:sp>
      <p:sp>
        <p:nvSpPr>
          <p:cNvPr id="36866" name="Rectangle 2"/>
          <p:cNvSpPr>
            <a:spLocks noGrp="1"/>
          </p:cNvSpPr>
          <p:nvPr>
            <p:ph type="title" idx="4294967295"/>
          </p:nvPr>
        </p:nvSpPr>
        <p:spPr/>
        <p:txBody>
          <a:bodyPr wrap="square" lIns="0" tIns="0" rIns="0" bIns="0" anchor="ctr" anchorCtr="0"/>
          <a:lstStyle/>
          <a:p>
            <a:pPr eaLnBrk="1" hangingPunct="1"/>
            <a:r>
              <a:rPr lang="zh-CN" altLang="en-US" dirty="0"/>
              <a:t>符号表</a:t>
            </a:r>
            <a:endParaRPr lang="zh-CN" altLang="en-US" dirty="0">
              <a:solidFill>
                <a:schemeClr val="tx1"/>
              </a:solidFill>
              <a:latin typeface="仿宋_GB2312" panose="02010609030101010101" pitchFamily="1" charset="-122"/>
              <a:ea typeface="仿宋_GB2312" panose="02010609030101010101" pitchFamily="1" charset="-122"/>
            </a:endParaRPr>
          </a:p>
        </p:txBody>
      </p:sp>
      <p:sp>
        <p:nvSpPr>
          <p:cNvPr id="36867" name="Footer Placeholder 5"/>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6868"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37</a:t>
            </a:fld>
            <a:endParaRPr lang="en-GB" altLang="en-US" sz="1200" dirty="0">
              <a:latin typeface="Comic Sans MS" panose="030F0702030302020204" pitchFamily="2" charset="0"/>
              <a:ea typeface="宋体" panose="02010600030101010101" pitchFamily="2" charset="-122"/>
            </a:endParaRPr>
          </a:p>
        </p:txBody>
      </p:sp>
      <p:sp>
        <p:nvSpPr>
          <p:cNvPr id="36869" name="Date Placeholder 6"/>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28679" name="Rectangle 6"/>
          <p:cNvSpPr/>
          <p:nvPr/>
        </p:nvSpPr>
        <p:spPr>
          <a:xfrm>
            <a:off x="4961255" y="1424305"/>
            <a:ext cx="5119370" cy="1169670"/>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lstStyle/>
          <a:p>
            <a:pPr indent="0" hangingPunct="0"/>
            <a:r>
              <a:rPr lang="en-US" altLang="zh-CN" sz="2000" dirty="0">
                <a:solidFill>
                  <a:schemeClr val="tx1"/>
                </a:solidFill>
                <a:latin typeface="Times New Roman" panose="02060603050605020204" pitchFamily="2" charset="0"/>
                <a:ea typeface="宋体" panose="02010600030101010101" pitchFamily="2" charset="-122"/>
              </a:rPr>
              <a:t>Microsoft</a:t>
            </a:r>
            <a:r>
              <a:rPr lang="zh-CN" altLang="en-US" sz="2000" dirty="0">
                <a:solidFill>
                  <a:schemeClr val="tx1"/>
                </a:solidFill>
                <a:latin typeface="Times New Roman" panose="02060603050605020204" pitchFamily="2" charset="0"/>
                <a:ea typeface="宋体" panose="02010600030101010101" pitchFamily="2" charset="-122"/>
              </a:rPr>
              <a:t>： </a:t>
            </a:r>
            <a:r>
              <a:rPr lang="en-US" altLang="zh-CN" sz="2000" dirty="0">
                <a:solidFill>
                  <a:schemeClr val="tx1"/>
                </a:solidFill>
                <a:latin typeface="Times New Roman" panose="02060603050605020204" pitchFamily="2" charset="0"/>
                <a:ea typeface="宋体" panose="02010600030101010101" pitchFamily="2" charset="-122"/>
              </a:rPr>
              <a:t> the first 2048 characters</a:t>
            </a:r>
          </a:p>
          <a:p>
            <a:pPr indent="0" hangingPunct="0"/>
            <a:endParaRPr lang="en-US" altLang="zh-CN" sz="2000" dirty="0">
              <a:solidFill>
                <a:schemeClr val="tx1"/>
              </a:solidFill>
              <a:latin typeface="Times New Roman" panose="02060603050605020204" pitchFamily="2" charset="0"/>
              <a:ea typeface="宋体" panose="02010600030101010101" pitchFamily="2" charset="-122"/>
            </a:endParaRPr>
          </a:p>
          <a:p>
            <a:pPr indent="0" hangingPunct="0"/>
            <a:r>
              <a:rPr lang="en-US" altLang="zh-CN" sz="2000" dirty="0">
                <a:solidFill>
                  <a:schemeClr val="tx1"/>
                </a:solidFill>
                <a:latin typeface="Times New Roman" panose="02060603050605020204" pitchFamily="2" charset="0"/>
                <a:ea typeface="宋体" panose="02010600030101010101" pitchFamily="2" charset="-122"/>
              </a:rPr>
              <a:t>GCC:             no limit</a:t>
            </a:r>
          </a:p>
        </p:txBody>
      </p:sp>
      <p:pic>
        <p:nvPicPr>
          <p:cNvPr id="3" name="图片 2">
            <a:extLst>
              <a:ext uri="{FF2B5EF4-FFF2-40B4-BE49-F238E27FC236}">
                <a16:creationId xmlns:a16="http://schemas.microsoft.com/office/drawing/2014/main" id="{819C6AD1-AFB2-611F-8386-921D58DCA02E}"/>
              </a:ext>
            </a:extLst>
          </p:cNvPr>
          <p:cNvPicPr>
            <a:picLocks noChangeAspect="1"/>
          </p:cNvPicPr>
          <p:nvPr/>
        </p:nvPicPr>
        <p:blipFill>
          <a:blip r:embed="rId2"/>
          <a:stretch>
            <a:fillRect/>
          </a:stretch>
        </p:blipFill>
        <p:spPr>
          <a:xfrm>
            <a:off x="945039" y="1766787"/>
            <a:ext cx="7200480" cy="2037707"/>
          </a:xfrm>
          <a:prstGeom prst="rect">
            <a:avLst/>
          </a:prstGeom>
        </p:spPr>
      </p:pic>
      <p:pic>
        <p:nvPicPr>
          <p:cNvPr id="5" name="图片 4">
            <a:extLst>
              <a:ext uri="{FF2B5EF4-FFF2-40B4-BE49-F238E27FC236}">
                <a16:creationId xmlns:a16="http://schemas.microsoft.com/office/drawing/2014/main" id="{DBB399BF-ADC2-2722-D3F5-0CECE65CCB2E}"/>
              </a:ext>
            </a:extLst>
          </p:cNvPr>
          <p:cNvPicPr>
            <a:picLocks noChangeAspect="1"/>
          </p:cNvPicPr>
          <p:nvPr/>
        </p:nvPicPr>
        <p:blipFill>
          <a:blip r:embed="rId3"/>
          <a:stretch>
            <a:fillRect/>
          </a:stretch>
        </p:blipFill>
        <p:spPr>
          <a:xfrm>
            <a:off x="947903" y="3848786"/>
            <a:ext cx="7197616" cy="251529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9"/>
                                        </p:tgtEl>
                                        <p:attrNameLst>
                                          <p:attrName>style.visibility</p:attrName>
                                        </p:attrNameLst>
                                      </p:cBhvr>
                                      <p:to>
                                        <p:strVal val="visible"/>
                                      </p:to>
                                    </p:set>
                                    <p:animEffect transition="in" filter="blinds(horizontal)">
                                      <p:cBhvr>
                                        <p:cTn id="7" dur="500"/>
                                        <p:tgtEl>
                                          <p:spTgt spid="286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4">
                                            <p:txEl>
                                              <p:pRg st="2" end="2"/>
                                            </p:txEl>
                                          </p:spTgt>
                                        </p:tgtEl>
                                        <p:attrNameLst>
                                          <p:attrName>style.visibility</p:attrName>
                                        </p:attrNameLst>
                                      </p:cBhvr>
                                      <p:to>
                                        <p:strVal val="visible"/>
                                      </p:to>
                                    </p:set>
                                    <p:animEffect transition="in" filter="blinds(horizontal)">
                                      <p:cBhvr>
                                        <p:cTn id="12" dur="500"/>
                                        <p:tgtEl>
                                          <p:spTgt spid="28674">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8674">
                                            <p:txEl>
                                              <p:pRg st="3" end="3"/>
                                            </p:txEl>
                                          </p:spTgt>
                                        </p:tgtEl>
                                        <p:attrNameLst>
                                          <p:attrName>style.visibility</p:attrName>
                                        </p:attrNameLst>
                                      </p:cBhvr>
                                      <p:to>
                                        <p:strVal val="visible"/>
                                      </p:to>
                                    </p:set>
                                    <p:animEffect transition="in" filter="blinds(horizontal)">
                                      <p:cBhvr>
                                        <p:cTn id="15" dur="500"/>
                                        <p:tgtEl>
                                          <p:spTgt spid="2867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8674">
                                            <p:txEl>
                                              <p:pRg st="4" end="4"/>
                                            </p:txEl>
                                          </p:spTgt>
                                        </p:tgtEl>
                                        <p:attrNameLst>
                                          <p:attrName>style.visibility</p:attrName>
                                        </p:attrNameLst>
                                      </p:cBhvr>
                                      <p:to>
                                        <p:strVal val="visible"/>
                                      </p:to>
                                    </p:set>
                                    <p:animEffect transition="in" filter="blinds(horizontal)">
                                      <p:cBhvr>
                                        <p:cTn id="20" dur="500"/>
                                        <p:tgtEl>
                                          <p:spTgt spid="28674">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8674">
                                            <p:txEl>
                                              <p:pRg st="5" end="5"/>
                                            </p:txEl>
                                          </p:spTgt>
                                        </p:tgtEl>
                                        <p:attrNameLst>
                                          <p:attrName>style.visibility</p:attrName>
                                        </p:attrNameLst>
                                      </p:cBhvr>
                                      <p:to>
                                        <p:strVal val="visible"/>
                                      </p:to>
                                    </p:set>
                                    <p:animEffect transition="in" filter="blinds(horizontal)">
                                      <p:cBhvr>
                                        <p:cTn id="23" dur="500"/>
                                        <p:tgtEl>
                                          <p:spTgt spid="28674">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8674">
                                            <p:txEl>
                                              <p:pRg st="6" end="6"/>
                                            </p:txEl>
                                          </p:spTgt>
                                        </p:tgtEl>
                                        <p:attrNameLst>
                                          <p:attrName>style.visibility</p:attrName>
                                        </p:attrNameLst>
                                      </p:cBhvr>
                                      <p:to>
                                        <p:strVal val="visible"/>
                                      </p:to>
                                    </p:set>
                                    <p:animEffect transition="in" filter="blinds(horizontal)">
                                      <p:cBhvr>
                                        <p:cTn id="28" dur="500"/>
                                        <p:tgtEl>
                                          <p:spTgt spid="28674">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p:cNvSpPr>
          <p:nvPr>
            <p:ph type="body" idx="4294967295"/>
          </p:nvPr>
        </p:nvSpPr>
        <p:spPr>
          <a:xfrm>
            <a:off x="833438" y="1395413"/>
            <a:ext cx="8977192" cy="5219700"/>
          </a:xfrm>
        </p:spPr>
        <p:txBody>
          <a:bodyPr wrap="square" lIns="0" tIns="22680" rIns="0" bIns="0" anchor="t" anchorCtr="0"/>
          <a:lstStyle/>
          <a:p>
            <a:pPr marL="0" indent="0" eaLnBrk="1" hangingPunct="1">
              <a:lnSpc>
                <a:spcPct val="120000"/>
              </a:lnSpc>
              <a:spcAft>
                <a:spcPct val="0"/>
              </a:spcAft>
              <a:buNone/>
            </a:pPr>
            <a:r>
              <a:rPr lang="zh-CN" altLang="en-US" sz="4000" b="1" dirty="0">
                <a:latin typeface="楷体_GB2312" panose="02010609030101010101" charset="-122"/>
                <a:ea typeface="楷体_GB2312" panose="02010609030101010101" charset="-122"/>
              </a:rPr>
              <a:t>属性域</a:t>
            </a:r>
            <a:endParaRPr lang="en-US" altLang="zh-CN" sz="4000"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latin typeface="楷体_GB2312" panose="02010609030101010101" charset="-122"/>
                <a:ea typeface="楷体_GB2312" panose="02010609030101010101" charset="-122"/>
              </a:rPr>
              <a:t>    </a:t>
            </a:r>
            <a:r>
              <a:rPr lang="zh-CN" altLang="en-US" b="1" dirty="0">
                <a:latin typeface="楷体_GB2312" panose="02010609030101010101" charset="-122"/>
                <a:ea typeface="楷体_GB2312" panose="02010609030101010101" charset="-122"/>
              </a:rPr>
              <a:t>多个</a:t>
            </a:r>
            <a:r>
              <a:rPr lang="zh-CN" altLang="en-US" b="1" dirty="0">
                <a:solidFill>
                  <a:srgbClr val="0000FF"/>
                </a:solidFill>
                <a:latin typeface="楷体_GB2312" panose="02010609030101010101" charset="-122"/>
                <a:ea typeface="楷体_GB2312" panose="02010609030101010101" charset="-122"/>
              </a:rPr>
              <a:t>子域</a:t>
            </a:r>
            <a:r>
              <a:rPr lang="zh-CN" altLang="en-US" b="1" dirty="0">
                <a:latin typeface="楷体_GB2312" panose="02010609030101010101" charset="-122"/>
                <a:ea typeface="楷体_GB2312" panose="02010609030101010101" charset="-122"/>
              </a:rPr>
              <a:t>及</a:t>
            </a:r>
            <a:r>
              <a:rPr lang="zh-CN" altLang="en-US" b="1" dirty="0">
                <a:solidFill>
                  <a:srgbClr val="0000FF"/>
                </a:solidFill>
                <a:latin typeface="楷体_GB2312" panose="02010609030101010101" charset="-122"/>
                <a:ea typeface="楷体_GB2312" panose="02010609030101010101" charset="-122"/>
              </a:rPr>
              <a:t>标志位</a:t>
            </a:r>
            <a:endParaRPr lang="zh-CN" altLang="en-US"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latin typeface="楷体_GB2312" panose="02010609030101010101" charset="-122"/>
                <a:ea typeface="楷体_GB2312" panose="02010609030101010101" charset="-122"/>
              </a:rPr>
              <a:t>单词记号：标识符、数字、符号</a:t>
            </a:r>
            <a:endParaRPr lang="en-US" altLang="zh-CN" sz="4000"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solidFill>
                  <a:schemeClr val="accent2"/>
                </a:solidFill>
                <a:latin typeface="楷体_GB2312" panose="02010609030101010101" charset="-122"/>
                <a:ea typeface="楷体_GB2312" panose="02010609030101010101" charset="-122"/>
              </a:rPr>
              <a:t>标识符</a:t>
            </a:r>
            <a:r>
              <a:rPr lang="zh-CN" altLang="en-US" sz="4000" b="1" dirty="0">
                <a:latin typeface="楷体_GB2312" panose="02010609030101010101" charset="-122"/>
                <a:ea typeface="楷体_GB2312" panose="02010609030101010101" charset="-122"/>
              </a:rPr>
              <a:t>：</a:t>
            </a:r>
            <a:r>
              <a:rPr lang="zh-CN" altLang="en-US" sz="4000" b="1" dirty="0">
                <a:solidFill>
                  <a:srgbClr val="7030A0"/>
                </a:solidFill>
                <a:latin typeface="楷体_GB2312" panose="02010609030101010101" charset="-122"/>
                <a:ea typeface="楷体_GB2312" panose="02010609030101010101" charset="-122"/>
              </a:rPr>
              <a:t>变量？函数名？标号</a:t>
            </a:r>
            <a:r>
              <a:rPr lang="zh-CN" altLang="en-US" sz="4000" b="1" dirty="0">
                <a:latin typeface="楷体_GB2312" panose="02010609030101010101" charset="-122"/>
                <a:ea typeface="楷体_GB2312" panose="02010609030101010101" charset="-122"/>
              </a:rPr>
              <a:t>？</a:t>
            </a:r>
            <a:r>
              <a:rPr lang="zh-CN" altLang="en-US" sz="4000" b="1" dirty="0">
                <a:latin typeface="楷体_GB2312" panose="02010609030101010101" charset="-122"/>
              </a:rPr>
              <a:t>关键字？</a:t>
            </a:r>
            <a:endParaRPr lang="en-US" altLang="zh-CN" sz="4000"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solidFill>
                  <a:srgbClr val="7030A0"/>
                </a:solidFill>
                <a:latin typeface="楷体_GB2312" panose="02010609030101010101" charset="-122"/>
                <a:ea typeface="楷体_GB2312" panose="02010609030101010101" charset="-122"/>
              </a:rPr>
              <a:t>变量</a:t>
            </a:r>
            <a:r>
              <a:rPr lang="zh-CN" altLang="en-US" sz="4000" b="1" dirty="0">
                <a:latin typeface="楷体_GB2312" panose="02010609030101010101" charset="-122"/>
                <a:ea typeface="楷体_GB2312" panose="02010609030101010101" charset="-122"/>
              </a:rPr>
              <a:t>：类型？有初值？</a:t>
            </a:r>
            <a:endParaRPr lang="en-US" altLang="zh-CN" sz="4000"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solidFill>
                  <a:srgbClr val="7030A0"/>
                </a:solidFill>
                <a:latin typeface="楷体_GB2312" panose="02010609030101010101" charset="-122"/>
                <a:ea typeface="楷体_GB2312" panose="02010609030101010101" charset="-122"/>
              </a:rPr>
              <a:t>函数</a:t>
            </a:r>
            <a:r>
              <a:rPr lang="zh-CN" altLang="en-US" sz="4000" b="1" dirty="0">
                <a:latin typeface="楷体_GB2312" panose="02010609030101010101" charset="-122"/>
                <a:ea typeface="楷体_GB2312" panose="02010609030101010101" charset="-122"/>
              </a:rPr>
              <a:t>：返回类型？参数个数、类型等</a:t>
            </a:r>
            <a:endParaRPr lang="en-US" altLang="zh-CN" sz="4000" b="1" dirty="0">
              <a:latin typeface="楷体_GB2312" panose="02010609030101010101" charset="-122"/>
              <a:ea typeface="楷体_GB2312" panose="02010609030101010101" charset="-122"/>
            </a:endParaRPr>
          </a:p>
          <a:p>
            <a:pPr marL="0" indent="0" eaLnBrk="1" hangingPunct="1">
              <a:lnSpc>
                <a:spcPct val="120000"/>
              </a:lnSpc>
              <a:spcAft>
                <a:spcPct val="0"/>
              </a:spcAft>
              <a:buNone/>
            </a:pPr>
            <a:r>
              <a:rPr lang="zh-CN" altLang="en-US" sz="4000" b="1" dirty="0">
                <a:solidFill>
                  <a:srgbClr val="7030A0"/>
                </a:solidFill>
                <a:latin typeface="楷体_GB2312" panose="02010609030101010101" charset="-122"/>
                <a:ea typeface="楷体_GB2312" panose="02010609030101010101" charset="-122"/>
              </a:rPr>
              <a:t>标号</a:t>
            </a:r>
            <a:r>
              <a:rPr lang="zh-CN" altLang="en-US" sz="4000" b="1" dirty="0">
                <a:latin typeface="楷体_GB2312" panose="02010609030101010101" charset="-122"/>
                <a:ea typeface="楷体_GB2312" panose="02010609030101010101" charset="-122"/>
              </a:rPr>
              <a:t>：标号地址、转移地址</a:t>
            </a:r>
          </a:p>
        </p:txBody>
      </p:sp>
      <p:sp>
        <p:nvSpPr>
          <p:cNvPr id="37890" name="Rectangle 2"/>
          <p:cNvSpPr>
            <a:spLocks noGrp="1"/>
          </p:cNvSpPr>
          <p:nvPr>
            <p:ph type="title" idx="4294967295"/>
          </p:nvPr>
        </p:nvSpPr>
        <p:spPr/>
        <p:txBody>
          <a:bodyPr wrap="square" lIns="0" tIns="0" rIns="0" bIns="0" anchor="ctr" anchorCtr="0"/>
          <a:lstStyle/>
          <a:p>
            <a:pPr eaLnBrk="1" hangingPunct="1"/>
            <a:r>
              <a:rPr lang="zh-CN" altLang="en-US" dirty="0"/>
              <a:t>符号表</a:t>
            </a:r>
            <a:endParaRPr lang="zh-CN" altLang="en-US" dirty="0">
              <a:solidFill>
                <a:schemeClr val="tx1"/>
              </a:solidFill>
              <a:latin typeface="仿宋_GB2312" panose="02010609030101010101" pitchFamily="1" charset="-122"/>
              <a:ea typeface="仿宋_GB2312" panose="02010609030101010101" pitchFamily="1" charset="-122"/>
            </a:endParaRPr>
          </a:p>
        </p:txBody>
      </p:sp>
      <p:sp>
        <p:nvSpPr>
          <p:cNvPr id="37891" name="Footer Placeholder 5"/>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7892"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38</a:t>
            </a:fld>
            <a:endParaRPr lang="en-GB" altLang="en-US" sz="1200" dirty="0">
              <a:latin typeface="Comic Sans MS" panose="030F0702030302020204" pitchFamily="2" charset="0"/>
              <a:ea typeface="宋体" panose="02010600030101010101" pitchFamily="2" charset="-122"/>
            </a:endParaRPr>
          </a:p>
        </p:txBody>
      </p:sp>
      <p:sp>
        <p:nvSpPr>
          <p:cNvPr id="37893" name="Date Placeholder 6"/>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0">
                                            <p:txEl>
                                              <p:pRg st="2" end="2"/>
                                            </p:txEl>
                                          </p:spTgt>
                                        </p:tgtEl>
                                        <p:attrNameLst>
                                          <p:attrName>style.visibility</p:attrName>
                                        </p:attrNameLst>
                                      </p:cBhvr>
                                      <p:to>
                                        <p:strVal val="visible"/>
                                      </p:to>
                                    </p:set>
                                    <p:animEffect transition="in" filter="blinds(horizontal)">
                                      <p:cBhvr>
                                        <p:cTn id="7" dur="500"/>
                                        <p:tgtEl>
                                          <p:spTgt spid="2765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0">
                                            <p:txEl>
                                              <p:pRg st="3" end="3"/>
                                            </p:txEl>
                                          </p:spTgt>
                                        </p:tgtEl>
                                        <p:attrNameLst>
                                          <p:attrName>style.visibility</p:attrName>
                                        </p:attrNameLst>
                                      </p:cBhvr>
                                      <p:to>
                                        <p:strVal val="visible"/>
                                      </p:to>
                                    </p:set>
                                    <p:animEffect transition="in" filter="blinds(horizontal)">
                                      <p:cBhvr>
                                        <p:cTn id="12" dur="500"/>
                                        <p:tgtEl>
                                          <p:spTgt spid="2765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50">
                                            <p:txEl>
                                              <p:pRg st="4" end="4"/>
                                            </p:txEl>
                                          </p:spTgt>
                                        </p:tgtEl>
                                        <p:attrNameLst>
                                          <p:attrName>style.visibility</p:attrName>
                                        </p:attrNameLst>
                                      </p:cBhvr>
                                      <p:to>
                                        <p:strVal val="visible"/>
                                      </p:to>
                                    </p:set>
                                    <p:animEffect transition="in" filter="blinds(horizontal)">
                                      <p:cBhvr>
                                        <p:cTn id="17" dur="500"/>
                                        <p:tgtEl>
                                          <p:spTgt spid="2765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0">
                                            <p:txEl>
                                              <p:pRg st="5" end="5"/>
                                            </p:txEl>
                                          </p:spTgt>
                                        </p:tgtEl>
                                        <p:attrNameLst>
                                          <p:attrName>style.visibility</p:attrName>
                                        </p:attrNameLst>
                                      </p:cBhvr>
                                      <p:to>
                                        <p:strVal val="visible"/>
                                      </p:to>
                                    </p:set>
                                    <p:animEffect transition="in" filter="blinds(horizontal)">
                                      <p:cBhvr>
                                        <p:cTn id="22" dur="500"/>
                                        <p:tgtEl>
                                          <p:spTgt spid="27650">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50">
                                            <p:txEl>
                                              <p:pRg st="6" end="6"/>
                                            </p:txEl>
                                          </p:spTgt>
                                        </p:tgtEl>
                                        <p:attrNameLst>
                                          <p:attrName>style.visibility</p:attrName>
                                        </p:attrNameLst>
                                      </p:cBhvr>
                                      <p:to>
                                        <p:strVal val="visible"/>
                                      </p:to>
                                    </p:set>
                                    <p:animEffect transition="in" filter="blinds(horizontal)">
                                      <p:cBhvr>
                                        <p:cTn id="27" dur="500"/>
                                        <p:tgtEl>
                                          <p:spTgt spid="2765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idx="4294967295"/>
          </p:nvPr>
        </p:nvSpPr>
        <p:spPr/>
        <p:txBody>
          <a:bodyPr wrap="square" lIns="0" tIns="0" rIns="0" bIns="0" anchor="ctr" anchorCtr="0"/>
          <a:lstStyle/>
          <a:p>
            <a:pPr eaLnBrk="1" hangingPunct="1"/>
            <a:r>
              <a:rPr lang="zh-CN" altLang="en-US" dirty="0"/>
              <a:t>出错处理</a:t>
            </a:r>
          </a:p>
        </p:txBody>
      </p:sp>
      <p:sp>
        <p:nvSpPr>
          <p:cNvPr id="29699" name="Rectangle 3"/>
          <p:cNvSpPr>
            <a:spLocks noGrp="1"/>
          </p:cNvSpPr>
          <p:nvPr>
            <p:ph type="body" idx="4294967295"/>
          </p:nvPr>
        </p:nvSpPr>
        <p:spPr>
          <a:xfrm>
            <a:off x="503238" y="1512888"/>
            <a:ext cx="9069387" cy="4383087"/>
          </a:xfrm>
        </p:spPr>
        <p:txBody>
          <a:bodyPr wrap="square" lIns="0" tIns="22680" rIns="0" bIns="0" anchor="t" anchorCtr="0"/>
          <a:lstStyle/>
          <a:p>
            <a:pPr marL="0" indent="0" eaLnBrk="1" hangingPunct="1">
              <a:buNone/>
            </a:pPr>
            <a:r>
              <a:rPr lang="zh-CN" altLang="en-US" sz="4000" b="1" dirty="0">
                <a:latin typeface="楷体_GB2312" panose="02010609030101010101" charset="-122"/>
                <a:ea typeface="楷体_GB2312" panose="02010609030101010101" charset="-122"/>
              </a:rPr>
              <a:t>为什么需要出错处理？  </a:t>
            </a:r>
            <a:endParaRPr lang="en-US" altLang="zh-CN" sz="4000" b="1" dirty="0">
              <a:latin typeface="楷体_GB2312" panose="02010609030101010101" charset="-122"/>
              <a:ea typeface="楷体_GB2312" panose="02010609030101010101" charset="-122"/>
            </a:endParaRPr>
          </a:p>
          <a:p>
            <a:pPr marL="0" indent="0" eaLnBrk="1" hangingPunct="1">
              <a:buNone/>
            </a:pPr>
            <a:r>
              <a:rPr lang="zh-CN" altLang="en-US" sz="4000" b="1" dirty="0">
                <a:latin typeface="楷体_GB2312" panose="02010609030101010101" charset="-122"/>
                <a:ea typeface="楷体_GB2312" panose="02010609030101010101" charset="-122"/>
              </a:rPr>
              <a:t>   编译各个阶段都可能发现错误</a:t>
            </a:r>
            <a:endParaRPr lang="en-US" altLang="zh-CN" sz="4000" b="1" dirty="0">
              <a:latin typeface="楷体_GB2312" panose="02010609030101010101" charset="-122"/>
              <a:ea typeface="楷体_GB2312" panose="02010609030101010101" charset="-122"/>
            </a:endParaRPr>
          </a:p>
          <a:p>
            <a:pPr marL="0" indent="0" eaLnBrk="1" hangingPunct="1">
              <a:buNone/>
            </a:pPr>
            <a:r>
              <a:rPr lang="zh-CN" altLang="en-US" sz="4000" b="1" dirty="0">
                <a:latin typeface="楷体_GB2312" panose="02010609030101010101" charset="-122"/>
                <a:ea typeface="楷体_GB2312" panose="02010609030101010101" charset="-122"/>
              </a:rPr>
              <a:t>出错处理的内容</a:t>
            </a:r>
            <a:endParaRPr lang="en-US" altLang="zh-CN" sz="4000" b="1" dirty="0">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报告错误的</a:t>
            </a:r>
            <a:r>
              <a:rPr lang="zh-CN" altLang="en-US" sz="4000" b="1" dirty="0">
                <a:solidFill>
                  <a:srgbClr val="FF0000"/>
                </a:solidFill>
                <a:latin typeface="楷体_GB2312" panose="02010609030101010101" charset="-122"/>
                <a:ea typeface="楷体_GB2312" panose="02010609030101010101" charset="-122"/>
              </a:rPr>
              <a:t>性质</a:t>
            </a:r>
            <a:r>
              <a:rPr lang="zh-CN" altLang="en-US" sz="4000" b="1" dirty="0">
                <a:latin typeface="楷体_GB2312" panose="02010609030101010101" charset="-122"/>
                <a:ea typeface="楷体_GB2312" panose="02010609030101010101" charset="-122"/>
              </a:rPr>
              <a:t>、</a:t>
            </a:r>
            <a:r>
              <a:rPr lang="zh-CN" altLang="en-US" sz="4000" b="1" dirty="0">
                <a:solidFill>
                  <a:srgbClr val="FF0000"/>
                </a:solidFill>
                <a:latin typeface="楷体_GB2312" panose="02010609030101010101" charset="-122"/>
                <a:ea typeface="楷体_GB2312" panose="02010609030101010101" charset="-122"/>
              </a:rPr>
              <a:t>位置</a:t>
            </a:r>
            <a:endParaRPr lang="en-US" altLang="zh-CN" sz="4000" b="1" dirty="0">
              <a:solidFill>
                <a:srgbClr val="FF0000"/>
              </a:solidFill>
              <a:latin typeface="楷体_GB2312" panose="02010609030101010101" charset="-122"/>
              <a:ea typeface="楷体_GB2312" panose="02010609030101010101" charset="-122"/>
            </a:endParaRPr>
          </a:p>
          <a:p>
            <a:pPr marL="0" indent="0" eaLnBrk="1" hangingPunct="1">
              <a:buNone/>
            </a:pPr>
            <a:r>
              <a:rPr lang="en-US" altLang="zh-CN" sz="4000" b="1" dirty="0">
                <a:latin typeface="楷体_GB2312" panose="02010609030101010101" charset="-122"/>
                <a:ea typeface="楷体_GB2312" panose="02010609030101010101" charset="-122"/>
              </a:rPr>
              <a:t>    </a:t>
            </a:r>
            <a:r>
              <a:rPr lang="zh-CN" altLang="en-US" sz="4000" b="1" dirty="0">
                <a:latin typeface="楷体_GB2312" panose="02010609030101010101" charset="-122"/>
                <a:ea typeface="楷体_GB2312" panose="02010609030101010101" charset="-122"/>
              </a:rPr>
              <a:t>尽量缩小范围、查找出更多的错误</a:t>
            </a:r>
          </a:p>
        </p:txBody>
      </p:sp>
      <p:sp>
        <p:nvSpPr>
          <p:cNvPr id="38915" name="Footer Placeholder 5"/>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8916"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39</a:t>
            </a:fld>
            <a:endParaRPr lang="en-GB" altLang="en-US" sz="1200" dirty="0">
              <a:latin typeface="Comic Sans MS" panose="030F0702030302020204" pitchFamily="2" charset="0"/>
              <a:ea typeface="宋体" panose="02010600030101010101" pitchFamily="2" charset="-122"/>
            </a:endParaRPr>
          </a:p>
        </p:txBody>
      </p:sp>
      <p:sp>
        <p:nvSpPr>
          <p:cNvPr id="38917" name="Date Placeholder 6"/>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2" dur="5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17" dur="500"/>
                                        <p:tgtEl>
                                          <p:spTgt spid="296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22" dur="500"/>
                                        <p:tgtEl>
                                          <p:spTgt spid="296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blinds(horizontal)">
                                      <p:cBhvr>
                                        <p:cTn id="27" dur="500"/>
                                        <p:tgtEl>
                                          <p:spTgt spid="29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txBox="1">
            <a:spLocks noChangeArrowheads="1"/>
          </p:cNvSpPr>
          <p:nvPr/>
        </p:nvSpPr>
        <p:spPr>
          <a:xfrm>
            <a:off x="585015" y="1394678"/>
            <a:ext cx="9090606" cy="4352400"/>
          </a:xfrm>
          <a:prstGeom prst="rect">
            <a:avLst/>
          </a:prstGeom>
        </p:spPr>
        <p:txBody>
          <a:bodyPr/>
          <a:lstStyle>
            <a:lvl1pPr marL="342900" lvl="0" indent="-342900" algn="l" defTabSz="449580" eaLnBrk="0" fontAlgn="base" latinLnBrk="0" hangingPunct="0">
              <a:lnSpc>
                <a:spcPct val="95000"/>
              </a:lnSpc>
              <a:spcBef>
                <a:spcPct val="0"/>
              </a:spcBef>
              <a:spcAft>
                <a:spcPts val="1415"/>
              </a:spcAft>
              <a:buSzPct val="100000"/>
              <a:buFont typeface="Times New Roman" panose="02060603050605020204" pitchFamily="2" charset="0"/>
              <a:buChar char="•"/>
              <a:defRPr sz="3600" b="0" i="0" u="none" kern="1200" baseline="0">
                <a:solidFill>
                  <a:srgbClr val="000000"/>
                </a:solidFill>
                <a:latin typeface="+mn-lt"/>
                <a:ea typeface="楷体_GB2312" panose="02010609030101010101" charset="-122"/>
                <a:cs typeface="+mn-cs"/>
              </a:defRPr>
            </a:lvl1pPr>
            <a:lvl2pPr marL="742950" lvl="1" indent="-285750" algn="l" defTabSz="449580" eaLnBrk="0" fontAlgn="base" latinLnBrk="0" hangingPunct="0">
              <a:lnSpc>
                <a:spcPct val="95000"/>
              </a:lnSpc>
              <a:spcBef>
                <a:spcPct val="0"/>
              </a:spcBef>
              <a:spcAft>
                <a:spcPts val="1140"/>
              </a:spcAft>
              <a:buSzPct val="100000"/>
              <a:buFont typeface="Times New Roman" panose="02060603050605020204" pitchFamily="2" charset="0"/>
              <a:buChar char="–"/>
              <a:defRPr sz="2800" b="0" i="0" u="none" kern="1200" baseline="0">
                <a:solidFill>
                  <a:srgbClr val="000000"/>
                </a:solidFill>
                <a:latin typeface="+mn-lt"/>
                <a:ea typeface="楷体_GB2312" panose="02010609030101010101" charset="-122"/>
                <a:cs typeface="+mn-cs"/>
              </a:defRPr>
            </a:lvl2pPr>
            <a:lvl3pPr marL="1143000" lvl="2" indent="-228600" algn="l" defTabSz="449580" eaLnBrk="0" fontAlgn="base" latinLnBrk="0" hangingPunct="0">
              <a:lnSpc>
                <a:spcPct val="95000"/>
              </a:lnSpc>
              <a:spcBef>
                <a:spcPct val="0"/>
              </a:spcBef>
              <a:spcAft>
                <a:spcPts val="850"/>
              </a:spcAft>
              <a:buSzPct val="100000"/>
              <a:buFont typeface="Times New Roman" panose="02060603050605020204" pitchFamily="2" charset="0"/>
              <a:buChar char="•"/>
              <a:defRPr sz="2400" b="0" i="0" u="none" kern="1200" baseline="0">
                <a:solidFill>
                  <a:srgbClr val="000000"/>
                </a:solidFill>
                <a:latin typeface="+mn-lt"/>
                <a:ea typeface="楷体_GB2312" panose="02010609030101010101" charset="-122"/>
                <a:cs typeface="+mn-cs"/>
              </a:defRPr>
            </a:lvl3pPr>
            <a:lvl4pPr marL="1600200" lvl="3" indent="-228600" algn="l" defTabSz="449580" eaLnBrk="0" fontAlgn="base" latinLnBrk="0" hangingPunct="0">
              <a:lnSpc>
                <a:spcPct val="95000"/>
              </a:lnSpc>
              <a:spcBef>
                <a:spcPct val="0"/>
              </a:spcBef>
              <a:spcAft>
                <a:spcPts val="575"/>
              </a:spcAft>
              <a:buSzPct val="100000"/>
              <a:buFont typeface="Times New Roman" panose="02060603050605020204" pitchFamily="2" charset="0"/>
              <a:buChar char="–"/>
              <a:defRPr sz="2000" b="0" i="0" u="none" kern="1200" baseline="0">
                <a:solidFill>
                  <a:srgbClr val="000000"/>
                </a:solidFill>
                <a:latin typeface="+mn-lt"/>
                <a:ea typeface="楷体_GB2312" panose="02010609030101010101" charset="-122"/>
                <a:cs typeface="+mn-cs"/>
              </a:defRPr>
            </a:lvl4pPr>
            <a:lvl5pPr marL="2057400" lvl="4" indent="-2286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楷体_GB2312" panose="0201060903010101010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a:lstStyle>
          <a:p>
            <a:r>
              <a:rPr lang="zh-CN" altLang="en-US" b="1" dirty="0"/>
              <a:t>出错处理程序</a:t>
            </a:r>
          </a:p>
          <a:p>
            <a:pPr lvl="1"/>
            <a:r>
              <a:rPr lang="zh-CN" altLang="en-US" b="1" dirty="0"/>
              <a:t>发现源程序中的错误，把有关错误信息报告给用户</a:t>
            </a:r>
          </a:p>
          <a:p>
            <a:r>
              <a:rPr lang="zh-CN" altLang="en-US" b="1" dirty="0"/>
              <a:t>语法错误</a:t>
            </a:r>
          </a:p>
          <a:p>
            <a:pPr lvl="1"/>
            <a:r>
              <a:rPr lang="zh-CN" altLang="en-US" b="1" dirty="0"/>
              <a:t>源程序中不符合语法（或词法）规则的错误</a:t>
            </a:r>
          </a:p>
          <a:p>
            <a:pPr lvl="1"/>
            <a:r>
              <a:rPr lang="zh-CN" altLang="en-US" b="1" dirty="0"/>
              <a:t>非法字符、括号不匹配、缺少 ；、</a:t>
            </a:r>
            <a:r>
              <a:rPr lang="en-US" altLang="zh-CN" b="1" dirty="0"/>
              <a:t>...</a:t>
            </a:r>
          </a:p>
          <a:p>
            <a:r>
              <a:rPr lang="zh-CN" altLang="en-US" b="1" dirty="0"/>
              <a:t>语义错误</a:t>
            </a:r>
          </a:p>
          <a:p>
            <a:pPr lvl="1"/>
            <a:r>
              <a:rPr lang="zh-CN" altLang="en-US" b="1" dirty="0"/>
              <a:t>源程序中不符合语义规则的错误</a:t>
            </a:r>
          </a:p>
          <a:p>
            <a:pPr lvl="1"/>
            <a:r>
              <a:rPr lang="zh-CN" altLang="en-US" b="1" dirty="0"/>
              <a:t>说明错误、作用域错误、类型不一致、</a:t>
            </a:r>
            <a:r>
              <a:rPr lang="en-US" altLang="zh-CN" b="1" dirty="0"/>
              <a:t>...</a:t>
            </a:r>
          </a:p>
        </p:txBody>
      </p:sp>
      <p:sp>
        <p:nvSpPr>
          <p:cNvPr id="3" name="Rectangle 2"/>
          <p:cNvSpPr txBox="1">
            <a:spLocks/>
          </p:cNvSpPr>
          <p:nvPr/>
        </p:nvSpPr>
        <p:spPr>
          <a:xfrm>
            <a:off x="503238" y="301625"/>
            <a:ext cx="7847012" cy="920750"/>
          </a:xfrm>
          <a:prstGeom prst="rect">
            <a:avLst/>
          </a:prstGeom>
          <a:noFill/>
          <a:ln w="9525">
            <a:noFill/>
          </a:ln>
        </p:spPr>
        <p:txBody>
          <a:bodyPr wrap="square" lIns="0" tIns="0" rIns="0" bIns="0" anchor="ctr" anchorCtr="0"/>
          <a:lst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a:lstStyle>
          <a:p>
            <a:pPr eaLnBrk="1" hangingPunct="1"/>
            <a:r>
              <a:rPr lang="zh-CN" altLang="en-US"/>
              <a:t>出错处理</a:t>
            </a:r>
            <a:endParaRPr lang="zh-CN" altLang="en-US" dirty="0"/>
          </a:p>
        </p:txBody>
      </p:sp>
      <p:sp>
        <p:nvSpPr>
          <p:cNvPr id="4"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40</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127814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blinds(horizontal)">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blinds(horizontal)">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blinds(horizontal)">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blinds(horizontal)">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Effect transition="in" filter="blinds(horizontal)">
                                      <p:cBhvr>
                                        <p:cTn id="4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灯片编号占位符 16"/>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hangingPunct="0">
              <a:lnSpc>
                <a:spcPct val="116000"/>
              </a:lnSpc>
            </a:pPr>
            <a:fld id="{35E71D17-DC5B-4FEA-AB13-8783EE70D8DC}" type="slidenum">
              <a:rPr lang="en-GB" altLang="en-US" sz="1200">
                <a:latin typeface="Comic Sans MS" panose="030F0702030302020204" pitchFamily="66" charset="0"/>
                <a:ea typeface="宋体" panose="02010600030101010101" pitchFamily="2" charset="-122"/>
              </a:rPr>
              <a:pPr algn="r" hangingPunct="0">
                <a:lnSpc>
                  <a:spcPct val="116000"/>
                </a:lnSpc>
              </a:pPr>
              <a:t>41</a:t>
            </a:fld>
            <a:endParaRPr lang="en-GB" altLang="en-US" sz="1200">
              <a:latin typeface="Comic Sans MS" panose="030F0702030302020204" pitchFamily="66" charset="0"/>
              <a:ea typeface="宋体" panose="02010600030101010101" pitchFamily="2" charset="-122"/>
            </a:endParaRPr>
          </a:p>
        </p:txBody>
      </p:sp>
      <p:sp>
        <p:nvSpPr>
          <p:cNvPr id="21" name="Rectangle 4"/>
          <p:cNvSpPr txBox="1">
            <a:spLocks noChangeArrowheads="1"/>
          </p:cNvSpPr>
          <p:nvPr/>
        </p:nvSpPr>
        <p:spPr>
          <a:xfrm>
            <a:off x="585015" y="494618"/>
            <a:ext cx="7887600" cy="1324800"/>
          </a:xfrm>
          <a:prstGeom prst="rect">
            <a:avLst/>
          </a:prstGeom>
        </p:spPr>
        <p:txBody>
          <a:bodyPr/>
          <a:lstStyle>
            <a:lvl1pPr marL="0" lvl="0" indent="0" algn="l" defTabSz="449580" eaLnBrk="0" fontAlgn="base" latinLnBrk="0" hangingPunct="0">
              <a:lnSpc>
                <a:spcPct val="110000"/>
              </a:lnSpc>
              <a:spcBef>
                <a:spcPct val="0"/>
              </a:spcBef>
              <a:spcAft>
                <a:spcPct val="0"/>
              </a:spcAft>
              <a:buSzPct val="100000"/>
              <a:buFont typeface="Times New Roman" panose="02060603050605020204" pitchFamily="2" charset="0"/>
              <a:buNone/>
              <a:defRPr sz="4000" b="0" i="0" u="none" kern="1200" baseline="0">
                <a:solidFill>
                  <a:srgbClr val="000000"/>
                </a:solidFill>
                <a:latin typeface="+mj-lt"/>
                <a:ea typeface="楷体_GB2312" panose="02010609030101010101" charset="-122"/>
                <a:cs typeface="+mj-cs"/>
              </a:defRPr>
            </a:lvl1pPr>
          </a:lstStyle>
          <a:p>
            <a:r>
              <a:rPr lang="zh-CN" altLang="en-US" dirty="0"/>
              <a:t>遍</a:t>
            </a:r>
            <a:r>
              <a:rPr lang="en-US" altLang="zh-CN" dirty="0"/>
              <a:t>(pass)</a:t>
            </a:r>
          </a:p>
        </p:txBody>
      </p:sp>
      <p:sp>
        <p:nvSpPr>
          <p:cNvPr id="22" name="Rectangle 5"/>
          <p:cNvSpPr txBox="1">
            <a:spLocks noChangeArrowheads="1"/>
          </p:cNvSpPr>
          <p:nvPr/>
        </p:nvSpPr>
        <p:spPr>
          <a:xfrm>
            <a:off x="585015" y="1954277"/>
            <a:ext cx="7887600" cy="4352400"/>
          </a:xfrm>
          <a:prstGeom prst="rect">
            <a:avLst/>
          </a:prstGeom>
        </p:spPr>
        <p:txBody>
          <a:bodyPr/>
          <a:lstStyle>
            <a:lvl1pPr marL="342900" lvl="0" indent="-342900" algn="l" defTabSz="449580" eaLnBrk="0" fontAlgn="base" latinLnBrk="0" hangingPunct="0">
              <a:lnSpc>
                <a:spcPct val="95000"/>
              </a:lnSpc>
              <a:spcBef>
                <a:spcPct val="0"/>
              </a:spcBef>
              <a:spcAft>
                <a:spcPts val="1415"/>
              </a:spcAft>
              <a:buSzPct val="100000"/>
              <a:buFont typeface="Times New Roman" panose="02060603050605020204" pitchFamily="2" charset="0"/>
              <a:buChar char="•"/>
              <a:defRPr sz="3600" b="0" i="0" u="none" kern="1200" baseline="0">
                <a:solidFill>
                  <a:srgbClr val="000000"/>
                </a:solidFill>
                <a:latin typeface="+mn-lt"/>
                <a:ea typeface="楷体_GB2312" panose="02010609030101010101" charset="-122"/>
                <a:cs typeface="+mn-cs"/>
              </a:defRPr>
            </a:lvl1pPr>
            <a:lvl2pPr marL="742950" lvl="1" indent="-285750" algn="l" defTabSz="449580" eaLnBrk="0" fontAlgn="base" latinLnBrk="0" hangingPunct="0">
              <a:lnSpc>
                <a:spcPct val="95000"/>
              </a:lnSpc>
              <a:spcBef>
                <a:spcPct val="0"/>
              </a:spcBef>
              <a:spcAft>
                <a:spcPts val="1140"/>
              </a:spcAft>
              <a:buSzPct val="100000"/>
              <a:buFont typeface="Times New Roman" panose="02060603050605020204" pitchFamily="2" charset="0"/>
              <a:buChar char="–"/>
              <a:defRPr sz="2800" b="0" i="0" u="none" kern="1200" baseline="0">
                <a:solidFill>
                  <a:srgbClr val="000000"/>
                </a:solidFill>
                <a:latin typeface="+mn-lt"/>
                <a:ea typeface="楷体_GB2312" panose="02010609030101010101" charset="-122"/>
                <a:cs typeface="+mn-cs"/>
              </a:defRPr>
            </a:lvl2pPr>
            <a:lvl3pPr marL="1143000" lvl="2" indent="-228600" algn="l" defTabSz="449580" eaLnBrk="0" fontAlgn="base" latinLnBrk="0" hangingPunct="0">
              <a:lnSpc>
                <a:spcPct val="95000"/>
              </a:lnSpc>
              <a:spcBef>
                <a:spcPct val="0"/>
              </a:spcBef>
              <a:spcAft>
                <a:spcPts val="850"/>
              </a:spcAft>
              <a:buSzPct val="100000"/>
              <a:buFont typeface="Times New Roman" panose="02060603050605020204" pitchFamily="2" charset="0"/>
              <a:buChar char="•"/>
              <a:defRPr sz="2400" b="0" i="0" u="none" kern="1200" baseline="0">
                <a:solidFill>
                  <a:srgbClr val="000000"/>
                </a:solidFill>
                <a:latin typeface="+mn-lt"/>
                <a:ea typeface="楷体_GB2312" panose="02010609030101010101" charset="-122"/>
                <a:cs typeface="+mn-cs"/>
              </a:defRPr>
            </a:lvl3pPr>
            <a:lvl4pPr marL="1600200" lvl="3" indent="-228600" algn="l" defTabSz="449580" eaLnBrk="0" fontAlgn="base" latinLnBrk="0" hangingPunct="0">
              <a:lnSpc>
                <a:spcPct val="95000"/>
              </a:lnSpc>
              <a:spcBef>
                <a:spcPct val="0"/>
              </a:spcBef>
              <a:spcAft>
                <a:spcPts val="575"/>
              </a:spcAft>
              <a:buSzPct val="100000"/>
              <a:buFont typeface="Times New Roman" panose="02060603050605020204" pitchFamily="2" charset="0"/>
              <a:buChar char="–"/>
              <a:defRPr sz="2000" b="0" i="0" u="none" kern="1200" baseline="0">
                <a:solidFill>
                  <a:srgbClr val="000000"/>
                </a:solidFill>
                <a:latin typeface="+mn-lt"/>
                <a:ea typeface="楷体_GB2312" panose="02010609030101010101" charset="-122"/>
                <a:cs typeface="+mn-cs"/>
              </a:defRPr>
            </a:lvl4pPr>
            <a:lvl5pPr marL="2057400" lvl="4" indent="-2286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楷体_GB2312" panose="0201060903010101010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a:lstStyle>
          <a:p>
            <a:r>
              <a:rPr lang="zh-CN" altLang="en-US" dirty="0"/>
              <a:t>所谓</a:t>
            </a:r>
            <a:r>
              <a:rPr lang="en-US" altLang="zh-CN" dirty="0"/>
              <a:t>"</a:t>
            </a:r>
            <a:r>
              <a:rPr lang="zh-CN" altLang="en-US" dirty="0"/>
              <a:t>遍</a:t>
            </a:r>
            <a:r>
              <a:rPr lang="en-US" altLang="zh-CN" dirty="0"/>
              <a:t>"</a:t>
            </a:r>
            <a:r>
              <a:rPr lang="zh-CN" altLang="en-US" dirty="0"/>
              <a:t>， 就是对源程序或源程序的中间表示从头到尾扫描一次</a:t>
            </a:r>
          </a:p>
          <a:p>
            <a:r>
              <a:rPr lang="zh-CN" altLang="en-US" dirty="0"/>
              <a:t>阶段与遍是不同的概念</a:t>
            </a:r>
          </a:p>
          <a:p>
            <a:pPr lvl="1"/>
            <a:r>
              <a:rPr lang="zh-CN" altLang="en-US" dirty="0"/>
              <a:t>一遍可以由若干段组成</a:t>
            </a:r>
          </a:p>
          <a:p>
            <a:pPr lvl="1"/>
            <a:r>
              <a:rPr lang="zh-CN" altLang="en-US" dirty="0"/>
              <a:t>一个阶段也可以分若干遍来完成</a:t>
            </a:r>
          </a:p>
        </p:txBody>
      </p:sp>
    </p:spTree>
    <p:extLst>
      <p:ext uri="{BB962C8B-B14F-4D97-AF65-F5344CB8AC3E}">
        <p14:creationId xmlns:p14="http://schemas.microsoft.com/office/powerpoint/2010/main" val="221839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linds(horizontal)">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xEl>
                                              <p:pRg st="1" end="1"/>
                                            </p:txEl>
                                          </p:spTgt>
                                        </p:tgtEl>
                                        <p:attrNameLst>
                                          <p:attrName>style.visibility</p:attrName>
                                        </p:attrNameLst>
                                      </p:cBhvr>
                                      <p:to>
                                        <p:strVal val="visible"/>
                                      </p:to>
                                    </p:set>
                                    <p:animEffect transition="in" filter="blinds(horizontal)">
                                      <p:cBhvr>
                                        <p:cTn id="12" dur="500"/>
                                        <p:tgtEl>
                                          <p:spTgt spid="22">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blinds(horizontal)">
                                      <p:cBhvr>
                                        <p:cTn id="15" dur="500"/>
                                        <p:tgtEl>
                                          <p:spTgt spid="22">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2">
                                            <p:txEl>
                                              <p:pRg st="3" end="3"/>
                                            </p:txEl>
                                          </p:spTgt>
                                        </p:tgtEl>
                                        <p:attrNameLst>
                                          <p:attrName>style.visibility</p:attrName>
                                        </p:attrNameLst>
                                      </p:cBhvr>
                                      <p:to>
                                        <p:strVal val="visible"/>
                                      </p:to>
                                    </p:set>
                                    <p:animEffect transition="in" filter="blinds(horizontal)">
                                      <p:cBhvr>
                                        <p:cTn id="18" dur="5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ounded Rectangle 51"/>
          <p:cNvSpPr/>
          <p:nvPr/>
        </p:nvSpPr>
        <p:spPr>
          <a:xfrm>
            <a:off x="179388" y="223838"/>
            <a:ext cx="9721850" cy="6570662"/>
          </a:xfrm>
          <a:prstGeom prst="roundRect">
            <a:avLst>
              <a:gd name="adj" fmla="val 7324"/>
            </a:avLst>
          </a:prstGeom>
          <a:solidFill>
            <a:schemeClr val="bg1"/>
          </a:solidFill>
          <a:ln w="9525">
            <a:noFill/>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34818" name="Text Box 4"/>
          <p:cNvSpPr txBox="1"/>
          <p:nvPr/>
        </p:nvSpPr>
        <p:spPr>
          <a:xfrm>
            <a:off x="1035050" y="1393825"/>
            <a:ext cx="704850" cy="4284663"/>
          </a:xfrm>
          <a:prstGeom prst="rect">
            <a:avLst/>
          </a:prstGeom>
          <a:noFill/>
          <a:ln w="9525">
            <a:noFill/>
          </a:ln>
        </p:spPr>
        <p:txBody>
          <a:bodyPr vert="eaVert" lIns="100794" tIns="50397" rIns="100794" bIns="50397" anchor="t" anchorCtr="0">
            <a:spAutoFit/>
          </a:bodyPr>
          <a:lstStyle/>
          <a:p>
            <a:pPr indent="0" eaLnBrk="0" hangingPunct="0">
              <a:spcBef>
                <a:spcPct val="50000"/>
              </a:spcBef>
            </a:pPr>
            <a:r>
              <a:rPr lang="zh-CN" altLang="en-US" sz="3500" dirty="0">
                <a:solidFill>
                  <a:schemeClr val="tx2"/>
                </a:solidFill>
                <a:latin typeface="楷体_GB2312" panose="02010609030101010101" charset="-122"/>
                <a:ea typeface="楷体_GB2312" panose="02010609030101010101" charset="-122"/>
              </a:rPr>
              <a:t>编译器的结构</a:t>
            </a:r>
          </a:p>
        </p:txBody>
      </p:sp>
      <p:sp>
        <p:nvSpPr>
          <p:cNvPr id="30724" name="Rectangle 5"/>
          <p:cNvSpPr/>
          <p:nvPr/>
        </p:nvSpPr>
        <p:spPr>
          <a:xfrm>
            <a:off x="4624388" y="977900"/>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25" name="Rectangle 6"/>
          <p:cNvSpPr/>
          <p:nvPr/>
        </p:nvSpPr>
        <p:spPr>
          <a:xfrm>
            <a:off x="4817675" y="1039813"/>
            <a:ext cx="897682" cy="200376"/>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词法分析器</a:t>
            </a:r>
            <a:endParaRPr lang="zh-CN" altLang="en-US" sz="2400" dirty="0">
              <a:latin typeface="楷体_GB2312" panose="02010609030101010101" charset="-122"/>
              <a:ea typeface="楷体_GB2312" panose="02010609030101010101" charset="-122"/>
            </a:endParaRPr>
          </a:p>
        </p:txBody>
      </p:sp>
      <p:sp>
        <p:nvSpPr>
          <p:cNvPr id="30726" name="Rectangle 7"/>
          <p:cNvSpPr/>
          <p:nvPr/>
        </p:nvSpPr>
        <p:spPr>
          <a:xfrm>
            <a:off x="4624388" y="2212975"/>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27" name="Rectangle 8"/>
          <p:cNvSpPr/>
          <p:nvPr/>
        </p:nvSpPr>
        <p:spPr>
          <a:xfrm>
            <a:off x="4817675" y="2279650"/>
            <a:ext cx="897682" cy="200376"/>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语法分析器</a:t>
            </a:r>
            <a:endParaRPr lang="zh-CN" altLang="en-US" sz="2400" dirty="0">
              <a:latin typeface="楷体_GB2312" panose="02010609030101010101" charset="-122"/>
              <a:ea typeface="楷体_GB2312" panose="02010609030101010101" charset="-122"/>
            </a:endParaRPr>
          </a:p>
        </p:txBody>
      </p:sp>
      <p:sp>
        <p:nvSpPr>
          <p:cNvPr id="30728" name="Rectangle 9"/>
          <p:cNvSpPr/>
          <p:nvPr/>
        </p:nvSpPr>
        <p:spPr>
          <a:xfrm>
            <a:off x="4680288" y="1529687"/>
            <a:ext cx="1154162" cy="257635"/>
          </a:xfrm>
          <a:prstGeom prst="rect">
            <a:avLst/>
          </a:prstGeom>
          <a:noFill/>
          <a:ln w="9525">
            <a:noFill/>
          </a:ln>
        </p:spPr>
        <p:txBody>
          <a:bodyPr wrap="none" lIns="0" tIns="0" rIns="0" bIns="0" anchor="t" anchorCtr="0">
            <a:spAutoFit/>
          </a:bodyPr>
          <a:lstStyle/>
          <a:p>
            <a:pPr indent="0" eaLnBrk="0" hangingPunct="0"/>
            <a:r>
              <a:rPr lang="zh-CN" altLang="en-US" b="1" dirty="0">
                <a:solidFill>
                  <a:srgbClr val="FF3300"/>
                </a:solidFill>
                <a:latin typeface="楷体_GB2312" panose="02010609030101010101" charset="-122"/>
                <a:ea typeface="楷体_GB2312" panose="02010609030101010101" charset="-122"/>
              </a:rPr>
              <a:t>单词符号串</a:t>
            </a:r>
          </a:p>
        </p:txBody>
      </p:sp>
      <p:sp>
        <p:nvSpPr>
          <p:cNvPr id="30729" name="Line 10"/>
          <p:cNvSpPr/>
          <p:nvPr/>
        </p:nvSpPr>
        <p:spPr>
          <a:xfrm>
            <a:off x="5240338" y="1285875"/>
            <a:ext cx="0" cy="217488"/>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0" name="Line 11"/>
          <p:cNvSpPr/>
          <p:nvPr/>
        </p:nvSpPr>
        <p:spPr>
          <a:xfrm>
            <a:off x="5240338" y="1879600"/>
            <a:ext cx="0" cy="241300"/>
          </a:xfrm>
          <a:prstGeom prst="line">
            <a:avLst/>
          </a:prstGeom>
          <a:ln w="22225" cap="rnd" cmpd="sng">
            <a:solidFill>
              <a:schemeClr val="tx1"/>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1" name="Rectangle 12"/>
          <p:cNvSpPr/>
          <p:nvPr/>
        </p:nvSpPr>
        <p:spPr>
          <a:xfrm>
            <a:off x="4230258" y="2789771"/>
            <a:ext cx="2077492" cy="257635"/>
          </a:xfrm>
          <a:prstGeom prst="rect">
            <a:avLst/>
          </a:prstGeom>
          <a:noFill/>
          <a:ln w="9525">
            <a:noFill/>
          </a:ln>
        </p:spPr>
        <p:txBody>
          <a:bodyPr wrap="none" lIns="0" tIns="0" rIns="0" bIns="0" anchor="t" anchorCtr="0">
            <a:spAutoFit/>
          </a:bodyPr>
          <a:lstStyle/>
          <a:p>
            <a:pPr eaLnBrk="0" hangingPunct="0"/>
            <a:r>
              <a:rPr lang="zh-CN" altLang="en-US" b="1" dirty="0">
                <a:solidFill>
                  <a:srgbClr val="FF3300"/>
                </a:solidFill>
                <a:latin typeface="楷体_GB2312" panose="02010609030101010101" charset="-122"/>
                <a:ea typeface="楷体_GB2312" panose="02010609030101010101" charset="-122"/>
              </a:rPr>
              <a:t>语法单位（语法树）</a:t>
            </a:r>
          </a:p>
        </p:txBody>
      </p:sp>
      <p:sp>
        <p:nvSpPr>
          <p:cNvPr id="30732" name="Line 13"/>
          <p:cNvSpPr/>
          <p:nvPr/>
        </p:nvSpPr>
        <p:spPr>
          <a:xfrm>
            <a:off x="5240338" y="2520950"/>
            <a:ext cx="0" cy="21590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3" name="Line 14"/>
          <p:cNvSpPr/>
          <p:nvPr/>
        </p:nvSpPr>
        <p:spPr>
          <a:xfrm>
            <a:off x="5240338" y="311308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4" name="Rectangle 15"/>
          <p:cNvSpPr/>
          <p:nvPr/>
        </p:nvSpPr>
        <p:spPr>
          <a:xfrm>
            <a:off x="4198938" y="3448050"/>
            <a:ext cx="20828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35" name="Rectangle 16"/>
          <p:cNvSpPr/>
          <p:nvPr/>
        </p:nvSpPr>
        <p:spPr>
          <a:xfrm>
            <a:off x="4281488" y="3519488"/>
            <a:ext cx="1974850"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语义分析和中间代码生成</a:t>
            </a:r>
            <a:endParaRPr lang="zh-CN" altLang="en-US" sz="2400" dirty="0">
              <a:latin typeface="楷体_GB2312" panose="02010609030101010101" charset="-122"/>
              <a:ea typeface="楷体_GB2312" panose="02010609030101010101" charset="-122"/>
            </a:endParaRPr>
          </a:p>
        </p:txBody>
      </p:sp>
      <p:sp>
        <p:nvSpPr>
          <p:cNvPr id="30736" name="Rectangle 17"/>
          <p:cNvSpPr/>
          <p:nvPr/>
        </p:nvSpPr>
        <p:spPr>
          <a:xfrm>
            <a:off x="4050246" y="4049855"/>
            <a:ext cx="2503891" cy="228973"/>
          </a:xfrm>
          <a:prstGeom prst="rect">
            <a:avLst/>
          </a:prstGeom>
          <a:noFill/>
          <a:ln w="9525">
            <a:noFill/>
          </a:ln>
        </p:spPr>
        <p:txBody>
          <a:bodyPr wrap="none" lIns="0" tIns="0" rIns="0" bIns="0" anchor="t" anchorCtr="0">
            <a:spAutoFit/>
          </a:bodyPr>
          <a:lstStyle/>
          <a:p>
            <a:pPr eaLnBrk="0" hangingPunct="0"/>
            <a:r>
              <a:rPr lang="zh-CN" altLang="en-US" sz="1600" b="1" dirty="0">
                <a:latin typeface="楷体_GB2312" panose="02010609030101010101" charset="-122"/>
                <a:ea typeface="楷体_GB2312" panose="02010609030101010101" charset="-122"/>
              </a:rPr>
              <a:t>中间代码</a:t>
            </a:r>
            <a:r>
              <a:rPr lang="en-US" altLang="zh-CN" sz="1600" b="1" dirty="0">
                <a:latin typeface="楷体_GB2312" panose="02010609030101010101" charset="-122"/>
                <a:ea typeface="楷体_GB2312" panose="02010609030101010101" charset="-122"/>
              </a:rPr>
              <a:t>(</a:t>
            </a:r>
            <a:r>
              <a:rPr lang="zh-CN" altLang="en-US" sz="1600" b="1" dirty="0">
                <a:latin typeface="楷体_GB2312" panose="02010609030101010101" charset="-122"/>
                <a:ea typeface="楷体_GB2312" panose="02010609030101010101" charset="-122"/>
              </a:rPr>
              <a:t>三元式，四元式</a:t>
            </a:r>
            <a:r>
              <a:rPr lang="en-US" altLang="zh-CN" sz="1600" b="1" dirty="0">
                <a:latin typeface="楷体_GB2312" panose="02010609030101010101" charset="-122"/>
                <a:ea typeface="楷体_GB2312" panose="02010609030101010101" charset="-122"/>
              </a:rPr>
              <a:t>)</a:t>
            </a:r>
          </a:p>
        </p:txBody>
      </p:sp>
      <p:sp>
        <p:nvSpPr>
          <p:cNvPr id="30737" name="Line 18"/>
          <p:cNvSpPr/>
          <p:nvPr/>
        </p:nvSpPr>
        <p:spPr>
          <a:xfrm>
            <a:off x="5240338" y="3756025"/>
            <a:ext cx="0" cy="217488"/>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8" name="Line 19"/>
          <p:cNvSpPr/>
          <p:nvPr/>
        </p:nvSpPr>
        <p:spPr>
          <a:xfrm>
            <a:off x="5240338" y="4349750"/>
            <a:ext cx="0" cy="24130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39" name="Rectangle 20"/>
          <p:cNvSpPr/>
          <p:nvPr/>
        </p:nvSpPr>
        <p:spPr>
          <a:xfrm>
            <a:off x="4624388" y="4681538"/>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40" name="Rectangle 21"/>
          <p:cNvSpPr/>
          <p:nvPr/>
        </p:nvSpPr>
        <p:spPr>
          <a:xfrm>
            <a:off x="5062538" y="4743450"/>
            <a:ext cx="360362"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优化</a:t>
            </a:r>
            <a:endParaRPr lang="zh-CN" altLang="en-US" sz="2400" dirty="0">
              <a:latin typeface="楷体_GB2312" panose="02010609030101010101" charset="-122"/>
              <a:ea typeface="楷体_GB2312" panose="02010609030101010101" charset="-122"/>
            </a:endParaRPr>
          </a:p>
        </p:txBody>
      </p:sp>
      <p:sp>
        <p:nvSpPr>
          <p:cNvPr id="30741" name="Rectangle 22"/>
          <p:cNvSpPr/>
          <p:nvPr/>
        </p:nvSpPr>
        <p:spPr>
          <a:xfrm>
            <a:off x="3735225" y="5309939"/>
            <a:ext cx="3324628" cy="228973"/>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经优化的中间代码</a:t>
            </a:r>
            <a:r>
              <a:rPr lang="en-US" altLang="zh-CN" sz="1600" b="1" dirty="0">
                <a:latin typeface="楷体_GB2312" panose="02010609030101010101" charset="-122"/>
                <a:ea typeface="楷体_GB2312" panose="02010609030101010101" charset="-122"/>
              </a:rPr>
              <a:t>(</a:t>
            </a:r>
            <a:r>
              <a:rPr lang="zh-CN" altLang="en-US" sz="1600" b="1" dirty="0">
                <a:latin typeface="楷体_GB2312" panose="02010609030101010101" charset="-122"/>
                <a:ea typeface="楷体_GB2312" panose="02010609030101010101" charset="-122"/>
              </a:rPr>
              <a:t>三元式，四元式</a:t>
            </a:r>
            <a:r>
              <a:rPr lang="en-US" altLang="zh-CN" sz="1600" b="1" dirty="0">
                <a:latin typeface="楷体_GB2312" panose="02010609030101010101" charset="-122"/>
                <a:ea typeface="楷体_GB2312" panose="02010609030101010101" charset="-122"/>
              </a:rPr>
              <a:t>)</a:t>
            </a:r>
            <a:endParaRPr lang="zh-CN" altLang="en-US" sz="2800" dirty="0">
              <a:latin typeface="楷体_GB2312" panose="02010609030101010101" charset="-122"/>
              <a:ea typeface="楷体_GB2312" panose="02010609030101010101" charset="-122"/>
            </a:endParaRPr>
          </a:p>
        </p:txBody>
      </p:sp>
      <p:sp>
        <p:nvSpPr>
          <p:cNvPr id="30742" name="Line 23"/>
          <p:cNvSpPr/>
          <p:nvPr/>
        </p:nvSpPr>
        <p:spPr>
          <a:xfrm>
            <a:off x="5240338" y="4989513"/>
            <a:ext cx="0" cy="217487"/>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3" name="Line 24"/>
          <p:cNvSpPr/>
          <p:nvPr/>
        </p:nvSpPr>
        <p:spPr>
          <a:xfrm>
            <a:off x="5240338" y="558323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4" name="Rectangle 25"/>
          <p:cNvSpPr/>
          <p:nvPr/>
        </p:nvSpPr>
        <p:spPr>
          <a:xfrm>
            <a:off x="4624388" y="5915025"/>
            <a:ext cx="1231900" cy="307975"/>
          </a:xfrm>
          <a:prstGeom prst="rect">
            <a:avLst/>
          </a:prstGeom>
          <a:noFill/>
          <a:ln w="4763" cap="rnd" cmpd="sng">
            <a:solidFill>
              <a:srgbClr val="000000"/>
            </a:solidFill>
            <a:prstDash val="solid"/>
            <a:miter/>
            <a:headEnd type="none" w="med" len="med"/>
            <a:tailEnd type="none" w="med" len="med"/>
          </a:ln>
        </p:spPr>
        <p:txBody>
          <a:bodyPr lIns="100794" tIns="50397" rIns="100794" bIns="50397" anchor="t" anchorCtr="0"/>
          <a:lstStyle/>
          <a:p>
            <a:pPr indent="0" hangingPunct="0"/>
            <a:endParaRPr lang="zh-CN" altLang="en-US" dirty="0">
              <a:latin typeface="楷体_GB2312" panose="02010609030101010101" charset="-122"/>
              <a:ea typeface="楷体_GB2312" panose="02010609030101010101" charset="-122"/>
            </a:endParaRPr>
          </a:p>
        </p:txBody>
      </p:sp>
      <p:sp>
        <p:nvSpPr>
          <p:cNvPr id="30745" name="Rectangle 26"/>
          <p:cNvSpPr/>
          <p:nvPr/>
        </p:nvSpPr>
        <p:spPr>
          <a:xfrm>
            <a:off x="4884738" y="5981700"/>
            <a:ext cx="717550" cy="200025"/>
          </a:xfrm>
          <a:prstGeom prst="rect">
            <a:avLst/>
          </a:prstGeom>
          <a:noFill/>
          <a:ln w="9525">
            <a:noFill/>
          </a:ln>
        </p:spPr>
        <p:txBody>
          <a:bodyPr wrap="none" lIns="0" tIns="0" rIns="0" bIns="0" anchor="t" anchorCtr="0">
            <a:spAutoFit/>
          </a:bodyPr>
          <a:lstStyle/>
          <a:p>
            <a:pPr indent="0" eaLnBrk="0" hangingPunct="0"/>
            <a:r>
              <a:rPr lang="zh-CN" altLang="en-US" sz="1400" b="1" dirty="0">
                <a:latin typeface="楷体_GB2312" panose="02010609030101010101" charset="-122"/>
                <a:ea typeface="楷体_GB2312" panose="02010609030101010101" charset="-122"/>
              </a:rPr>
              <a:t>代码生成</a:t>
            </a:r>
            <a:endParaRPr lang="zh-CN" altLang="en-US" sz="2400" dirty="0">
              <a:latin typeface="楷体_GB2312" panose="02010609030101010101" charset="-122"/>
              <a:ea typeface="楷体_GB2312" panose="02010609030101010101" charset="-122"/>
            </a:endParaRPr>
          </a:p>
        </p:txBody>
      </p:sp>
      <p:sp>
        <p:nvSpPr>
          <p:cNvPr id="30746" name="Line 27"/>
          <p:cNvSpPr/>
          <p:nvPr/>
        </p:nvSpPr>
        <p:spPr>
          <a:xfrm>
            <a:off x="5240338" y="627063"/>
            <a:ext cx="0" cy="260350"/>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47" name="Rectangle 28"/>
          <p:cNvSpPr/>
          <p:nvPr/>
        </p:nvSpPr>
        <p:spPr>
          <a:xfrm>
            <a:off x="4983163" y="403225"/>
            <a:ext cx="619125" cy="228600"/>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源程序</a:t>
            </a:r>
            <a:endParaRPr lang="zh-CN" altLang="en-US" sz="2800" dirty="0">
              <a:latin typeface="楷体_GB2312" panose="02010609030101010101" charset="-122"/>
              <a:ea typeface="楷体_GB2312" panose="02010609030101010101" charset="-122"/>
            </a:endParaRPr>
          </a:p>
        </p:txBody>
      </p:sp>
      <p:sp>
        <p:nvSpPr>
          <p:cNvPr id="30748" name="Rectangle 29"/>
          <p:cNvSpPr/>
          <p:nvPr/>
        </p:nvSpPr>
        <p:spPr>
          <a:xfrm>
            <a:off x="4884738" y="6569075"/>
            <a:ext cx="827087" cy="230188"/>
          </a:xfrm>
          <a:prstGeom prst="rect">
            <a:avLst/>
          </a:prstGeom>
          <a:noFill/>
          <a:ln w="9525">
            <a:noFill/>
          </a:ln>
        </p:spPr>
        <p:txBody>
          <a:bodyPr wrap="none" lIns="0" tIns="0" rIns="0" bIns="0" anchor="t" anchorCtr="0">
            <a:spAutoFit/>
          </a:bodyPr>
          <a:lstStyle/>
          <a:p>
            <a:pPr indent="0" eaLnBrk="0" hangingPunct="0"/>
            <a:r>
              <a:rPr lang="zh-CN" altLang="en-US" sz="1600" b="1" dirty="0">
                <a:latin typeface="楷体_GB2312" panose="02010609030101010101" charset="-122"/>
                <a:ea typeface="楷体_GB2312" panose="02010609030101010101" charset="-122"/>
              </a:rPr>
              <a:t>目标程序</a:t>
            </a:r>
            <a:endParaRPr lang="zh-CN" altLang="en-US" sz="2800" dirty="0">
              <a:latin typeface="楷体_GB2312" panose="02010609030101010101" charset="-122"/>
              <a:ea typeface="楷体_GB2312" panose="02010609030101010101" charset="-122"/>
            </a:endParaRPr>
          </a:p>
        </p:txBody>
      </p:sp>
      <p:sp>
        <p:nvSpPr>
          <p:cNvPr id="30749" name="Line 30"/>
          <p:cNvSpPr/>
          <p:nvPr/>
        </p:nvSpPr>
        <p:spPr>
          <a:xfrm>
            <a:off x="8631238" y="366713"/>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0" name="Line 31"/>
          <p:cNvSpPr/>
          <p:nvPr/>
        </p:nvSpPr>
        <p:spPr>
          <a:xfrm>
            <a:off x="8631238" y="4214813"/>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1" name="Rectangle 32"/>
          <p:cNvSpPr/>
          <p:nvPr/>
        </p:nvSpPr>
        <p:spPr>
          <a:xfrm>
            <a:off x="8142288" y="1835150"/>
            <a:ext cx="1524000" cy="284163"/>
          </a:xfrm>
          <a:prstGeom prst="rect">
            <a:avLst/>
          </a:prstGeom>
          <a:noFill/>
          <a:ln w="9525">
            <a:noFill/>
          </a:ln>
        </p:spPr>
        <p:txBody>
          <a:bodyPr wrap="none" lIns="0" tIns="0" rIns="0" bIns="0" anchor="t" anchorCtr="0">
            <a:spAutoFit/>
          </a:bodyPr>
          <a:lstStyle/>
          <a:p>
            <a:pPr indent="0" eaLnBrk="0" hangingPunct="0"/>
            <a:r>
              <a:rPr lang="zh-CN" altLang="en-US" sz="2000" b="1" dirty="0">
                <a:latin typeface="楷体_GB2312" panose="02010609030101010101" charset="-122"/>
                <a:ea typeface="楷体_GB2312" panose="02010609030101010101" charset="-122"/>
              </a:rPr>
              <a:t>源程序的分析</a:t>
            </a:r>
          </a:p>
        </p:txBody>
      </p:sp>
      <p:sp>
        <p:nvSpPr>
          <p:cNvPr id="30752" name="Line 33"/>
          <p:cNvSpPr/>
          <p:nvPr/>
        </p:nvSpPr>
        <p:spPr>
          <a:xfrm>
            <a:off x="8631238" y="6778625"/>
            <a:ext cx="617537" cy="0"/>
          </a:xfrm>
          <a:prstGeom prst="line">
            <a:avLst/>
          </a:prstGeom>
          <a:ln w="4763" cap="rnd" cmpd="sng">
            <a:solidFill>
              <a:srgbClr val="000000"/>
            </a:solidFill>
            <a:prstDash val="solid"/>
            <a:round/>
            <a:headEnd type="none" w="med" len="med"/>
            <a:tailEnd type="non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3" name="Rectangle 34"/>
          <p:cNvSpPr/>
          <p:nvPr/>
        </p:nvSpPr>
        <p:spPr>
          <a:xfrm>
            <a:off x="8016875" y="5572125"/>
            <a:ext cx="1795363" cy="286232"/>
          </a:xfrm>
          <a:prstGeom prst="rect">
            <a:avLst/>
          </a:prstGeom>
          <a:noFill/>
          <a:ln w="9525">
            <a:noFill/>
          </a:ln>
        </p:spPr>
        <p:txBody>
          <a:bodyPr wrap="none" lIns="0" tIns="0" rIns="0" bIns="0" anchor="t" anchorCtr="0">
            <a:spAutoFit/>
          </a:bodyPr>
          <a:lstStyle/>
          <a:p>
            <a:pPr indent="0" eaLnBrk="0" hangingPunct="0"/>
            <a:r>
              <a:rPr lang="zh-CN" altLang="en-US" sz="2000" b="1" dirty="0">
                <a:latin typeface="楷体_GB2312" panose="02010609030101010101" charset="-122"/>
                <a:ea typeface="楷体_GB2312" panose="02010609030101010101" charset="-122"/>
              </a:rPr>
              <a:t>目标程序的综合</a:t>
            </a:r>
          </a:p>
        </p:txBody>
      </p:sp>
      <p:sp>
        <p:nvSpPr>
          <p:cNvPr id="30754" name="Line 35"/>
          <p:cNvSpPr/>
          <p:nvPr/>
        </p:nvSpPr>
        <p:spPr>
          <a:xfrm>
            <a:off x="5292725" y="6288088"/>
            <a:ext cx="0" cy="239712"/>
          </a:xfrm>
          <a:prstGeom prst="line">
            <a:avLst/>
          </a:prstGeom>
          <a:ln w="22225" cap="rnd" cmpd="sng">
            <a:solidFill>
              <a:srgbClr val="000000"/>
            </a:solidFill>
            <a:prstDash val="solid"/>
            <a:round/>
            <a:headEnd type="none" w="med" len="med"/>
            <a:tailEnd type="stealth" w="lg" len="lg"/>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5" name="Line 36"/>
          <p:cNvSpPr/>
          <p:nvPr/>
        </p:nvSpPr>
        <p:spPr>
          <a:xfrm flipV="1">
            <a:off x="8904288" y="395288"/>
            <a:ext cx="0" cy="134461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6" name="Line 37"/>
          <p:cNvSpPr/>
          <p:nvPr/>
        </p:nvSpPr>
        <p:spPr>
          <a:xfrm>
            <a:off x="8931275" y="2243138"/>
            <a:ext cx="0" cy="197961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7" name="Line 38"/>
          <p:cNvSpPr/>
          <p:nvPr/>
        </p:nvSpPr>
        <p:spPr>
          <a:xfrm flipV="1">
            <a:off x="8931275" y="4214813"/>
            <a:ext cx="0" cy="1304925"/>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8" name="Line 39"/>
          <p:cNvSpPr/>
          <p:nvPr/>
        </p:nvSpPr>
        <p:spPr>
          <a:xfrm>
            <a:off x="8931275" y="5884863"/>
            <a:ext cx="0" cy="868362"/>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59" name="Rectangle 40"/>
          <p:cNvSpPr/>
          <p:nvPr/>
        </p:nvSpPr>
        <p:spPr>
          <a:xfrm>
            <a:off x="2100263" y="2747963"/>
            <a:ext cx="755650" cy="2016125"/>
          </a:xfrm>
          <a:prstGeom prst="rect">
            <a:avLst/>
          </a:prstGeom>
          <a:noFill/>
          <a:ln w="9525" cap="flat" cmpd="sng">
            <a:solidFill>
              <a:schemeClr val="tx1"/>
            </a:solidFill>
            <a:prstDash val="solid"/>
            <a:miter/>
            <a:headEnd type="none" w="med" len="med"/>
            <a:tailEnd type="none" w="med" len="med"/>
          </a:ln>
        </p:spPr>
        <p:txBody>
          <a:bodyPr wrap="none" lIns="100794" tIns="50397" rIns="100794" bIns="50397" anchor="ctr" anchorCtr="0"/>
          <a:lstStyle/>
          <a:p>
            <a:pPr indent="0" eaLnBrk="0" hangingPunct="0"/>
            <a:r>
              <a:rPr lang="zh-CN" altLang="en-US" sz="2200" b="1" dirty="0">
                <a:latin typeface="楷体_GB2312" panose="02010609030101010101" charset="-122"/>
                <a:ea typeface="楷体_GB2312" panose="02010609030101010101" charset="-122"/>
              </a:rPr>
              <a:t>符</a:t>
            </a:r>
          </a:p>
          <a:p>
            <a:pPr indent="0" eaLnBrk="0" hangingPunct="0"/>
            <a:r>
              <a:rPr lang="zh-CN" altLang="en-US" sz="2200" b="1" dirty="0">
                <a:latin typeface="楷体_GB2312" panose="02010609030101010101" charset="-122"/>
                <a:ea typeface="楷体_GB2312" panose="02010609030101010101" charset="-122"/>
              </a:rPr>
              <a:t>号</a:t>
            </a:r>
          </a:p>
          <a:p>
            <a:pPr indent="0" eaLnBrk="0" hangingPunct="0"/>
            <a:r>
              <a:rPr lang="zh-CN" altLang="en-US" sz="2200" b="1" dirty="0">
                <a:latin typeface="楷体_GB2312" panose="02010609030101010101" charset="-122"/>
                <a:ea typeface="楷体_GB2312" panose="02010609030101010101" charset="-122"/>
              </a:rPr>
              <a:t>表</a:t>
            </a:r>
          </a:p>
          <a:p>
            <a:pPr indent="0" eaLnBrk="0" hangingPunct="0"/>
            <a:r>
              <a:rPr lang="zh-CN" altLang="en-US" sz="2200" b="1" dirty="0">
                <a:latin typeface="楷体_GB2312" panose="02010609030101010101" charset="-122"/>
                <a:ea typeface="楷体_GB2312" panose="02010609030101010101" charset="-122"/>
              </a:rPr>
              <a:t>管</a:t>
            </a:r>
          </a:p>
          <a:p>
            <a:pPr indent="0" eaLnBrk="0" hangingPunct="0"/>
            <a:r>
              <a:rPr lang="zh-CN" altLang="en-US" sz="2200" b="1" dirty="0">
                <a:latin typeface="楷体_GB2312" panose="02010609030101010101" charset="-122"/>
                <a:ea typeface="楷体_GB2312" panose="02010609030101010101" charset="-122"/>
              </a:rPr>
              <a:t>理</a:t>
            </a:r>
          </a:p>
        </p:txBody>
      </p:sp>
      <p:sp>
        <p:nvSpPr>
          <p:cNvPr id="30760" name="Rectangle 41"/>
          <p:cNvSpPr/>
          <p:nvPr/>
        </p:nvSpPr>
        <p:spPr>
          <a:xfrm>
            <a:off x="7140575" y="2916238"/>
            <a:ext cx="755650" cy="1595437"/>
          </a:xfrm>
          <a:prstGeom prst="rect">
            <a:avLst/>
          </a:prstGeom>
          <a:noFill/>
          <a:ln w="9525" cap="flat" cmpd="sng">
            <a:solidFill>
              <a:schemeClr val="tx1"/>
            </a:solidFill>
            <a:prstDash val="solid"/>
            <a:miter/>
            <a:headEnd type="none" w="med" len="med"/>
            <a:tailEnd type="none" w="med" len="med"/>
          </a:ln>
        </p:spPr>
        <p:txBody>
          <a:bodyPr wrap="none" lIns="100794" tIns="50397" rIns="100794" bIns="50397" anchor="ctr" anchorCtr="0"/>
          <a:lstStyle/>
          <a:p>
            <a:pPr indent="0" eaLnBrk="0" hangingPunct="0"/>
            <a:r>
              <a:rPr lang="zh-CN" altLang="en-US" sz="2200" b="1" dirty="0">
                <a:latin typeface="楷体_GB2312" panose="02010609030101010101" charset="-122"/>
                <a:ea typeface="楷体_GB2312" panose="02010609030101010101" charset="-122"/>
              </a:rPr>
              <a:t>出</a:t>
            </a:r>
          </a:p>
          <a:p>
            <a:pPr indent="0" eaLnBrk="0" hangingPunct="0"/>
            <a:r>
              <a:rPr lang="zh-CN" altLang="en-US" sz="2200" b="1" dirty="0">
                <a:latin typeface="楷体_GB2312" panose="02010609030101010101" charset="-122"/>
                <a:ea typeface="楷体_GB2312" panose="02010609030101010101" charset="-122"/>
              </a:rPr>
              <a:t>错</a:t>
            </a:r>
          </a:p>
          <a:p>
            <a:pPr indent="0" eaLnBrk="0" hangingPunct="0"/>
            <a:r>
              <a:rPr lang="zh-CN" altLang="en-US" sz="2200" b="1" dirty="0">
                <a:latin typeface="楷体_GB2312" panose="02010609030101010101" charset="-122"/>
                <a:ea typeface="楷体_GB2312" panose="02010609030101010101" charset="-122"/>
              </a:rPr>
              <a:t>处</a:t>
            </a:r>
          </a:p>
          <a:p>
            <a:pPr indent="0" eaLnBrk="0" hangingPunct="0"/>
            <a:r>
              <a:rPr lang="zh-CN" altLang="en-US" sz="2200" b="1" dirty="0">
                <a:latin typeface="楷体_GB2312" panose="02010609030101010101" charset="-122"/>
                <a:ea typeface="楷体_GB2312" panose="02010609030101010101" charset="-122"/>
              </a:rPr>
              <a:t>理</a:t>
            </a:r>
          </a:p>
        </p:txBody>
      </p:sp>
      <p:sp>
        <p:nvSpPr>
          <p:cNvPr id="30761" name="Line 42"/>
          <p:cNvSpPr/>
          <p:nvPr/>
        </p:nvSpPr>
        <p:spPr>
          <a:xfrm flipV="1">
            <a:off x="2855913" y="1236663"/>
            <a:ext cx="1763712" cy="1763712"/>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2" name="Line 43"/>
          <p:cNvSpPr/>
          <p:nvPr/>
        </p:nvSpPr>
        <p:spPr>
          <a:xfrm flipV="1">
            <a:off x="2855913" y="2327275"/>
            <a:ext cx="1763712" cy="1008063"/>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3" name="Line 44"/>
          <p:cNvSpPr/>
          <p:nvPr/>
        </p:nvSpPr>
        <p:spPr>
          <a:xfrm>
            <a:off x="2855913" y="3587750"/>
            <a:ext cx="1344612" cy="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4" name="Line 45"/>
          <p:cNvSpPr/>
          <p:nvPr/>
        </p:nvSpPr>
        <p:spPr>
          <a:xfrm>
            <a:off x="2855913" y="4008438"/>
            <a:ext cx="1763712" cy="75565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5" name="Line 46"/>
          <p:cNvSpPr/>
          <p:nvPr/>
        </p:nvSpPr>
        <p:spPr>
          <a:xfrm>
            <a:off x="2855913" y="4511675"/>
            <a:ext cx="1763712" cy="151130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6" name="Line 47"/>
          <p:cNvSpPr/>
          <p:nvPr/>
        </p:nvSpPr>
        <p:spPr>
          <a:xfrm flipH="1" flipV="1">
            <a:off x="5880100" y="1152525"/>
            <a:ext cx="1260475" cy="1931988"/>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7" name="Line 48"/>
          <p:cNvSpPr/>
          <p:nvPr/>
        </p:nvSpPr>
        <p:spPr>
          <a:xfrm flipH="1" flipV="1">
            <a:off x="5795963" y="2327275"/>
            <a:ext cx="1344612" cy="109220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8" name="Line 49"/>
          <p:cNvSpPr/>
          <p:nvPr/>
        </p:nvSpPr>
        <p:spPr>
          <a:xfrm flipH="1">
            <a:off x="6300788" y="3671888"/>
            <a:ext cx="839787" cy="0"/>
          </a:xfrm>
          <a:prstGeom prst="line">
            <a:avLst/>
          </a:prstGeom>
          <a:ln w="9525" cap="flat" cmpd="sng">
            <a:solidFill>
              <a:schemeClr val="tx1"/>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69" name="Line 50"/>
          <p:cNvSpPr/>
          <p:nvPr/>
        </p:nvSpPr>
        <p:spPr>
          <a:xfrm flipH="1">
            <a:off x="5880100" y="4008438"/>
            <a:ext cx="1176338" cy="755650"/>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0770" name="Line 51"/>
          <p:cNvSpPr/>
          <p:nvPr/>
        </p:nvSpPr>
        <p:spPr>
          <a:xfrm flipH="1">
            <a:off x="5795963" y="4343400"/>
            <a:ext cx="1344612" cy="1679575"/>
          </a:xfrm>
          <a:prstGeom prst="line">
            <a:avLst/>
          </a:prstGeom>
          <a:ln w="9525" cap="flat" cmpd="sng">
            <a:solidFill>
              <a:schemeClr val="tx1"/>
            </a:solidFill>
            <a:prstDash val="solid"/>
            <a:round/>
            <a:headEnd type="triangl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34866" name="Footer Placeholder 53"/>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4867" name="Slide Number Placeholder 54"/>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42</a:t>
            </a:fld>
            <a:endParaRPr lang="en-GB" altLang="en-US" sz="1200" dirty="0">
              <a:latin typeface="Comic Sans MS" panose="030F0702030302020204" pitchFamily="2" charset="0"/>
              <a:ea typeface="宋体" panose="02010600030101010101" pitchFamily="2" charset="-122"/>
            </a:endParaRPr>
          </a:p>
        </p:txBody>
      </p:sp>
      <p:sp>
        <p:nvSpPr>
          <p:cNvPr id="34868" name="Date Placeholder 53"/>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3" name="矩形 2"/>
          <p:cNvSpPr/>
          <p:nvPr/>
        </p:nvSpPr>
        <p:spPr bwMode="auto">
          <a:xfrm>
            <a:off x="4005243" y="211974"/>
            <a:ext cx="2430162" cy="4194175"/>
          </a:xfrm>
          <a:prstGeom prst="rect">
            <a:avLst/>
          </a:prstGeom>
          <a:noFill/>
          <a:ln w="38100">
            <a:solidFill>
              <a:srgbClr val="FF0000"/>
            </a:solidFill>
            <a:miter lim="800000"/>
            <a:headEnd/>
            <a:tailEnd/>
          </a:ln>
        </p:spPr>
        <p:txBody>
          <a:bodyPr rtlCol="0" anchor="ctr"/>
          <a:lstStyle/>
          <a:p>
            <a:pPr algn="ctr" hangingPunct="0"/>
            <a:endParaRPr lang="zh-CN" altLang="en-US" sz="2400" b="1" dirty="0">
              <a:solidFill>
                <a:schemeClr val="tx1"/>
              </a:solidFill>
              <a:latin typeface="楷体_GB2312" charset="-122"/>
              <a:ea typeface="楷体_GB2312" charset="-122"/>
            </a:endParaRPr>
          </a:p>
        </p:txBody>
      </p:sp>
      <p:sp>
        <p:nvSpPr>
          <p:cNvPr id="57" name="矩形 56"/>
          <p:cNvSpPr/>
          <p:nvPr/>
        </p:nvSpPr>
        <p:spPr bwMode="auto">
          <a:xfrm>
            <a:off x="4005243" y="4557636"/>
            <a:ext cx="2430162" cy="571577"/>
          </a:xfrm>
          <a:prstGeom prst="rect">
            <a:avLst/>
          </a:prstGeom>
          <a:noFill/>
          <a:ln w="38100">
            <a:solidFill>
              <a:srgbClr val="FF0000"/>
            </a:solidFill>
            <a:miter lim="800000"/>
            <a:headEnd/>
            <a:tailEnd/>
          </a:ln>
        </p:spPr>
        <p:txBody>
          <a:bodyPr rtlCol="0" anchor="ctr"/>
          <a:lstStyle/>
          <a:p>
            <a:pPr algn="ctr" hangingPunct="0"/>
            <a:endParaRPr lang="zh-CN" altLang="en-US" sz="3200" b="1" dirty="0">
              <a:solidFill>
                <a:schemeClr val="tx1"/>
              </a:solidFill>
              <a:latin typeface="楷体_GB2312" charset="-122"/>
              <a:ea typeface="楷体_GB2312" charset="-122"/>
            </a:endParaRPr>
          </a:p>
        </p:txBody>
      </p:sp>
    </p:spTree>
    <p:extLst>
      <p:ext uri="{BB962C8B-B14F-4D97-AF65-F5344CB8AC3E}">
        <p14:creationId xmlns:p14="http://schemas.microsoft.com/office/powerpoint/2010/main" val="25955290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down)">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编译前端与后端</a:t>
            </a:r>
          </a:p>
        </p:txBody>
      </p:sp>
      <p:sp>
        <p:nvSpPr>
          <p:cNvPr id="3" name="Rectangle 17"/>
          <p:cNvSpPr txBox="1">
            <a:spLocks noChangeArrowheads="1"/>
          </p:cNvSpPr>
          <p:nvPr/>
        </p:nvSpPr>
        <p:spPr>
          <a:xfrm>
            <a:off x="825395" y="2893971"/>
            <a:ext cx="8030674" cy="346200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编译前端</a:t>
            </a:r>
          </a:p>
          <a:p>
            <a:pPr marL="742950" marR="0" lvl="1" indent="-28575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与源语言有关，如词法分析，语法分析，语义分析与中间代码产生，与机器无关的优化</a:t>
            </a:r>
          </a:p>
          <a:p>
            <a:pPr marL="342900" marR="0" lvl="0" indent="-34290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编译后端</a:t>
            </a:r>
          </a:p>
          <a:p>
            <a:pPr marL="742950" marR="0" lvl="1" indent="-28575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与目标机有关，与目标机有关的优化，目标代码产生</a:t>
            </a:r>
          </a:p>
          <a:p>
            <a:pPr marL="342900" marR="0" lvl="0" indent="-34290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带来的好处</a:t>
            </a:r>
          </a:p>
          <a:p>
            <a:pPr marL="742950" marR="0" lvl="1" indent="-28575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程序逻辑结构清晰</a:t>
            </a:r>
          </a:p>
          <a:p>
            <a:pPr marL="742950" marR="0" lvl="1" indent="-285750" algn="l" defTabSz="457200" rtl="0" eaLnBrk="1" fontAlgn="auto" latinLnBrk="0" hangingPunct="1">
              <a:lnSpc>
                <a:spcPct val="100000"/>
              </a:lnSpc>
              <a:spcBef>
                <a:spcPts val="6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优化更充分，有利于移植</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
        <p:nvSpPr>
          <p:cNvPr id="4" name="内容占位符 6"/>
          <p:cNvSpPr txBox="1">
            <a:spLocks/>
          </p:cNvSpPr>
          <p:nvPr/>
        </p:nvSpPr>
        <p:spPr>
          <a:xfrm>
            <a:off x="7183570" y="280331"/>
            <a:ext cx="2155825" cy="1417637"/>
          </a:xfrm>
          <a:prstGeom prst="rect">
            <a:avLst/>
          </a:prstGeom>
          <a:gradFill rotWithShape="1">
            <a:gsLst>
              <a:gs pos="0">
                <a:srgbClr val="F79646">
                  <a:tint val="65000"/>
                  <a:lumMod val="110000"/>
                </a:srgbClr>
              </a:gs>
              <a:gs pos="88000">
                <a:srgbClr val="F79646">
                  <a:tint val="90000"/>
                </a:srgbClr>
              </a:gs>
            </a:gsLst>
            <a:lin ang="5400000" scaled="0"/>
          </a:gradFill>
          <a:ln w="12700" cap="rnd" cmpd="sng" algn="ctr">
            <a:solidFill>
              <a:srgbClr val="F79646"/>
            </a:solidFill>
            <a:prstDash val="solid"/>
          </a:ln>
          <a:effectLst/>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计算思维</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分解</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权衡</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endParaRPr kumimoji="0" lang="zh-CN" altLang="en-US"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grpSp>
        <p:nvGrpSpPr>
          <p:cNvPr id="5" name="Group 12"/>
          <p:cNvGrpSpPr>
            <a:grpSpLocks/>
          </p:cNvGrpSpPr>
          <p:nvPr/>
        </p:nvGrpSpPr>
        <p:grpSpPr bwMode="auto">
          <a:xfrm>
            <a:off x="825395" y="2118311"/>
            <a:ext cx="7720071" cy="609600"/>
            <a:chOff x="624" y="1104"/>
            <a:chExt cx="4248" cy="384"/>
          </a:xfrm>
        </p:grpSpPr>
        <p:sp>
          <p:nvSpPr>
            <p:cNvPr id="6" name="Rectangle 5"/>
            <p:cNvSpPr>
              <a:spLocks noChangeArrowheads="1"/>
            </p:cNvSpPr>
            <p:nvPr/>
          </p:nvSpPr>
          <p:spPr bwMode="auto">
            <a:xfrm>
              <a:off x="624" y="1104"/>
              <a:ext cx="1008" cy="384"/>
            </a:xfrm>
            <a:prstGeom prst="rect">
              <a:avLst/>
            </a:prstGeom>
            <a:solidFill>
              <a:srgbClr val="4F81BD"/>
            </a:solidFill>
            <a:ln w="19050" cap="rnd" cmpd="sng" algn="ctr">
              <a:solidFill>
                <a:srgbClr val="4F81BD">
                  <a:shade val="50000"/>
                </a:srgbClr>
              </a:solidFill>
              <a:prstDash val="solid"/>
              <a:headEnd type="none" w="lg" len="lg"/>
              <a:tailEnd type="none" w="lg" len="lg"/>
            </a:ln>
            <a:effec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源语言</a:t>
              </a:r>
            </a:p>
          </p:txBody>
        </p:sp>
        <p:sp>
          <p:nvSpPr>
            <p:cNvPr id="7" name="Rectangle 6"/>
            <p:cNvSpPr>
              <a:spLocks noChangeArrowheads="1"/>
            </p:cNvSpPr>
            <p:nvPr/>
          </p:nvSpPr>
          <p:spPr bwMode="auto">
            <a:xfrm>
              <a:off x="2230" y="1104"/>
              <a:ext cx="1008" cy="384"/>
            </a:xfrm>
            <a:prstGeom prst="rect">
              <a:avLst/>
            </a:prstGeom>
            <a:solidFill>
              <a:srgbClr val="4F81BD"/>
            </a:solidFill>
            <a:ln w="19050" cap="rnd" cmpd="sng" algn="ctr">
              <a:solidFill>
                <a:srgbClr val="4F81BD">
                  <a:shade val="50000"/>
                </a:srgbClr>
              </a:solidFill>
              <a:prstDash val="solid"/>
              <a:headEnd type="none" w="lg" len="lg"/>
              <a:tailEnd type="none" w="lg" len="lg"/>
            </a:ln>
            <a:effec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中间语言</a:t>
              </a:r>
            </a:p>
          </p:txBody>
        </p:sp>
        <p:sp>
          <p:nvSpPr>
            <p:cNvPr id="8" name="Rectangle 7"/>
            <p:cNvSpPr>
              <a:spLocks noChangeArrowheads="1"/>
            </p:cNvSpPr>
            <p:nvPr/>
          </p:nvSpPr>
          <p:spPr bwMode="auto">
            <a:xfrm>
              <a:off x="3864" y="1104"/>
              <a:ext cx="1008" cy="384"/>
            </a:xfrm>
            <a:prstGeom prst="rect">
              <a:avLst/>
            </a:prstGeom>
            <a:solidFill>
              <a:srgbClr val="4F81BD"/>
            </a:solidFill>
            <a:ln w="19050" cap="rnd" cmpd="sng" algn="ctr">
              <a:solidFill>
                <a:srgbClr val="4F81BD">
                  <a:shade val="50000"/>
                </a:srgbClr>
              </a:solidFill>
              <a:prstDash val="solid"/>
              <a:headEnd type="none" w="lg" len="lg"/>
              <a:tailEnd type="none" w="lg" len="lg"/>
            </a:ln>
            <a:effec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目标语言</a:t>
              </a:r>
            </a:p>
          </p:txBody>
        </p:sp>
        <p:sp>
          <p:nvSpPr>
            <p:cNvPr id="9" name="Line 8"/>
            <p:cNvSpPr>
              <a:spLocks noChangeShapeType="1"/>
            </p:cNvSpPr>
            <p:nvPr/>
          </p:nvSpPr>
          <p:spPr bwMode="auto">
            <a:xfrm>
              <a:off x="1632" y="1296"/>
              <a:ext cx="594" cy="0"/>
            </a:xfrm>
            <a:prstGeom prst="line">
              <a:avLst/>
            </a:prstGeom>
            <a:noFill/>
            <a:ln w="12700">
              <a:solidFill>
                <a:sysClr val="windowText" lastClr="000000"/>
              </a:solidFill>
              <a:round/>
              <a:headEnd type="none" w="lg" len="lg"/>
              <a:tailEnd type="stealth"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sp>
          <p:nvSpPr>
            <p:cNvPr id="10" name="Line 9"/>
            <p:cNvSpPr>
              <a:spLocks noChangeShapeType="1"/>
            </p:cNvSpPr>
            <p:nvPr/>
          </p:nvSpPr>
          <p:spPr bwMode="auto">
            <a:xfrm>
              <a:off x="3258" y="1296"/>
              <a:ext cx="594" cy="0"/>
            </a:xfrm>
            <a:prstGeom prst="line">
              <a:avLst/>
            </a:prstGeom>
            <a:noFill/>
            <a:ln w="12700">
              <a:solidFill>
                <a:sysClr val="windowText" lastClr="000000"/>
              </a:solidFill>
              <a:round/>
              <a:headEnd type="none" w="lg" len="lg"/>
              <a:tailEnd type="stealth" w="lg" len="lg"/>
            </a:ln>
            <a:extLst>
              <a:ext uri="{909E8E84-426E-40DD-AFC4-6F175D3DCCD1}">
                <a14:hiddenFill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endParaRPr>
            </a:p>
          </p:txBody>
        </p:sp>
      </p:grpSp>
      <p:sp>
        <p:nvSpPr>
          <p:cNvPr id="11" name="Rectangle 10"/>
          <p:cNvSpPr>
            <a:spLocks noChangeArrowheads="1"/>
          </p:cNvSpPr>
          <p:nvPr/>
        </p:nvSpPr>
        <p:spPr bwMode="auto">
          <a:xfrm>
            <a:off x="2480763" y="1889711"/>
            <a:ext cx="1308486"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457200" eaLnBrk="1" fontAlgn="auto" hangingPunct="1">
              <a:lnSpc>
                <a:spcPct val="100000"/>
              </a:lnSpc>
              <a:spcBef>
                <a:spcPts val="0"/>
              </a:spcBef>
              <a:spcAft>
                <a:spcPts val="0"/>
              </a:spcAft>
              <a:buSzTx/>
              <a:buFontTx/>
              <a:buNone/>
            </a:pPr>
            <a:r>
              <a:rPr kumimoji="1" lang="zh-CN" altLang="en-US" sz="2400" dirty="0">
                <a:solidFill>
                  <a:prstClr val="black"/>
                </a:solidFill>
                <a:latin typeface="微软雅黑" panose="020B0503020204020204" pitchFamily="34" charset="-122"/>
              </a:rPr>
              <a:t>前端</a:t>
            </a:r>
          </a:p>
        </p:txBody>
      </p:sp>
      <p:sp>
        <p:nvSpPr>
          <p:cNvPr id="12" name="Rectangle 11"/>
          <p:cNvSpPr>
            <a:spLocks noChangeArrowheads="1"/>
          </p:cNvSpPr>
          <p:nvPr/>
        </p:nvSpPr>
        <p:spPr bwMode="auto">
          <a:xfrm>
            <a:off x="5490342" y="1889711"/>
            <a:ext cx="1308486"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457200" eaLnBrk="1" fontAlgn="auto" hangingPunct="1">
              <a:lnSpc>
                <a:spcPct val="100000"/>
              </a:lnSpc>
              <a:spcBef>
                <a:spcPts val="0"/>
              </a:spcBef>
              <a:spcAft>
                <a:spcPts val="0"/>
              </a:spcAft>
              <a:buSzTx/>
              <a:buFontTx/>
              <a:buNone/>
            </a:pPr>
            <a:r>
              <a:rPr kumimoji="1" lang="zh-CN" altLang="en-US" sz="2400" dirty="0">
                <a:solidFill>
                  <a:prstClr val="black"/>
                </a:solidFill>
                <a:latin typeface="微软雅黑" panose="020B0503020204020204" pitchFamily="34" charset="-122"/>
              </a:rPr>
              <a:t>后端</a:t>
            </a:r>
          </a:p>
        </p:txBody>
      </p:sp>
      <p:sp>
        <p:nvSpPr>
          <p:cNvPr id="13" name="Slide Number Placeholder 18"/>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43</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113867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ou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ox(ou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linds(horizontal)">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blinds(horizontal)">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blinds(horizontal)">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blinds(horizontal)">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blinds(horizontal)">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blinds(horizontal)">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txEl>
                                              <p:pRg st="1" end="1"/>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P spid="4" grpId="0" build="p" animBg="1"/>
      <p:bldP spid="11" grpId="0" autoUpdateAnimBg="0"/>
      <p:bldP spid="1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3E5E1F04-86FE-2703-6E4C-CB96963CBEC8}"/>
              </a:ext>
            </a:extLst>
          </p:cNvPr>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编译器的“进化”</a:t>
            </a:r>
          </a:p>
        </p:txBody>
      </p:sp>
      <p:pic>
        <p:nvPicPr>
          <p:cNvPr id="4" name="图片 3">
            <a:extLst>
              <a:ext uri="{FF2B5EF4-FFF2-40B4-BE49-F238E27FC236}">
                <a16:creationId xmlns:a16="http://schemas.microsoft.com/office/drawing/2014/main" id="{287B720C-B3AD-DB15-6488-A18737EB4222}"/>
              </a:ext>
            </a:extLst>
          </p:cNvPr>
          <p:cNvPicPr>
            <a:picLocks noChangeAspect="1"/>
          </p:cNvPicPr>
          <p:nvPr/>
        </p:nvPicPr>
        <p:blipFill>
          <a:blip r:embed="rId2"/>
          <a:stretch>
            <a:fillRect/>
          </a:stretch>
        </p:blipFill>
        <p:spPr>
          <a:xfrm>
            <a:off x="720024" y="1664696"/>
            <a:ext cx="9036480" cy="3510234"/>
          </a:xfrm>
          <a:prstGeom prst="rect">
            <a:avLst/>
          </a:prstGeom>
        </p:spPr>
      </p:pic>
      <p:sp>
        <p:nvSpPr>
          <p:cNvPr id="5" name="Slide Number Placeholder 18">
            <a:extLst>
              <a:ext uri="{FF2B5EF4-FFF2-40B4-BE49-F238E27FC236}">
                <a16:creationId xmlns:a16="http://schemas.microsoft.com/office/drawing/2014/main" id="{724B336C-6680-EEFD-21DB-984CD6319430}"/>
              </a:ext>
            </a:extLst>
          </p:cNvPr>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44</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696159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3E5E1F04-86FE-2703-6E4C-CB96963CBEC8}"/>
              </a:ext>
            </a:extLst>
          </p:cNvPr>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编译器的“进化”</a:t>
            </a:r>
          </a:p>
        </p:txBody>
      </p:sp>
      <p:pic>
        <p:nvPicPr>
          <p:cNvPr id="5" name="图片 4">
            <a:extLst>
              <a:ext uri="{FF2B5EF4-FFF2-40B4-BE49-F238E27FC236}">
                <a16:creationId xmlns:a16="http://schemas.microsoft.com/office/drawing/2014/main" id="{7393590B-BC0F-D684-D732-B7378EB86A61}"/>
              </a:ext>
            </a:extLst>
          </p:cNvPr>
          <p:cNvPicPr>
            <a:picLocks noChangeAspect="1"/>
          </p:cNvPicPr>
          <p:nvPr/>
        </p:nvPicPr>
        <p:blipFill>
          <a:blip r:embed="rId2"/>
          <a:stretch>
            <a:fillRect/>
          </a:stretch>
        </p:blipFill>
        <p:spPr>
          <a:xfrm>
            <a:off x="677383" y="1459394"/>
            <a:ext cx="8793891" cy="2745183"/>
          </a:xfrm>
          <a:prstGeom prst="rect">
            <a:avLst/>
          </a:prstGeom>
        </p:spPr>
      </p:pic>
      <p:sp>
        <p:nvSpPr>
          <p:cNvPr id="8" name="Slide Number Placeholder 18">
            <a:extLst>
              <a:ext uri="{FF2B5EF4-FFF2-40B4-BE49-F238E27FC236}">
                <a16:creationId xmlns:a16="http://schemas.microsoft.com/office/drawing/2014/main" id="{14BFDA0A-0182-D060-165A-36947AC3ACB7}"/>
              </a:ext>
            </a:extLst>
          </p:cNvPr>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45</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3697680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3E5E1F04-86FE-2703-6E4C-CB96963CBEC8}"/>
              </a:ext>
            </a:extLst>
          </p:cNvPr>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编译器的“进化”</a:t>
            </a:r>
          </a:p>
        </p:txBody>
      </p:sp>
      <p:pic>
        <p:nvPicPr>
          <p:cNvPr id="7" name="图片 6">
            <a:extLst>
              <a:ext uri="{FF2B5EF4-FFF2-40B4-BE49-F238E27FC236}">
                <a16:creationId xmlns:a16="http://schemas.microsoft.com/office/drawing/2014/main" id="{D53E0367-D64C-CF63-D724-BED5BD0893ED}"/>
              </a:ext>
            </a:extLst>
          </p:cNvPr>
          <p:cNvPicPr>
            <a:picLocks noChangeAspect="1"/>
          </p:cNvPicPr>
          <p:nvPr/>
        </p:nvPicPr>
        <p:blipFill>
          <a:blip r:embed="rId2"/>
          <a:stretch>
            <a:fillRect/>
          </a:stretch>
        </p:blipFill>
        <p:spPr>
          <a:xfrm>
            <a:off x="630018" y="1459394"/>
            <a:ext cx="8793891" cy="5331247"/>
          </a:xfrm>
          <a:prstGeom prst="rect">
            <a:avLst/>
          </a:prstGeom>
        </p:spPr>
      </p:pic>
      <p:sp>
        <p:nvSpPr>
          <p:cNvPr id="3" name="Slide Number Placeholder 18">
            <a:extLst>
              <a:ext uri="{FF2B5EF4-FFF2-40B4-BE49-F238E27FC236}">
                <a16:creationId xmlns:a16="http://schemas.microsoft.com/office/drawing/2014/main" id="{18E99370-99B4-C1B5-B8CC-FE5828DA41E6}"/>
              </a:ext>
            </a:extLst>
          </p:cNvPr>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46</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2076440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727416CE-9590-6F2D-B324-5EE7297E8746}"/>
              </a:ext>
            </a:extLst>
          </p:cNvPr>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编译器的“进化”</a:t>
            </a:r>
          </a:p>
        </p:txBody>
      </p:sp>
      <p:pic>
        <p:nvPicPr>
          <p:cNvPr id="4" name="图片 3">
            <a:extLst>
              <a:ext uri="{FF2B5EF4-FFF2-40B4-BE49-F238E27FC236}">
                <a16:creationId xmlns:a16="http://schemas.microsoft.com/office/drawing/2014/main" id="{4644D486-7A74-362F-5652-09BE5CC81B06}"/>
              </a:ext>
            </a:extLst>
          </p:cNvPr>
          <p:cNvPicPr>
            <a:picLocks noChangeAspect="1"/>
          </p:cNvPicPr>
          <p:nvPr/>
        </p:nvPicPr>
        <p:blipFill>
          <a:blip r:embed="rId2"/>
          <a:stretch>
            <a:fillRect/>
          </a:stretch>
        </p:blipFill>
        <p:spPr>
          <a:xfrm>
            <a:off x="633859" y="1664696"/>
            <a:ext cx="9213352" cy="4570593"/>
          </a:xfrm>
          <a:prstGeom prst="rect">
            <a:avLst/>
          </a:prstGeom>
        </p:spPr>
      </p:pic>
      <p:sp>
        <p:nvSpPr>
          <p:cNvPr id="5" name="Slide Number Placeholder 18">
            <a:extLst>
              <a:ext uri="{FF2B5EF4-FFF2-40B4-BE49-F238E27FC236}">
                <a16:creationId xmlns:a16="http://schemas.microsoft.com/office/drawing/2014/main" id="{68B712D0-C71D-1C05-9333-810882B4DF8E}"/>
              </a:ext>
            </a:extLst>
          </p:cNvPr>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47</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3362136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727416CE-9590-6F2D-B324-5EE7297E8746}"/>
              </a:ext>
            </a:extLst>
          </p:cNvPr>
          <p:cNvSpPr txBox="1">
            <a:spLocks noChangeArrowheads="1"/>
          </p:cNvSpPr>
          <p:nvPr/>
        </p:nvSpPr>
        <p:spPr>
          <a:xfrm>
            <a:off x="630018" y="134594"/>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lang="zh-CN" altLang="en-US" sz="4000" dirty="0">
                <a:solidFill>
                  <a:srgbClr val="000000"/>
                </a:solidFill>
                <a:latin typeface="+mj-lt"/>
                <a:ea typeface="楷体_GB2312" panose="02010609030101010101" charset="-122"/>
              </a:rPr>
              <a:t>编译器的“进化”</a:t>
            </a:r>
          </a:p>
        </p:txBody>
      </p:sp>
      <p:pic>
        <p:nvPicPr>
          <p:cNvPr id="5" name="图片 4">
            <a:extLst>
              <a:ext uri="{FF2B5EF4-FFF2-40B4-BE49-F238E27FC236}">
                <a16:creationId xmlns:a16="http://schemas.microsoft.com/office/drawing/2014/main" id="{175CD516-F138-F58F-9599-08684EE489CE}"/>
              </a:ext>
            </a:extLst>
          </p:cNvPr>
          <p:cNvPicPr>
            <a:picLocks noChangeAspect="1"/>
          </p:cNvPicPr>
          <p:nvPr/>
        </p:nvPicPr>
        <p:blipFill>
          <a:blip r:embed="rId2"/>
          <a:stretch>
            <a:fillRect/>
          </a:stretch>
        </p:blipFill>
        <p:spPr>
          <a:xfrm>
            <a:off x="765027" y="1587846"/>
            <a:ext cx="9072128" cy="3193530"/>
          </a:xfrm>
          <a:prstGeom prst="rect">
            <a:avLst/>
          </a:prstGeom>
        </p:spPr>
      </p:pic>
      <p:sp>
        <p:nvSpPr>
          <p:cNvPr id="7" name="文本框 6">
            <a:extLst>
              <a:ext uri="{FF2B5EF4-FFF2-40B4-BE49-F238E27FC236}">
                <a16:creationId xmlns:a16="http://schemas.microsoft.com/office/drawing/2014/main" id="{1A64A657-1F76-35A6-C1CC-50D78F19E5A4}"/>
              </a:ext>
            </a:extLst>
          </p:cNvPr>
          <p:cNvSpPr txBox="1"/>
          <p:nvPr/>
        </p:nvSpPr>
        <p:spPr>
          <a:xfrm>
            <a:off x="1012543" y="4859909"/>
            <a:ext cx="8055538" cy="960776"/>
          </a:xfrm>
          <a:prstGeom prst="rect">
            <a:avLst/>
          </a:prstGeom>
          <a:noFill/>
        </p:spPr>
        <p:txBody>
          <a:bodyPr wrap="square">
            <a:spAutoFit/>
          </a:bodyPr>
          <a:lstStyle/>
          <a:p>
            <a:pPr>
              <a:lnSpc>
                <a:spcPct val="150000"/>
              </a:lnSpc>
            </a:pPr>
            <a:r>
              <a:rPr lang="zh-CN" altLang="en-US" sz="2000" dirty="0"/>
              <a:t>第一个编译器是程序员</a:t>
            </a:r>
            <a:r>
              <a:rPr lang="zh-CN" altLang="en-US" sz="2000" b="1" dirty="0"/>
              <a:t>先用汇编语言手动编写</a:t>
            </a:r>
            <a:r>
              <a:rPr lang="zh-CN" altLang="en-US" sz="2000" dirty="0"/>
              <a:t>的简陋程序，再通过“</a:t>
            </a:r>
            <a:r>
              <a:rPr lang="zh-CN" altLang="en-US" sz="2000" b="1" dirty="0"/>
              <a:t>编译器编译编译器</a:t>
            </a:r>
            <a:r>
              <a:rPr lang="zh-CN" altLang="en-US" sz="2000" dirty="0"/>
              <a:t>”的自举技术，像滚雪球一样迭代创造出来的！</a:t>
            </a:r>
          </a:p>
        </p:txBody>
      </p:sp>
      <p:sp>
        <p:nvSpPr>
          <p:cNvPr id="8" name="Slide Number Placeholder 18">
            <a:extLst>
              <a:ext uri="{FF2B5EF4-FFF2-40B4-BE49-F238E27FC236}">
                <a16:creationId xmlns:a16="http://schemas.microsoft.com/office/drawing/2014/main" id="{2F09A8FA-44B0-7F01-5848-F158355B9F33}"/>
              </a:ext>
            </a:extLst>
          </p:cNvPr>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48</a:t>
            </a:fld>
            <a:endParaRPr lang="en-GB" altLang="en-US" sz="1200" dirty="0">
              <a:latin typeface="Comic Sans MS" panose="030F0702030302020204" pitchFamily="2" charset="0"/>
              <a:ea typeface="宋体" panose="02010600030101010101" pitchFamily="2" charset="-122"/>
            </a:endParaRPr>
          </a:p>
        </p:txBody>
      </p:sp>
    </p:spTree>
    <p:extLst>
      <p:ext uri="{BB962C8B-B14F-4D97-AF65-F5344CB8AC3E}">
        <p14:creationId xmlns:p14="http://schemas.microsoft.com/office/powerpoint/2010/main" val="3039957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2"/>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39938" name="Rectangle 2"/>
          <p:cNvSpPr/>
          <p:nvPr/>
        </p:nvSpPr>
        <p:spPr>
          <a:xfrm>
            <a:off x="0" y="0"/>
            <a:ext cx="10080625" cy="7559675"/>
          </a:xfrm>
          <a:prstGeom prst="rect">
            <a:avLst/>
          </a:prstGeom>
          <a:solidFill>
            <a:srgbClr val="000000"/>
          </a:solidFill>
          <a:ln w="9525" cap="flat" cmpd="sng">
            <a:solidFill>
              <a:srgbClr val="FFFFFF"/>
            </a:solidFill>
            <a:prstDash val="solid"/>
            <a:miter/>
            <a:headEnd type="none" w="med" len="med"/>
            <a:tailEnd type="none" w="med" len="med"/>
          </a:ln>
        </p:spPr>
        <p:txBody>
          <a:bodyPr wrap="none" lIns="90000" tIns="67932" rIns="90000" bIns="45000" anchor="ctr" anchorCtr="0"/>
          <a:lstStyle/>
          <a:p>
            <a:pPr indent="0" algn="ctr" defTabSz="44958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lang="en-GB" altLang="en-US" sz="2600" dirty="0">
                <a:solidFill>
                  <a:srgbClr val="E6E6E6"/>
                </a:solidFill>
                <a:latin typeface="Arial" panose="020B0604020202020204" pitchFamily="34" charset="0"/>
                <a:ea typeface="宋体" panose="02010600030101010101" pitchFamily="2" charset="-122"/>
              </a:rPr>
              <a:t>THE END</a:t>
            </a:r>
          </a:p>
          <a:p>
            <a:pPr indent="0" algn="ctr" defTabSz="44958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endParaRPr lang="en-GB" altLang="en-US" sz="2600" dirty="0">
              <a:solidFill>
                <a:srgbClr val="E6E6E6"/>
              </a:solidFill>
              <a:latin typeface="Arial" panose="020B0604020202020204" pitchFamily="34" charset="0"/>
              <a:ea typeface="宋体" panose="02010600030101010101" pitchFamily="2" charset="-122"/>
            </a:endParaRPr>
          </a:p>
          <a:p>
            <a:pPr indent="0" algn="ctr" defTabSz="44958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lang="en-GB" altLang="en-US" sz="2600" dirty="0">
                <a:solidFill>
                  <a:srgbClr val="E6E6E6"/>
                </a:solidFill>
                <a:latin typeface="Arial" panose="020B0604020202020204" pitchFamily="34" charset="0"/>
                <a:ea typeface="宋体" panose="02010600030101010101" pitchFamily="2" charset="-122"/>
              </a:rPr>
              <a:t>QUESTIONS</a:t>
            </a:r>
          </a:p>
        </p:txBody>
      </p:sp>
      <p:sp>
        <p:nvSpPr>
          <p:cNvPr id="39939" name="Slide Number Placeholder 5"/>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hangingPunct="0">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49</a:t>
            </a:fld>
            <a:endParaRPr lang="en-GB" altLang="en-US" sz="1200" dirty="0">
              <a:latin typeface="Comic Sans MS" panose="030F0702030302020204" pitchFamily="2" charset="0"/>
              <a:ea typeface="宋体" panose="02010600030101010101" pitchFamily="2" charset="-122"/>
            </a:endParaRPr>
          </a:p>
        </p:txBody>
      </p:sp>
      <p:sp>
        <p:nvSpPr>
          <p:cNvPr id="39940" name="Date Placeholder 5"/>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r>
              <a:rPr lang="en-US" altLang="zh-CN" sz="1000" dirty="0">
                <a:latin typeface="Comic Sans MS" panose="030F0702030302020204" pitchFamily="2" charset="0"/>
                <a:ea typeface="宋体" panose="02010600030101010101" pitchFamily="2" charset="-122"/>
              </a:rPr>
              <a:t>School of Computer Science and Engineering  </a:t>
            </a: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A5A5E9"/>
        </a:solidFill>
        <a:ln w="9525">
          <a:solidFill>
            <a:schemeClr val="tx1"/>
          </a:solidFill>
          <a:miter lim="800000"/>
          <a:headEnd/>
          <a:tailEnd/>
        </a:ln>
      </a:spPr>
      <a:bodyPr anchor="ctr"/>
      <a:lstStyle>
        <a:defPPr algn="ctr" hangingPunct="0">
          <a:defRPr sz="3200" b="1" dirty="0">
            <a:solidFill>
              <a:schemeClr val="tx1"/>
            </a:solidFill>
            <a:latin typeface="楷体_GB2312" charset="-122"/>
            <a:ea typeface="楷体_GB2312" charset="-122"/>
          </a:defRPr>
        </a:defPPr>
      </a:lstStyle>
    </a:spDef>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5594</TotalTime>
  <Words>2778</Words>
  <Application>Microsoft Office PowerPoint</Application>
  <PresentationFormat>自定义</PresentationFormat>
  <Paragraphs>820</Paragraphs>
  <Slides>49</Slides>
  <Notes>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49</vt:i4>
      </vt:variant>
    </vt:vector>
  </HeadingPairs>
  <TitlesOfParts>
    <vt:vector size="64" baseType="lpstr">
      <vt:lpstr>Monotype Sorts</vt:lpstr>
      <vt:lpstr>StarSymbol</vt:lpstr>
      <vt:lpstr>仿宋_GB2312</vt:lpstr>
      <vt:lpstr>楷体</vt:lpstr>
      <vt:lpstr>楷体_GB2312</vt:lpstr>
      <vt:lpstr>宋体</vt:lpstr>
      <vt:lpstr>微软雅黑</vt:lpstr>
      <vt:lpstr>新宋体</vt:lpstr>
      <vt:lpstr>Arial</vt:lpstr>
      <vt:lpstr>Comic Sans MS</vt:lpstr>
      <vt:lpstr>Courier New</vt:lpstr>
      <vt:lpstr>Times New Roman</vt:lpstr>
      <vt:lpstr>Wingdings 3</vt:lpstr>
      <vt:lpstr>Office Theme</vt:lpstr>
      <vt:lpstr>1_Office Theme</vt:lpstr>
      <vt:lpstr>第一章 编译引论和概述</vt:lpstr>
      <vt:lpstr>引言</vt:lpstr>
      <vt:lpstr>引言</vt:lpstr>
      <vt:lpstr>引言</vt:lpstr>
      <vt:lpstr>引言</vt:lpstr>
      <vt:lpstr>引言</vt:lpstr>
      <vt:lpstr>PowerPoint 演示文稿</vt:lpstr>
      <vt:lpstr>PowerPoint 演示文稿</vt:lpstr>
      <vt:lpstr>编译的步骤</vt:lpstr>
      <vt:lpstr>编译的步骤</vt:lpstr>
      <vt:lpstr>编译的步骤</vt:lpstr>
      <vt:lpstr>实例</vt:lpstr>
      <vt:lpstr>PowerPoint 演示文稿</vt:lpstr>
      <vt:lpstr>PowerPoint 演示文稿</vt:lpstr>
      <vt:lpstr>PowerPoint 演示文稿</vt:lpstr>
      <vt:lpstr>PowerPoint 演示文稿</vt:lpstr>
      <vt:lpstr>PowerPoint 演示文稿</vt:lpstr>
      <vt:lpstr>编译过程——语法分析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符号表</vt:lpstr>
      <vt:lpstr>符号表</vt:lpstr>
      <vt:lpstr>PowerPoint 演示文稿</vt:lpstr>
      <vt:lpstr>符号表</vt:lpstr>
      <vt:lpstr>符号表</vt:lpstr>
      <vt:lpstr>出错处理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Rounded Rectangles Template</dc:title>
  <dc:subject>Template</dc:subject>
  <dc:creator>erqiang </dc:creator>
  <cp:lastModifiedBy>Rongyao</cp:lastModifiedBy>
  <cp:revision>424</cp:revision>
  <cp:lastPrinted>2025-06-17T02:25:38Z</cp:lastPrinted>
  <dcterms:created xsi:type="dcterms:W3CDTF">2021-08-30T23:51:04Z</dcterms:created>
  <dcterms:modified xsi:type="dcterms:W3CDTF">2025-06-17T08:58:48Z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